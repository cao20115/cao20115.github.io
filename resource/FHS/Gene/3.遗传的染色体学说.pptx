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87"/>
  </p:notesMasterIdLst>
  <p:sldIdLst>
    <p:sldId id="4453" r:id="rId4"/>
    <p:sldId id="4454" r:id="rId5"/>
    <p:sldId id="264" r:id="rId6"/>
    <p:sldId id="333" r:id="rId7"/>
    <p:sldId id="4455" r:id="rId8"/>
    <p:sldId id="4456" r:id="rId9"/>
    <p:sldId id="4457" r:id="rId10"/>
    <p:sldId id="4458" r:id="rId11"/>
    <p:sldId id="4459" r:id="rId12"/>
    <p:sldId id="4460" r:id="rId13"/>
    <p:sldId id="4461" r:id="rId14"/>
    <p:sldId id="4407" r:id="rId15"/>
    <p:sldId id="4408" r:id="rId16"/>
    <p:sldId id="4409" r:id="rId17"/>
    <p:sldId id="4466" r:id="rId18"/>
    <p:sldId id="4410" r:id="rId19"/>
    <p:sldId id="4463" r:id="rId20"/>
    <p:sldId id="4411" r:id="rId21"/>
    <p:sldId id="4414" r:id="rId22"/>
    <p:sldId id="4415" r:id="rId23"/>
    <p:sldId id="4416" r:id="rId24"/>
    <p:sldId id="4464" r:id="rId25"/>
    <p:sldId id="4417" r:id="rId26"/>
    <p:sldId id="4418" r:id="rId27"/>
    <p:sldId id="4469" r:id="rId28"/>
    <p:sldId id="4419" r:id="rId29"/>
    <p:sldId id="4420" r:id="rId30"/>
    <p:sldId id="4421" r:id="rId31"/>
    <p:sldId id="4422" r:id="rId32"/>
    <p:sldId id="4423" r:id="rId33"/>
    <p:sldId id="268" r:id="rId34"/>
    <p:sldId id="4470" r:id="rId35"/>
    <p:sldId id="448" r:id="rId36"/>
    <p:sldId id="449" r:id="rId37"/>
    <p:sldId id="450" r:id="rId38"/>
    <p:sldId id="451" r:id="rId39"/>
    <p:sldId id="4428" r:id="rId40"/>
    <p:sldId id="4429" r:id="rId41"/>
    <p:sldId id="4430" r:id="rId42"/>
    <p:sldId id="4431" r:id="rId43"/>
    <p:sldId id="4432" r:id="rId44"/>
    <p:sldId id="4433" r:id="rId45"/>
    <p:sldId id="286" r:id="rId46"/>
    <p:sldId id="453" r:id="rId47"/>
    <p:sldId id="454" r:id="rId48"/>
    <p:sldId id="455" r:id="rId49"/>
    <p:sldId id="4471" r:id="rId50"/>
    <p:sldId id="456" r:id="rId51"/>
    <p:sldId id="457" r:id="rId52"/>
    <p:sldId id="458" r:id="rId53"/>
    <p:sldId id="4472" r:id="rId54"/>
    <p:sldId id="4436" r:id="rId55"/>
    <p:sldId id="4439" r:id="rId56"/>
    <p:sldId id="295" r:id="rId57"/>
    <p:sldId id="296" r:id="rId58"/>
    <p:sldId id="297" r:id="rId59"/>
    <p:sldId id="298" r:id="rId60"/>
    <p:sldId id="342" r:id="rId61"/>
    <p:sldId id="344" r:id="rId62"/>
    <p:sldId id="347" r:id="rId63"/>
    <p:sldId id="349" r:id="rId64"/>
    <p:sldId id="350" r:id="rId65"/>
    <p:sldId id="307" r:id="rId66"/>
    <p:sldId id="4451" r:id="rId67"/>
    <p:sldId id="364" r:id="rId68"/>
    <p:sldId id="309" r:id="rId69"/>
    <p:sldId id="460" r:id="rId70"/>
    <p:sldId id="461" r:id="rId71"/>
    <p:sldId id="469" r:id="rId72"/>
    <p:sldId id="462" r:id="rId73"/>
    <p:sldId id="311" r:id="rId74"/>
    <p:sldId id="4474" r:id="rId75"/>
    <p:sldId id="4476" r:id="rId76"/>
    <p:sldId id="362" r:id="rId77"/>
    <p:sldId id="4477" r:id="rId78"/>
    <p:sldId id="314" r:id="rId79"/>
    <p:sldId id="4442" r:id="rId80"/>
    <p:sldId id="4449" r:id="rId81"/>
    <p:sldId id="4450" r:id="rId82"/>
    <p:sldId id="318" r:id="rId83"/>
    <p:sldId id="4478" r:id="rId84"/>
    <p:sldId id="4479" r:id="rId85"/>
    <p:sldId id="325" r:id="rId8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55" autoAdjust="0"/>
    <p:restoredTop sz="87719" autoAdjust="0"/>
  </p:normalViewPr>
  <p:slideViewPr>
    <p:cSldViewPr snapToGrid="0">
      <p:cViewPr>
        <p:scale>
          <a:sx n="75" d="100"/>
          <a:sy n="75" d="100"/>
        </p:scale>
        <p:origin x="2346" y="62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1E6DCA-07E8-4A5F-B3B3-F38814CE8EA7}" type="datetimeFigureOut">
              <a:rPr lang="zh-CN" altLang="en-US" smtClean="0"/>
              <a:t>2024/1/29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E3502-39A7-49F5-9634-F1C5604FF250}" type="slidenum">
              <a:rPr lang="zh-CN" altLang="en-US" smtClean="0"/>
              <a:t>‹#›</a:t>
            </a:fld>
            <a:endParaRPr lang="zh-CN" altLang="en-US"/>
          </a:p>
        </p:txBody>
      </p:sp>
    </p:spTree>
    <p:extLst>
      <p:ext uri="{BB962C8B-B14F-4D97-AF65-F5344CB8AC3E}">
        <p14:creationId xmlns:p14="http://schemas.microsoft.com/office/powerpoint/2010/main" val="3420835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solidFill>
                  <a:prstClr val="black"/>
                </a:solidFill>
                <a:latin typeface="Calibri"/>
                <a:ea typeface="宋体"/>
              </a:rPr>
              <a:pPr/>
              <a:t>7</a:t>
            </a:fld>
            <a:endParaRPr lang="zh-CN" altLang="en-US">
              <a:solidFill>
                <a:prstClr val="black"/>
              </a:solidFill>
              <a:latin typeface="Calibri"/>
              <a:ea typeface="宋体"/>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30nm</a:t>
            </a:r>
            <a:r>
              <a:rPr lang="zh-CN" altLang="en-US" sz="1200" b="0" i="0" kern="1200" dirty="0">
                <a:solidFill>
                  <a:schemeClr val="tx1"/>
                </a:solidFill>
                <a:effectLst/>
                <a:latin typeface="+mn-lt"/>
                <a:ea typeface="+mn-ea"/>
                <a:cs typeface="+mn-cs"/>
              </a:rPr>
              <a:t>纤维进一步螺旋化形成直径为</a:t>
            </a:r>
            <a:r>
              <a:rPr lang="en-US" altLang="zh-CN" sz="1200" b="0" i="0" kern="1200" dirty="0">
                <a:solidFill>
                  <a:schemeClr val="tx1"/>
                </a:solidFill>
                <a:effectLst/>
                <a:latin typeface="+mn-lt"/>
                <a:ea typeface="+mn-ea"/>
                <a:cs typeface="+mn-cs"/>
              </a:rPr>
              <a:t>0.4μm</a:t>
            </a:r>
            <a:r>
              <a:rPr lang="zh-CN" altLang="en-US" sz="1200" b="0" i="0" kern="1200" dirty="0">
                <a:solidFill>
                  <a:schemeClr val="tx1"/>
                </a:solidFill>
                <a:effectLst/>
                <a:latin typeface="+mn-lt"/>
                <a:ea typeface="+mn-ea"/>
                <a:cs typeface="+mn-cs"/>
              </a:rPr>
              <a:t>的圆筒状结构，称为超螺线管（</a:t>
            </a:r>
            <a:r>
              <a:rPr lang="en-US" altLang="zh-CN" sz="1200" b="0" i="0" kern="1200" dirty="0">
                <a:solidFill>
                  <a:schemeClr val="tx1"/>
                </a:solidFill>
                <a:effectLst/>
                <a:latin typeface="+mn-lt"/>
                <a:ea typeface="+mn-ea"/>
                <a:cs typeface="+mn-cs"/>
              </a:rPr>
              <a:t>super sole-</a:t>
            </a:r>
            <a:r>
              <a:rPr lang="en-US" altLang="zh-CN" sz="1200" b="0" i="0" kern="1200" dirty="0" err="1">
                <a:solidFill>
                  <a:schemeClr val="tx1"/>
                </a:solidFill>
                <a:effectLst/>
                <a:latin typeface="+mn-lt"/>
                <a:ea typeface="+mn-ea"/>
                <a:cs typeface="+mn-cs"/>
              </a:rPr>
              <a:t>noid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，从螺线管到超螺线管，</a:t>
            </a:r>
            <a:r>
              <a:rPr lang="en-US" altLang="zh-CN" sz="1200" b="0" i="0" kern="1200" dirty="0">
                <a:solidFill>
                  <a:schemeClr val="tx1"/>
                </a:solidFill>
                <a:effectLst/>
                <a:latin typeface="+mn-lt"/>
                <a:ea typeface="+mn-ea"/>
                <a:cs typeface="+mn-cs"/>
              </a:rPr>
              <a:t>DNA</a:t>
            </a:r>
            <a:r>
              <a:rPr lang="zh-CN" altLang="en-US" sz="1200" b="0" i="0" kern="1200" dirty="0">
                <a:solidFill>
                  <a:schemeClr val="tx1"/>
                </a:solidFill>
                <a:effectLst/>
                <a:latin typeface="+mn-lt"/>
                <a:ea typeface="+mn-ea"/>
                <a:cs typeface="+mn-cs"/>
              </a:rPr>
              <a:t>长度又压缩了约</a:t>
            </a:r>
            <a:r>
              <a:rPr lang="en-US" altLang="zh-CN" sz="1200" b="0" i="0" kern="1200" dirty="0">
                <a:solidFill>
                  <a:schemeClr val="tx1"/>
                </a:solidFill>
                <a:effectLst/>
                <a:latin typeface="+mn-lt"/>
                <a:ea typeface="+mn-ea"/>
                <a:cs typeface="+mn-cs"/>
              </a:rPr>
              <a:t>40</a:t>
            </a:r>
            <a:r>
              <a:rPr lang="zh-CN" altLang="en-US" sz="1200" b="0" i="0" kern="1200" dirty="0">
                <a:solidFill>
                  <a:schemeClr val="tx1"/>
                </a:solidFill>
                <a:effectLst/>
                <a:latin typeface="+mn-lt"/>
                <a:ea typeface="+mn-ea"/>
                <a:cs typeface="+mn-cs"/>
              </a:rPr>
              <a:t>倍。另外一种染色体三级结构模型是袢环结构模型，即螺线管在骨架的许多位点上形成许多半径为</a:t>
            </a:r>
            <a:r>
              <a:rPr lang="en-US" altLang="zh-CN" sz="1200" b="0" i="0" kern="1200" dirty="0">
                <a:solidFill>
                  <a:schemeClr val="tx1"/>
                </a:solidFill>
                <a:effectLst/>
                <a:latin typeface="+mn-lt"/>
                <a:ea typeface="+mn-ea"/>
                <a:cs typeface="+mn-cs"/>
              </a:rPr>
              <a:t>0.6um</a:t>
            </a:r>
            <a:r>
              <a:rPr lang="zh-CN" altLang="en-US" sz="1200" b="0" i="0" kern="1200" dirty="0">
                <a:solidFill>
                  <a:schemeClr val="tx1"/>
                </a:solidFill>
                <a:effectLst/>
                <a:latin typeface="+mn-lt"/>
                <a:ea typeface="+mn-ea"/>
                <a:cs typeface="+mn-cs"/>
              </a:rPr>
              <a:t>左右的袢环，一般以</a:t>
            </a:r>
            <a:r>
              <a:rPr lang="en-US" altLang="zh-CN" sz="1200" b="0" i="0" kern="1200" dirty="0">
                <a:solidFill>
                  <a:schemeClr val="tx1"/>
                </a:solidFill>
                <a:effectLst/>
                <a:latin typeface="+mn-lt"/>
                <a:ea typeface="+mn-ea"/>
                <a:cs typeface="+mn-cs"/>
              </a:rPr>
              <a:t>18</a:t>
            </a:r>
            <a:r>
              <a:rPr lang="zh-CN" altLang="en-US" sz="1200" b="0" i="0" kern="1200" dirty="0">
                <a:solidFill>
                  <a:schemeClr val="tx1"/>
                </a:solidFill>
                <a:effectLst/>
                <a:latin typeface="+mn-lt"/>
                <a:ea typeface="+mn-ea"/>
                <a:cs typeface="+mn-cs"/>
              </a:rPr>
              <a:t>个袢环呈放射状平面排列在骨架上形成微带。</a:t>
            </a:r>
            <a:endParaRPr lang="zh-CN" altLang="en-US" dirty="0"/>
          </a:p>
        </p:txBody>
      </p:sp>
      <p:sp>
        <p:nvSpPr>
          <p:cNvPr id="4" name="灯片编号占位符 3"/>
          <p:cNvSpPr>
            <a:spLocks noGrp="1"/>
          </p:cNvSpPr>
          <p:nvPr>
            <p:ph type="sldNum" sz="quarter" idx="10"/>
          </p:nvPr>
        </p:nvSpPr>
        <p:spPr/>
        <p:txBody>
          <a:bodyPr/>
          <a:lstStyle/>
          <a:p>
            <a:fld id="{D79F7120-4E50-4930-BF3D-55ED176A9061}" type="slidenum">
              <a:rPr lang="zh-CN" altLang="en-US" smtClean="0">
                <a:solidFill>
                  <a:prstClr val="black"/>
                </a:solidFill>
                <a:latin typeface="Calibri"/>
                <a:ea typeface="宋体"/>
              </a:rPr>
              <a:pPr/>
              <a:t>8</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3859824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79F7120-4E50-4930-BF3D-55ED176A9061}" type="slidenum">
              <a:rPr lang="zh-CN" altLang="en-US" smtClean="0">
                <a:solidFill>
                  <a:prstClr val="black"/>
                </a:solidFill>
                <a:latin typeface="Calibri"/>
                <a:ea typeface="宋体"/>
              </a:rPr>
              <a:pPr/>
              <a:t>9</a:t>
            </a:fld>
            <a:endParaRPr lang="zh-CN" altLang="en-US">
              <a:solidFill>
                <a:prstClr val="black"/>
              </a:solidFill>
              <a:latin typeface="Calibri"/>
              <a:ea typeface="宋体"/>
            </a:endParaRPr>
          </a:p>
        </p:txBody>
      </p:sp>
    </p:spTree>
    <p:extLst>
      <p:ext uri="{BB962C8B-B14F-4D97-AF65-F5344CB8AC3E}">
        <p14:creationId xmlns:p14="http://schemas.microsoft.com/office/powerpoint/2010/main" val="2199471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32E3502-39A7-49F5-9634-F1C5604FF250}" type="slidenum">
              <a:rPr lang="zh-CN" altLang="en-US" smtClean="0"/>
              <a:t>22</a:t>
            </a:fld>
            <a:endParaRPr lang="zh-CN" altLang="en-US"/>
          </a:p>
        </p:txBody>
      </p:sp>
    </p:spTree>
    <p:extLst>
      <p:ext uri="{BB962C8B-B14F-4D97-AF65-F5344CB8AC3E}">
        <p14:creationId xmlns:p14="http://schemas.microsoft.com/office/powerpoint/2010/main" val="332363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buClr>
                <a:schemeClr val="folHlink"/>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核型模式图的绘制</a:t>
            </a:r>
          </a:p>
          <a:p>
            <a:pPr>
              <a:lnSpc>
                <a:spcPct val="110000"/>
              </a:lnSpc>
              <a:buClr>
                <a:schemeClr val="folHlink"/>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染色体的带型（</a:t>
            </a:r>
            <a:r>
              <a:rPr lang="en-US" altLang="zh-CN" b="1" dirty="0">
                <a:latin typeface="黑体" panose="02010609060101010101" pitchFamily="49" charset="-122"/>
                <a:ea typeface="黑体" panose="02010609060101010101" pitchFamily="49" charset="-122"/>
              </a:rPr>
              <a:t>Q、G、R、C、N、T</a:t>
            </a:r>
            <a:r>
              <a:rPr lang="zh-CN" altLang="en-US" b="1" dirty="0">
                <a:latin typeface="黑体" panose="02010609060101010101" pitchFamily="49" charset="-122"/>
                <a:ea typeface="黑体" panose="02010609060101010101" pitchFamily="49" charset="-122"/>
              </a:rPr>
              <a:t>带）</a:t>
            </a:r>
          </a:p>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28</a:t>
            </a:fld>
            <a:endParaRPr lang="zh-CN" altLang="en-US"/>
          </a:p>
        </p:txBody>
      </p:sp>
    </p:spTree>
    <p:extLst>
      <p:ext uri="{BB962C8B-B14F-4D97-AF65-F5344CB8AC3E}">
        <p14:creationId xmlns:p14="http://schemas.microsoft.com/office/powerpoint/2010/main" val="3619729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31</a:t>
            </a:fld>
            <a:endParaRPr lang="zh-CN" altLang="en-US"/>
          </a:p>
        </p:txBody>
      </p:sp>
    </p:spTree>
    <p:extLst>
      <p:ext uri="{BB962C8B-B14F-4D97-AF65-F5344CB8AC3E}">
        <p14:creationId xmlns:p14="http://schemas.microsoft.com/office/powerpoint/2010/main" val="2143505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32</a:t>
            </a:fld>
            <a:endParaRPr lang="zh-CN" altLang="en-US"/>
          </a:p>
        </p:txBody>
      </p:sp>
    </p:spTree>
    <p:extLst>
      <p:ext uri="{BB962C8B-B14F-4D97-AF65-F5344CB8AC3E}">
        <p14:creationId xmlns:p14="http://schemas.microsoft.com/office/powerpoint/2010/main" val="3628621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34</a:t>
            </a:fld>
            <a:endParaRPr lang="zh-CN" altLang="en-US"/>
          </a:p>
        </p:txBody>
      </p:sp>
    </p:spTree>
    <p:extLst>
      <p:ext uri="{BB962C8B-B14F-4D97-AF65-F5344CB8AC3E}">
        <p14:creationId xmlns:p14="http://schemas.microsoft.com/office/powerpoint/2010/main" val="2463818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36</a:t>
            </a:fld>
            <a:endParaRPr lang="zh-CN" altLang="en-US"/>
          </a:p>
        </p:txBody>
      </p:sp>
    </p:spTree>
    <p:extLst>
      <p:ext uri="{BB962C8B-B14F-4D97-AF65-F5344CB8AC3E}">
        <p14:creationId xmlns:p14="http://schemas.microsoft.com/office/powerpoint/2010/main" val="585549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51</a:t>
            </a:fld>
            <a:endParaRPr lang="zh-CN" altLang="en-US"/>
          </a:p>
        </p:txBody>
      </p:sp>
    </p:spTree>
    <p:extLst>
      <p:ext uri="{BB962C8B-B14F-4D97-AF65-F5344CB8AC3E}">
        <p14:creationId xmlns:p14="http://schemas.microsoft.com/office/powerpoint/2010/main" val="20639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58</a:t>
            </a:fld>
            <a:endParaRPr lang="zh-CN" altLang="en-US"/>
          </a:p>
        </p:txBody>
      </p:sp>
    </p:spTree>
    <p:extLst>
      <p:ext uri="{BB962C8B-B14F-4D97-AF65-F5344CB8AC3E}">
        <p14:creationId xmlns:p14="http://schemas.microsoft.com/office/powerpoint/2010/main" val="823260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黑体" panose="02010609060101010101" pitchFamily="49" charset="-122"/>
                <a:ea typeface="黑体" panose="02010609060101010101" pitchFamily="49" charset="-122"/>
              </a:rPr>
              <a:t>现在我们从生物个体发育的生活史来看染色体数目的变化</a:t>
            </a:r>
            <a:r>
              <a:rPr lang="en-US" altLang="zh-CN" b="1" dirty="0">
                <a:latin typeface="黑体" panose="02010609060101010101" pitchFamily="49" charset="-122"/>
                <a:ea typeface="黑体" panose="02010609060101010101" pitchFamily="49" charset="-122"/>
              </a:rPr>
              <a:t>(2n </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 n)</a:t>
            </a:r>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65</a:t>
            </a:fld>
            <a:endParaRPr lang="zh-CN" altLang="en-US"/>
          </a:p>
        </p:txBody>
      </p:sp>
    </p:spTree>
    <p:extLst>
      <p:ext uri="{BB962C8B-B14F-4D97-AF65-F5344CB8AC3E}">
        <p14:creationId xmlns:p14="http://schemas.microsoft.com/office/powerpoint/2010/main" val="3780130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2E3502-39A7-49F5-9634-F1C5604FF250}" type="slidenum">
              <a:rPr lang="zh-CN" altLang="en-US" smtClean="0"/>
              <a:t>69</a:t>
            </a:fld>
            <a:endParaRPr lang="zh-CN" altLang="en-US"/>
          </a:p>
        </p:txBody>
      </p:sp>
    </p:spTree>
    <p:extLst>
      <p:ext uri="{BB962C8B-B14F-4D97-AF65-F5344CB8AC3E}">
        <p14:creationId xmlns:p14="http://schemas.microsoft.com/office/powerpoint/2010/main" val="3501929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132E3502-39A7-49F5-9634-F1C5604FF250}" type="slidenum">
              <a:rPr lang="zh-CN" altLang="en-US" smtClean="0"/>
              <a:t>75</a:t>
            </a:fld>
            <a:endParaRPr lang="zh-CN" altLang="en-US"/>
          </a:p>
        </p:txBody>
      </p:sp>
    </p:spTree>
    <p:extLst>
      <p:ext uri="{BB962C8B-B14F-4D97-AF65-F5344CB8AC3E}">
        <p14:creationId xmlns:p14="http://schemas.microsoft.com/office/powerpoint/2010/main" val="384360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89646C-81D6-4AB2-A379-2D7B3346837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44476"/>
            <a:ext cx="11180233" cy="1431925"/>
          </a:xfrm>
        </p:spPr>
        <p:txBody>
          <a:bodyPr/>
          <a:lstStyle/>
          <a:p>
            <a:r>
              <a:rPr lang="zh-CN" altLang="en-US"/>
              <a:t>单击此处编辑母版标题样式</a:t>
            </a:r>
          </a:p>
        </p:txBody>
      </p:sp>
      <p:sp>
        <p:nvSpPr>
          <p:cNvPr id="3" name="文本占位符 2"/>
          <p:cNvSpPr>
            <a:spLocks noGrp="1"/>
          </p:cNvSpPr>
          <p:nvPr>
            <p:ph type="body" sz="half" idx="1"/>
          </p:nvPr>
        </p:nvSpPr>
        <p:spPr>
          <a:xfrm>
            <a:off x="1117601"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557434"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17601" y="6245225"/>
            <a:ext cx="2535767"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4572000" y="6245225"/>
            <a:ext cx="38608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249834" y="6245225"/>
            <a:ext cx="2535767" cy="476250"/>
          </a:xfrm>
        </p:spPr>
        <p:txBody>
          <a:bodyPr/>
          <a:lstStyle>
            <a:lvl1pPr>
              <a:defRPr/>
            </a:lvl1pPr>
          </a:lstStyle>
          <a:p>
            <a:fld id="{F29DCBEE-9A44-4468-9C3D-FAAB2E351A4B}"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1" y="244476"/>
            <a:ext cx="11180233" cy="1431925"/>
          </a:xfrm>
        </p:spPr>
        <p:txBody>
          <a:bodyPr/>
          <a:lstStyle/>
          <a:p>
            <a:r>
              <a:rPr lang="zh-CN" altLang="en-US"/>
              <a:t>单击此处编辑母版标题样式</a:t>
            </a:r>
          </a:p>
        </p:txBody>
      </p:sp>
      <p:sp>
        <p:nvSpPr>
          <p:cNvPr id="3" name="内容占位符 2"/>
          <p:cNvSpPr>
            <a:spLocks noGrp="1"/>
          </p:cNvSpPr>
          <p:nvPr>
            <p:ph sz="half" idx="1"/>
          </p:nvPr>
        </p:nvSpPr>
        <p:spPr>
          <a:xfrm>
            <a:off x="1117601"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557434"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17601" y="6245225"/>
            <a:ext cx="2535767"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4572000" y="6245225"/>
            <a:ext cx="38608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249834" y="6245225"/>
            <a:ext cx="2535767" cy="476250"/>
          </a:xfrm>
        </p:spPr>
        <p:txBody>
          <a:bodyPr/>
          <a:lstStyle>
            <a:lvl1pPr>
              <a:defRPr/>
            </a:lvl1pPr>
          </a:lstStyle>
          <a:p>
            <a:fld id="{3DB64177-1E66-4453-A9D2-7184AA47FFB6}"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10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57657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22861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700">
                <a:solidFill>
                  <a:schemeClr val="tx1">
                    <a:tint val="75000"/>
                  </a:schemeClr>
                </a:solidFill>
              </a:defRPr>
            </a:lvl1pPr>
            <a:lvl2pPr marL="609585" indent="0">
              <a:buNone/>
              <a:defRPr sz="2400">
                <a:solidFill>
                  <a:schemeClr val="tx1">
                    <a:tint val="75000"/>
                  </a:schemeClr>
                </a:solidFill>
              </a:defRPr>
            </a:lvl2pPr>
            <a:lvl3pPr marL="1219170" indent="0">
              <a:buNone/>
              <a:defRPr sz="2100">
                <a:solidFill>
                  <a:schemeClr val="tx1">
                    <a:tint val="75000"/>
                  </a:schemeClr>
                </a:solidFill>
              </a:defRPr>
            </a:lvl3pPr>
            <a:lvl4pPr marL="1828754" indent="0">
              <a:buNone/>
              <a:defRPr sz="1900">
                <a:solidFill>
                  <a:schemeClr val="tx1">
                    <a:tint val="75000"/>
                  </a:schemeClr>
                </a:solidFill>
              </a:defRPr>
            </a:lvl4pPr>
            <a:lvl5pPr marL="2438339" indent="0">
              <a:buNone/>
              <a:defRPr sz="1900">
                <a:solidFill>
                  <a:schemeClr val="tx1">
                    <a:tint val="75000"/>
                  </a:schemeClr>
                </a:solidFill>
              </a:defRPr>
            </a:lvl5pPr>
            <a:lvl6pPr marL="3047924" indent="0">
              <a:buNone/>
              <a:defRPr sz="1900">
                <a:solidFill>
                  <a:schemeClr val="tx1">
                    <a:tint val="75000"/>
                  </a:schemeClr>
                </a:solidFill>
              </a:defRPr>
            </a:lvl6pPr>
            <a:lvl7pPr marL="3657509" indent="0">
              <a:buNone/>
              <a:defRPr sz="1900">
                <a:solidFill>
                  <a:schemeClr val="tx1">
                    <a:tint val="75000"/>
                  </a:schemeClr>
                </a:solidFill>
              </a:defRPr>
            </a:lvl7pPr>
            <a:lvl8pPr marL="4267093" indent="0">
              <a:buNone/>
              <a:defRPr sz="1900">
                <a:solidFill>
                  <a:schemeClr val="tx1">
                    <a:tint val="75000"/>
                  </a:schemeClr>
                </a:solidFill>
              </a:defRPr>
            </a:lvl8pPr>
            <a:lvl9pPr marL="4876678"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6122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28293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100" b="1"/>
            </a:lvl4pPr>
            <a:lvl5pPr marL="2438339" indent="0">
              <a:buNone/>
              <a:defRPr sz="2100" b="1"/>
            </a:lvl5pPr>
            <a:lvl6pPr marL="3047924" indent="0">
              <a:buNone/>
              <a:defRPr sz="2100" b="1"/>
            </a:lvl6pPr>
            <a:lvl7pPr marL="3657509" indent="0">
              <a:buNone/>
              <a:defRPr sz="2100" b="1"/>
            </a:lvl7pPr>
            <a:lvl8pPr marL="4267093" indent="0">
              <a:buNone/>
              <a:defRPr sz="2100" b="1"/>
            </a:lvl8pPr>
            <a:lvl9pPr marL="4876678"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100" b="1"/>
            </a:lvl4pPr>
            <a:lvl5pPr marL="2438339" indent="0">
              <a:buNone/>
              <a:defRPr sz="2100" b="1"/>
            </a:lvl5pPr>
            <a:lvl6pPr marL="3047924" indent="0">
              <a:buNone/>
              <a:defRPr sz="2100" b="1"/>
            </a:lvl6pPr>
            <a:lvl7pPr marL="3657509" indent="0">
              <a:buNone/>
              <a:defRPr sz="2100" b="1"/>
            </a:lvl7pPr>
            <a:lvl8pPr marL="4267093" indent="0">
              <a:buNone/>
              <a:defRPr sz="2100" b="1"/>
            </a:lvl8pPr>
            <a:lvl9pPr marL="4876678"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1013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65177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457955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49"/>
            <a:ext cx="4011084" cy="1162051"/>
          </a:xfrm>
        </p:spPr>
        <p:txBody>
          <a:bodyPr anchor="b"/>
          <a:lstStyle>
            <a:lvl1pPr algn="l">
              <a:defRPr sz="2700" b="1"/>
            </a:lvl1pPr>
          </a:lstStyle>
          <a:p>
            <a:r>
              <a:rPr lang="zh-CN" altLang="en-US"/>
              <a:t>单击此处编辑母版标题样式</a:t>
            </a:r>
          </a:p>
        </p:txBody>
      </p:sp>
      <p:sp>
        <p:nvSpPr>
          <p:cNvPr id="3" name="内容占位符 2"/>
          <p:cNvSpPr>
            <a:spLocks noGrp="1"/>
          </p:cNvSpPr>
          <p:nvPr>
            <p:ph idx="1"/>
          </p:nvPr>
        </p:nvSpPr>
        <p:spPr>
          <a:xfrm>
            <a:off x="4766733" y="273052"/>
            <a:ext cx="6815667"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2"/>
            <a:ext cx="4011084" cy="4691063"/>
          </a:xfrm>
        </p:spPr>
        <p:txBody>
          <a:bodyPr/>
          <a:lstStyle>
            <a:lvl1pPr marL="0" indent="0">
              <a:buNone/>
              <a:defRPr sz="1900"/>
            </a:lvl1pPr>
            <a:lvl2pPr marL="609585" indent="0">
              <a:buNone/>
              <a:defRPr sz="1600"/>
            </a:lvl2pPr>
            <a:lvl3pPr marL="1219170" indent="0">
              <a:buNone/>
              <a:defRPr sz="13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080308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p:spPr>
        <p:txBody>
          <a:bodyPr anchor="b"/>
          <a:lstStyle>
            <a:lvl1pPr algn="l">
              <a:defRPr sz="27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4300"/>
            </a:lvl1pPr>
            <a:lvl2pPr marL="609585" indent="0">
              <a:buNone/>
              <a:defRPr sz="3700"/>
            </a:lvl2pPr>
            <a:lvl3pPr marL="1219170" indent="0">
              <a:buNone/>
              <a:defRPr sz="3200"/>
            </a:lvl3pPr>
            <a:lvl4pPr marL="1828754" indent="0">
              <a:buNone/>
              <a:defRPr sz="2700"/>
            </a:lvl4pPr>
            <a:lvl5pPr marL="2438339" indent="0">
              <a:buNone/>
              <a:defRPr sz="2700"/>
            </a:lvl5pPr>
            <a:lvl6pPr marL="3047924" indent="0">
              <a:buNone/>
              <a:defRPr sz="2700"/>
            </a:lvl6pPr>
            <a:lvl7pPr marL="3657509" indent="0">
              <a:buNone/>
              <a:defRPr sz="2700"/>
            </a:lvl7pPr>
            <a:lvl8pPr marL="4267093" indent="0">
              <a:buNone/>
              <a:defRPr sz="2700"/>
            </a:lvl8pPr>
            <a:lvl9pPr marL="4876678" indent="0">
              <a:buNone/>
              <a:defRPr sz="2700"/>
            </a:lvl9pPr>
          </a:lstStyle>
          <a:p>
            <a:endParaRPr lang="zh-CN" altLang="en-US"/>
          </a:p>
        </p:txBody>
      </p:sp>
      <p:sp>
        <p:nvSpPr>
          <p:cNvPr id="4" name="文本占位符 3"/>
          <p:cNvSpPr>
            <a:spLocks noGrp="1"/>
          </p:cNvSpPr>
          <p:nvPr>
            <p:ph type="body" sz="half" idx="2"/>
          </p:nvPr>
        </p:nvSpPr>
        <p:spPr>
          <a:xfrm>
            <a:off x="2389717" y="5367338"/>
            <a:ext cx="7315200" cy="804863"/>
          </a:xfrm>
        </p:spPr>
        <p:txBody>
          <a:bodyPr/>
          <a:lstStyle>
            <a:lvl1pPr marL="0" indent="0">
              <a:buNone/>
              <a:defRPr sz="1900"/>
            </a:lvl1pPr>
            <a:lvl2pPr marL="609585" indent="0">
              <a:buNone/>
              <a:defRPr sz="1600"/>
            </a:lvl2pPr>
            <a:lvl3pPr marL="1219170" indent="0">
              <a:buNone/>
              <a:defRPr sz="13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009921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78596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909610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2" y="244476"/>
            <a:ext cx="11180233" cy="1431925"/>
          </a:xfrm>
        </p:spPr>
        <p:txBody>
          <a:bodyPr/>
          <a:lstStyle/>
          <a:p>
            <a:r>
              <a:rPr lang="zh-CN" altLang="en-US"/>
              <a:t>单击此处编辑母版标题样式</a:t>
            </a:r>
          </a:p>
        </p:txBody>
      </p:sp>
      <p:sp>
        <p:nvSpPr>
          <p:cNvPr id="3" name="文本占位符 2"/>
          <p:cNvSpPr>
            <a:spLocks noGrp="1"/>
          </p:cNvSpPr>
          <p:nvPr>
            <p:ph type="body" sz="half" idx="1"/>
          </p:nvPr>
        </p:nvSpPr>
        <p:spPr>
          <a:xfrm>
            <a:off x="1117602"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557436"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17602" y="6245225"/>
            <a:ext cx="2535767" cy="476251"/>
          </a:xfrm>
        </p:spPr>
        <p:txBody>
          <a:bodyPr/>
          <a:lstStyle>
            <a:lvl1pPr>
              <a:defRPr/>
            </a:lvl1pPr>
          </a:lstStyle>
          <a:p>
            <a:endParaRPr lang="en-US" altLang="zh-CN">
              <a:solidFill>
                <a:prstClr val="black">
                  <a:tint val="75000"/>
                </a:prstClr>
              </a:solidFill>
            </a:endParaRPr>
          </a:p>
        </p:txBody>
      </p:sp>
      <p:sp>
        <p:nvSpPr>
          <p:cNvPr id="6" name="页脚占位符 5"/>
          <p:cNvSpPr>
            <a:spLocks noGrp="1"/>
          </p:cNvSpPr>
          <p:nvPr>
            <p:ph type="ftr" sz="quarter" idx="11"/>
          </p:nvPr>
        </p:nvSpPr>
        <p:spPr>
          <a:xfrm>
            <a:off x="4572000" y="6245225"/>
            <a:ext cx="3860800" cy="476251"/>
          </a:xfrm>
        </p:spPr>
        <p:txBody>
          <a:bodyPr/>
          <a:lstStyle>
            <a:lvl1pPr>
              <a:defRPr/>
            </a:lvl1pPr>
          </a:lstStyle>
          <a:p>
            <a:endParaRPr lang="en-US" altLang="zh-CN">
              <a:solidFill>
                <a:prstClr val="black">
                  <a:tint val="75000"/>
                </a:prstClr>
              </a:solidFill>
            </a:endParaRPr>
          </a:p>
        </p:txBody>
      </p:sp>
      <p:sp>
        <p:nvSpPr>
          <p:cNvPr id="7" name="灯片编号占位符 6"/>
          <p:cNvSpPr>
            <a:spLocks noGrp="1"/>
          </p:cNvSpPr>
          <p:nvPr>
            <p:ph type="sldNum" sz="quarter" idx="12"/>
          </p:nvPr>
        </p:nvSpPr>
        <p:spPr>
          <a:xfrm>
            <a:off x="9249835" y="6245225"/>
            <a:ext cx="2535767" cy="476251"/>
          </a:xfrm>
        </p:spPr>
        <p:txBody>
          <a:bodyPr/>
          <a:lstStyle>
            <a:lvl1pPr>
              <a:defRPr/>
            </a:lvl1pPr>
          </a:lstStyle>
          <a:p>
            <a:fld id="{F29DCBEE-9A44-4468-9C3D-FAAB2E351A4B}" type="slidenum">
              <a:rPr lang="en-US" altLang="zh-CN">
                <a:solidFill>
                  <a:prstClr val="black">
                    <a:tint val="75000"/>
                  </a:prstClr>
                </a:solidFill>
              </a:rPr>
              <a:pPr/>
              <a:t>‹#›</a:t>
            </a:fld>
            <a:endParaRPr lang="en-US" altLang="zh-CN">
              <a:solidFill>
                <a:prstClr val="black">
                  <a:tint val="75000"/>
                </a:prstClr>
              </a:solidFill>
            </a:endParaRPr>
          </a:p>
        </p:txBody>
      </p:sp>
    </p:spTree>
    <p:extLst>
      <p:ext uri="{BB962C8B-B14F-4D97-AF65-F5344CB8AC3E}">
        <p14:creationId xmlns:p14="http://schemas.microsoft.com/office/powerpoint/2010/main" val="1829703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702484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957228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294643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487977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882573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281238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028380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408920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669906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966976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569987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44476"/>
            <a:ext cx="11180233" cy="1431925"/>
          </a:xfrm>
        </p:spPr>
        <p:txBody>
          <a:bodyPr/>
          <a:lstStyle/>
          <a:p>
            <a:r>
              <a:rPr lang="zh-CN" altLang="en-US"/>
              <a:t>单击此处编辑母版标题样式</a:t>
            </a:r>
          </a:p>
        </p:txBody>
      </p:sp>
      <p:sp>
        <p:nvSpPr>
          <p:cNvPr id="3" name="文本占位符 2"/>
          <p:cNvSpPr>
            <a:spLocks noGrp="1"/>
          </p:cNvSpPr>
          <p:nvPr>
            <p:ph type="body" sz="half" idx="1"/>
          </p:nvPr>
        </p:nvSpPr>
        <p:spPr>
          <a:xfrm>
            <a:off x="1117601"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557434"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17601" y="6245225"/>
            <a:ext cx="2535767" cy="476250"/>
          </a:xfrm>
        </p:spPr>
        <p:txBody>
          <a:bodyPr/>
          <a:lstStyle>
            <a:lvl1pPr>
              <a:defRPr/>
            </a:lvl1pPr>
          </a:lstStyle>
          <a:p>
            <a:endParaRPr lang="en-US" altLang="zh-CN">
              <a:solidFill>
                <a:prstClr val="black">
                  <a:tint val="75000"/>
                </a:prstClr>
              </a:solidFill>
            </a:endParaRPr>
          </a:p>
        </p:txBody>
      </p:sp>
      <p:sp>
        <p:nvSpPr>
          <p:cNvPr id="6" name="页脚占位符 5"/>
          <p:cNvSpPr>
            <a:spLocks noGrp="1"/>
          </p:cNvSpPr>
          <p:nvPr>
            <p:ph type="ftr" sz="quarter" idx="11"/>
          </p:nvPr>
        </p:nvSpPr>
        <p:spPr>
          <a:xfrm>
            <a:off x="4572000" y="6245225"/>
            <a:ext cx="3860800" cy="476250"/>
          </a:xfrm>
        </p:spPr>
        <p:txBody>
          <a:bodyPr/>
          <a:lstStyle>
            <a:lvl1pPr>
              <a:defRPr/>
            </a:lvl1pPr>
          </a:lstStyle>
          <a:p>
            <a:endParaRPr lang="en-US" altLang="zh-CN">
              <a:solidFill>
                <a:prstClr val="black">
                  <a:tint val="75000"/>
                </a:prstClr>
              </a:solidFill>
            </a:endParaRPr>
          </a:p>
        </p:txBody>
      </p:sp>
      <p:sp>
        <p:nvSpPr>
          <p:cNvPr id="7" name="灯片编号占位符 6"/>
          <p:cNvSpPr>
            <a:spLocks noGrp="1"/>
          </p:cNvSpPr>
          <p:nvPr>
            <p:ph type="sldNum" sz="quarter" idx="12"/>
          </p:nvPr>
        </p:nvSpPr>
        <p:spPr>
          <a:xfrm>
            <a:off x="9249834" y="6245225"/>
            <a:ext cx="2535767" cy="476250"/>
          </a:xfrm>
        </p:spPr>
        <p:txBody>
          <a:bodyPr/>
          <a:lstStyle>
            <a:lvl1pPr>
              <a:defRPr/>
            </a:lvl1pPr>
          </a:lstStyle>
          <a:p>
            <a:fld id="{F29DCBEE-9A44-4468-9C3D-FAAB2E351A4B}" type="slidenum">
              <a:rPr lang="en-US" altLang="zh-CN">
                <a:solidFill>
                  <a:prstClr val="black">
                    <a:tint val="75000"/>
                  </a:prstClr>
                </a:solidFill>
              </a:rPr>
              <a:pPr/>
              <a:t>‹#›</a:t>
            </a:fld>
            <a:endParaRPr lang="en-US" altLang="zh-CN">
              <a:solidFill>
                <a:prstClr val="black">
                  <a:tint val="75000"/>
                </a:prstClr>
              </a:solidFill>
            </a:endParaRPr>
          </a:p>
        </p:txBody>
      </p:sp>
    </p:spTree>
    <p:extLst>
      <p:ext uri="{BB962C8B-B14F-4D97-AF65-F5344CB8AC3E}">
        <p14:creationId xmlns:p14="http://schemas.microsoft.com/office/powerpoint/2010/main" val="5818409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1" y="244476"/>
            <a:ext cx="11180233" cy="1431925"/>
          </a:xfrm>
        </p:spPr>
        <p:txBody>
          <a:bodyPr/>
          <a:lstStyle/>
          <a:p>
            <a:r>
              <a:rPr lang="zh-CN" altLang="en-US"/>
              <a:t>单击此处编辑母版标题样式</a:t>
            </a:r>
          </a:p>
        </p:txBody>
      </p:sp>
      <p:sp>
        <p:nvSpPr>
          <p:cNvPr id="3" name="内容占位符 2"/>
          <p:cNvSpPr>
            <a:spLocks noGrp="1"/>
          </p:cNvSpPr>
          <p:nvPr>
            <p:ph sz="half" idx="1"/>
          </p:nvPr>
        </p:nvSpPr>
        <p:spPr>
          <a:xfrm>
            <a:off x="1117601"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557434" y="1905000"/>
            <a:ext cx="5236633" cy="4191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1117601" y="6245225"/>
            <a:ext cx="2535767" cy="476250"/>
          </a:xfrm>
        </p:spPr>
        <p:txBody>
          <a:bodyPr/>
          <a:lstStyle>
            <a:lvl1pPr>
              <a:defRPr/>
            </a:lvl1pPr>
          </a:lstStyle>
          <a:p>
            <a:endParaRPr lang="en-US" altLang="zh-CN">
              <a:solidFill>
                <a:prstClr val="black">
                  <a:tint val="75000"/>
                </a:prstClr>
              </a:solidFill>
            </a:endParaRPr>
          </a:p>
        </p:txBody>
      </p:sp>
      <p:sp>
        <p:nvSpPr>
          <p:cNvPr id="6" name="页脚占位符 5"/>
          <p:cNvSpPr>
            <a:spLocks noGrp="1"/>
          </p:cNvSpPr>
          <p:nvPr>
            <p:ph type="ftr" sz="quarter" idx="11"/>
          </p:nvPr>
        </p:nvSpPr>
        <p:spPr>
          <a:xfrm>
            <a:off x="4572000" y="6245225"/>
            <a:ext cx="3860800" cy="476250"/>
          </a:xfrm>
        </p:spPr>
        <p:txBody>
          <a:bodyPr/>
          <a:lstStyle>
            <a:lvl1pPr>
              <a:defRPr/>
            </a:lvl1pPr>
          </a:lstStyle>
          <a:p>
            <a:endParaRPr lang="en-US" altLang="zh-CN">
              <a:solidFill>
                <a:prstClr val="black">
                  <a:tint val="75000"/>
                </a:prstClr>
              </a:solidFill>
            </a:endParaRPr>
          </a:p>
        </p:txBody>
      </p:sp>
      <p:sp>
        <p:nvSpPr>
          <p:cNvPr id="7" name="灯片编号占位符 6"/>
          <p:cNvSpPr>
            <a:spLocks noGrp="1"/>
          </p:cNvSpPr>
          <p:nvPr>
            <p:ph type="sldNum" sz="quarter" idx="12"/>
          </p:nvPr>
        </p:nvSpPr>
        <p:spPr>
          <a:xfrm>
            <a:off x="9249834" y="6245225"/>
            <a:ext cx="2535767" cy="476250"/>
          </a:xfrm>
        </p:spPr>
        <p:txBody>
          <a:bodyPr/>
          <a:lstStyle>
            <a:lvl1pPr>
              <a:defRPr/>
            </a:lvl1pPr>
          </a:lstStyle>
          <a:p>
            <a:fld id="{3DB64177-1E66-4453-A9D2-7184AA47FFB6}" type="slidenum">
              <a:rPr lang="en-US" altLang="zh-CN">
                <a:solidFill>
                  <a:prstClr val="black">
                    <a:tint val="75000"/>
                  </a:prstClr>
                </a:solidFill>
              </a:rPr>
              <a:pPr/>
              <a:t>‹#›</a:t>
            </a:fld>
            <a:endParaRPr lang="en-US" altLang="zh-CN">
              <a:solidFill>
                <a:prstClr val="black">
                  <a:tint val="75000"/>
                </a:prstClr>
              </a:solidFill>
            </a:endParaRPr>
          </a:p>
        </p:txBody>
      </p:sp>
    </p:spTree>
    <p:extLst>
      <p:ext uri="{BB962C8B-B14F-4D97-AF65-F5344CB8AC3E}">
        <p14:creationId xmlns:p14="http://schemas.microsoft.com/office/powerpoint/2010/main" val="20653680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74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0C58E5-60A1-4BB6-96C4-742E3BA9A256}" type="datetimeFigureOut">
              <a:rPr lang="zh-CN" altLang="en-US" smtClean="0"/>
              <a:t>2024/1/29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9646C-81D6-4AB2-A379-2D7B3346837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121917" tIns="60958" rIns="121917" bIns="60958" rtlCol="0" anchor="ctr"/>
          <a:lstStyle>
            <a:lvl1pPr algn="l">
              <a:defRPr sz="1600">
                <a:solidFill>
                  <a:schemeClr val="tx1">
                    <a:tint val="75000"/>
                  </a:schemeClr>
                </a:solidFill>
              </a:defRPr>
            </a:lvl1pPr>
          </a:lstStyle>
          <a:p>
            <a:pPr defTabSz="1219170"/>
            <a:fld id="{530820CF-B880-4189-942D-D702A7CBA730}" type="datetimeFigureOut">
              <a:rPr lang="zh-CN" altLang="en-US" smtClean="0">
                <a:solidFill>
                  <a:prstClr val="black">
                    <a:tint val="75000"/>
                  </a:prstClr>
                </a:solidFill>
              </a:rPr>
              <a:pPr defTabSz="1219170"/>
              <a:t>2024/1/29</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121917" tIns="60958" rIns="121917" bIns="60958" rtlCol="0" anchor="ctr"/>
          <a:lstStyle>
            <a:lvl1pPr algn="ctr">
              <a:defRPr sz="1600">
                <a:solidFill>
                  <a:schemeClr val="tx1">
                    <a:tint val="75000"/>
                  </a:schemeClr>
                </a:solidFill>
              </a:defRPr>
            </a:lvl1pPr>
          </a:lstStyle>
          <a:p>
            <a:pPr defTabSz="1219170"/>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121917" tIns="60958" rIns="121917" bIns="60958" rtlCol="0" anchor="ctr"/>
          <a:lstStyle>
            <a:lvl1pPr algn="r">
              <a:defRPr sz="1600">
                <a:solidFill>
                  <a:schemeClr val="tx1">
                    <a:tint val="75000"/>
                  </a:schemeClr>
                </a:solidFill>
              </a:defRPr>
            </a:lvl1pPr>
          </a:lstStyle>
          <a:p>
            <a:pPr defTabSz="1219170"/>
            <a:fld id="{0C913308-F349-4B6D-A68A-DD1791B4A57B}" type="slidenum">
              <a:rPr lang="zh-CN" altLang="en-US" smtClean="0">
                <a:solidFill>
                  <a:prstClr val="black">
                    <a:tint val="75000"/>
                  </a:prstClr>
                </a:solidFill>
              </a:rPr>
              <a:pPr defTabSz="1219170"/>
              <a:t>‹#›</a:t>
            </a:fld>
            <a:endParaRPr lang="zh-CN" altLang="en-US">
              <a:solidFill>
                <a:prstClr val="black">
                  <a:tint val="75000"/>
                </a:prstClr>
              </a:solidFill>
            </a:endParaRPr>
          </a:p>
        </p:txBody>
      </p:sp>
    </p:spTree>
    <p:extLst>
      <p:ext uri="{BB962C8B-B14F-4D97-AF65-F5344CB8AC3E}">
        <p14:creationId xmlns:p14="http://schemas.microsoft.com/office/powerpoint/2010/main" val="264836065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defTabSz="1219170" rtl="0" eaLnBrk="1" latinLnBrk="0" hangingPunct="1">
        <a:spcBef>
          <a:spcPct val="0"/>
        </a:spcBef>
        <a:buNone/>
        <a:defRPr sz="5900"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0C58E5-60A1-4BB6-96C4-742E3BA9A256}" type="datetimeFigureOut">
              <a:rPr lang="zh-CN" altLang="en-US" smtClean="0">
                <a:solidFill>
                  <a:prstClr val="black">
                    <a:tint val="75000"/>
                  </a:prstClr>
                </a:solidFill>
              </a:rPr>
              <a:pPr/>
              <a:t>2024/1/29</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9646C-81D6-4AB2-A379-2D7B3346837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1109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jpeg"/><Relationship Id="rId5" Type="http://schemas.microsoft.com/office/2007/relationships/hdphoto" Target="../media/hdphoto2.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4.wdp"/></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5.wdp"/></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 Id="rId4" Type="http://schemas.microsoft.com/office/2007/relationships/hdphoto" Target="../media/hdphoto9.wdp"/></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7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57.png"/><Relationship Id="rId1" Type="http://schemas.openxmlformats.org/officeDocument/2006/relationships/slideLayout" Target="../slideLayouts/slideLayout7.xml"/><Relationship Id="rId5" Type="http://schemas.microsoft.com/office/2007/relationships/hdphoto" Target="../media/hdphoto15.wdp"/><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bwMode="auto">
          <a:xfrm>
            <a:off x="1905549" y="0"/>
            <a:ext cx="8707791"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8" tIns="45719" rIns="91438" bIns="45719" numCol="1" rtlCol="0" anchor="t" anchorCtr="0" compatLnSpc="1">
            <a:noAutofit/>
          </a:bodyPr>
          <a:lstStyle/>
          <a:p>
            <a:r>
              <a:rPr lang="zh-CN" altLang="en-US" sz="5500" b="1" dirty="0">
                <a:solidFill>
                  <a:srgbClr val="FF0000"/>
                </a:solidFill>
                <a:latin typeface="黑体" panose="02010609060101010101" pitchFamily="49" charset="-122"/>
                <a:ea typeface="黑体" panose="02010609060101010101" pitchFamily="49" charset="-122"/>
              </a:rPr>
              <a:t>第三章  遗传的染色体学说</a:t>
            </a:r>
          </a:p>
        </p:txBody>
      </p:sp>
      <p:pic>
        <p:nvPicPr>
          <p:cNvPr id="3" name="图片 2">
            <a:extLst>
              <a:ext uri="{FF2B5EF4-FFF2-40B4-BE49-F238E27FC236}">
                <a16:creationId xmlns:a16="http://schemas.microsoft.com/office/drawing/2014/main" id="{A05E8DB0-84C1-55D8-E8A4-59A46B48F138}"/>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474369" y="1310753"/>
            <a:ext cx="5962594" cy="4236492"/>
          </a:xfrm>
          <a:prstGeom prst="rect">
            <a:avLst/>
          </a:prstGeom>
        </p:spPr>
      </p:pic>
      <p:pic>
        <p:nvPicPr>
          <p:cNvPr id="4" name="图片 3">
            <a:extLst>
              <a:ext uri="{FF2B5EF4-FFF2-40B4-BE49-F238E27FC236}">
                <a16:creationId xmlns:a16="http://schemas.microsoft.com/office/drawing/2014/main" id="{125292CE-CFC1-4238-404F-5CFC3306FDBF}"/>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044156" y="1310754"/>
            <a:ext cx="3058693" cy="4236491"/>
          </a:xfrm>
          <a:prstGeom prst="rect">
            <a:avLst/>
          </a:prstGeom>
        </p:spPr>
      </p:pic>
      <p:pic>
        <p:nvPicPr>
          <p:cNvPr id="5" name="图片 4">
            <a:extLst>
              <a:ext uri="{FF2B5EF4-FFF2-40B4-BE49-F238E27FC236}">
                <a16:creationId xmlns:a16="http://schemas.microsoft.com/office/drawing/2014/main" id="{79EA5134-4448-49FD-34E3-1A9A43DB966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00076" y="1315416"/>
            <a:ext cx="1555027" cy="4231829"/>
          </a:xfrm>
          <a:prstGeom prst="rect">
            <a:avLst/>
          </a:prstGeom>
        </p:spPr>
      </p:pic>
    </p:spTree>
    <p:extLst>
      <p:ext uri="{BB962C8B-B14F-4D97-AF65-F5344CB8AC3E}">
        <p14:creationId xmlns:p14="http://schemas.microsoft.com/office/powerpoint/2010/main" val="2170659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a:xfrm>
            <a:off x="0" y="1412003"/>
            <a:ext cx="12192000" cy="685800"/>
          </a:xfrm>
          <a:noFill/>
          <a:ln>
            <a:noFill/>
          </a:ln>
        </p:spPr>
        <p:txBody>
          <a:bodyPr anchor="t" anchorCtr="0">
            <a:normAutofit fontScale="90000"/>
          </a:bodyPr>
          <a:lstStyle/>
          <a:p>
            <a:r>
              <a:rPr lang="en-US" altLang="zh-CN" sz="4800" b="1" dirty="0">
                <a:solidFill>
                  <a:srgbClr val="1E06FE"/>
                </a:solidFill>
                <a:latin typeface="黑体" pitchFamily="49" charset="-122"/>
                <a:ea typeface="黑体" pitchFamily="49" charset="-122"/>
              </a:rPr>
              <a:t>1</a:t>
            </a:r>
            <a:r>
              <a:rPr lang="zh-CN" altLang="en-US" sz="4800" b="1" dirty="0">
                <a:solidFill>
                  <a:srgbClr val="1E06FE"/>
                </a:solidFill>
                <a:latin typeface="黑体" pitchFamily="49" charset="-122"/>
                <a:ea typeface="黑体" pitchFamily="49" charset="-122"/>
              </a:rPr>
              <a:t>. 染色质(</a:t>
            </a:r>
            <a:r>
              <a:rPr lang="en-US" altLang="zh-CN" sz="4800" b="1" dirty="0">
                <a:solidFill>
                  <a:srgbClr val="1E06FE"/>
                </a:solidFill>
                <a:latin typeface="黑体" pitchFamily="49" charset="-122"/>
                <a:ea typeface="黑体" pitchFamily="49" charset="-122"/>
              </a:rPr>
              <a:t>chromatin)</a:t>
            </a:r>
            <a:r>
              <a:rPr lang="zh-CN" altLang="en-US" sz="4800" b="1" dirty="0">
                <a:solidFill>
                  <a:srgbClr val="1E06FE"/>
                </a:solidFill>
                <a:latin typeface="黑体" pitchFamily="49" charset="-122"/>
                <a:ea typeface="黑体" pitchFamily="49" charset="-122"/>
              </a:rPr>
              <a:t>和染色体(</a:t>
            </a:r>
            <a:r>
              <a:rPr lang="en-US" altLang="zh-CN" sz="4800" b="1" dirty="0">
                <a:solidFill>
                  <a:srgbClr val="1E06FE"/>
                </a:solidFill>
                <a:latin typeface="黑体" pitchFamily="49" charset="-122"/>
                <a:ea typeface="黑体" pitchFamily="49" charset="-122"/>
              </a:rPr>
              <a:t>chromosome)</a:t>
            </a:r>
            <a:endParaRPr lang="zh-CN" altLang="en-US" sz="4800" b="1" dirty="0">
              <a:solidFill>
                <a:srgbClr val="1E06FE"/>
              </a:solidFill>
              <a:latin typeface="黑体" pitchFamily="49" charset="-122"/>
              <a:ea typeface="黑体" pitchFamily="49" charset="-122"/>
            </a:endParaRPr>
          </a:p>
        </p:txBody>
      </p:sp>
      <p:sp>
        <p:nvSpPr>
          <p:cNvPr id="63490" name="Rectangle 3"/>
          <p:cNvSpPr>
            <a:spLocks noGrp="1"/>
          </p:cNvSpPr>
          <p:nvPr>
            <p:ph sz="half" idx="1"/>
          </p:nvPr>
        </p:nvSpPr>
        <p:spPr>
          <a:xfrm>
            <a:off x="1" y="2468893"/>
            <a:ext cx="11906252" cy="3050758"/>
          </a:xfrm>
          <a:noFill/>
          <a:ln>
            <a:noFill/>
          </a:ln>
        </p:spPr>
        <p:txBody>
          <a:bodyPr anchor="t" anchorCtr="0">
            <a:normAutofit/>
          </a:bodyPr>
          <a:lstStyle/>
          <a:p>
            <a:pPr>
              <a:lnSpc>
                <a:spcPct val="120000"/>
              </a:lnSpc>
              <a:spcBef>
                <a:spcPct val="5000"/>
              </a:spcBef>
              <a:buClr>
                <a:schemeClr val="folHlink"/>
              </a:buClr>
            </a:pPr>
            <a:r>
              <a:rPr lang="zh-CN" altLang="en-US" b="1" dirty="0">
                <a:solidFill>
                  <a:srgbClr val="FF0000"/>
                </a:solidFill>
                <a:latin typeface="黑体" pitchFamily="49" charset="-122"/>
                <a:ea typeface="黑体" pitchFamily="49" charset="-122"/>
              </a:rPr>
              <a:t>染色质</a:t>
            </a:r>
            <a:r>
              <a:rPr lang="zh-CN" altLang="en-US" b="1" dirty="0">
                <a:solidFill>
                  <a:srgbClr val="1E06FE"/>
                </a:solidFill>
                <a:latin typeface="黑体" pitchFamily="49" charset="-122"/>
                <a:ea typeface="黑体" pitchFamily="49" charset="-122"/>
              </a:rPr>
              <a:t>(包括常染色质和异染色质）</a:t>
            </a:r>
            <a:r>
              <a:rPr lang="zh-CN" altLang="en-US" b="1" dirty="0">
                <a:solidFill>
                  <a:schemeClr val="tx2"/>
                </a:solidFill>
                <a:latin typeface="黑体" pitchFamily="49" charset="-122"/>
                <a:ea typeface="黑体" pitchFamily="49" charset="-122"/>
              </a:rPr>
              <a:t>：</a:t>
            </a:r>
            <a:r>
              <a:rPr lang="zh-CN" altLang="en-US" b="1" dirty="0">
                <a:latin typeface="黑体" pitchFamily="49" charset="-122"/>
                <a:ea typeface="黑体" pitchFamily="49" charset="-122"/>
              </a:rPr>
              <a:t>细胞分裂</a:t>
            </a:r>
            <a:r>
              <a:rPr lang="zh-CN" altLang="en-US" b="1" dirty="0">
                <a:solidFill>
                  <a:srgbClr val="FF0000"/>
                </a:solidFill>
                <a:latin typeface="黑体" pitchFamily="49" charset="-122"/>
                <a:ea typeface="黑体" pitchFamily="49" charset="-122"/>
              </a:rPr>
              <a:t>间期</a:t>
            </a:r>
            <a:r>
              <a:rPr lang="zh-CN" altLang="en-US" b="1" dirty="0">
                <a:latin typeface="黑体" pitchFamily="49" charset="-122"/>
                <a:ea typeface="黑体" pitchFamily="49" charset="-122"/>
              </a:rPr>
              <a:t>核内，对碱性染料着色均匀的网状、丝状的物质</a:t>
            </a:r>
            <a:r>
              <a:rPr lang="en-US" altLang="zh-CN" b="1" dirty="0">
                <a:latin typeface="黑体" pitchFamily="49" charset="-122"/>
                <a:ea typeface="黑体" pitchFamily="49" charset="-122"/>
              </a:rPr>
              <a:t>。</a:t>
            </a:r>
          </a:p>
          <a:p>
            <a:pPr>
              <a:lnSpc>
                <a:spcPct val="120000"/>
              </a:lnSpc>
              <a:spcBef>
                <a:spcPct val="5000"/>
              </a:spcBef>
              <a:buClr>
                <a:schemeClr val="folHlink"/>
              </a:buClr>
              <a:buSzTx/>
              <a:buFontTx/>
            </a:pPr>
            <a:r>
              <a:rPr lang="zh-CN" altLang="en-US" b="1" dirty="0">
                <a:solidFill>
                  <a:srgbClr val="FF0000"/>
                </a:solidFill>
                <a:latin typeface="黑体" pitchFamily="49" charset="-122"/>
                <a:ea typeface="黑体" pitchFamily="49" charset="-122"/>
              </a:rPr>
              <a:t>染色体</a:t>
            </a:r>
            <a:r>
              <a:rPr lang="zh-CN" altLang="en-US" b="1" dirty="0">
                <a:solidFill>
                  <a:schemeClr val="tx2"/>
                </a:solidFill>
                <a:latin typeface="黑体" pitchFamily="49" charset="-122"/>
                <a:ea typeface="黑体" pitchFamily="49" charset="-122"/>
              </a:rPr>
              <a:t>：</a:t>
            </a:r>
            <a:r>
              <a:rPr lang="zh-CN" altLang="en-US" b="1" dirty="0">
                <a:latin typeface="黑体" pitchFamily="49" charset="-122"/>
                <a:ea typeface="黑体" pitchFamily="49" charset="-122"/>
              </a:rPr>
              <a:t>细胞</a:t>
            </a:r>
            <a:r>
              <a:rPr lang="zh-CN" altLang="en-US" b="1" dirty="0">
                <a:solidFill>
                  <a:srgbClr val="FF0000"/>
                </a:solidFill>
                <a:latin typeface="黑体" pitchFamily="49" charset="-122"/>
                <a:ea typeface="黑体" pitchFamily="49" charset="-122"/>
              </a:rPr>
              <a:t>分裂期</a:t>
            </a:r>
            <a:r>
              <a:rPr lang="zh-CN" altLang="en-US" b="1" dirty="0">
                <a:latin typeface="黑体" pitchFamily="49" charset="-122"/>
                <a:ea typeface="黑体" pitchFamily="49" charset="-122"/>
              </a:rPr>
              <a:t>，核内染色质高度螺旋化，折叠盘曲而成的杆状小体。其形态结构相对稳定。</a:t>
            </a:r>
          </a:p>
          <a:p>
            <a:pPr>
              <a:lnSpc>
                <a:spcPct val="120000"/>
              </a:lnSpc>
              <a:spcBef>
                <a:spcPct val="5000"/>
              </a:spcBef>
              <a:buClr>
                <a:schemeClr val="folHlink"/>
              </a:buClr>
              <a:buSzTx/>
              <a:buFontTx/>
            </a:pPr>
            <a:r>
              <a:rPr lang="zh-CN" altLang="en-US" b="1" dirty="0">
                <a:latin typeface="黑体" pitchFamily="49" charset="-122"/>
                <a:ea typeface="黑体" pitchFamily="49" charset="-122"/>
              </a:rPr>
              <a:t>染色质和染色体是</a:t>
            </a:r>
            <a:r>
              <a:rPr lang="zh-CN" altLang="en-US" b="1" dirty="0">
                <a:solidFill>
                  <a:srgbClr val="FF0000"/>
                </a:solidFill>
                <a:latin typeface="黑体" pitchFamily="49" charset="-122"/>
                <a:ea typeface="黑体" pitchFamily="49" charset="-122"/>
              </a:rPr>
              <a:t>同一物质</a:t>
            </a:r>
            <a:r>
              <a:rPr lang="zh-CN" altLang="en-US" b="1" dirty="0">
                <a:latin typeface="黑体" pitchFamily="49" charset="-122"/>
                <a:ea typeface="黑体" pitchFamily="49" charset="-122"/>
              </a:rPr>
              <a:t>在细胞周期的不同时期不同的形态表现。</a:t>
            </a:r>
          </a:p>
        </p:txBody>
      </p:sp>
      <p:sp>
        <p:nvSpPr>
          <p:cNvPr id="63491" name="TextBox 6"/>
          <p:cNvSpPr txBox="1"/>
          <p:nvPr/>
        </p:nvSpPr>
        <p:spPr>
          <a:xfrm>
            <a:off x="3887755" y="260649"/>
            <a:ext cx="4386823" cy="935641"/>
          </a:xfrm>
          <a:prstGeom prst="rect">
            <a:avLst/>
          </a:prstGeom>
        </p:spPr>
        <p:txBody>
          <a:bodyPr vert="horz" lIns="121917" tIns="60958" rIns="121917" bIns="60958" rtlCol="0" anchor="ctr">
            <a:normAutofit/>
          </a:bodyPr>
          <a:lstStyle>
            <a:defPPr>
              <a:defRPr lang="zh-CN"/>
            </a:defPPr>
            <a:lvl1pPr>
              <a:lnSpc>
                <a:spcPct val="90000"/>
              </a:lnSpc>
              <a:spcBef>
                <a:spcPct val="0"/>
              </a:spcBef>
              <a:buNone/>
              <a:defRPr sz="4400" b="1">
                <a:latin typeface="黑体" panose="02010609060101010101" pitchFamily="49" charset="-122"/>
                <a:ea typeface="黑体" panose="02010609060101010101" pitchFamily="49" charset="-122"/>
                <a:cs typeface="+mj-cs"/>
              </a:defRPr>
            </a:lvl1pPr>
          </a:lstStyle>
          <a:p>
            <a:r>
              <a:rPr lang="en-US" altLang="zh-CN" dirty="0"/>
              <a:t>3</a:t>
            </a:r>
            <a:r>
              <a:rPr lang="zh-CN" altLang="en-US" dirty="0"/>
              <a:t>.</a:t>
            </a:r>
            <a:r>
              <a:rPr lang="en-US" altLang="zh-CN" dirty="0"/>
              <a:t>1</a:t>
            </a:r>
            <a:r>
              <a:rPr lang="zh-CN" altLang="en-US" dirty="0"/>
              <a:t>染色体</a:t>
            </a:r>
          </a:p>
        </p:txBody>
      </p:sp>
    </p:spTree>
    <p:extLst>
      <p:ext uri="{BB962C8B-B14F-4D97-AF65-F5344CB8AC3E}">
        <p14:creationId xmlns:p14="http://schemas.microsoft.com/office/powerpoint/2010/main" val="252685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a:xfrm>
            <a:off x="696157" y="266329"/>
            <a:ext cx="10515600" cy="869187"/>
          </a:xfrm>
        </p:spPr>
        <p:txBody>
          <a:bodyPr/>
          <a:lstStyle/>
          <a:p>
            <a:r>
              <a:rPr lang="zh-CN" altLang="en-US" sz="4000" b="1" dirty="0">
                <a:solidFill>
                  <a:srgbClr val="0000FF"/>
                </a:solidFill>
                <a:latin typeface="黑体" panose="02010609060101010101" pitchFamily="49" charset="-122"/>
                <a:ea typeface="黑体" panose="02010609060101010101" pitchFamily="49" charset="-122"/>
              </a:rPr>
              <a:t>染色质与染色体</a:t>
            </a:r>
          </a:p>
        </p:txBody>
      </p:sp>
      <p:sp>
        <p:nvSpPr>
          <p:cNvPr id="13315" name="Rectangle 3"/>
          <p:cNvSpPr>
            <a:spLocks noGrp="1" noRot="1" noChangeArrowheads="1"/>
          </p:cNvSpPr>
          <p:nvPr>
            <p:ph type="body" idx="1"/>
          </p:nvPr>
        </p:nvSpPr>
        <p:spPr>
          <a:xfrm>
            <a:off x="696157" y="1135516"/>
            <a:ext cx="10515600" cy="2179976"/>
          </a:xfrm>
        </p:spPr>
        <p:txBody>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染色体这一概念除指真核生物细胞分裂中期具有一定形态特征的染色质外，</a:t>
            </a:r>
            <a:r>
              <a:rPr lang="zh-CN" altLang="en-US" b="1" dirty="0">
                <a:solidFill>
                  <a:srgbClr val="FF0000"/>
                </a:solidFill>
                <a:latin typeface="黑体" panose="02010609060101010101" pitchFamily="49" charset="-122"/>
                <a:ea typeface="黑体" panose="02010609060101010101" pitchFamily="49" charset="-122"/>
              </a:rPr>
              <a:t>现在已扩大为包括原核生物及细胞器在内的基因载体的总称</a:t>
            </a:r>
            <a:r>
              <a:rPr lang="zh-CN" altLang="en-US" b="1" dirty="0">
                <a:latin typeface="黑体" panose="02010609060101010101" pitchFamily="49" charset="-122"/>
                <a:ea typeface="黑体" panose="02010609060101010101" pitchFamily="49" charset="-122"/>
              </a:rPr>
              <a:t>。大部分原核生物的染色体形态比较简单，它只是一条裸露的或与少数蛋白质结合的</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 </a:t>
            </a:r>
          </a:p>
        </p:txBody>
      </p:sp>
      <p:sp>
        <p:nvSpPr>
          <p:cNvPr id="4" name="Rectangle 3"/>
          <p:cNvSpPr txBox="1">
            <a:spLocks noRot="1" noChangeArrowheads="1"/>
          </p:cNvSpPr>
          <p:nvPr/>
        </p:nvSpPr>
        <p:spPr>
          <a:xfrm>
            <a:off x="696157" y="3308834"/>
            <a:ext cx="10969101" cy="29185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每一种生物的染色体数目是恒定的。</a:t>
            </a:r>
            <a:r>
              <a:rPr lang="zh-CN" altLang="en-US" b="1" dirty="0">
                <a:latin typeface="黑体" panose="02010609060101010101" pitchFamily="49" charset="-122"/>
                <a:ea typeface="黑体" panose="02010609060101010101" pitchFamily="49" charset="-122"/>
              </a:rPr>
              <a:t>多数高等动植物是二倍体</a:t>
            </a:r>
            <a:r>
              <a:rPr lang="en-US" altLang="zh-CN" b="1" dirty="0">
                <a:latin typeface="黑体" panose="02010609060101010101" pitchFamily="49" charset="-122"/>
                <a:ea typeface="黑体" panose="02010609060101010101" pitchFamily="49" charset="-122"/>
              </a:rPr>
              <a:t>(diploid)</a:t>
            </a:r>
            <a:r>
              <a:rPr lang="zh-CN" altLang="en-US" b="1" dirty="0">
                <a:latin typeface="黑体" panose="02010609060101010101" pitchFamily="49" charset="-122"/>
                <a:ea typeface="黑体" panose="02010609060101010101" pitchFamily="49" charset="-122"/>
              </a:rPr>
              <a:t>，也就是说，每一身体细胞中有两组同样的染色体，用</a:t>
            </a:r>
            <a:r>
              <a:rPr lang="en-US" altLang="zh-CN" b="1" dirty="0">
                <a:latin typeface="黑体" panose="02010609060101010101" pitchFamily="49" charset="-122"/>
                <a:ea typeface="黑体" panose="02010609060101010101" pitchFamily="49" charset="-122"/>
              </a:rPr>
              <a:t>2n</a:t>
            </a:r>
            <a:r>
              <a:rPr lang="zh-CN" altLang="en-US" b="1" dirty="0">
                <a:latin typeface="黑体" panose="02010609060101010101" pitchFamily="49" charset="-122"/>
                <a:ea typeface="黑体" panose="02010609060101010101" pitchFamily="49" charset="-122"/>
              </a:rPr>
              <a:t>表示；亲本的每一配子带有一组染色体，叫单倍体</a:t>
            </a:r>
            <a:r>
              <a:rPr lang="en-US" altLang="zh-CN" b="1" dirty="0">
                <a:latin typeface="黑体" panose="02010609060101010101" pitchFamily="49" charset="-122"/>
                <a:ea typeface="黑体" panose="02010609060101010101" pitchFamily="49" charset="-122"/>
              </a:rPr>
              <a:t>(haploid)</a:t>
            </a:r>
            <a:r>
              <a:rPr lang="zh-CN" altLang="en-US" b="1" dirty="0">
                <a:latin typeface="黑体" panose="02010609060101010101" pitchFamily="49" charset="-122"/>
                <a:ea typeface="黑体" panose="02010609060101010101" pitchFamily="49" charset="-122"/>
              </a:rPr>
              <a:t>，用</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表示。如人的染色体是</a:t>
            </a:r>
            <a:r>
              <a:rPr lang="en-US" altLang="zh-CN" b="1" dirty="0">
                <a:latin typeface="黑体" panose="02010609060101010101" pitchFamily="49" charset="-122"/>
                <a:ea typeface="黑体" panose="02010609060101010101" pitchFamily="49" charset="-122"/>
              </a:rPr>
              <a:t>46(2n</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46)</a:t>
            </a:r>
            <a:r>
              <a:rPr lang="zh-CN" altLang="en-US" b="1" dirty="0">
                <a:latin typeface="黑体" panose="02010609060101010101" pitchFamily="49" charset="-122"/>
                <a:ea typeface="黑体" panose="02010609060101010101" pitchFamily="49" charset="-122"/>
              </a:rPr>
              <a:t>，果蝇的染色体是</a:t>
            </a:r>
            <a:r>
              <a:rPr lang="en-US" altLang="zh-CN" b="1" dirty="0">
                <a:latin typeface="黑体" panose="02010609060101010101" pitchFamily="49" charset="-122"/>
                <a:ea typeface="黑体" panose="02010609060101010101" pitchFamily="49" charset="-122"/>
              </a:rPr>
              <a:t>8(2n</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8)</a:t>
            </a:r>
            <a:r>
              <a:rPr lang="zh-CN" altLang="en-US" b="1" dirty="0">
                <a:latin typeface="黑体" panose="02010609060101010101" pitchFamily="49" charset="-122"/>
                <a:ea typeface="黑体" panose="02010609060101010101" pitchFamily="49" charset="-122"/>
              </a:rPr>
              <a:t>。但多数微生物的营养体是单倍体，如链孢霉的单倍体染色体数是</a:t>
            </a:r>
            <a:r>
              <a:rPr lang="en-US" altLang="zh-CN" b="1" dirty="0">
                <a:latin typeface="黑体" panose="02010609060101010101" pitchFamily="49" charset="-122"/>
                <a:ea typeface="黑体" panose="02010609060101010101" pitchFamily="49" charset="-122"/>
              </a:rPr>
              <a:t>7(n</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7)</a:t>
            </a:r>
            <a:r>
              <a:rPr lang="zh-CN" altLang="en-US" b="1" dirty="0">
                <a:latin typeface="黑体" panose="02010609060101010101" pitchFamily="49" charset="-122"/>
                <a:ea typeface="黑体" panose="02010609060101010101" pitchFamily="49" charset="-122"/>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Rot="1" noChangeArrowheads="1"/>
          </p:cNvSpPr>
          <p:nvPr>
            <p:ph type="body" sz="half" idx="1"/>
          </p:nvPr>
        </p:nvSpPr>
        <p:spPr>
          <a:xfrm>
            <a:off x="1811507" y="6157060"/>
            <a:ext cx="6587231" cy="582006"/>
          </a:xfrm>
        </p:spPr>
        <p:txBody>
          <a:bodyPr/>
          <a:lstStyle/>
          <a:p>
            <a:pPr marL="0" indent="0">
              <a:lnSpc>
                <a:spcPct val="80000"/>
              </a:lnSpc>
              <a:buNone/>
            </a:pPr>
            <a:r>
              <a:rPr lang="zh-CN" altLang="en-US" b="1" dirty="0">
                <a:latin typeface="黑体" panose="02010609060101010101" pitchFamily="49" charset="-122"/>
                <a:ea typeface="黑体" panose="02010609060101010101" pitchFamily="49" charset="-122"/>
              </a:rPr>
              <a:t>根据</a:t>
            </a:r>
            <a:r>
              <a:rPr lang="zh-CN" altLang="en-US" b="1" dirty="0">
                <a:solidFill>
                  <a:srgbClr val="FF0000"/>
                </a:solidFill>
                <a:latin typeface="黑体" panose="02010609060101010101" pitchFamily="49" charset="-122"/>
                <a:ea typeface="黑体" panose="02010609060101010101" pitchFamily="49" charset="-122"/>
              </a:rPr>
              <a:t>着丝粒位置</a:t>
            </a:r>
            <a:r>
              <a:rPr lang="zh-CN" altLang="en-US" b="1" dirty="0">
                <a:latin typeface="黑体" panose="02010609060101010101" pitchFamily="49" charset="-122"/>
                <a:ea typeface="黑体" panose="02010609060101010101" pitchFamily="49" charset="-122"/>
              </a:rPr>
              <a:t>划分各种类型的染色体</a:t>
            </a:r>
            <a:endParaRPr lang="en-US" altLang="zh-CN" b="1" dirty="0">
              <a:latin typeface="黑体" panose="02010609060101010101" pitchFamily="49" charset="-122"/>
              <a:ea typeface="黑体" panose="02010609060101010101" pitchFamily="49" charset="-122"/>
            </a:endParaRPr>
          </a:p>
        </p:txBody>
      </p:sp>
      <p:pic>
        <p:nvPicPr>
          <p:cNvPr id="100358" name="Picture 6" descr="2-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908697" y="118934"/>
            <a:ext cx="8466765" cy="57675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title"/>
          </p:nvPr>
        </p:nvSpPr>
        <p:spPr bwMode="auto">
          <a:xfrm>
            <a:off x="527381" y="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a:bodyPr>
          <a:lstStyle/>
          <a:p>
            <a:pPr algn="l"/>
            <a:r>
              <a:rPr lang="zh-CN" altLang="en-US" sz="4300" b="1" dirty="0">
                <a:latin typeface="黑体" panose="02010609060101010101" pitchFamily="49" charset="-122"/>
                <a:ea typeface="黑体" panose="02010609060101010101" pitchFamily="49" charset="-122"/>
              </a:rPr>
              <a:t>（1）染色质的化学组成</a:t>
            </a:r>
          </a:p>
        </p:txBody>
      </p:sp>
      <p:sp>
        <p:nvSpPr>
          <p:cNvPr id="64515" name="Rectangle 6"/>
          <p:cNvSpPr>
            <a:spLocks noGrp="1" noChangeArrowheads="1"/>
          </p:cNvSpPr>
          <p:nvPr>
            <p:ph idx="1"/>
          </p:nvPr>
        </p:nvSpPr>
        <p:spPr bwMode="auto">
          <a:xfrm>
            <a:off x="335360" y="834503"/>
            <a:ext cx="11809312" cy="528279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Autofit/>
          </a:bodyPr>
          <a:lstStyle/>
          <a:p>
            <a:pPr marL="0" indent="0">
              <a:lnSpc>
                <a:spcPct val="110000"/>
              </a:lnSpc>
              <a:buClr>
                <a:schemeClr val="folHlink"/>
              </a:buClr>
              <a:buNone/>
              <a:tabLst>
                <a:tab pos="0" algn="l"/>
                <a:tab pos="380981" algn="l"/>
                <a:tab pos="487021" algn="l"/>
                <a:tab pos="571472" algn="l"/>
              </a:tabLst>
            </a:pPr>
            <a:r>
              <a:rPr lang="zh-CN" altLang="en-US" sz="3700" b="1" dirty="0">
                <a:latin typeface="黑体" panose="02010609060101010101" pitchFamily="49" charset="-122"/>
                <a:ea typeface="黑体" panose="02010609060101010101" pitchFamily="49" charset="-122"/>
              </a:rPr>
              <a:t>染色质：</a:t>
            </a:r>
            <a:r>
              <a:rPr lang="zh-CN" altLang="en-US" sz="3700" b="1" dirty="0">
                <a:solidFill>
                  <a:srgbClr val="FF0000"/>
                </a:solidFill>
                <a:latin typeface="黑体" panose="02010609060101010101" pitchFamily="49" charset="-122"/>
                <a:ea typeface="黑体" panose="02010609060101010101" pitchFamily="49" charset="-122"/>
              </a:rPr>
              <a:t>蛋白质+</a:t>
            </a:r>
            <a:r>
              <a:rPr lang="en-US" altLang="zh-CN" sz="3700" b="1" dirty="0">
                <a:solidFill>
                  <a:srgbClr val="FF0000"/>
                </a:solidFill>
                <a:latin typeface="黑体" panose="02010609060101010101" pitchFamily="49" charset="-122"/>
                <a:ea typeface="黑体" panose="02010609060101010101" pitchFamily="49" charset="-122"/>
              </a:rPr>
              <a:t>DNA</a:t>
            </a:r>
          </a:p>
          <a:p>
            <a:pPr marL="0" indent="0">
              <a:lnSpc>
                <a:spcPct val="110000"/>
              </a:lnSpc>
              <a:buClr>
                <a:schemeClr val="folHlink"/>
              </a:buClr>
              <a:buNone/>
              <a:tabLst>
                <a:tab pos="0" algn="l"/>
                <a:tab pos="380981" algn="l"/>
                <a:tab pos="487021" algn="l"/>
                <a:tab pos="571472" algn="l"/>
              </a:tabLst>
            </a:pPr>
            <a:r>
              <a:rPr lang="zh-CN" altLang="en-US" sz="3700" b="1" dirty="0">
                <a:solidFill>
                  <a:srgbClr val="0000FF"/>
                </a:solidFill>
                <a:latin typeface="黑体" panose="02010609060101010101" pitchFamily="49" charset="-122"/>
                <a:ea typeface="黑体" panose="02010609060101010101" pitchFamily="49" charset="-122"/>
              </a:rPr>
              <a:t>    组蛋白:</a:t>
            </a:r>
            <a:r>
              <a:rPr lang="en-US" altLang="zh-CN" sz="3700" b="1" dirty="0">
                <a:latin typeface="黑体" panose="02010609060101010101" pitchFamily="49" charset="-122"/>
                <a:ea typeface="黑体" panose="02010609060101010101" pitchFamily="49" charset="-122"/>
              </a:rPr>
              <a:t>H</a:t>
            </a:r>
            <a:r>
              <a:rPr lang="en-US" altLang="zh-CN" sz="3700" b="1" baseline="-16000" dirty="0">
                <a:latin typeface="黑体" panose="02010609060101010101" pitchFamily="49" charset="-122"/>
                <a:ea typeface="黑体" panose="02010609060101010101" pitchFamily="49" charset="-122"/>
              </a:rPr>
              <a:t>1</a:t>
            </a:r>
            <a:r>
              <a:rPr lang="en-US" altLang="zh-CN" sz="3700" b="1" dirty="0">
                <a:latin typeface="黑体" panose="02010609060101010101" pitchFamily="49" charset="-122"/>
                <a:ea typeface="黑体" panose="02010609060101010101" pitchFamily="49" charset="-122"/>
              </a:rPr>
              <a:t> 2H</a:t>
            </a:r>
            <a:r>
              <a:rPr lang="en-US" altLang="zh-CN" sz="3700" b="1" baseline="-16000" dirty="0">
                <a:latin typeface="黑体" panose="02010609060101010101" pitchFamily="49" charset="-122"/>
                <a:ea typeface="黑体" panose="02010609060101010101" pitchFamily="49" charset="-122"/>
              </a:rPr>
              <a:t>2A</a:t>
            </a:r>
            <a:r>
              <a:rPr lang="en-US" altLang="zh-CN" sz="3700" b="1" dirty="0">
                <a:latin typeface="黑体" panose="02010609060101010101" pitchFamily="49" charset="-122"/>
                <a:ea typeface="黑体" panose="02010609060101010101" pitchFamily="49" charset="-122"/>
              </a:rPr>
              <a:t> 2H</a:t>
            </a:r>
            <a:r>
              <a:rPr lang="en-US" altLang="zh-CN" sz="3700" b="1" baseline="-12000" dirty="0">
                <a:latin typeface="黑体" panose="02010609060101010101" pitchFamily="49" charset="-122"/>
                <a:ea typeface="黑体" panose="02010609060101010101" pitchFamily="49" charset="-122"/>
              </a:rPr>
              <a:t>2B</a:t>
            </a:r>
            <a:r>
              <a:rPr lang="en-US" altLang="zh-CN" sz="3700" b="1" dirty="0">
                <a:latin typeface="黑体" panose="02010609060101010101" pitchFamily="49" charset="-122"/>
                <a:ea typeface="黑体" panose="02010609060101010101" pitchFamily="49" charset="-122"/>
              </a:rPr>
              <a:t> 2H</a:t>
            </a:r>
            <a:r>
              <a:rPr lang="en-US" altLang="zh-CN" sz="3700" b="1" baseline="-16000" dirty="0">
                <a:latin typeface="黑体" panose="02010609060101010101" pitchFamily="49" charset="-122"/>
                <a:ea typeface="黑体" panose="02010609060101010101" pitchFamily="49" charset="-122"/>
              </a:rPr>
              <a:t>3</a:t>
            </a:r>
            <a:r>
              <a:rPr lang="en-US" altLang="zh-CN" sz="3700" b="1" dirty="0">
                <a:latin typeface="黑体" panose="02010609060101010101" pitchFamily="49" charset="-122"/>
                <a:ea typeface="黑体" panose="02010609060101010101" pitchFamily="49" charset="-122"/>
              </a:rPr>
              <a:t> 2H</a:t>
            </a:r>
            <a:r>
              <a:rPr lang="en-US" altLang="zh-CN" sz="3700" b="1" baseline="-16000" dirty="0">
                <a:latin typeface="黑体" panose="02010609060101010101" pitchFamily="49" charset="-122"/>
                <a:ea typeface="黑体" panose="02010609060101010101" pitchFamily="49" charset="-122"/>
              </a:rPr>
              <a:t>4</a:t>
            </a:r>
          </a:p>
          <a:p>
            <a:pPr marL="0" indent="0">
              <a:buClr>
                <a:schemeClr val="folHlink"/>
              </a:buClr>
              <a:buNone/>
              <a:tabLst>
                <a:tab pos="0" algn="l"/>
                <a:tab pos="380981" algn="l"/>
                <a:tab pos="487021" algn="l"/>
                <a:tab pos="571472" algn="l"/>
              </a:tabLst>
            </a:pPr>
            <a:r>
              <a:rPr lang="en-US" altLang="zh-CN" sz="3700" b="1" dirty="0">
                <a:solidFill>
                  <a:srgbClr val="FF0000"/>
                </a:solidFill>
                <a:latin typeface="等线" panose="02010600030101010101" charset="-122"/>
                <a:ea typeface="等线" panose="02010600030101010101" charset="-122"/>
              </a:rPr>
              <a:t>       </a:t>
            </a:r>
            <a:r>
              <a:rPr lang="en-US" altLang="zh-CN" sz="3200" b="1" dirty="0">
                <a:solidFill>
                  <a:srgbClr val="FF0000"/>
                </a:solidFill>
                <a:latin typeface="等线" panose="02010600030101010101" charset="-122"/>
                <a:ea typeface="等线" panose="02010600030101010101" charset="-122"/>
              </a:rPr>
              <a:t>•</a:t>
            </a:r>
            <a:r>
              <a:rPr lang="zh-CN" altLang="en-US" sz="3200" b="1" dirty="0">
                <a:solidFill>
                  <a:srgbClr val="FF0000"/>
                </a:solidFill>
                <a:latin typeface="黑体" panose="02010609060101010101" pitchFamily="49" charset="-122"/>
                <a:ea typeface="黑体" panose="02010609060101010101" pitchFamily="49" charset="-122"/>
              </a:rPr>
              <a:t>高度保守</a:t>
            </a:r>
          </a:p>
          <a:p>
            <a:pPr marL="0" indent="0">
              <a:buClr>
                <a:schemeClr val="folHlink"/>
              </a:buClr>
              <a:buNone/>
              <a:tabLst>
                <a:tab pos="0" algn="l"/>
                <a:tab pos="380981" algn="l"/>
                <a:tab pos="487021" algn="l"/>
                <a:tab pos="571472" algn="l"/>
              </a:tabLst>
            </a:pPr>
            <a:r>
              <a:rPr lang="en-US" altLang="zh-CN" sz="3200" b="1" dirty="0">
                <a:solidFill>
                  <a:srgbClr val="FF0000"/>
                </a:solidFill>
                <a:latin typeface="等线" panose="02010600030101010101" charset="-122"/>
                <a:ea typeface="等线" panose="02010600030101010101" charset="-122"/>
              </a:rPr>
              <a:t>        •</a:t>
            </a:r>
            <a:r>
              <a:rPr lang="zh-CN" altLang="en-US" sz="3200" b="1" dirty="0">
                <a:solidFill>
                  <a:srgbClr val="FF0000"/>
                </a:solidFill>
                <a:latin typeface="黑体" panose="02010609060101010101" pitchFamily="49" charset="-122"/>
                <a:ea typeface="黑体" panose="02010609060101010101" pitchFamily="49" charset="-122"/>
              </a:rPr>
              <a:t>可进行乙酰化、甲基化等修饰而改变基因的转录活性</a:t>
            </a:r>
            <a:r>
              <a:rPr lang="zh-CN" altLang="en-US" sz="3200" b="1" baseline="-16000" dirty="0">
                <a:solidFill>
                  <a:srgbClr val="FF0000"/>
                </a:solidFill>
                <a:latin typeface="黑体" panose="02010609060101010101" pitchFamily="49" charset="-122"/>
                <a:ea typeface="黑体" panose="02010609060101010101" pitchFamily="49" charset="-122"/>
              </a:rPr>
              <a:t>  </a:t>
            </a:r>
            <a:endParaRPr lang="zh-CN" altLang="en-US" sz="3200" b="1" dirty="0">
              <a:solidFill>
                <a:srgbClr val="FF0000"/>
              </a:solidFill>
              <a:latin typeface="黑体" panose="02010609060101010101" pitchFamily="49" charset="-122"/>
              <a:ea typeface="黑体" panose="02010609060101010101" pitchFamily="49" charset="-122"/>
            </a:endParaRPr>
          </a:p>
          <a:p>
            <a:pPr marL="0" indent="0">
              <a:buClr>
                <a:schemeClr val="folHlink"/>
              </a:buClr>
              <a:buNone/>
              <a:tabLst>
                <a:tab pos="0" algn="l"/>
                <a:tab pos="380981" algn="l"/>
                <a:tab pos="487021" algn="l"/>
                <a:tab pos="571472" algn="l"/>
              </a:tabLst>
            </a:pPr>
            <a:r>
              <a:rPr lang="zh-CN" altLang="en-US" sz="3700" b="1" dirty="0">
                <a:solidFill>
                  <a:srgbClr val="0000FF"/>
                </a:solidFill>
                <a:latin typeface="黑体" panose="02010609060101010101" pitchFamily="49" charset="-122"/>
                <a:ea typeface="黑体" panose="02010609060101010101" pitchFamily="49" charset="-122"/>
              </a:rPr>
              <a:t>    非组蛋白:</a:t>
            </a:r>
          </a:p>
          <a:p>
            <a:pPr marL="0" indent="0">
              <a:buClr>
                <a:schemeClr val="folHlink"/>
              </a:buClr>
              <a:buNone/>
              <a:tabLst>
                <a:tab pos="0" algn="l"/>
                <a:tab pos="380981" algn="l"/>
                <a:tab pos="487021" algn="l"/>
                <a:tab pos="571472" algn="l"/>
              </a:tabLst>
            </a:pPr>
            <a:r>
              <a:rPr lang="en-US" altLang="zh-CN" sz="3700" b="1" dirty="0">
                <a:solidFill>
                  <a:srgbClr val="FF0000"/>
                </a:solidFill>
                <a:latin typeface="等线" panose="02010600030101010101" charset="-122"/>
                <a:ea typeface="等线" panose="02010600030101010101" charset="-122"/>
              </a:rPr>
              <a:t>                    </a:t>
            </a:r>
            <a:r>
              <a:rPr lang="en-US" altLang="zh-CN" sz="3200" b="1" dirty="0">
                <a:solidFill>
                  <a:srgbClr val="FF0000"/>
                </a:solidFill>
                <a:latin typeface="等线" panose="02010600030101010101" charset="-122"/>
                <a:ea typeface="等线" panose="02010600030101010101" charset="-122"/>
              </a:rPr>
              <a:t>•</a:t>
            </a:r>
            <a:r>
              <a:rPr lang="zh-CN" altLang="en-US" sz="3200" b="1" dirty="0">
                <a:solidFill>
                  <a:srgbClr val="FF0000"/>
                </a:solidFill>
                <a:latin typeface="黑体" panose="02010609060101010101" pitchFamily="49" charset="-122"/>
                <a:ea typeface="黑体" panose="02010609060101010101" pitchFamily="49" charset="-122"/>
              </a:rPr>
              <a:t>种类多</a:t>
            </a:r>
          </a:p>
          <a:p>
            <a:pPr marL="0" indent="0">
              <a:buClr>
                <a:schemeClr val="folHlink"/>
              </a:buClr>
              <a:buNone/>
              <a:tabLst>
                <a:tab pos="0" algn="l"/>
                <a:tab pos="380981" algn="l"/>
                <a:tab pos="487021" algn="l"/>
                <a:tab pos="571472" algn="l"/>
              </a:tabLst>
            </a:pPr>
            <a:r>
              <a:rPr lang="en-US" altLang="zh-CN" sz="3200" b="1" dirty="0">
                <a:solidFill>
                  <a:srgbClr val="FF0000"/>
                </a:solidFill>
                <a:latin typeface="等线" panose="02010600030101010101" charset="-122"/>
              </a:rPr>
              <a:t>                       •</a:t>
            </a:r>
            <a:r>
              <a:rPr lang="zh-CN" altLang="en-US" sz="3200" b="1" dirty="0">
                <a:solidFill>
                  <a:srgbClr val="FF0000"/>
                </a:solidFill>
                <a:latin typeface="黑体" panose="02010609060101010101" pitchFamily="49" charset="-122"/>
                <a:ea typeface="黑体" panose="02010609060101010101" pitchFamily="49" charset="-122"/>
              </a:rPr>
              <a:t>有种属和组织特异性</a:t>
            </a:r>
          </a:p>
          <a:p>
            <a:pPr marL="0" indent="0">
              <a:buClr>
                <a:schemeClr val="folHlink"/>
              </a:buClr>
              <a:buNone/>
              <a:tabLst>
                <a:tab pos="0" algn="l"/>
                <a:tab pos="380981" algn="l"/>
                <a:tab pos="487021" algn="l"/>
                <a:tab pos="571472" algn="l"/>
              </a:tabLst>
            </a:pPr>
            <a:r>
              <a:rPr lang="en-US" altLang="zh-CN" sz="3200" b="1" dirty="0">
                <a:solidFill>
                  <a:srgbClr val="FF0000"/>
                </a:solidFill>
                <a:latin typeface="等线" panose="02010600030101010101" charset="-122"/>
              </a:rPr>
              <a:t>                       •</a:t>
            </a:r>
            <a:r>
              <a:rPr lang="zh-CN" altLang="en-US" sz="3200" b="1" dirty="0">
                <a:solidFill>
                  <a:srgbClr val="FF0000"/>
                </a:solidFill>
                <a:latin typeface="黑体" panose="02010609060101010101" pitchFamily="49" charset="-122"/>
                <a:ea typeface="黑体" panose="02010609060101010101" pitchFamily="49" charset="-122"/>
              </a:rPr>
              <a:t>为转录调控因子</a:t>
            </a:r>
          </a:p>
        </p:txBody>
      </p:sp>
    </p:spTree>
    <p:extLst>
      <p:ext uri="{BB962C8B-B14F-4D97-AF65-F5344CB8AC3E}">
        <p14:creationId xmlns:p14="http://schemas.microsoft.com/office/powerpoint/2010/main" val="827383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6"/>
          <p:cNvSpPr>
            <a:spLocks noGrp="1" noChangeArrowheads="1"/>
          </p:cNvSpPr>
          <p:nvPr>
            <p:ph type="title"/>
          </p:nvPr>
        </p:nvSpPr>
        <p:spPr bwMode="auto">
          <a:xfrm>
            <a:off x="527381" y="0"/>
            <a:ext cx="6048672"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a:bodyPr>
          <a:lstStyle/>
          <a:p>
            <a:pPr algn="l"/>
            <a:r>
              <a:rPr lang="zh-CN" altLang="en-US" sz="4300" b="1" dirty="0">
                <a:latin typeface="黑体" panose="02010609060101010101" pitchFamily="49" charset="-122"/>
                <a:ea typeface="黑体" panose="02010609060101010101" pitchFamily="49" charset="-122"/>
              </a:rPr>
              <a:t>（2）染色质的结构</a:t>
            </a:r>
            <a:r>
              <a:rPr lang="en-US" altLang="zh-CN" sz="4300" b="1" dirty="0">
                <a:latin typeface="黑体" panose="02010609060101010101" pitchFamily="49" charset="-122"/>
                <a:ea typeface="黑体" panose="02010609060101010101" pitchFamily="49" charset="-122"/>
              </a:rPr>
              <a:t>——</a:t>
            </a:r>
            <a:endParaRPr lang="zh-CN" altLang="en-US" sz="4300" b="1" dirty="0">
              <a:latin typeface="黑体" panose="02010609060101010101" pitchFamily="49" charset="-122"/>
              <a:ea typeface="黑体" panose="02010609060101010101" pitchFamily="49" charset="-122"/>
            </a:endParaRPr>
          </a:p>
        </p:txBody>
      </p:sp>
      <p:sp>
        <p:nvSpPr>
          <p:cNvPr id="65539" name="Rectangle 1027"/>
          <p:cNvSpPr>
            <a:spLocks noGrp="1" noChangeArrowheads="1"/>
          </p:cNvSpPr>
          <p:nvPr>
            <p:ph idx="1"/>
          </p:nvPr>
        </p:nvSpPr>
        <p:spPr bwMode="auto">
          <a:xfrm>
            <a:off x="1278165" y="769180"/>
            <a:ext cx="10027144" cy="22082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fontScale="70000" lnSpcReduction="20000"/>
          </a:bodyPr>
          <a:lstStyle/>
          <a:p>
            <a:pPr marL="0" indent="0">
              <a:lnSpc>
                <a:spcPct val="120000"/>
              </a:lnSpc>
              <a:spcBef>
                <a:spcPts val="0"/>
              </a:spcBef>
              <a:buClr>
                <a:schemeClr val="folHlink"/>
              </a:buClr>
              <a:buNone/>
            </a:pPr>
            <a:r>
              <a:rPr lang="en-US" altLang="zh-CN" dirty="0">
                <a:latin typeface="等线" panose="02010600030101010101" charset="-122"/>
                <a:ea typeface="等线" panose="02010600030101010101" charset="-122"/>
              </a:rPr>
              <a:t>•</a:t>
            </a:r>
            <a:r>
              <a:rPr lang="zh-CN" altLang="en-US" b="1" dirty="0">
                <a:latin typeface="黑体" panose="02010609060101010101" pitchFamily="49" charset="-122"/>
                <a:ea typeface="黑体" panose="02010609060101010101" pitchFamily="49" charset="-122"/>
              </a:rPr>
              <a:t>组蛋白八聚体(</a:t>
            </a:r>
            <a:r>
              <a:rPr lang="zh-CN" altLang="en-US" b="1" dirty="0">
                <a:solidFill>
                  <a:srgbClr val="0000FF"/>
                </a:solidFill>
                <a:latin typeface="黑体" panose="02010609060101010101" pitchFamily="49" charset="-122"/>
                <a:ea typeface="黑体" panose="02010609060101010101" pitchFamily="49" charset="-122"/>
              </a:rPr>
              <a:t>2</a:t>
            </a:r>
            <a:r>
              <a:rPr lang="en-US" altLang="zh-CN" b="1" dirty="0">
                <a:solidFill>
                  <a:srgbClr val="0000FF"/>
                </a:solidFill>
                <a:latin typeface="黑体" panose="02010609060101010101" pitchFamily="49" charset="-122"/>
                <a:ea typeface="黑体" panose="02010609060101010101" pitchFamily="49" charset="-122"/>
              </a:rPr>
              <a:t>H</a:t>
            </a:r>
            <a:r>
              <a:rPr lang="en-US" altLang="zh-CN" b="1" baseline="-16000" dirty="0">
                <a:solidFill>
                  <a:srgbClr val="0000FF"/>
                </a:solidFill>
                <a:latin typeface="黑体" panose="02010609060101010101" pitchFamily="49" charset="-122"/>
                <a:ea typeface="黑体" panose="02010609060101010101" pitchFamily="49" charset="-122"/>
              </a:rPr>
              <a:t>2A</a:t>
            </a:r>
            <a:r>
              <a:rPr lang="en-US" altLang="zh-CN" b="1" dirty="0">
                <a:solidFill>
                  <a:srgbClr val="0000FF"/>
                </a:solidFill>
                <a:latin typeface="黑体" panose="02010609060101010101" pitchFamily="49" charset="-122"/>
                <a:ea typeface="黑体" panose="02010609060101010101" pitchFamily="49" charset="-122"/>
              </a:rPr>
              <a:t>+</a:t>
            </a:r>
            <a:r>
              <a:rPr lang="en-US" altLang="zh-CN" b="1" baseline="-16000" dirty="0">
                <a:solidFill>
                  <a:srgbClr val="0000FF"/>
                </a:solidFill>
                <a:latin typeface="黑体" panose="02010609060101010101" pitchFamily="49" charset="-122"/>
                <a:ea typeface="黑体" panose="02010609060101010101" pitchFamily="49" charset="-122"/>
              </a:rPr>
              <a:t> </a:t>
            </a:r>
            <a:r>
              <a:rPr lang="en-US" altLang="zh-CN" b="1" dirty="0">
                <a:solidFill>
                  <a:srgbClr val="0000FF"/>
                </a:solidFill>
                <a:latin typeface="黑体" panose="02010609060101010101" pitchFamily="49" charset="-122"/>
                <a:ea typeface="黑体" panose="02010609060101010101" pitchFamily="49" charset="-122"/>
              </a:rPr>
              <a:t>2H</a:t>
            </a:r>
            <a:r>
              <a:rPr lang="en-US" altLang="zh-CN" b="1" baseline="-12000" dirty="0">
                <a:solidFill>
                  <a:srgbClr val="0000FF"/>
                </a:solidFill>
                <a:latin typeface="黑体" panose="02010609060101010101" pitchFamily="49" charset="-122"/>
                <a:ea typeface="黑体" panose="02010609060101010101" pitchFamily="49" charset="-122"/>
              </a:rPr>
              <a:t>2B</a:t>
            </a:r>
            <a:r>
              <a:rPr lang="en-US" altLang="zh-CN" b="1" dirty="0">
                <a:solidFill>
                  <a:srgbClr val="0000FF"/>
                </a:solidFill>
                <a:latin typeface="黑体" panose="02010609060101010101" pitchFamily="49" charset="-122"/>
                <a:ea typeface="黑体" panose="02010609060101010101" pitchFamily="49" charset="-122"/>
              </a:rPr>
              <a:t>+2H</a:t>
            </a:r>
            <a:r>
              <a:rPr lang="en-US" altLang="zh-CN" b="1" baseline="-16000" dirty="0">
                <a:solidFill>
                  <a:srgbClr val="0000FF"/>
                </a:solidFill>
                <a:latin typeface="黑体" panose="02010609060101010101" pitchFamily="49" charset="-122"/>
                <a:ea typeface="黑体" panose="02010609060101010101" pitchFamily="49" charset="-122"/>
              </a:rPr>
              <a:t>3</a:t>
            </a:r>
            <a:r>
              <a:rPr lang="en-US" altLang="zh-CN" b="1" dirty="0">
                <a:solidFill>
                  <a:srgbClr val="0000FF"/>
                </a:solidFill>
                <a:latin typeface="黑体" panose="02010609060101010101" pitchFamily="49" charset="-122"/>
                <a:ea typeface="黑体" panose="02010609060101010101" pitchFamily="49" charset="-122"/>
              </a:rPr>
              <a:t>+2H</a:t>
            </a:r>
            <a:r>
              <a:rPr lang="en-US" altLang="zh-CN" b="1" baseline="-16000" dirty="0">
                <a:solidFill>
                  <a:srgbClr val="0000FF"/>
                </a:solidFill>
                <a:latin typeface="黑体" panose="02010609060101010101" pitchFamily="49" charset="-122"/>
                <a:ea typeface="黑体" panose="02010609060101010101" pitchFamily="49" charset="-122"/>
              </a:rPr>
              <a:t>4</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构成</a:t>
            </a:r>
            <a:r>
              <a:rPr lang="zh-CN" altLang="en-US" b="1" dirty="0">
                <a:solidFill>
                  <a:srgbClr val="FF0000"/>
                </a:solidFill>
                <a:latin typeface="黑体" panose="02010609060101010101" pitchFamily="49" charset="-122"/>
                <a:ea typeface="黑体" panose="02010609060101010101" pitchFamily="49" charset="-122"/>
              </a:rPr>
              <a:t>核心</a:t>
            </a:r>
            <a:r>
              <a:rPr lang="zh-CN" altLang="en-US" b="1" dirty="0">
                <a:latin typeface="黑体" panose="02010609060101010101" pitchFamily="49" charset="-122"/>
                <a:ea typeface="黑体" panose="02010609060101010101" pitchFamily="49" charset="-122"/>
              </a:rPr>
              <a:t>。</a:t>
            </a:r>
          </a:p>
          <a:p>
            <a:pPr marL="0" indent="0">
              <a:lnSpc>
                <a:spcPct val="120000"/>
              </a:lnSpc>
              <a:spcBef>
                <a:spcPts val="0"/>
              </a:spcBef>
              <a:buClr>
                <a:schemeClr val="folHlink"/>
              </a:buClr>
              <a:buNone/>
            </a:pPr>
            <a:r>
              <a:rPr lang="en-US" altLang="zh-CN" b="1" dirty="0">
                <a:latin typeface="等线" panose="02010600030101010101" charset="-122"/>
              </a:rPr>
              <a:t>•</a:t>
            </a:r>
            <a:r>
              <a:rPr lang="zh-CN" altLang="en-US" b="1" dirty="0">
                <a:latin typeface="黑体" panose="02010609060101010101" pitchFamily="49" charset="-122"/>
                <a:ea typeface="黑体" panose="02010609060101010101" pitchFamily="49" charset="-122"/>
              </a:rPr>
              <a:t>核心外缠绕约146</a:t>
            </a:r>
            <a:r>
              <a:rPr lang="en-US" altLang="zh-CN" b="1" dirty="0">
                <a:latin typeface="黑体" panose="02010609060101010101" pitchFamily="49" charset="-122"/>
                <a:ea typeface="黑体" panose="02010609060101010101" pitchFamily="49" charset="-122"/>
              </a:rPr>
              <a:t>bp</a:t>
            </a:r>
            <a:r>
              <a:rPr lang="zh-CN" altLang="en-US" b="1" dirty="0">
                <a:latin typeface="黑体" panose="02010609060101010101" pitchFamily="49" charset="-122"/>
                <a:ea typeface="黑体" panose="02010609060101010101" pitchFamily="49" charset="-122"/>
              </a:rPr>
              <a:t>的</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片段构成</a:t>
            </a:r>
            <a:r>
              <a:rPr lang="zh-CN" altLang="en-US" b="1" dirty="0">
                <a:solidFill>
                  <a:srgbClr val="FF0000"/>
                </a:solidFill>
                <a:latin typeface="黑体" panose="02010609060101010101" pitchFamily="49" charset="-122"/>
                <a:ea typeface="黑体" panose="02010609060101010101" pitchFamily="49" charset="-122"/>
              </a:rPr>
              <a:t>核心颗粒</a:t>
            </a:r>
            <a:r>
              <a:rPr lang="zh-CN" altLang="en-US" b="1" dirty="0">
                <a:latin typeface="黑体" panose="02010609060101010101" pitchFamily="49" charset="-122"/>
                <a:ea typeface="黑体" panose="02010609060101010101" pitchFamily="49" charset="-122"/>
              </a:rPr>
              <a:t>。</a:t>
            </a:r>
          </a:p>
          <a:p>
            <a:pPr marL="0" indent="0">
              <a:lnSpc>
                <a:spcPct val="120000"/>
              </a:lnSpc>
              <a:spcBef>
                <a:spcPts val="0"/>
              </a:spcBef>
              <a:buClr>
                <a:schemeClr val="folHlink"/>
              </a:buClr>
              <a:buNone/>
            </a:pPr>
            <a:r>
              <a:rPr lang="en-US" altLang="zh-CN" b="1" dirty="0">
                <a:latin typeface="等线" panose="02010600030101010101" charset="-122"/>
              </a:rPr>
              <a:t>•</a:t>
            </a:r>
            <a:r>
              <a:rPr lang="zh-CN" altLang="en-US" b="1" dirty="0">
                <a:latin typeface="黑体" panose="02010609060101010101" pitchFamily="49" charset="-122"/>
                <a:ea typeface="黑体" panose="02010609060101010101" pitchFamily="49" charset="-122"/>
              </a:rPr>
              <a:t>核心颗粒与</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连接部(约60</a:t>
            </a:r>
            <a:r>
              <a:rPr lang="en-US" altLang="zh-CN" b="1" dirty="0">
                <a:latin typeface="黑体" panose="02010609060101010101" pitchFamily="49" charset="-122"/>
                <a:ea typeface="黑体" panose="02010609060101010101" pitchFamily="49" charset="-122"/>
              </a:rPr>
              <a:t>bp</a:t>
            </a:r>
            <a:r>
              <a:rPr lang="zh-CN" altLang="en-US" b="1" dirty="0">
                <a:latin typeface="黑体" panose="02010609060101010101" pitchFamily="49" charset="-122"/>
                <a:ea typeface="黑体" panose="02010609060101010101" pitchFamily="49" charset="-122"/>
              </a:rPr>
              <a:t>的</a:t>
            </a:r>
            <a:r>
              <a:rPr lang="en-US" altLang="zh-CN" b="1" dirty="0">
                <a:latin typeface="黑体" panose="02010609060101010101" pitchFamily="49" charset="-122"/>
                <a:ea typeface="黑体" panose="02010609060101010101" pitchFamily="49" charset="-122"/>
              </a:rPr>
              <a:t>DNA</a:t>
            </a:r>
            <a:r>
              <a:rPr lang="zh-CN" altLang="en-US" b="1" dirty="0">
                <a:latin typeface="黑体" panose="02010609060101010101" pitchFamily="49" charset="-122"/>
                <a:ea typeface="黑体" panose="02010609060101010101" pitchFamily="49" charset="-122"/>
              </a:rPr>
              <a:t>片段和</a:t>
            </a:r>
            <a:r>
              <a:rPr lang="en-US" altLang="zh-CN" b="1" dirty="0">
                <a:latin typeface="黑体" panose="02010609060101010101" pitchFamily="49" charset="-122"/>
                <a:ea typeface="黑体" panose="02010609060101010101" pitchFamily="49" charset="-122"/>
              </a:rPr>
              <a:t>H</a:t>
            </a:r>
            <a:r>
              <a:rPr lang="en-US" altLang="zh-CN" b="1" baseline="-16000" dirty="0">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构成</a:t>
            </a:r>
            <a:r>
              <a:rPr lang="zh-CN" altLang="en-US" b="1" dirty="0">
                <a:solidFill>
                  <a:srgbClr val="FF0000"/>
                </a:solidFill>
                <a:latin typeface="黑体" panose="02010609060101010101" pitchFamily="49" charset="-122"/>
                <a:ea typeface="黑体" panose="02010609060101010101" pitchFamily="49" charset="-122"/>
              </a:rPr>
              <a:t>核小体</a:t>
            </a:r>
            <a:r>
              <a:rPr lang="zh-CN" altLang="en-US" b="1" dirty="0">
                <a:latin typeface="黑体" panose="02010609060101010101" pitchFamily="49" charset="-122"/>
                <a:ea typeface="黑体" panose="02010609060101010101" pitchFamily="49" charset="-122"/>
              </a:rPr>
              <a:t>。</a:t>
            </a:r>
          </a:p>
          <a:p>
            <a:pPr>
              <a:lnSpc>
                <a:spcPct val="120000"/>
              </a:lnSpc>
              <a:spcBef>
                <a:spcPts val="0"/>
              </a:spcBef>
              <a:buNone/>
            </a:pPr>
            <a:r>
              <a:rPr lang="zh-CN" altLang="en-US" b="1" dirty="0">
                <a:solidFill>
                  <a:srgbClr val="CC00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核小体(</a:t>
            </a:r>
            <a:r>
              <a:rPr lang="en-US" altLang="zh-CN" b="1" dirty="0">
                <a:solidFill>
                  <a:srgbClr val="FF0000"/>
                </a:solidFill>
                <a:latin typeface="黑体" panose="02010609060101010101" pitchFamily="49" charset="-122"/>
                <a:ea typeface="黑体" panose="02010609060101010101" pitchFamily="49" charset="-122"/>
              </a:rPr>
              <a:t>nucleosome)</a:t>
            </a:r>
            <a:r>
              <a:rPr lang="zh-CN" altLang="en-US" b="1" dirty="0">
                <a:solidFill>
                  <a:srgbClr val="FF0000"/>
                </a:solidFill>
                <a:latin typeface="黑体" panose="02010609060101010101" pitchFamily="49" charset="-122"/>
                <a:ea typeface="黑体" panose="02010609060101010101" pitchFamily="49" charset="-122"/>
              </a:rPr>
              <a:t>是染色质的基本单位</a:t>
            </a:r>
          </a:p>
        </p:txBody>
      </p:sp>
      <p:pic>
        <p:nvPicPr>
          <p:cNvPr id="4" name="Picture 2" descr="https://www.pwsannong.com/booklib/zeimage.zhtml?ID=30672&amp;SiteID=123&amp;Type=norm"/>
          <p:cNvPicPr>
            <a:picLocks noChangeAspect="1" noChangeArrowheads="1"/>
          </p:cNvPicPr>
          <p:nvPr/>
        </p:nvPicPr>
        <p:blipFill rotWithShape="1">
          <a:blip r:embed="rId2">
            <a:extLst>
              <a:ext uri="{28A0092B-C50C-407E-A947-70E740481C1C}">
                <a14:useLocalDpi xmlns:a14="http://schemas.microsoft.com/office/drawing/2010/main" val="0"/>
              </a:ext>
            </a:extLst>
          </a:blip>
          <a:srcRect t="5637" b="3351"/>
          <a:stretch/>
        </p:blipFill>
        <p:spPr bwMode="auto">
          <a:xfrm>
            <a:off x="1258487" y="2660915"/>
            <a:ext cx="9280432" cy="355684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6192013" y="68629"/>
            <a:ext cx="2721257" cy="615553"/>
          </a:xfrm>
          <a:prstGeom prst="rect">
            <a:avLst/>
          </a:prstGeom>
        </p:spPr>
        <p:txBody>
          <a:bodyPr wrap="none" lIns="121914" tIns="60957" rIns="121914" bIns="60957">
            <a:spAutoFit/>
          </a:bodyPr>
          <a:lstStyle/>
          <a:p>
            <a:pPr defTabSz="1219140"/>
            <a:r>
              <a:rPr lang="zh-CN" altLang="en-US" sz="3200" b="1" dirty="0">
                <a:solidFill>
                  <a:srgbClr val="FF0000"/>
                </a:solidFill>
                <a:latin typeface="黑体" panose="02010609060101010101" pitchFamily="49" charset="-122"/>
                <a:ea typeface="黑体" panose="02010609060101010101" pitchFamily="49" charset="-122"/>
              </a:rPr>
              <a:t>“串珠结构”</a:t>
            </a:r>
            <a:endParaRPr lang="zh-CN" altLang="en-US" sz="3200" dirty="0">
              <a:solidFill>
                <a:srgbClr val="FF0000"/>
              </a:solidFill>
            </a:endParaRPr>
          </a:p>
        </p:txBody>
      </p:sp>
    </p:spTree>
    <p:extLst>
      <p:ext uri="{BB962C8B-B14F-4D97-AF65-F5344CB8AC3E}">
        <p14:creationId xmlns:p14="http://schemas.microsoft.com/office/powerpoint/2010/main" val="2309973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8"/>
          <p:cNvSpPr>
            <a:spLocks noChangeArrowheads="1"/>
          </p:cNvSpPr>
          <p:nvPr/>
        </p:nvSpPr>
        <p:spPr bwMode="auto">
          <a:xfrm>
            <a:off x="3983765" y="1"/>
            <a:ext cx="3480440" cy="74892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a:bodyPr>
          <a:lstStyle/>
          <a:p>
            <a:pPr defTabSz="1219140">
              <a:spcBef>
                <a:spcPct val="0"/>
              </a:spcBef>
            </a:pPr>
            <a:r>
              <a:rPr lang="zh-CN" altLang="en-US" sz="4300" b="1" dirty="0">
                <a:solidFill>
                  <a:prstClr val="black"/>
                </a:solidFill>
                <a:latin typeface="黑体" panose="02010609060101010101" pitchFamily="49" charset="-122"/>
                <a:ea typeface="黑体" panose="02010609060101010101" pitchFamily="49" charset="-122"/>
              </a:rPr>
              <a:t>染色质的组装</a:t>
            </a:r>
          </a:p>
        </p:txBody>
      </p:sp>
      <p:grpSp>
        <p:nvGrpSpPr>
          <p:cNvPr id="66563" name="Group 1029"/>
          <p:cNvGrpSpPr/>
          <p:nvPr/>
        </p:nvGrpSpPr>
        <p:grpSpPr bwMode="auto">
          <a:xfrm>
            <a:off x="1371774" y="740481"/>
            <a:ext cx="9428751" cy="5355522"/>
            <a:chOff x="-737" y="508"/>
            <a:chExt cx="4385" cy="3572"/>
          </a:xfrm>
        </p:grpSpPr>
        <p:sp>
          <p:nvSpPr>
            <p:cNvPr id="66571" name="Text Box 1037"/>
            <p:cNvSpPr txBox="1">
              <a:spLocks noChangeArrowheads="1"/>
            </p:cNvSpPr>
            <p:nvPr/>
          </p:nvSpPr>
          <p:spPr bwMode="auto">
            <a:xfrm>
              <a:off x="-558" y="1020"/>
              <a:ext cx="852"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FF0000"/>
                  </a:solidFill>
                  <a:latin typeface="黑体" panose="02010609060101010101" pitchFamily="49" charset="-122"/>
                </a:rPr>
                <a:t>一级结构</a:t>
              </a:r>
            </a:p>
          </p:txBody>
        </p:sp>
        <p:pic>
          <p:nvPicPr>
            <p:cNvPr id="66564" name="Picture 1030"/>
            <p:cNvPicPr>
              <a:picLocks noChangeAspect="1" noChangeArrowheads="1"/>
            </p:cNvPicPr>
            <p:nvPr/>
          </p:nvPicPr>
          <p:blipFill>
            <a:blip r:embed="rId3" cstate="print">
              <a:extLst>
                <a:ext uri="{28A0092B-C50C-407E-A947-70E740481C1C}">
                  <a14:useLocalDpi xmlns:a14="http://schemas.microsoft.com/office/drawing/2010/main" val="0"/>
                </a:ext>
              </a:extLst>
            </a:blip>
            <a:srcRect l="954" t="1271" r="954"/>
            <a:stretch>
              <a:fillRect/>
            </a:stretch>
          </p:blipFill>
          <p:spPr bwMode="auto">
            <a:xfrm>
              <a:off x="935" y="624"/>
              <a:ext cx="2713" cy="345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6565" name="Text Box 1031"/>
            <p:cNvSpPr txBox="1">
              <a:spLocks noChangeArrowheads="1"/>
            </p:cNvSpPr>
            <p:nvPr/>
          </p:nvSpPr>
          <p:spPr bwMode="auto">
            <a:xfrm>
              <a:off x="603" y="508"/>
              <a:ext cx="949"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en-US" altLang="zh-CN" sz="3200" dirty="0">
                  <a:solidFill>
                    <a:srgbClr val="0000FF"/>
                  </a:solidFill>
                  <a:latin typeface="黑体" panose="02010609060101010101" pitchFamily="49" charset="-122"/>
                </a:rPr>
                <a:t>DNA</a:t>
              </a:r>
              <a:r>
                <a:rPr lang="zh-CN" altLang="zh-CN" sz="3200" dirty="0">
                  <a:solidFill>
                    <a:srgbClr val="0000FF"/>
                  </a:solidFill>
                  <a:latin typeface="黑体" panose="02010609060101010101" pitchFamily="49" charset="-122"/>
                </a:rPr>
                <a:t>双螺旋</a:t>
              </a:r>
              <a:endParaRPr lang="zh-CN" altLang="en-US" sz="3200" dirty="0">
                <a:solidFill>
                  <a:srgbClr val="0000FF"/>
                </a:solidFill>
                <a:latin typeface="黑体" panose="02010609060101010101" pitchFamily="49" charset="-122"/>
              </a:endParaRPr>
            </a:p>
          </p:txBody>
        </p:sp>
        <p:sp>
          <p:nvSpPr>
            <p:cNvPr id="66566" name="Text Box 1032"/>
            <p:cNvSpPr txBox="1">
              <a:spLocks noChangeArrowheads="1"/>
            </p:cNvSpPr>
            <p:nvPr/>
          </p:nvSpPr>
          <p:spPr bwMode="auto">
            <a:xfrm>
              <a:off x="245" y="1020"/>
              <a:ext cx="1349"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0000FF"/>
                  </a:solidFill>
                  <a:latin typeface="黑体" panose="02010609060101010101" pitchFamily="49" charset="-122"/>
                </a:rPr>
                <a:t>染色质“串珠”</a:t>
              </a:r>
            </a:p>
          </p:txBody>
        </p:sp>
        <p:sp>
          <p:nvSpPr>
            <p:cNvPr id="66567" name="Text Box 1033"/>
            <p:cNvSpPr txBox="1">
              <a:spLocks noChangeArrowheads="1"/>
            </p:cNvSpPr>
            <p:nvPr/>
          </p:nvSpPr>
          <p:spPr bwMode="auto">
            <a:xfrm>
              <a:off x="647" y="1701"/>
              <a:ext cx="930"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0000FF"/>
                  </a:solidFill>
                  <a:latin typeface="黑体" panose="02010609060101010101" pitchFamily="49" charset="-122"/>
                </a:rPr>
                <a:t>“螺旋管”</a:t>
              </a:r>
            </a:p>
          </p:txBody>
        </p:sp>
        <p:sp>
          <p:nvSpPr>
            <p:cNvPr id="66568" name="Text Box 1034"/>
            <p:cNvSpPr txBox="1">
              <a:spLocks noChangeArrowheads="1"/>
            </p:cNvSpPr>
            <p:nvPr/>
          </p:nvSpPr>
          <p:spPr bwMode="auto">
            <a:xfrm>
              <a:off x="737" y="2301"/>
              <a:ext cx="734"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2400" b="1">
                  <a:solidFill>
                    <a:srgbClr val="0000FF"/>
                  </a:solidFill>
                  <a:latin typeface="黑体" panose="02010609060101010101" pitchFamily="49" charset="-122"/>
                  <a:ea typeface="黑体" panose="02010609060101010101" pitchFamily="49" charset="-122"/>
                </a:defRPr>
              </a:lvl1pPr>
              <a:lvl2pPr marL="742950" indent="-285750">
                <a:defRPr sz="2800" b="1">
                  <a:latin typeface="Arial" panose="020B0604020202020204" pitchFamily="34" charset="0"/>
                  <a:ea typeface="黑体" panose="02010609060101010101" pitchFamily="49" charset="-122"/>
                </a:defRPr>
              </a:lvl2pPr>
              <a:lvl3pPr marL="1143000" indent="-228600">
                <a:defRPr sz="2800" b="1">
                  <a:latin typeface="Arial" panose="020B0604020202020204" pitchFamily="34" charset="0"/>
                  <a:ea typeface="黑体" panose="02010609060101010101" pitchFamily="49" charset="-122"/>
                </a:defRPr>
              </a:lvl3pPr>
              <a:lvl4pPr marL="1600200" indent="-228600">
                <a:defRPr sz="2800" b="1">
                  <a:latin typeface="Arial" panose="020B0604020202020204" pitchFamily="34" charset="0"/>
                  <a:ea typeface="黑体" panose="02010609060101010101" pitchFamily="49" charset="-122"/>
                </a:defRPr>
              </a:lvl4pPr>
              <a:lvl5pPr marL="2057400" indent="-228600">
                <a:defRPr sz="2800" b="1">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latin typeface="Arial" panose="020B0604020202020204" pitchFamily="34" charset="0"/>
                  <a:ea typeface="黑体" panose="02010609060101010101" pitchFamily="49" charset="-122"/>
                </a:defRPr>
              </a:lvl9pPr>
            </a:lstStyle>
            <a:p>
              <a:pPr defTabSz="1219140"/>
              <a:r>
                <a:rPr lang="zh-CN" altLang="en-US" sz="3200" dirty="0"/>
                <a:t>“袢环”</a:t>
              </a:r>
            </a:p>
          </p:txBody>
        </p:sp>
        <p:sp>
          <p:nvSpPr>
            <p:cNvPr id="66569" name="Text Box 1035"/>
            <p:cNvSpPr txBox="1">
              <a:spLocks noChangeArrowheads="1"/>
            </p:cNvSpPr>
            <p:nvPr/>
          </p:nvSpPr>
          <p:spPr bwMode="auto">
            <a:xfrm>
              <a:off x="647" y="2979"/>
              <a:ext cx="885"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0000FF"/>
                  </a:solidFill>
                  <a:latin typeface="黑体" panose="02010609060101010101" pitchFamily="49" charset="-122"/>
                </a:rPr>
                <a:t>“放射环”</a:t>
              </a:r>
            </a:p>
          </p:txBody>
        </p:sp>
        <p:sp>
          <p:nvSpPr>
            <p:cNvPr id="66570" name="Text Box 1036"/>
            <p:cNvSpPr txBox="1">
              <a:spLocks noChangeArrowheads="1"/>
            </p:cNvSpPr>
            <p:nvPr/>
          </p:nvSpPr>
          <p:spPr bwMode="auto">
            <a:xfrm>
              <a:off x="513" y="3683"/>
              <a:ext cx="1044"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0000FF"/>
                  </a:solidFill>
                  <a:latin typeface="黑体" panose="02010609060101010101" pitchFamily="49" charset="-122"/>
                </a:rPr>
                <a:t>中期染色体</a:t>
              </a:r>
            </a:p>
          </p:txBody>
        </p:sp>
        <p:sp>
          <p:nvSpPr>
            <p:cNvPr id="66572" name="Text Box 1038"/>
            <p:cNvSpPr txBox="1">
              <a:spLocks noChangeArrowheads="1"/>
            </p:cNvSpPr>
            <p:nvPr/>
          </p:nvSpPr>
          <p:spPr bwMode="auto">
            <a:xfrm>
              <a:off x="-550" y="1701"/>
              <a:ext cx="852"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FF0000"/>
                  </a:solidFill>
                  <a:latin typeface="黑体" panose="02010609060101010101" pitchFamily="49" charset="-122"/>
                </a:rPr>
                <a:t>二级结构</a:t>
              </a:r>
            </a:p>
          </p:txBody>
        </p:sp>
        <p:sp>
          <p:nvSpPr>
            <p:cNvPr id="66573" name="Text Box 1039"/>
            <p:cNvSpPr txBox="1">
              <a:spLocks noChangeArrowheads="1"/>
            </p:cNvSpPr>
            <p:nvPr/>
          </p:nvSpPr>
          <p:spPr bwMode="auto">
            <a:xfrm>
              <a:off x="-737" y="2429"/>
              <a:ext cx="1266" cy="73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defTabSz="1219140"/>
              <a:r>
                <a:rPr lang="zh-CN" altLang="en-US" sz="3200" dirty="0">
                  <a:solidFill>
                    <a:srgbClr val="FF0000"/>
                  </a:solidFill>
                  <a:latin typeface="黑体" panose="02010609060101010101" pitchFamily="49" charset="-122"/>
                </a:rPr>
                <a:t>三级结构</a:t>
              </a:r>
            </a:p>
            <a:p>
              <a:pPr algn="ctr" defTabSz="1219140"/>
              <a:r>
                <a:rPr lang="zh-CN" altLang="en-US" sz="3200" dirty="0">
                  <a:solidFill>
                    <a:srgbClr val="FF0000"/>
                  </a:solidFill>
                  <a:latin typeface="黑体" panose="02010609060101010101" pitchFamily="49" charset="-122"/>
                </a:rPr>
                <a:t>“超螺旋管”</a:t>
              </a:r>
            </a:p>
          </p:txBody>
        </p:sp>
        <p:sp>
          <p:nvSpPr>
            <p:cNvPr id="66574" name="Text Box 1040"/>
            <p:cNvSpPr txBox="1">
              <a:spLocks noChangeArrowheads="1"/>
            </p:cNvSpPr>
            <p:nvPr/>
          </p:nvSpPr>
          <p:spPr bwMode="auto">
            <a:xfrm>
              <a:off x="-503" y="3646"/>
              <a:ext cx="852" cy="3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sz="3200" dirty="0">
                  <a:solidFill>
                    <a:srgbClr val="FF0000"/>
                  </a:solidFill>
                  <a:latin typeface="黑体" panose="02010609060101010101" pitchFamily="49" charset="-122"/>
                </a:rPr>
                <a:t>四级结构</a:t>
              </a:r>
            </a:p>
          </p:txBody>
        </p:sp>
        <p:sp>
          <p:nvSpPr>
            <p:cNvPr id="66575" name="Line 1041"/>
            <p:cNvSpPr>
              <a:spLocks noChangeShapeType="1"/>
            </p:cNvSpPr>
            <p:nvPr/>
          </p:nvSpPr>
          <p:spPr bwMode="auto">
            <a:xfrm>
              <a:off x="597" y="249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40"/>
              <a:endParaRPr lang="zh-CN" altLang="en-US" sz="3200">
                <a:solidFill>
                  <a:prstClr val="black"/>
                </a:solidFill>
                <a:latin typeface="黑体" panose="02010609060101010101" pitchFamily="49" charset="-122"/>
                <a:ea typeface="黑体" panose="02010609060101010101" pitchFamily="49" charset="-122"/>
              </a:endParaRPr>
            </a:p>
          </p:txBody>
        </p:sp>
        <p:sp>
          <p:nvSpPr>
            <p:cNvPr id="66576" name="Line 1042"/>
            <p:cNvSpPr>
              <a:spLocks noChangeShapeType="1"/>
            </p:cNvSpPr>
            <p:nvPr/>
          </p:nvSpPr>
          <p:spPr bwMode="auto">
            <a:xfrm>
              <a:off x="603" y="2496"/>
              <a:ext cx="0" cy="6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40"/>
              <a:endParaRPr lang="zh-CN" altLang="en-US" sz="3200">
                <a:solidFill>
                  <a:prstClr val="black"/>
                </a:solidFill>
                <a:latin typeface="黑体" panose="02010609060101010101" pitchFamily="49" charset="-122"/>
                <a:ea typeface="黑体" panose="02010609060101010101" pitchFamily="49" charset="-122"/>
              </a:endParaRPr>
            </a:p>
          </p:txBody>
        </p:sp>
        <p:sp>
          <p:nvSpPr>
            <p:cNvPr id="66577" name="Line 1043"/>
            <p:cNvSpPr>
              <a:spLocks noChangeShapeType="1"/>
            </p:cNvSpPr>
            <p:nvPr/>
          </p:nvSpPr>
          <p:spPr bwMode="auto">
            <a:xfrm>
              <a:off x="603" y="3168"/>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40"/>
              <a:endParaRPr lang="zh-CN" altLang="en-US" sz="3200">
                <a:solidFill>
                  <a:prstClr val="black"/>
                </a:solidFill>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1793000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www.51wendang.com/pic/9740db456a0286bba5b2162f/14-810-jpg_6-1080-0-0-1080.jpg"/>
          <p:cNvPicPr>
            <a:picLocks noChangeAspect="1" noChangeArrowheads="1"/>
          </p:cNvPicPr>
          <p:nvPr/>
        </p:nvPicPr>
        <p:blipFill rotWithShape="1">
          <a:blip r:embed="rId3">
            <a:extLst>
              <a:ext uri="{28A0092B-C50C-407E-A947-70E740481C1C}">
                <a14:useLocalDpi xmlns:a14="http://schemas.microsoft.com/office/drawing/2010/main" val="0"/>
              </a:ext>
            </a:extLst>
          </a:blip>
          <a:srcRect l="17340" t="7239" r="16726" b="7063"/>
          <a:stretch/>
        </p:blipFill>
        <p:spPr bwMode="auto">
          <a:xfrm>
            <a:off x="2351585" y="2826"/>
            <a:ext cx="7740723" cy="685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731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7"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1" b="13579"/>
          <a:stretch/>
        </p:blipFill>
        <p:spPr bwMode="auto">
          <a:xfrm>
            <a:off x="2489057" y="-12720"/>
            <a:ext cx="9702945" cy="6899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6" name="Rectangle 6"/>
          <p:cNvSpPr>
            <a:spLocks noChangeArrowheads="1"/>
          </p:cNvSpPr>
          <p:nvPr/>
        </p:nvSpPr>
        <p:spPr bwMode="auto">
          <a:xfrm>
            <a:off x="775884" y="109272"/>
            <a:ext cx="5234117" cy="52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6" tIns="45718" rIns="91436" bIns="45718">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defTabSz="1219140"/>
            <a:r>
              <a:rPr lang="zh-CN" altLang="en-US" dirty="0">
                <a:solidFill>
                  <a:srgbClr val="0000FF"/>
                </a:solidFill>
                <a:latin typeface="黑体" panose="02010609060101010101" pitchFamily="49" charset="-122"/>
              </a:rPr>
              <a:t>袢环模型：袢环、微带与染色体</a:t>
            </a:r>
          </a:p>
        </p:txBody>
      </p:sp>
      <p:sp>
        <p:nvSpPr>
          <p:cNvPr id="2" name="矩形 1"/>
          <p:cNvSpPr/>
          <p:nvPr/>
        </p:nvSpPr>
        <p:spPr>
          <a:xfrm>
            <a:off x="143340" y="794467"/>
            <a:ext cx="8832981" cy="2339096"/>
          </a:xfrm>
          <a:prstGeom prst="rect">
            <a:avLst/>
          </a:prstGeom>
        </p:spPr>
        <p:txBody>
          <a:bodyPr wrap="square" lIns="121914" tIns="60957" rIns="121914" bIns="60957">
            <a:spAutoFit/>
          </a:bodyPr>
          <a:lstStyle/>
          <a:p>
            <a:pPr defTabSz="1219140"/>
            <a:r>
              <a:rPr lang="zh-CN" altLang="en-US" sz="2400" b="1" dirty="0">
                <a:solidFill>
                  <a:prstClr val="black"/>
                </a:solidFill>
                <a:latin typeface="黑体" pitchFamily="49" charset="-122"/>
                <a:ea typeface="黑体" pitchFamily="49" charset="-122"/>
              </a:rPr>
              <a:t>    在染色体中有一个由非组蛋白构成的支架，称为</a:t>
            </a:r>
            <a:r>
              <a:rPr lang="zh-CN" altLang="en-US" sz="2400" b="1" dirty="0">
                <a:solidFill>
                  <a:srgbClr val="FF0000"/>
                </a:solidFill>
                <a:latin typeface="黑体" pitchFamily="49" charset="-122"/>
                <a:ea typeface="黑体" pitchFamily="49" charset="-122"/>
              </a:rPr>
              <a:t>染色体支架</a:t>
            </a:r>
            <a:r>
              <a:rPr lang="zh-CN" altLang="en-US" sz="2400" b="1" dirty="0">
                <a:solidFill>
                  <a:prstClr val="black"/>
                </a:solidFill>
                <a:latin typeface="黑体" pitchFamily="49" charset="-122"/>
                <a:ea typeface="黑体" pitchFamily="49" charset="-122"/>
              </a:rPr>
              <a:t>。两条染色单体的支架在着丝粒区域相连接。直径</a:t>
            </a:r>
            <a:r>
              <a:rPr lang="en-US" altLang="zh-CN" sz="2400" b="1" dirty="0">
                <a:solidFill>
                  <a:prstClr val="black"/>
                </a:solidFill>
                <a:latin typeface="黑体" pitchFamily="49" charset="-122"/>
                <a:ea typeface="黑体" pitchFamily="49" charset="-122"/>
              </a:rPr>
              <a:t>30nm</a:t>
            </a:r>
            <a:r>
              <a:rPr lang="zh-CN" altLang="en-US" sz="2400" b="1" dirty="0">
                <a:solidFill>
                  <a:prstClr val="black"/>
                </a:solidFill>
                <a:latin typeface="黑体" pitchFamily="49" charset="-122"/>
                <a:ea typeface="黑体" pitchFamily="49" charset="-122"/>
              </a:rPr>
              <a:t>的螺线管一端与支架的某一点结合，另一端向周围辐射呈环状迁回后再回到结合点处，两个结合在支架上的点靠得很近。这样的环状螺线管称为</a:t>
            </a:r>
            <a:r>
              <a:rPr lang="zh-CN" altLang="en-US" sz="2400" b="1" dirty="0">
                <a:solidFill>
                  <a:srgbClr val="FF0000"/>
                </a:solidFill>
                <a:latin typeface="黑体" pitchFamily="49" charset="-122"/>
                <a:ea typeface="黑体" pitchFamily="49" charset="-122"/>
              </a:rPr>
              <a:t>袢环</a:t>
            </a:r>
            <a:r>
              <a:rPr lang="zh-CN" altLang="en-US" sz="2400" b="1" dirty="0">
                <a:solidFill>
                  <a:prstClr val="black"/>
                </a:solidFill>
                <a:latin typeface="黑体" pitchFamily="49" charset="-122"/>
                <a:ea typeface="黑体" pitchFamily="49" charset="-122"/>
              </a:rPr>
              <a:t>。每</a:t>
            </a:r>
            <a:r>
              <a:rPr lang="en-US" altLang="zh-CN" sz="2400" b="1" dirty="0">
                <a:solidFill>
                  <a:prstClr val="black"/>
                </a:solidFill>
                <a:latin typeface="黑体" pitchFamily="49" charset="-122"/>
                <a:ea typeface="黑体" pitchFamily="49" charset="-122"/>
              </a:rPr>
              <a:t>18</a:t>
            </a:r>
            <a:r>
              <a:rPr lang="zh-CN" altLang="en-US" sz="2400" b="1" dirty="0">
                <a:solidFill>
                  <a:prstClr val="black"/>
                </a:solidFill>
                <a:latin typeface="黑体" pitchFamily="49" charset="-122"/>
                <a:ea typeface="黑体" pitchFamily="49" charset="-122"/>
              </a:rPr>
              <a:t>个袢环以染色体支架为轴心呈放射状向四周伸出、形成</a:t>
            </a:r>
            <a:r>
              <a:rPr lang="zh-CN" altLang="en-US" sz="2400" b="1" dirty="0">
                <a:solidFill>
                  <a:srgbClr val="FF0000"/>
                </a:solidFill>
                <a:latin typeface="黑体" pitchFamily="49" charset="-122"/>
                <a:ea typeface="黑体" pitchFamily="49" charset="-122"/>
              </a:rPr>
              <a:t>微带</a:t>
            </a:r>
            <a:r>
              <a:rPr lang="zh-CN" altLang="en-US" sz="2400" b="1" dirty="0">
                <a:solidFill>
                  <a:prstClr val="black"/>
                </a:solidFill>
                <a:latin typeface="黑体" pitchFamily="49" charset="-122"/>
                <a:ea typeface="黑体" pitchFamily="49" charset="-122"/>
              </a:rPr>
              <a:t>。</a:t>
            </a:r>
          </a:p>
        </p:txBody>
      </p:sp>
    </p:spTree>
    <p:extLst>
      <p:ext uri="{BB962C8B-B14F-4D97-AF65-F5344CB8AC3E}">
        <p14:creationId xmlns:p14="http://schemas.microsoft.com/office/powerpoint/2010/main" val="3088090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bwMode="auto">
          <a:xfrm>
            <a:off x="2209800" y="3048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fontScale="90000"/>
          </a:bodyPr>
          <a:lstStyle/>
          <a:p>
            <a:r>
              <a:rPr lang="zh-CN" altLang="en-US" sz="3200" b="1" dirty="0">
                <a:solidFill>
                  <a:srgbClr val="0000FF"/>
                </a:solidFill>
                <a:latin typeface="黑体" panose="02010609060101010101" pitchFamily="49" charset="-122"/>
                <a:ea typeface="黑体" panose="02010609060101010101" pitchFamily="49" charset="-122"/>
              </a:rPr>
              <a:t>染色体形成过程中长度与宽度的变化</a:t>
            </a:r>
          </a:p>
        </p:txBody>
      </p:sp>
      <p:graphicFrame>
        <p:nvGraphicFramePr>
          <p:cNvPr id="25668" name="Group 68"/>
          <p:cNvGraphicFramePr>
            <a:graphicFrameLocks noGrp="1"/>
          </p:cNvGraphicFramePr>
          <p:nvPr>
            <p:ph type="body" idx="4294967295"/>
          </p:nvPr>
        </p:nvGraphicFramePr>
        <p:xfrm>
          <a:off x="1097873" y="1002440"/>
          <a:ext cx="9144003" cy="5006995"/>
        </p:xfrm>
        <a:graphic>
          <a:graphicData uri="http://schemas.openxmlformats.org/drawingml/2006/table">
            <a:tbl>
              <a:tblPr/>
              <a:tblGrid>
                <a:gridCol w="1015015">
                  <a:extLst>
                    <a:ext uri="{9D8B030D-6E8A-4147-A177-3AD203B41FA5}">
                      <a16:colId xmlns:a16="http://schemas.microsoft.com/office/drawing/2014/main" val="20000"/>
                    </a:ext>
                  </a:extLst>
                </a:gridCol>
                <a:gridCol w="2517175">
                  <a:extLst>
                    <a:ext uri="{9D8B030D-6E8A-4147-A177-3AD203B41FA5}">
                      <a16:colId xmlns:a16="http://schemas.microsoft.com/office/drawing/2014/main" val="20001"/>
                    </a:ext>
                  </a:extLst>
                </a:gridCol>
                <a:gridCol w="827087">
                  <a:extLst>
                    <a:ext uri="{9D8B030D-6E8A-4147-A177-3AD203B41FA5}">
                      <a16:colId xmlns:a16="http://schemas.microsoft.com/office/drawing/2014/main" val="20002"/>
                    </a:ext>
                  </a:extLst>
                </a:gridCol>
                <a:gridCol w="1544639">
                  <a:extLst>
                    <a:ext uri="{9D8B030D-6E8A-4147-A177-3AD203B41FA5}">
                      <a16:colId xmlns:a16="http://schemas.microsoft.com/office/drawing/2014/main" val="20003"/>
                    </a:ext>
                  </a:extLst>
                </a:gridCol>
                <a:gridCol w="1616075">
                  <a:extLst>
                    <a:ext uri="{9D8B030D-6E8A-4147-A177-3AD203B41FA5}">
                      <a16:colId xmlns:a16="http://schemas.microsoft.com/office/drawing/2014/main" val="20004"/>
                    </a:ext>
                  </a:extLst>
                </a:gridCol>
                <a:gridCol w="1624012">
                  <a:extLst>
                    <a:ext uri="{9D8B030D-6E8A-4147-A177-3AD203B41FA5}">
                      <a16:colId xmlns:a16="http://schemas.microsoft.com/office/drawing/2014/main" val="20005"/>
                    </a:ext>
                  </a:extLst>
                </a:gridCol>
              </a:tblGrid>
              <a:tr h="746175">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结构</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结构单位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宽度增加</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长度压缩</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42775">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第一级</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DNA+</a:t>
                      </a: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组蛋白</a:t>
                      </a:r>
                      <a:endParaRPr kumimoji="1"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（核小体）</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a:t>
                      </a:r>
                      <a:endPar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串珠状</a:t>
                      </a:r>
                      <a:endParaRPr kumimoji="1" lang="en-US" altLang="zh-CN"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结构</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5倍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7倍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65227">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第二级</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染色线螺旋化</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螺线体</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3倍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6倍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4776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第三级</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螺线体再螺旋化</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超螺线体</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13倍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40倍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696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第四级</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超螺线体折叠盘曲</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染色体</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2.5-5倍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5倍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113538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endParaRP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500-1000倍</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8400倍</a:t>
                      </a:r>
                      <a:b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br>
                      <a:r>
                        <a:rPr kumimoji="1" lang="zh-CN" altLang="en-US" sz="2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(8000-10000)</a:t>
                      </a:r>
                    </a:p>
                  </a:txBody>
                  <a:tcPr marL="19051" marR="19051" marT="19051" marB="19051" anchor="ctr" horzOverflow="overflow">
                    <a:lnL w="3175" cap="flat" cmpd="sng" algn="ctr">
                      <a:solidFill>
                        <a:schemeClr val="tx1"/>
                      </a:solidFill>
                      <a:prstDash val="solid"/>
                      <a:round/>
                      <a:headEnd type="none" w="sm" len="sm"/>
                      <a:tailEnd type="none" w="sm" len="sm"/>
                    </a:lnL>
                    <a:lnR w="3175" cap="flat" cmpd="sng" algn="ctr">
                      <a:solidFill>
                        <a:schemeClr val="tx1"/>
                      </a:solidFill>
                      <a:prstDash val="solid"/>
                      <a:round/>
                      <a:headEnd type="none" w="sm" len="sm"/>
                      <a:tailEnd type="none" w="sm" len="sm"/>
                    </a:lnR>
                    <a:lnT w="3175" cap="flat" cmpd="sng" algn="ctr">
                      <a:solidFill>
                        <a:schemeClr val="tx1"/>
                      </a:solidFill>
                      <a:prstDash val="solid"/>
                      <a:round/>
                      <a:headEnd type="none" w="sm" len="sm"/>
                      <a:tailEnd type="none" w="sm" len="sm"/>
                    </a:lnT>
                    <a:lnB w="31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5784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668"/>
                                        </p:tgtEl>
                                        <p:attrNameLst>
                                          <p:attrName>style.visibility</p:attrName>
                                        </p:attrNameLst>
                                      </p:cBhvr>
                                      <p:to>
                                        <p:strVal val="visible"/>
                                      </p:to>
                                    </p:set>
                                    <p:animEffect transition="in" filter="wipe(up)">
                                      <p:cBhvr>
                                        <p:cTn id="7" dur="500"/>
                                        <p:tgtEl>
                                          <p:spTgt spid="2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p:nvPr>
        </p:nvSpPr>
        <p:spPr bwMode="auto">
          <a:xfrm>
            <a:off x="335360" y="-42529"/>
            <a:ext cx="5184576" cy="80611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6" tIns="45718" rIns="91436" bIns="45718" numCol="1" rtlCol="0" anchor="t" anchorCtr="0" compatLnSpc="1">
            <a:normAutofit/>
          </a:bodyPr>
          <a:lstStyle/>
          <a:p>
            <a:pPr algn="l"/>
            <a:r>
              <a:rPr lang="zh-CN" altLang="en-US" sz="4300" b="1" dirty="0">
                <a:latin typeface="黑体" panose="02010609060101010101" pitchFamily="49" charset="-122"/>
                <a:ea typeface="黑体" panose="02010609060101010101" pitchFamily="49" charset="-122"/>
              </a:rPr>
              <a:t>（3）染色质的类型</a:t>
            </a:r>
          </a:p>
        </p:txBody>
      </p:sp>
      <p:sp>
        <p:nvSpPr>
          <p:cNvPr id="68611" name="Rectangle 1027"/>
          <p:cNvSpPr>
            <a:spLocks noGrp="1" noChangeArrowheads="1"/>
          </p:cNvSpPr>
          <p:nvPr>
            <p:ph idx="1"/>
          </p:nvPr>
        </p:nvSpPr>
        <p:spPr bwMode="auto">
          <a:xfrm>
            <a:off x="0" y="644691"/>
            <a:ext cx="12192000" cy="1152128"/>
          </a:xfrm>
          <a:noFill/>
        </p:spPr>
        <p:txBody>
          <a:bodyPr vert="horz" wrap="square" lIns="91436" tIns="45718" rIns="91436" bIns="45718" numCol="1" rtlCol="0" anchor="t" anchorCtr="0" compatLnSpc="1">
            <a:normAutofit fontScale="77500" lnSpcReduction="20000"/>
          </a:bodyPr>
          <a:lstStyle/>
          <a:p>
            <a:pPr>
              <a:lnSpc>
                <a:spcPct val="120000"/>
              </a:lnSpc>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间期核中的染色质，根据其螺旋化程度及染色程度分为</a:t>
            </a:r>
            <a:r>
              <a:rPr lang="zh-CN" altLang="en-US" b="1" dirty="0">
                <a:solidFill>
                  <a:srgbClr val="0000FF"/>
                </a:solidFill>
                <a:latin typeface="黑体" panose="02010609060101010101" pitchFamily="49" charset="-122"/>
                <a:ea typeface="黑体" panose="02010609060101010101" pitchFamily="49" charset="-122"/>
              </a:rPr>
              <a:t>常染色质和异染色质</a:t>
            </a:r>
            <a:r>
              <a:rPr lang="zh-CN" altLang="en-US" b="1" dirty="0">
                <a:latin typeface="黑体" panose="02010609060101010101" pitchFamily="49" charset="-122"/>
                <a:ea typeface="黑体" panose="02010609060101010101" pitchFamily="49" charset="-122"/>
              </a:rPr>
              <a:t>两类。</a:t>
            </a: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en-US" altLang="zh-CN" sz="2400" dirty="0">
              <a:latin typeface="黑体" panose="02010609060101010101" pitchFamily="49" charset="-122"/>
              <a:ea typeface="黑体" panose="02010609060101010101" pitchFamily="49" charset="-122"/>
            </a:endParaRPr>
          </a:p>
          <a:p>
            <a:pPr>
              <a:lnSpc>
                <a:spcPct val="120000"/>
              </a:lnSpc>
              <a:buFont typeface="Wingdings" panose="05000000000000000000" pitchFamily="2" charset="2"/>
              <a:buNone/>
            </a:pPr>
            <a:endParaRPr lang="zh-CN" altLang="en-US" sz="2400" dirty="0"/>
          </a:p>
        </p:txBody>
      </p:sp>
      <p:graphicFrame>
        <p:nvGraphicFramePr>
          <p:cNvPr id="2" name="表格 2"/>
          <p:cNvGraphicFramePr>
            <a:graphicFrameLocks noGrp="1"/>
          </p:cNvGraphicFramePr>
          <p:nvPr>
            <p:extLst>
              <p:ext uri="{D42A27DB-BD31-4B8C-83A1-F6EECF244321}">
                <p14:modId xmlns:p14="http://schemas.microsoft.com/office/powerpoint/2010/main" val="3963246972"/>
              </p:ext>
            </p:extLst>
          </p:nvPr>
        </p:nvGraphicFramePr>
        <p:xfrm>
          <a:off x="719401" y="1796819"/>
          <a:ext cx="10966067" cy="4049124"/>
        </p:xfrm>
        <a:graphic>
          <a:graphicData uri="http://schemas.openxmlformats.org/drawingml/2006/table">
            <a:tbl>
              <a:tblPr firstRow="1" bandRow="1">
                <a:tableStyleId>{5C22544A-7EE6-4342-B048-85BDC9FD1C3A}</a:tableStyleId>
              </a:tblPr>
              <a:tblGrid>
                <a:gridCol w="2400268">
                  <a:extLst>
                    <a:ext uri="{9D8B030D-6E8A-4147-A177-3AD203B41FA5}">
                      <a16:colId xmlns:a16="http://schemas.microsoft.com/office/drawing/2014/main" val="20000"/>
                    </a:ext>
                  </a:extLst>
                </a:gridCol>
                <a:gridCol w="4228495">
                  <a:extLst>
                    <a:ext uri="{9D8B030D-6E8A-4147-A177-3AD203B41FA5}">
                      <a16:colId xmlns:a16="http://schemas.microsoft.com/office/drawing/2014/main" val="20001"/>
                    </a:ext>
                  </a:extLst>
                </a:gridCol>
                <a:gridCol w="4337304">
                  <a:extLst>
                    <a:ext uri="{9D8B030D-6E8A-4147-A177-3AD203B41FA5}">
                      <a16:colId xmlns:a16="http://schemas.microsoft.com/office/drawing/2014/main" val="20002"/>
                    </a:ext>
                  </a:extLst>
                </a:gridCol>
              </a:tblGrid>
              <a:tr h="746760">
                <a:tc>
                  <a:txBody>
                    <a:bodyPr/>
                    <a:lstStyle/>
                    <a:p>
                      <a:pPr algn="ctr"/>
                      <a:endParaRPr lang="zh-CN" altLang="en-US" sz="2700" dirty="0">
                        <a:latin typeface="黑体" pitchFamily="49" charset="-122"/>
                        <a:ea typeface="黑体" pitchFamily="49"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zh-CN" altLang="en-US" sz="4300" dirty="0">
                          <a:solidFill>
                            <a:srgbClr val="0000FF"/>
                          </a:solidFill>
                          <a:latin typeface="黑体" pitchFamily="49" charset="-122"/>
                          <a:ea typeface="黑体" pitchFamily="49" charset="-122"/>
                        </a:rPr>
                        <a:t>常染色质</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300" dirty="0">
                          <a:solidFill>
                            <a:srgbClr val="0000FF"/>
                          </a:solidFill>
                          <a:latin typeface="黑体" pitchFamily="49" charset="-122"/>
                          <a:ea typeface="黑体" pitchFamily="49" charset="-122"/>
                        </a:rPr>
                        <a:t>异染色质</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2920">
                <a:tc>
                  <a:txBody>
                    <a:bodyPr/>
                    <a:lstStyle/>
                    <a:p>
                      <a:pPr algn="ctr"/>
                      <a:r>
                        <a:rPr lang="zh-CN" altLang="en-US" sz="2700" b="1" dirty="0">
                          <a:latin typeface="黑体" panose="02010609060101010101" pitchFamily="49" charset="-122"/>
                          <a:ea typeface="黑体" panose="02010609060101010101" pitchFamily="49" charset="-122"/>
                        </a:rPr>
                        <a:t>间期染色程度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zh-CN" altLang="en-US" sz="2700" b="1" dirty="0">
                          <a:latin typeface="黑体" panose="02010609060101010101" pitchFamily="49" charset="-122"/>
                          <a:ea typeface="黑体" panose="02010609060101010101" pitchFamily="49" charset="-122"/>
                        </a:rPr>
                        <a:t>染色浅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latin typeface="黑体" panose="02010609060101010101" pitchFamily="49" charset="-122"/>
                          <a:ea typeface="黑体" panose="02010609060101010101" pitchFamily="49" charset="-122"/>
                        </a:rPr>
                        <a:t>染色深</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84683">
                <a:tc>
                  <a:txBody>
                    <a:bodyPr/>
                    <a:lstStyle/>
                    <a:p>
                      <a:pPr algn="ctr"/>
                      <a:r>
                        <a:rPr lang="zh-CN" altLang="en-US" sz="2700" b="1" dirty="0">
                          <a:latin typeface="黑体" panose="02010609060101010101" pitchFamily="49" charset="-122"/>
                          <a:ea typeface="黑体" panose="02010609060101010101" pitchFamily="49" charset="-122"/>
                        </a:rPr>
                        <a:t>分布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zh-CN" altLang="en-US" sz="2700" b="1" dirty="0">
                          <a:latin typeface="黑体" panose="02010609060101010101" pitchFamily="49" charset="-122"/>
                          <a:ea typeface="黑体" panose="02010609060101010101" pitchFamily="49" charset="-122"/>
                        </a:rPr>
                        <a:t>核中央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latin typeface="黑体" panose="02010609060101010101" pitchFamily="49" charset="-122"/>
                          <a:ea typeface="黑体" panose="02010609060101010101" pitchFamily="49" charset="-122"/>
                        </a:rPr>
                        <a:t>核膜附近</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21592">
                <a:tc>
                  <a:txBody>
                    <a:bodyPr/>
                    <a:lstStyle/>
                    <a:p>
                      <a:pPr algn="ctr"/>
                      <a:r>
                        <a:rPr lang="zh-CN" altLang="en-US" sz="2700" b="1" dirty="0">
                          <a:latin typeface="黑体" panose="02010609060101010101" pitchFamily="49" charset="-122"/>
                          <a:ea typeface="黑体" panose="02010609060101010101" pitchFamily="49" charset="-122"/>
                        </a:rPr>
                        <a:t>螺旋化程度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latin typeface="黑体" panose="02010609060101010101" pitchFamily="49" charset="-122"/>
                          <a:ea typeface="黑体" panose="02010609060101010101" pitchFamily="49" charset="-122"/>
                        </a:rPr>
                        <a:t>低 </a:t>
                      </a:r>
                      <a:r>
                        <a:rPr lang="zh-CN" altLang="en-US" sz="2700" b="1" dirty="0">
                          <a:solidFill>
                            <a:srgbClr val="FF0000"/>
                          </a:solidFill>
                          <a:latin typeface="黑体" panose="02010609060101010101" pitchFamily="49" charset="-122"/>
                          <a:ea typeface="黑体" panose="02010609060101010101" pitchFamily="49" charset="-122"/>
                        </a:rPr>
                        <a:t>呈疏松状态</a:t>
                      </a:r>
                      <a:endParaRPr lang="en-US" altLang="zh-CN" sz="2700" b="1" dirty="0">
                        <a:solidFill>
                          <a:srgbClr val="FF0000"/>
                        </a:solidFill>
                        <a:latin typeface="黑体" panose="02010609060101010101" pitchFamily="49" charset="-122"/>
                        <a:ea typeface="黑体" panose="02010609060101010101" pitchFamily="49"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latin typeface="黑体" panose="02010609060101010101" pitchFamily="49" charset="-122"/>
                          <a:ea typeface="黑体" panose="02010609060101010101" pitchFamily="49" charset="-122"/>
                        </a:rPr>
                        <a:t>高 </a:t>
                      </a:r>
                      <a:r>
                        <a:rPr lang="zh-CN" altLang="en-US" sz="2700" b="1" dirty="0">
                          <a:solidFill>
                            <a:srgbClr val="FF0000"/>
                          </a:solidFill>
                          <a:latin typeface="黑体" panose="02010609060101010101" pitchFamily="49" charset="-122"/>
                          <a:ea typeface="黑体" panose="02010609060101010101" pitchFamily="49" charset="-122"/>
                        </a:rPr>
                        <a:t>呈凝集状态</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58501">
                <a:tc>
                  <a:txBody>
                    <a:bodyPr/>
                    <a:lstStyle/>
                    <a:p>
                      <a:pPr algn="ctr"/>
                      <a:r>
                        <a:rPr lang="en-US" altLang="zh-CN" sz="2700" b="1" dirty="0">
                          <a:latin typeface="黑体" panose="02010609060101010101" pitchFamily="49" charset="-122"/>
                          <a:ea typeface="黑体" panose="02010609060101010101" pitchFamily="49" charset="-122"/>
                        </a:rPr>
                        <a:t>DNA</a:t>
                      </a:r>
                      <a:r>
                        <a:rPr lang="zh-CN" altLang="en-US" sz="2700" b="1" dirty="0">
                          <a:latin typeface="黑体" panose="02010609060101010101" pitchFamily="49" charset="-122"/>
                          <a:ea typeface="黑体" panose="02010609060101010101" pitchFamily="49" charset="-122"/>
                        </a:rPr>
                        <a:t>序列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solidFill>
                            <a:srgbClr val="FF0000"/>
                          </a:solidFill>
                          <a:latin typeface="黑体" panose="02010609060101010101" pitchFamily="49" charset="-122"/>
                          <a:ea typeface="黑体" panose="02010609060101010101" pitchFamily="49" charset="-122"/>
                        </a:rPr>
                        <a:t>单一序列和部分重复序列</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solidFill>
                            <a:srgbClr val="FF0000"/>
                          </a:solidFill>
                          <a:latin typeface="黑体" panose="02010609060101010101" pitchFamily="49" charset="-122"/>
                          <a:ea typeface="黑体" panose="02010609060101010101" pitchFamily="49" charset="-122"/>
                        </a:rPr>
                        <a:t>高度重复序列</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934668">
                <a:tc>
                  <a:txBody>
                    <a:bodyPr/>
                    <a:lstStyle/>
                    <a:p>
                      <a:pPr algn="ctr"/>
                      <a:r>
                        <a:rPr lang="zh-CN" altLang="en-US" sz="2700" b="1" dirty="0">
                          <a:latin typeface="黑体" panose="02010609060101010101" pitchFamily="49" charset="-122"/>
                          <a:ea typeface="黑体" panose="02010609060101010101" pitchFamily="49" charset="-122"/>
                        </a:rPr>
                        <a:t>功能状态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r>
                        <a:rPr lang="zh-CN" altLang="en-US" sz="2700" b="1" dirty="0">
                          <a:solidFill>
                            <a:srgbClr val="FF0000"/>
                          </a:solidFill>
                          <a:latin typeface="黑体" panose="02010609060101010101" pitchFamily="49" charset="-122"/>
                          <a:ea typeface="黑体" panose="02010609060101010101" pitchFamily="49" charset="-122"/>
                        </a:rPr>
                        <a:t>活跃的</a:t>
                      </a:r>
                      <a:r>
                        <a:rPr lang="en-US" altLang="zh-CN" sz="2700" b="1" dirty="0">
                          <a:solidFill>
                            <a:srgbClr val="FF0000"/>
                          </a:solidFill>
                          <a:latin typeface="黑体" panose="02010609060101010101" pitchFamily="49" charset="-122"/>
                          <a:ea typeface="黑体" panose="02010609060101010101" pitchFamily="49" charset="-122"/>
                        </a:rPr>
                        <a:t>DNA</a:t>
                      </a:r>
                      <a:r>
                        <a:rPr lang="zh-CN" altLang="en-US" sz="2700" b="1" dirty="0">
                          <a:solidFill>
                            <a:srgbClr val="FF0000"/>
                          </a:solidFill>
                          <a:latin typeface="黑体" panose="02010609060101010101" pitchFamily="49" charset="-122"/>
                          <a:ea typeface="黑体" panose="02010609060101010101" pitchFamily="49" charset="-122"/>
                        </a:rPr>
                        <a:t>分子部分、</a:t>
                      </a:r>
                      <a:endParaRPr lang="en-US" altLang="zh-CN" sz="2700" b="1" dirty="0">
                        <a:solidFill>
                          <a:srgbClr val="FF0000"/>
                        </a:solidFill>
                        <a:latin typeface="黑体" panose="02010609060101010101" pitchFamily="49" charset="-122"/>
                        <a:ea typeface="黑体" panose="02010609060101010101" pitchFamily="49" charset="-122"/>
                      </a:endParaRPr>
                    </a:p>
                    <a:p>
                      <a:pPr algn="ctr"/>
                      <a:r>
                        <a:rPr lang="zh-CN" altLang="en-US" sz="2700" b="1" dirty="0">
                          <a:solidFill>
                            <a:srgbClr val="FF0000"/>
                          </a:solidFill>
                          <a:latin typeface="黑体" panose="02010609060101010101" pitchFamily="49" charset="-122"/>
                          <a:ea typeface="黑体" panose="02010609060101010101" pitchFamily="49" charset="-122"/>
                        </a:rPr>
                        <a:t>进行转录和翻译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solidFill>
                            <a:srgbClr val="FF0000"/>
                          </a:solidFill>
                          <a:latin typeface="黑体" panose="02010609060101010101" pitchFamily="49" charset="-122"/>
                          <a:ea typeface="黑体" panose="02010609060101010101" pitchFamily="49" charset="-122"/>
                        </a:rPr>
                        <a:t>不活跃的</a:t>
                      </a:r>
                      <a:r>
                        <a:rPr lang="en-US" altLang="zh-CN" sz="2700" b="1" dirty="0">
                          <a:solidFill>
                            <a:srgbClr val="FF0000"/>
                          </a:solidFill>
                          <a:latin typeface="黑体" panose="02010609060101010101" pitchFamily="49" charset="-122"/>
                          <a:ea typeface="黑体" panose="02010609060101010101" pitchFamily="49" charset="-122"/>
                        </a:rPr>
                        <a:t>DNA</a:t>
                      </a:r>
                      <a:r>
                        <a:rPr lang="zh-CN" altLang="en-US" sz="2700" b="1" dirty="0">
                          <a:solidFill>
                            <a:srgbClr val="FF0000"/>
                          </a:solidFill>
                          <a:latin typeface="黑体" panose="02010609060101010101" pitchFamily="49" charset="-122"/>
                          <a:ea typeface="黑体" panose="02010609060101010101" pitchFamily="49" charset="-122"/>
                        </a:rPr>
                        <a:t>分子部分、</a:t>
                      </a:r>
                      <a:endParaRPr lang="en-US" altLang="zh-CN" sz="2700" b="1" dirty="0">
                        <a:solidFill>
                          <a:srgbClr val="FF0000"/>
                        </a:solidFill>
                        <a:latin typeface="黑体" panose="02010609060101010101" pitchFamily="49" charset="-122"/>
                        <a:ea typeface="黑体" panose="02010609060101010101" pitchFamily="49"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700" b="1" dirty="0">
                          <a:solidFill>
                            <a:srgbClr val="FF0000"/>
                          </a:solidFill>
                          <a:latin typeface="黑体" panose="02010609060101010101" pitchFamily="49" charset="-122"/>
                          <a:ea typeface="黑体" panose="02010609060101010101" pitchFamily="49" charset="-122"/>
                        </a:rPr>
                        <a:t>不能转录和翻译</a:t>
                      </a:r>
                      <a:endParaRPr lang="zh-CN" altLang="en-US" sz="2700" b="1" dirty="0">
                        <a:latin typeface="黑体" panose="02010609060101010101" pitchFamily="49" charset="-122"/>
                        <a:ea typeface="黑体" panose="02010609060101010101" pitchFamily="49"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07135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bwMode="auto">
          <a:xfrm>
            <a:off x="609600" y="152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en-US" sz="3600" b="1" dirty="0">
                <a:solidFill>
                  <a:srgbClr val="0000FF"/>
                </a:solidFill>
                <a:latin typeface="黑体" panose="02010609060101010101" pitchFamily="49" charset="-122"/>
                <a:ea typeface="黑体" panose="02010609060101010101" pitchFamily="49" charset="-122"/>
              </a:rPr>
              <a:t>2.</a:t>
            </a:r>
            <a:r>
              <a:rPr lang="zh-CN" altLang="en-US" sz="3600" b="1" noProof="1">
                <a:solidFill>
                  <a:srgbClr val="0000FF"/>
                </a:solidFill>
                <a:latin typeface="黑体" panose="02010609060101010101" pitchFamily="49" charset="-122"/>
                <a:ea typeface="黑体" panose="02010609060101010101" pitchFamily="49" charset="-122"/>
              </a:rPr>
              <a:t>染色体的形态、结构和数目</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69635" name="Rectangle 3"/>
          <p:cNvSpPr>
            <a:spLocks noGrp="1" noChangeArrowheads="1"/>
          </p:cNvSpPr>
          <p:nvPr>
            <p:ph sz="half" idx="1"/>
          </p:nvPr>
        </p:nvSpPr>
        <p:spPr bwMode="auto">
          <a:xfrm>
            <a:off x="929193" y="821558"/>
            <a:ext cx="6101921" cy="51797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buClr>
                <a:schemeClr val="folHlink"/>
              </a:buClr>
              <a:buNone/>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染色体是所有生物细胞都具有的结构。</a:t>
            </a:r>
          </a:p>
          <a:p>
            <a:pPr marL="457200" lvl="1" indent="0">
              <a:buClr>
                <a:srgbClr val="FFCC99"/>
              </a:buClr>
              <a:buNone/>
            </a:pPr>
            <a:r>
              <a:rPr lang="zh-CN" altLang="en-US" sz="2800" b="1" dirty="0">
                <a:latin typeface="黑体" panose="02010609060101010101" pitchFamily="49" charset="-122"/>
                <a:ea typeface="黑体" panose="02010609060101010101" pitchFamily="49" charset="-122"/>
              </a:rPr>
              <a:t>各物种染色体都具有</a:t>
            </a:r>
            <a:r>
              <a:rPr lang="zh-CN" altLang="en-US" sz="2800" b="1" dirty="0">
                <a:solidFill>
                  <a:srgbClr val="0000FF"/>
                </a:solidFill>
                <a:latin typeface="黑体" panose="02010609060101010101" pitchFamily="49" charset="-122"/>
                <a:ea typeface="黑体" panose="02010609060101010101" pitchFamily="49" charset="-122"/>
              </a:rPr>
              <a:t>特定的数目与形态特征。</a:t>
            </a:r>
          </a:p>
          <a:p>
            <a:pPr marL="457200" lvl="1" indent="0">
              <a:buClr>
                <a:srgbClr val="FFCC99"/>
              </a:buClr>
              <a:buNone/>
            </a:pPr>
            <a:r>
              <a:rPr lang="zh-CN" altLang="en-US" sz="2800" b="1" dirty="0">
                <a:latin typeface="黑体" panose="02010609060101010101" pitchFamily="49" charset="-122"/>
                <a:ea typeface="黑体" panose="02010609060101010101" pitchFamily="49" charset="-122"/>
              </a:rPr>
              <a:t>而且同一物种内的各染色体间往往也能够通过</a:t>
            </a:r>
            <a:r>
              <a:rPr lang="zh-CN" altLang="en-US" sz="2800" b="1" dirty="0">
                <a:solidFill>
                  <a:srgbClr val="0000FF"/>
                </a:solidFill>
                <a:latin typeface="黑体" panose="02010609060101010101" pitchFamily="49" charset="-122"/>
                <a:ea typeface="黑体" panose="02010609060101010101" pitchFamily="49" charset="-122"/>
              </a:rPr>
              <a:t>其形态特征加以区分、识别。</a:t>
            </a:r>
          </a:p>
          <a:p>
            <a:pPr marL="0" indent="0">
              <a:buClr>
                <a:schemeClr val="folHlink"/>
              </a:buClr>
              <a:buNone/>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染色体的形态结构与数目在细胞分裂过程中有一系列规律性变化。</a:t>
            </a:r>
          </a:p>
          <a:p>
            <a:pPr marL="0" indent="0">
              <a:buClr>
                <a:schemeClr val="folHlink"/>
              </a:buClr>
              <a:buNone/>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识别染色体的形态特征的最佳时期是细胞</a:t>
            </a:r>
            <a:r>
              <a:rPr lang="zh-CN" altLang="en-US" b="1" dirty="0">
                <a:solidFill>
                  <a:srgbClr val="FF0000"/>
                </a:solidFill>
                <a:latin typeface="黑体" panose="02010609060101010101" pitchFamily="49" charset="-122"/>
                <a:ea typeface="黑体" panose="02010609060101010101" pitchFamily="49" charset="-122"/>
              </a:rPr>
              <a:t>有丝分裂中期和早后期</a:t>
            </a:r>
            <a:r>
              <a:rPr lang="zh-CN" altLang="en-US" b="1" dirty="0">
                <a:latin typeface="黑体" panose="02010609060101010101" pitchFamily="49" charset="-122"/>
                <a:ea typeface="黑体" panose="02010609060101010101" pitchFamily="49" charset="-122"/>
              </a:rPr>
              <a:t>。这时染色体收缩程度最大，形态最稳定，并且分散排列、易于计数。</a:t>
            </a:r>
            <a:endParaRPr lang="zh-CN" altLang="en-US" sz="2400" b="1" dirty="0">
              <a:latin typeface="黑体" panose="02010609060101010101" pitchFamily="49" charset="-122"/>
              <a:ea typeface="黑体" panose="02010609060101010101" pitchFamily="49" charset="-122"/>
            </a:endParaRPr>
          </a:p>
        </p:txBody>
      </p:sp>
      <p:sp>
        <p:nvSpPr>
          <p:cNvPr id="69637" name="Rectangle 4"/>
          <p:cNvSpPr>
            <a:spLocks noGrp="1" noChangeArrowheads="1"/>
          </p:cNvSpPr>
          <p:nvPr>
            <p:ph sz="half" idx="2"/>
          </p:nvPr>
        </p:nvSpPr>
        <p:spPr bwMode="auto">
          <a:xfrm>
            <a:off x="7693479" y="821558"/>
            <a:ext cx="3200400" cy="5869620"/>
          </a:xfrm>
          <a:solidFill>
            <a:schemeClr val="bg1"/>
          </a:solidFill>
        </p:spPr>
        <p:txBody>
          <a:bodyPr vert="horz" wrap="square" lIns="91440" tIns="45720" rIns="91440" bIns="45720" numCol="1" rtlCol="0" anchor="t" anchorCtr="0" compatLnSpc="1">
            <a:normAutofit/>
          </a:bodyPr>
          <a:lstStyle/>
          <a:p>
            <a:pPr marL="0" indent="0">
              <a:lnSpc>
                <a:spcPct val="100000"/>
              </a:lnSpc>
              <a:spcBef>
                <a:spcPct val="10000"/>
              </a:spcBef>
              <a:buClr>
                <a:schemeClr val="folHlink"/>
              </a:buClr>
              <a:buNone/>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在普通光学显微镜下观察需要对染色体进行</a:t>
            </a:r>
            <a:r>
              <a:rPr lang="zh-CN" altLang="en-US" b="1" dirty="0">
                <a:solidFill>
                  <a:srgbClr val="FF0000"/>
                </a:solidFill>
                <a:latin typeface="黑体" panose="02010609060101010101" pitchFamily="49" charset="-122"/>
                <a:ea typeface="黑体" panose="02010609060101010101" pitchFamily="49" charset="-122"/>
              </a:rPr>
              <a:t>染色</a:t>
            </a:r>
            <a:r>
              <a:rPr lang="zh-CN" altLang="en-US" b="1" dirty="0">
                <a:latin typeface="黑体" panose="02010609060101010101" pitchFamily="49" charset="-122"/>
                <a:ea typeface="黑体" panose="02010609060101010101" pitchFamily="49" charset="-122"/>
              </a:rPr>
              <a:t>。</a:t>
            </a:r>
          </a:p>
          <a:p>
            <a:pPr marL="0" indent="0">
              <a:lnSpc>
                <a:spcPct val="100000"/>
              </a:lnSpc>
              <a:spcBef>
                <a:spcPct val="10000"/>
              </a:spcBef>
              <a:buClr>
                <a:schemeClr val="folHlink"/>
              </a:buClr>
              <a:buNone/>
            </a:pP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通常是采用</a:t>
            </a:r>
            <a:r>
              <a:rPr lang="zh-CN" altLang="en-US" b="1" dirty="0">
                <a:solidFill>
                  <a:srgbClr val="0000FF"/>
                </a:solidFill>
                <a:latin typeface="黑体" panose="02010609060101010101" pitchFamily="49" charset="-122"/>
                <a:ea typeface="黑体" panose="02010609060101010101" pitchFamily="49" charset="-122"/>
              </a:rPr>
              <a:t>染色体染色效果好</a:t>
            </a:r>
            <a:r>
              <a:rPr lang="zh-CN" altLang="en-US" b="1" dirty="0">
                <a:latin typeface="黑体" panose="02010609060101010101" pitchFamily="49" charset="-122"/>
                <a:ea typeface="黑体" panose="02010609060101010101" pitchFamily="49" charset="-122"/>
              </a:rPr>
              <a:t>，但</a:t>
            </a:r>
            <a:r>
              <a:rPr lang="zh-CN" altLang="en-US" b="1" dirty="0">
                <a:solidFill>
                  <a:srgbClr val="0000FF"/>
                </a:solidFill>
                <a:latin typeface="黑体" panose="02010609060101010101" pitchFamily="49" charset="-122"/>
                <a:ea typeface="黑体" panose="02010609060101010101" pitchFamily="49" charset="-122"/>
              </a:rPr>
              <a:t>细胞质着色少</a:t>
            </a:r>
            <a:r>
              <a:rPr lang="zh-CN" altLang="en-US" b="1" dirty="0">
                <a:latin typeface="黑体" panose="02010609060101010101" pitchFamily="49" charset="-122"/>
                <a:ea typeface="黑体" panose="02010609060101010101" pitchFamily="49" charset="-122"/>
              </a:rPr>
              <a:t>的</a:t>
            </a:r>
            <a:r>
              <a:rPr lang="zh-CN" altLang="en-US" b="1" dirty="0">
                <a:solidFill>
                  <a:srgbClr val="FF0000"/>
                </a:solidFill>
                <a:latin typeface="黑体" panose="02010609060101010101" pitchFamily="49" charset="-122"/>
                <a:ea typeface="黑体" panose="02010609060101010101" pitchFamily="49" charset="-122"/>
              </a:rPr>
              <a:t>碱性染料、酸性染料</a:t>
            </a:r>
            <a:r>
              <a:rPr lang="zh-CN" altLang="en-US" b="1" dirty="0">
                <a:latin typeface="黑体" panose="02010609060101010101" pitchFamily="49" charset="-122"/>
                <a:ea typeface="黑体" panose="02010609060101010101" pitchFamily="49" charset="-122"/>
              </a:rPr>
              <a:t>或</a:t>
            </a:r>
            <a:r>
              <a:rPr lang="zh-CN" altLang="en-US" b="1" dirty="0">
                <a:solidFill>
                  <a:srgbClr val="FF0000"/>
                </a:solidFill>
                <a:latin typeface="黑体" panose="02010609060101010101" pitchFamily="49" charset="-122"/>
                <a:ea typeface="黑体" panose="02010609060101010101" pitchFamily="49" charset="-122"/>
              </a:rPr>
              <a:t>孚尔根试剂染色</a:t>
            </a:r>
            <a:r>
              <a:rPr lang="zh-CN" altLang="en-US" b="1" dirty="0">
                <a:latin typeface="黑体" panose="02010609060101010101" pitchFamily="49" charset="-122"/>
                <a:ea typeface="黑体" panose="02010609060101010101" pitchFamily="49"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bwMode="auto">
          <a:xfrm>
            <a:off x="596284" y="313677"/>
            <a:ext cx="7772400" cy="4394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0000"/>
          </a:bodyPr>
          <a:lstStyle/>
          <a:p>
            <a:r>
              <a:rPr lang="en-US" altLang="en-US" sz="4000" b="1" dirty="0">
                <a:solidFill>
                  <a:srgbClr val="0000FF"/>
                </a:solidFill>
                <a:latin typeface="黑体" panose="02010609060101010101" pitchFamily="49" charset="-122"/>
                <a:ea typeface="黑体" panose="02010609060101010101" pitchFamily="49" charset="-122"/>
              </a:rPr>
              <a:t>2</a:t>
            </a:r>
            <a:r>
              <a:rPr lang="en-US" altLang="en-US" sz="4000" b="1" noProof="1">
                <a:solidFill>
                  <a:srgbClr val="0000FF"/>
                </a:solidFill>
                <a:latin typeface="黑体" panose="02010609060101010101" pitchFamily="49" charset="-122"/>
                <a:ea typeface="黑体" panose="02010609060101010101" pitchFamily="49" charset="-122"/>
              </a:rPr>
              <a:t>.</a:t>
            </a:r>
            <a:r>
              <a:rPr lang="zh-CN" altLang="en-US" sz="4000" b="1" noProof="1">
                <a:solidFill>
                  <a:srgbClr val="0000FF"/>
                </a:solidFill>
                <a:latin typeface="黑体" panose="02010609060101010101" pitchFamily="49" charset="-122"/>
                <a:ea typeface="黑体" panose="02010609060101010101" pitchFamily="49" charset="-122"/>
              </a:rPr>
              <a:t>染色体的形态、结构和数目</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70659" name="Rectangle 3"/>
          <p:cNvSpPr>
            <a:spLocks noGrp="1" noChangeArrowheads="1"/>
          </p:cNvSpPr>
          <p:nvPr>
            <p:ph idx="1"/>
          </p:nvPr>
        </p:nvSpPr>
        <p:spPr bwMode="auto">
          <a:xfrm>
            <a:off x="846337" y="1022412"/>
            <a:ext cx="5275494" cy="4386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a:bodyPr>
          <a:lstStyle/>
          <a:p>
            <a:pPr>
              <a:lnSpc>
                <a:spcPct val="180000"/>
              </a:lnSpc>
              <a:buFont typeface="Wingdings" panose="05000000000000000000" pitchFamily="2" charset="2"/>
              <a:buNone/>
            </a:pPr>
            <a:r>
              <a:rPr lang="zh-CN" altLang="en-US" sz="3200" b="1" noProof="1">
                <a:latin typeface="黑体" panose="02010609060101010101" pitchFamily="49" charset="-122"/>
                <a:ea typeface="黑体" panose="02010609060101010101" pitchFamily="49" charset="-122"/>
              </a:rPr>
              <a:t>（</a:t>
            </a:r>
            <a:r>
              <a:rPr lang="en-US" altLang="zh-CN" sz="3200" b="1" noProof="1">
                <a:latin typeface="黑体" panose="02010609060101010101" pitchFamily="49" charset="-122"/>
                <a:ea typeface="黑体" panose="02010609060101010101" pitchFamily="49" charset="-122"/>
              </a:rPr>
              <a:t>1</a:t>
            </a:r>
            <a:r>
              <a:rPr lang="zh-CN" altLang="en-US" sz="3200" b="1" noProof="1">
                <a:latin typeface="黑体" panose="02010609060101010101" pitchFamily="49" charset="-122"/>
                <a:ea typeface="黑体" panose="02010609060101010101" pitchFamily="49" charset="-122"/>
              </a:rPr>
              <a:t>）染色体的形态特征</a:t>
            </a:r>
            <a:endParaRPr lang="en-US" altLang="en-US" sz="3200" b="1" dirty="0">
              <a:latin typeface="黑体" panose="02010609060101010101" pitchFamily="49" charset="-122"/>
              <a:ea typeface="黑体" panose="02010609060101010101" pitchFamily="49" charset="-122"/>
            </a:endParaRPr>
          </a:p>
          <a:p>
            <a:pPr>
              <a:lnSpc>
                <a:spcPct val="180000"/>
              </a:lnSpc>
              <a:buFont typeface="Wingdings" panose="05000000000000000000" pitchFamily="2" charset="2"/>
              <a:buNone/>
            </a:pPr>
            <a:r>
              <a:rPr lang="zh-CN" altLang="en-US" sz="3200" b="1" noProof="1">
                <a:latin typeface="黑体" panose="02010609060101010101" pitchFamily="49" charset="-122"/>
                <a:ea typeface="黑体" panose="02010609060101010101" pitchFamily="49" charset="-122"/>
              </a:rPr>
              <a:t>（</a:t>
            </a:r>
            <a:r>
              <a:rPr lang="en-US" altLang="zh-CN" sz="3200" b="1" noProof="1">
                <a:latin typeface="黑体" panose="02010609060101010101" pitchFamily="49" charset="-122"/>
                <a:ea typeface="黑体" panose="02010609060101010101" pitchFamily="49" charset="-122"/>
              </a:rPr>
              <a:t>2</a:t>
            </a:r>
            <a:r>
              <a:rPr lang="zh-CN" altLang="en-US" sz="3200" b="1" noProof="1">
                <a:latin typeface="黑体" panose="02010609060101010101" pitchFamily="49" charset="-122"/>
                <a:ea typeface="黑体" panose="02010609060101010101" pitchFamily="49" charset="-122"/>
              </a:rPr>
              <a:t>）染色体的数目</a:t>
            </a:r>
            <a:endParaRPr lang="en-US" altLang="en-US" sz="3200" b="1" dirty="0">
              <a:latin typeface="黑体" panose="02010609060101010101" pitchFamily="49" charset="-122"/>
              <a:ea typeface="黑体" panose="02010609060101010101" pitchFamily="49" charset="-122"/>
            </a:endParaRPr>
          </a:p>
          <a:p>
            <a:pPr>
              <a:lnSpc>
                <a:spcPct val="180000"/>
              </a:lnSpc>
              <a:buFont typeface="Wingdings" panose="05000000000000000000" pitchFamily="2" charset="2"/>
              <a:buNone/>
            </a:pPr>
            <a:r>
              <a:rPr lang="zh-CN" altLang="en-US" sz="3200" b="1" noProof="1">
                <a:latin typeface="黑体" panose="02010609060101010101" pitchFamily="49" charset="-122"/>
                <a:ea typeface="黑体" panose="02010609060101010101" pitchFamily="49" charset="-122"/>
              </a:rPr>
              <a:t>（</a:t>
            </a:r>
            <a:r>
              <a:rPr lang="en-US" altLang="zh-CN" sz="3200" b="1" noProof="1">
                <a:latin typeface="黑体" panose="02010609060101010101" pitchFamily="49" charset="-122"/>
                <a:ea typeface="黑体" panose="02010609060101010101" pitchFamily="49" charset="-122"/>
              </a:rPr>
              <a:t>3</a:t>
            </a:r>
            <a:r>
              <a:rPr lang="zh-CN" altLang="en-US" sz="3200" b="1" noProof="1">
                <a:latin typeface="黑体" panose="02010609060101010101" pitchFamily="49" charset="-122"/>
                <a:ea typeface="黑体" panose="02010609060101010101" pitchFamily="49" charset="-122"/>
              </a:rPr>
              <a:t>）特殊类型的染色体</a:t>
            </a:r>
            <a:endParaRPr lang="en-US" altLang="en-US" sz="3200" b="1" dirty="0">
              <a:latin typeface="黑体" panose="02010609060101010101" pitchFamily="49" charset="-122"/>
              <a:ea typeface="黑体" panose="02010609060101010101" pitchFamily="49" charset="-122"/>
            </a:endParaRPr>
          </a:p>
          <a:p>
            <a:pPr>
              <a:lnSpc>
                <a:spcPct val="180000"/>
              </a:lnSpc>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4</a:t>
            </a:r>
            <a:r>
              <a:rPr lang="zh-CN" altLang="en-US" sz="3200" b="1" dirty="0">
                <a:latin typeface="黑体" panose="02010609060101010101" pitchFamily="49" charset="-122"/>
                <a:ea typeface="黑体" panose="02010609060101010101" pitchFamily="49" charset="-122"/>
              </a:rPr>
              <a:t>）染色体组型和组型分析</a:t>
            </a:r>
          </a:p>
        </p:txBody>
      </p:sp>
      <p:pic>
        <p:nvPicPr>
          <p:cNvPr id="706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5597" y="1128945"/>
            <a:ext cx="3935766" cy="493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324036" y="26633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noProof="1">
                <a:latin typeface="黑体" panose="02010609060101010101" pitchFamily="49" charset="-122"/>
                <a:ea typeface="黑体" panose="02010609060101010101" pitchFamily="49" charset="-122"/>
              </a:rPr>
              <a:t>（</a:t>
            </a:r>
            <a:r>
              <a:rPr lang="en-US" altLang="zh-CN" sz="3200" b="1" noProof="1">
                <a:latin typeface="黑体" panose="02010609060101010101" pitchFamily="49" charset="-122"/>
                <a:ea typeface="黑体" panose="02010609060101010101" pitchFamily="49" charset="-122"/>
              </a:rPr>
              <a:t>1</a:t>
            </a:r>
            <a:r>
              <a:rPr lang="zh-CN" altLang="en-US" sz="3200" b="1" noProof="1">
                <a:latin typeface="黑体" panose="02010609060101010101" pitchFamily="49" charset="-122"/>
                <a:ea typeface="黑体" panose="02010609060101010101" pitchFamily="49" charset="-122"/>
              </a:rPr>
              <a:t>）染色体的形态特征</a:t>
            </a:r>
            <a:endParaRPr lang="zh-CN" altLang="en-US" sz="3200" b="1" dirty="0">
              <a:latin typeface="黑体" panose="02010609060101010101" pitchFamily="49" charset="-122"/>
              <a:ea typeface="黑体" panose="02010609060101010101" pitchFamily="49" charset="-122"/>
            </a:endParaRPr>
          </a:p>
        </p:txBody>
      </p:sp>
      <p:sp>
        <p:nvSpPr>
          <p:cNvPr id="71683" name="Rectangle 3"/>
          <p:cNvSpPr>
            <a:spLocks noGrp="1" noChangeArrowheads="1"/>
          </p:cNvSpPr>
          <p:nvPr>
            <p:ph idx="1"/>
          </p:nvPr>
        </p:nvSpPr>
        <p:spPr bwMode="auto">
          <a:xfrm>
            <a:off x="144729" y="875150"/>
            <a:ext cx="12047271" cy="563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60000"/>
              </a:lnSpc>
              <a:spcBef>
                <a:spcPct val="5000"/>
              </a:spcBef>
              <a:buClr>
                <a:schemeClr val="folHlink"/>
              </a:buClr>
              <a:buNone/>
            </a:pPr>
            <a:r>
              <a:rPr lang="en-US" altLang="zh-CN" b="1" dirty="0">
                <a:latin typeface="黑体" panose="02010609060101010101" pitchFamily="49" charset="-122"/>
                <a:ea typeface="黑体" panose="02010609060101010101" pitchFamily="49" charset="-122"/>
              </a:rPr>
              <a:t>•</a:t>
            </a:r>
            <a:r>
              <a:rPr lang="en-US" altLang="en-US" b="1" dirty="0" err="1">
                <a:latin typeface="黑体" panose="02010609060101010101" pitchFamily="49" charset="-122"/>
                <a:ea typeface="黑体" panose="02010609060101010101" pitchFamily="49" charset="-122"/>
              </a:rPr>
              <a:t>分析</a:t>
            </a:r>
            <a:r>
              <a:rPr lang="en-US" altLang="en-US" b="1" dirty="0" err="1">
                <a:solidFill>
                  <a:srgbClr val="FF0000"/>
                </a:solidFill>
                <a:latin typeface="黑体" panose="02010609060101010101" pitchFamily="49" charset="-122"/>
                <a:ea typeface="黑体" panose="02010609060101010101" pitchFamily="49" charset="-122"/>
              </a:rPr>
              <a:t>染色体形态特征</a:t>
            </a:r>
            <a:r>
              <a:rPr lang="en-US" altLang="en-US" b="1" dirty="0" err="1">
                <a:latin typeface="黑体" panose="02010609060101010101" pitchFamily="49" charset="-122"/>
                <a:ea typeface="黑体" panose="02010609060101010101" pitchFamily="49" charset="-122"/>
              </a:rPr>
              <a:t>的主要目的是区分、识别染色体</a:t>
            </a:r>
            <a:r>
              <a:rPr lang="en-US" altLang="en-US" b="1" dirty="0">
                <a:latin typeface="黑体" panose="02010609060101010101" pitchFamily="49" charset="-122"/>
                <a:ea typeface="黑体" panose="02010609060101010101" pitchFamily="49" charset="-122"/>
              </a:rPr>
              <a:t>。</a:t>
            </a:r>
          </a:p>
          <a:p>
            <a:pPr marL="0" indent="0">
              <a:lnSpc>
                <a:spcPct val="160000"/>
              </a:lnSpc>
              <a:spcBef>
                <a:spcPct val="5000"/>
              </a:spcBef>
              <a:buClr>
                <a:schemeClr val="folHlink"/>
              </a:buClr>
              <a:buNone/>
            </a:pPr>
            <a:r>
              <a:rPr lang="en-US" altLang="zh-CN" b="1" dirty="0">
                <a:latin typeface="黑体" panose="02010609060101010101" pitchFamily="49" charset="-122"/>
                <a:ea typeface="黑体" panose="02010609060101010101" pitchFamily="49" charset="-122"/>
              </a:rPr>
              <a:t>•</a:t>
            </a:r>
            <a:r>
              <a:rPr lang="en-US" altLang="en-US" b="1" dirty="0" err="1">
                <a:latin typeface="黑体" panose="02010609060101010101" pitchFamily="49" charset="-122"/>
                <a:ea typeface="黑体" panose="02010609060101010101" pitchFamily="49" charset="-122"/>
              </a:rPr>
              <a:t>经过染色在光学显微镜下能够观察分析并用于识别的特征主要有</a:t>
            </a:r>
            <a:r>
              <a:rPr lang="en-US" altLang="en-US" b="1" dirty="0">
                <a:latin typeface="黑体" panose="02010609060101010101" pitchFamily="49" charset="-122"/>
                <a:ea typeface="黑体" panose="02010609060101010101" pitchFamily="49" charset="-122"/>
              </a:rPr>
              <a:t>：</a:t>
            </a:r>
          </a:p>
          <a:p>
            <a:pPr marL="457200" lvl="1" indent="0">
              <a:lnSpc>
                <a:spcPct val="160000"/>
              </a:lnSpc>
              <a:spcBef>
                <a:spcPct val="5000"/>
              </a:spcBef>
              <a:buClr>
                <a:schemeClr val="tx2"/>
              </a:buClr>
              <a:buNone/>
            </a:pPr>
            <a:r>
              <a:rPr lang="en-US" altLang="en-US" sz="2800" b="1" dirty="0" err="1">
                <a:solidFill>
                  <a:srgbClr val="0000FF"/>
                </a:solidFill>
                <a:latin typeface="黑体" panose="02010609060101010101" pitchFamily="49" charset="-122"/>
                <a:ea typeface="黑体" panose="02010609060101010101" pitchFamily="49" charset="-122"/>
              </a:rPr>
              <a:t>染色体的大小</a:t>
            </a:r>
            <a:r>
              <a:rPr lang="en-US" altLang="en-US" sz="2800" b="1" dirty="0">
                <a:solidFill>
                  <a:srgbClr val="0000FF"/>
                </a:solidFill>
                <a:latin typeface="黑体" panose="02010609060101010101" pitchFamily="49" charset="-122"/>
                <a:ea typeface="黑体" panose="02010609060101010101" pitchFamily="49" charset="-122"/>
              </a:rPr>
              <a:t>(</a:t>
            </a:r>
            <a:r>
              <a:rPr lang="en-US" altLang="zh-CN" sz="2800" b="1" dirty="0" err="1">
                <a:solidFill>
                  <a:srgbClr val="0000FF"/>
                </a:solidFill>
                <a:latin typeface="黑体" panose="02010609060101010101" pitchFamily="49" charset="-122"/>
                <a:ea typeface="黑体" panose="02010609060101010101" pitchFamily="49" charset="-122"/>
              </a:rPr>
              <a:t>主要</a:t>
            </a:r>
            <a:r>
              <a:rPr lang="en-US" altLang="en-US" sz="2800" b="1" dirty="0" err="1">
                <a:solidFill>
                  <a:srgbClr val="0000FF"/>
                </a:solidFill>
                <a:latin typeface="黑体" panose="02010609060101010101" pitchFamily="49" charset="-122"/>
                <a:ea typeface="黑体" panose="02010609060101010101" pitchFamily="49" charset="-122"/>
              </a:rPr>
              <a:t>是指长度</a:t>
            </a:r>
            <a:r>
              <a:rPr lang="en-US" altLang="en-US" sz="2800" b="1" dirty="0">
                <a:solidFill>
                  <a:srgbClr val="0000FF"/>
                </a:solidFill>
                <a:latin typeface="黑体" panose="02010609060101010101" pitchFamily="49" charset="-122"/>
                <a:ea typeface="黑体" panose="02010609060101010101" pitchFamily="49" charset="-122"/>
              </a:rPr>
              <a:t>)；</a:t>
            </a:r>
          </a:p>
          <a:p>
            <a:pPr marL="457200" lvl="1" indent="0">
              <a:lnSpc>
                <a:spcPct val="160000"/>
              </a:lnSpc>
              <a:spcBef>
                <a:spcPct val="5000"/>
              </a:spcBef>
              <a:buClr>
                <a:schemeClr val="tx2"/>
              </a:buClr>
              <a:buNone/>
            </a:pPr>
            <a:r>
              <a:rPr lang="en-US" altLang="en-US" sz="2800" b="1" dirty="0" err="1">
                <a:solidFill>
                  <a:srgbClr val="0000FF"/>
                </a:solidFill>
                <a:latin typeface="黑体" panose="02010609060101010101" pitchFamily="49" charset="-122"/>
                <a:ea typeface="黑体" panose="02010609060101010101" pitchFamily="49" charset="-122"/>
              </a:rPr>
              <a:t>着丝粒的位置</a:t>
            </a:r>
            <a:r>
              <a:rPr lang="en-US" altLang="en-US" sz="2800" b="1" dirty="0">
                <a:solidFill>
                  <a:srgbClr val="0000FF"/>
                </a:solidFill>
                <a:latin typeface="黑体" panose="02010609060101010101" pitchFamily="49" charset="-122"/>
                <a:ea typeface="黑体" panose="02010609060101010101" pitchFamily="49" charset="-122"/>
              </a:rPr>
              <a:t>(</a:t>
            </a:r>
            <a:r>
              <a:rPr lang="en-US" altLang="en-US" sz="2800" b="1" dirty="0" err="1">
                <a:solidFill>
                  <a:srgbClr val="0000FF"/>
                </a:solidFill>
                <a:latin typeface="黑体" panose="02010609060101010101" pitchFamily="49" charset="-122"/>
                <a:ea typeface="黑体" panose="02010609060101010101" pitchFamily="49" charset="-122"/>
              </a:rPr>
              <a:t>染色体臂的相对长度</a:t>
            </a:r>
            <a:r>
              <a:rPr lang="en-US" altLang="en-US" sz="2800" b="1" dirty="0">
                <a:solidFill>
                  <a:srgbClr val="0000FF"/>
                </a:solidFill>
                <a:latin typeface="黑体" panose="02010609060101010101" pitchFamily="49" charset="-122"/>
                <a:ea typeface="黑体" panose="02010609060101010101" pitchFamily="49" charset="-122"/>
              </a:rPr>
              <a:t>)；</a:t>
            </a:r>
          </a:p>
          <a:p>
            <a:pPr marL="457200" lvl="1" indent="0">
              <a:lnSpc>
                <a:spcPct val="160000"/>
              </a:lnSpc>
              <a:spcBef>
                <a:spcPct val="5000"/>
              </a:spcBef>
              <a:buClr>
                <a:schemeClr val="tx2"/>
              </a:buClr>
              <a:buNone/>
            </a:pPr>
            <a:r>
              <a:rPr lang="en-US" altLang="en-US" sz="2800" b="1" dirty="0" err="1">
                <a:solidFill>
                  <a:srgbClr val="0000FF"/>
                </a:solidFill>
                <a:latin typeface="黑体" panose="02010609060101010101" pitchFamily="49" charset="-122"/>
                <a:ea typeface="黑体" panose="02010609060101010101" pitchFamily="49" charset="-122"/>
              </a:rPr>
              <a:t>次缢痕和随体的有无及位置</a:t>
            </a:r>
            <a:r>
              <a:rPr lang="en-US" altLang="en-US" sz="2800" b="1" dirty="0">
                <a:solidFill>
                  <a:srgbClr val="0000FF"/>
                </a:solidFill>
                <a:latin typeface="黑体" panose="02010609060101010101" pitchFamily="49" charset="-122"/>
                <a:ea typeface="黑体" panose="02010609060101010101" pitchFamily="49" charset="-122"/>
              </a:rPr>
              <a:t>；</a:t>
            </a:r>
          </a:p>
          <a:p>
            <a:pPr marL="457200" lvl="1" indent="0">
              <a:lnSpc>
                <a:spcPct val="160000"/>
              </a:lnSpc>
              <a:spcBef>
                <a:spcPct val="5000"/>
              </a:spcBef>
              <a:buClr>
                <a:schemeClr val="tx2"/>
              </a:buClr>
              <a:buNone/>
            </a:pPr>
            <a:r>
              <a:rPr lang="zh-CN" altLang="en-US" sz="2800" b="1" dirty="0">
                <a:solidFill>
                  <a:srgbClr val="0000FF"/>
                </a:solidFill>
                <a:latin typeface="黑体" panose="02010609060101010101" pitchFamily="49" charset="-122"/>
                <a:ea typeface="黑体" panose="02010609060101010101" pitchFamily="49" charset="-122"/>
              </a:rPr>
              <a:t>端粒；</a:t>
            </a:r>
          </a:p>
          <a:p>
            <a:pPr marL="457200" lvl="1" indent="0">
              <a:lnSpc>
                <a:spcPct val="160000"/>
              </a:lnSpc>
              <a:spcBef>
                <a:spcPct val="5000"/>
              </a:spcBef>
              <a:buClr>
                <a:schemeClr val="tx2"/>
              </a:buClr>
              <a:buNone/>
            </a:pPr>
            <a:r>
              <a:rPr lang="zh-CN" altLang="en-US" sz="2800" b="1" dirty="0">
                <a:solidFill>
                  <a:srgbClr val="0000FF"/>
                </a:solidFill>
                <a:latin typeface="黑体" panose="02010609060101010101" pitchFamily="49" charset="-122"/>
                <a:ea typeface="黑体" panose="02010609060101010101" pitchFamily="49" charset="-122"/>
              </a:rPr>
              <a:t>染色粒等。</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www.zsbeike.com/imgs/A/A12016/a12016.002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416" y="0"/>
            <a:ext cx="910389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313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E:\生物图片和细胞\biopic1\中期染色体.jpg"/>
          <p:cNvPicPr>
            <a:picLocks noGrp="1" noChangeAspect="1"/>
          </p:cNvPicPr>
          <p:nvPr>
            <p:ph sz="half" idx="1"/>
          </p:nvPr>
        </p:nvPicPr>
        <p:blipFill rotWithShape="1">
          <a:blip r:embed="rId2"/>
          <a:srcRect t="998" b="10554"/>
          <a:stretch/>
        </p:blipFill>
        <p:spPr>
          <a:xfrm>
            <a:off x="0" y="0"/>
            <a:ext cx="5325779" cy="6858000"/>
          </a:xfrm>
          <a:noFill/>
          <a:ln>
            <a:noFill/>
          </a:ln>
        </p:spPr>
      </p:pic>
      <p:sp>
        <p:nvSpPr>
          <p:cNvPr id="72707" name="Rectangle 4"/>
          <p:cNvSpPr>
            <a:spLocks noGrp="1" noChangeArrowheads="1"/>
          </p:cNvSpPr>
          <p:nvPr>
            <p:ph sz="half" idx="2"/>
          </p:nvPr>
        </p:nvSpPr>
        <p:spPr bwMode="auto">
          <a:xfrm>
            <a:off x="5067946" y="626388"/>
            <a:ext cx="7124054" cy="48290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染色单体</a:t>
            </a:r>
            <a:r>
              <a:rPr lang="zh-CN" altLang="en-US" sz="2400" b="1" dirty="0">
                <a:latin typeface="黑体" panose="02010609060101010101" pitchFamily="49" charset="-122"/>
                <a:ea typeface="黑体" panose="02010609060101010101" pitchFamily="49" charset="-122"/>
              </a:rPr>
              <a:t>在着丝粒处相连,互称为姐妹染色单体。</a:t>
            </a:r>
          </a:p>
          <a:p>
            <a:pPr>
              <a:spcBef>
                <a:spcPct val="0"/>
              </a:spcBef>
              <a:buFontTx/>
              <a:buNone/>
            </a:pPr>
            <a:endParaRPr lang="zh-CN" altLang="en-US" sz="2400" b="1" dirty="0">
              <a:latin typeface="黑体" panose="02010609060101010101" pitchFamily="49" charset="-122"/>
              <a:ea typeface="黑体" panose="02010609060101010101" pitchFamily="49" charset="-122"/>
            </a:endParaRPr>
          </a:p>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着丝粒和动粒  </a:t>
            </a:r>
          </a:p>
          <a:p>
            <a:pPr>
              <a:spcBef>
                <a:spcPct val="0"/>
              </a:spcBef>
              <a:buFontTx/>
              <a:buNone/>
            </a:pPr>
            <a:r>
              <a:rPr lang="zh-CN" altLang="en-US" sz="2400" b="1" dirty="0">
                <a:solidFill>
                  <a:srgbClr val="0000FF"/>
                </a:solidFill>
                <a:latin typeface="黑体" panose="02010609060101010101" pitchFamily="49" charset="-122"/>
                <a:ea typeface="黑体" panose="02010609060101010101" pitchFamily="49" charset="-122"/>
              </a:rPr>
              <a:t> 着丝粒</a:t>
            </a:r>
            <a:r>
              <a:rPr lang="zh-CN" altLang="en-US" sz="2400" b="1" dirty="0">
                <a:latin typeface="黑体" panose="02010609060101010101" pitchFamily="49" charset="-122"/>
                <a:ea typeface="黑体" panose="02010609060101010101" pitchFamily="49" charset="-122"/>
              </a:rPr>
              <a:t>位于两条染色单体连接处,将染色体分为两个臂。</a:t>
            </a:r>
          </a:p>
          <a:p>
            <a:pPr>
              <a:spcBef>
                <a:spcPct val="0"/>
              </a:spcBef>
              <a:buFontTx/>
              <a:buNone/>
            </a:pPr>
            <a:r>
              <a:rPr lang="zh-CN" altLang="en-US" sz="2400" b="1" dirty="0">
                <a:solidFill>
                  <a:schemeClr val="folHlink"/>
                </a:solidFill>
                <a:latin typeface="黑体" panose="02010609060101010101" pitchFamily="49" charset="-122"/>
                <a:ea typeface="黑体" panose="02010609060101010101" pitchFamily="49" charset="-122"/>
              </a:rPr>
              <a:t> </a:t>
            </a:r>
            <a:r>
              <a:rPr lang="zh-CN" altLang="en-US" sz="2400" b="1" dirty="0">
                <a:solidFill>
                  <a:srgbClr val="0000FF"/>
                </a:solidFill>
                <a:latin typeface="黑体" panose="02010609060101010101" pitchFamily="49" charset="-122"/>
                <a:ea typeface="黑体" panose="02010609060101010101" pitchFamily="49" charset="-122"/>
              </a:rPr>
              <a:t>动粒（着丝点）</a:t>
            </a:r>
            <a:r>
              <a:rPr lang="zh-CN" altLang="en-US" sz="2400" b="1" dirty="0">
                <a:latin typeface="黑体" panose="02010609060101010101" pitchFamily="49" charset="-122"/>
                <a:ea typeface="黑体" panose="02010609060101010101" pitchFamily="49" charset="-122"/>
              </a:rPr>
              <a:t>是着丝粒周围有蛋白质性质的盘状结构，可直接连接纺缍丝，是纺缍丝的附着区域。</a:t>
            </a:r>
          </a:p>
          <a:p>
            <a:pPr>
              <a:spcBef>
                <a:spcPct val="0"/>
              </a:spcBef>
              <a:buFontTx/>
              <a:buNone/>
            </a:pPr>
            <a:endParaRPr lang="zh-CN" altLang="en-US" sz="2400" b="1" dirty="0">
              <a:solidFill>
                <a:srgbClr val="CC0000"/>
              </a:solidFill>
              <a:latin typeface="黑体" panose="02010609060101010101" pitchFamily="49" charset="-122"/>
              <a:ea typeface="黑体" panose="02010609060101010101" pitchFamily="49" charset="-122"/>
            </a:endParaRPr>
          </a:p>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主缢痕和次缢痕</a:t>
            </a:r>
          </a:p>
          <a:p>
            <a:pPr>
              <a:spcBef>
                <a:spcPct val="0"/>
              </a:spcBef>
              <a:buFontTx/>
              <a:buNone/>
            </a:pPr>
            <a:endParaRPr lang="en-US" altLang="zh-CN" sz="2400" b="1" dirty="0">
              <a:latin typeface="黑体" panose="02010609060101010101" pitchFamily="49" charset="-122"/>
              <a:ea typeface="黑体" panose="02010609060101010101" pitchFamily="49" charset="-122"/>
            </a:endParaRPr>
          </a:p>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随体 </a:t>
            </a:r>
            <a:r>
              <a:rPr lang="zh-CN" altLang="en-US" sz="2400" b="1" dirty="0">
                <a:latin typeface="黑体" panose="02010609060101010101" pitchFamily="49" charset="-122"/>
                <a:ea typeface="黑体" panose="02010609060101010101" pitchFamily="49" charset="-122"/>
              </a:rPr>
              <a:t>在有些染色体的短臂近末端，有一棒状或球状的结构，称随体。</a:t>
            </a:r>
          </a:p>
          <a:p>
            <a:pPr>
              <a:spcBef>
                <a:spcPct val="0"/>
              </a:spcBef>
              <a:buFontTx/>
              <a:buNone/>
            </a:pPr>
            <a:endParaRPr lang="zh-CN" altLang="en-US" sz="2400" b="1" dirty="0">
              <a:latin typeface="黑体" panose="02010609060101010101" pitchFamily="49" charset="-122"/>
              <a:ea typeface="黑体" panose="02010609060101010101" pitchFamily="49" charset="-122"/>
            </a:endParaRPr>
          </a:p>
          <a:p>
            <a:pPr>
              <a:spcBef>
                <a:spcPct val="0"/>
              </a:spcBef>
              <a:buFontTx/>
              <a:buNone/>
            </a:pPr>
            <a:r>
              <a:rPr lang="zh-CN" altLang="en-US" sz="2400" b="1" dirty="0">
                <a:solidFill>
                  <a:srgbClr val="FF0000"/>
                </a:solidFill>
                <a:latin typeface="黑体" panose="02010609060101010101" pitchFamily="49" charset="-122"/>
                <a:ea typeface="黑体" panose="02010609060101010101" pitchFamily="49" charset="-122"/>
              </a:rPr>
              <a:t>端粒</a:t>
            </a:r>
            <a:r>
              <a:rPr lang="zh-CN" altLang="en-US" sz="2400" b="1" dirty="0">
                <a:latin typeface="黑体" panose="02010609060101010101" pitchFamily="49" charset="-122"/>
                <a:ea typeface="黑体" panose="02010609060101010101" pitchFamily="49" charset="-122"/>
              </a:rPr>
              <a:t> 是染色体末端的特化部位。</a:t>
            </a:r>
          </a:p>
          <a:p>
            <a:pPr marL="0" indent="0">
              <a:buNone/>
            </a:pP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img2.baidu.com/it/u=958067905,4104524971&amp;fm=253&amp;fmt=auto&amp;app=138&amp;f=JPEG?w=706&amp;h=500"/>
          <p:cNvPicPr>
            <a:picLocks noChangeAspect="1" noChangeArrowheads="1"/>
          </p:cNvPicPr>
          <p:nvPr/>
        </p:nvPicPr>
        <p:blipFill rotWithShape="1">
          <a:blip r:embed="rId2">
            <a:extLst>
              <a:ext uri="{28A0092B-C50C-407E-A947-70E740481C1C}">
                <a14:useLocalDpi xmlns:a14="http://schemas.microsoft.com/office/drawing/2010/main" val="0"/>
              </a:ext>
            </a:extLst>
          </a:blip>
          <a:srcRect l="19927" t="11553" r="13122" b="7091"/>
          <a:stretch/>
        </p:blipFill>
        <p:spPr bwMode="auto">
          <a:xfrm>
            <a:off x="1193370" y="0"/>
            <a:ext cx="7572798" cy="6517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969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bwMode="auto">
          <a:xfrm>
            <a:off x="399495" y="319597"/>
            <a:ext cx="6248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Autofit/>
          </a:bodyPr>
          <a:lstStyle/>
          <a:p>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）染色体的数目</a:t>
            </a:r>
          </a:p>
        </p:txBody>
      </p:sp>
      <p:sp>
        <p:nvSpPr>
          <p:cNvPr id="73731" name="Rectangle 1027"/>
          <p:cNvSpPr>
            <a:spLocks noGrp="1" noChangeArrowheads="1"/>
          </p:cNvSpPr>
          <p:nvPr>
            <p:ph sz="half" idx="1"/>
          </p:nvPr>
        </p:nvSpPr>
        <p:spPr bwMode="auto">
          <a:xfrm>
            <a:off x="658678" y="1096919"/>
            <a:ext cx="11151030" cy="384704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20000"/>
              </a:lnSpc>
              <a:buClr>
                <a:schemeClr val="folHlink"/>
              </a:buClr>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不同生物物种的染色体数目是生物</a:t>
            </a:r>
            <a:r>
              <a:rPr lang="zh-CN" altLang="en-US" b="1" dirty="0">
                <a:solidFill>
                  <a:srgbClr val="FF0000"/>
                </a:solidFill>
                <a:latin typeface="黑体" panose="02010609060101010101" pitchFamily="49" charset="-122"/>
                <a:ea typeface="黑体" panose="02010609060101010101" pitchFamily="49" charset="-122"/>
              </a:rPr>
              <a:t>物种的特征</a:t>
            </a:r>
            <a:r>
              <a:rPr lang="zh-CN" altLang="en-US" b="1" dirty="0">
                <a:latin typeface="黑体" panose="02010609060101010101" pitchFamily="49" charset="-122"/>
                <a:ea typeface="黑体" panose="02010609060101010101" pitchFamily="49" charset="-122"/>
              </a:rPr>
              <a:t>，相对恒定；</a:t>
            </a:r>
            <a:r>
              <a:rPr lang="zh-CN" altLang="en-US" b="1" dirty="0">
                <a:solidFill>
                  <a:srgbClr val="0000FF"/>
                </a:solidFill>
                <a:latin typeface="黑体" panose="02010609060101010101" pitchFamily="49" charset="-122"/>
                <a:ea typeface="黑体" panose="02010609060101010101" pitchFamily="49" charset="-122"/>
              </a:rPr>
              <a:t>体细胞中染色体成对存在(2</a:t>
            </a:r>
            <a:r>
              <a:rPr lang="en-US" altLang="zh-CN" b="1" dirty="0">
                <a:solidFill>
                  <a:srgbClr val="0000FF"/>
                </a:solidFill>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而</a:t>
            </a:r>
            <a:r>
              <a:rPr lang="zh-CN" altLang="en-US" b="1" dirty="0">
                <a:solidFill>
                  <a:srgbClr val="0000FF"/>
                </a:solidFill>
                <a:latin typeface="黑体" panose="02010609060101010101" pitchFamily="49" charset="-122"/>
                <a:ea typeface="黑体" panose="02010609060101010101" pitchFamily="49" charset="-122"/>
              </a:rPr>
              <a:t>配子中染色体数目是体细胞中的一半(</a:t>
            </a:r>
            <a:r>
              <a:rPr lang="en-US" altLang="zh-CN" b="1" dirty="0">
                <a:solidFill>
                  <a:srgbClr val="0000FF"/>
                </a:solidFill>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如人2</a:t>
            </a:r>
            <a:r>
              <a:rPr lang="en-US" altLang="zh-CN" b="1" dirty="0">
                <a:latin typeface="黑体" panose="02010609060101010101" pitchFamily="49" charset="-122"/>
                <a:ea typeface="黑体" panose="02010609060101010101" pitchFamily="49" charset="-122"/>
              </a:rPr>
              <a:t>n=46，</a:t>
            </a:r>
            <a:r>
              <a:rPr lang="zh-CN" altLang="en-US" b="1" dirty="0">
                <a:latin typeface="黑体" panose="02010609060101010101" pitchFamily="49" charset="-122"/>
                <a:ea typeface="黑体" panose="02010609060101010101" pitchFamily="49" charset="-122"/>
              </a:rPr>
              <a:t>果蝇2</a:t>
            </a:r>
            <a:r>
              <a:rPr lang="en-US" altLang="zh-CN" b="1" dirty="0">
                <a:latin typeface="黑体" panose="02010609060101010101" pitchFamily="49" charset="-122"/>
                <a:ea typeface="黑体" panose="02010609060101010101" pitchFamily="49" charset="-122"/>
              </a:rPr>
              <a:t>n=8，</a:t>
            </a:r>
            <a:r>
              <a:rPr lang="zh-CN" altLang="en-US" b="1" dirty="0">
                <a:latin typeface="黑体" panose="02010609060101010101" pitchFamily="49" charset="-122"/>
                <a:ea typeface="黑体" panose="02010609060101010101" pitchFamily="49" charset="-122"/>
              </a:rPr>
              <a:t>洋葱2</a:t>
            </a:r>
            <a:r>
              <a:rPr lang="en-US" altLang="zh-CN" b="1" dirty="0">
                <a:latin typeface="黑体" panose="02010609060101010101" pitchFamily="49" charset="-122"/>
                <a:ea typeface="黑体" panose="02010609060101010101" pitchFamily="49" charset="-122"/>
              </a:rPr>
              <a:t>n=16，</a:t>
            </a:r>
            <a:r>
              <a:rPr lang="zh-CN" altLang="en-US" b="1" dirty="0">
                <a:latin typeface="黑体" panose="02010609060101010101" pitchFamily="49" charset="-122"/>
                <a:ea typeface="黑体" panose="02010609060101010101" pitchFamily="49" charset="-122"/>
              </a:rPr>
              <a:t>蚕豆2</a:t>
            </a:r>
            <a:r>
              <a:rPr lang="en-US" altLang="zh-CN" b="1" dirty="0">
                <a:latin typeface="黑体" panose="02010609060101010101" pitchFamily="49" charset="-122"/>
                <a:ea typeface="黑体" panose="02010609060101010101" pitchFamily="49" charset="-122"/>
              </a:rPr>
              <a:t>n=12，</a:t>
            </a:r>
            <a:r>
              <a:rPr lang="zh-CN" altLang="en-US" b="1" dirty="0">
                <a:latin typeface="黑体" panose="02010609060101010101" pitchFamily="49" charset="-122"/>
                <a:ea typeface="黑体" panose="02010609060101010101" pitchFamily="49" charset="-122"/>
              </a:rPr>
              <a:t>等。</a:t>
            </a:r>
          </a:p>
          <a:p>
            <a:pPr marL="0" indent="0">
              <a:lnSpc>
                <a:spcPct val="120000"/>
              </a:lnSpc>
              <a:buClr>
                <a:schemeClr val="folHlink"/>
              </a:buClr>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体细胞中</a:t>
            </a:r>
            <a:r>
              <a:rPr lang="zh-CN" altLang="en-US" b="1" dirty="0">
                <a:solidFill>
                  <a:srgbClr val="0000FF"/>
                </a:solidFill>
                <a:latin typeface="黑体" panose="02010609060101010101" pitchFamily="49" charset="-122"/>
                <a:ea typeface="黑体" panose="02010609060101010101" pitchFamily="49" charset="-122"/>
              </a:rPr>
              <a:t>形态结构相同</a:t>
            </a:r>
            <a:r>
              <a:rPr lang="zh-CN" altLang="en-US" b="1" dirty="0">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遗传功能相似</a:t>
            </a:r>
            <a:r>
              <a:rPr lang="zh-CN" altLang="en-US" b="1" dirty="0">
                <a:latin typeface="黑体" panose="02010609060101010101" pitchFamily="49" charset="-122"/>
                <a:ea typeface="黑体" panose="02010609060101010101" pitchFamily="49" charset="-122"/>
              </a:rPr>
              <a:t>的一对染色体称为</a:t>
            </a:r>
            <a:r>
              <a:rPr lang="zh-CN" altLang="en-US" b="1" dirty="0">
                <a:solidFill>
                  <a:srgbClr val="FF0000"/>
                </a:solidFill>
                <a:latin typeface="黑体" panose="02010609060101010101" pitchFamily="49" charset="-122"/>
                <a:ea typeface="黑体" panose="02010609060101010101" pitchFamily="49" charset="-122"/>
              </a:rPr>
              <a:t>同源染色体(</a:t>
            </a:r>
            <a:r>
              <a:rPr lang="en-US" altLang="zh-CN" b="1" dirty="0">
                <a:solidFill>
                  <a:srgbClr val="FF0000"/>
                </a:solidFill>
                <a:latin typeface="黑体" panose="02010609060101010101" pitchFamily="49" charset="-122"/>
                <a:ea typeface="黑体" panose="02010609060101010101" pitchFamily="49" charset="-122"/>
              </a:rPr>
              <a:t>homologous chromosome)</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两条同源染色体分别来自生物双亲。</a:t>
            </a:r>
          </a:p>
          <a:p>
            <a:pPr marL="0" indent="0">
              <a:lnSpc>
                <a:spcPct val="120000"/>
              </a:lnSpc>
              <a:buClr>
                <a:schemeClr val="folHlink"/>
              </a:buClr>
              <a:buNone/>
            </a:pPr>
            <a:r>
              <a:rPr lang="en-US" altLang="zh-CN" b="1" dirty="0">
                <a:latin typeface="黑体" panose="02010609060101010101" pitchFamily="49" charset="-122"/>
                <a:ea typeface="黑体" panose="02010609060101010101" pitchFamily="49" charset="-12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bwMode="auto">
          <a:xfrm>
            <a:off x="389878" y="582967"/>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noProof="1">
                <a:latin typeface="黑体" panose="02010609060101010101" pitchFamily="49" charset="-122"/>
                <a:ea typeface="黑体" panose="02010609060101010101" pitchFamily="49" charset="-122"/>
              </a:rPr>
              <a:t>（</a:t>
            </a:r>
            <a:r>
              <a:rPr lang="en-US" altLang="zh-CN" sz="3200" b="1" noProof="1">
                <a:latin typeface="黑体" panose="02010609060101010101" pitchFamily="49" charset="-122"/>
                <a:ea typeface="黑体" panose="02010609060101010101" pitchFamily="49" charset="-122"/>
              </a:rPr>
              <a:t>3</a:t>
            </a:r>
            <a:r>
              <a:rPr lang="zh-CN" altLang="en-US" sz="3200" b="1" noProof="1">
                <a:latin typeface="黑体" panose="02010609060101010101" pitchFamily="49" charset="-122"/>
                <a:ea typeface="黑体" panose="02010609060101010101" pitchFamily="49" charset="-122"/>
              </a:rPr>
              <a:t>）特殊类型的染色体</a:t>
            </a:r>
            <a:endParaRPr lang="zh-CN" altLang="en-US" sz="3200" b="1" dirty="0">
              <a:latin typeface="黑体" panose="02010609060101010101" pitchFamily="49" charset="-122"/>
              <a:ea typeface="黑体" panose="02010609060101010101" pitchFamily="49" charset="-122"/>
            </a:endParaRPr>
          </a:p>
        </p:txBody>
      </p:sp>
      <p:sp>
        <p:nvSpPr>
          <p:cNvPr id="76803" name="Rectangle 1027"/>
          <p:cNvSpPr>
            <a:spLocks noGrp="1" noChangeArrowheads="1"/>
          </p:cNvSpPr>
          <p:nvPr>
            <p:ph idx="1"/>
          </p:nvPr>
        </p:nvSpPr>
        <p:spPr bwMode="auto">
          <a:xfrm>
            <a:off x="1366422" y="1168893"/>
            <a:ext cx="35814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60000"/>
              </a:lnSpc>
              <a:buClr>
                <a:schemeClr val="folHlink"/>
              </a:buClr>
              <a:buNone/>
            </a:pPr>
            <a:r>
              <a:rPr lang="zh-CN" altLang="en-US" sz="3200" b="1" noProof="1">
                <a:latin typeface="黑体" panose="02010609060101010101" pitchFamily="49" charset="-122"/>
                <a:ea typeface="黑体" panose="02010609060101010101" pitchFamily="49" charset="-122"/>
              </a:rPr>
              <a:t> </a:t>
            </a:r>
            <a:r>
              <a:rPr lang="zh-CN" altLang="en-US" sz="3200" b="1" noProof="1">
                <a:solidFill>
                  <a:srgbClr val="0000FF"/>
                </a:solidFill>
                <a:latin typeface="黑体" panose="02010609060101010101" pitchFamily="49" charset="-122"/>
                <a:ea typeface="黑体" panose="02010609060101010101" pitchFamily="49" charset="-122"/>
              </a:rPr>
              <a:t>多线染色体</a:t>
            </a:r>
            <a:endParaRPr lang="en-US" altLang="en-US" sz="3200" b="1" dirty="0">
              <a:solidFill>
                <a:srgbClr val="0000FF"/>
              </a:solidFill>
              <a:latin typeface="黑体" panose="02010609060101010101" pitchFamily="49" charset="-122"/>
              <a:ea typeface="黑体" panose="02010609060101010101" pitchFamily="49" charset="-122"/>
            </a:endParaRPr>
          </a:p>
          <a:p>
            <a:pPr marL="0" indent="0">
              <a:lnSpc>
                <a:spcPct val="160000"/>
              </a:lnSpc>
              <a:buClr>
                <a:schemeClr val="folHlink"/>
              </a:buClr>
              <a:buNone/>
            </a:pPr>
            <a:r>
              <a:rPr lang="en-US" altLang="en-US" sz="3200" b="1" dirty="0">
                <a:solidFill>
                  <a:srgbClr val="0000FF"/>
                </a:solidFill>
                <a:latin typeface="黑体" panose="02010609060101010101" pitchFamily="49" charset="-122"/>
                <a:ea typeface="黑体" panose="02010609060101010101" pitchFamily="49" charset="-122"/>
              </a:rPr>
              <a:t> </a:t>
            </a:r>
            <a:r>
              <a:rPr lang="en-US" altLang="en-US" sz="3200" b="1" dirty="0" err="1">
                <a:solidFill>
                  <a:srgbClr val="0000FF"/>
                </a:solidFill>
                <a:latin typeface="黑体" panose="02010609060101010101" pitchFamily="49" charset="-122"/>
                <a:ea typeface="黑体" panose="02010609060101010101" pitchFamily="49" charset="-122"/>
              </a:rPr>
              <a:t>灯刷染色体</a:t>
            </a:r>
            <a:endParaRPr lang="en-US" altLang="en-US" sz="3200" b="1" dirty="0">
              <a:solidFill>
                <a:srgbClr val="0000FF"/>
              </a:solidFill>
              <a:latin typeface="黑体" panose="02010609060101010101" pitchFamily="49" charset="-122"/>
              <a:ea typeface="黑体" panose="02010609060101010101" pitchFamily="49" charset="-122"/>
            </a:endParaRPr>
          </a:p>
          <a:p>
            <a:pPr marL="0" indent="0">
              <a:lnSpc>
                <a:spcPct val="160000"/>
              </a:lnSpc>
              <a:buClr>
                <a:schemeClr val="folHlink"/>
              </a:buClr>
              <a:buNone/>
            </a:pPr>
            <a:r>
              <a:rPr lang="en-US" altLang="en-US" sz="3200" b="1" dirty="0">
                <a:solidFill>
                  <a:srgbClr val="0000FF"/>
                </a:solidFill>
                <a:latin typeface="黑体" panose="02010609060101010101" pitchFamily="49" charset="-122"/>
                <a:ea typeface="黑体" panose="02010609060101010101" pitchFamily="49" charset="-122"/>
              </a:rPr>
              <a:t> </a:t>
            </a:r>
            <a:r>
              <a:rPr lang="en-US" altLang="en-US" sz="3200" b="1" dirty="0" err="1">
                <a:solidFill>
                  <a:srgbClr val="0000FF"/>
                </a:solidFill>
                <a:latin typeface="黑体" panose="02010609060101010101" pitchFamily="49" charset="-122"/>
                <a:ea typeface="黑体" panose="02010609060101010101" pitchFamily="49" charset="-122"/>
              </a:rPr>
              <a:t>B染色体</a:t>
            </a:r>
            <a:endParaRPr lang="zh-CN" altLang="en-US" sz="32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bwMode="auto">
          <a:xfrm>
            <a:off x="4252404" y="303320"/>
            <a:ext cx="6629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noProof="1">
                <a:latin typeface="黑体" panose="02010609060101010101" pitchFamily="49" charset="-122"/>
                <a:ea typeface="黑体" panose="02010609060101010101" pitchFamily="49" charset="-122"/>
              </a:rPr>
              <a:t> </a:t>
            </a:r>
            <a:r>
              <a:rPr lang="zh-CN" altLang="en-US" sz="3200" b="1" noProof="1">
                <a:solidFill>
                  <a:srgbClr val="0000FF"/>
                </a:solidFill>
                <a:latin typeface="黑体" panose="02010609060101010101" pitchFamily="49" charset="-122"/>
                <a:ea typeface="黑体" panose="02010609060101010101" pitchFamily="49" charset="-122"/>
              </a:rPr>
              <a:t>多线染色体</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7827" name="Rectangle 1027"/>
          <p:cNvSpPr>
            <a:spLocks noGrp="1" noChangeArrowheads="1"/>
          </p:cNvSpPr>
          <p:nvPr>
            <p:ph idx="1"/>
          </p:nvPr>
        </p:nvSpPr>
        <p:spPr bwMode="auto">
          <a:xfrm>
            <a:off x="320298" y="790225"/>
            <a:ext cx="11871702" cy="586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30000"/>
              </a:lnSpc>
              <a:buClr>
                <a:schemeClr val="folHlink"/>
              </a:buClr>
              <a:buNone/>
            </a:pPr>
            <a:r>
              <a:rPr lang="en-US" altLang="zh-CN" b="1" dirty="0">
                <a:latin typeface="等线" panose="02010600030101010101" charset="-122"/>
                <a:ea typeface="等线" panose="02010600030101010101" charset="-122"/>
              </a:rPr>
              <a:t>•</a:t>
            </a:r>
            <a:r>
              <a:rPr lang="zh-CN" altLang="en-US" b="1" dirty="0">
                <a:latin typeface="黑体" panose="02010609060101010101" pitchFamily="49" charset="-122"/>
                <a:ea typeface="黑体" panose="02010609060101010101" pitchFamily="49" charset="-122"/>
              </a:rPr>
              <a:t>单线性与多线性：</a:t>
            </a:r>
          </a:p>
          <a:p>
            <a:pPr marL="457200" lvl="1" indent="0">
              <a:lnSpc>
                <a:spcPct val="130000"/>
              </a:lnSpc>
              <a:buClr>
                <a:srgbClr val="FFCC99"/>
              </a:buClr>
              <a:buNone/>
            </a:pPr>
            <a:r>
              <a:rPr lang="zh-CN" altLang="en-US" b="1" dirty="0">
                <a:latin typeface="黑体" panose="02010609060101010101" pitchFamily="49" charset="-122"/>
                <a:ea typeface="黑体" panose="02010609060101010101" pitchFamily="49" charset="-122"/>
              </a:rPr>
              <a:t>染色体在通常情况下具有单线性，但是</a:t>
            </a:r>
            <a:r>
              <a:rPr lang="zh-CN" altLang="en-US" b="1" dirty="0">
                <a:solidFill>
                  <a:srgbClr val="0000FF"/>
                </a:solidFill>
                <a:latin typeface="黑体" panose="02010609060101010101" pitchFamily="49" charset="-122"/>
                <a:ea typeface="黑体" panose="02010609060101010101" pitchFamily="49" charset="-122"/>
              </a:rPr>
              <a:t>双翅目昆虫(摇蚊、果蝇)的幼虫唾液腺、肠、马氏管</a:t>
            </a:r>
            <a:r>
              <a:rPr lang="zh-CN" altLang="en-US" b="1" dirty="0">
                <a:latin typeface="黑体" panose="02010609060101010101" pitchFamily="49" charset="-122"/>
                <a:ea typeface="黑体" panose="02010609060101010101" pitchFamily="49" charset="-122"/>
              </a:rPr>
              <a:t>等的细胞中存在</a:t>
            </a:r>
            <a:r>
              <a:rPr lang="zh-CN" altLang="en-US" b="1" dirty="0">
                <a:solidFill>
                  <a:srgbClr val="FF0000"/>
                </a:solidFill>
                <a:latin typeface="黑体" panose="02010609060101010101" pitchFamily="49" charset="-122"/>
                <a:ea typeface="黑体" panose="02010609060101010101" pitchFamily="49" charset="-122"/>
              </a:rPr>
              <a:t>巨染色体(</a:t>
            </a:r>
            <a:r>
              <a:rPr lang="en-US" altLang="zh-CN" b="1" dirty="0" err="1">
                <a:solidFill>
                  <a:srgbClr val="FF0000"/>
                </a:solidFill>
                <a:latin typeface="黑体" panose="02010609060101010101" pitchFamily="49" charset="-122"/>
                <a:ea typeface="黑体" panose="02010609060101010101" pitchFamily="49" charset="-122"/>
              </a:rPr>
              <a:t>gaint</a:t>
            </a:r>
            <a:r>
              <a:rPr lang="en-US" altLang="zh-CN" b="1" dirty="0">
                <a:solidFill>
                  <a:srgbClr val="FF0000"/>
                </a:solidFill>
                <a:latin typeface="黑体" panose="02010609060101010101" pitchFamily="49" charset="-122"/>
                <a:ea typeface="黑体" panose="02010609060101010101" pitchFamily="49" charset="-122"/>
              </a:rPr>
              <a:t> chromosome)</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由具有多达2048条染色质线(</a:t>
            </a:r>
            <a:r>
              <a:rPr lang="zh-CN" altLang="en-US" b="1" dirty="0">
                <a:solidFill>
                  <a:srgbClr val="FF0000"/>
                </a:solidFill>
                <a:latin typeface="黑体" panose="02010609060101010101" pitchFamily="49" charset="-122"/>
                <a:ea typeface="黑体" panose="02010609060101010101" pitchFamily="49" charset="-122"/>
              </a:rPr>
              <a:t>多线性</a:t>
            </a:r>
            <a:r>
              <a:rPr lang="zh-CN" altLang="en-US" b="1" dirty="0">
                <a:latin typeface="黑体" panose="02010609060101010101" pitchFamily="49" charset="-122"/>
                <a:ea typeface="黑体" panose="02010609060101010101" pitchFamily="49" charset="-122"/>
              </a:rPr>
              <a:t>)组成。</a:t>
            </a:r>
          </a:p>
          <a:p>
            <a:pPr marL="0" indent="0">
              <a:lnSpc>
                <a:spcPct val="130000"/>
              </a:lnSpc>
              <a:buClr>
                <a:schemeClr val="folHlink"/>
              </a:buClr>
              <a:buNone/>
            </a:pPr>
            <a:r>
              <a:rPr lang="en-US" altLang="zh-CN" b="1" dirty="0">
                <a:latin typeface="等线" panose="02010600030101010101" charset="-122"/>
              </a:rPr>
              <a:t>•</a:t>
            </a:r>
            <a:r>
              <a:rPr lang="zh-CN" altLang="en-US" b="1" dirty="0">
                <a:latin typeface="黑体" panose="02010609060101010101" pitchFamily="49" charset="-122"/>
                <a:ea typeface="黑体" panose="02010609060101010101" pitchFamily="49" charset="-122"/>
              </a:rPr>
              <a:t>多线染色体产生于</a:t>
            </a:r>
            <a:r>
              <a:rPr lang="zh-CN" altLang="en-US" b="1" dirty="0">
                <a:solidFill>
                  <a:srgbClr val="FF0000"/>
                </a:solidFill>
                <a:latin typeface="黑体" panose="02010609060101010101" pitchFamily="49" charset="-122"/>
                <a:ea typeface="黑体" panose="02010609060101010101" pitchFamily="49" charset="-122"/>
              </a:rPr>
              <a:t>内源有丝分裂</a:t>
            </a:r>
            <a:r>
              <a:rPr lang="zh-CN" altLang="en-US" b="1" dirty="0">
                <a:latin typeface="黑体" panose="02010609060101010101" pitchFamily="49" charset="-122"/>
                <a:ea typeface="黑体" panose="02010609060101010101" pitchFamily="49" charset="-122"/>
              </a:rPr>
              <a:t>：</a:t>
            </a:r>
          </a:p>
          <a:p>
            <a:pPr marL="457200" lvl="1" indent="0">
              <a:lnSpc>
                <a:spcPct val="130000"/>
              </a:lnSpc>
              <a:buClr>
                <a:srgbClr val="FFCC99"/>
              </a:buClr>
              <a:buNone/>
            </a:pPr>
            <a:r>
              <a:rPr lang="zh-CN" altLang="en-US" b="1" dirty="0">
                <a:solidFill>
                  <a:srgbClr val="0000FF"/>
                </a:solidFill>
                <a:latin typeface="黑体" panose="02010609060101010101" pitchFamily="49" charset="-122"/>
                <a:ea typeface="黑体" panose="02010609060101010101" pitchFamily="49" charset="-122"/>
              </a:rPr>
              <a:t>染色体在间期正常进行复制</a:t>
            </a:r>
            <a:r>
              <a:rPr lang="zh-CN" altLang="en-US" b="1" dirty="0">
                <a:latin typeface="黑体" panose="02010609060101010101" pitchFamily="49" charset="-122"/>
                <a:ea typeface="黑体" panose="02010609060101010101" pitchFamily="49" charset="-122"/>
              </a:rPr>
              <a:t>，但</a:t>
            </a:r>
            <a:r>
              <a:rPr lang="zh-CN" altLang="en-US" b="1" dirty="0">
                <a:solidFill>
                  <a:srgbClr val="0000FF"/>
                </a:solidFill>
                <a:latin typeface="黑体" panose="02010609060101010101" pitchFamily="49" charset="-122"/>
                <a:ea typeface="黑体" panose="02010609060101010101" pitchFamily="49" charset="-122"/>
              </a:rPr>
              <a:t>未发生着丝粒分裂和染色单体分离</a:t>
            </a:r>
            <a:r>
              <a:rPr lang="zh-CN" altLang="en-US" b="1" dirty="0">
                <a:latin typeface="黑体" panose="02010609060101010101" pitchFamily="49" charset="-122"/>
                <a:ea typeface="黑体" panose="02010609060101010101" pitchFamily="49" charset="-122"/>
              </a:rPr>
              <a:t>，导致一条染色体的染色单体数目成培增长。</a:t>
            </a:r>
          </a:p>
          <a:p>
            <a:pPr marL="0" indent="0">
              <a:lnSpc>
                <a:spcPct val="130000"/>
              </a:lnSpc>
              <a:buClr>
                <a:schemeClr val="folHlink"/>
              </a:buClr>
              <a:buNone/>
            </a:pPr>
            <a:r>
              <a:rPr lang="zh-CN" altLang="en-US" b="1" dirty="0">
                <a:latin typeface="黑体" panose="02010609060101010101" pitchFamily="49" charset="-122"/>
                <a:ea typeface="黑体" panose="02010609060101010101" pitchFamily="49" charset="-122"/>
              </a:rPr>
              <a:t>例：在果蝇中唾腺染色体经10-11次内源有丝分裂可形成1024、2048条染色质线的多线染色体。</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bwMode="auto">
          <a:xfrm>
            <a:off x="2895600" y="2286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en-US" sz="3200" b="1" dirty="0" err="1">
                <a:latin typeface="黑体" panose="02010609060101010101" pitchFamily="49" charset="-122"/>
                <a:ea typeface="黑体" panose="02010609060101010101" pitchFamily="49" charset="-122"/>
              </a:rPr>
              <a:t>细胞分裂间期</a:t>
            </a:r>
            <a:r>
              <a:rPr lang="zh-CN" altLang="en-US" sz="3200" b="1" dirty="0">
                <a:latin typeface="黑体" panose="02010609060101010101" pitchFamily="49" charset="-122"/>
                <a:ea typeface="黑体" panose="02010609060101010101" pitchFamily="49" charset="-122"/>
              </a:rPr>
              <a:t>多线染色体的形态</a:t>
            </a:r>
          </a:p>
        </p:txBody>
      </p:sp>
      <p:sp>
        <p:nvSpPr>
          <p:cNvPr id="78851" name="Rectangle 1027"/>
          <p:cNvSpPr>
            <a:spLocks noGrp="1" noChangeArrowheads="1"/>
          </p:cNvSpPr>
          <p:nvPr>
            <p:ph idx="1"/>
          </p:nvPr>
        </p:nvSpPr>
        <p:spPr bwMode="auto">
          <a:xfrm>
            <a:off x="503695" y="762000"/>
            <a:ext cx="11688305" cy="2590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30000"/>
              </a:lnSpc>
              <a:buClr>
                <a:schemeClr val="folHlink"/>
              </a:buClr>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由于</a:t>
            </a:r>
            <a:r>
              <a:rPr lang="zh-CN" altLang="en-US" b="1" dirty="0">
                <a:solidFill>
                  <a:srgbClr val="0000FF"/>
                </a:solidFill>
                <a:latin typeface="黑体" panose="02010609060101010101" pitchFamily="49" charset="-122"/>
                <a:ea typeface="黑体" panose="02010609060101010101" pitchFamily="49" charset="-122"/>
              </a:rPr>
              <a:t>成百上千的染色质线并排</a:t>
            </a:r>
            <a:r>
              <a:rPr lang="zh-CN" altLang="en-US" b="1" dirty="0">
                <a:latin typeface="黑体" panose="02010609060101010101" pitchFamily="49" charset="-122"/>
                <a:ea typeface="黑体" panose="02010609060101010101" pitchFamily="49" charset="-122"/>
              </a:rPr>
              <a:t>，就使染色体由于不同区段的螺旋化程度差异而</a:t>
            </a:r>
            <a:r>
              <a:rPr lang="zh-CN" altLang="en-US" b="1" dirty="0">
                <a:solidFill>
                  <a:srgbClr val="0000FF"/>
                </a:solidFill>
                <a:latin typeface="黑体" panose="02010609060101010101" pitchFamily="49" charset="-122"/>
                <a:ea typeface="黑体" panose="02010609060101010101" pitchFamily="49" charset="-122"/>
              </a:rPr>
              <a:t>在间期呈现清晰的带纹</a:t>
            </a:r>
            <a:r>
              <a:rPr lang="zh-CN" altLang="en-US" b="1" dirty="0">
                <a:latin typeface="黑体" panose="02010609060101010101" pitchFamily="49" charset="-122"/>
                <a:ea typeface="黑体" panose="02010609060101010101" pitchFamily="49" charset="-122"/>
              </a:rPr>
              <a:t>。</a:t>
            </a:r>
          </a:p>
          <a:p>
            <a:pPr marL="0" indent="0">
              <a:lnSpc>
                <a:spcPct val="130000"/>
              </a:lnSpc>
              <a:buClr>
                <a:schemeClr val="folHlink"/>
              </a:buClr>
              <a:buNone/>
            </a:pPr>
            <a:r>
              <a:rPr lang="en-US" altLang="zh-CN" b="1" dirty="0">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染色体的螺旋化程度体现了染色质遗传活性</a:t>
            </a:r>
            <a:r>
              <a:rPr lang="zh-CN" altLang="en-US" b="1" dirty="0">
                <a:latin typeface="黑体" panose="02010609060101010101" pitchFamily="49" charset="-122"/>
                <a:ea typeface="黑体" panose="02010609060101010101" pitchFamily="49" charset="-122"/>
              </a:rPr>
              <a:t>，因而</a:t>
            </a:r>
            <a:r>
              <a:rPr lang="zh-CN" altLang="en-US" b="1" dirty="0">
                <a:solidFill>
                  <a:srgbClr val="0000FF"/>
                </a:solidFill>
                <a:latin typeface="黑体" panose="02010609060101010101" pitchFamily="49" charset="-122"/>
                <a:ea typeface="黑体" panose="02010609060101010101" pitchFamily="49" charset="-122"/>
              </a:rPr>
              <a:t>横纹的深浅和变化</a:t>
            </a:r>
            <a:r>
              <a:rPr lang="zh-CN" altLang="en-US" b="1" dirty="0">
                <a:latin typeface="黑体" panose="02010609060101010101" pitchFamily="49" charset="-122"/>
                <a:ea typeface="黑体" panose="02010609060101010101" pitchFamily="49" charset="-122"/>
              </a:rPr>
              <a:t>也可以作为</a:t>
            </a:r>
            <a:r>
              <a:rPr lang="zh-CN" altLang="en-US" b="1" dirty="0">
                <a:solidFill>
                  <a:srgbClr val="0000FF"/>
                </a:solidFill>
                <a:latin typeface="黑体" panose="02010609060101010101" pitchFamily="49" charset="-122"/>
                <a:ea typeface="黑体" panose="02010609060101010101" pitchFamily="49" charset="-122"/>
              </a:rPr>
              <a:t>研究基因活性差异的依据</a:t>
            </a:r>
            <a:r>
              <a:rPr lang="zh-CN" altLang="en-US" b="1" dirty="0">
                <a:latin typeface="黑体" panose="02010609060101010101" pitchFamily="49" charset="-122"/>
                <a:ea typeface="黑体" panose="02010609060101010101" pitchFamily="49" charset="-122"/>
              </a:rPr>
              <a:t>。</a:t>
            </a:r>
          </a:p>
        </p:txBody>
      </p:sp>
      <p:pic>
        <p:nvPicPr>
          <p:cNvPr id="29700" name="Picture 10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213717"/>
            <a:ext cx="9144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dissolve">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img0.baidu.com/it/u=1435844751,483770825&amp;fm=253&amp;fmt=auto&amp;app=138&amp;f=JPEG?w=393&amp;h=3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7656" y="0"/>
            <a:ext cx="8500229" cy="687804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821396" y="98177"/>
            <a:ext cx="990977" cy="523220"/>
          </a:xfrm>
          <a:prstGeom prst="rect">
            <a:avLst/>
          </a:prstGeom>
        </p:spPr>
        <p:txBody>
          <a:bodyPr wrap="none">
            <a:spAutoFit/>
          </a:bodyPr>
          <a:lstStyle/>
          <a:p>
            <a:r>
              <a:rPr lang="en-US" altLang="zh-CN" sz="2800" b="1" dirty="0">
                <a:solidFill>
                  <a:srgbClr val="FF0000"/>
                </a:solidFill>
              </a:rPr>
              <a:t>P229</a:t>
            </a:r>
            <a:endParaRPr lang="zh-CN" altLang="en-US" sz="2800" b="1" dirty="0">
              <a:solidFill>
                <a:srgbClr val="FF0000"/>
              </a:solidFill>
            </a:endParaRPr>
          </a:p>
        </p:txBody>
      </p:sp>
    </p:spTree>
    <p:extLst>
      <p:ext uri="{BB962C8B-B14F-4D97-AF65-F5344CB8AC3E}">
        <p14:creationId xmlns:p14="http://schemas.microsoft.com/office/powerpoint/2010/main" val="403402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26"/>
          <p:cNvSpPr>
            <a:spLocks noGrp="1" noChangeArrowheads="1"/>
          </p:cNvSpPr>
          <p:nvPr>
            <p:ph type="title"/>
          </p:nvPr>
        </p:nvSpPr>
        <p:spPr bwMode="auto">
          <a:xfrm>
            <a:off x="4296052" y="159797"/>
            <a:ext cx="23622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noProof="1">
                <a:solidFill>
                  <a:srgbClr val="0000FF"/>
                </a:solidFill>
                <a:latin typeface="黑体" panose="02010609060101010101" pitchFamily="49" charset="-122"/>
                <a:ea typeface="黑体" panose="02010609060101010101" pitchFamily="49" charset="-122"/>
              </a:rPr>
              <a:t>灯刷染色体</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79875" name="Rectangle 1027"/>
          <p:cNvSpPr>
            <a:spLocks noGrp="1" noChangeArrowheads="1"/>
          </p:cNvSpPr>
          <p:nvPr>
            <p:ph sz="half" idx="1"/>
          </p:nvPr>
        </p:nvSpPr>
        <p:spPr bwMode="auto">
          <a:xfrm>
            <a:off x="247973" y="599267"/>
            <a:ext cx="11809708" cy="1547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457200" lvl="1" indent="0" eaLnBrk="0">
              <a:lnSpc>
                <a:spcPct val="100000"/>
              </a:lnSpc>
              <a:spcBef>
                <a:spcPts val="0"/>
              </a:spcBef>
              <a:buClr>
                <a:srgbClr val="FFCC99"/>
              </a:buClr>
              <a:buNone/>
            </a:pPr>
            <a:r>
              <a:rPr lang="zh-CN" altLang="en-US" sz="2800" b="1" dirty="0">
                <a:latin typeface="黑体" panose="02010609060101010101" pitchFamily="49" charset="-122"/>
                <a:ea typeface="黑体" panose="02010609060101010101" pitchFamily="49" charset="-122"/>
              </a:rPr>
              <a:t>    是在一些</a:t>
            </a:r>
            <a:r>
              <a:rPr lang="zh-CN" altLang="en-US" sz="2800" b="1" dirty="0">
                <a:solidFill>
                  <a:srgbClr val="0000FF"/>
                </a:solidFill>
                <a:latin typeface="黑体" panose="02010609060101010101" pitchFamily="49" charset="-122"/>
                <a:ea typeface="黑体" panose="02010609060101010101" pitchFamily="49" charset="-122"/>
              </a:rPr>
              <a:t>动物的初级卵细胞双线期</a:t>
            </a:r>
            <a:r>
              <a:rPr lang="zh-CN" altLang="en-US"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果蝇属的精细胞的</a:t>
            </a:r>
            <a:r>
              <a:rPr lang="en-US" altLang="zh-CN" sz="2800" b="1" dirty="0">
                <a:solidFill>
                  <a:srgbClr val="0000FF"/>
                </a:solidFill>
                <a:latin typeface="黑体" panose="02010609060101010101" pitchFamily="49" charset="-122"/>
                <a:ea typeface="黑体" panose="02010609060101010101" pitchFamily="49" charset="-122"/>
              </a:rPr>
              <a:t>Y</a:t>
            </a:r>
            <a:r>
              <a:rPr lang="zh-CN" altLang="en-US" sz="2800" b="1" dirty="0">
                <a:solidFill>
                  <a:srgbClr val="0000FF"/>
                </a:solidFill>
                <a:latin typeface="黑体" panose="02010609060101010101" pitchFamily="49" charset="-122"/>
                <a:ea typeface="黑体" panose="02010609060101010101" pitchFamily="49" charset="-122"/>
              </a:rPr>
              <a:t>染色体</a:t>
            </a:r>
            <a:r>
              <a:rPr lang="zh-CN" altLang="en-US"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植物花粉细胞的终变期</a:t>
            </a:r>
            <a:r>
              <a:rPr lang="zh-CN" altLang="en-US" sz="2800" b="1" dirty="0">
                <a:latin typeface="黑体" panose="02010609060101010101" pitchFamily="49" charset="-122"/>
                <a:ea typeface="黑体" panose="02010609060101010101" pitchFamily="49" charset="-122"/>
              </a:rPr>
              <a:t>，观察到的另一种巨大染色体。主体呈</a:t>
            </a:r>
            <a:r>
              <a:rPr lang="zh-CN" altLang="en-US" sz="2800" b="1" dirty="0">
                <a:solidFill>
                  <a:srgbClr val="0000FF"/>
                </a:solidFill>
                <a:latin typeface="黑体" panose="02010609060101010101" pitchFamily="49" charset="-122"/>
                <a:ea typeface="黑体" panose="02010609060101010101" pitchFamily="49" charset="-122"/>
              </a:rPr>
              <a:t>柱状体</a:t>
            </a:r>
            <a:r>
              <a:rPr lang="zh-CN" altLang="en-US" sz="2800" b="1" dirty="0">
                <a:latin typeface="黑体" panose="02010609060101010101" pitchFamily="49" charset="-122"/>
                <a:ea typeface="黑体" panose="02010609060101010101" pitchFamily="49" charset="-122"/>
              </a:rPr>
              <a:t>，其表面伸出许多</a:t>
            </a:r>
            <a:r>
              <a:rPr lang="zh-CN" altLang="en-US" sz="2800" b="1" dirty="0">
                <a:solidFill>
                  <a:srgbClr val="0000FF"/>
                </a:solidFill>
                <a:latin typeface="黑体" panose="02010609060101010101" pitchFamily="49" charset="-122"/>
                <a:ea typeface="黑体" panose="02010609060101010101" pitchFamily="49" charset="-122"/>
              </a:rPr>
              <a:t>毛状突起，形似灯刷</a:t>
            </a:r>
            <a:r>
              <a:rPr lang="zh-CN" altLang="en-US" sz="2800" b="1" dirty="0">
                <a:latin typeface="黑体" panose="02010609060101010101" pitchFamily="49" charset="-122"/>
                <a:ea typeface="黑体" panose="02010609060101010101" pitchFamily="49" charset="-122"/>
              </a:rPr>
              <a:t>。</a:t>
            </a:r>
          </a:p>
        </p:txBody>
      </p:sp>
      <p:pic>
        <p:nvPicPr>
          <p:cNvPr id="5" name="Picture 2" descr="https://bkimg.cdn.bcebos.com/pic/f9dcd100baa1cd11728baa44065ddffcc3cec3fd870d"/>
          <p:cNvPicPr>
            <a:picLocks noChangeAspect="1" noChangeArrowheads="1"/>
          </p:cNvPicPr>
          <p:nvPr/>
        </p:nvPicPr>
        <p:blipFill rotWithShape="1">
          <a:blip r:embed="rId2">
            <a:extLst>
              <a:ext uri="{28A0092B-C50C-407E-A947-70E740481C1C}">
                <a14:useLocalDpi xmlns:a14="http://schemas.microsoft.com/office/drawing/2010/main" val="0"/>
              </a:ext>
            </a:extLst>
          </a:blip>
          <a:srcRect t="2893" r="5363" b="5103"/>
          <a:stretch/>
        </p:blipFill>
        <p:spPr bwMode="auto">
          <a:xfrm>
            <a:off x="686609" y="2092268"/>
            <a:ext cx="5439129" cy="41302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picx.zhimg.com/v2-571d913ed24de55e7054d1f8b27760f9_r.jpg?source=1940ef5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5738" y="2092269"/>
            <a:ext cx="5501315" cy="41302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4150310" y="257454"/>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dirty="0">
                <a:latin typeface="黑体" panose="02010609060101010101" pitchFamily="49" charset="-122"/>
                <a:ea typeface="黑体" panose="02010609060101010101" pitchFamily="49" charset="-122"/>
              </a:rPr>
              <a:t>灯刷染色体的形态</a:t>
            </a:r>
          </a:p>
        </p:txBody>
      </p:sp>
      <p:pic>
        <p:nvPicPr>
          <p:cNvPr id="2765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9451" y="864833"/>
            <a:ext cx="8753097" cy="53672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grpId="0" nodeType="after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p:cTn id="7" dur="500" fill="hold"/>
                                        <p:tgtEl>
                                          <p:spTgt spid="27652"/>
                                        </p:tgtEl>
                                        <p:attrNameLst>
                                          <p:attrName>ppt_x</p:attrName>
                                        </p:attrNameLst>
                                      </p:cBhvr>
                                      <p:tavLst>
                                        <p:tav tm="0">
                                          <p:val>
                                            <p:strVal val="#ppt_x"/>
                                          </p:val>
                                        </p:tav>
                                        <p:tav tm="100000">
                                          <p:val>
                                            <p:strVal val="#ppt_x"/>
                                          </p:val>
                                        </p:tav>
                                      </p:tavLst>
                                    </p:anim>
                                    <p:anim calcmode="lin" valueType="num">
                                      <p:cBhvr>
                                        <p:cTn id="8" dur="500" fill="hold"/>
                                        <p:tgtEl>
                                          <p:spTgt spid="27652"/>
                                        </p:tgtEl>
                                        <p:attrNameLst>
                                          <p:attrName>ppt_y</p:attrName>
                                        </p:attrNameLst>
                                      </p:cBhvr>
                                      <p:tavLst>
                                        <p:tav tm="0">
                                          <p:val>
                                            <p:strVal val="#ppt_y+#ppt_h/2"/>
                                          </p:val>
                                        </p:tav>
                                        <p:tav tm="100000">
                                          <p:val>
                                            <p:strVal val="#ppt_y"/>
                                          </p:val>
                                        </p:tav>
                                      </p:tavLst>
                                    </p:anim>
                                    <p:anim calcmode="lin" valueType="num">
                                      <p:cBhvr>
                                        <p:cTn id="9" dur="500" fill="hold"/>
                                        <p:tgtEl>
                                          <p:spTgt spid="27652"/>
                                        </p:tgtEl>
                                        <p:attrNameLst>
                                          <p:attrName>ppt_w</p:attrName>
                                        </p:attrNameLst>
                                      </p:cBhvr>
                                      <p:tavLst>
                                        <p:tav tm="0">
                                          <p:val>
                                            <p:strVal val="#ppt_w"/>
                                          </p:val>
                                        </p:tav>
                                        <p:tav tm="100000">
                                          <p:val>
                                            <p:strVal val="#ppt_w"/>
                                          </p:val>
                                        </p:tav>
                                      </p:tavLst>
                                    </p:anim>
                                    <p:anim calcmode="lin" valueType="num">
                                      <p:cBhvr>
                                        <p:cTn id="10" dur="500" fill="hold"/>
                                        <p:tgtEl>
                                          <p:spTgt spid="2765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www.zsbeike.com/bkimg/4/dengsh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54" y="-64510"/>
            <a:ext cx="5896515" cy="69225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028"/>
          <p:cNvSpPr txBox="1">
            <a:spLocks noChangeArrowheads="1"/>
          </p:cNvSpPr>
          <p:nvPr/>
        </p:nvSpPr>
        <p:spPr bwMode="auto">
          <a:xfrm>
            <a:off x="5885118" y="1827509"/>
            <a:ext cx="6306881" cy="282327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buClr>
                <a:srgbClr val="FFCC99"/>
              </a:buClr>
              <a:buNone/>
            </a:pPr>
            <a:r>
              <a:rPr lang="zh-CN" altLang="en-US" sz="2800" b="1" dirty="0">
                <a:latin typeface="黑体" panose="02010609060101010101" pitchFamily="49" charset="-122"/>
                <a:ea typeface="黑体" panose="02010609060101010101" pitchFamily="49" charset="-122"/>
              </a:rPr>
              <a:t>    它是</a:t>
            </a:r>
            <a:r>
              <a:rPr lang="zh-CN" altLang="en-US" sz="2800" b="1" dirty="0">
                <a:solidFill>
                  <a:srgbClr val="0000FF"/>
                </a:solidFill>
                <a:latin typeface="黑体" panose="02010609060101010101" pitchFamily="49" charset="-122"/>
                <a:ea typeface="黑体" panose="02010609060101010101" pitchFamily="49" charset="-122"/>
              </a:rPr>
              <a:t>一对同源染色体</a:t>
            </a:r>
            <a:r>
              <a:rPr lang="zh-CN" altLang="en-US" sz="2800" b="1" dirty="0">
                <a:latin typeface="黑体" panose="02010609060101010101" pitchFamily="49" charset="-122"/>
                <a:ea typeface="黑体" panose="02010609060101010101" pitchFamily="49" charset="-122"/>
              </a:rPr>
              <a:t>，这对同源染色体之间由</a:t>
            </a:r>
            <a:r>
              <a:rPr lang="zh-CN" altLang="en-US" sz="2800" b="1" dirty="0">
                <a:solidFill>
                  <a:srgbClr val="0000FF"/>
                </a:solidFill>
                <a:latin typeface="黑体" panose="02010609060101010101" pitchFamily="49" charset="-122"/>
                <a:ea typeface="黑体" panose="02010609060101010101" pitchFamily="49" charset="-122"/>
              </a:rPr>
              <a:t>一个或多个交叉的联系</a:t>
            </a:r>
            <a:r>
              <a:rPr lang="zh-CN" altLang="en-US" sz="2800" b="1" dirty="0">
                <a:latin typeface="黑体" panose="02010609060101010101" pitchFamily="49" charset="-122"/>
                <a:ea typeface="黑体" panose="02010609060101010101" pitchFamily="49" charset="-122"/>
              </a:rPr>
              <a:t>起来；螺旋化的染色质构成灯刷染色体的</a:t>
            </a:r>
            <a:r>
              <a:rPr lang="zh-CN" altLang="en-US" sz="2800" b="1" dirty="0">
                <a:solidFill>
                  <a:srgbClr val="0000FF"/>
                </a:solidFill>
                <a:latin typeface="黑体" panose="02010609060101010101" pitchFamily="49" charset="-122"/>
                <a:ea typeface="黑体" panose="02010609060101010101" pitchFamily="49" charset="-122"/>
              </a:rPr>
              <a:t>柱状主体</a:t>
            </a:r>
            <a:r>
              <a:rPr lang="zh-CN" altLang="en-US"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毛状突起是由于部分染色质没有螺旋化</a:t>
            </a:r>
            <a:r>
              <a:rPr lang="zh-CN" altLang="en-US"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或者螺旋化的程度较低</a:t>
            </a:r>
            <a:r>
              <a:rPr lang="zh-CN" altLang="en-US" sz="2800" dirty="0"/>
              <a:t>。</a:t>
            </a:r>
          </a:p>
        </p:txBody>
      </p:sp>
    </p:spTree>
    <p:extLst>
      <p:ext uri="{BB962C8B-B14F-4D97-AF65-F5344CB8AC3E}">
        <p14:creationId xmlns:p14="http://schemas.microsoft.com/office/powerpoint/2010/main" val="4197047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4"/>
          <p:cNvSpPr>
            <a:spLocks noGrp="1" noChangeArrowheads="1"/>
          </p:cNvSpPr>
          <p:nvPr>
            <p:ph type="title"/>
          </p:nvPr>
        </p:nvSpPr>
        <p:spPr bwMode="auto">
          <a:xfrm>
            <a:off x="4838699" y="287045"/>
            <a:ext cx="2035206"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zh-CN" sz="3200" b="1" noProof="1">
                <a:solidFill>
                  <a:srgbClr val="0000FF"/>
                </a:solidFill>
                <a:latin typeface="黑体" panose="02010609060101010101" pitchFamily="49" charset="-122"/>
                <a:ea typeface="黑体" panose="02010609060101010101" pitchFamily="49" charset="-122"/>
              </a:rPr>
              <a:t>B</a:t>
            </a:r>
            <a:r>
              <a:rPr lang="zh-CN" altLang="en-US" sz="3200" b="1" noProof="1">
                <a:solidFill>
                  <a:srgbClr val="0000FF"/>
                </a:solidFill>
                <a:latin typeface="黑体" panose="02010609060101010101" pitchFamily="49" charset="-122"/>
                <a:ea typeface="黑体" panose="02010609060101010101" pitchFamily="49" charset="-122"/>
              </a:rPr>
              <a:t>染色体</a:t>
            </a:r>
          </a:p>
        </p:txBody>
      </p:sp>
      <p:sp>
        <p:nvSpPr>
          <p:cNvPr id="26630" name="Rectangle 6"/>
          <p:cNvSpPr>
            <a:spLocks noChangeArrowheads="1"/>
          </p:cNvSpPr>
          <p:nvPr/>
        </p:nvSpPr>
        <p:spPr bwMode="auto">
          <a:xfrm>
            <a:off x="255722" y="817498"/>
            <a:ext cx="11631478"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marL="0" indent="0">
              <a:lnSpc>
                <a:spcPct val="150000"/>
              </a:lnSpc>
              <a:spcBef>
                <a:spcPct val="20000"/>
              </a:spcBef>
              <a:buClr>
                <a:schemeClr val="accent2"/>
              </a:buClr>
              <a:buSzPct val="80000"/>
            </a:pPr>
            <a:r>
              <a:rPr lang="en-US" altLang="zh-CN" dirty="0">
                <a:latin typeface="等线" panose="02010600030101010101" charset="-122"/>
                <a:ea typeface="等线" panose="02010600030101010101" charset="-122"/>
              </a:rPr>
              <a:t>•</a:t>
            </a:r>
            <a:r>
              <a:rPr lang="zh-CN" altLang="en-US" dirty="0">
                <a:latin typeface="黑体" panose="02010609060101010101" pitchFamily="49" charset="-122"/>
              </a:rPr>
              <a:t>许多生物在染色体数目上也有特殊性表现，也就是说除了具有一定数目的形态、结构稳定的</a:t>
            </a:r>
            <a:r>
              <a:rPr lang="zh-CN" altLang="en-US" dirty="0">
                <a:solidFill>
                  <a:srgbClr val="0000FF"/>
                </a:solidFill>
                <a:latin typeface="黑体" panose="02010609060101010101" pitchFamily="49" charset="-122"/>
              </a:rPr>
              <a:t>常染色体</a:t>
            </a:r>
            <a:r>
              <a:rPr lang="zh-CN" altLang="en-US" dirty="0">
                <a:latin typeface="黑体" panose="02010609060101010101" pitchFamily="49" charset="-122"/>
              </a:rPr>
              <a:t>外，还有一些</a:t>
            </a:r>
            <a:r>
              <a:rPr lang="zh-CN" altLang="en-US" dirty="0">
                <a:solidFill>
                  <a:srgbClr val="0000FF"/>
                </a:solidFill>
                <a:latin typeface="黑体" panose="02010609060101010101" pitchFamily="49" charset="-122"/>
              </a:rPr>
              <a:t>额外染色体</a:t>
            </a:r>
            <a:r>
              <a:rPr lang="zh-CN" altLang="en-US" dirty="0">
                <a:latin typeface="黑体" panose="02010609060101010101" pitchFamily="49" charset="-122"/>
              </a:rPr>
              <a:t>。</a:t>
            </a:r>
          </a:p>
          <a:p>
            <a:pPr marL="0" indent="0">
              <a:lnSpc>
                <a:spcPct val="150000"/>
              </a:lnSpc>
              <a:spcBef>
                <a:spcPct val="20000"/>
              </a:spcBef>
              <a:buClr>
                <a:schemeClr val="accent2"/>
              </a:buClr>
              <a:buSzPct val="80000"/>
            </a:pPr>
            <a:r>
              <a:rPr lang="en-US" altLang="zh-CN" dirty="0">
                <a:latin typeface="等线" panose="02010600030101010101" charset="-122"/>
                <a:ea typeface="等线" panose="02010600030101010101" charset="-122"/>
              </a:rPr>
              <a:t>•</a:t>
            </a:r>
            <a:r>
              <a:rPr lang="zh-CN" altLang="en-US" dirty="0">
                <a:latin typeface="黑体" panose="02010609060101010101" pitchFamily="49" charset="-122"/>
              </a:rPr>
              <a:t>这些</a:t>
            </a:r>
            <a:r>
              <a:rPr lang="zh-CN" altLang="en-US" dirty="0">
                <a:solidFill>
                  <a:srgbClr val="FF0000"/>
                </a:solidFill>
                <a:latin typeface="黑体" panose="02010609060101010101" pitchFamily="49" charset="-122"/>
              </a:rPr>
              <a:t>额外染色体</a:t>
            </a:r>
            <a:r>
              <a:rPr lang="zh-CN" altLang="en-US" dirty="0">
                <a:latin typeface="黑体" panose="02010609060101010101" pitchFamily="49" charset="-122"/>
              </a:rPr>
              <a:t>又称为</a:t>
            </a:r>
            <a:r>
              <a:rPr lang="en-US" altLang="zh-CN" dirty="0">
                <a:solidFill>
                  <a:srgbClr val="FF0000"/>
                </a:solidFill>
                <a:latin typeface="黑体" panose="02010609060101010101" pitchFamily="49" charset="-122"/>
              </a:rPr>
              <a:t>B</a:t>
            </a:r>
            <a:r>
              <a:rPr lang="zh-CN" altLang="en-US" dirty="0">
                <a:solidFill>
                  <a:srgbClr val="FF0000"/>
                </a:solidFill>
                <a:latin typeface="黑体" panose="02010609060101010101" pitchFamily="49" charset="-122"/>
              </a:rPr>
              <a:t>染色体、副染色体、超数染色体或附加染色体</a:t>
            </a:r>
            <a:r>
              <a:rPr lang="zh-CN" altLang="en-US" dirty="0">
                <a:latin typeface="黑体" panose="02010609060101010101" pitchFamily="49" charset="-122"/>
              </a:rPr>
              <a:t>。</a:t>
            </a:r>
          </a:p>
          <a:p>
            <a:pPr marL="0" indent="0">
              <a:lnSpc>
                <a:spcPct val="150000"/>
              </a:lnSpc>
              <a:spcBef>
                <a:spcPct val="20000"/>
              </a:spcBef>
              <a:buClr>
                <a:schemeClr val="accent2"/>
              </a:buClr>
              <a:buSzPct val="80000"/>
            </a:pPr>
            <a:r>
              <a:rPr lang="en-US" altLang="zh-CN" dirty="0">
                <a:latin typeface="等线" panose="02010600030101010101" charset="-122"/>
                <a:ea typeface="等线" panose="02010600030101010101" charset="-122"/>
              </a:rPr>
              <a:t>•</a:t>
            </a:r>
            <a:r>
              <a:rPr lang="zh-CN" altLang="en-US" dirty="0">
                <a:latin typeface="黑体" panose="02010609060101010101" pitchFamily="49" charset="-122"/>
              </a:rPr>
              <a:t>额外染色体的数目在生物</a:t>
            </a:r>
            <a:r>
              <a:rPr lang="zh-CN" altLang="en-US" dirty="0">
                <a:solidFill>
                  <a:srgbClr val="0000FF"/>
                </a:solidFill>
                <a:latin typeface="黑体" panose="02010609060101010101" pitchFamily="49" charset="-122"/>
              </a:rPr>
              <a:t>世代间</a:t>
            </a:r>
            <a:r>
              <a:rPr lang="zh-CN" altLang="en-US" dirty="0">
                <a:latin typeface="黑体" panose="02010609060101010101" pitchFamily="49" charset="-122"/>
              </a:rPr>
              <a:t>及</a:t>
            </a:r>
            <a:r>
              <a:rPr lang="zh-CN" altLang="en-US" dirty="0">
                <a:solidFill>
                  <a:srgbClr val="0000FF"/>
                </a:solidFill>
                <a:latin typeface="黑体" panose="02010609060101010101" pitchFamily="49" charset="-122"/>
              </a:rPr>
              <a:t>个体间</a:t>
            </a:r>
            <a:r>
              <a:rPr lang="zh-CN" altLang="en-US" dirty="0">
                <a:latin typeface="黑体" panose="02010609060101010101" pitchFamily="49" charset="-122"/>
              </a:rPr>
              <a:t>都存在很大差异，并且很</a:t>
            </a:r>
            <a:r>
              <a:rPr lang="zh-CN" altLang="en-US" dirty="0">
                <a:solidFill>
                  <a:srgbClr val="0000FF"/>
                </a:solidFill>
                <a:latin typeface="黑体" panose="02010609060101010101" pitchFamily="49" charset="-122"/>
              </a:rPr>
              <a:t>不稳定</a:t>
            </a:r>
            <a:r>
              <a:rPr lang="zh-CN" altLang="en-US" dirty="0">
                <a:latin typeface="黑体" panose="02010609060101010101" pitchFamily="49" charset="-122"/>
              </a:rPr>
              <a:t>，在生物世代间传递规律也与常染色体不同。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630">
                                            <p:txEl>
                                              <p:pRg st="0" end="0"/>
                                            </p:txEl>
                                          </p:spTgt>
                                        </p:tgtEl>
                                        <p:attrNameLst>
                                          <p:attrName>style.visibility</p:attrName>
                                        </p:attrNameLst>
                                      </p:cBhvr>
                                      <p:to>
                                        <p:strVal val="visible"/>
                                      </p:to>
                                    </p:set>
                                    <p:animEffect transition="in" filter="dissolve">
                                      <p:cBhvr>
                                        <p:cTn id="7" dur="500"/>
                                        <p:tgtEl>
                                          <p:spTgt spid="26630">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6630">
                                            <p:txEl>
                                              <p:pRg st="1" end="1"/>
                                            </p:txEl>
                                          </p:spTgt>
                                        </p:tgtEl>
                                        <p:attrNameLst>
                                          <p:attrName>style.visibility</p:attrName>
                                        </p:attrNameLst>
                                      </p:cBhvr>
                                      <p:to>
                                        <p:strVal val="visible"/>
                                      </p:to>
                                    </p:set>
                                    <p:animEffect transition="in" filter="dissolve">
                                      <p:cBhvr>
                                        <p:cTn id="11" dur="500"/>
                                        <p:tgtEl>
                                          <p:spTgt spid="26630">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6630">
                                            <p:txEl>
                                              <p:pRg st="2" end="2"/>
                                            </p:txEl>
                                          </p:spTgt>
                                        </p:tgtEl>
                                        <p:attrNameLst>
                                          <p:attrName>style.visibility</p:attrName>
                                        </p:attrNameLst>
                                      </p:cBhvr>
                                      <p:to>
                                        <p:strVal val="visible"/>
                                      </p:to>
                                    </p:set>
                                    <p:animEffect transition="in" filter="dissolve">
                                      <p:cBhvr>
                                        <p:cTn id="15" dur="500"/>
                                        <p:tgtEl>
                                          <p:spTgt spid="266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build="p"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066800"/>
            <a:ext cx="8839200" cy="5120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Rectangle 5"/>
          <p:cNvSpPr>
            <a:spLocks noGrp="1" noChangeArrowheads="1"/>
          </p:cNvSpPr>
          <p:nvPr>
            <p:ph type="title"/>
          </p:nvPr>
        </p:nvSpPr>
        <p:spPr bwMode="auto">
          <a:xfrm>
            <a:off x="973584" y="292963"/>
            <a:ext cx="91440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en-US" sz="3200" b="1" dirty="0" err="1">
                <a:latin typeface="黑体" panose="02010609060101010101" pitchFamily="49" charset="-122"/>
                <a:ea typeface="黑体" panose="02010609060101010101" pitchFamily="49" charset="-122"/>
              </a:rPr>
              <a:t>黑麦</a:t>
            </a:r>
            <a:r>
              <a:rPr lang="zh-CN" altLang="en-US" sz="3200" b="1" dirty="0">
                <a:latin typeface="黑体" panose="02010609060101010101" pitchFamily="49" charset="-122"/>
                <a:ea typeface="黑体" panose="02010609060101010101" pitchFamily="49" charset="-122"/>
              </a:rPr>
              <a:t>(</a:t>
            </a:r>
            <a:r>
              <a:rPr lang="en-US" altLang="zh-CN" sz="3200" b="1" u="sng" dirty="0" err="1">
                <a:latin typeface="黑体" panose="02010609060101010101" pitchFamily="49" charset="-122"/>
                <a:ea typeface="黑体" panose="02010609060101010101" pitchFamily="49" charset="-122"/>
              </a:rPr>
              <a:t>S.cereale</a:t>
            </a:r>
            <a:r>
              <a:rPr lang="en-US" altLang="zh-CN" sz="3200" b="1" dirty="0">
                <a:latin typeface="黑体" panose="02010609060101010101" pitchFamily="49" charset="-122"/>
                <a:ea typeface="黑体" panose="02010609060101010101" pitchFamily="49" charset="-122"/>
              </a:rPr>
              <a:t>, 2n=14)</a:t>
            </a:r>
            <a:r>
              <a:rPr lang="en-US" altLang="en-US" sz="3200" b="1" dirty="0">
                <a:latin typeface="黑体" panose="02010609060101010101" pitchFamily="49" charset="-122"/>
                <a:ea typeface="黑体" panose="02010609060101010101" pitchFamily="49" charset="-122"/>
              </a:rPr>
              <a:t>的</a:t>
            </a:r>
            <a:r>
              <a:rPr lang="en-US" altLang="zh-CN" sz="3200" b="1" noProof="1">
                <a:latin typeface="黑体" panose="02010609060101010101" pitchFamily="49" charset="-122"/>
                <a:ea typeface="黑体" panose="02010609060101010101" pitchFamily="49" charset="-122"/>
              </a:rPr>
              <a:t>B</a:t>
            </a:r>
            <a:r>
              <a:rPr lang="zh-CN" altLang="en-US" sz="3200" b="1" noProof="1">
                <a:latin typeface="黑体" panose="02010609060101010101" pitchFamily="49" charset="-122"/>
                <a:ea typeface="黑体" panose="02010609060101010101" pitchFamily="49" charset="-122"/>
              </a:rPr>
              <a:t>染色体</a:t>
            </a:r>
          </a:p>
        </p:txBody>
      </p:sp>
      <p:sp>
        <p:nvSpPr>
          <p:cNvPr id="82948" name="AutoShape 8"/>
          <p:cNvSpPr>
            <a:spLocks noChangeArrowheads="1"/>
          </p:cNvSpPr>
          <p:nvPr/>
        </p:nvSpPr>
        <p:spPr bwMode="auto">
          <a:xfrm rot="2901987">
            <a:off x="2514600" y="3429000"/>
            <a:ext cx="152400" cy="152400"/>
          </a:xfrm>
          <a:prstGeom prst="triangle">
            <a:avLst>
              <a:gd name="adj" fmla="val 50000"/>
            </a:avLst>
          </a:prstGeom>
          <a:solidFill>
            <a:schemeClr val="tx1"/>
          </a:solidFill>
          <a:ln w="38100">
            <a:solidFill>
              <a:schemeClr val="bg2"/>
            </a:solidFill>
            <a:miter lim="800000"/>
          </a:ln>
        </p:spPr>
        <p:txBody>
          <a:bodyPr wrap="none" anchor="ct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355332" y="87824"/>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4</a:t>
            </a:r>
            <a:r>
              <a:rPr lang="zh-CN" altLang="en-US" sz="3200" b="1" dirty="0">
                <a:latin typeface="黑体" panose="02010609060101010101" pitchFamily="49" charset="-122"/>
                <a:ea typeface="黑体" panose="02010609060101010101" pitchFamily="49" charset="-122"/>
              </a:rPr>
              <a:t>）染色体组型和组型分析</a:t>
            </a:r>
          </a:p>
        </p:txBody>
      </p:sp>
      <p:sp>
        <p:nvSpPr>
          <p:cNvPr id="83971" name="Rectangle 3"/>
          <p:cNvSpPr>
            <a:spLocks noGrp="1" noChangeArrowheads="1"/>
          </p:cNvSpPr>
          <p:nvPr>
            <p:ph idx="1"/>
          </p:nvPr>
        </p:nvSpPr>
        <p:spPr bwMode="auto">
          <a:xfrm>
            <a:off x="950562" y="674176"/>
            <a:ext cx="10576139" cy="609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a:lnSpc>
                <a:spcPct val="110000"/>
              </a:lnSpc>
              <a:buClr>
                <a:schemeClr val="folHlink"/>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染色体组型（核型）</a:t>
            </a:r>
          </a:p>
          <a:p>
            <a:pPr>
              <a:lnSpc>
                <a:spcPct val="110000"/>
              </a:lnSpc>
              <a:buClr>
                <a:schemeClr val="folHlink"/>
              </a:buClr>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指一个个体或一组相关个体特有的染色体组，通常以有丝分裂中期染色体的数目和形态来表示。</a:t>
            </a:r>
          </a:p>
          <a:p>
            <a:pPr>
              <a:lnSpc>
                <a:spcPct val="110000"/>
              </a:lnSpc>
              <a:buClr>
                <a:schemeClr val="folHlink"/>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染色体组型（核型）分析</a:t>
            </a:r>
          </a:p>
          <a:p>
            <a:pPr>
              <a:lnSpc>
                <a:spcPct val="110000"/>
              </a:lnSpc>
              <a:buClr>
                <a:schemeClr val="folHlink"/>
              </a:buClr>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对特定染色体组中染色体的数目、大小、形态等特征进行综合分析的方法叫</a:t>
            </a:r>
            <a:r>
              <a:rPr lang="zh-CN" altLang="en-US" b="1" dirty="0">
                <a:solidFill>
                  <a:srgbClr val="FF0000"/>
                </a:solidFill>
                <a:latin typeface="黑体" panose="02010609060101010101" pitchFamily="49" charset="-122"/>
                <a:ea typeface="黑体" panose="02010609060101010101" pitchFamily="49" charset="-122"/>
              </a:rPr>
              <a:t>染色体组型分析</a:t>
            </a:r>
            <a:r>
              <a:rPr lang="zh-CN" altLang="en-US" b="1" dirty="0">
                <a:latin typeface="黑体" panose="02010609060101010101" pitchFamily="49" charset="-122"/>
                <a:ea typeface="黑体" panose="02010609060101010101" pitchFamily="49" charset="-122"/>
              </a:rPr>
              <a:t>或</a:t>
            </a:r>
            <a:r>
              <a:rPr lang="zh-CN" altLang="en-US" b="1" dirty="0">
                <a:solidFill>
                  <a:srgbClr val="FF0000"/>
                </a:solidFill>
                <a:latin typeface="黑体" panose="02010609060101010101" pitchFamily="49" charset="-122"/>
                <a:ea typeface="黑体" panose="02010609060101010101" pitchFamily="49" charset="-122"/>
              </a:rPr>
              <a:t>核型分析</a:t>
            </a:r>
            <a:r>
              <a:rPr lang="zh-CN" altLang="en-US" b="1" dirty="0">
                <a:latin typeface="黑体" panose="02010609060101010101" pitchFamily="49" charset="-122"/>
                <a:ea typeface="黑体" panose="02010609060101010101" pitchFamily="49" charset="-122"/>
              </a:rPr>
              <a:t>。</a:t>
            </a:r>
          </a:p>
          <a:p>
            <a:pPr>
              <a:lnSpc>
                <a:spcPct val="110000"/>
              </a:lnSpc>
              <a:buClr>
                <a:schemeClr val="folHlink"/>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核型分析的意义</a:t>
            </a:r>
          </a:p>
          <a:p>
            <a:pPr>
              <a:lnSpc>
                <a:spcPct val="110000"/>
              </a:lnSpc>
              <a:buClr>
                <a:schemeClr val="folHlink"/>
              </a:buClr>
              <a:buFont typeface="Wingdings" panose="05000000000000000000" pitchFamily="2" charset="2"/>
              <a:buChar char="ü"/>
            </a:pPr>
            <a:r>
              <a:rPr lang="zh-CN" altLang="en-US" b="1" dirty="0">
                <a:latin typeface="黑体" panose="02010609060101010101" pitchFamily="49" charset="-122"/>
                <a:ea typeface="黑体" panose="02010609060101010101" pitchFamily="49" charset="-122"/>
              </a:rPr>
              <a:t>鉴定系统发育过程中物种之间的亲缘关系</a:t>
            </a:r>
          </a:p>
          <a:p>
            <a:pPr>
              <a:lnSpc>
                <a:spcPct val="110000"/>
              </a:lnSpc>
              <a:buClr>
                <a:schemeClr val="folHlink"/>
              </a:buClr>
              <a:buFont typeface="Wingdings" panose="05000000000000000000" pitchFamily="2" charset="2"/>
              <a:buChar char="ü"/>
            </a:pPr>
            <a:r>
              <a:rPr lang="zh-CN" altLang="en-US" b="1" dirty="0">
                <a:latin typeface="黑体" panose="02010609060101010101" pitchFamily="49" charset="-122"/>
                <a:ea typeface="黑体" panose="02010609060101010101" pitchFamily="49" charset="-122"/>
              </a:rPr>
              <a:t>检查染色体数目和结构的变异。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71">
                                            <p:txEl>
                                              <p:pRg st="2" end="2"/>
                                            </p:txEl>
                                          </p:spTgt>
                                        </p:tgtEl>
                                        <p:attrNameLst>
                                          <p:attrName>style.visibility</p:attrName>
                                        </p:attrNameLst>
                                      </p:cBhvr>
                                      <p:to>
                                        <p:strVal val="visible"/>
                                      </p:to>
                                    </p:set>
                                    <p:animEffect transition="in" filter="fade">
                                      <p:cBhvr>
                                        <p:cTn id="7" dur="500"/>
                                        <p:tgtEl>
                                          <p:spTgt spid="8397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3971">
                                            <p:txEl>
                                              <p:pRg st="3" end="3"/>
                                            </p:txEl>
                                          </p:spTgt>
                                        </p:tgtEl>
                                        <p:attrNameLst>
                                          <p:attrName>style.visibility</p:attrName>
                                        </p:attrNameLst>
                                      </p:cBhvr>
                                      <p:to>
                                        <p:strVal val="visible"/>
                                      </p:to>
                                    </p:set>
                                    <p:animEffect transition="in" filter="fade">
                                      <p:cBhvr>
                                        <p:cTn id="10" dur="500"/>
                                        <p:tgtEl>
                                          <p:spTgt spid="8397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3971">
                                            <p:txEl>
                                              <p:pRg st="4" end="4"/>
                                            </p:txEl>
                                          </p:spTgt>
                                        </p:tgtEl>
                                        <p:attrNameLst>
                                          <p:attrName>style.visibility</p:attrName>
                                        </p:attrNameLst>
                                      </p:cBhvr>
                                      <p:to>
                                        <p:strVal val="visible"/>
                                      </p:to>
                                    </p:set>
                                    <p:animEffect transition="in" filter="fade">
                                      <p:cBhvr>
                                        <p:cTn id="15" dur="500"/>
                                        <p:tgtEl>
                                          <p:spTgt spid="83971">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3971">
                                            <p:txEl>
                                              <p:pRg st="5" end="5"/>
                                            </p:txEl>
                                          </p:spTgt>
                                        </p:tgtEl>
                                        <p:attrNameLst>
                                          <p:attrName>style.visibility</p:attrName>
                                        </p:attrNameLst>
                                      </p:cBhvr>
                                      <p:to>
                                        <p:strVal val="visible"/>
                                      </p:to>
                                    </p:set>
                                    <p:animEffect transition="in" filter="fade">
                                      <p:cBhvr>
                                        <p:cTn id="18" dur="500"/>
                                        <p:tgtEl>
                                          <p:spTgt spid="83971">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3971">
                                            <p:txEl>
                                              <p:pRg st="6" end="6"/>
                                            </p:txEl>
                                          </p:spTgt>
                                        </p:tgtEl>
                                        <p:attrNameLst>
                                          <p:attrName>style.visibility</p:attrName>
                                        </p:attrNameLst>
                                      </p:cBhvr>
                                      <p:to>
                                        <p:strVal val="visible"/>
                                      </p:to>
                                    </p:set>
                                    <p:animEffect transition="in" filter="fade">
                                      <p:cBhvr>
                                        <p:cTn id="21" dur="500"/>
                                        <p:tgtEl>
                                          <p:spTgt spid="83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4"/>
          <p:cNvPicPr>
            <a:picLocks noChangeAspect="1" noChangeArrowheads="1"/>
          </p:cNvPicPr>
          <p:nvPr/>
        </p:nvPicPr>
        <p:blipFill>
          <a:blip r:embed="rId2">
            <a:lum bright="-12000" contrast="30000"/>
            <a:extLst>
              <a:ext uri="{28A0092B-C50C-407E-A947-70E740481C1C}">
                <a14:useLocalDpi xmlns:a14="http://schemas.microsoft.com/office/drawing/2010/main" val="0"/>
              </a:ext>
            </a:extLst>
          </a:blip>
          <a:srcRect/>
          <a:stretch>
            <a:fillRect/>
          </a:stretch>
        </p:blipFill>
        <p:spPr bwMode="auto">
          <a:xfrm>
            <a:off x="1745942" y="781401"/>
            <a:ext cx="8423429" cy="568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5"/>
          <p:cNvSpPr txBox="1">
            <a:spLocks noChangeArrowheads="1"/>
          </p:cNvSpPr>
          <p:nvPr/>
        </p:nvSpPr>
        <p:spPr bwMode="auto">
          <a:xfrm>
            <a:off x="2438400" y="101065"/>
            <a:ext cx="7315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spcBef>
                <a:spcPct val="50000"/>
              </a:spcBef>
            </a:pPr>
            <a:r>
              <a:rPr lang="zh-CN" altLang="en-US" sz="3200" dirty="0">
                <a:solidFill>
                  <a:srgbClr val="0000FF"/>
                </a:solidFill>
              </a:rPr>
              <a:t>计算机自动染色体（核型）分析系统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676" y="539430"/>
            <a:ext cx="8676443" cy="600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9" name="Text Box 5"/>
          <p:cNvSpPr txBox="1">
            <a:spLocks noChangeArrowheads="1"/>
          </p:cNvSpPr>
          <p:nvPr/>
        </p:nvSpPr>
        <p:spPr bwMode="auto">
          <a:xfrm>
            <a:off x="2510901" y="20317"/>
            <a:ext cx="617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pPr>
            <a:r>
              <a:rPr lang="zh-CN" altLang="en-US" dirty="0">
                <a:solidFill>
                  <a:srgbClr val="0000FF"/>
                </a:solidFill>
              </a:rPr>
              <a:t>模式图的绘制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a:xfrm>
            <a:off x="562992" y="498290"/>
            <a:ext cx="10515600" cy="1460500"/>
          </a:xfrm>
        </p:spPr>
        <p:txBody>
          <a:bodyPr>
            <a:normAutofit/>
          </a:bodyPr>
          <a:lstStyle/>
          <a:p>
            <a:pPr algn="ctr"/>
            <a:r>
              <a:rPr lang="zh-CN" altLang="en-US" b="1" dirty="0">
                <a:latin typeface="黑体" panose="02010609060101010101" pitchFamily="49" charset="-122"/>
                <a:ea typeface="黑体" panose="02010609060101010101" pitchFamily="49" charset="-122"/>
              </a:rPr>
              <a:t>第二节 细胞分裂</a:t>
            </a:r>
            <a:br>
              <a:rPr lang="zh-CN" altLang="en-US" sz="4000" dirty="0">
                <a:latin typeface="Times New Roman" panose="02020603050405020304" pitchFamily="18" charset="0"/>
              </a:rPr>
            </a:br>
            <a:endParaRPr lang="zh-CN" altLang="en-US" sz="4000" dirty="0">
              <a:latin typeface="Times New Roman" panose="02020603050405020304" pitchFamily="18" charset="0"/>
            </a:endParaRPr>
          </a:p>
        </p:txBody>
      </p:sp>
      <p:sp>
        <p:nvSpPr>
          <p:cNvPr id="4" name="Rectangle 1027">
            <a:extLst>
              <a:ext uri="{FF2B5EF4-FFF2-40B4-BE49-F238E27FC236}">
                <a16:creationId xmlns:a16="http://schemas.microsoft.com/office/drawing/2014/main" id="{1602129E-2B1D-AB48-EF57-50177A443113}"/>
              </a:ext>
            </a:extLst>
          </p:cNvPr>
          <p:cNvSpPr txBox="1">
            <a:spLocks/>
          </p:cNvSpPr>
          <p:nvPr/>
        </p:nvSpPr>
        <p:spPr>
          <a:xfrm>
            <a:off x="3334766" y="1844298"/>
            <a:ext cx="5189301" cy="3735091"/>
          </a:xfrm>
          <a:prstGeom prst="rect">
            <a:avLst/>
          </a:prstGeom>
          <a:noFill/>
          <a:ln>
            <a:noFill/>
          </a:ln>
        </p:spPr>
        <p:txBody>
          <a:bodyPr vert="horz" lIns="91440" tIns="45720" rIns="91440" bIns="4572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buClr>
                <a:schemeClr val="folHlink"/>
              </a:buClr>
              <a:buFont typeface="Wingdings" panose="05000000000000000000" pitchFamily="2" charset="2"/>
              <a:buChar char="v"/>
            </a:pPr>
            <a:r>
              <a:rPr lang="zh-CN" altLang="en-US" sz="4000" b="1" dirty="0"/>
              <a:t>无丝分裂</a:t>
            </a:r>
          </a:p>
          <a:p>
            <a:pPr algn="ctr">
              <a:lnSpc>
                <a:spcPct val="200000"/>
              </a:lnSpc>
              <a:buClr>
                <a:schemeClr val="folHlink"/>
              </a:buClr>
              <a:buFont typeface="Wingdings" panose="05000000000000000000" pitchFamily="2" charset="2"/>
              <a:buChar char="v"/>
            </a:pPr>
            <a:r>
              <a:rPr lang="zh-CN" altLang="en-US" sz="4000" b="1" dirty="0"/>
              <a:t>有丝分裂</a:t>
            </a:r>
          </a:p>
          <a:p>
            <a:pPr algn="ctr">
              <a:lnSpc>
                <a:spcPct val="200000"/>
              </a:lnSpc>
              <a:buClr>
                <a:schemeClr val="folHlink"/>
              </a:buClr>
              <a:buFont typeface="Wingdings" panose="05000000000000000000" pitchFamily="2" charset="2"/>
              <a:buChar char="v"/>
            </a:pPr>
            <a:r>
              <a:rPr lang="zh-CN" altLang="en-US" sz="4000" b="1" dirty="0"/>
              <a:t>减数分裂</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20273FC-81CE-7961-802B-2DAE2641CCF5}"/>
              </a:ext>
            </a:extLst>
          </p:cNvPr>
          <p:cNvSpPr txBox="1">
            <a:spLocks/>
          </p:cNvSpPr>
          <p:nvPr/>
        </p:nvSpPr>
        <p:spPr>
          <a:xfrm>
            <a:off x="0" y="77492"/>
            <a:ext cx="12192000" cy="6090834"/>
          </a:xfrm>
          <a:prstGeom prst="rect">
            <a:avLst/>
          </a:prstGeom>
          <a:noFill/>
          <a:ln>
            <a:noFill/>
          </a:ln>
        </p:spPr>
        <p:txBody>
          <a:bodyPr anchor="t" anchorCtr="0"/>
          <a:lstStyle>
            <a:lvl1pPr marL="457189" indent="-457189" algn="l" defTabSz="1219170"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20000"/>
              </a:lnSpc>
              <a:buClr>
                <a:schemeClr val="folHlink"/>
              </a:buClr>
              <a:buFont typeface="Arial" pitchFamily="34" charset="0"/>
              <a:buNone/>
            </a:pPr>
            <a:r>
              <a:rPr lang="zh-CN" altLang="en-US" dirty="0">
                <a:latin typeface="黑体" panose="02010609060101010101" pitchFamily="49" charset="-122"/>
                <a:ea typeface="黑体" panose="02010609060101010101" pitchFamily="49" charset="-122"/>
              </a:rPr>
              <a:t>根据构成生物体的基本单位，可以将生物分为 </a:t>
            </a:r>
          </a:p>
          <a:p>
            <a:pPr lvl="1">
              <a:lnSpc>
                <a:spcPct val="120000"/>
              </a:lnSpc>
              <a:buFont typeface="Wingdings" panose="05000000000000000000" pitchFamily="2" charset="2"/>
              <a:buChar char="ü"/>
            </a:pPr>
            <a:r>
              <a:rPr lang="zh-CN" altLang="en-US" dirty="0">
                <a:solidFill>
                  <a:srgbClr val="FF0000"/>
                </a:solidFill>
                <a:latin typeface="黑体" panose="02010609060101010101" pitchFamily="49" charset="-122"/>
                <a:ea typeface="黑体" panose="02010609060101010101" pitchFamily="49" charset="-122"/>
              </a:rPr>
              <a:t>非细胞生物：</a:t>
            </a:r>
            <a:r>
              <a:rPr lang="zh-CN" altLang="en-US" dirty="0">
                <a:latin typeface="黑体" panose="02010609060101010101" pitchFamily="49" charset="-122"/>
                <a:ea typeface="黑体" panose="02010609060101010101" pitchFamily="49" charset="-122"/>
              </a:rPr>
              <a:t>包括病毒、噬菌体(细菌病毒)、朊病毒（有活性的蛋白质），具有前细胞形态的构成单位。</a:t>
            </a:r>
          </a:p>
          <a:p>
            <a:pPr lvl="1">
              <a:lnSpc>
                <a:spcPct val="120000"/>
              </a:lnSpc>
              <a:buFont typeface="Wingdings" panose="05000000000000000000" pitchFamily="2" charset="2"/>
              <a:buChar char="ü"/>
            </a:pPr>
            <a:r>
              <a:rPr lang="zh-CN" altLang="en-US" dirty="0">
                <a:solidFill>
                  <a:srgbClr val="FF0000"/>
                </a:solidFill>
                <a:latin typeface="黑体" panose="02010609060101010101" pitchFamily="49" charset="-122"/>
                <a:ea typeface="黑体" panose="02010609060101010101" pitchFamily="49" charset="-122"/>
              </a:rPr>
              <a:t>细胞生物</a:t>
            </a:r>
            <a:r>
              <a:rPr lang="zh-CN" altLang="en-US" dirty="0">
                <a:solidFill>
                  <a:schemeClr val="fo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以细胞为基本单位的生物；根据细胞核和遗传物质的存在方式不同又可以分为：</a:t>
            </a:r>
          </a:p>
          <a:p>
            <a:pPr lvl="2">
              <a:lnSpc>
                <a:spcPct val="120000"/>
              </a:lnSpc>
              <a:buFont typeface="Arial" pitchFamily="34" charset="0"/>
              <a:buNone/>
            </a:pPr>
            <a:r>
              <a:rPr lang="zh-CN" altLang="en-US" dirty="0">
                <a:solidFill>
                  <a:srgbClr val="FF0000"/>
                </a:solidFill>
                <a:latin typeface="黑体" panose="02010609060101010101" pitchFamily="49" charset="-122"/>
                <a:ea typeface="黑体" panose="02010609060101010101" pitchFamily="49" charset="-122"/>
              </a:rPr>
              <a:t>真核生物(</a:t>
            </a:r>
            <a:r>
              <a:rPr lang="en-US" altLang="zh-CN" dirty="0">
                <a:solidFill>
                  <a:srgbClr val="FF0000"/>
                </a:solidFill>
                <a:latin typeface="黑体" panose="02010609060101010101" pitchFamily="49" charset="-122"/>
                <a:ea typeface="黑体" panose="02010609060101010101" pitchFamily="49" charset="-122"/>
              </a:rPr>
              <a:t>eukaryote) ： </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真核细胞)原生动物、单细胞藻类、真菌、高等植物、动物、人类</a:t>
            </a:r>
          </a:p>
          <a:p>
            <a:pPr lvl="2">
              <a:lnSpc>
                <a:spcPct val="120000"/>
              </a:lnSpc>
              <a:buFont typeface="Arial" pitchFamily="34" charset="0"/>
              <a:buNone/>
            </a:pPr>
            <a:r>
              <a:rPr lang="zh-CN" altLang="en-US" dirty="0">
                <a:solidFill>
                  <a:srgbClr val="FF0000"/>
                </a:solidFill>
                <a:latin typeface="黑体" panose="02010609060101010101" pitchFamily="49" charset="-122"/>
                <a:ea typeface="黑体" panose="02010609060101010101" pitchFamily="49" charset="-122"/>
              </a:rPr>
              <a:t>原核生物(</a:t>
            </a:r>
            <a:r>
              <a:rPr lang="en-US" altLang="zh-CN" dirty="0">
                <a:solidFill>
                  <a:srgbClr val="FF0000"/>
                </a:solidFill>
                <a:latin typeface="黑体" panose="02010609060101010101" pitchFamily="49" charset="-122"/>
                <a:ea typeface="黑体" panose="02010609060101010101" pitchFamily="49" charset="-122"/>
              </a:rPr>
              <a:t>prokaryote)：</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原核细胞)细菌、蓝藻(蓝细菌)</a:t>
            </a:r>
          </a:p>
          <a:p>
            <a:pPr>
              <a:lnSpc>
                <a:spcPct val="120000"/>
              </a:lnSpc>
              <a:buClr>
                <a:schemeClr val="folHlink"/>
              </a:buClr>
              <a:buFont typeface="Arial" pitchFamily="34" charset="0"/>
              <a:buNone/>
            </a:pPr>
            <a:endParaRPr lang="zh-CN" alt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70832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40B6B86-BD40-44EE-96F3-4C190B76C68C}"/>
              </a:ext>
            </a:extLst>
          </p:cNvPr>
          <p:cNvSpPr txBox="1"/>
          <p:nvPr/>
        </p:nvSpPr>
        <p:spPr>
          <a:xfrm>
            <a:off x="426127" y="426404"/>
            <a:ext cx="6094520" cy="5355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a:lnSpc>
                <a:spcPct val="90000"/>
              </a:lnSpc>
              <a:spcBef>
                <a:spcPct val="0"/>
              </a:spcBef>
              <a:buNone/>
              <a:defRPr sz="3200" b="1">
                <a:latin typeface="黑体" panose="02010609060101010101" pitchFamily="49" charset="-122"/>
                <a:ea typeface="黑体" panose="02010609060101010101" pitchFamily="49" charset="-122"/>
                <a:cs typeface="+mj-cs"/>
              </a:defRPr>
            </a:lvl1pPr>
          </a:lstStyle>
          <a:p>
            <a:r>
              <a:rPr lang="en-US" altLang="zh-CN" dirty="0">
                <a:solidFill>
                  <a:srgbClr val="0000FF"/>
                </a:solidFill>
              </a:rPr>
              <a:t>1.</a:t>
            </a:r>
            <a:r>
              <a:rPr lang="zh-CN" altLang="en-US" dirty="0">
                <a:solidFill>
                  <a:srgbClr val="0000FF"/>
                </a:solidFill>
              </a:rPr>
              <a:t>细菌的二分分裂</a:t>
            </a:r>
          </a:p>
        </p:txBody>
      </p:sp>
      <p:pic>
        <p:nvPicPr>
          <p:cNvPr id="5" name="图片 4">
            <a:extLst>
              <a:ext uri="{FF2B5EF4-FFF2-40B4-BE49-F238E27FC236}">
                <a16:creationId xmlns:a16="http://schemas.microsoft.com/office/drawing/2014/main" id="{5DEBE65A-B1CE-49AA-8545-18962A87A14E}"/>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23677" y="2721772"/>
            <a:ext cx="10718803" cy="1652947"/>
          </a:xfrm>
          <a:prstGeom prst="rect">
            <a:avLst/>
          </a:prstGeom>
        </p:spPr>
      </p:pic>
      <p:sp>
        <p:nvSpPr>
          <p:cNvPr id="7" name="灯片编号占位符 2">
            <a:extLst>
              <a:ext uri="{FF2B5EF4-FFF2-40B4-BE49-F238E27FC236}">
                <a16:creationId xmlns:a16="http://schemas.microsoft.com/office/drawing/2014/main" id="{D9570871-CD9D-4654-99B6-2ED3A1BA36A3}"/>
              </a:ext>
            </a:extLst>
          </p:cNvPr>
          <p:cNvSpPr>
            <a:spLocks noGrp="1"/>
          </p:cNvSpPr>
          <p:nvPr>
            <p:ph type="sldNum" sz="quarter" idx="12"/>
          </p:nvPr>
        </p:nvSpPr>
        <p:spPr>
          <a:xfrm>
            <a:off x="11353799" y="7100268"/>
            <a:ext cx="577363" cy="365125"/>
          </a:xfrm>
        </p:spPr>
        <p:txBody>
          <a:bodyPr/>
          <a:lstStyle/>
          <a:p>
            <a:fld id="{D4751D38-C989-48BC-B1AB-387F6E8DCEB6}" type="slidenum">
              <a:rPr lang="zh-CN" altLang="en-US" smtClean="0"/>
              <a:pPr/>
              <a:t>33</a:t>
            </a:fld>
            <a:endParaRPr lang="zh-CN" altLang="en-US" dirty="0"/>
          </a:p>
        </p:txBody>
      </p:sp>
      <p:sp>
        <p:nvSpPr>
          <p:cNvPr id="11" name="文本框 10">
            <a:extLst>
              <a:ext uri="{FF2B5EF4-FFF2-40B4-BE49-F238E27FC236}">
                <a16:creationId xmlns:a16="http://schemas.microsoft.com/office/drawing/2014/main" id="{A55929BD-28CB-2842-CCBA-37063B01B048}"/>
              </a:ext>
            </a:extLst>
          </p:cNvPr>
          <p:cNvSpPr txBox="1"/>
          <p:nvPr/>
        </p:nvSpPr>
        <p:spPr>
          <a:xfrm>
            <a:off x="0" y="4603888"/>
            <a:ext cx="12192000" cy="1569660"/>
          </a:xfrm>
          <a:prstGeom prst="rect">
            <a:avLst/>
          </a:prstGeom>
          <a:noFill/>
        </p:spPr>
        <p:txBody>
          <a:bodyPr wrap="square">
            <a:spAutoFit/>
          </a:bodyPr>
          <a:lstStyle>
            <a:defPPr>
              <a:defRPr lang="zh-CN"/>
            </a:defPPr>
            <a:lvl1pPr>
              <a:defRPr sz="2400" b="1">
                <a:latin typeface="黑体" panose="02010609060101010101" pitchFamily="49" charset="-122"/>
                <a:ea typeface="黑体" panose="02010609060101010101" pitchFamily="49" charset="-122"/>
              </a:defRPr>
            </a:lvl1pPr>
          </a:lstStyle>
          <a:p>
            <a:r>
              <a:rPr lang="zh-CN" altLang="en-US" dirty="0">
                <a:latin typeface="楷体" panose="02010609060101010101" pitchFamily="49" charset="-122"/>
                <a:ea typeface="楷体" panose="02010609060101010101" pitchFamily="49" charset="-122"/>
              </a:rPr>
              <a:t>    细菌染色体附着在一个称为</a:t>
            </a:r>
            <a:r>
              <a:rPr lang="zh-CN" altLang="en-US" dirty="0">
                <a:solidFill>
                  <a:srgbClr val="FF0000"/>
                </a:solidFill>
                <a:latin typeface="楷体" panose="02010609060101010101" pitchFamily="49" charset="-122"/>
                <a:ea typeface="楷体" panose="02010609060101010101" pitchFamily="49" charset="-122"/>
              </a:rPr>
              <a:t>间体</a:t>
            </a:r>
            <a:r>
              <a:rPr lang="en-US" altLang="zh-CN" dirty="0">
                <a:solidFill>
                  <a:srgbClr val="FF0000"/>
                </a:solidFill>
                <a:latin typeface="楷体" panose="02010609060101010101" pitchFamily="49" charset="-122"/>
                <a:ea typeface="楷体" panose="02010609060101010101" pitchFamily="49" charset="-122"/>
              </a:rPr>
              <a:t>(mesomere)</a:t>
            </a:r>
            <a:r>
              <a:rPr lang="zh-CN" altLang="en-US" dirty="0">
                <a:latin typeface="楷体" panose="02010609060101010101" pitchFamily="49" charset="-122"/>
                <a:ea typeface="楷体" panose="02010609060101010101" pitchFamily="49" charset="-122"/>
              </a:rPr>
              <a:t>的圆形结构上，这一结构是由细胞质膜内陷而成的。染色体分裂为二后，原有染色体和新复制的染色体分别附着在与膜相连的间体上。</a:t>
            </a:r>
            <a:r>
              <a:rPr lang="zh-CN" altLang="en-US" b="1" dirty="0">
                <a:latin typeface="楷体" panose="02010609060101010101" pitchFamily="49" charset="-122"/>
                <a:ea typeface="楷体" panose="02010609060101010101" pitchFamily="49" charset="-122"/>
              </a:rPr>
              <a:t>细菌分裂时，细胞延长，带着原有染色体的细胞质膜部分与带着新复制的染色体的另一细胞质膜部分彼此远离，当两染色体充分分开时，中间发生凹陷，细菌细胞分成两个。</a:t>
            </a:r>
            <a:endParaRPr lang="zh-CN" altLang="en-US" dirty="0">
              <a:latin typeface="楷体" panose="02010609060101010101" pitchFamily="49" charset="-122"/>
              <a:ea typeface="楷体" panose="02010609060101010101" pitchFamily="49" charset="-122"/>
            </a:endParaRPr>
          </a:p>
        </p:txBody>
      </p:sp>
      <p:sp>
        <p:nvSpPr>
          <p:cNvPr id="14" name="Rectangle 3">
            <a:extLst>
              <a:ext uri="{FF2B5EF4-FFF2-40B4-BE49-F238E27FC236}">
                <a16:creationId xmlns:a16="http://schemas.microsoft.com/office/drawing/2014/main" id="{0F995085-3F13-AA96-EE50-6672F398B12F}"/>
              </a:ext>
            </a:extLst>
          </p:cNvPr>
          <p:cNvSpPr txBox="1">
            <a:spLocks noRot="1" noChangeArrowheads="1"/>
          </p:cNvSpPr>
          <p:nvPr/>
        </p:nvSpPr>
        <p:spPr>
          <a:xfrm>
            <a:off x="0" y="1098287"/>
            <a:ext cx="12192000" cy="1384995"/>
          </a:xfrm>
          <a:prstGeom prst="rect">
            <a:avLst/>
          </a:prstGeom>
          <a:noFill/>
        </p:spPr>
        <p:txBody>
          <a:bodyPr wrap="square">
            <a:spAutoFit/>
          </a:bodyPr>
          <a:lstStyle>
            <a:defPPr>
              <a:defRPr lang="zh-CN"/>
            </a:defPPr>
            <a:lvl1pPr>
              <a:defRPr sz="2400" b="1">
                <a:latin typeface="黑体" panose="02010609060101010101" pitchFamily="49" charset="-122"/>
                <a:ea typeface="黑体" panose="02010609060101010101" pitchFamily="49"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t>    细菌属原核类。细菌染色体位于细胞内的核区，核区外面没有核膜，所以称为原核。每一原核类细胞中通常只有一个染色体，染色体的结构简单，是一个裸露的</a:t>
            </a:r>
            <a:r>
              <a:rPr lang="en-US" altLang="zh-CN" sz="2800" dirty="0"/>
              <a:t>DNA</a:t>
            </a:r>
            <a:r>
              <a:rPr lang="zh-CN" altLang="en-US" sz="2800" dirty="0"/>
              <a:t>分子。</a:t>
            </a:r>
          </a:p>
        </p:txBody>
      </p:sp>
    </p:spTree>
    <p:extLst>
      <p:ext uri="{BB962C8B-B14F-4D97-AF65-F5344CB8AC3E}">
        <p14:creationId xmlns:p14="http://schemas.microsoft.com/office/powerpoint/2010/main" val="1320316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7D9022-520B-4DAC-905C-58971DF12395}"/>
              </a:ext>
            </a:extLst>
          </p:cNvPr>
          <p:cNvSpPr>
            <a:spLocks noGrp="1"/>
          </p:cNvSpPr>
          <p:nvPr>
            <p:ph type="title"/>
          </p:nvPr>
        </p:nvSpPr>
        <p:spPr>
          <a:xfrm>
            <a:off x="697584" y="208510"/>
            <a:ext cx="10515599" cy="5595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zh-CN" sz="3200" b="1" dirty="0">
                <a:solidFill>
                  <a:srgbClr val="0000FF"/>
                </a:solidFill>
                <a:latin typeface="黑体" panose="02010609060101010101" pitchFamily="49" charset="-122"/>
                <a:ea typeface="黑体" panose="02010609060101010101" pitchFamily="49" charset="-122"/>
              </a:rPr>
              <a:t>2.</a:t>
            </a:r>
            <a:r>
              <a:rPr lang="zh-CN" altLang="en-US" sz="3200" b="1" dirty="0">
                <a:solidFill>
                  <a:srgbClr val="0000FF"/>
                </a:solidFill>
                <a:latin typeface="黑体" panose="02010609060101010101" pitchFamily="49" charset="-122"/>
                <a:ea typeface="黑体" panose="02010609060101010101" pitchFamily="49" charset="-122"/>
              </a:rPr>
              <a:t>真核细胞的有丝分裂</a:t>
            </a:r>
          </a:p>
        </p:txBody>
      </p:sp>
      <p:sp>
        <p:nvSpPr>
          <p:cNvPr id="9" name="文本框 8">
            <a:extLst>
              <a:ext uri="{FF2B5EF4-FFF2-40B4-BE49-F238E27FC236}">
                <a16:creationId xmlns:a16="http://schemas.microsoft.com/office/drawing/2014/main" id="{2CE007D7-B659-4E26-B6DB-C8EB069B701D}"/>
              </a:ext>
            </a:extLst>
          </p:cNvPr>
          <p:cNvSpPr txBox="1"/>
          <p:nvPr/>
        </p:nvSpPr>
        <p:spPr>
          <a:xfrm>
            <a:off x="790892" y="2061275"/>
            <a:ext cx="7196469" cy="3350854"/>
          </a:xfrm>
          <a:prstGeom prst="rect">
            <a:avLst/>
          </a:prstGeom>
          <a:noFill/>
        </p:spPr>
        <p:txBody>
          <a:bodyPr wrap="square">
            <a:spAutoFit/>
          </a:bodyPr>
          <a:lstStyle/>
          <a:p>
            <a:pPr marL="342900" indent="-342900">
              <a:lnSpc>
                <a:spcPct val="150000"/>
              </a:lnSpc>
              <a:buFont typeface="+mj-lt"/>
              <a:buAutoNum type="arabicPeriod"/>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合成前期（</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gap 1 phase</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G1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期</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），这时细胞代谢旺盛， 不断生长，但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DNA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没有开始合成</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lt"/>
              <a:buAutoNum type="arabicPeriod"/>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合成期（</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synthetic phase</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期</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）时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DNA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才开始合成，为细胞分裂做准备</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lt"/>
              <a:buAutoNum type="arabicPeriod"/>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合成后期（</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gap 2 phase</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G2 </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期</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），细胞继续生长，同时进行蛋白质合成，完成分裂前的 其他准备</a:t>
            </a:r>
          </a:p>
        </p:txBody>
      </p:sp>
      <p:sp>
        <p:nvSpPr>
          <p:cNvPr id="10" name="矩形: 圆角 9">
            <a:extLst>
              <a:ext uri="{FF2B5EF4-FFF2-40B4-BE49-F238E27FC236}">
                <a16:creationId xmlns:a16="http://schemas.microsoft.com/office/drawing/2014/main" id="{9BF5C5D8-8258-4B4F-927A-F04BCE0B6A34}"/>
              </a:ext>
            </a:extLst>
          </p:cNvPr>
          <p:cNvSpPr/>
          <p:nvPr/>
        </p:nvSpPr>
        <p:spPr>
          <a:xfrm>
            <a:off x="292117" y="2459429"/>
            <a:ext cx="405467" cy="255454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微软雅黑" panose="020B0503020204020204" pitchFamily="34" charset="-122"/>
                <a:ea typeface="微软雅黑" panose="020B0503020204020204" pitchFamily="34" charset="-122"/>
              </a:rPr>
              <a:t>分裂间期</a:t>
            </a:r>
          </a:p>
        </p:txBody>
      </p:sp>
      <p:pic>
        <p:nvPicPr>
          <p:cNvPr id="6" name="图片 5">
            <a:extLst>
              <a:ext uri="{FF2B5EF4-FFF2-40B4-BE49-F238E27FC236}">
                <a16:creationId xmlns:a16="http://schemas.microsoft.com/office/drawing/2014/main" id="{782546AB-E855-450E-9797-09C6FC0148ED}"/>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987362" y="967565"/>
            <a:ext cx="4204638" cy="4220789"/>
          </a:xfrm>
          <a:prstGeom prst="rect">
            <a:avLst/>
          </a:prstGeom>
        </p:spPr>
      </p:pic>
      <p:sp>
        <p:nvSpPr>
          <p:cNvPr id="8" name="灯片编号占位符 2">
            <a:extLst>
              <a:ext uri="{FF2B5EF4-FFF2-40B4-BE49-F238E27FC236}">
                <a16:creationId xmlns:a16="http://schemas.microsoft.com/office/drawing/2014/main" id="{B6741AD8-B00B-43FC-8FDF-B01DBC8B6067}"/>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b="1" smtClean="0"/>
              <a:pPr/>
              <a:t>34</a:t>
            </a:fld>
            <a:endParaRPr lang="zh-CN" altLang="en-US" b="1" dirty="0"/>
          </a:p>
        </p:txBody>
      </p:sp>
      <p:sp>
        <p:nvSpPr>
          <p:cNvPr id="12" name="文本框 11">
            <a:extLst>
              <a:ext uri="{FF2B5EF4-FFF2-40B4-BE49-F238E27FC236}">
                <a16:creationId xmlns:a16="http://schemas.microsoft.com/office/drawing/2014/main" id="{17061432-0B30-FCDF-4DD9-AA6BE4FE644A}"/>
              </a:ext>
            </a:extLst>
          </p:cNvPr>
          <p:cNvSpPr txBox="1"/>
          <p:nvPr/>
        </p:nvSpPr>
        <p:spPr>
          <a:xfrm>
            <a:off x="292117" y="814379"/>
            <a:ext cx="8448927" cy="954107"/>
          </a:xfrm>
          <a:prstGeom prst="rect">
            <a:avLst/>
          </a:prstGeom>
          <a:noFill/>
        </p:spPr>
        <p:txBody>
          <a:bodyPr wrap="square">
            <a:spAutoFit/>
          </a:bodyPr>
          <a:lstStyle>
            <a:defPPr>
              <a:defRPr lang="zh-CN"/>
            </a:defPPr>
            <a:lvl1pPr>
              <a:defRPr sz="2800" b="1">
                <a:latin typeface="黑体" panose="02010609060101010101" pitchFamily="49" charset="-122"/>
                <a:ea typeface="黑体" panose="02010609060101010101"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有丝分裂可分为两个时相，即</a:t>
            </a:r>
            <a:r>
              <a:rPr lang="zh-CN" altLang="en-US" dirty="0">
                <a:solidFill>
                  <a:srgbClr val="FF0000"/>
                </a:solidFill>
              </a:rPr>
              <a:t>分裂间期（</a:t>
            </a:r>
            <a:r>
              <a:rPr lang="en-US" altLang="zh-CN" dirty="0">
                <a:solidFill>
                  <a:srgbClr val="FF0000"/>
                </a:solidFill>
              </a:rPr>
              <a:t>interphase</a:t>
            </a:r>
            <a:r>
              <a:rPr lang="zh-CN" altLang="en-US" dirty="0">
                <a:solidFill>
                  <a:srgbClr val="FF0000"/>
                </a:solidFill>
              </a:rPr>
              <a:t>）</a:t>
            </a:r>
            <a:r>
              <a:rPr lang="zh-CN" altLang="en-US" dirty="0"/>
              <a:t>和</a:t>
            </a:r>
            <a:r>
              <a:rPr lang="zh-CN" altLang="en-US" dirty="0">
                <a:solidFill>
                  <a:srgbClr val="FF0000"/>
                </a:solidFill>
              </a:rPr>
              <a:t>有丝分裂期（</a:t>
            </a:r>
            <a:r>
              <a:rPr lang="en-US" altLang="zh-CN" dirty="0">
                <a:solidFill>
                  <a:srgbClr val="FF0000"/>
                </a:solidFill>
              </a:rPr>
              <a:t>mitotic phase</a:t>
            </a:r>
            <a:r>
              <a:rPr lang="zh-CN" altLang="en-US" dirty="0">
                <a:solidFill>
                  <a:srgbClr val="FF0000"/>
                </a:solidFill>
              </a:rPr>
              <a:t>，</a:t>
            </a:r>
            <a:r>
              <a:rPr lang="en-US" altLang="zh-CN" dirty="0">
                <a:solidFill>
                  <a:srgbClr val="FF0000"/>
                </a:solidFill>
              </a:rPr>
              <a:t>M </a:t>
            </a:r>
            <a:r>
              <a:rPr lang="zh-CN" altLang="en-US" dirty="0">
                <a:solidFill>
                  <a:srgbClr val="FF0000"/>
                </a:solidFill>
              </a:rPr>
              <a:t>期）</a:t>
            </a:r>
          </a:p>
        </p:txBody>
      </p:sp>
    </p:spTree>
    <p:extLst>
      <p:ext uri="{BB962C8B-B14F-4D97-AF65-F5344CB8AC3E}">
        <p14:creationId xmlns:p14="http://schemas.microsoft.com/office/powerpoint/2010/main" val="30500164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0964AE3-61AE-4C0E-BFDB-3A9997DF34B8}"/>
              </a:ext>
            </a:extLst>
          </p:cNvPr>
          <p:cNvPicPr>
            <a:picLocks noChangeAspect="1"/>
          </p:cNvPicPr>
          <p:nvPr/>
        </p:nvPicPr>
        <p:blipFill>
          <a:blip r:embed="rId2"/>
          <a:stretch>
            <a:fillRect/>
          </a:stretch>
        </p:blipFill>
        <p:spPr>
          <a:xfrm>
            <a:off x="0" y="980122"/>
            <a:ext cx="12192000" cy="2913974"/>
          </a:xfrm>
          <a:prstGeom prst="rect">
            <a:avLst/>
          </a:prstGeom>
        </p:spPr>
      </p:pic>
      <p:sp>
        <p:nvSpPr>
          <p:cNvPr id="3" name="灯片编号占位符 2">
            <a:extLst>
              <a:ext uri="{FF2B5EF4-FFF2-40B4-BE49-F238E27FC236}">
                <a16:creationId xmlns:a16="http://schemas.microsoft.com/office/drawing/2014/main" id="{1DF80CBF-6897-44F4-AB2B-5E6972A23AA7}"/>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35</a:t>
            </a:fld>
            <a:endParaRPr lang="zh-CN" altLang="en-US" dirty="0"/>
          </a:p>
        </p:txBody>
      </p:sp>
    </p:spTree>
    <p:extLst>
      <p:ext uri="{BB962C8B-B14F-4D97-AF65-F5344CB8AC3E}">
        <p14:creationId xmlns:p14="http://schemas.microsoft.com/office/powerpoint/2010/main" val="1094748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45F2F85-B5B3-4914-82CC-47ADEDE25C4A}"/>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640716" y="945950"/>
            <a:ext cx="8323916" cy="4966097"/>
          </a:xfrm>
          <a:prstGeom prst="rect">
            <a:avLst/>
          </a:prstGeom>
        </p:spPr>
      </p:pic>
      <p:sp>
        <p:nvSpPr>
          <p:cNvPr id="9" name="文本框 8">
            <a:extLst>
              <a:ext uri="{FF2B5EF4-FFF2-40B4-BE49-F238E27FC236}">
                <a16:creationId xmlns:a16="http://schemas.microsoft.com/office/drawing/2014/main" id="{43BB1FFD-2EC9-41B4-BB26-6993E3A9F842}"/>
              </a:ext>
            </a:extLst>
          </p:cNvPr>
          <p:cNvSpPr txBox="1"/>
          <p:nvPr/>
        </p:nvSpPr>
        <p:spPr>
          <a:xfrm>
            <a:off x="0" y="855993"/>
            <a:ext cx="3640716" cy="5485412"/>
          </a:xfrm>
          <a:prstGeom prst="rect">
            <a:avLst/>
          </a:prstGeom>
          <a:noFill/>
        </p:spPr>
        <p:txBody>
          <a:bodyPr wrap="square">
            <a:spAutoFit/>
          </a:bodyPr>
          <a:lstStyle/>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a</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）间期：不分裂的细胞。</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b</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）前期：染色体出现，呈细线状，中心体分开。</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c</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）前中期：染色体缩短变粗，核膜将近消失， 纺锤体形成。</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d</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）中期：核膜消失，染色体排列在赤道面上。</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e</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）中期（极面观）。 </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f</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）后期：并列的两染色单体分别向两极移动。</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g</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）末期：染色体到达两极。核膜渐次出现，胞质分割。</a:t>
            </a:r>
            <a:endParaRPr lang="en-US" altLang="zh-CN" sz="20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zh-CN" altLang="en-US" sz="20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000" b="1" dirty="0">
                <a:latin typeface="楷体" panose="02010609060101010101" pitchFamily="49" charset="-122"/>
                <a:ea typeface="楷体" panose="02010609060101010101" pitchFamily="49" charset="-122"/>
                <a:cs typeface="Times New Roman" panose="02020603050405020304" pitchFamily="18" charset="0"/>
              </a:rPr>
              <a:t>h</a:t>
            </a:r>
            <a:r>
              <a:rPr lang="zh-CN" altLang="en-US" sz="2000" b="1" dirty="0">
                <a:latin typeface="楷体" panose="02010609060101010101" pitchFamily="49" charset="-122"/>
                <a:ea typeface="楷体" panose="02010609060101010101" pitchFamily="49" charset="-122"/>
                <a:cs typeface="Times New Roman" panose="02020603050405020304" pitchFamily="18" charset="0"/>
              </a:rPr>
              <a:t>）核进入休止状态，胞质分割将近完成，一个细胞分裂为两个子细胞，子细胞的染色体数目跟原来细胞一样。</a:t>
            </a:r>
          </a:p>
        </p:txBody>
      </p:sp>
      <p:sp>
        <p:nvSpPr>
          <p:cNvPr id="6" name="灯片编号占位符 2">
            <a:extLst>
              <a:ext uri="{FF2B5EF4-FFF2-40B4-BE49-F238E27FC236}">
                <a16:creationId xmlns:a16="http://schemas.microsoft.com/office/drawing/2014/main" id="{13F34818-BDA3-4395-B801-F26C9E38B843}"/>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36</a:t>
            </a:fld>
            <a:endParaRPr lang="zh-CN" altLang="en-US" dirty="0"/>
          </a:p>
        </p:txBody>
      </p:sp>
      <p:sp>
        <p:nvSpPr>
          <p:cNvPr id="5" name="文本框 4">
            <a:extLst>
              <a:ext uri="{FF2B5EF4-FFF2-40B4-BE49-F238E27FC236}">
                <a16:creationId xmlns:a16="http://schemas.microsoft.com/office/drawing/2014/main" id="{56C60273-8332-7D7F-851E-BCA75C239C8E}"/>
              </a:ext>
            </a:extLst>
          </p:cNvPr>
          <p:cNvSpPr txBox="1"/>
          <p:nvPr/>
        </p:nvSpPr>
        <p:spPr>
          <a:xfrm>
            <a:off x="361045" y="136525"/>
            <a:ext cx="10908317" cy="523220"/>
          </a:xfrm>
          <a:prstGeom prst="rect">
            <a:avLst/>
          </a:prstGeom>
          <a:noFill/>
        </p:spPr>
        <p:txBody>
          <a:bodyPr wrap="square">
            <a:spAutoFit/>
          </a:bodyPr>
          <a:lstStyle>
            <a:defPPr>
              <a:defRPr lang="zh-CN"/>
            </a:defPPr>
            <a:lvl1pPr>
              <a:defRPr sz="2800" b="1">
                <a:latin typeface="黑体" panose="02010609060101010101" pitchFamily="49" charset="-122"/>
                <a:ea typeface="黑体" panose="02010609060101010101"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有丝分裂期又分为</a:t>
            </a:r>
            <a:r>
              <a:rPr lang="zh-CN" altLang="en-US" dirty="0">
                <a:solidFill>
                  <a:srgbClr val="FF0000"/>
                </a:solidFill>
              </a:rPr>
              <a:t>前期、前中期、中期、后期和末期</a:t>
            </a:r>
            <a:r>
              <a:rPr lang="zh-CN" altLang="en-US" dirty="0"/>
              <a:t>。</a:t>
            </a:r>
          </a:p>
        </p:txBody>
      </p:sp>
    </p:spTree>
    <p:extLst>
      <p:ext uri="{BB962C8B-B14F-4D97-AF65-F5344CB8AC3E}">
        <p14:creationId xmlns:p14="http://schemas.microsoft.com/office/powerpoint/2010/main" val="18534517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26"/>
          <p:cNvSpPr>
            <a:spLocks noGrp="1" noChangeArrowheads="1"/>
          </p:cNvSpPr>
          <p:nvPr>
            <p:ph type="title"/>
          </p:nvPr>
        </p:nvSpPr>
        <p:spPr bwMode="auto">
          <a:xfrm>
            <a:off x="3294832" y="213064"/>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dirty="0">
                <a:solidFill>
                  <a:srgbClr val="0000FF"/>
                </a:solidFill>
                <a:latin typeface="黑体" panose="02010609060101010101" pitchFamily="49" charset="-122"/>
                <a:ea typeface="黑体" panose="02010609060101010101" pitchFamily="49" charset="-122"/>
              </a:rPr>
              <a:t>有丝分裂的特点和意义</a:t>
            </a:r>
          </a:p>
        </p:txBody>
      </p:sp>
      <p:sp>
        <p:nvSpPr>
          <p:cNvPr id="91139" name="Rectangle 1027"/>
          <p:cNvSpPr>
            <a:spLocks noGrp="1" noChangeArrowheads="1"/>
          </p:cNvSpPr>
          <p:nvPr>
            <p:ph idx="1"/>
          </p:nvPr>
        </p:nvSpPr>
        <p:spPr bwMode="auto">
          <a:xfrm>
            <a:off x="680620" y="898864"/>
            <a:ext cx="10638409" cy="53103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10000"/>
              </a:lnSpc>
              <a:buClr>
                <a:srgbClr val="FF9900"/>
              </a:buClr>
              <a:buNone/>
            </a:pPr>
            <a:r>
              <a:rPr lang="zh-CN" altLang="en-US" b="1" dirty="0">
                <a:solidFill>
                  <a:srgbClr val="0000FF"/>
                </a:solidFill>
                <a:latin typeface="黑体" panose="02010609060101010101" pitchFamily="49" charset="-122"/>
                <a:ea typeface="黑体" panose="02010609060101010101" pitchFamily="49" charset="-122"/>
              </a:rPr>
              <a:t>特点</a:t>
            </a:r>
            <a:r>
              <a:rPr lang="en-US" altLang="zh-CN" b="1" dirty="0">
                <a:solidFill>
                  <a:srgbClr val="0000FF"/>
                </a:solidFill>
                <a:latin typeface="黑体" panose="02010609060101010101" pitchFamily="49" charset="-122"/>
                <a:ea typeface="黑体" panose="02010609060101010101" pitchFamily="49" charset="-122"/>
              </a:rPr>
              <a:t>:</a:t>
            </a:r>
            <a:endParaRPr lang="zh-CN" altLang="en-US" b="1" dirty="0">
              <a:solidFill>
                <a:srgbClr val="0000FF"/>
              </a:solidFill>
              <a:latin typeface="黑体" panose="02010609060101010101" pitchFamily="49" charset="-122"/>
              <a:ea typeface="黑体" panose="02010609060101010101" pitchFamily="49" charset="-122"/>
            </a:endParaRPr>
          </a:p>
          <a:p>
            <a:pPr>
              <a:lnSpc>
                <a:spcPct val="110000"/>
              </a:lnSpc>
              <a:buClr>
                <a:schemeClr val="folHlink"/>
              </a:buClr>
              <a:buFontTx/>
              <a:buNone/>
            </a:pPr>
            <a:r>
              <a:rPr lang="en-US" altLang="zh-CN" b="1" dirty="0">
                <a:latin typeface="黑体" panose="02010609060101010101" pitchFamily="49" charset="-122"/>
                <a:ea typeface="黑体" panose="02010609060101010101" pitchFamily="49" charset="-122"/>
              </a:rPr>
              <a:t>	   1</a:t>
            </a:r>
            <a:r>
              <a:rPr lang="zh-CN" altLang="en-US" b="1" dirty="0">
                <a:latin typeface="黑体" panose="02010609060101010101" pitchFamily="49" charset="-122"/>
                <a:ea typeface="黑体" panose="02010609060101010101" pitchFamily="49" charset="-122"/>
              </a:rPr>
              <a:t>、发生在体细胞增殖的过程中，是体细胞增殖的主要方式之一，也是真核细胞增殖的基本形式。 </a:t>
            </a:r>
          </a:p>
          <a:p>
            <a:pPr>
              <a:lnSpc>
                <a:spcPct val="110000"/>
              </a:lnSpc>
              <a:buClr>
                <a:schemeClr val="folHlink"/>
              </a:buClr>
              <a:buFontTx/>
              <a:buNone/>
            </a:pPr>
            <a:r>
              <a:rPr lang="en-US" altLang="zh-CN" b="1" dirty="0">
                <a:latin typeface="黑体" panose="02010609060101010101" pitchFamily="49" charset="-122"/>
                <a:ea typeface="黑体" panose="02010609060101010101" pitchFamily="49" charset="-122"/>
              </a:rPr>
              <a:t>	   2</a:t>
            </a:r>
            <a:r>
              <a:rPr lang="zh-CN" altLang="en-US" b="1" dirty="0">
                <a:latin typeface="黑体" panose="02010609060101010101" pitchFamily="49" charset="-122"/>
                <a:ea typeface="黑体" panose="02010609060101010101" pitchFamily="49" charset="-122"/>
              </a:rPr>
              <a:t>、染色体复制一次，细胞分裂一次，形成两个子细胞。 </a:t>
            </a:r>
            <a:endParaRPr lang="en-US" altLang="zh-CN" b="1" dirty="0">
              <a:latin typeface="黑体" panose="02010609060101010101" pitchFamily="49" charset="-122"/>
              <a:ea typeface="黑体" panose="02010609060101010101" pitchFamily="49" charset="-122"/>
            </a:endParaRPr>
          </a:p>
          <a:p>
            <a:pPr>
              <a:lnSpc>
                <a:spcPct val="110000"/>
              </a:lnSpc>
              <a:buClr>
                <a:schemeClr val="folHlink"/>
              </a:buClr>
              <a:buFontTx/>
              <a:buNone/>
            </a:pPr>
            <a:r>
              <a:rPr lang="en-US" altLang="zh-CN" b="1" dirty="0">
                <a:latin typeface="黑体" panose="02010609060101010101" pitchFamily="49" charset="-122"/>
                <a:ea typeface="黑体" panose="02010609060101010101" pitchFamily="49" charset="-122"/>
              </a:rPr>
              <a:t>    3</a:t>
            </a:r>
            <a:r>
              <a:rPr lang="zh-CN" altLang="en-US" b="1" dirty="0">
                <a:latin typeface="黑体" panose="02010609060101010101" pitchFamily="49" charset="-122"/>
                <a:ea typeface="黑体" panose="02010609060101010101" pitchFamily="49" charset="-122"/>
              </a:rPr>
              <a:t>、形成的两个子细胞其染色体数目和功能与母细胞完全一致。</a:t>
            </a:r>
          </a:p>
          <a:p>
            <a:pPr marL="0" indent="0">
              <a:lnSpc>
                <a:spcPct val="110000"/>
              </a:lnSpc>
              <a:buClr>
                <a:srgbClr val="FF9900"/>
              </a:buClr>
              <a:buNone/>
            </a:pPr>
            <a:r>
              <a:rPr lang="zh-CN" altLang="en-US" b="1" dirty="0">
                <a:solidFill>
                  <a:srgbClr val="0000FF"/>
                </a:solidFill>
                <a:latin typeface="黑体" panose="02010609060101010101" pitchFamily="49" charset="-122"/>
                <a:ea typeface="黑体" panose="02010609060101010101" pitchFamily="49" charset="-122"/>
              </a:rPr>
              <a:t>意义</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solidFill>
                  <a:srgbClr val="0000FF"/>
                </a:solidFill>
                <a:latin typeface="黑体" panose="02010609060101010101" pitchFamily="49" charset="-122"/>
                <a:ea typeface="黑体" panose="02010609060101010101" pitchFamily="49" charset="-122"/>
              </a:rPr>
              <a:t> </a:t>
            </a:r>
          </a:p>
          <a:p>
            <a:pPr marL="0" indent="0">
              <a:lnSpc>
                <a:spcPct val="110000"/>
              </a:lnSpc>
              <a:buClr>
                <a:schemeClr val="folHlink"/>
              </a:buClr>
              <a:buNone/>
            </a:pPr>
            <a:r>
              <a:rPr lang="zh-CN" altLang="en-US" dirty="0">
                <a:latin typeface="宋体" panose="02010600030101010101" pitchFamily="2" charset="-122"/>
              </a:rPr>
              <a:t>    </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、导致了体细胞增殖，维持了个体的生长发育； </a:t>
            </a:r>
          </a:p>
          <a:p>
            <a:pPr marL="0" indent="0">
              <a:lnSpc>
                <a:spcPct val="110000"/>
              </a:lnSpc>
              <a:buClr>
                <a:schemeClr val="folHlink"/>
              </a:buClr>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、保证了物种遗传物质的稳定性和延续性。</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bwMode="auto">
          <a:xfrm>
            <a:off x="3504413" y="299621"/>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600" b="1" noProof="1">
                <a:solidFill>
                  <a:srgbClr val="FF0000"/>
                </a:solidFill>
                <a:latin typeface="黑体" panose="02010609060101010101" pitchFamily="49" charset="-122"/>
                <a:ea typeface="黑体" panose="02010609060101010101" pitchFamily="49" charset="-122"/>
              </a:rPr>
              <a:t>有丝分裂的异常现象</a:t>
            </a:r>
            <a:endParaRPr lang="zh-CN" altLang="en-US" sz="3600" b="1" dirty="0">
              <a:solidFill>
                <a:srgbClr val="FF0000"/>
              </a:solidFill>
              <a:latin typeface="黑体" panose="02010609060101010101" pitchFamily="49" charset="-122"/>
              <a:ea typeface="黑体" panose="02010609060101010101" pitchFamily="49" charset="-122"/>
            </a:endParaRPr>
          </a:p>
        </p:txBody>
      </p:sp>
      <p:sp>
        <p:nvSpPr>
          <p:cNvPr id="92163" name="Rectangle 3"/>
          <p:cNvSpPr>
            <a:spLocks noGrp="1" noChangeArrowheads="1"/>
          </p:cNvSpPr>
          <p:nvPr>
            <p:ph idx="1"/>
          </p:nvPr>
        </p:nvSpPr>
        <p:spPr bwMode="auto">
          <a:xfrm>
            <a:off x="4111149" y="1650901"/>
            <a:ext cx="4728051" cy="329701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40000"/>
              </a:lnSpc>
              <a:buClr>
                <a:schemeClr val="folHlink"/>
              </a:buClr>
              <a:buNone/>
            </a:pPr>
            <a:r>
              <a:rPr lang="zh-CN" altLang="en-US" sz="3600" b="1" dirty="0">
                <a:solidFill>
                  <a:srgbClr val="0000FF"/>
                </a:solidFill>
                <a:latin typeface="黑体" panose="02010609060101010101" pitchFamily="49" charset="-122"/>
                <a:ea typeface="黑体" panose="02010609060101010101" pitchFamily="49" charset="-122"/>
              </a:rPr>
              <a:t>1.</a:t>
            </a:r>
            <a:r>
              <a:rPr lang="zh-CN" altLang="en-US" sz="3600" b="1" noProof="1">
                <a:solidFill>
                  <a:srgbClr val="0000FF"/>
                </a:solidFill>
                <a:latin typeface="黑体" panose="02010609060101010101" pitchFamily="49" charset="-122"/>
                <a:ea typeface="黑体" panose="02010609060101010101" pitchFamily="49" charset="-122"/>
              </a:rPr>
              <a:t>内源有丝分裂</a:t>
            </a:r>
            <a:endParaRPr lang="en-US" altLang="en-US" sz="3600" b="1" dirty="0">
              <a:solidFill>
                <a:srgbClr val="0000FF"/>
              </a:solidFill>
              <a:latin typeface="黑体" panose="02010609060101010101" pitchFamily="49" charset="-122"/>
              <a:ea typeface="黑体" panose="02010609060101010101" pitchFamily="49" charset="-122"/>
            </a:endParaRPr>
          </a:p>
          <a:p>
            <a:pPr marL="0" indent="0">
              <a:lnSpc>
                <a:spcPct val="140000"/>
              </a:lnSpc>
              <a:buClr>
                <a:schemeClr val="folHlink"/>
              </a:buClr>
              <a:buNone/>
            </a:pPr>
            <a:r>
              <a:rPr lang="zh-CN" altLang="en-US" sz="3600" b="1" dirty="0">
                <a:solidFill>
                  <a:srgbClr val="0000FF"/>
                </a:solidFill>
                <a:latin typeface="黑体" panose="02010609060101010101" pitchFamily="49" charset="-122"/>
                <a:ea typeface="黑体" panose="02010609060101010101" pitchFamily="49" charset="-122"/>
              </a:rPr>
              <a:t>2.</a:t>
            </a:r>
            <a:r>
              <a:rPr lang="zh-CN" altLang="en-US" sz="3600" b="1" noProof="1">
                <a:solidFill>
                  <a:srgbClr val="0000FF"/>
                </a:solidFill>
                <a:latin typeface="黑体" panose="02010609060101010101" pitchFamily="49" charset="-122"/>
                <a:ea typeface="黑体" panose="02010609060101010101" pitchFamily="49" charset="-122"/>
              </a:rPr>
              <a:t>多次有丝分裂</a:t>
            </a:r>
            <a:endParaRPr lang="zh-CN" altLang="en-US" sz="3600" b="1" dirty="0">
              <a:solidFill>
                <a:srgbClr val="0000FF"/>
              </a:solidFill>
              <a:latin typeface="黑体" panose="02010609060101010101" pitchFamily="49" charset="-122"/>
              <a:ea typeface="黑体" panose="02010609060101010101" pitchFamily="49" charset="-122"/>
            </a:endParaRPr>
          </a:p>
          <a:p>
            <a:pPr marL="0" indent="0">
              <a:lnSpc>
                <a:spcPct val="140000"/>
              </a:lnSpc>
              <a:buClr>
                <a:schemeClr val="folHlink"/>
              </a:buClr>
              <a:buNone/>
            </a:pPr>
            <a:r>
              <a:rPr lang="zh-CN" altLang="en-US" sz="3600" b="1" dirty="0">
                <a:solidFill>
                  <a:srgbClr val="0000FF"/>
                </a:solidFill>
                <a:latin typeface="黑体" panose="02010609060101010101" pitchFamily="49" charset="-122"/>
                <a:ea typeface="黑体" panose="02010609060101010101" pitchFamily="49" charset="-122"/>
              </a:rPr>
              <a:t>3.</a:t>
            </a:r>
            <a:r>
              <a:rPr lang="zh-CN" altLang="en-US" sz="3600" b="1" noProof="1">
                <a:solidFill>
                  <a:srgbClr val="0000FF"/>
                </a:solidFill>
                <a:latin typeface="黑体" panose="02010609060101010101" pitchFamily="49" charset="-122"/>
                <a:ea typeface="黑体" panose="02010609060101010101" pitchFamily="49" charset="-122"/>
              </a:rPr>
              <a:t>体细胞联会</a:t>
            </a:r>
            <a:endParaRPr lang="en-US" altLang="en-US" sz="36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p:cNvSpPr>
            <a:spLocks noChangeArrowheads="1"/>
          </p:cNvSpPr>
          <p:nvPr/>
        </p:nvSpPr>
        <p:spPr bwMode="auto">
          <a:xfrm>
            <a:off x="167898" y="884695"/>
            <a:ext cx="12024102" cy="5367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defRPr sz="2800" b="1">
                <a:solidFill>
                  <a:schemeClr val="tx1"/>
                </a:solidFill>
                <a:latin typeface="Arial" panose="020B0604020202020204" pitchFamily="34" charset="0"/>
                <a:ea typeface="黑体" panose="02010609060101010101" pitchFamily="49" charset="-122"/>
              </a:defRPr>
            </a:lvl1pPr>
            <a:lvl2pPr marL="876300" indent="-41910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spcBef>
                <a:spcPct val="20000"/>
              </a:spcBef>
              <a:buClr>
                <a:schemeClr val="accent2"/>
              </a:buClr>
              <a:buSzPct val="80000"/>
            </a:pPr>
            <a:r>
              <a:rPr lang="en-US" altLang="en-US" dirty="0" err="1">
                <a:latin typeface="黑体" panose="02010609060101010101" pitchFamily="49" charset="-122"/>
              </a:rPr>
              <a:t>内源有丝分裂的三种情况</a:t>
            </a:r>
            <a:r>
              <a:rPr lang="en-US" altLang="en-US" dirty="0">
                <a:latin typeface="黑体" panose="02010609060101010101" pitchFamily="49" charset="-122"/>
              </a:rPr>
              <a:t>：</a:t>
            </a:r>
            <a:endParaRPr lang="en-US" altLang="en-US" noProof="1">
              <a:latin typeface="黑体" panose="02010609060101010101" pitchFamily="49" charset="-122"/>
            </a:endParaRPr>
          </a:p>
          <a:p>
            <a:pPr marL="457200" lvl="1" indent="0" eaLnBrk="1" hangingPunct="1">
              <a:spcBef>
                <a:spcPct val="20000"/>
              </a:spcBef>
              <a:buClr>
                <a:schemeClr val="tx1"/>
              </a:buClr>
              <a:buSzPct val="90000"/>
            </a:pPr>
            <a:r>
              <a:rPr lang="en-US" altLang="en-US" dirty="0">
                <a:latin typeface="黑体" panose="02010609060101010101" pitchFamily="49" charset="-122"/>
              </a:rPr>
              <a:t>(1)</a:t>
            </a:r>
            <a:r>
              <a:rPr lang="en-US" altLang="en-US" dirty="0" err="1">
                <a:latin typeface="黑体" panose="02010609060101010101" pitchFamily="49" charset="-122"/>
              </a:rPr>
              <a:t>染色体</a:t>
            </a:r>
            <a:r>
              <a:rPr lang="zh-CN" altLang="en-US" noProof="1">
                <a:latin typeface="黑体" panose="02010609060101010101" pitchFamily="49" charset="-122"/>
              </a:rPr>
              <a:t>复制和核分裂正常进行，</a:t>
            </a:r>
            <a:r>
              <a:rPr lang="zh-CN" altLang="en-US" noProof="1">
                <a:solidFill>
                  <a:srgbClr val="FF0000"/>
                </a:solidFill>
                <a:latin typeface="黑体" panose="02010609060101010101" pitchFamily="49" charset="-122"/>
              </a:rPr>
              <a:t>不发生细胞质分裂</a:t>
            </a:r>
            <a:r>
              <a:rPr lang="zh-CN" altLang="en-US" noProof="1">
                <a:latin typeface="黑体" panose="02010609060101010101" pitchFamily="49" charset="-122"/>
              </a:rPr>
              <a:t>，</a:t>
            </a:r>
            <a:r>
              <a:rPr lang="en-US" altLang="en-US" dirty="0" err="1">
                <a:latin typeface="黑体" panose="02010609060101010101" pitchFamily="49" charset="-122"/>
              </a:rPr>
              <a:t>形成</a:t>
            </a:r>
            <a:r>
              <a:rPr lang="zh-CN" altLang="en-US" noProof="1">
                <a:latin typeface="黑体" panose="02010609060101010101" pitchFamily="49" charset="-122"/>
              </a:rPr>
              <a:t>具有多个</a:t>
            </a:r>
            <a:r>
              <a:rPr lang="en-US" altLang="en-US" dirty="0" err="1">
                <a:latin typeface="黑体" panose="02010609060101010101" pitchFamily="49" charset="-122"/>
              </a:rPr>
              <a:t>游离</a:t>
            </a:r>
            <a:r>
              <a:rPr lang="zh-CN" altLang="en-US" noProof="1">
                <a:latin typeface="黑体" panose="02010609060101010101" pitchFamily="49" charset="-122"/>
              </a:rPr>
              <a:t>细胞核</a:t>
            </a:r>
            <a:r>
              <a:rPr lang="en-US" altLang="en-US" dirty="0">
                <a:latin typeface="黑体" panose="02010609060101010101" pitchFamily="49" charset="-122"/>
              </a:rPr>
              <a:t>的</a:t>
            </a:r>
            <a:r>
              <a:rPr lang="zh-CN" altLang="en-US" noProof="1">
                <a:solidFill>
                  <a:srgbClr val="FF0000"/>
                </a:solidFill>
                <a:latin typeface="黑体" panose="02010609060101010101" pitchFamily="49" charset="-122"/>
              </a:rPr>
              <a:t>多核细胞</a:t>
            </a:r>
            <a:r>
              <a:rPr lang="en-US" altLang="en-US" dirty="0">
                <a:latin typeface="黑体" panose="02010609060101010101" pitchFamily="49" charset="-122"/>
              </a:rPr>
              <a:t>(multinucleate cell, </a:t>
            </a:r>
            <a:r>
              <a:rPr lang="en-US" altLang="en-US" dirty="0" err="1">
                <a:latin typeface="黑体" panose="02010609060101010101" pitchFamily="49" charset="-122"/>
              </a:rPr>
              <a:t>polykaryocyte</a:t>
            </a:r>
            <a:r>
              <a:rPr lang="en-US" altLang="en-US" dirty="0">
                <a:latin typeface="黑体" panose="02010609060101010101" pitchFamily="49" charset="-122"/>
              </a:rPr>
              <a:t>)。</a:t>
            </a:r>
            <a:r>
              <a:rPr lang="en-US" altLang="en-US" dirty="0" err="1">
                <a:latin typeface="黑体" panose="02010609060101010101" pitchFamily="49" charset="-122"/>
              </a:rPr>
              <a:t>如：单子叶植物胚乳形成早期</a:t>
            </a:r>
            <a:r>
              <a:rPr lang="en-US" altLang="en-US" noProof="1">
                <a:latin typeface="黑体" panose="02010609060101010101" pitchFamily="49" charset="-122"/>
              </a:rPr>
              <a:t>。</a:t>
            </a:r>
          </a:p>
          <a:p>
            <a:pPr marL="457200" lvl="1" indent="0" eaLnBrk="1" hangingPunct="1">
              <a:spcBef>
                <a:spcPct val="20000"/>
              </a:spcBef>
              <a:buClr>
                <a:schemeClr val="tx1"/>
              </a:buClr>
              <a:buSzPct val="90000"/>
            </a:pPr>
            <a:r>
              <a:rPr lang="en-US" altLang="en-US" dirty="0">
                <a:latin typeface="黑体" panose="02010609060101010101" pitchFamily="49" charset="-122"/>
              </a:rPr>
              <a:t>(2)</a:t>
            </a:r>
            <a:r>
              <a:rPr lang="en-US" altLang="en-US" dirty="0" err="1">
                <a:solidFill>
                  <a:srgbClr val="FF0000"/>
                </a:solidFill>
                <a:latin typeface="黑体" panose="02010609060101010101" pitchFamily="49" charset="-122"/>
              </a:rPr>
              <a:t>核内有丝分裂</a:t>
            </a:r>
            <a:r>
              <a:rPr lang="en-US" altLang="en-US" dirty="0">
                <a:latin typeface="黑体" panose="02010609060101010101" pitchFamily="49" charset="-122"/>
              </a:rPr>
              <a:t>(endomitosis)：</a:t>
            </a:r>
            <a:r>
              <a:rPr lang="zh-CN" altLang="en-US" noProof="1">
                <a:latin typeface="黑体" panose="02010609060101010101" pitchFamily="49" charset="-122"/>
              </a:rPr>
              <a:t>染色体正常复制、</a:t>
            </a:r>
            <a:r>
              <a:rPr lang="en-US" altLang="en-US" dirty="0">
                <a:latin typeface="黑体" panose="02010609060101010101" pitchFamily="49" charset="-122"/>
              </a:rPr>
              <a:t>(</a:t>
            </a:r>
            <a:r>
              <a:rPr lang="zh-CN" altLang="en-US" noProof="1">
                <a:latin typeface="黑体" panose="02010609060101010101" pitchFamily="49" charset="-122"/>
              </a:rPr>
              <a:t>着丝粒</a:t>
            </a:r>
            <a:r>
              <a:rPr lang="en-US" altLang="en-US" dirty="0">
                <a:latin typeface="黑体" panose="02010609060101010101" pitchFamily="49" charset="-122"/>
              </a:rPr>
              <a:t>)</a:t>
            </a:r>
            <a:r>
              <a:rPr lang="zh-CN" altLang="en-US" noProof="1">
                <a:latin typeface="黑体" panose="02010609060101010101" pitchFamily="49" charset="-122"/>
              </a:rPr>
              <a:t>正常分裂，核</a:t>
            </a:r>
            <a:r>
              <a:rPr lang="en-US" altLang="en-US" dirty="0">
                <a:latin typeface="黑体" panose="02010609060101010101" pitchFamily="49" charset="-122"/>
              </a:rPr>
              <a:t>、</a:t>
            </a:r>
            <a:r>
              <a:rPr lang="zh-CN" altLang="en-US" noProof="1">
                <a:latin typeface="黑体" panose="02010609060101010101" pitchFamily="49" charset="-122"/>
              </a:rPr>
              <a:t>质不分裂。每条染色体复制、分裂产生的两条染色体包含在同一个细胞核内。核内染色体数目成倍增加，形成</a:t>
            </a:r>
            <a:r>
              <a:rPr lang="zh-CN" altLang="en-US" noProof="1">
                <a:solidFill>
                  <a:srgbClr val="FF0000"/>
                </a:solidFill>
                <a:latin typeface="黑体" panose="02010609060101010101" pitchFamily="49" charset="-122"/>
              </a:rPr>
              <a:t>内源多倍性(</a:t>
            </a:r>
            <a:r>
              <a:rPr lang="en-US" altLang="zh-CN" noProof="1">
                <a:solidFill>
                  <a:srgbClr val="FF0000"/>
                </a:solidFill>
                <a:latin typeface="黑体" panose="02010609060101010101" pitchFamily="49" charset="-122"/>
              </a:rPr>
              <a:t>endopolyploidy)</a:t>
            </a:r>
            <a:r>
              <a:rPr lang="zh-CN" altLang="en-US" noProof="1">
                <a:latin typeface="黑体" panose="02010609060101010101" pitchFamily="49" charset="-122"/>
              </a:rPr>
              <a:t>细胞</a:t>
            </a:r>
            <a:r>
              <a:rPr lang="en-US" altLang="en-US" dirty="0">
                <a:latin typeface="黑体" panose="02010609060101010101" pitchFamily="49" charset="-122"/>
              </a:rPr>
              <a:t>。</a:t>
            </a:r>
            <a:r>
              <a:rPr lang="en-US" altLang="en-US" dirty="0" err="1">
                <a:latin typeface="黑体" panose="02010609060101010101" pitchFamily="49" charset="-122"/>
              </a:rPr>
              <a:t>如：花药绒毡层细胞</a:t>
            </a:r>
            <a:r>
              <a:rPr lang="en-US" altLang="en-US" noProof="1">
                <a:latin typeface="黑体" panose="02010609060101010101" pitchFamily="49" charset="-122"/>
              </a:rPr>
              <a:t>。</a:t>
            </a:r>
          </a:p>
          <a:p>
            <a:pPr marL="457200" lvl="1" indent="0" eaLnBrk="1" hangingPunct="1">
              <a:spcBef>
                <a:spcPct val="20000"/>
              </a:spcBef>
              <a:buClr>
                <a:schemeClr val="tx1"/>
              </a:buClr>
              <a:buSzPct val="90000"/>
            </a:pPr>
            <a:r>
              <a:rPr lang="en-US" altLang="zh-CN" noProof="1">
                <a:latin typeface="黑体" panose="02010609060101010101" pitchFamily="49" charset="-122"/>
              </a:rPr>
              <a:t>(3)</a:t>
            </a:r>
            <a:r>
              <a:rPr lang="zh-CN" altLang="en-US" noProof="1">
                <a:latin typeface="黑体" panose="02010609060101010101" pitchFamily="49" charset="-122"/>
              </a:rPr>
              <a:t>染色体正常复制，整个细胞经常性处于间期状态，不发生着丝粒分裂，</a:t>
            </a:r>
            <a:r>
              <a:rPr lang="en-US" altLang="en-US" dirty="0" err="1">
                <a:solidFill>
                  <a:srgbClr val="FF0000"/>
                </a:solidFill>
                <a:latin typeface="黑体" panose="02010609060101010101" pitchFamily="49" charset="-122"/>
              </a:rPr>
              <a:t>不进行</a:t>
            </a:r>
            <a:r>
              <a:rPr lang="zh-CN" altLang="en-US" noProof="1">
                <a:solidFill>
                  <a:srgbClr val="FF0000"/>
                </a:solidFill>
                <a:latin typeface="黑体" panose="02010609060101010101" pitchFamily="49" charset="-122"/>
              </a:rPr>
              <a:t>核</a:t>
            </a:r>
            <a:r>
              <a:rPr lang="en-US" altLang="en-US" dirty="0">
                <a:solidFill>
                  <a:srgbClr val="FF0000"/>
                </a:solidFill>
                <a:latin typeface="黑体" panose="02010609060101010101" pitchFamily="49" charset="-122"/>
              </a:rPr>
              <a:t>、质</a:t>
            </a:r>
            <a:r>
              <a:rPr lang="zh-CN" altLang="en-US" noProof="1">
                <a:solidFill>
                  <a:srgbClr val="FF0000"/>
                </a:solidFill>
                <a:latin typeface="黑体" panose="02010609060101010101" pitchFamily="49" charset="-122"/>
              </a:rPr>
              <a:t>分裂</a:t>
            </a:r>
            <a:r>
              <a:rPr lang="zh-CN" altLang="en-US" noProof="1">
                <a:latin typeface="黑体" panose="02010609060101010101" pitchFamily="49" charset="-122"/>
              </a:rPr>
              <a:t>。复制</a:t>
            </a:r>
            <a:r>
              <a:rPr lang="en-US" altLang="en-US" dirty="0" err="1">
                <a:latin typeface="黑体" panose="02010609060101010101" pitchFamily="49" charset="-122"/>
              </a:rPr>
              <a:t>一次</a:t>
            </a:r>
            <a:r>
              <a:rPr lang="zh-CN" altLang="en-US" noProof="1">
                <a:latin typeface="黑体" panose="02010609060101010101" pitchFamily="49" charset="-122"/>
              </a:rPr>
              <a:t>，染色体的染色质线成倍增加</a:t>
            </a:r>
            <a:r>
              <a:rPr lang="en-US" altLang="en-US" dirty="0">
                <a:latin typeface="黑体" panose="02010609060101010101" pitchFamily="49" charset="-122"/>
              </a:rPr>
              <a:t>，</a:t>
            </a:r>
            <a:r>
              <a:rPr lang="zh-CN" altLang="en-US" noProof="1">
                <a:latin typeface="黑体" panose="02010609060101010101" pitchFamily="49" charset="-122"/>
              </a:rPr>
              <a:t>并由一个着丝粒结合在一起</a:t>
            </a:r>
            <a:r>
              <a:rPr lang="en-US" altLang="en-US" dirty="0">
                <a:latin typeface="黑体" panose="02010609060101010101" pitchFamily="49" charset="-122"/>
              </a:rPr>
              <a:t>，</a:t>
            </a:r>
            <a:r>
              <a:rPr lang="en-US" altLang="en-US" dirty="0" err="1">
                <a:latin typeface="黑体" panose="02010609060101010101" pitchFamily="49" charset="-122"/>
              </a:rPr>
              <a:t>形成</a:t>
            </a:r>
            <a:r>
              <a:rPr lang="zh-CN" altLang="en-US" noProof="1">
                <a:solidFill>
                  <a:srgbClr val="FF0000"/>
                </a:solidFill>
                <a:latin typeface="黑体" panose="02010609060101010101" pitchFamily="49" charset="-122"/>
              </a:rPr>
              <a:t>多线染色体</a:t>
            </a:r>
            <a:r>
              <a:rPr lang="en-US" altLang="en-US" dirty="0">
                <a:solidFill>
                  <a:srgbClr val="FF0000"/>
                </a:solidFill>
                <a:latin typeface="黑体" panose="02010609060101010101" pitchFamily="49" charset="-122"/>
              </a:rPr>
              <a:t>(polytene chromosome)</a:t>
            </a:r>
            <a:r>
              <a:rPr lang="en-US" altLang="en-US" noProof="1">
                <a:latin typeface="黑体" panose="02010609060101010101" pitchFamily="49" charset="-122"/>
              </a:rPr>
              <a:t>。</a:t>
            </a:r>
            <a:endParaRPr lang="en-US" altLang="en-US" dirty="0">
              <a:latin typeface="黑体" panose="02010609060101010101" pitchFamily="49" charset="-122"/>
            </a:endParaRPr>
          </a:p>
        </p:txBody>
      </p:sp>
      <p:sp>
        <p:nvSpPr>
          <p:cNvPr id="32773" name="Rectangle 5"/>
          <p:cNvSpPr>
            <a:spLocks noChangeArrowheads="1"/>
          </p:cNvSpPr>
          <p:nvPr/>
        </p:nvSpPr>
        <p:spPr bwMode="auto">
          <a:xfrm>
            <a:off x="2057400" y="228600"/>
            <a:ext cx="8610600" cy="533400"/>
          </a:xfrm>
          <a:prstGeom prst="rect">
            <a:avLst/>
          </a:prstGeom>
          <a:noFill/>
          <a:ln w="9525">
            <a:noFill/>
            <a:miter lim="800000"/>
          </a:ln>
          <a:effectLst/>
        </p:spPr>
        <p:txBody>
          <a:bodyPr lIns="92075" tIns="46038" rIns="92075" bIns="46038" anchor="b"/>
          <a:lstStyle/>
          <a:p>
            <a:pPr algn="ctr" eaLnBrk="1" hangingPunct="1">
              <a:defRPr/>
            </a:pPr>
            <a:r>
              <a:rPr lang="zh-CN" altLang="en-US" sz="3200" noProof="1">
                <a:solidFill>
                  <a:schemeClr val="tx2"/>
                </a:solidFill>
                <a:effectLst>
                  <a:outerShdw blurRad="38100" dist="38100" dir="2700000" algn="tl">
                    <a:srgbClr val="000000"/>
                  </a:outerShdw>
                </a:effectLst>
                <a:sym typeface="+mn-ea"/>
              </a:rPr>
              <a:t> </a:t>
            </a:r>
            <a:r>
              <a:rPr lang="zh-CN" altLang="en-US" sz="3600" b="1" noProof="1">
                <a:solidFill>
                  <a:srgbClr val="0000FF"/>
                </a:solidFill>
                <a:latin typeface="黑体" panose="02010609060101010101" pitchFamily="49" charset="-122"/>
                <a:ea typeface="黑体" panose="02010609060101010101" pitchFamily="49" charset="-122"/>
                <a:sym typeface="+mn-ea"/>
              </a:rPr>
              <a:t>内源有丝分裂</a:t>
            </a:r>
            <a:r>
              <a:rPr lang="en-US" altLang="en-US" sz="3600" b="1" dirty="0">
                <a:solidFill>
                  <a:srgbClr val="0000FF"/>
                </a:solidFill>
                <a:latin typeface="黑体" panose="02010609060101010101" pitchFamily="49" charset="-122"/>
                <a:ea typeface="黑体" panose="02010609060101010101" pitchFamily="49" charset="-122"/>
                <a:sym typeface="+mn-ea"/>
              </a:rPr>
              <a:t>(endogenous mitosis)</a:t>
            </a:r>
            <a:endParaRPr lang="en-US" altLang="en-US" sz="3600" b="1" noProof="1">
              <a:solidFill>
                <a:srgbClr val="0000FF"/>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1026"/>
          <p:cNvSpPr>
            <a:spLocks noGrp="1" noChangeArrowheads="1"/>
          </p:cNvSpPr>
          <p:nvPr>
            <p:ph type="title"/>
          </p:nvPr>
        </p:nvSpPr>
        <p:spPr bwMode="auto">
          <a:xfrm>
            <a:off x="838200" y="365126"/>
            <a:ext cx="10515600" cy="7445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en-US" altLang="en-US" sz="3600" b="1" dirty="0" err="1">
                <a:latin typeface="黑体" panose="02010609060101010101" pitchFamily="49" charset="-122"/>
                <a:ea typeface="黑体" panose="02010609060101010101" pitchFamily="49" charset="-122"/>
              </a:rPr>
              <a:t>细胞分裂间期</a:t>
            </a:r>
            <a:r>
              <a:rPr lang="zh-CN" altLang="en-US" sz="3600" b="1" dirty="0">
                <a:latin typeface="黑体" panose="02010609060101010101" pitchFamily="49" charset="-122"/>
                <a:ea typeface="黑体" panose="02010609060101010101" pitchFamily="49" charset="-122"/>
              </a:rPr>
              <a:t>多线染色体的形态</a:t>
            </a:r>
          </a:p>
        </p:txBody>
      </p:sp>
      <p:pic>
        <p:nvPicPr>
          <p:cNvPr id="44036" name="Picture 102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2233" y="1238346"/>
            <a:ext cx="9527533" cy="37421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dissolve">
                                      <p:cBhvr>
                                        <p:cTn id="7" dur="500"/>
                                        <p:tgtEl>
                                          <p:spTgt spid="44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bwMode="auto">
          <a:xfrm>
            <a:off x="915691" y="135119"/>
            <a:ext cx="3352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Autofit/>
          </a:bodyPr>
          <a:lstStyle/>
          <a:p>
            <a:r>
              <a:rPr lang="zh-CN" altLang="en-US" sz="3200" b="1" noProof="1">
                <a:solidFill>
                  <a:srgbClr val="0000FF"/>
                </a:solidFill>
                <a:latin typeface="黑体" panose="02010609060101010101" pitchFamily="49" charset="-122"/>
                <a:ea typeface="黑体" panose="02010609060101010101" pitchFamily="49" charset="-122"/>
              </a:rPr>
              <a:t>多次有丝分裂</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95235" name="Rectangle 3"/>
          <p:cNvSpPr>
            <a:spLocks noGrp="1" noChangeArrowheads="1"/>
          </p:cNvSpPr>
          <p:nvPr>
            <p:ph sz="half" idx="1"/>
          </p:nvPr>
        </p:nvSpPr>
        <p:spPr bwMode="auto">
          <a:xfrm>
            <a:off x="0" y="685800"/>
            <a:ext cx="12192000" cy="26153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50000"/>
              </a:lnSpc>
              <a:buClr>
                <a:schemeClr val="folHlink"/>
              </a:buClr>
              <a:buNone/>
            </a:pPr>
            <a:r>
              <a:rPr lang="zh-CN" altLang="en-US" sz="2400" b="1" dirty="0">
                <a:solidFill>
                  <a:srgbClr val="0000FF"/>
                </a:solidFill>
                <a:latin typeface="黑体" panose="02010609060101010101" pitchFamily="49" charset="-122"/>
                <a:ea typeface="黑体" panose="02010609060101010101" pitchFamily="49" charset="-122"/>
              </a:rPr>
              <a:t>时间：</a:t>
            </a:r>
            <a:r>
              <a:rPr lang="zh-CN" altLang="en-US" sz="2400" b="1" dirty="0">
                <a:latin typeface="黑体" panose="02010609060101010101" pitchFamily="49" charset="-122"/>
                <a:ea typeface="黑体" panose="02010609060101010101" pitchFamily="49" charset="-122"/>
              </a:rPr>
              <a:t>往往发生在减数分裂的产物四分孢子的进一步分裂过程中。</a:t>
            </a:r>
          </a:p>
          <a:p>
            <a:pPr marL="0" indent="0">
              <a:lnSpc>
                <a:spcPct val="150000"/>
              </a:lnSpc>
              <a:buClr>
                <a:schemeClr val="folHlink"/>
              </a:buClr>
              <a:buNone/>
            </a:pPr>
            <a:r>
              <a:rPr lang="zh-CN" altLang="en-US" sz="2400" b="1" dirty="0">
                <a:solidFill>
                  <a:srgbClr val="0000FF"/>
                </a:solidFill>
                <a:latin typeface="黑体" panose="02010609060101010101" pitchFamily="49" charset="-122"/>
                <a:ea typeface="黑体" panose="02010609060101010101" pitchFamily="49" charset="-122"/>
              </a:rPr>
              <a:t>过程：</a:t>
            </a:r>
            <a:r>
              <a:rPr lang="zh-CN" altLang="en-US" sz="2400" b="1" dirty="0">
                <a:latin typeface="黑体" panose="02010609060101010101" pitchFamily="49" charset="-122"/>
                <a:ea typeface="黑体" panose="02010609060101010101" pitchFamily="49" charset="-122"/>
              </a:rPr>
              <a:t>不经过染色体的复制，细胞核和细胞质连续发生多次分裂，染色体随机分配到子细胞中；</a:t>
            </a:r>
          </a:p>
          <a:p>
            <a:pPr marL="0" indent="0">
              <a:lnSpc>
                <a:spcPct val="150000"/>
              </a:lnSpc>
              <a:buClr>
                <a:schemeClr val="folHlink"/>
              </a:buClr>
              <a:buNone/>
            </a:pPr>
            <a:r>
              <a:rPr lang="zh-CN" altLang="en-US" sz="2400" b="1" dirty="0">
                <a:solidFill>
                  <a:srgbClr val="0000FF"/>
                </a:solidFill>
                <a:latin typeface="黑体" panose="02010609060101010101" pitchFamily="49" charset="-122"/>
                <a:ea typeface="黑体" panose="02010609060101010101" pitchFamily="49" charset="-122"/>
              </a:rPr>
              <a:t>结果：</a:t>
            </a:r>
            <a:r>
              <a:rPr lang="zh-CN" altLang="en-US" sz="2400" b="1" dirty="0">
                <a:latin typeface="黑体" panose="02010609060101010101" pitchFamily="49" charset="-122"/>
                <a:ea typeface="黑体" panose="02010609060101010101" pitchFamily="49" charset="-122"/>
              </a:rPr>
              <a:t>子细胞的染色体数目极不完整，会出现只有一条染色体，甚至没有染色体的小细胞。 </a:t>
            </a:r>
          </a:p>
        </p:txBody>
      </p:sp>
      <p:sp>
        <p:nvSpPr>
          <p:cNvPr id="95236" name="Rectangle 4"/>
          <p:cNvSpPr>
            <a:spLocks noGrp="1" noChangeArrowheads="1"/>
          </p:cNvSpPr>
          <p:nvPr>
            <p:ph sz="half" idx="2"/>
          </p:nvPr>
        </p:nvSpPr>
        <p:spPr bwMode="auto">
          <a:xfrm>
            <a:off x="0" y="3937550"/>
            <a:ext cx="11871702" cy="24504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0" indent="0">
              <a:lnSpc>
                <a:spcPct val="145000"/>
              </a:lnSpc>
              <a:buClr>
                <a:schemeClr val="folHlink"/>
              </a:buClr>
              <a:buNone/>
            </a:pP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一般情况下，有丝分裂过程中各条染色体在细胞内通常是随机分布，同源染色体之间在空间分布上互不影响。但是，在一些动植物的体细胞有丝分裂中可观察到一些非随机分布现象，其同源染色体在空间分布上有相互靠近的倾向，甚至，会出现同源染色体紧密、平行配对，这种现象叫</a:t>
            </a:r>
            <a:r>
              <a:rPr lang="zh-CN" altLang="en-US" sz="2400" b="1" dirty="0">
                <a:solidFill>
                  <a:srgbClr val="FF0000"/>
                </a:solidFill>
                <a:latin typeface="黑体" panose="02010609060101010101" pitchFamily="49" charset="-122"/>
                <a:ea typeface="黑体" panose="02010609060101010101" pitchFamily="49" charset="-122"/>
              </a:rPr>
              <a:t>体细胞联会</a:t>
            </a:r>
            <a:r>
              <a:rPr lang="zh-CN" altLang="en-US" sz="2400" b="1" dirty="0">
                <a:latin typeface="黑体" panose="02010609060101010101" pitchFamily="49" charset="-122"/>
                <a:ea typeface="黑体" panose="02010609060101010101" pitchFamily="49" charset="-122"/>
              </a:rPr>
              <a:t>。</a:t>
            </a:r>
          </a:p>
        </p:txBody>
      </p:sp>
      <p:sp>
        <p:nvSpPr>
          <p:cNvPr id="95237" name="Text Box 5"/>
          <p:cNvSpPr txBox="1">
            <a:spLocks noChangeArrowheads="1"/>
          </p:cNvSpPr>
          <p:nvPr/>
        </p:nvSpPr>
        <p:spPr bwMode="auto">
          <a:xfrm>
            <a:off x="915691" y="3413993"/>
            <a:ext cx="3352800" cy="5355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Autofit/>
          </a:bodyPr>
          <a:lstStyle>
            <a:lvl1pPr>
              <a:lnSpc>
                <a:spcPct val="90000"/>
              </a:lnSpc>
              <a:spcBef>
                <a:spcPct val="0"/>
              </a:spcBef>
              <a:buNone/>
              <a:defRPr sz="3200" b="1">
                <a:solidFill>
                  <a:srgbClr val="0000FF"/>
                </a:solidFill>
                <a:latin typeface="黑体" panose="02010609060101010101" pitchFamily="49" charset="-122"/>
                <a:ea typeface="黑体" panose="02010609060101010101" pitchFamily="49" charset="-122"/>
                <a:cs typeface="+mj-cs"/>
              </a:defRPr>
            </a:lvl1pPr>
          </a:lstStyle>
          <a:p>
            <a:r>
              <a:rPr lang="zh-CN" altLang="en-US" noProof="1"/>
              <a:t>体细胞联会</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bwMode="auto">
          <a:xfrm>
            <a:off x="2586926" y="200832"/>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r>
              <a:rPr lang="zh-CN" altLang="en-US" sz="3200" b="1" dirty="0">
                <a:solidFill>
                  <a:srgbClr val="0000FF"/>
                </a:solidFill>
                <a:latin typeface="黑体" panose="02010609060101010101" pitchFamily="49" charset="-122"/>
                <a:ea typeface="黑体" panose="02010609060101010101" pitchFamily="49" charset="-122"/>
              </a:rPr>
              <a:t>有丝分裂异常现象与异常时期的关系</a:t>
            </a:r>
          </a:p>
        </p:txBody>
      </p:sp>
      <p:graphicFrame>
        <p:nvGraphicFramePr>
          <p:cNvPr id="41989" name="Group 5"/>
          <p:cNvGraphicFramePr>
            <a:graphicFrameLocks noGrp="1"/>
          </p:cNvGraphicFramePr>
          <p:nvPr>
            <p:extLst>
              <p:ext uri="{D42A27DB-BD31-4B8C-83A1-F6EECF244321}">
                <p14:modId xmlns:p14="http://schemas.microsoft.com/office/powerpoint/2010/main" val="2395298046"/>
              </p:ext>
            </p:extLst>
          </p:nvPr>
        </p:nvGraphicFramePr>
        <p:xfrm>
          <a:off x="1358201" y="1000932"/>
          <a:ext cx="9001125" cy="4800600"/>
        </p:xfrm>
        <a:graphic>
          <a:graphicData uri="http://schemas.openxmlformats.org/drawingml/2006/table">
            <a:tbl>
              <a:tblPr/>
              <a:tblGrid>
                <a:gridCol w="1609725">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3038">
                  <a:extLst>
                    <a:ext uri="{9D8B030D-6E8A-4147-A177-3AD203B41FA5}">
                      <a16:colId xmlns:a16="http://schemas.microsoft.com/office/drawing/2014/main" val="20002"/>
                    </a:ext>
                  </a:extLst>
                </a:gridCol>
                <a:gridCol w="1500187">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8001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间期</a:t>
                      </a:r>
                      <a:b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b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染色体复制</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后期</a:t>
                      </a:r>
                    </a:p>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着丝粒分裂</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末期</a:t>
                      </a:r>
                      <a:b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b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细胞核分裂</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末期</a:t>
                      </a:r>
                      <a:b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b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细胞质分裂</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结果</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001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正常</a:t>
                      </a:r>
                      <a:b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br>
                      <a: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有丝分裂</a:t>
                      </a:r>
                    </a:p>
                  </a:txBody>
                  <a:tcPr marL="19050" marR="19050" marT="19050" marB="1905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正常体细胞</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800100">
                <a:tc rowSpan="3">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内源</a:t>
                      </a:r>
                      <a:b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br>
                      <a: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有丝分裂</a:t>
                      </a:r>
                    </a:p>
                  </a:txBody>
                  <a:tcPr marL="19050" marR="19050" marT="19050" marB="1905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多线细胞</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800100">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内源多倍体细胞</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800100">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多核细胞</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8001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多次有丝分裂</a:t>
                      </a:r>
                    </a:p>
                  </a:txBody>
                  <a:tcPr marL="19050" marR="19050" marT="19050" marB="1905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不正常</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发生</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发生</a:t>
                      </a:r>
                    </a:p>
                  </a:txBody>
                  <a:tcPr marL="19050" marR="19050" marT="19050" marB="19050"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pPr>
                      <a:r>
                        <a:rPr kumimoji="1" lang="zh-CN" altLang="en-US"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畸形细胞</a:t>
                      </a:r>
                    </a:p>
                  </a:txBody>
                  <a:tcPr marL="19050" marR="19050" marT="19050" marB="1905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1989"/>
                                        </p:tgtEl>
                                        <p:attrNameLst>
                                          <p:attrName>style.visibility</p:attrName>
                                        </p:attrNameLst>
                                      </p:cBhvr>
                                      <p:to>
                                        <p:strVal val="visible"/>
                                      </p:to>
                                    </p:set>
                                    <p:animEffect transition="in" filter="randombar(horizontal)">
                                      <p:cBhvr>
                                        <p:cTn id="7"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B4B5625-84BE-2240-84AE-BE921D5383B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029524" y="0"/>
            <a:ext cx="4803605" cy="6820043"/>
          </a:xfrm>
          <a:prstGeom prst="rect">
            <a:avLst/>
          </a:prstGeom>
        </p:spPr>
      </p:pic>
      <p:sp>
        <p:nvSpPr>
          <p:cNvPr id="39938" name="Rectangle 2"/>
          <p:cNvSpPr>
            <a:spLocks noGrp="1" noRot="1" noChangeArrowheads="1"/>
          </p:cNvSpPr>
          <p:nvPr>
            <p:ph type="title"/>
          </p:nvPr>
        </p:nvSpPr>
        <p:spPr>
          <a:xfrm>
            <a:off x="349928" y="170481"/>
            <a:ext cx="10515600" cy="697424"/>
          </a:xfrm>
        </p:spPr>
        <p:txBody>
          <a:bodyPr>
            <a:normAutofit/>
          </a:bodyPr>
          <a:lstStyle/>
          <a:p>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 减数分裂</a:t>
            </a:r>
            <a:endParaRPr lang="zh-CN" altLang="en-US" dirty="0"/>
          </a:p>
        </p:txBody>
      </p:sp>
      <p:sp>
        <p:nvSpPr>
          <p:cNvPr id="39939" name="Rectangle 3"/>
          <p:cNvSpPr>
            <a:spLocks noGrp="1" noRot="1" noChangeArrowheads="1"/>
          </p:cNvSpPr>
          <p:nvPr>
            <p:ph type="body" idx="1"/>
          </p:nvPr>
        </p:nvSpPr>
        <p:spPr>
          <a:xfrm>
            <a:off x="199076" y="1057652"/>
            <a:ext cx="7798049" cy="2128754"/>
          </a:xfrm>
        </p:spPr>
        <p:txBody>
          <a:bodyPr>
            <a:normAutofit fontScale="92500" lnSpcReduction="20000"/>
          </a:bodyPr>
          <a:lstStyle/>
          <a:p>
            <a:pPr marL="0" indent="0" algn="just">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减数分裂</a:t>
            </a:r>
            <a:r>
              <a:rPr lang="en-US" altLang="zh-CN" b="1" dirty="0">
                <a:latin typeface="黑体" panose="02010609060101010101" pitchFamily="49" charset="-122"/>
                <a:ea typeface="黑体" panose="02010609060101010101" pitchFamily="49" charset="-122"/>
              </a:rPr>
              <a:t>(meiosis)</a:t>
            </a:r>
            <a:r>
              <a:rPr lang="zh-CN" altLang="en-US" b="1" dirty="0">
                <a:latin typeface="黑体" panose="02010609060101010101" pitchFamily="49" charset="-122"/>
                <a:ea typeface="黑体" panose="02010609060101010101" pitchFamily="49" charset="-122"/>
              </a:rPr>
              <a:t>是一种特殊方式的细胞分裂，是在配子形成过程中发生的，</a:t>
            </a:r>
            <a:r>
              <a:rPr lang="zh-CN" altLang="en-US" b="1" dirty="0">
                <a:solidFill>
                  <a:srgbClr val="0000FF"/>
                </a:solidFill>
                <a:latin typeface="黑体" panose="02010609060101010101" pitchFamily="49" charset="-122"/>
                <a:ea typeface="黑体" panose="02010609060101010101" pitchFamily="49" charset="-122"/>
              </a:rPr>
              <a:t>包括两次连续的核分裂，但染色体只复制一次</a:t>
            </a:r>
            <a:r>
              <a:rPr lang="zh-CN" altLang="en-US" b="1" dirty="0">
                <a:latin typeface="黑体" panose="02010609060101010101" pitchFamily="49" charset="-122"/>
                <a:ea typeface="黑体" panose="02010609060101010101" pitchFamily="49" charset="-122"/>
              </a:rPr>
              <a:t>，因而在形成的四个子细胞核中，</a:t>
            </a:r>
            <a:r>
              <a:rPr lang="zh-CN" altLang="en-US" b="1" dirty="0">
                <a:solidFill>
                  <a:srgbClr val="0000FF"/>
                </a:solidFill>
                <a:latin typeface="黑体" panose="02010609060101010101" pitchFamily="49" charset="-122"/>
                <a:ea typeface="黑体" panose="02010609060101010101" pitchFamily="49" charset="-122"/>
              </a:rPr>
              <a:t>每个核只含有单倍数的染色体，即染色体数减少一半，所以把它叫做减数分裂</a:t>
            </a:r>
            <a:r>
              <a:rPr lang="zh-CN" altLang="en-US" b="1" dirty="0">
                <a:latin typeface="黑体" panose="02010609060101010101" pitchFamily="49" charset="-122"/>
                <a:ea typeface="黑体" panose="02010609060101010101" pitchFamily="49" charset="-122"/>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E28DA74-AB69-46D4-8DD6-37121717B1AD}"/>
              </a:ext>
            </a:extLst>
          </p:cNvPr>
          <p:cNvSpPr txBox="1"/>
          <p:nvPr/>
        </p:nvSpPr>
        <p:spPr>
          <a:xfrm>
            <a:off x="0" y="6150114"/>
            <a:ext cx="12192000" cy="707886"/>
          </a:xfrm>
          <a:prstGeom prst="rect">
            <a:avLst/>
          </a:prstGeom>
          <a:noFill/>
        </p:spPr>
        <p:txBody>
          <a:bodyPr wrap="square">
            <a:spAutoFit/>
          </a:bodyPr>
          <a:lstStyle/>
          <a:p>
            <a:pPr algn="ctr"/>
            <a:r>
              <a:rPr lang="zh-CN" altLang="en-US" sz="2000" dirty="0">
                <a:latin typeface="微软雅黑" panose="020B0503020204020204" pitchFamily="34" charset="-122"/>
                <a:ea typeface="微软雅黑" panose="020B0503020204020204" pitchFamily="34" charset="-122"/>
              </a:rPr>
              <a:t>照片显示的是拟南芥花粉母细胞在减数分裂各个阶段经</a:t>
            </a:r>
            <a:r>
              <a:rPr lang="en-US" altLang="zh-CN" sz="2000" dirty="0">
                <a:latin typeface="微软雅黑" panose="020B0503020204020204" pitchFamily="34" charset="-122"/>
                <a:ea typeface="微软雅黑" panose="020B0503020204020204" pitchFamily="34" charset="-122"/>
              </a:rPr>
              <a:t>DAPI</a:t>
            </a:r>
            <a:r>
              <a:rPr lang="zh-CN" altLang="en-US" sz="2000" dirty="0">
                <a:latin typeface="微软雅黑" panose="020B0503020204020204" pitchFamily="34" charset="-122"/>
                <a:ea typeface="微软雅黑" panose="020B0503020204020204" pitchFamily="34" charset="-122"/>
              </a:rPr>
              <a:t>染色后的染色体形态（引自</a:t>
            </a:r>
            <a:r>
              <a:rPr lang="en-US" altLang="zh-CN" sz="2000" dirty="0">
                <a:latin typeface="微软雅黑" panose="020B0503020204020204" pitchFamily="34" charset="-122"/>
                <a:ea typeface="微软雅黑" panose="020B0503020204020204" pitchFamily="34" charset="-122"/>
              </a:rPr>
              <a:t>Wang</a:t>
            </a:r>
            <a:r>
              <a:rPr lang="zh-CN" altLang="en-US" sz="2000" dirty="0">
                <a:latin typeface="微软雅黑" panose="020B0503020204020204" pitchFamily="34" charset="-122"/>
                <a:ea typeface="微软雅黑" panose="020B0503020204020204" pitchFamily="34" charset="-122"/>
              </a:rPr>
              <a:t>等，</a:t>
            </a:r>
            <a:r>
              <a:rPr lang="en-US" altLang="zh-CN" sz="2000" dirty="0">
                <a:latin typeface="微软雅黑" panose="020B0503020204020204" pitchFamily="34" charset="-122"/>
                <a:ea typeface="微软雅黑" panose="020B0503020204020204" pitchFamily="34" charset="-122"/>
              </a:rPr>
              <a:t>2014</a:t>
            </a:r>
            <a:r>
              <a:rPr lang="zh-CN" altLang="en-US" sz="2000" dirty="0">
                <a:latin typeface="微软雅黑" panose="020B0503020204020204" pitchFamily="34" charset="-122"/>
                <a:ea typeface="微软雅黑" panose="020B0503020204020204" pitchFamily="34" charset="-122"/>
              </a:rPr>
              <a:t>） 示意图所示的是减数分裂前期</a:t>
            </a:r>
            <a:r>
              <a:rPr lang="en-US" altLang="zh-CN" sz="2000" dirty="0">
                <a:latin typeface="微软雅黑" panose="020B0503020204020204" pitchFamily="34" charset="-122"/>
                <a:ea typeface="微软雅黑" panose="020B0503020204020204" pitchFamily="34" charset="-122"/>
              </a:rPr>
              <a:t>Ⅰ</a:t>
            </a:r>
            <a:r>
              <a:rPr lang="zh-CN" altLang="en-US" sz="2000" dirty="0">
                <a:latin typeface="微软雅黑" panose="020B0503020204020204" pitchFamily="34" charset="-122"/>
                <a:ea typeface="微软雅黑" panose="020B0503020204020204" pitchFamily="34" charset="-122"/>
              </a:rPr>
              <a:t>的五个阶段，以含有同源染色体 </a:t>
            </a:r>
            <a:r>
              <a:rPr lang="en-US" altLang="zh-CN" sz="2000" dirty="0">
                <a:latin typeface="微软雅黑" panose="020B0503020204020204" pitchFamily="34" charset="-122"/>
                <a:ea typeface="微软雅黑" panose="020B0503020204020204" pitchFamily="34" charset="-122"/>
              </a:rPr>
              <a:t>AA′ </a:t>
            </a:r>
            <a:r>
              <a:rPr lang="zh-CN" altLang="en-US" sz="2000" dirty="0">
                <a:latin typeface="微软雅黑" panose="020B0503020204020204" pitchFamily="34" charset="-122"/>
                <a:ea typeface="微软雅黑" panose="020B0503020204020204" pitchFamily="34" charset="-122"/>
              </a:rPr>
              <a:t>和 </a:t>
            </a:r>
            <a:r>
              <a:rPr lang="en-US" altLang="zh-CN" sz="2000" dirty="0">
                <a:latin typeface="微软雅黑" panose="020B0503020204020204" pitchFamily="34" charset="-122"/>
                <a:ea typeface="微软雅黑" panose="020B0503020204020204" pitchFamily="34" charset="-122"/>
              </a:rPr>
              <a:t>BB′ </a:t>
            </a:r>
            <a:r>
              <a:rPr lang="zh-CN" altLang="en-US" sz="2000" dirty="0">
                <a:latin typeface="微软雅黑" panose="020B0503020204020204" pitchFamily="34" charset="-122"/>
                <a:ea typeface="微软雅黑" panose="020B0503020204020204" pitchFamily="34" charset="-122"/>
              </a:rPr>
              <a:t>的细胞（</a:t>
            </a:r>
            <a:r>
              <a:rPr lang="en-US" altLang="zh-CN" sz="2000" dirty="0">
                <a:latin typeface="微软雅黑" panose="020B0503020204020204" pitchFamily="34" charset="-122"/>
                <a:ea typeface="微软雅黑" panose="020B0503020204020204" pitchFamily="34" charset="-122"/>
              </a:rPr>
              <a:t>2n=4</a:t>
            </a:r>
            <a:r>
              <a:rPr lang="zh-CN" altLang="en-US" sz="2000" dirty="0">
                <a:latin typeface="微软雅黑" panose="020B0503020204020204" pitchFamily="34" charset="-122"/>
                <a:ea typeface="微软雅黑" panose="020B0503020204020204" pitchFamily="34" charset="-122"/>
              </a:rPr>
              <a:t>）为例。</a:t>
            </a:r>
          </a:p>
        </p:txBody>
      </p:sp>
      <p:pic>
        <p:nvPicPr>
          <p:cNvPr id="3" name="图片 2">
            <a:extLst>
              <a:ext uri="{FF2B5EF4-FFF2-40B4-BE49-F238E27FC236}">
                <a16:creationId xmlns:a16="http://schemas.microsoft.com/office/drawing/2014/main" id="{4D6DF09F-C36C-4CA3-B7F2-9338C1D7DA12}"/>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1970" y="0"/>
            <a:ext cx="11419192" cy="6150114"/>
          </a:xfrm>
          <a:prstGeom prst="rect">
            <a:avLst/>
          </a:prstGeom>
        </p:spPr>
      </p:pic>
      <p:sp>
        <p:nvSpPr>
          <p:cNvPr id="5" name="灯片编号占位符 2">
            <a:extLst>
              <a:ext uri="{FF2B5EF4-FFF2-40B4-BE49-F238E27FC236}">
                <a16:creationId xmlns:a16="http://schemas.microsoft.com/office/drawing/2014/main" id="{9DCBEB96-28CE-4167-BA5B-9267486B6C6A}"/>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44</a:t>
            </a:fld>
            <a:endParaRPr lang="zh-CN" altLang="en-US" dirty="0"/>
          </a:p>
        </p:txBody>
      </p:sp>
    </p:spTree>
    <p:extLst>
      <p:ext uri="{BB962C8B-B14F-4D97-AF65-F5344CB8AC3E}">
        <p14:creationId xmlns:p14="http://schemas.microsoft.com/office/powerpoint/2010/main" val="425560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52726" y="327813"/>
            <a:ext cx="7743910" cy="4598634"/>
          </a:xfrm>
        </p:spPr>
        <p:txBody>
          <a:bodyPr>
            <a:normAutofit fontScale="92500"/>
          </a:bodyPr>
          <a:lstStyle/>
          <a:p>
            <a:pPr marL="457200" lvl="1" indent="0">
              <a:buNone/>
            </a:pPr>
            <a:r>
              <a:rPr lang="zh-CN" altLang="en-US" sz="4300" b="1" dirty="0">
                <a:solidFill>
                  <a:srgbClr val="0000FF"/>
                </a:solidFill>
                <a:latin typeface="黑体" panose="02010609060101010101" pitchFamily="49" charset="-122"/>
                <a:ea typeface="黑体" panose="02010609060101010101" pitchFamily="49" charset="-122"/>
              </a:rPr>
              <a:t>细线期（</a:t>
            </a:r>
            <a:r>
              <a:rPr lang="en-US" altLang="zh-CN" sz="4300" b="1" dirty="0">
                <a:solidFill>
                  <a:srgbClr val="0000FF"/>
                </a:solidFill>
                <a:latin typeface="黑体" panose="02010609060101010101" pitchFamily="49" charset="-122"/>
                <a:ea typeface="黑体" panose="02010609060101010101" pitchFamily="49" charset="-122"/>
              </a:rPr>
              <a:t>leptotene</a:t>
            </a:r>
            <a:r>
              <a:rPr lang="zh-CN" altLang="en-US" sz="4300" b="1" dirty="0">
                <a:solidFill>
                  <a:srgbClr val="0000FF"/>
                </a:solidFill>
                <a:latin typeface="黑体" panose="02010609060101010101" pitchFamily="49" charset="-122"/>
                <a:ea typeface="黑体" panose="02010609060101010101" pitchFamily="49" charset="-122"/>
              </a:rPr>
              <a:t>）　</a:t>
            </a:r>
            <a:endParaRPr lang="en-US" altLang="zh-CN" sz="4300" b="1" dirty="0">
              <a:solidFill>
                <a:srgbClr val="0000FF"/>
              </a:solidFill>
              <a:latin typeface="黑体" panose="02010609060101010101" pitchFamily="49" charset="-122"/>
              <a:ea typeface="黑体" panose="02010609060101010101" pitchFamily="49" charset="-122"/>
            </a:endParaRPr>
          </a:p>
          <a:p>
            <a:pPr lvl="1">
              <a:lnSpc>
                <a:spcPct val="150000"/>
              </a:lnSpc>
              <a:buClrTx/>
              <a:buFont typeface="Wingdings" panose="05000000000000000000" pitchFamily="2" charset="2"/>
              <a:buChar char="Ø"/>
            </a:pPr>
            <a:r>
              <a:rPr lang="zh-CN" altLang="en-US" sz="3200" b="1" dirty="0">
                <a:latin typeface="黑体" panose="02010609060101010101" pitchFamily="49" charset="-122"/>
                <a:ea typeface="黑体" panose="02010609060101010101" pitchFamily="49" charset="-122"/>
              </a:rPr>
              <a:t>第一次分裂开始时，</a:t>
            </a:r>
            <a:r>
              <a:rPr lang="zh-CN" altLang="en-US" sz="3200" b="1" dirty="0">
                <a:solidFill>
                  <a:srgbClr val="0000FF"/>
                </a:solidFill>
                <a:latin typeface="黑体" panose="02010609060101010101" pitchFamily="49" charset="-122"/>
                <a:ea typeface="黑体" panose="02010609060101010101" pitchFamily="49" charset="-122"/>
              </a:rPr>
              <a:t>染色质浓缩为几条细而长的细线</a:t>
            </a:r>
            <a:r>
              <a:rPr lang="zh-CN" altLang="en-US" sz="3200" b="1" dirty="0">
                <a:latin typeface="黑体" panose="02010609060101010101" pitchFamily="49" charset="-122"/>
                <a:ea typeface="黑体" panose="02010609060101010101" pitchFamily="49" charset="-122"/>
              </a:rPr>
              <a:t>，但相互间往往难以区分。</a:t>
            </a:r>
            <a:endParaRPr lang="en-US" altLang="zh-CN" sz="3200" b="1" dirty="0">
              <a:latin typeface="黑体" panose="02010609060101010101" pitchFamily="49" charset="-122"/>
              <a:ea typeface="黑体" panose="02010609060101010101" pitchFamily="49" charset="-122"/>
            </a:endParaRPr>
          </a:p>
          <a:p>
            <a:pPr lvl="1">
              <a:lnSpc>
                <a:spcPct val="150000"/>
              </a:lnSpc>
              <a:buClrTx/>
              <a:buFont typeface="Wingdings" panose="05000000000000000000" pitchFamily="2" charset="2"/>
              <a:buChar char="Ø"/>
            </a:pPr>
            <a:r>
              <a:rPr lang="zh-CN" altLang="en-US" sz="3200" b="1" dirty="0">
                <a:latin typeface="黑体" panose="02010609060101010101" pitchFamily="49" charset="-122"/>
                <a:ea typeface="黑体" panose="02010609060101010101" pitchFamily="49" charset="-122"/>
              </a:rPr>
              <a:t>虽然染色体已在间期时复制，每一染色体已含有两染色单体，但在细线期的染色体上还看不出双重性。</a:t>
            </a:r>
          </a:p>
          <a:p>
            <a:endParaRPr lang="zh-CN" altLang="en-US" sz="3600" b="1" dirty="0">
              <a:latin typeface="黑体" panose="02010609060101010101" pitchFamily="49" charset="-122"/>
              <a:ea typeface="黑体" panose="02010609060101010101" pitchFamily="49" charset="-122"/>
            </a:endParaRPr>
          </a:p>
        </p:txBody>
      </p:sp>
      <p:pic>
        <p:nvPicPr>
          <p:cNvPr id="6" name="图片 5">
            <a:extLst>
              <a:ext uri="{FF2B5EF4-FFF2-40B4-BE49-F238E27FC236}">
                <a16:creationId xmlns:a16="http://schemas.microsoft.com/office/drawing/2014/main" id="{B302582F-E42B-46B8-B7F8-CAA58C46F587}"/>
              </a:ext>
            </a:extLst>
          </p:cNvPr>
          <p:cNvPicPr>
            <a:picLocks noChangeAspect="1"/>
          </p:cNvPicPr>
          <p:nvPr/>
        </p:nvPicPr>
        <p:blipFill rotWithShape="1">
          <a:blip r:embed="rId2"/>
          <a:srcRect r="79830" b="39296"/>
          <a:stretch/>
        </p:blipFill>
        <p:spPr>
          <a:xfrm>
            <a:off x="8267319" y="0"/>
            <a:ext cx="3663843" cy="6643903"/>
          </a:xfrm>
          <a:prstGeom prst="rect">
            <a:avLst/>
          </a:prstGeom>
        </p:spPr>
      </p:pic>
      <p:sp>
        <p:nvSpPr>
          <p:cNvPr id="4" name="灯片编号占位符 2">
            <a:extLst>
              <a:ext uri="{FF2B5EF4-FFF2-40B4-BE49-F238E27FC236}">
                <a16:creationId xmlns:a16="http://schemas.microsoft.com/office/drawing/2014/main" id="{491175EC-CCCC-4DA3-A5EF-64809D73A270}"/>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45</a:t>
            </a:fld>
            <a:endParaRPr lang="zh-CN" altLang="en-US" dirty="0"/>
          </a:p>
        </p:txBody>
      </p:sp>
    </p:spTree>
    <p:extLst>
      <p:ext uri="{BB962C8B-B14F-4D97-AF65-F5344CB8AC3E}">
        <p14:creationId xmlns:p14="http://schemas.microsoft.com/office/powerpoint/2010/main" val="1867229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0" y="691490"/>
            <a:ext cx="8707193" cy="3580800"/>
          </a:xfrm>
        </p:spPr>
        <p:txBody>
          <a:bodyPr vert="horz" lIns="91440" tIns="45720" rIns="91440" bIns="45720" rtlCol="0">
            <a:normAutofit/>
          </a:bodyPr>
          <a:lstStyle/>
          <a:p>
            <a:pPr marL="457200" lvl="1" indent="0">
              <a:buNone/>
            </a:pPr>
            <a:r>
              <a:rPr lang="zh-CN" altLang="en-US" sz="4000" b="1" dirty="0">
                <a:solidFill>
                  <a:srgbClr val="0000FF"/>
                </a:solidFill>
                <a:latin typeface="黑体" panose="02010609060101010101" pitchFamily="49" charset="-122"/>
                <a:ea typeface="黑体" panose="02010609060101010101" pitchFamily="49" charset="-122"/>
              </a:rPr>
              <a:t>偶线期（</a:t>
            </a:r>
            <a:r>
              <a:rPr lang="en-US" altLang="zh-CN" sz="4000" b="1" dirty="0">
                <a:solidFill>
                  <a:srgbClr val="0000FF"/>
                </a:solidFill>
                <a:latin typeface="黑体" panose="02010609060101010101" pitchFamily="49" charset="-122"/>
                <a:ea typeface="黑体" panose="02010609060101010101" pitchFamily="49" charset="-122"/>
              </a:rPr>
              <a:t>zygotene</a:t>
            </a:r>
            <a:r>
              <a:rPr lang="zh-CN" altLang="en-US" sz="4000" b="1" dirty="0">
                <a:solidFill>
                  <a:srgbClr val="0000FF"/>
                </a:solidFill>
                <a:latin typeface="黑体" panose="02010609060101010101" pitchFamily="49" charset="-122"/>
                <a:ea typeface="黑体" panose="02010609060101010101" pitchFamily="49" charset="-122"/>
              </a:rPr>
              <a:t>）</a:t>
            </a:r>
            <a:endParaRPr lang="en-US" altLang="zh-CN" sz="4000" b="1" dirty="0">
              <a:solidFill>
                <a:srgbClr val="0000FF"/>
              </a:solidFill>
              <a:latin typeface="黑体" panose="02010609060101010101" pitchFamily="49" charset="-122"/>
              <a:ea typeface="黑体" panose="02010609060101010101" pitchFamily="49" charset="-122"/>
            </a:endParaRPr>
          </a:p>
          <a:p>
            <a:pPr lvl="1">
              <a:lnSpc>
                <a:spcPct val="160000"/>
              </a:lnSpc>
              <a:buFont typeface="Wingdings" panose="05000000000000000000" pitchFamily="2" charset="2"/>
              <a:buChar char="Ø"/>
            </a:pPr>
            <a:r>
              <a:rPr lang="zh-CN" altLang="en-US" sz="3000" b="1" dirty="0">
                <a:latin typeface="黑体" panose="02010609060101010101" pitchFamily="49" charset="-122"/>
                <a:ea typeface="黑体" panose="02010609060101010101" pitchFamily="49" charset="-122"/>
              </a:rPr>
              <a:t>染色体的形态与细线期没有多大变化。</a:t>
            </a:r>
            <a:r>
              <a:rPr lang="zh-CN" altLang="en-US" sz="3000" b="1" dirty="0">
                <a:solidFill>
                  <a:srgbClr val="0000FF"/>
                </a:solidFill>
                <a:latin typeface="黑体" panose="02010609060101010101" pitchFamily="49" charset="-122"/>
                <a:ea typeface="黑体" panose="02010609060101010101" pitchFamily="49" charset="-122"/>
              </a:rPr>
              <a:t>同源染色体开始配对</a:t>
            </a:r>
            <a:r>
              <a:rPr lang="zh-CN" altLang="en-US" sz="3000" b="1" dirty="0">
                <a:latin typeface="黑体" panose="02010609060101010101" pitchFamily="49" charset="-122"/>
                <a:ea typeface="黑体" panose="02010609060101010101" pitchFamily="49" charset="-122"/>
              </a:rPr>
              <a:t>，在两端先行靠拢配对，或者在染色体全长的各个不同 部位开始配对。</a:t>
            </a:r>
            <a:endParaRPr lang="en-US" altLang="zh-CN" sz="3000" b="1" dirty="0">
              <a:latin typeface="黑体" panose="02010609060101010101" pitchFamily="49" charset="-122"/>
              <a:ea typeface="黑体" panose="02010609060101010101" pitchFamily="49" charset="-122"/>
            </a:endParaRPr>
          </a:p>
        </p:txBody>
      </p:sp>
      <p:pic>
        <p:nvPicPr>
          <p:cNvPr id="7" name="图片 6">
            <a:extLst>
              <a:ext uri="{FF2B5EF4-FFF2-40B4-BE49-F238E27FC236}">
                <a16:creationId xmlns:a16="http://schemas.microsoft.com/office/drawing/2014/main" id="{F0C7EDC5-E183-49D6-A17A-7438A9A560E4}"/>
              </a:ext>
            </a:extLst>
          </p:cNvPr>
          <p:cNvPicPr>
            <a:picLocks noChangeAspect="1"/>
          </p:cNvPicPr>
          <p:nvPr/>
        </p:nvPicPr>
        <p:blipFill rotWithShape="1">
          <a:blip r:embed="rId2"/>
          <a:srcRect l="20170" r="60476" b="39296"/>
          <a:stretch/>
        </p:blipFill>
        <p:spPr>
          <a:xfrm>
            <a:off x="8707193" y="263641"/>
            <a:ext cx="3223970" cy="6092709"/>
          </a:xfrm>
          <a:prstGeom prst="rect">
            <a:avLst/>
          </a:prstGeom>
        </p:spPr>
      </p:pic>
      <p:sp>
        <p:nvSpPr>
          <p:cNvPr id="6" name="灯片编号占位符 2">
            <a:extLst>
              <a:ext uri="{FF2B5EF4-FFF2-40B4-BE49-F238E27FC236}">
                <a16:creationId xmlns:a16="http://schemas.microsoft.com/office/drawing/2014/main" id="{5EC5EF12-1EC9-4FA7-AA5A-649DC172FD19}"/>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46</a:t>
            </a:fld>
            <a:endParaRPr lang="zh-CN" altLang="en-US" dirty="0"/>
          </a:p>
        </p:txBody>
      </p:sp>
    </p:spTree>
    <p:extLst>
      <p:ext uri="{BB962C8B-B14F-4D97-AF65-F5344CB8AC3E}">
        <p14:creationId xmlns:p14="http://schemas.microsoft.com/office/powerpoint/2010/main" val="331705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0" y="3591725"/>
            <a:ext cx="12306925" cy="2601900"/>
          </a:xfrm>
        </p:spPr>
        <p:txBody>
          <a:bodyPr vert="horz" lIns="91440" tIns="45720" rIns="91440" bIns="45720" rtlCol="0">
            <a:normAutofit fontScale="85000" lnSpcReduction="10000"/>
          </a:bodyPr>
          <a:lstStyle/>
          <a:p>
            <a:pPr lvl="1">
              <a:lnSpc>
                <a:spcPct val="160000"/>
              </a:lnSpc>
              <a:buClrTx/>
              <a:buFont typeface="Wingdings" panose="05000000000000000000" pitchFamily="2" charset="2"/>
              <a:buChar char="Ø"/>
            </a:pPr>
            <a:r>
              <a:rPr lang="zh-CN" altLang="en-US" sz="3000" b="1" dirty="0">
                <a:latin typeface="黑体" panose="02010609060101010101" pitchFamily="49" charset="-122"/>
                <a:ea typeface="黑体" panose="02010609060101010101" pitchFamily="49" charset="-122"/>
              </a:rPr>
              <a:t>两条同源染色体的配对过程被称为</a:t>
            </a:r>
            <a:r>
              <a:rPr lang="zh-CN" altLang="en-US" sz="3000" b="1" dirty="0">
                <a:solidFill>
                  <a:srgbClr val="0000FF"/>
                </a:solidFill>
                <a:latin typeface="黑体" panose="02010609060101010101" pitchFamily="49" charset="-122"/>
                <a:ea typeface="黑体" panose="02010609060101010101" pitchFamily="49" charset="-122"/>
              </a:rPr>
              <a:t>联会</a:t>
            </a:r>
            <a:r>
              <a:rPr lang="zh-CN" altLang="en-US" sz="3000" b="1" dirty="0">
                <a:latin typeface="黑体" panose="02010609060101010101" pitchFamily="49" charset="-122"/>
                <a:ea typeface="黑体" panose="02010609060101010101" pitchFamily="49" charset="-122"/>
              </a:rPr>
              <a:t>（</a:t>
            </a:r>
            <a:r>
              <a:rPr lang="en-US" altLang="zh-CN" sz="3000" b="1" dirty="0">
                <a:latin typeface="黑体" panose="02010609060101010101" pitchFamily="49" charset="-122"/>
                <a:ea typeface="黑体" panose="02010609060101010101" pitchFamily="49" charset="-122"/>
              </a:rPr>
              <a:t>synapsis</a:t>
            </a:r>
            <a:r>
              <a:rPr lang="zh-CN" altLang="en-US" sz="3000" b="1" dirty="0">
                <a:latin typeface="黑体" panose="02010609060101010101" pitchFamily="49" charset="-122"/>
                <a:ea typeface="黑体" panose="02010609060101010101" pitchFamily="49" charset="-122"/>
              </a:rPr>
              <a:t>）。</a:t>
            </a:r>
            <a:endParaRPr lang="en-US" altLang="zh-CN" sz="3000" b="1" dirty="0">
              <a:latin typeface="黑体" panose="02010609060101010101" pitchFamily="49" charset="-122"/>
              <a:ea typeface="黑体" panose="02010609060101010101" pitchFamily="49" charset="-122"/>
            </a:endParaRPr>
          </a:p>
          <a:p>
            <a:pPr lvl="1">
              <a:lnSpc>
                <a:spcPct val="160000"/>
              </a:lnSpc>
              <a:buClrTx/>
              <a:buFont typeface="Wingdings" panose="05000000000000000000" pitchFamily="2" charset="2"/>
              <a:buChar char="Ø"/>
            </a:pPr>
            <a:r>
              <a:rPr lang="zh-CN" altLang="en-US" sz="3000" b="1" dirty="0">
                <a:latin typeface="黑体" panose="02010609060101010101" pitchFamily="49" charset="-122"/>
                <a:ea typeface="黑体" panose="02010609060101010101" pitchFamily="49" charset="-122"/>
              </a:rPr>
              <a:t>联合过程中会出现</a:t>
            </a:r>
            <a:r>
              <a:rPr lang="zh-CN" altLang="en-US" sz="3000" b="1" dirty="0">
                <a:solidFill>
                  <a:srgbClr val="0000FF"/>
                </a:solidFill>
                <a:latin typeface="黑体" panose="02010609060101010101" pitchFamily="49" charset="-122"/>
                <a:ea typeface="黑体" panose="02010609060101010101" pitchFamily="49" charset="-122"/>
              </a:rPr>
              <a:t>联会复合体</a:t>
            </a:r>
            <a:r>
              <a:rPr lang="zh-CN" altLang="en-US" sz="3000" b="1" dirty="0">
                <a:latin typeface="黑体" panose="02010609060101010101" pitchFamily="49" charset="-122"/>
                <a:ea typeface="黑体" panose="02010609060101010101" pitchFamily="49" charset="-122"/>
              </a:rPr>
              <a:t>（</a:t>
            </a:r>
            <a:r>
              <a:rPr lang="en-US" altLang="zh-CN" sz="3000" b="1" dirty="0">
                <a:latin typeface="黑体" panose="02010609060101010101" pitchFamily="49" charset="-122"/>
                <a:ea typeface="黑体" panose="02010609060101010101" pitchFamily="49" charset="-122"/>
              </a:rPr>
              <a:t>synaptonemal complex</a:t>
            </a:r>
            <a:r>
              <a:rPr lang="zh-CN" altLang="en-US" sz="3000" b="1" dirty="0">
                <a:latin typeface="黑体" panose="02010609060101010101" pitchFamily="49" charset="-122"/>
                <a:ea typeface="黑体" panose="02010609060101010101" pitchFamily="49" charset="-122"/>
              </a:rPr>
              <a:t>），包括两个侧体（</a:t>
            </a:r>
            <a:r>
              <a:rPr lang="en-US" altLang="zh-CN" sz="3000" b="1" dirty="0">
                <a:latin typeface="黑体" panose="02010609060101010101" pitchFamily="49" charset="-122"/>
                <a:ea typeface="黑体" panose="02010609060101010101" pitchFamily="49" charset="-122"/>
              </a:rPr>
              <a:t>lateral element</a:t>
            </a:r>
            <a:r>
              <a:rPr lang="zh-CN" altLang="en-US" sz="3000" b="1" dirty="0">
                <a:latin typeface="黑体" panose="02010609060101010101" pitchFamily="49" charset="-122"/>
                <a:ea typeface="黑体" panose="02010609060101010101" pitchFamily="49" charset="-122"/>
              </a:rPr>
              <a:t>）和一个中体（</a:t>
            </a:r>
            <a:r>
              <a:rPr lang="en-US" altLang="zh-CN" sz="3000" b="1" dirty="0">
                <a:latin typeface="黑体" panose="02010609060101010101" pitchFamily="49" charset="-122"/>
                <a:ea typeface="黑体" panose="02010609060101010101" pitchFamily="49" charset="-122"/>
              </a:rPr>
              <a:t>central element</a:t>
            </a:r>
            <a:r>
              <a:rPr lang="zh-CN" altLang="en-US" sz="3000" b="1" dirty="0">
                <a:latin typeface="黑体" panose="02010609060101010101" pitchFamily="49" charset="-122"/>
                <a:ea typeface="黑体" panose="02010609060101010101" pitchFamily="49" charset="-122"/>
              </a:rPr>
              <a:t>）。</a:t>
            </a:r>
            <a:endParaRPr lang="en-US" altLang="zh-CN" sz="3000" b="1" dirty="0">
              <a:latin typeface="黑体" panose="02010609060101010101" pitchFamily="49" charset="-122"/>
              <a:ea typeface="黑体" panose="02010609060101010101" pitchFamily="49" charset="-122"/>
            </a:endParaRPr>
          </a:p>
          <a:p>
            <a:pPr lvl="1">
              <a:lnSpc>
                <a:spcPct val="160000"/>
              </a:lnSpc>
              <a:buClrTx/>
              <a:buFont typeface="Wingdings" panose="05000000000000000000" pitchFamily="2" charset="2"/>
              <a:buChar char="Ø"/>
            </a:pPr>
            <a:r>
              <a:rPr lang="zh-CN" altLang="en-US" sz="3000" b="1" dirty="0">
                <a:latin typeface="黑体" panose="02010609060101010101" pitchFamily="49" charset="-122"/>
                <a:ea typeface="黑体" panose="02010609060101010101" pitchFamily="49" charset="-122"/>
              </a:rPr>
              <a:t>完成联会后，两条同源染色体并排排列在一起，被称为</a:t>
            </a:r>
            <a:r>
              <a:rPr lang="zh-CN" altLang="en-US" sz="3000" b="1" dirty="0">
                <a:solidFill>
                  <a:srgbClr val="0000FF"/>
                </a:solidFill>
                <a:latin typeface="黑体" panose="02010609060101010101" pitchFamily="49" charset="-122"/>
                <a:ea typeface="黑体" panose="02010609060101010101" pitchFamily="49" charset="-122"/>
              </a:rPr>
              <a:t>双价体</a:t>
            </a:r>
            <a:r>
              <a:rPr lang="zh-CN" altLang="en-US" sz="3000" b="1" dirty="0">
                <a:latin typeface="黑体" panose="02010609060101010101" pitchFamily="49" charset="-122"/>
                <a:ea typeface="黑体" panose="02010609060101010101" pitchFamily="49" charset="-122"/>
              </a:rPr>
              <a:t>（</a:t>
            </a:r>
            <a:r>
              <a:rPr lang="en-US" altLang="zh-CN" sz="3000" b="1" dirty="0">
                <a:latin typeface="黑体" panose="02010609060101010101" pitchFamily="49" charset="-122"/>
                <a:ea typeface="黑体" panose="02010609060101010101" pitchFamily="49" charset="-122"/>
              </a:rPr>
              <a:t>bivalent</a:t>
            </a:r>
            <a:r>
              <a:rPr lang="zh-CN" altLang="en-US" sz="3000" b="1" dirty="0">
                <a:latin typeface="黑体" panose="02010609060101010101" pitchFamily="49" charset="-122"/>
                <a:ea typeface="黑体" panose="02010609060101010101" pitchFamily="49" charset="-122"/>
              </a:rPr>
              <a:t>）。</a:t>
            </a:r>
          </a:p>
        </p:txBody>
      </p:sp>
      <p:pic>
        <p:nvPicPr>
          <p:cNvPr id="5" name="图片 4">
            <a:extLst>
              <a:ext uri="{FF2B5EF4-FFF2-40B4-BE49-F238E27FC236}">
                <a16:creationId xmlns:a16="http://schemas.microsoft.com/office/drawing/2014/main" id="{8EA90774-1D37-4BCF-ADC2-A1CE70B01A63}"/>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83951" y="21822"/>
            <a:ext cx="11747211" cy="3407178"/>
          </a:xfrm>
          <a:prstGeom prst="rect">
            <a:avLst/>
          </a:prstGeom>
        </p:spPr>
      </p:pic>
      <p:sp>
        <p:nvSpPr>
          <p:cNvPr id="6" name="灯片编号占位符 2">
            <a:extLst>
              <a:ext uri="{FF2B5EF4-FFF2-40B4-BE49-F238E27FC236}">
                <a16:creationId xmlns:a16="http://schemas.microsoft.com/office/drawing/2014/main" id="{5EC5EF12-1EC9-4FA7-AA5A-649DC172FD19}"/>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47</a:t>
            </a:fld>
            <a:endParaRPr lang="zh-CN" altLang="en-US" dirty="0"/>
          </a:p>
        </p:txBody>
      </p:sp>
    </p:spTree>
    <p:extLst>
      <p:ext uri="{BB962C8B-B14F-4D97-AF65-F5344CB8AC3E}">
        <p14:creationId xmlns:p14="http://schemas.microsoft.com/office/powerpoint/2010/main" val="25802856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218269" y="510508"/>
            <a:ext cx="8550759" cy="5380626"/>
          </a:xfrm>
        </p:spPr>
        <p:txBody>
          <a:bodyPr vert="horz" lIns="91440" tIns="45720" rIns="91440" bIns="45720" rtlCol="0">
            <a:normAutofit/>
          </a:bodyPr>
          <a:lstStyle/>
          <a:p>
            <a:pPr marL="457200" lvl="1" indent="0">
              <a:lnSpc>
                <a:spcPct val="110000"/>
              </a:lnSpc>
              <a:buNone/>
            </a:pPr>
            <a:r>
              <a:rPr lang="zh-CN" altLang="en-US" sz="4000" b="1" dirty="0">
                <a:solidFill>
                  <a:srgbClr val="0000FF"/>
                </a:solidFill>
                <a:latin typeface="黑体" panose="02010609060101010101" pitchFamily="49" charset="-122"/>
                <a:ea typeface="黑体" panose="02010609060101010101" pitchFamily="49" charset="-122"/>
              </a:rPr>
              <a:t>粗线期（</a:t>
            </a:r>
            <a:r>
              <a:rPr lang="en-US" altLang="zh-CN" sz="4000" b="1" dirty="0">
                <a:solidFill>
                  <a:srgbClr val="0000FF"/>
                </a:solidFill>
                <a:latin typeface="黑体" panose="02010609060101010101" pitchFamily="49" charset="-122"/>
                <a:ea typeface="黑体" panose="02010609060101010101" pitchFamily="49" charset="-122"/>
              </a:rPr>
              <a:t>pachytene</a:t>
            </a:r>
            <a:r>
              <a:rPr lang="zh-CN" altLang="en-US" sz="4000" b="1" dirty="0">
                <a:solidFill>
                  <a:srgbClr val="0000FF"/>
                </a:solidFill>
                <a:latin typeface="黑体" panose="02010609060101010101" pitchFamily="49" charset="-122"/>
                <a:ea typeface="黑体" panose="02010609060101010101" pitchFamily="49" charset="-122"/>
              </a:rPr>
              <a:t>）　　</a:t>
            </a:r>
            <a:endParaRPr lang="en-US" altLang="zh-CN" sz="4000" b="1" dirty="0">
              <a:solidFill>
                <a:srgbClr val="0000FF"/>
              </a:solidFill>
              <a:latin typeface="黑体" panose="02010609060101010101" pitchFamily="49" charset="-122"/>
              <a:ea typeface="黑体" panose="02010609060101010101" pitchFamily="49" charset="-122"/>
            </a:endParaRPr>
          </a:p>
          <a:p>
            <a:pPr lvl="1">
              <a:lnSpc>
                <a:spcPct val="160000"/>
              </a:lnSpc>
              <a:buFont typeface="Wingdings" panose="05000000000000000000" pitchFamily="2" charset="2"/>
              <a:buChar char="Ø"/>
            </a:pPr>
            <a:r>
              <a:rPr lang="zh-CN" altLang="en-US" b="1" dirty="0">
                <a:solidFill>
                  <a:srgbClr val="0000FF"/>
                </a:solidFill>
                <a:latin typeface="黑体" panose="02010609060101010101" pitchFamily="49" charset="-122"/>
                <a:ea typeface="黑体" panose="02010609060101010101" pitchFamily="49" charset="-122"/>
              </a:rPr>
              <a:t>染色体继续缩短变粗</a:t>
            </a:r>
            <a:r>
              <a:rPr lang="zh-CN" altLang="en-US" b="1" dirty="0">
                <a:latin typeface="黑体" panose="02010609060101010101" pitchFamily="49" charset="-122"/>
                <a:ea typeface="黑体" panose="02010609060101010101" pitchFamily="49" charset="-122"/>
              </a:rPr>
              <a:t>。光学显微镜下可以看到，这一时期的每条染色体由两条姐妹染色单体组成，它们在着丝粒处相连。</a:t>
            </a:r>
            <a:endParaRPr lang="en-US" altLang="zh-CN" b="1" dirty="0">
              <a:latin typeface="黑体" panose="02010609060101010101" pitchFamily="49" charset="-122"/>
              <a:ea typeface="黑体" panose="02010609060101010101" pitchFamily="49" charset="-122"/>
            </a:endParaRPr>
          </a:p>
          <a:p>
            <a:pPr lvl="1">
              <a:lnSpc>
                <a:spcPct val="16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每对同源染色体由 </a:t>
            </a:r>
            <a:r>
              <a:rPr lang="en-US" altLang="zh-CN" b="1" dirty="0">
                <a:latin typeface="黑体" panose="02010609060101010101" pitchFamily="49" charset="-122"/>
                <a:ea typeface="黑体" panose="02010609060101010101" pitchFamily="49" charset="-122"/>
              </a:rPr>
              <a:t>4 </a:t>
            </a:r>
            <a:r>
              <a:rPr lang="zh-CN" altLang="en-US" b="1" dirty="0">
                <a:latin typeface="黑体" panose="02010609060101010101" pitchFamily="49" charset="-122"/>
                <a:ea typeface="黑体" panose="02010609060101010101" pitchFamily="49" charset="-122"/>
              </a:rPr>
              <a:t>条染色单体组成，称为</a:t>
            </a:r>
            <a:r>
              <a:rPr lang="zh-CN" altLang="en-US" b="1" dirty="0">
                <a:solidFill>
                  <a:srgbClr val="0000FF"/>
                </a:solidFill>
                <a:latin typeface="黑体" panose="02010609060101010101" pitchFamily="49" charset="-122"/>
                <a:ea typeface="黑体" panose="02010609060101010101" pitchFamily="49" charset="-122"/>
              </a:rPr>
              <a:t>四联体</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lnSpc>
                <a:spcPct val="160000"/>
              </a:lnSpc>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四联体中的非姐妹染色单体之间可以</a:t>
            </a:r>
            <a:r>
              <a:rPr lang="zh-CN" altLang="en-US" b="1" dirty="0">
                <a:solidFill>
                  <a:srgbClr val="FF0000"/>
                </a:solidFill>
                <a:latin typeface="黑体" panose="02010609060101010101" pitchFamily="49" charset="-122"/>
                <a:ea typeface="黑体" panose="02010609060101010101" pitchFamily="49" charset="-122"/>
              </a:rPr>
              <a:t>发生交换</a:t>
            </a:r>
            <a:r>
              <a:rPr lang="zh-CN" altLang="en-US" b="1" dirty="0">
                <a:latin typeface="黑体" panose="02010609060101010101" pitchFamily="49" charset="-122"/>
                <a:ea typeface="黑体" panose="02010609060101010101" pitchFamily="49" charset="-122"/>
              </a:rPr>
              <a:t>，彼此间互换相等的染色体区段。</a:t>
            </a:r>
          </a:p>
        </p:txBody>
      </p:sp>
      <p:pic>
        <p:nvPicPr>
          <p:cNvPr id="4" name="图片 3">
            <a:extLst>
              <a:ext uri="{FF2B5EF4-FFF2-40B4-BE49-F238E27FC236}">
                <a16:creationId xmlns:a16="http://schemas.microsoft.com/office/drawing/2014/main" id="{96D5DEEA-83D5-4523-BE43-3AD4E7D0E44E}"/>
              </a:ext>
            </a:extLst>
          </p:cNvPr>
          <p:cNvPicPr>
            <a:picLocks noChangeAspect="1"/>
          </p:cNvPicPr>
          <p:nvPr/>
        </p:nvPicPr>
        <p:blipFill rotWithShape="1">
          <a:blip r:embed="rId2"/>
          <a:srcRect l="39355" r="40702" b="39296"/>
          <a:stretch/>
        </p:blipFill>
        <p:spPr>
          <a:xfrm>
            <a:off x="8332490" y="-1"/>
            <a:ext cx="3664929" cy="6721475"/>
          </a:xfrm>
          <a:prstGeom prst="rect">
            <a:avLst/>
          </a:prstGeom>
        </p:spPr>
      </p:pic>
      <p:sp>
        <p:nvSpPr>
          <p:cNvPr id="5" name="灯片编号占位符 2">
            <a:extLst>
              <a:ext uri="{FF2B5EF4-FFF2-40B4-BE49-F238E27FC236}">
                <a16:creationId xmlns:a16="http://schemas.microsoft.com/office/drawing/2014/main" id="{B92AC309-17CE-4DF2-A0CB-F6481F3CF103}"/>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48</a:t>
            </a:fld>
            <a:endParaRPr lang="zh-CN" altLang="en-US" dirty="0"/>
          </a:p>
        </p:txBody>
      </p:sp>
    </p:spTree>
    <p:extLst>
      <p:ext uri="{BB962C8B-B14F-4D97-AF65-F5344CB8AC3E}">
        <p14:creationId xmlns:p14="http://schemas.microsoft.com/office/powerpoint/2010/main" val="3630497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119920" y="197516"/>
            <a:ext cx="9069048" cy="4187007"/>
          </a:xfrm>
        </p:spPr>
        <p:txBody>
          <a:bodyPr>
            <a:normAutofit lnSpcReduction="10000"/>
          </a:bodyPr>
          <a:lstStyle/>
          <a:p>
            <a:pPr marL="457200" lvl="1" indent="0">
              <a:buNone/>
            </a:pPr>
            <a:r>
              <a:rPr lang="zh-CN" altLang="en-US" sz="4000" b="1" dirty="0">
                <a:solidFill>
                  <a:srgbClr val="0000FF"/>
                </a:solidFill>
                <a:latin typeface="黑体" panose="02010609060101010101" pitchFamily="49" charset="-122"/>
                <a:ea typeface="黑体" panose="02010609060101010101" pitchFamily="49" charset="-122"/>
              </a:rPr>
              <a:t>双线期（</a:t>
            </a:r>
            <a:r>
              <a:rPr lang="en-US" altLang="zh-CN" sz="4000" b="1" dirty="0">
                <a:solidFill>
                  <a:srgbClr val="0000FF"/>
                </a:solidFill>
                <a:latin typeface="黑体" panose="02010609060101010101" pitchFamily="49" charset="-122"/>
                <a:ea typeface="黑体" panose="02010609060101010101" pitchFamily="49" charset="-122"/>
              </a:rPr>
              <a:t>diplotene</a:t>
            </a:r>
            <a:r>
              <a:rPr lang="zh-CN" altLang="en-US" sz="4000" b="1" dirty="0">
                <a:solidFill>
                  <a:srgbClr val="0000FF"/>
                </a:solidFill>
                <a:latin typeface="黑体" panose="02010609060101010101" pitchFamily="49" charset="-122"/>
                <a:ea typeface="黑体" panose="02010609060101010101" pitchFamily="49" charset="-122"/>
              </a:rPr>
              <a:t>）　</a:t>
            </a:r>
            <a:endParaRPr lang="en-US" altLang="zh-CN" sz="4000" b="1" dirty="0">
              <a:solidFill>
                <a:srgbClr val="0000FF"/>
              </a:solidFill>
              <a:latin typeface="黑体" panose="02010609060101010101" pitchFamily="49" charset="-122"/>
              <a:ea typeface="黑体" panose="02010609060101010101" pitchFamily="49" charset="-122"/>
            </a:endParaRPr>
          </a:p>
          <a:p>
            <a:pPr lvl="1">
              <a:lnSpc>
                <a:spcPct val="140000"/>
              </a:lnSpc>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双价体中的两条</a:t>
            </a:r>
            <a:r>
              <a:rPr lang="zh-CN" altLang="en-US" b="1" dirty="0">
                <a:solidFill>
                  <a:srgbClr val="0000FF"/>
                </a:solidFill>
                <a:latin typeface="黑体" panose="02010609060101010101" pitchFamily="49" charset="-122"/>
                <a:ea typeface="黑体" panose="02010609060101010101" pitchFamily="49" charset="-122"/>
              </a:rPr>
              <a:t>同源染色体开始分开</a:t>
            </a:r>
            <a:r>
              <a:rPr lang="zh-CN" altLang="en-US" b="1" dirty="0">
                <a:latin typeface="黑体" panose="02010609060101010101" pitchFamily="49" charset="-122"/>
                <a:ea typeface="黑体" panose="02010609060101010101" pitchFamily="49" charset="-122"/>
              </a:rPr>
              <a:t>，但分开又不完全，并不形成两个独立的单价体，而是在两个同源染色体之间的若干处</a:t>
            </a:r>
            <a:r>
              <a:rPr lang="zh-CN" altLang="en-US" b="1" dirty="0">
                <a:solidFill>
                  <a:srgbClr val="FF0000"/>
                </a:solidFill>
                <a:latin typeface="黑体" panose="02010609060101010101" pitchFamily="49" charset="-122"/>
                <a:ea typeface="黑体" panose="02010609060101010101" pitchFamily="49" charset="-122"/>
              </a:rPr>
              <a:t>发生交叉</a:t>
            </a:r>
            <a:r>
              <a:rPr lang="zh-CN" altLang="en-US" b="1" dirty="0">
                <a:latin typeface="黑体" panose="02010609060101010101" pitchFamily="49" charset="-122"/>
                <a:ea typeface="黑体" panose="02010609060101010101" pitchFamily="49" charset="-122"/>
              </a:rPr>
              <a:t>并相互连接。</a:t>
            </a:r>
            <a:endParaRPr lang="en-US" altLang="zh-CN" b="1" dirty="0">
              <a:latin typeface="黑体" panose="02010609060101010101" pitchFamily="49" charset="-122"/>
              <a:ea typeface="黑体" panose="02010609060101010101" pitchFamily="49" charset="-122"/>
            </a:endParaRPr>
          </a:p>
          <a:p>
            <a:pPr lvl="1">
              <a:lnSpc>
                <a:spcPct val="140000"/>
              </a:lnSpc>
              <a:buClrTx/>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交叉是染色单体发生交换的场所</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lnSpc>
                <a:spcPct val="140000"/>
              </a:lnSpc>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随着周期的推进，交叉数目逐渐减少，在着丝粒两侧的交叉向两端移动，称为</a:t>
            </a:r>
            <a:r>
              <a:rPr lang="zh-CN" altLang="en-US" b="1" dirty="0">
                <a:solidFill>
                  <a:srgbClr val="0000FF"/>
                </a:solidFill>
                <a:latin typeface="黑体" panose="02010609060101010101" pitchFamily="49" charset="-122"/>
                <a:ea typeface="黑体" panose="02010609060101010101" pitchFamily="49" charset="-122"/>
              </a:rPr>
              <a:t>交叉端化</a:t>
            </a:r>
            <a:r>
              <a:rPr lang="zh-CN" altLang="en-US" b="1" dirty="0">
                <a:latin typeface="黑体" panose="02010609060101010101" pitchFamily="49" charset="-122"/>
                <a:ea typeface="黑体" panose="02010609060101010101" pitchFamily="49" charset="-122"/>
              </a:rPr>
              <a:t>，或简称端化。同时，染色体也跟着缩短变粗，螺旋化程度加深。</a:t>
            </a:r>
          </a:p>
        </p:txBody>
      </p:sp>
      <p:pic>
        <p:nvPicPr>
          <p:cNvPr id="5" name="图片 4">
            <a:extLst>
              <a:ext uri="{FF2B5EF4-FFF2-40B4-BE49-F238E27FC236}">
                <a16:creationId xmlns:a16="http://schemas.microsoft.com/office/drawing/2014/main" id="{C634E69A-890D-4E01-B3EB-C5E53020D9C1}"/>
              </a:ext>
            </a:extLst>
          </p:cNvPr>
          <p:cNvPicPr>
            <a:picLocks noChangeAspect="1"/>
          </p:cNvPicPr>
          <p:nvPr/>
        </p:nvPicPr>
        <p:blipFill rotWithShape="1">
          <a:blip r:embed="rId2"/>
          <a:srcRect l="58099" r="21186" b="39296"/>
          <a:stretch/>
        </p:blipFill>
        <p:spPr>
          <a:xfrm>
            <a:off x="8949128" y="312399"/>
            <a:ext cx="3242871" cy="5725873"/>
          </a:xfrm>
          <a:prstGeom prst="rect">
            <a:avLst/>
          </a:prstGeom>
        </p:spPr>
      </p:pic>
      <p:pic>
        <p:nvPicPr>
          <p:cNvPr id="6" name="图片 5">
            <a:extLst>
              <a:ext uri="{FF2B5EF4-FFF2-40B4-BE49-F238E27FC236}">
                <a16:creationId xmlns:a16="http://schemas.microsoft.com/office/drawing/2014/main" id="{895A709E-0AA0-45BB-B22E-E7E8B63DCF96}"/>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18092" y="4323532"/>
            <a:ext cx="7193025" cy="2336952"/>
          </a:xfrm>
          <a:prstGeom prst="rect">
            <a:avLst/>
          </a:prstGeom>
        </p:spPr>
      </p:pic>
      <p:sp>
        <p:nvSpPr>
          <p:cNvPr id="7" name="灯片编号占位符 2">
            <a:extLst>
              <a:ext uri="{FF2B5EF4-FFF2-40B4-BE49-F238E27FC236}">
                <a16:creationId xmlns:a16="http://schemas.microsoft.com/office/drawing/2014/main" id="{46BC34E6-E818-4D04-8691-DC406D4A4339}"/>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49</a:t>
            </a:fld>
            <a:endParaRPr lang="zh-CN" altLang="en-US" dirty="0"/>
          </a:p>
        </p:txBody>
      </p:sp>
    </p:spTree>
    <p:extLst>
      <p:ext uri="{BB962C8B-B14F-4D97-AF65-F5344CB8AC3E}">
        <p14:creationId xmlns:p14="http://schemas.microsoft.com/office/powerpoint/2010/main" val="35397587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20660D-F9B5-4B4F-8D08-55EFE95CC19A}"/>
              </a:ext>
            </a:extLst>
          </p:cNvPr>
          <p:cNvSpPr>
            <a:spLocks noGrp="1"/>
          </p:cNvSpPr>
          <p:nvPr>
            <p:ph idx="1"/>
          </p:nvPr>
        </p:nvSpPr>
        <p:spPr>
          <a:xfrm>
            <a:off x="-272742" y="435295"/>
            <a:ext cx="9376423" cy="3522107"/>
          </a:xfrm>
        </p:spPr>
        <p:txBody>
          <a:bodyPr>
            <a:normAutofit/>
          </a:bodyPr>
          <a:lstStyle/>
          <a:p>
            <a:pPr marL="457200" lvl="1" indent="0">
              <a:lnSpc>
                <a:spcPct val="80000"/>
              </a:lnSpc>
              <a:buNone/>
            </a:pPr>
            <a:r>
              <a:rPr lang="zh-CN" altLang="en-US" sz="4000" b="1" dirty="0">
                <a:solidFill>
                  <a:srgbClr val="0000FF"/>
                </a:solidFill>
                <a:latin typeface="黑体" panose="02010609060101010101" pitchFamily="49" charset="-122"/>
                <a:ea typeface="黑体" panose="02010609060101010101" pitchFamily="49" charset="-122"/>
              </a:rPr>
              <a:t>终变期（</a:t>
            </a:r>
            <a:r>
              <a:rPr lang="en-US" altLang="zh-CN" sz="4000" b="1" dirty="0">
                <a:solidFill>
                  <a:srgbClr val="0000FF"/>
                </a:solidFill>
                <a:latin typeface="黑体" panose="02010609060101010101" pitchFamily="49" charset="-122"/>
                <a:ea typeface="黑体" panose="02010609060101010101" pitchFamily="49" charset="-122"/>
              </a:rPr>
              <a:t>diakinesis</a:t>
            </a:r>
            <a:r>
              <a:rPr lang="zh-CN" altLang="en-US" sz="4000" b="1" dirty="0">
                <a:solidFill>
                  <a:srgbClr val="0000FF"/>
                </a:solidFill>
                <a:latin typeface="黑体" panose="02010609060101010101" pitchFamily="49" charset="-122"/>
                <a:ea typeface="黑体" panose="02010609060101010101" pitchFamily="49" charset="-122"/>
              </a:rPr>
              <a:t>）　　</a:t>
            </a:r>
            <a:endParaRPr lang="en-US" altLang="zh-CN" sz="4000" b="1" dirty="0">
              <a:solidFill>
                <a:srgbClr val="0000FF"/>
              </a:solidFill>
              <a:latin typeface="黑体" panose="02010609060101010101" pitchFamily="49" charset="-122"/>
              <a:ea typeface="黑体" panose="02010609060101010101" pitchFamily="49" charset="-122"/>
            </a:endParaRPr>
          </a:p>
          <a:p>
            <a:pPr lvl="1">
              <a:lnSpc>
                <a:spcPct val="130000"/>
              </a:lnSpc>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两条同源染色体仍有交叉联系着，所以仍为</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个双价体。染色体变得更为粗短，</a:t>
            </a:r>
            <a:r>
              <a:rPr lang="zh-CN" altLang="en-US" b="1" dirty="0">
                <a:solidFill>
                  <a:srgbClr val="0000FF"/>
                </a:solidFill>
                <a:latin typeface="黑体" panose="02010609060101010101" pitchFamily="49" charset="-122"/>
                <a:ea typeface="黑体" panose="02010609060101010101" pitchFamily="49" charset="-122"/>
              </a:rPr>
              <a:t>螺旋化达到最高</a:t>
            </a:r>
            <a:r>
              <a:rPr lang="zh-CN" altLang="en-US" b="1" dirty="0">
                <a:latin typeface="黑体" panose="02010609060101010101" pitchFamily="49" charset="-122"/>
                <a:ea typeface="黑体" panose="02010609060101010101" pitchFamily="49" charset="-122"/>
              </a:rPr>
              <a:t>，以致有时染色体中的染色单体都看不清了。交叉的端化仍旧继续进行。这时核仁和核膜开始消失，双价体开始向赤道面移动，纺锤体开始形成</a:t>
            </a:r>
            <a:r>
              <a:rPr lang="zh-CN" altLang="en-US" sz="2200" dirty="0"/>
              <a:t>。</a:t>
            </a:r>
          </a:p>
        </p:txBody>
      </p:sp>
      <p:pic>
        <p:nvPicPr>
          <p:cNvPr id="4" name="图片 3">
            <a:extLst>
              <a:ext uri="{FF2B5EF4-FFF2-40B4-BE49-F238E27FC236}">
                <a16:creationId xmlns:a16="http://schemas.microsoft.com/office/drawing/2014/main" id="{7FC48F03-511A-48C2-9378-8DE7400EFB4F}"/>
              </a:ext>
            </a:extLst>
          </p:cNvPr>
          <p:cNvPicPr>
            <a:picLocks noChangeAspect="1"/>
          </p:cNvPicPr>
          <p:nvPr/>
        </p:nvPicPr>
        <p:blipFill rotWithShape="1">
          <a:blip r:embed="rId2"/>
          <a:srcRect l="78653" r="983" b="39296"/>
          <a:stretch/>
        </p:blipFill>
        <p:spPr>
          <a:xfrm>
            <a:off x="8918855" y="136525"/>
            <a:ext cx="3273145" cy="5878914"/>
          </a:xfrm>
          <a:prstGeom prst="rect">
            <a:avLst/>
          </a:prstGeom>
        </p:spPr>
      </p:pic>
      <p:sp>
        <p:nvSpPr>
          <p:cNvPr id="5" name="灯片编号占位符 2">
            <a:extLst>
              <a:ext uri="{FF2B5EF4-FFF2-40B4-BE49-F238E27FC236}">
                <a16:creationId xmlns:a16="http://schemas.microsoft.com/office/drawing/2014/main" id="{FD386D5C-0291-4748-A6AC-E672A4B2F266}"/>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50</a:t>
            </a:fld>
            <a:endParaRPr lang="zh-CN" altLang="en-US" dirty="0"/>
          </a:p>
        </p:txBody>
      </p:sp>
    </p:spTree>
    <p:extLst>
      <p:ext uri="{BB962C8B-B14F-4D97-AF65-F5344CB8AC3E}">
        <p14:creationId xmlns:p14="http://schemas.microsoft.com/office/powerpoint/2010/main" val="26544586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4-1-91">
            <a:extLst>
              <a:ext uri="{FF2B5EF4-FFF2-40B4-BE49-F238E27FC236}">
                <a16:creationId xmlns:a16="http://schemas.microsoft.com/office/drawing/2014/main" id="{6A3E6739-E9F6-1402-E6EA-FDE94E8DC8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4" t="4095" r="79760" b="12226"/>
          <a:stretch/>
        </p:blipFill>
        <p:spPr bwMode="auto">
          <a:xfrm>
            <a:off x="6494832" y="207521"/>
            <a:ext cx="2315184" cy="2385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5" descr="4-1-91">
            <a:extLst>
              <a:ext uri="{FF2B5EF4-FFF2-40B4-BE49-F238E27FC236}">
                <a16:creationId xmlns:a16="http://schemas.microsoft.com/office/drawing/2014/main" id="{E3D1773F-B7F1-43D6-868B-336921745A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882" t="4210" r="39275" b="12225"/>
          <a:stretch/>
        </p:blipFill>
        <p:spPr bwMode="auto">
          <a:xfrm>
            <a:off x="1057075" y="3312268"/>
            <a:ext cx="2422189" cy="2382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5" descr="4-1-91">
            <a:extLst>
              <a:ext uri="{FF2B5EF4-FFF2-40B4-BE49-F238E27FC236}">
                <a16:creationId xmlns:a16="http://schemas.microsoft.com/office/drawing/2014/main" id="{D1658327-55BA-26A2-1FBD-5DF29D5566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719" t="4095" r="59837" b="12226"/>
          <a:stretch/>
        </p:blipFill>
        <p:spPr bwMode="auto">
          <a:xfrm>
            <a:off x="8965660" y="3309026"/>
            <a:ext cx="2373548" cy="2385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5" descr="4-1-91">
            <a:extLst>
              <a:ext uri="{FF2B5EF4-FFF2-40B4-BE49-F238E27FC236}">
                <a16:creationId xmlns:a16="http://schemas.microsoft.com/office/drawing/2014/main" id="{78BF7D65-F2AB-E910-391A-48FD3705A1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551" t="4210" b="12225"/>
          <a:stretch/>
        </p:blipFill>
        <p:spPr bwMode="auto">
          <a:xfrm>
            <a:off x="3093396" y="207521"/>
            <a:ext cx="2252058" cy="2382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5" descr="4-1-91">
            <a:extLst>
              <a:ext uri="{FF2B5EF4-FFF2-40B4-BE49-F238E27FC236}">
                <a16:creationId xmlns:a16="http://schemas.microsoft.com/office/drawing/2014/main" id="{8A9936CB-CB50-A1A9-1482-CDFF29C745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628" t="4210" r="18928" b="12225"/>
          <a:stretch/>
        </p:blipFill>
        <p:spPr bwMode="auto">
          <a:xfrm>
            <a:off x="4909225" y="3312268"/>
            <a:ext cx="2373549" cy="2382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文本框 7">
            <a:extLst>
              <a:ext uri="{FF2B5EF4-FFF2-40B4-BE49-F238E27FC236}">
                <a16:creationId xmlns:a16="http://schemas.microsoft.com/office/drawing/2014/main" id="{758DA447-C575-E59A-4F8E-A49866063DD5}"/>
              </a:ext>
            </a:extLst>
          </p:cNvPr>
          <p:cNvSpPr txBox="1"/>
          <p:nvPr/>
        </p:nvSpPr>
        <p:spPr>
          <a:xfrm>
            <a:off x="7088225" y="2589600"/>
            <a:ext cx="1335928" cy="523220"/>
          </a:xfrm>
          <a:prstGeom prst="rect">
            <a:avLst/>
          </a:prstGeom>
          <a:no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细线期</a:t>
            </a:r>
            <a:endParaRPr lang="zh-CN" altLang="en-US" sz="2800" dirty="0"/>
          </a:p>
        </p:txBody>
      </p:sp>
      <p:sp>
        <p:nvSpPr>
          <p:cNvPr id="9" name="文本框 8">
            <a:extLst>
              <a:ext uri="{FF2B5EF4-FFF2-40B4-BE49-F238E27FC236}">
                <a16:creationId xmlns:a16="http://schemas.microsoft.com/office/drawing/2014/main" id="{AEE9B6B0-F8AA-58EA-E239-9075DF3CCA41}"/>
              </a:ext>
            </a:extLst>
          </p:cNvPr>
          <p:cNvSpPr txBox="1"/>
          <p:nvPr/>
        </p:nvSpPr>
        <p:spPr>
          <a:xfrm>
            <a:off x="9620657" y="5694347"/>
            <a:ext cx="1335928" cy="523220"/>
          </a:xfrm>
          <a:prstGeom prst="rect">
            <a:avLst/>
          </a:prstGeom>
          <a:no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偶线期</a:t>
            </a:r>
            <a:endParaRPr lang="zh-CN" altLang="en-US" sz="2800" dirty="0"/>
          </a:p>
        </p:txBody>
      </p:sp>
      <p:sp>
        <p:nvSpPr>
          <p:cNvPr id="10" name="文本框 9">
            <a:extLst>
              <a:ext uri="{FF2B5EF4-FFF2-40B4-BE49-F238E27FC236}">
                <a16:creationId xmlns:a16="http://schemas.microsoft.com/office/drawing/2014/main" id="{AC4AC4CB-ABB4-14B8-E743-1FF245F16E37}"/>
              </a:ext>
            </a:extLst>
          </p:cNvPr>
          <p:cNvSpPr txBox="1"/>
          <p:nvPr/>
        </p:nvSpPr>
        <p:spPr>
          <a:xfrm>
            <a:off x="5544767" y="5694347"/>
            <a:ext cx="1335928" cy="523220"/>
          </a:xfrm>
          <a:prstGeom prst="rect">
            <a:avLst/>
          </a:prstGeom>
          <a:no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双线期</a:t>
            </a:r>
            <a:endParaRPr lang="zh-CN" altLang="en-US" sz="2800" dirty="0"/>
          </a:p>
        </p:txBody>
      </p:sp>
      <p:sp>
        <p:nvSpPr>
          <p:cNvPr id="11" name="文本框 10">
            <a:extLst>
              <a:ext uri="{FF2B5EF4-FFF2-40B4-BE49-F238E27FC236}">
                <a16:creationId xmlns:a16="http://schemas.microsoft.com/office/drawing/2014/main" id="{AE6766A9-5C14-A05C-CF81-1435D69009E9}"/>
              </a:ext>
            </a:extLst>
          </p:cNvPr>
          <p:cNvSpPr txBox="1"/>
          <p:nvPr/>
        </p:nvSpPr>
        <p:spPr>
          <a:xfrm>
            <a:off x="1676412" y="5694347"/>
            <a:ext cx="1335928" cy="523220"/>
          </a:xfrm>
          <a:prstGeom prst="rect">
            <a:avLst/>
          </a:prstGeom>
          <a:no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粗线期</a:t>
            </a:r>
            <a:endParaRPr lang="zh-CN" altLang="en-US" sz="2800" dirty="0"/>
          </a:p>
        </p:txBody>
      </p:sp>
      <p:sp>
        <p:nvSpPr>
          <p:cNvPr id="12" name="文本框 11">
            <a:extLst>
              <a:ext uri="{FF2B5EF4-FFF2-40B4-BE49-F238E27FC236}">
                <a16:creationId xmlns:a16="http://schemas.microsoft.com/office/drawing/2014/main" id="{FA5961CB-2734-3D81-B811-2E5826512E76}"/>
              </a:ext>
            </a:extLst>
          </p:cNvPr>
          <p:cNvSpPr txBox="1"/>
          <p:nvPr/>
        </p:nvSpPr>
        <p:spPr>
          <a:xfrm>
            <a:off x="3583885" y="2589600"/>
            <a:ext cx="1335928" cy="523220"/>
          </a:xfrm>
          <a:prstGeom prst="rect">
            <a:avLst/>
          </a:prstGeom>
          <a:noFill/>
        </p:spPr>
        <p:txBody>
          <a:bodyPr wrap="square">
            <a:spAutoFit/>
          </a:bodyPr>
          <a:lstStyle/>
          <a:p>
            <a:r>
              <a:rPr lang="zh-CN" altLang="en-US" sz="2800" b="1" dirty="0">
                <a:solidFill>
                  <a:srgbClr val="FF0000"/>
                </a:solidFill>
                <a:latin typeface="黑体" panose="02010609060101010101" pitchFamily="49" charset="-122"/>
                <a:ea typeface="黑体" panose="02010609060101010101" pitchFamily="49" charset="-122"/>
              </a:rPr>
              <a:t>终变期</a:t>
            </a:r>
            <a:endParaRPr lang="zh-CN" altLang="en-US" sz="2800" dirty="0"/>
          </a:p>
        </p:txBody>
      </p:sp>
    </p:spTree>
    <p:extLst>
      <p:ext uri="{BB962C8B-B14F-4D97-AF65-F5344CB8AC3E}">
        <p14:creationId xmlns:p14="http://schemas.microsoft.com/office/powerpoint/2010/main" val="304467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60" name="Picture 1028"/>
          <p:cNvPicPr>
            <a:picLocks noChangeAspect="1" noChangeArrowheads="1"/>
          </p:cNvPicPr>
          <p:nvPr/>
        </p:nvPicPr>
        <p:blipFill>
          <a:blip r:embed="rId2">
            <a:lum bright="-6000" contrast="36000"/>
            <a:extLst>
              <a:ext uri="{28A0092B-C50C-407E-A947-70E740481C1C}">
                <a14:useLocalDpi xmlns:a14="http://schemas.microsoft.com/office/drawing/2010/main" val="0"/>
              </a:ext>
            </a:extLst>
          </a:blip>
          <a:srcRect/>
          <a:stretch>
            <a:fillRect/>
          </a:stretch>
        </p:blipFill>
        <p:spPr bwMode="auto">
          <a:xfrm>
            <a:off x="1164077" y="478631"/>
            <a:ext cx="9144000"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1" name="Picture 1029"/>
          <p:cNvPicPr>
            <a:picLocks noChangeAspect="1" noChangeArrowheads="1"/>
          </p:cNvPicPr>
          <p:nvPr/>
        </p:nvPicPr>
        <p:blipFill>
          <a:blip r:embed="rId3">
            <a:lum bright="-12000" contrast="30000"/>
            <a:extLst>
              <a:ext uri="{28A0092B-C50C-407E-A947-70E740481C1C}">
                <a14:useLocalDpi xmlns:a14="http://schemas.microsoft.com/office/drawing/2010/main" val="0"/>
              </a:ext>
            </a:extLst>
          </a:blip>
          <a:srcRect/>
          <a:stretch>
            <a:fillRect/>
          </a:stretch>
        </p:blipFill>
        <p:spPr bwMode="auto">
          <a:xfrm>
            <a:off x="1524000" y="2678546"/>
            <a:ext cx="9144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2" name="Rectangle 1030"/>
          <p:cNvSpPr>
            <a:spLocks noChangeArrowheads="1"/>
          </p:cNvSpPr>
          <p:nvPr/>
        </p:nvSpPr>
        <p:spPr bwMode="auto">
          <a:xfrm>
            <a:off x="1430777" y="173831"/>
            <a:ext cx="8610600" cy="609600"/>
          </a:xfrm>
          <a:prstGeom prst="rect">
            <a:avLst/>
          </a:prstGeom>
          <a:noFill/>
          <a:ln w="9525">
            <a:noFill/>
            <a:miter lim="800000"/>
          </a:ln>
          <a:effectLst/>
        </p:spPr>
        <p:txBody>
          <a:bodyPr lIns="92075" tIns="46038" rIns="92075" bIns="46038" anchor="b"/>
          <a:lstStyle/>
          <a:p>
            <a:pPr algn="ctr" eaLnBrk="1" hangingPunct="1">
              <a:defRPr/>
            </a:pPr>
            <a:r>
              <a:rPr lang="zh-CN" altLang="en-US" sz="4000" b="1" dirty="0">
                <a:solidFill>
                  <a:srgbClr val="0000FF"/>
                </a:solidFill>
                <a:latin typeface="黑体" panose="02010609060101010101" pitchFamily="49" charset="-122"/>
                <a:ea typeface="黑体" panose="02010609060101010101" pitchFamily="49" charset="-122"/>
                <a:sym typeface="+mn-ea"/>
              </a:rPr>
              <a:t>染色体交叉动态变化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147460"/>
                                        </p:tgtEl>
                                        <p:attrNameLst>
                                          <p:attrName>style.visibility</p:attrName>
                                        </p:attrNameLst>
                                      </p:cBhvr>
                                      <p:to>
                                        <p:strVal val="visible"/>
                                      </p:to>
                                    </p:set>
                                    <p:animEffect transition="in" filter="slide(fromTop)">
                                      <p:cBhvr>
                                        <p:cTn id="7" dur="500"/>
                                        <p:tgtEl>
                                          <p:spTgt spid="147460"/>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47461"/>
                                        </p:tgtEl>
                                        <p:attrNameLst>
                                          <p:attrName>style.visibility</p:attrName>
                                        </p:attrNameLst>
                                      </p:cBhvr>
                                      <p:to>
                                        <p:strVal val="visible"/>
                                      </p:to>
                                    </p:set>
                                    <p:animEffect transition="in" filter="slide(fromTop)">
                                      <p:cBhvr>
                                        <p:cTn id="11" dur="500"/>
                                        <p:tgtEl>
                                          <p:spTgt spid="147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5"/>
          <p:cNvPicPr>
            <a:picLocks noChangeAspect="1" noChangeArrowheads="1"/>
          </p:cNvPicPr>
          <p:nvPr/>
        </p:nvPicPr>
        <p:blipFill rotWithShape="1">
          <a:blip r:embed="rId2">
            <a:lum bright="-6000" contrast="48000"/>
            <a:extLst>
              <a:ext uri="{28A0092B-C50C-407E-A947-70E740481C1C}">
                <a14:useLocalDpi xmlns:a14="http://schemas.microsoft.com/office/drawing/2010/main" val="0"/>
              </a:ext>
            </a:extLst>
          </a:blip>
          <a:srcRect t="8910"/>
          <a:stretch/>
        </p:blipFill>
        <p:spPr bwMode="auto">
          <a:xfrm>
            <a:off x="1524000" y="815502"/>
            <a:ext cx="9144000" cy="555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Text Box 6"/>
          <p:cNvSpPr txBox="1">
            <a:spLocks noChangeArrowheads="1"/>
          </p:cNvSpPr>
          <p:nvPr/>
        </p:nvSpPr>
        <p:spPr bwMode="auto">
          <a:xfrm>
            <a:off x="2633051" y="90487"/>
            <a:ext cx="70866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spcBef>
                <a:spcPct val="50000"/>
              </a:spcBef>
            </a:pPr>
            <a:r>
              <a:rPr lang="zh-CN" altLang="en-US" sz="3800" dirty="0">
                <a:solidFill>
                  <a:srgbClr val="0000FF"/>
                </a:solidFill>
                <a:latin typeface="黑体" panose="02010609060101010101" pitchFamily="49" charset="-122"/>
              </a:rPr>
              <a:t>非姊妹染色单体交叉与片断交换</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a:xfrm>
            <a:off x="426427" y="235981"/>
            <a:ext cx="10515600" cy="620296"/>
          </a:xfrm>
        </p:spPr>
        <p:txBody>
          <a:bodyPr>
            <a:normAutofit/>
          </a:bodyPr>
          <a:lstStyle/>
          <a:p>
            <a:r>
              <a:rPr lang="zh-CN" altLang="en-US" sz="3200" b="1" dirty="0">
                <a:solidFill>
                  <a:srgbClr val="0000FF"/>
                </a:solidFill>
                <a:latin typeface="黑体" panose="02010609060101010101" pitchFamily="49" charset="-122"/>
                <a:ea typeface="黑体" panose="02010609060101010101" pitchFamily="49" charset="-122"/>
              </a:rPr>
              <a:t>中期</a:t>
            </a:r>
            <a:r>
              <a:rPr lang="en-US" altLang="zh-CN" sz="3200" b="1" dirty="0">
                <a:solidFill>
                  <a:srgbClr val="0000FF"/>
                </a:solidFill>
                <a:latin typeface="黑体" panose="02010609060101010101" pitchFamily="49" charset="-122"/>
                <a:ea typeface="黑体" panose="02010609060101010101" pitchFamily="49" charset="-122"/>
              </a:rPr>
              <a:t>I</a:t>
            </a:r>
            <a:r>
              <a:rPr lang="zh-CN" altLang="en-US" sz="3200" b="1" dirty="0">
                <a:solidFill>
                  <a:srgbClr val="0000FF"/>
                </a:solidFill>
                <a:latin typeface="黑体" panose="02010609060101010101" pitchFamily="49" charset="-122"/>
                <a:ea typeface="黑体" panose="02010609060101010101" pitchFamily="49" charset="-122"/>
              </a:rPr>
              <a:t>： </a:t>
            </a:r>
          </a:p>
        </p:txBody>
      </p:sp>
      <p:sp>
        <p:nvSpPr>
          <p:cNvPr id="50179" name="Rectangle 3"/>
          <p:cNvSpPr>
            <a:spLocks noGrp="1" noRot="1" noChangeArrowheads="1"/>
          </p:cNvSpPr>
          <p:nvPr>
            <p:ph type="body" idx="1"/>
          </p:nvPr>
        </p:nvSpPr>
        <p:spPr>
          <a:xfrm>
            <a:off x="292318" y="856277"/>
            <a:ext cx="11575427" cy="1130639"/>
          </a:xfrm>
        </p:spPr>
        <p:txBody>
          <a:bodyPr/>
          <a:lstStyle/>
          <a:p>
            <a:pPr marL="0" indent="0">
              <a:lnSpc>
                <a:spcPct val="120000"/>
              </a:lnSpc>
              <a:buNone/>
            </a:pPr>
            <a:r>
              <a:rPr lang="zh-CN" altLang="en-US" b="1" dirty="0">
                <a:latin typeface="黑体" panose="02010609060101010101" pitchFamily="49" charset="-122"/>
                <a:ea typeface="黑体" panose="02010609060101010101" pitchFamily="49" charset="-122"/>
              </a:rPr>
              <a:t>    各个双价体排列在赤道面上，两个同源染色体上的着丝粒逐渐远离，双价体开始分离，但仍有交叉联系着。 </a:t>
            </a:r>
          </a:p>
        </p:txBody>
      </p:sp>
      <p:grpSp>
        <p:nvGrpSpPr>
          <p:cNvPr id="4" name="Group 5"/>
          <p:cNvGrpSpPr/>
          <p:nvPr/>
        </p:nvGrpSpPr>
        <p:grpSpPr bwMode="auto">
          <a:xfrm>
            <a:off x="292318" y="2202900"/>
            <a:ext cx="5510719" cy="3072075"/>
            <a:chOff x="111" y="91"/>
            <a:chExt cx="5553" cy="3893"/>
          </a:xfrm>
        </p:grpSpPr>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 y="91"/>
              <a:ext cx="2728" cy="3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 y="96"/>
              <a:ext cx="2771" cy="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3" y="2107"/>
              <a:ext cx="2771" cy="1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AutoShape 9"/>
            <p:cNvSpPr/>
            <p:nvPr/>
          </p:nvSpPr>
          <p:spPr bwMode="auto">
            <a:xfrm>
              <a:off x="1632" y="1536"/>
              <a:ext cx="240" cy="768"/>
            </a:xfrm>
            <a:prstGeom prst="rightBracket">
              <a:avLst>
                <a:gd name="adj" fmla="val 26667"/>
              </a:avLst>
            </a:prstGeom>
            <a:noFill/>
            <a:ln w="57150">
              <a:solidFill>
                <a:srgbClr val="FF0000"/>
              </a:solidFill>
              <a:round/>
              <a:headEnd type="triangle" w="med" len="med"/>
              <a:tailEnd type="triangle" w="med" len="med"/>
            </a:ln>
            <a:effectLst/>
            <a:extLst>
              <a:ext uri="{909E8E84-426E-40DD-AFC4-6F175D3DCCD1}">
                <a14:hiddenFill xmlns:a14="http://schemas.microsoft.com/office/drawing/2010/main">
                  <a:solidFill>
                    <a:srgbClr val="1F1A17"/>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9" name="Group 8"/>
          <p:cNvGrpSpPr/>
          <p:nvPr/>
        </p:nvGrpSpPr>
        <p:grpSpPr bwMode="auto">
          <a:xfrm>
            <a:off x="6078162" y="2036969"/>
            <a:ext cx="5429446" cy="3482653"/>
            <a:chOff x="-204" y="237"/>
            <a:chExt cx="5964" cy="3823"/>
          </a:xfrm>
        </p:grpSpPr>
        <p:sp>
          <p:nvSpPr>
            <p:cNvPr id="10" name="Text Box 9"/>
            <p:cNvSpPr txBox="1">
              <a:spLocks noChangeArrowheads="1"/>
            </p:cNvSpPr>
            <p:nvPr/>
          </p:nvSpPr>
          <p:spPr bwMode="auto">
            <a:xfrm>
              <a:off x="-204" y="3761"/>
              <a:ext cx="1411" cy="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42666" tIns="21333" rIns="42666" bIns="21333">
              <a:spAutoFit/>
            </a:bodyPr>
            <a:lstStyle>
              <a:lvl1pPr defTabSz="427355">
                <a:defRPr>
                  <a:solidFill>
                    <a:schemeClr val="tx1"/>
                  </a:solidFill>
                  <a:latin typeface="Arial" panose="020B0604020202020204" pitchFamily="34" charset="0"/>
                  <a:ea typeface="宋体" panose="02010600030101010101" pitchFamily="2" charset="-122"/>
                </a:defRPr>
              </a:lvl1pPr>
              <a:lvl2pPr marL="212725" defTabSz="427355">
                <a:defRPr>
                  <a:solidFill>
                    <a:schemeClr val="tx1"/>
                  </a:solidFill>
                  <a:latin typeface="Arial" panose="020B0604020202020204" pitchFamily="34" charset="0"/>
                  <a:ea typeface="宋体" panose="02010600030101010101" pitchFamily="2" charset="-122"/>
                </a:defRPr>
              </a:lvl2pPr>
              <a:lvl3pPr marL="427355" defTabSz="427355">
                <a:defRPr>
                  <a:solidFill>
                    <a:schemeClr val="tx1"/>
                  </a:solidFill>
                  <a:latin typeface="Arial" panose="020B0604020202020204" pitchFamily="34" charset="0"/>
                  <a:ea typeface="宋体" panose="02010600030101010101" pitchFamily="2" charset="-122"/>
                </a:defRPr>
              </a:lvl3pPr>
              <a:lvl4pPr marL="640080" defTabSz="427355">
                <a:defRPr>
                  <a:solidFill>
                    <a:schemeClr val="tx1"/>
                  </a:solidFill>
                  <a:latin typeface="Arial" panose="020B0604020202020204" pitchFamily="34" charset="0"/>
                  <a:ea typeface="宋体" panose="02010600030101010101" pitchFamily="2" charset="-122"/>
                </a:defRPr>
              </a:lvl4pPr>
              <a:lvl5pPr marL="854075" defTabSz="427355">
                <a:defRPr>
                  <a:solidFill>
                    <a:schemeClr val="tx1"/>
                  </a:solidFill>
                  <a:latin typeface="Arial" panose="020B0604020202020204" pitchFamily="34" charset="0"/>
                  <a:ea typeface="宋体" panose="02010600030101010101" pitchFamily="2" charset="-122"/>
                </a:defRPr>
              </a:lvl5pPr>
              <a:lvl6pPr marL="13112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17684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22256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26828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隶书" panose="02010509060101010101" pitchFamily="49" charset="-122"/>
                </a:rPr>
                <a:t>有丝分裂中期</a:t>
              </a:r>
            </a:p>
          </p:txBody>
        </p:sp>
        <p:sp>
          <p:nvSpPr>
            <p:cNvPr id="11" name="Text Box 10"/>
            <p:cNvSpPr txBox="1">
              <a:spLocks noChangeArrowheads="1"/>
            </p:cNvSpPr>
            <p:nvPr/>
          </p:nvSpPr>
          <p:spPr bwMode="auto">
            <a:xfrm>
              <a:off x="2492" y="3761"/>
              <a:ext cx="2241" cy="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42666" tIns="21333" rIns="42666" bIns="21333">
              <a:spAutoFit/>
            </a:bodyPr>
            <a:lstStyle>
              <a:lvl1pPr defTabSz="427355">
                <a:defRPr>
                  <a:solidFill>
                    <a:schemeClr val="tx1"/>
                  </a:solidFill>
                  <a:latin typeface="Arial" panose="020B0604020202020204" pitchFamily="34" charset="0"/>
                  <a:ea typeface="宋体" panose="02010600030101010101" pitchFamily="2" charset="-122"/>
                </a:defRPr>
              </a:lvl1pPr>
              <a:lvl2pPr marL="212725" defTabSz="427355">
                <a:defRPr>
                  <a:solidFill>
                    <a:schemeClr val="tx1"/>
                  </a:solidFill>
                  <a:latin typeface="Arial" panose="020B0604020202020204" pitchFamily="34" charset="0"/>
                  <a:ea typeface="宋体" panose="02010600030101010101" pitchFamily="2" charset="-122"/>
                </a:defRPr>
              </a:lvl2pPr>
              <a:lvl3pPr marL="427355" defTabSz="427355">
                <a:defRPr>
                  <a:solidFill>
                    <a:schemeClr val="tx1"/>
                  </a:solidFill>
                  <a:latin typeface="Arial" panose="020B0604020202020204" pitchFamily="34" charset="0"/>
                  <a:ea typeface="宋体" panose="02010600030101010101" pitchFamily="2" charset="-122"/>
                </a:defRPr>
              </a:lvl3pPr>
              <a:lvl4pPr marL="640080" defTabSz="427355">
                <a:defRPr>
                  <a:solidFill>
                    <a:schemeClr val="tx1"/>
                  </a:solidFill>
                  <a:latin typeface="Arial" panose="020B0604020202020204" pitchFamily="34" charset="0"/>
                  <a:ea typeface="宋体" panose="02010600030101010101" pitchFamily="2" charset="-122"/>
                </a:defRPr>
              </a:lvl4pPr>
              <a:lvl5pPr marL="854075" defTabSz="427355">
                <a:defRPr>
                  <a:solidFill>
                    <a:schemeClr val="tx1"/>
                  </a:solidFill>
                  <a:latin typeface="Arial" panose="020B0604020202020204" pitchFamily="34" charset="0"/>
                  <a:ea typeface="宋体" panose="02010600030101010101" pitchFamily="2" charset="-122"/>
                </a:defRPr>
              </a:lvl5pPr>
              <a:lvl6pPr marL="13112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17684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22256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2682875" defTabSz="42735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隶书" panose="02010509060101010101" pitchFamily="49" charset="-122"/>
                </a:rPr>
                <a:t>减数分裂中期</a:t>
              </a:r>
              <a:r>
                <a:rPr kumimoji="1" lang="en-US" altLang="zh-CN" sz="2800" dirty="0">
                  <a:latin typeface="Times New Roman" panose="02020603050405020304" pitchFamily="18" charset="0"/>
                  <a:ea typeface="隶书" panose="02010509060101010101" pitchFamily="49" charset="-122"/>
                </a:rPr>
                <a:t>I</a:t>
              </a:r>
              <a:r>
                <a:rPr kumimoji="1" lang="zh-CN" altLang="en-US" sz="2800" dirty="0">
                  <a:latin typeface="Times New Roman" panose="02020603050405020304" pitchFamily="18" charset="0"/>
                  <a:ea typeface="隶书" panose="02010509060101010101" pitchFamily="49" charset="-122"/>
                </a:rPr>
                <a:t>和后期</a:t>
              </a:r>
              <a:r>
                <a:rPr kumimoji="1" lang="en-US" altLang="zh-CN" sz="2800" dirty="0">
                  <a:latin typeface="Times New Roman" panose="02020603050405020304" pitchFamily="18" charset="0"/>
                  <a:ea typeface="隶书" panose="02010509060101010101" pitchFamily="49" charset="-122"/>
                </a:rPr>
                <a:t>I</a:t>
              </a:r>
            </a:p>
          </p:txBody>
        </p:sp>
        <p:grpSp>
          <p:nvGrpSpPr>
            <p:cNvPr id="12" name="Group 11"/>
            <p:cNvGrpSpPr/>
            <p:nvPr/>
          </p:nvGrpSpPr>
          <p:grpSpPr bwMode="auto">
            <a:xfrm>
              <a:off x="78" y="237"/>
              <a:ext cx="5682" cy="3413"/>
              <a:chOff x="78" y="237"/>
              <a:chExt cx="5682" cy="3413"/>
            </a:xfrm>
          </p:grpSpPr>
          <p:pic>
            <p:nvPicPr>
              <p:cNvPr id="13" name="Picture 12" descr="P55-1染色体与MT连结"/>
              <p:cNvPicPr>
                <a:picLocks noChangeAspect="1" noChangeArrowheads="1"/>
              </p:cNvPicPr>
              <p:nvPr/>
            </p:nvPicPr>
            <p:blipFill>
              <a:blip r:embed="rId5">
                <a:lum bright="-12000" contrast="36000"/>
                <a:extLst>
                  <a:ext uri="{28A0092B-C50C-407E-A947-70E740481C1C}">
                    <a14:useLocalDpi xmlns:a14="http://schemas.microsoft.com/office/drawing/2010/main" val="0"/>
                  </a:ext>
                </a:extLst>
              </a:blip>
              <a:srcRect/>
              <a:stretch>
                <a:fillRect/>
              </a:stretch>
            </p:blipFill>
            <p:spPr bwMode="auto">
              <a:xfrm>
                <a:off x="78" y="432"/>
                <a:ext cx="2258" cy="32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减数分裂的中期I和后期I"/>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6" y="583"/>
                <a:ext cx="3364" cy="2592"/>
              </a:xfrm>
              <a:prstGeom prst="rect">
                <a:avLst/>
              </a:prstGeom>
              <a:noFill/>
              <a:extLst>
                <a:ext uri="{909E8E84-426E-40DD-AFC4-6F175D3DCCD1}">
                  <a14:hiddenFill xmlns:a14="http://schemas.microsoft.com/office/drawing/2010/main">
                    <a:solidFill>
                      <a:srgbClr val="FFFFFF"/>
                    </a:solidFill>
                  </a14:hiddenFill>
                </a:ext>
              </a:extLst>
            </p:spPr>
          </p:pic>
          <p:sp>
            <p:nvSpPr>
              <p:cNvPr id="15" name="Line 14"/>
              <p:cNvSpPr>
                <a:spLocks noChangeShapeType="1"/>
              </p:cNvSpPr>
              <p:nvPr/>
            </p:nvSpPr>
            <p:spPr bwMode="auto">
              <a:xfrm>
                <a:off x="981" y="237"/>
                <a:ext cx="23" cy="3283"/>
              </a:xfrm>
              <a:prstGeom prst="line">
                <a:avLst/>
              </a:prstGeom>
              <a:noFill/>
              <a:ln w="34925">
                <a:solidFill>
                  <a:srgbClr val="FF0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5"/>
              <p:cNvSpPr>
                <a:spLocks noChangeShapeType="1"/>
              </p:cNvSpPr>
              <p:nvPr/>
            </p:nvSpPr>
            <p:spPr bwMode="auto">
              <a:xfrm>
                <a:off x="2350" y="1879"/>
                <a:ext cx="1820" cy="0"/>
              </a:xfrm>
              <a:prstGeom prst="line">
                <a:avLst/>
              </a:prstGeom>
              <a:noFill/>
              <a:ln w="28575">
                <a:solidFill>
                  <a:srgbClr val="FF0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a:xfrm>
            <a:off x="343128" y="264628"/>
            <a:ext cx="10515600" cy="726828"/>
          </a:xfrm>
        </p:spPr>
        <p:txBody>
          <a:bodyPr>
            <a:normAutofit/>
          </a:bodyPr>
          <a:lstStyle/>
          <a:p>
            <a:r>
              <a:rPr lang="en-US" altLang="zh-CN" sz="3200" b="1" dirty="0">
                <a:solidFill>
                  <a:srgbClr val="0000FF"/>
                </a:solidFill>
                <a:latin typeface="黑体" panose="02010609060101010101" pitchFamily="49" charset="-122"/>
                <a:ea typeface="黑体" panose="02010609060101010101" pitchFamily="49" charset="-122"/>
              </a:rPr>
              <a:t> </a:t>
            </a:r>
            <a:r>
              <a:rPr lang="zh-CN" altLang="en-US" sz="3200" b="1" dirty="0">
                <a:solidFill>
                  <a:srgbClr val="0000FF"/>
                </a:solidFill>
                <a:latin typeface="黑体" panose="02010609060101010101" pitchFamily="49" charset="-122"/>
                <a:ea typeface="黑体" panose="02010609060101010101" pitchFamily="49" charset="-122"/>
              </a:rPr>
              <a:t>后期</a:t>
            </a:r>
            <a:r>
              <a:rPr lang="en-US" altLang="zh-CN" sz="3200" b="1" dirty="0">
                <a:solidFill>
                  <a:srgbClr val="0000FF"/>
                </a:solidFill>
                <a:latin typeface="黑体" panose="02010609060101010101" pitchFamily="49" charset="-122"/>
                <a:ea typeface="黑体" panose="02010609060101010101" pitchFamily="49" charset="-122"/>
              </a:rPr>
              <a:t>I</a:t>
            </a:r>
            <a:r>
              <a:rPr lang="zh-CN" altLang="en-US" sz="3200" b="1" dirty="0">
                <a:solidFill>
                  <a:srgbClr val="0000FF"/>
                </a:solidFill>
                <a:latin typeface="黑体" panose="02010609060101010101" pitchFamily="49" charset="-122"/>
                <a:ea typeface="黑体" panose="02010609060101010101" pitchFamily="49" charset="-122"/>
              </a:rPr>
              <a:t>： </a:t>
            </a:r>
          </a:p>
        </p:txBody>
      </p:sp>
      <p:sp>
        <p:nvSpPr>
          <p:cNvPr id="52227" name="Rectangle 3"/>
          <p:cNvSpPr>
            <a:spLocks noGrp="1" noRot="1" noChangeArrowheads="1"/>
          </p:cNvSpPr>
          <p:nvPr>
            <p:ph type="body" idx="1"/>
          </p:nvPr>
        </p:nvSpPr>
        <p:spPr>
          <a:xfrm>
            <a:off x="527482" y="1210138"/>
            <a:ext cx="8256020" cy="3819061"/>
          </a:xfrm>
        </p:spPr>
        <p:txBody>
          <a:bodyPr>
            <a:normAutofit/>
          </a:bodyPr>
          <a:lstStyle/>
          <a:p>
            <a:pPr marL="0" indent="0">
              <a:lnSpc>
                <a:spcPct val="120000"/>
              </a:lnSpc>
              <a:buNone/>
            </a:pPr>
            <a:r>
              <a:rPr lang="zh-CN" altLang="en-US" b="1" dirty="0">
                <a:latin typeface="黑体" panose="02010609060101010101" pitchFamily="49" charset="-122"/>
                <a:ea typeface="黑体" panose="02010609060101010101" pitchFamily="49" charset="-122"/>
              </a:rPr>
              <a:t>双价体中的两条同源染色体分开，分别向两极移动，每一染色体有两个染色单体，在着丝粒区相连</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相当于有丝分裂前期的一条染色体</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。这样，每一极得到</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条染色体，即在后期</a:t>
            </a:r>
            <a:r>
              <a:rPr lang="en-US" altLang="zh-CN" b="1" dirty="0">
                <a:latin typeface="黑体" panose="02010609060101010101" pitchFamily="49" charset="-122"/>
                <a:ea typeface="黑体" panose="02010609060101010101" pitchFamily="49" charset="-122"/>
              </a:rPr>
              <a:t>I</a:t>
            </a:r>
            <a:r>
              <a:rPr lang="zh-CN" altLang="en-US" b="1" dirty="0">
                <a:latin typeface="黑体" panose="02010609060101010101" pitchFamily="49" charset="-122"/>
                <a:ea typeface="黑体" panose="02010609060101010101" pitchFamily="49" charset="-122"/>
              </a:rPr>
              <a:t>时染色体数目减半。</a:t>
            </a:r>
            <a:r>
              <a:rPr lang="zh-CN" altLang="en-US" b="1" dirty="0">
                <a:solidFill>
                  <a:srgbClr val="0000FF"/>
                </a:solidFill>
                <a:latin typeface="黑体" panose="02010609060101010101" pitchFamily="49" charset="-122"/>
                <a:ea typeface="黑体" panose="02010609060101010101" pitchFamily="49" charset="-122"/>
              </a:rPr>
              <a:t>双价体中哪一条染色体移向哪一极是完全随机的</a:t>
            </a:r>
            <a:r>
              <a:rPr lang="zh-CN" altLang="en-US" b="1" dirty="0">
                <a:latin typeface="黑体" panose="02010609060101010101" pitchFamily="49" charset="-122"/>
                <a:ea typeface="黑体" panose="02010609060101010101" pitchFamily="49" charset="-122"/>
              </a:rPr>
              <a:t>。 </a:t>
            </a:r>
          </a:p>
        </p:txBody>
      </p:sp>
      <p:pic>
        <p:nvPicPr>
          <p:cNvPr id="4" name="Picture 5" descr="4-1-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783502" y="704681"/>
            <a:ext cx="3062287" cy="43926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a:xfrm>
            <a:off x="589625" y="223082"/>
            <a:ext cx="10515600" cy="575908"/>
          </a:xfrm>
        </p:spPr>
        <p:txBody>
          <a:bodyPr>
            <a:normAutofit/>
          </a:bodyPr>
          <a:lstStyle/>
          <a:p>
            <a:r>
              <a:rPr lang="zh-CN" altLang="en-US" sz="3200" b="1" dirty="0">
                <a:solidFill>
                  <a:srgbClr val="0000FF"/>
                </a:solidFill>
                <a:latin typeface="黑体" panose="02010609060101010101" pitchFamily="49" charset="-122"/>
                <a:ea typeface="黑体" panose="02010609060101010101" pitchFamily="49" charset="-122"/>
              </a:rPr>
              <a:t>末期</a:t>
            </a:r>
            <a:r>
              <a:rPr lang="en-US" altLang="zh-CN" sz="3200" b="1" dirty="0">
                <a:solidFill>
                  <a:srgbClr val="0000FF"/>
                </a:solidFill>
                <a:latin typeface="黑体" panose="02010609060101010101" pitchFamily="49" charset="-122"/>
                <a:ea typeface="黑体" panose="02010609060101010101" pitchFamily="49" charset="-122"/>
              </a:rPr>
              <a:t>I</a:t>
            </a:r>
            <a:r>
              <a:rPr lang="zh-CN" altLang="en-US" sz="3200" b="1" dirty="0">
                <a:solidFill>
                  <a:srgbClr val="0000FF"/>
                </a:solidFill>
                <a:latin typeface="黑体" panose="02010609060101010101" pitchFamily="49" charset="-122"/>
                <a:ea typeface="黑体" panose="02010609060101010101" pitchFamily="49" charset="-122"/>
              </a:rPr>
              <a:t>： </a:t>
            </a:r>
          </a:p>
        </p:txBody>
      </p:sp>
      <p:sp>
        <p:nvSpPr>
          <p:cNvPr id="53251" name="Rectangle 3"/>
          <p:cNvSpPr>
            <a:spLocks noGrp="1" noRot="1" noChangeArrowheads="1"/>
          </p:cNvSpPr>
          <p:nvPr>
            <p:ph type="body" idx="1"/>
          </p:nvPr>
        </p:nvSpPr>
        <p:spPr>
          <a:xfrm>
            <a:off x="589625" y="798990"/>
            <a:ext cx="11394852" cy="776891"/>
          </a:xfrm>
        </p:spPr>
        <p:txBody>
          <a:bodyPr>
            <a:normAutofit/>
          </a:bodyPr>
          <a:lstStyle/>
          <a:p>
            <a:pPr marL="0" indent="0">
              <a:lnSpc>
                <a:spcPct val="120000"/>
              </a:lnSpc>
              <a:buNone/>
            </a:pPr>
            <a:r>
              <a:rPr lang="zh-CN" altLang="en-US" b="1" dirty="0">
                <a:latin typeface="黑体" panose="02010609060101010101" pitchFamily="49" charset="-122"/>
                <a:ea typeface="黑体" panose="02010609060101010101" pitchFamily="49" charset="-122"/>
              </a:rPr>
              <a:t>核膜重建，核仁重新形成，接着进行胞质分裂，成为两个子细胞。</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114" y="1374898"/>
            <a:ext cx="5375410" cy="4703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a:xfrm>
            <a:off x="318117" y="0"/>
            <a:ext cx="10515600" cy="1325563"/>
          </a:xfrm>
        </p:spPr>
        <p:txBody>
          <a:bodyPr>
            <a:normAutofit/>
          </a:bodyPr>
          <a:lstStyle/>
          <a:p>
            <a:r>
              <a:rPr lang="zh-CN" altLang="en-US" sz="3200" b="1" dirty="0">
                <a:solidFill>
                  <a:srgbClr val="0000FF"/>
                </a:solidFill>
                <a:latin typeface="黑体" panose="02010609060101010101" pitchFamily="49" charset="-122"/>
                <a:ea typeface="黑体" panose="02010609060101010101" pitchFamily="49" charset="-122"/>
              </a:rPr>
              <a:t>减数间期：（</a:t>
            </a:r>
            <a:r>
              <a:rPr lang="zh-CN" altLang="en-US" sz="3200" b="1" dirty="0">
                <a:solidFill>
                  <a:srgbClr val="FF0000"/>
                </a:solidFill>
                <a:latin typeface="黑体" panose="02010609060101010101" pitchFamily="49" charset="-122"/>
                <a:ea typeface="黑体" panose="02010609060101010101" pitchFamily="49" charset="-122"/>
              </a:rPr>
              <a:t>减数第一次分裂后的间期</a:t>
            </a:r>
            <a:r>
              <a:rPr lang="zh-CN" altLang="en-US" sz="3200" b="1" dirty="0">
                <a:solidFill>
                  <a:srgbClr val="0000FF"/>
                </a:solidFill>
                <a:latin typeface="黑体" panose="02010609060101010101" pitchFamily="49" charset="-122"/>
                <a:ea typeface="黑体" panose="02010609060101010101" pitchFamily="49" charset="-122"/>
              </a:rPr>
              <a:t>） </a:t>
            </a:r>
          </a:p>
        </p:txBody>
      </p:sp>
      <p:sp>
        <p:nvSpPr>
          <p:cNvPr id="54275" name="Rectangle 3"/>
          <p:cNvSpPr>
            <a:spLocks noGrp="1" noRot="1" noChangeArrowheads="1"/>
          </p:cNvSpPr>
          <p:nvPr>
            <p:ph type="body" idx="1"/>
          </p:nvPr>
        </p:nvSpPr>
        <p:spPr>
          <a:xfrm>
            <a:off x="229340" y="977137"/>
            <a:ext cx="11788805" cy="2755252"/>
          </a:xfrm>
        </p:spPr>
        <p:txBody>
          <a:bodyPr/>
          <a:lstStyle/>
          <a:p>
            <a:pPr marL="0" indent="0">
              <a:lnSpc>
                <a:spcPct val="120000"/>
              </a:lnSpc>
              <a:buNone/>
            </a:pPr>
            <a:r>
              <a:rPr lang="zh-CN" altLang="en-US" b="1" dirty="0">
                <a:latin typeface="黑体" panose="02010609060101010101" pitchFamily="49" charset="-122"/>
                <a:ea typeface="黑体" panose="02010609060101010101" pitchFamily="49" charset="-122"/>
              </a:rPr>
              <a:t>    在第一次分裂之末，两个子细胞进入间期，这时细胞核的形态与有丝分裂间期相似，但</a:t>
            </a:r>
            <a:r>
              <a:rPr lang="zh-CN" altLang="en-US" b="1" dirty="0">
                <a:solidFill>
                  <a:srgbClr val="FF0000"/>
                </a:solidFill>
                <a:latin typeface="黑体" panose="02010609060101010101" pitchFamily="49" charset="-122"/>
                <a:ea typeface="黑体" panose="02010609060101010101" pitchFamily="49" charset="-122"/>
              </a:rPr>
              <a:t>有许多生物没有间期，后期染色体直接进入第二次减数分裂的晚前期</a:t>
            </a:r>
            <a:r>
              <a:rPr lang="zh-CN" altLang="en-US" b="1" dirty="0">
                <a:latin typeface="黑体" panose="02010609060101010101" pitchFamily="49" charset="-122"/>
                <a:ea typeface="黑体" panose="02010609060101010101" pitchFamily="49" charset="-122"/>
              </a:rPr>
              <a:t>，染色体仍旧保持原来的浓缩状态。不过不论有没有间期，在</a:t>
            </a:r>
            <a:r>
              <a:rPr lang="zh-CN" altLang="en-US" b="1" dirty="0">
                <a:solidFill>
                  <a:srgbClr val="FF0000"/>
                </a:solidFill>
                <a:latin typeface="黑体" panose="02010609060101010101" pitchFamily="49" charset="-122"/>
                <a:ea typeface="黑体" panose="02010609060101010101" pitchFamily="49" charset="-122"/>
              </a:rPr>
              <a:t>两次减数分裂之间都没有</a:t>
            </a:r>
            <a:r>
              <a:rPr lang="en-US" altLang="zh-CN" b="1" dirty="0">
                <a:solidFill>
                  <a:srgbClr val="FF0000"/>
                </a:solidFill>
                <a:latin typeface="黑体" panose="02010609060101010101" pitchFamily="49" charset="-122"/>
                <a:ea typeface="黑体" panose="02010609060101010101" pitchFamily="49" charset="-122"/>
              </a:rPr>
              <a:t>DNA</a:t>
            </a:r>
            <a:r>
              <a:rPr lang="zh-CN" altLang="en-US" b="1" dirty="0">
                <a:solidFill>
                  <a:srgbClr val="FF0000"/>
                </a:solidFill>
                <a:latin typeface="黑体" panose="02010609060101010101" pitchFamily="49" charset="-122"/>
                <a:ea typeface="黑体" panose="02010609060101010101" pitchFamily="49" charset="-122"/>
              </a:rPr>
              <a:t>的合成及染色体的复制</a:t>
            </a:r>
            <a:r>
              <a:rPr lang="zh-CN" altLang="en-US" b="1" dirty="0">
                <a:latin typeface="黑体" panose="02010609060101010101" pitchFamily="49" charset="-122"/>
                <a:ea typeface="黑体" panose="02010609060101010101" pitchFamily="49" charset="-122"/>
              </a:rPr>
              <a:t>。 </a:t>
            </a:r>
          </a:p>
        </p:txBody>
      </p:sp>
      <p:sp>
        <p:nvSpPr>
          <p:cNvPr id="4" name="Rectangle 2"/>
          <p:cNvSpPr txBox="1">
            <a:spLocks noRot="1" noChangeArrowheads="1"/>
          </p:cNvSpPr>
          <p:nvPr/>
        </p:nvSpPr>
        <p:spPr>
          <a:xfrm>
            <a:off x="229340" y="309618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 </a:t>
            </a:r>
            <a:r>
              <a:rPr lang="zh-CN" altLang="en-US" sz="3200" b="1" dirty="0">
                <a:solidFill>
                  <a:srgbClr val="0000FF"/>
                </a:solidFill>
                <a:latin typeface="黑体" panose="02010609060101010101" pitchFamily="49" charset="-122"/>
                <a:ea typeface="黑体" panose="02010609060101010101" pitchFamily="49" charset="-122"/>
              </a:rPr>
              <a:t>前期</a:t>
            </a:r>
            <a:r>
              <a:rPr lang="en-US" altLang="zh-CN" sz="3200" b="1" dirty="0">
                <a:solidFill>
                  <a:srgbClr val="0000FF"/>
                </a:solidFill>
                <a:latin typeface="黑体" panose="02010609060101010101" pitchFamily="49" charset="-122"/>
                <a:ea typeface="黑体" panose="02010609060101010101" pitchFamily="49" charset="-122"/>
              </a:rPr>
              <a:t>II</a:t>
            </a:r>
            <a:r>
              <a:rPr lang="zh-CN" altLang="en-US" sz="3200" b="1" dirty="0">
                <a:solidFill>
                  <a:srgbClr val="0000FF"/>
                </a:solidFill>
                <a:latin typeface="黑体" panose="02010609060101010101" pitchFamily="49" charset="-122"/>
                <a:ea typeface="黑体" panose="02010609060101010101" pitchFamily="49" charset="-122"/>
              </a:rPr>
              <a:t>、中期</a:t>
            </a:r>
            <a:r>
              <a:rPr lang="en-US" altLang="zh-CN" sz="3200" b="1" dirty="0">
                <a:solidFill>
                  <a:srgbClr val="0000FF"/>
                </a:solidFill>
                <a:latin typeface="黑体" panose="02010609060101010101" pitchFamily="49" charset="-122"/>
                <a:ea typeface="黑体" panose="02010609060101010101" pitchFamily="49" charset="-122"/>
              </a:rPr>
              <a:t>II</a:t>
            </a:r>
            <a:r>
              <a:rPr lang="zh-CN" altLang="en-US" sz="3200" b="1" dirty="0">
                <a:solidFill>
                  <a:srgbClr val="0000FF"/>
                </a:solidFill>
                <a:latin typeface="黑体" panose="02010609060101010101" pitchFamily="49" charset="-122"/>
                <a:ea typeface="黑体" panose="02010609060101010101" pitchFamily="49" charset="-122"/>
              </a:rPr>
              <a:t>、后期</a:t>
            </a:r>
            <a:r>
              <a:rPr lang="en-US" altLang="zh-CN" sz="3200" b="1" dirty="0">
                <a:solidFill>
                  <a:srgbClr val="0000FF"/>
                </a:solidFill>
                <a:latin typeface="黑体" panose="02010609060101010101" pitchFamily="49" charset="-122"/>
                <a:ea typeface="黑体" panose="02010609060101010101" pitchFamily="49" charset="-122"/>
              </a:rPr>
              <a:t>II</a:t>
            </a:r>
            <a:r>
              <a:rPr lang="zh-CN" altLang="en-US" sz="3200" b="1" dirty="0">
                <a:solidFill>
                  <a:srgbClr val="0000FF"/>
                </a:solidFill>
                <a:latin typeface="黑体" panose="02010609060101010101" pitchFamily="49" charset="-122"/>
                <a:ea typeface="黑体" panose="02010609060101010101" pitchFamily="49" charset="-122"/>
              </a:rPr>
              <a:t>和末期</a:t>
            </a:r>
            <a:r>
              <a:rPr lang="en-US" altLang="zh-CN" sz="3200" b="1" dirty="0">
                <a:solidFill>
                  <a:srgbClr val="0000FF"/>
                </a:solidFill>
                <a:latin typeface="黑体" panose="02010609060101010101" pitchFamily="49" charset="-122"/>
                <a:ea typeface="黑体" panose="02010609060101010101" pitchFamily="49" charset="-122"/>
              </a:rPr>
              <a:t>II </a:t>
            </a:r>
            <a:endParaRPr lang="en-US" altLang="zh-CN" b="1" dirty="0">
              <a:solidFill>
                <a:srgbClr val="0000FF"/>
              </a:solidFill>
              <a:latin typeface="黑体" panose="02010609060101010101" pitchFamily="49" charset="-122"/>
              <a:ea typeface="黑体" panose="02010609060101010101" pitchFamily="49" charset="-122"/>
            </a:endParaRPr>
          </a:p>
        </p:txBody>
      </p:sp>
      <p:sp>
        <p:nvSpPr>
          <p:cNvPr id="5" name="Rectangle 3"/>
          <p:cNvSpPr txBox="1">
            <a:spLocks noRot="1" noChangeArrowheads="1"/>
          </p:cNvSpPr>
          <p:nvPr/>
        </p:nvSpPr>
        <p:spPr>
          <a:xfrm>
            <a:off x="403195" y="4021174"/>
            <a:ext cx="10515600" cy="18596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b="1" dirty="0">
                <a:latin typeface="黑体" panose="02010609060101010101" pitchFamily="49" charset="-122"/>
                <a:ea typeface="黑体" panose="02010609060101010101" pitchFamily="49" charset="-122"/>
              </a:rPr>
              <a:t>前期</a:t>
            </a:r>
            <a:r>
              <a:rPr lang="en-US" altLang="zh-CN" b="1" dirty="0">
                <a:latin typeface="黑体" panose="02010609060101010101" pitchFamily="49" charset="-122"/>
                <a:ea typeface="黑体" panose="02010609060101010101" pitchFamily="49" charset="-122"/>
              </a:rPr>
              <a:t>II</a:t>
            </a:r>
            <a:r>
              <a:rPr lang="zh-CN" altLang="en-US" b="1" dirty="0">
                <a:latin typeface="黑体" panose="02010609060101010101" pitchFamily="49" charset="-122"/>
                <a:ea typeface="黑体" panose="02010609060101010101" pitchFamily="49" charset="-122"/>
              </a:rPr>
              <a:t>、中期</a:t>
            </a:r>
            <a:r>
              <a:rPr lang="en-US" altLang="zh-CN" b="1" dirty="0">
                <a:latin typeface="黑体" panose="02010609060101010101" pitchFamily="49" charset="-122"/>
                <a:ea typeface="黑体" panose="02010609060101010101" pitchFamily="49" charset="-122"/>
              </a:rPr>
              <a:t>II</a:t>
            </a:r>
            <a:r>
              <a:rPr lang="zh-CN" altLang="en-US" b="1" dirty="0">
                <a:latin typeface="黑体" panose="02010609060101010101" pitchFamily="49" charset="-122"/>
                <a:ea typeface="黑体" panose="02010609060101010101" pitchFamily="49" charset="-122"/>
              </a:rPr>
              <a:t>、后期</a:t>
            </a:r>
            <a:r>
              <a:rPr lang="en-US" altLang="zh-CN" b="1" dirty="0">
                <a:latin typeface="黑体" panose="02010609060101010101" pitchFamily="49" charset="-122"/>
                <a:ea typeface="黑体" panose="02010609060101010101" pitchFamily="49" charset="-122"/>
              </a:rPr>
              <a:t>II</a:t>
            </a:r>
            <a:r>
              <a:rPr lang="zh-CN" altLang="en-US" b="1" dirty="0">
                <a:latin typeface="黑体" panose="02010609060101010101" pitchFamily="49" charset="-122"/>
                <a:ea typeface="黑体" panose="02010609060101010101" pitchFamily="49" charset="-122"/>
              </a:rPr>
              <a:t>和末期</a:t>
            </a:r>
            <a:r>
              <a:rPr lang="en-US" altLang="zh-CN" b="1" dirty="0">
                <a:latin typeface="黑体" panose="02010609060101010101" pitchFamily="49" charset="-122"/>
                <a:ea typeface="黑体" panose="02010609060101010101" pitchFamily="49" charset="-122"/>
              </a:rPr>
              <a:t>II</a:t>
            </a:r>
            <a:r>
              <a:rPr lang="zh-CN" altLang="en-US" b="1" dirty="0">
                <a:latin typeface="黑体" panose="02010609060101010101" pitchFamily="49" charset="-122"/>
                <a:ea typeface="黑体" panose="02010609060101010101" pitchFamily="49" charset="-122"/>
              </a:rPr>
              <a:t>的情况和有丝分裂过程完全一样，也是每一染色体具有两条染色单体，所不同的是染色体在第一次分裂过程中已经减数，只有</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个染色体了。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20" name="Picture 4" descr="2-1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16184" y="550414"/>
            <a:ext cx="4312259" cy="50223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5" descr="水稻减数分裂"/>
          <p:cNvPicPr>
            <a:picLocks noChangeAspect="1" noChangeArrowheads="1"/>
          </p:cNvPicPr>
          <p:nvPr/>
        </p:nvPicPr>
        <p:blipFill>
          <a:blip r:embed="rId4" cstate="print">
            <a:lum bright="-18000" contrast="42000"/>
            <a:extLst>
              <a:ext uri="{28A0092B-C50C-407E-A947-70E740481C1C}">
                <a14:useLocalDpi xmlns:a14="http://schemas.microsoft.com/office/drawing/2010/main" val="0"/>
              </a:ext>
            </a:extLst>
          </a:blip>
          <a:srcRect/>
          <a:stretch>
            <a:fillRect/>
          </a:stretch>
        </p:blipFill>
        <p:spPr>
          <a:xfrm>
            <a:off x="5881407" y="0"/>
            <a:ext cx="5095566" cy="68623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文本框 1"/>
          <p:cNvSpPr txBox="1"/>
          <p:nvPr/>
        </p:nvSpPr>
        <p:spPr>
          <a:xfrm>
            <a:off x="1420427" y="5938253"/>
            <a:ext cx="3737499" cy="400110"/>
          </a:xfrm>
          <a:prstGeom prst="rect">
            <a:avLst/>
          </a:prstGeom>
          <a:noFill/>
        </p:spPr>
        <p:txBody>
          <a:bodyPr wrap="square" rtlCol="0">
            <a:spAutoFit/>
          </a:bodyPr>
          <a:lstStyle/>
          <a:p>
            <a:r>
              <a:rPr lang="zh-CN" altLang="en-US" sz="2000" b="1" dirty="0">
                <a:solidFill>
                  <a:srgbClr val="0000FF"/>
                </a:solidFill>
                <a:latin typeface="黑体" panose="02010609060101010101" pitchFamily="49" charset="-122"/>
                <a:ea typeface="黑体" panose="02010609060101010101" pitchFamily="49" charset="-122"/>
              </a:rPr>
              <a:t>动物细胞减数分裂过程模式图</a:t>
            </a:r>
          </a:p>
        </p:txBody>
      </p:sp>
      <p:sp>
        <p:nvSpPr>
          <p:cNvPr id="5" name="文本框 4"/>
          <p:cNvSpPr txBox="1"/>
          <p:nvPr/>
        </p:nvSpPr>
        <p:spPr>
          <a:xfrm>
            <a:off x="11229938" y="1014872"/>
            <a:ext cx="352210" cy="4093428"/>
          </a:xfrm>
          <a:prstGeom prst="rect">
            <a:avLst/>
          </a:prstGeom>
          <a:noFill/>
        </p:spPr>
        <p:txBody>
          <a:bodyPr wrap="square" rtlCol="0">
            <a:spAutoFit/>
          </a:bodyPr>
          <a:lstStyle/>
          <a:p>
            <a:r>
              <a:rPr lang="zh-CN" altLang="en-US" sz="2000" b="1" dirty="0">
                <a:solidFill>
                  <a:srgbClr val="0000FF"/>
                </a:solidFill>
                <a:latin typeface="黑体" panose="02010609060101010101" pitchFamily="49" charset="-122"/>
                <a:ea typeface="黑体" panose="02010609060101010101" pitchFamily="49" charset="-122"/>
              </a:rPr>
              <a:t>水稻花粉母细胞减数分裂过程</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Rot="1" noChangeArrowheads="1"/>
          </p:cNvSpPr>
          <p:nvPr>
            <p:ph type="title"/>
          </p:nvPr>
        </p:nvSpPr>
        <p:spPr>
          <a:xfrm>
            <a:off x="154619" y="0"/>
            <a:ext cx="10515600" cy="833360"/>
          </a:xfrm>
        </p:spPr>
        <p:txBody>
          <a:bodyPr>
            <a:normAutofit/>
          </a:bodyPr>
          <a:lstStyle/>
          <a:p>
            <a:r>
              <a:rPr lang="en-US" altLang="zh-CN" sz="3200" b="1" noProof="1">
                <a:latin typeface="黑体" panose="02010609060101010101" pitchFamily="49" charset="-122"/>
                <a:ea typeface="黑体" panose="02010609060101010101" pitchFamily="49" charset="-122"/>
              </a:rPr>
              <a:t>4.</a:t>
            </a:r>
            <a:r>
              <a:rPr lang="zh-CN" altLang="en-US" sz="3200" b="1" noProof="1">
                <a:latin typeface="黑体" panose="02010609060101010101" pitchFamily="49" charset="-122"/>
                <a:ea typeface="黑体" panose="02010609060101010101" pitchFamily="49" charset="-122"/>
              </a:rPr>
              <a:t>减数分裂的遗传学意义</a:t>
            </a:r>
          </a:p>
        </p:txBody>
      </p:sp>
      <p:sp>
        <p:nvSpPr>
          <p:cNvPr id="4" name="Rectangle 4"/>
          <p:cNvSpPr txBox="1">
            <a:spLocks noRot="1" noChangeArrowheads="1"/>
          </p:cNvSpPr>
          <p:nvPr/>
        </p:nvSpPr>
        <p:spPr>
          <a:xfrm>
            <a:off x="344828" y="1269290"/>
            <a:ext cx="11674829" cy="562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dirty="0">
                <a:latin typeface="等线" panose="02010600030101010101" charset="-122"/>
                <a:ea typeface="等线" panose="02010600030101010101" charset="-122"/>
              </a:rPr>
              <a:t>①</a:t>
            </a:r>
            <a:r>
              <a:rPr lang="zh-CN" altLang="en-US" b="1" dirty="0">
                <a:solidFill>
                  <a:srgbClr val="0000FF"/>
                </a:solidFill>
                <a:latin typeface="黑体" panose="02010609060101010101" pitchFamily="49" charset="-122"/>
                <a:ea typeface="黑体" panose="02010609060101010101" pitchFamily="49" charset="-122"/>
              </a:rPr>
              <a:t>保证了亲代与子代之间染色体数目的恒定性</a:t>
            </a:r>
            <a:r>
              <a:rPr lang="zh-CN" altLang="en-US" b="1" dirty="0">
                <a:latin typeface="黑体" panose="02010609060101010101" pitchFamily="49" charset="-122"/>
                <a:ea typeface="黑体" panose="02010609060101010101" pitchFamily="49" charset="-122"/>
              </a:rPr>
              <a:t>。</a:t>
            </a:r>
          </a:p>
        </p:txBody>
      </p:sp>
      <p:pic>
        <p:nvPicPr>
          <p:cNvPr id="5" name="Picture 3" descr="z1-1-3">
            <a:extLst>
              <a:ext uri="{FF2B5EF4-FFF2-40B4-BE49-F238E27FC236}">
                <a16:creationId xmlns:a16="http://schemas.microsoft.com/office/drawing/2014/main" id="{712076A4-CE9E-230C-4A7C-19A1558052F6}"/>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3245" b="16875"/>
          <a:stretch/>
        </p:blipFill>
        <p:spPr>
          <a:xfrm>
            <a:off x="638320" y="2267523"/>
            <a:ext cx="10246630" cy="17902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sndAc>
      <p:stSnd>
        <p:snd r:embed="rId2" name="type.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slide(fromLeft)">
                                      <p:cBhvr>
                                        <p:cTn id="7" dur="500"/>
                                        <p:tgtEl>
                                          <p:spTgt spid="1146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dissolve">
                                      <p:cBhvr>
                                        <p:cTn id="11" dur="500"/>
                                        <p:tgtEl>
                                          <p:spTgt spid="4">
                                            <p:txEl>
                                              <p:pRg st="0" end="0"/>
                                            </p:txEl>
                                          </p:spTgt>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4" grpId="0" build="p" autoUpdateAnimBg="0" advAuto="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17766" name="Picture 6" descr="0-1-9"/>
          <p:cNvPicPr>
            <a:picLocks noChangeAspect="1" noChangeArrowheads="1"/>
          </p:cNvPicPr>
          <p:nvPr/>
        </p:nvPicPr>
        <p:blipFill>
          <a:blip r:embed="rId3">
            <a:lum bright="-18000" contrast="48000"/>
            <a:extLst>
              <a:ext uri="{28A0092B-C50C-407E-A947-70E740481C1C}">
                <a14:useLocalDpi xmlns:a14="http://schemas.microsoft.com/office/drawing/2010/main" val="0"/>
              </a:ext>
            </a:extLst>
          </a:blip>
          <a:srcRect/>
          <a:stretch>
            <a:fillRect/>
          </a:stretch>
        </p:blipFill>
        <p:spPr bwMode="auto">
          <a:xfrm>
            <a:off x="1835852" y="4003583"/>
            <a:ext cx="8778875" cy="22288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6AF5EC0F-892E-9684-5DCF-EA97E993F97C}"/>
              </a:ext>
            </a:extLst>
          </p:cNvPr>
          <p:cNvSpPr txBox="1">
            <a:spLocks noRot="1" noChangeArrowheads="1"/>
          </p:cNvSpPr>
          <p:nvPr/>
        </p:nvSpPr>
        <p:spPr>
          <a:xfrm>
            <a:off x="0" y="161328"/>
            <a:ext cx="12192000" cy="5426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b="1" dirty="0">
                <a:latin typeface="等线" panose="02010600030101010101" charset="-122"/>
                <a:ea typeface="等线" panose="02010600030101010101" charset="-122"/>
              </a:rPr>
              <a:t>②</a:t>
            </a:r>
            <a:r>
              <a:rPr lang="zh-CN" altLang="en-US" b="1" dirty="0">
                <a:solidFill>
                  <a:srgbClr val="0000FF"/>
                </a:solidFill>
                <a:latin typeface="黑体" panose="02010609060101010101" pitchFamily="49" charset="-122"/>
                <a:ea typeface="黑体" panose="02010609060101010101" pitchFamily="49" charset="-122"/>
              </a:rPr>
              <a:t>为生物的变异提供了重要的物质基础</a:t>
            </a:r>
            <a:r>
              <a:rPr lang="zh-CN" altLang="en-US" b="1" dirty="0">
                <a:latin typeface="黑体" panose="02010609060101010101" pitchFamily="49" charset="-122"/>
                <a:ea typeface="黑体" panose="02010609060101010101" pitchFamily="49" charset="-122"/>
              </a:rPr>
              <a:t>。</a:t>
            </a:r>
          </a:p>
          <a:p>
            <a:pPr marL="457200" lvl="1" indent="0">
              <a:lnSpc>
                <a:spcPct val="120000"/>
              </a:lnSpc>
              <a:buFont typeface="Arial" panose="020B0604020202020204" pitchFamily="34" charset="0"/>
              <a:buNone/>
            </a:pPr>
            <a:r>
              <a:rPr lang="zh-CN" altLang="en-US" sz="2800" b="1" dirty="0">
                <a:latin typeface="黑体" panose="02010609060101010101" pitchFamily="49" charset="-122"/>
                <a:ea typeface="黑体" panose="02010609060101010101" pitchFamily="49" charset="-122"/>
              </a:rPr>
              <a:t>    减数分裂中期 </a:t>
            </a:r>
            <a:r>
              <a:rPr lang="en-US" altLang="zh-CN" sz="2800" b="1" dirty="0">
                <a:latin typeface="黑体" panose="02010609060101010101" pitchFamily="49" charset="-122"/>
                <a:ea typeface="黑体" panose="02010609060101010101" pitchFamily="49" charset="-122"/>
              </a:rPr>
              <a:t>I</a:t>
            </a:r>
            <a:r>
              <a:rPr lang="zh-CN" altLang="en-US" sz="2800" b="1" dirty="0">
                <a:latin typeface="黑体" panose="02010609060101010101" pitchFamily="49" charset="-122"/>
                <a:ea typeface="黑体" panose="02010609060101010101" pitchFamily="49" charset="-122"/>
              </a:rPr>
              <a:t>，二价体的两个成员的排列方向是随机的，所以后期 </a:t>
            </a:r>
            <a:r>
              <a:rPr lang="en-US" altLang="zh-CN" sz="2800" b="1" dirty="0">
                <a:latin typeface="黑体" panose="02010609060101010101" pitchFamily="49" charset="-122"/>
                <a:ea typeface="黑体" panose="02010609060101010101" pitchFamily="49" charset="-122"/>
              </a:rPr>
              <a:t>I </a:t>
            </a:r>
            <a:r>
              <a:rPr lang="zh-CN" altLang="en-US" sz="2800" b="1" dirty="0">
                <a:latin typeface="黑体" panose="02010609060101010101" pitchFamily="49" charset="-122"/>
                <a:ea typeface="黑体" panose="02010609060101010101" pitchFamily="49" charset="-122"/>
              </a:rPr>
              <a:t>两条同源染色体随机分向两极，因而所产生的性细胞就可能会有</a:t>
            </a:r>
            <a:r>
              <a:rPr lang="en-US" altLang="zh-CN" sz="2800" b="1" dirty="0">
                <a:latin typeface="黑体" panose="02010609060101010101" pitchFamily="49" charset="-122"/>
                <a:ea typeface="黑体" panose="02010609060101010101" pitchFamily="49" charset="-122"/>
              </a:rPr>
              <a:t>2</a:t>
            </a:r>
            <a:r>
              <a:rPr lang="en-US" altLang="zh-CN" sz="2800" b="1" baseline="30000" dirty="0">
                <a:latin typeface="黑体" panose="02010609060101010101" pitchFamily="49" charset="-122"/>
                <a:ea typeface="黑体" panose="02010609060101010101" pitchFamily="49" charset="-122"/>
              </a:rPr>
              <a:t>n</a:t>
            </a:r>
            <a:r>
              <a:rPr lang="zh-CN" altLang="en-US" sz="2800" b="1" dirty="0">
                <a:latin typeface="黑体" panose="02010609060101010101" pitchFamily="49" charset="-122"/>
                <a:ea typeface="黑体" panose="02010609060101010101" pitchFamily="49" charset="-122"/>
              </a:rPr>
              <a:t>种非同源染色体的组合形式</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染色体重组，</a:t>
            </a:r>
            <a:r>
              <a:rPr lang="en-US" altLang="zh-CN" sz="2800" b="1" dirty="0">
                <a:solidFill>
                  <a:srgbClr val="0000FF"/>
                </a:solidFill>
                <a:latin typeface="黑体" panose="02010609060101010101" pitchFamily="49" charset="-122"/>
                <a:ea typeface="黑体" panose="02010609060101010101" pitchFamily="49" charset="-122"/>
              </a:rPr>
              <a:t>recombination of chromosome</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marL="457200" lvl="1" indent="0">
              <a:lnSpc>
                <a:spcPct val="120000"/>
              </a:lnSpc>
              <a:buFont typeface="Arial" panose="020B0604020202020204" pitchFamily="34" charset="0"/>
              <a:buNone/>
            </a:pPr>
            <a:r>
              <a:rPr lang="zh-CN" altLang="en-US" sz="2800" b="1" dirty="0">
                <a:latin typeface="黑体" panose="02010609060101010101" pitchFamily="49" charset="-122"/>
                <a:ea typeface="黑体" panose="02010609060101010101" pitchFamily="49" charset="-122"/>
              </a:rPr>
              <a:t>    另一方面，非姊妹染色单体间的交叉导致同源染色体间的片段交换，使子细胞的遗传组成更加多样化</a:t>
            </a:r>
            <a:r>
              <a:rPr lang="en-US" altLang="zh-CN" sz="2800" b="1" dirty="0">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染色体片断重组，</a:t>
            </a:r>
            <a:r>
              <a:rPr lang="en-US" altLang="zh-CN" sz="2800" b="1" dirty="0">
                <a:solidFill>
                  <a:srgbClr val="0000FF"/>
                </a:solidFill>
                <a:latin typeface="黑体" panose="02010609060101010101" pitchFamily="49" charset="-122"/>
                <a:ea typeface="黑体" panose="02010609060101010101" pitchFamily="49" charset="-122"/>
              </a:rPr>
              <a:t>recombination of segment</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。同时这也是连锁遗传规律的基础。</a:t>
            </a:r>
          </a:p>
          <a:p>
            <a:pPr marL="457200" lvl="1" indent="0">
              <a:lnSpc>
                <a:spcPct val="120000"/>
              </a:lnSpc>
              <a:buFont typeface="Arial" panose="020B0604020202020204" pitchFamily="34" charset="0"/>
              <a:buNone/>
            </a:pPr>
            <a:endParaRPr lang="zh-CN" altLang="en-US" b="1" dirty="0">
              <a:latin typeface="黑体" panose="02010609060101010101" pitchFamily="49" charset="-122"/>
              <a:ea typeface="黑体" panose="02010609060101010101" pitchFamily="49" charset="-122"/>
            </a:endParaRPr>
          </a:p>
        </p:txBody>
      </p:sp>
    </p:spTree>
  </p:cSld>
  <p:clrMapOvr>
    <a:masterClrMapping/>
  </p:clrMapOvr>
  <p:transition>
    <p:random/>
    <p:sndAc>
      <p:stSnd>
        <p:snd r:embed="rId2" name="type.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nodeType="afterEffect">
                                  <p:stCondLst>
                                    <p:cond delay="3000"/>
                                  </p:stCondLst>
                                  <p:childTnLst>
                                    <p:set>
                                      <p:cBhvr>
                                        <p:cTn id="6" dur="1" fill="hold">
                                          <p:stCondLst>
                                            <p:cond delay="0"/>
                                          </p:stCondLst>
                                        </p:cTn>
                                        <p:tgtEl>
                                          <p:spTgt spid="117766"/>
                                        </p:tgtEl>
                                        <p:attrNameLst>
                                          <p:attrName>style.visibility</p:attrName>
                                        </p:attrNameLst>
                                      </p:cBhvr>
                                      <p:to>
                                        <p:strVal val="visible"/>
                                      </p:to>
                                    </p:set>
                                    <p:anim calcmode="lin" valueType="num">
                                      <p:cBhvr additive="base">
                                        <p:cTn id="7" dur="500" fill="hold"/>
                                        <p:tgtEl>
                                          <p:spTgt spid="117766"/>
                                        </p:tgtEl>
                                        <p:attrNameLst>
                                          <p:attrName>ppt_x</p:attrName>
                                        </p:attrNameLst>
                                      </p:cBhvr>
                                      <p:tavLst>
                                        <p:tav tm="0">
                                          <p:val>
                                            <p:strVal val="1+#ppt_w/2"/>
                                          </p:val>
                                        </p:tav>
                                        <p:tav tm="100000">
                                          <p:val>
                                            <p:strVal val="#ppt_x"/>
                                          </p:val>
                                        </p:tav>
                                      </p:tavLst>
                                    </p:anim>
                                    <p:anim calcmode="lin" valueType="num">
                                      <p:cBhvr additive="base">
                                        <p:cTn id="8" dur="500" fill="hold"/>
                                        <p:tgtEl>
                                          <p:spTgt spid="11776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subTitle" idx="1"/>
          </p:nvPr>
        </p:nvSpPr>
        <p:spPr>
          <a:xfrm>
            <a:off x="1524000" y="0"/>
            <a:ext cx="9144000" cy="6858000"/>
          </a:xfrm>
        </p:spPr>
        <p:txBody>
          <a:bodyPr>
            <a:normAutofit lnSpcReduction="10000"/>
          </a:bodyPr>
          <a:lstStyle/>
          <a:p>
            <a:endParaRPr lang="en-US" altLang="zh-CN" b="1" dirty="0">
              <a:ea typeface="仿宋_GB2312" pitchFamily="49" charset="-122"/>
            </a:endParaRPr>
          </a:p>
          <a:p>
            <a:r>
              <a:rPr lang="en-US" altLang="zh-CN" b="1" dirty="0">
                <a:ea typeface="仿宋_GB2312" pitchFamily="49" charset="-122"/>
              </a:rPr>
              <a:t>         </a:t>
            </a:r>
            <a:r>
              <a:rPr lang="zh-CN" altLang="en-US" b="1" dirty="0">
                <a:ea typeface="仿宋_GB2312" pitchFamily="49" charset="-122"/>
              </a:rPr>
              <a:t>减数分裂</a:t>
            </a:r>
            <a:r>
              <a:rPr lang="en-US" altLang="zh-CN" b="1" dirty="0">
                <a:ea typeface="仿宋_GB2312" pitchFamily="49" charset="-122"/>
              </a:rPr>
              <a:t>I</a:t>
            </a:r>
            <a:r>
              <a:rPr lang="zh-CN" altLang="en-US" b="1" dirty="0">
                <a:ea typeface="仿宋_GB2312" pitchFamily="49" charset="-122"/>
              </a:rPr>
              <a:t>与有丝分裂的异同点</a:t>
            </a:r>
            <a:r>
              <a:rPr lang="zh-CN" altLang="en-US" dirty="0"/>
              <a:t> </a:t>
            </a:r>
          </a:p>
          <a:p>
            <a:pPr>
              <a:lnSpc>
                <a:spcPct val="140000"/>
              </a:lnSpc>
            </a:pPr>
            <a:r>
              <a:rPr lang="zh-CN" altLang="en-US" dirty="0"/>
              <a:t>  </a:t>
            </a:r>
            <a:r>
              <a:rPr lang="zh-CN" altLang="en-US" b="1" dirty="0">
                <a:latin typeface="宋体" panose="02010600030101010101" pitchFamily="2" charset="-122"/>
              </a:rPr>
              <a:t>名 称       间 期          前 期            中 期</a:t>
            </a:r>
          </a:p>
          <a:p>
            <a:pPr>
              <a:lnSpc>
                <a:spcPct val="115000"/>
              </a:lnSpc>
            </a:pPr>
            <a:endParaRPr lang="zh-CN" altLang="en-US" b="1" dirty="0">
              <a:latin typeface="宋体" panose="02010600030101010101" pitchFamily="2" charset="-122"/>
            </a:endParaRPr>
          </a:p>
          <a:p>
            <a:pPr>
              <a:lnSpc>
                <a:spcPct val="115000"/>
              </a:lnSpc>
            </a:pPr>
            <a:r>
              <a:rPr lang="zh-CN" altLang="en-US" b="1" dirty="0">
                <a:latin typeface="宋体" panose="02010600030101010101" pitchFamily="2" charset="-122"/>
              </a:rPr>
              <a:t>有丝分裂   合成</a:t>
            </a:r>
            <a:r>
              <a:rPr lang="en-US" altLang="zh-CN" b="1" dirty="0">
                <a:latin typeface="宋体" panose="02010600030101010101" pitchFamily="2" charset="-122"/>
              </a:rPr>
              <a:t>100%DNA  </a:t>
            </a:r>
            <a:r>
              <a:rPr lang="zh-CN" altLang="en-US" b="1" dirty="0">
                <a:latin typeface="宋体" panose="02010600030101010101" pitchFamily="2" charset="-122"/>
              </a:rPr>
              <a:t>染色质→染色体     着丝点排列</a:t>
            </a:r>
          </a:p>
          <a:p>
            <a:pPr>
              <a:lnSpc>
                <a:spcPct val="115000"/>
              </a:lnSpc>
            </a:pPr>
            <a:r>
              <a:rPr lang="zh-CN" altLang="en-US" b="1" dirty="0">
                <a:latin typeface="宋体" panose="02010600030101010101" pitchFamily="2" charset="-122"/>
              </a:rPr>
              <a:t>                                            赤道板上</a:t>
            </a:r>
          </a:p>
          <a:p>
            <a:pPr>
              <a:lnSpc>
                <a:spcPct val="120000"/>
              </a:lnSpc>
            </a:pPr>
            <a:endParaRPr lang="zh-CN" altLang="en-US" b="1" dirty="0">
              <a:latin typeface="宋体" panose="02010600030101010101" pitchFamily="2" charset="-122"/>
            </a:endParaRPr>
          </a:p>
          <a:p>
            <a:pPr>
              <a:lnSpc>
                <a:spcPct val="120000"/>
              </a:lnSpc>
            </a:pPr>
            <a:r>
              <a:rPr lang="zh-CN" altLang="en-US" b="1" dirty="0">
                <a:latin typeface="宋体" panose="02010600030101010101" pitchFamily="2" charset="-122"/>
              </a:rPr>
              <a:t>减数分裂   间期</a:t>
            </a:r>
            <a:r>
              <a:rPr lang="en-US" altLang="zh-CN" b="1" dirty="0">
                <a:latin typeface="宋体" panose="02010600030101010101" pitchFamily="2" charset="-122"/>
              </a:rPr>
              <a:t>Ⅰ,</a:t>
            </a:r>
            <a:r>
              <a:rPr lang="zh-CN" altLang="en-US" b="1" dirty="0">
                <a:latin typeface="宋体" panose="02010600030101010101" pitchFamily="2" charset="-122"/>
              </a:rPr>
              <a:t>合成  前期</a:t>
            </a:r>
            <a:r>
              <a:rPr lang="en-US" altLang="zh-CN" b="1" dirty="0">
                <a:latin typeface="宋体" panose="02010600030101010101" pitchFamily="2" charset="-122"/>
              </a:rPr>
              <a:t>Ⅰ,</a:t>
            </a:r>
            <a:r>
              <a:rPr lang="zh-CN" altLang="en-US" b="1" dirty="0">
                <a:latin typeface="宋体" panose="02010600030101010101" pitchFamily="2" charset="-122"/>
              </a:rPr>
              <a:t>持续时间    中期</a:t>
            </a:r>
            <a:r>
              <a:rPr lang="en-US" altLang="zh-CN" b="1" dirty="0">
                <a:latin typeface="宋体" panose="02010600030101010101" pitchFamily="2" charset="-122"/>
              </a:rPr>
              <a:t>Ⅰ,</a:t>
            </a:r>
            <a:r>
              <a:rPr lang="zh-CN" altLang="en-US" b="1" dirty="0">
                <a:latin typeface="宋体" panose="02010600030101010101" pitchFamily="2" charset="-122"/>
              </a:rPr>
              <a:t>着</a:t>
            </a:r>
          </a:p>
          <a:p>
            <a:pPr>
              <a:lnSpc>
                <a:spcPct val="120000"/>
              </a:lnSpc>
            </a:pPr>
            <a:r>
              <a:rPr lang="zh-CN" altLang="en-US" b="1" dirty="0">
                <a:latin typeface="宋体" panose="02010600030101010101" pitchFamily="2" charset="-122"/>
              </a:rPr>
              <a:t>           </a:t>
            </a:r>
            <a:r>
              <a:rPr lang="en-US" altLang="zh-CN" b="1" dirty="0">
                <a:latin typeface="宋体" panose="02010600030101010101" pitchFamily="2" charset="-122"/>
              </a:rPr>
              <a:t>99.7%DNA     </a:t>
            </a:r>
            <a:r>
              <a:rPr lang="zh-CN" altLang="en-US" b="1" dirty="0">
                <a:latin typeface="宋体" panose="02010600030101010101" pitchFamily="2" charset="-122"/>
              </a:rPr>
              <a:t>长</a:t>
            </a:r>
            <a:r>
              <a:rPr lang="en-US" altLang="zh-CN" b="1" dirty="0">
                <a:latin typeface="宋体" panose="02010600030101010101" pitchFamily="2" charset="-122"/>
              </a:rPr>
              <a:t>,</a:t>
            </a:r>
            <a:r>
              <a:rPr lang="zh-CN" altLang="en-US" b="1" dirty="0">
                <a:latin typeface="宋体" panose="02010600030101010101" pitchFamily="2" charset="-122"/>
              </a:rPr>
              <a:t>进行同源染色    丝点不排列</a:t>
            </a:r>
          </a:p>
          <a:p>
            <a:pPr>
              <a:lnSpc>
                <a:spcPct val="120000"/>
              </a:lnSpc>
            </a:pPr>
            <a:r>
              <a:rPr lang="zh-CN" altLang="en-US" b="1" dirty="0">
                <a:latin typeface="宋体" panose="02010600030101010101" pitchFamily="2" charset="-122"/>
              </a:rPr>
              <a:t>                        配对、联会、交     赤道板上</a:t>
            </a:r>
            <a:r>
              <a:rPr lang="en-US" altLang="zh-CN" b="1" dirty="0">
                <a:latin typeface="宋体" panose="02010600030101010101" pitchFamily="2" charset="-122"/>
              </a:rPr>
              <a:t>,</a:t>
            </a:r>
          </a:p>
          <a:p>
            <a:pPr>
              <a:lnSpc>
                <a:spcPct val="120000"/>
              </a:lnSpc>
            </a:pPr>
            <a:r>
              <a:rPr lang="en-US" altLang="zh-CN" b="1" dirty="0">
                <a:latin typeface="宋体" panose="02010600030101010101" pitchFamily="2" charset="-122"/>
              </a:rPr>
              <a:t>                        </a:t>
            </a:r>
            <a:r>
              <a:rPr lang="zh-CN" altLang="en-US" b="1" dirty="0">
                <a:latin typeface="宋体" panose="02010600030101010101" pitchFamily="2" charset="-122"/>
              </a:rPr>
              <a:t>换和交叉 。合      朝向两极</a:t>
            </a:r>
          </a:p>
          <a:p>
            <a:pPr>
              <a:lnSpc>
                <a:spcPct val="120000"/>
              </a:lnSpc>
            </a:pPr>
            <a:r>
              <a:rPr lang="zh-CN" altLang="en-US" b="1" dirty="0">
                <a:latin typeface="宋体" panose="02010600030101010101" pitchFamily="2" charset="-122"/>
              </a:rPr>
              <a:t>       成</a:t>
            </a:r>
            <a:r>
              <a:rPr lang="en-US" altLang="zh-CN" b="1" dirty="0">
                <a:latin typeface="宋体" panose="02010600030101010101" pitchFamily="2" charset="-122"/>
              </a:rPr>
              <a:t>0.3%DNA.                   </a:t>
            </a:r>
          </a:p>
          <a:p>
            <a:pPr>
              <a:lnSpc>
                <a:spcPct val="120000"/>
              </a:lnSpc>
            </a:pPr>
            <a:r>
              <a:rPr lang="en-US" altLang="zh-CN" dirty="0">
                <a:latin typeface="宋体" panose="02010600030101010101" pitchFamily="2" charset="-122"/>
              </a:rPr>
              <a:t>  </a:t>
            </a:r>
          </a:p>
        </p:txBody>
      </p:sp>
      <p:sp>
        <p:nvSpPr>
          <p:cNvPr id="119811" name="Line 3"/>
          <p:cNvSpPr>
            <a:spLocks noChangeShapeType="1"/>
          </p:cNvSpPr>
          <p:nvPr/>
        </p:nvSpPr>
        <p:spPr bwMode="auto">
          <a:xfrm>
            <a:off x="1524000" y="1508125"/>
            <a:ext cx="9144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2" name="Line 4"/>
          <p:cNvSpPr>
            <a:spLocks noChangeShapeType="1"/>
          </p:cNvSpPr>
          <p:nvPr/>
        </p:nvSpPr>
        <p:spPr bwMode="auto">
          <a:xfrm flipV="1">
            <a:off x="1524000" y="6103939"/>
            <a:ext cx="9144000" cy="333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3" name="Line 5"/>
          <p:cNvSpPr>
            <a:spLocks noChangeShapeType="1"/>
          </p:cNvSpPr>
          <p:nvPr/>
        </p:nvSpPr>
        <p:spPr bwMode="auto">
          <a:xfrm>
            <a:off x="1524000" y="925513"/>
            <a:ext cx="9144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rrowheads="1"/>
          </p:cNvSpPr>
          <p:nvPr>
            <p:ph type="body" idx="1"/>
          </p:nvPr>
        </p:nvSpPr>
        <p:spPr>
          <a:xfrm>
            <a:off x="1524000" y="0"/>
            <a:ext cx="9144000" cy="6858000"/>
          </a:xfrm>
        </p:spPr>
        <p:txBody>
          <a:bodyPr/>
          <a:lstStyle/>
          <a:p>
            <a:pPr>
              <a:lnSpc>
                <a:spcPct val="140000"/>
              </a:lnSpc>
            </a:pPr>
            <a:endParaRPr lang="en-US" altLang="zh-CN" sz="2400" b="1" dirty="0">
              <a:latin typeface="宋体" panose="02010600030101010101" pitchFamily="2" charset="-122"/>
            </a:endParaRPr>
          </a:p>
          <a:p>
            <a:pPr marL="0" indent="0">
              <a:lnSpc>
                <a:spcPct val="140000"/>
              </a:lnSpc>
              <a:buNone/>
            </a:pPr>
            <a:r>
              <a:rPr lang="zh-CN" altLang="en-US" sz="2400" b="1" dirty="0">
                <a:latin typeface="宋体" panose="02010600030101010101" pitchFamily="2" charset="-122"/>
              </a:rPr>
              <a:t>名 称      后 期             末 期         间 期</a:t>
            </a:r>
            <a:r>
              <a:rPr lang="en-US" altLang="zh-CN" sz="2400" b="1" dirty="0">
                <a:latin typeface="宋体" panose="02010600030101010101" pitchFamily="2" charset="-122"/>
              </a:rPr>
              <a:t>Ⅱ</a:t>
            </a:r>
          </a:p>
          <a:p>
            <a:pPr marL="0" indent="0">
              <a:lnSpc>
                <a:spcPct val="170000"/>
              </a:lnSpc>
              <a:buNone/>
            </a:pPr>
            <a:r>
              <a:rPr lang="zh-CN" altLang="en-US" sz="2400" b="1" dirty="0">
                <a:latin typeface="宋体" panose="02010600030101010101" pitchFamily="2" charset="-122"/>
              </a:rPr>
              <a:t>有丝分裂  着丝点分开   细胞质分裂形成      </a:t>
            </a:r>
            <a:r>
              <a:rPr lang="en-US" altLang="zh-CN" sz="2400" b="1" dirty="0"/>
              <a:t>————</a:t>
            </a:r>
            <a:r>
              <a:rPr lang="en-US" altLang="zh-CN" sz="2400" b="1" dirty="0">
                <a:latin typeface="宋体" panose="02010600030101010101" pitchFamily="2" charset="-122"/>
              </a:rPr>
              <a:t> </a:t>
            </a:r>
          </a:p>
          <a:p>
            <a:pPr marL="0" indent="0">
              <a:buNone/>
            </a:pPr>
            <a:r>
              <a:rPr lang="en-US" altLang="zh-CN" sz="2400" b="1" dirty="0">
                <a:latin typeface="宋体" panose="02010600030101010101" pitchFamily="2" charset="-122"/>
              </a:rPr>
              <a:t>          </a:t>
            </a:r>
            <a:r>
              <a:rPr lang="zh-CN" altLang="en-US" sz="2400" b="1" dirty="0">
                <a:latin typeface="宋体" panose="02010600030101010101" pitchFamily="2" charset="-122"/>
              </a:rPr>
              <a:t>染色单体分开   两个子细胞，染   </a:t>
            </a:r>
          </a:p>
          <a:p>
            <a:pPr marL="0" indent="0">
              <a:buNone/>
            </a:pPr>
            <a:r>
              <a:rPr lang="zh-CN" altLang="en-US" sz="2400" b="1" dirty="0">
                <a:latin typeface="宋体" panose="02010600030101010101" pitchFamily="2" charset="-122"/>
              </a:rPr>
              <a:t>                         色体数目不变     </a:t>
            </a:r>
          </a:p>
          <a:p>
            <a:endParaRPr lang="zh-CN" altLang="en-US" sz="2400" b="1" dirty="0">
              <a:latin typeface="宋体" panose="02010600030101010101" pitchFamily="2" charset="-122"/>
            </a:endParaRPr>
          </a:p>
          <a:p>
            <a:pPr marL="0" indent="0">
              <a:buNone/>
            </a:pPr>
            <a:r>
              <a:rPr lang="zh-CN" altLang="en-US" sz="2400" b="1" dirty="0">
                <a:latin typeface="宋体" panose="02010600030101010101" pitchFamily="2" charset="-122"/>
              </a:rPr>
              <a:t>减数分裂  后期</a:t>
            </a:r>
            <a:r>
              <a:rPr lang="en-US" altLang="zh-CN" sz="2400" b="1" dirty="0">
                <a:latin typeface="宋体" panose="02010600030101010101" pitchFamily="2" charset="-122"/>
              </a:rPr>
              <a:t>Ⅰ</a:t>
            </a:r>
            <a:r>
              <a:rPr lang="zh-CN" altLang="en-US" sz="2400" b="1" dirty="0">
                <a:latin typeface="宋体" panose="02010600030101010101" pitchFamily="2" charset="-122"/>
              </a:rPr>
              <a:t>，着丝   末期</a:t>
            </a:r>
            <a:r>
              <a:rPr lang="en-US" altLang="zh-CN" sz="2400" b="1" dirty="0">
                <a:latin typeface="宋体" panose="02010600030101010101" pitchFamily="2" charset="-122"/>
              </a:rPr>
              <a:t>Ⅰ</a:t>
            </a:r>
            <a:r>
              <a:rPr lang="zh-CN" altLang="en-US" sz="2400" b="1" dirty="0">
                <a:latin typeface="宋体" panose="02010600030101010101" pitchFamily="2" charset="-122"/>
              </a:rPr>
              <a:t>，形成两个   短，无</a:t>
            </a:r>
          </a:p>
          <a:p>
            <a:pPr marL="0" indent="0">
              <a:buNone/>
            </a:pPr>
            <a:r>
              <a:rPr lang="zh-CN" altLang="en-US" sz="2400" b="1" dirty="0">
                <a:latin typeface="宋体" panose="02010600030101010101" pitchFamily="2" charset="-122"/>
              </a:rPr>
              <a:t>          点不分开，同   子细胞，染色体数   </a:t>
            </a:r>
            <a:r>
              <a:rPr lang="en-US" altLang="zh-CN" sz="2400" b="1" dirty="0">
                <a:latin typeface="宋体" panose="02010600030101010101" pitchFamily="2" charset="-122"/>
              </a:rPr>
              <a:t>DNA</a:t>
            </a:r>
            <a:r>
              <a:rPr lang="zh-CN" altLang="en-US" sz="2400" b="1" dirty="0">
                <a:latin typeface="宋体" panose="02010600030101010101" pitchFamily="2" charset="-122"/>
              </a:rPr>
              <a:t>合成</a:t>
            </a:r>
          </a:p>
          <a:p>
            <a:pPr marL="0" indent="0">
              <a:buNone/>
            </a:pPr>
            <a:r>
              <a:rPr lang="zh-CN" altLang="en-US" sz="2400" b="1" dirty="0">
                <a:latin typeface="宋体" panose="02010600030101010101" pitchFamily="2" charset="-122"/>
              </a:rPr>
              <a:t>          源染色体分开   目减半</a:t>
            </a:r>
          </a:p>
          <a:p>
            <a:endParaRPr lang="zh-CN" altLang="en-US" sz="2400" b="1" dirty="0">
              <a:latin typeface="宋体" panose="02010600030101010101" pitchFamily="2" charset="-122"/>
            </a:endParaRPr>
          </a:p>
          <a:p>
            <a:endParaRPr lang="en-US" altLang="zh-CN" sz="2400" dirty="0"/>
          </a:p>
        </p:txBody>
      </p:sp>
      <p:sp>
        <p:nvSpPr>
          <p:cNvPr id="120835" name="Line 3"/>
          <p:cNvSpPr>
            <a:spLocks noChangeShapeType="1"/>
          </p:cNvSpPr>
          <p:nvPr/>
        </p:nvSpPr>
        <p:spPr bwMode="auto">
          <a:xfrm>
            <a:off x="1524000" y="650875"/>
            <a:ext cx="9144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6" name="Line 4"/>
          <p:cNvSpPr>
            <a:spLocks noChangeShapeType="1"/>
          </p:cNvSpPr>
          <p:nvPr/>
        </p:nvSpPr>
        <p:spPr bwMode="auto">
          <a:xfrm>
            <a:off x="1524000" y="1303338"/>
            <a:ext cx="9144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7" name="Line 5"/>
          <p:cNvSpPr>
            <a:spLocks noChangeShapeType="1"/>
          </p:cNvSpPr>
          <p:nvPr/>
        </p:nvSpPr>
        <p:spPr bwMode="auto">
          <a:xfrm flipV="1">
            <a:off x="1524000" y="4664075"/>
            <a:ext cx="9144000" cy="33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rrowheads="1"/>
          </p:cNvSpPr>
          <p:nvPr>
            <p:ph type="title"/>
          </p:nvPr>
        </p:nvSpPr>
        <p:spPr>
          <a:xfrm>
            <a:off x="3439357" y="-124191"/>
            <a:ext cx="4879019" cy="1325563"/>
          </a:xfrm>
        </p:spPr>
        <p:txBody>
          <a:bodyPr>
            <a:normAutofit/>
          </a:bodyPr>
          <a:lstStyle/>
          <a:p>
            <a:r>
              <a:rPr lang="zh-CN" altLang="en-US" sz="4000" b="1" dirty="0">
                <a:latin typeface="黑体" panose="02010609060101010101" pitchFamily="49" charset="-122"/>
                <a:ea typeface="黑体" panose="02010609060101010101" pitchFamily="49" charset="-122"/>
              </a:rPr>
              <a:t>第三节 染色体周史</a:t>
            </a:r>
          </a:p>
        </p:txBody>
      </p:sp>
      <p:sp>
        <p:nvSpPr>
          <p:cNvPr id="63491" name="Rectangle 3"/>
          <p:cNvSpPr>
            <a:spLocks noGrp="1" noRot="1" noChangeArrowheads="1"/>
          </p:cNvSpPr>
          <p:nvPr>
            <p:ph type="body" idx="1"/>
          </p:nvPr>
        </p:nvSpPr>
        <p:spPr>
          <a:xfrm>
            <a:off x="0" y="889672"/>
            <a:ext cx="11964202" cy="1159229"/>
          </a:xfrm>
        </p:spPr>
        <p:txBody>
          <a:bodyPr>
            <a:noAutofit/>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在所有以有性生殖繁殖的生物的生活史中，都会经历二倍体和单倍体的循环，只是它们在生活史中所占据的时间长短因生物的不同而异。</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21289" y="1857676"/>
            <a:ext cx="6198648" cy="380857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2"/>
          <p:cNvSpPr txBox="1">
            <a:spLocks noRot="1" noChangeArrowheads="1"/>
          </p:cNvSpPr>
          <p:nvPr/>
        </p:nvSpPr>
        <p:spPr>
          <a:xfrm>
            <a:off x="1598721" y="5918508"/>
            <a:ext cx="9684798" cy="43790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solidFill>
                  <a:srgbClr val="0000FF"/>
                </a:solidFill>
                <a:latin typeface="黑体" panose="02010609060101010101" pitchFamily="49" charset="-122"/>
                <a:ea typeface="黑体" panose="02010609060101010101" pitchFamily="49" charset="-122"/>
              </a:rPr>
              <a:t>图 不同生物生活史中单倍体世代和二倍体世代所占的比例</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3"/>
          <p:cNvSpPr>
            <a:spLocks noGrp="1" noChangeArrowheads="1"/>
          </p:cNvSpPr>
          <p:nvPr>
            <p:ph idx="1"/>
          </p:nvPr>
        </p:nvSpPr>
        <p:spPr bwMode="auto">
          <a:xfrm>
            <a:off x="0" y="381000"/>
            <a:ext cx="12192000" cy="6096000"/>
          </a:xfrm>
          <a:ln>
            <a:miter lim="800000"/>
          </a:ln>
        </p:spPr>
        <p:style>
          <a:lnRef idx="0">
            <a:scrgbClr r="0" g="0" b="0"/>
          </a:lnRef>
          <a:fillRef idx="1001">
            <a:schemeClr val="lt1"/>
          </a:fillRef>
          <a:effectRef idx="0">
            <a:scrgbClr r="0" g="0" b="0"/>
          </a:effectRef>
          <a:fontRef idx="major"/>
        </p:style>
        <p:txBody>
          <a:bodyPr vert="horz" wrap="square" lIns="91440" tIns="45720" rIns="91440" bIns="45720" numCol="1" rtlCol="0" anchor="t" anchorCtr="0" compatLnSpc="1">
            <a:normAutofit/>
          </a:bodyPr>
          <a:lstStyle/>
          <a:p>
            <a:pPr marL="87630" indent="-87630">
              <a:lnSpc>
                <a:spcPct val="130000"/>
              </a:lnSpc>
              <a:buClr>
                <a:schemeClr val="folHlink"/>
              </a:buClr>
              <a:buFont typeface="Wingdings" panose="05000000000000000000" pitchFamily="2" charset="2"/>
              <a:buChar char="q"/>
              <a:defRPr/>
            </a:pPr>
            <a:r>
              <a:rPr lang="zh-CN" altLang="en-US" sz="3200" b="1" dirty="0">
                <a:solidFill>
                  <a:srgbClr val="0000FF"/>
                </a:solidFill>
                <a:latin typeface="黑体" panose="02010609060101010101" pitchFamily="49" charset="-122"/>
                <a:ea typeface="黑体" panose="02010609060101010101" pitchFamily="49" charset="-122"/>
              </a:rPr>
              <a:t>生活周期</a:t>
            </a: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life cycle)——</a:t>
            </a:r>
            <a:r>
              <a:rPr lang="zh-CN" altLang="en-US" sz="3200" b="1" dirty="0">
                <a:latin typeface="黑体" panose="02010609060101010101" pitchFamily="49" charset="-122"/>
                <a:ea typeface="黑体" panose="02010609060101010101" pitchFamily="49" charset="-122"/>
              </a:rPr>
              <a:t>从合子到个体成熟和死亡之所经历的一系列的发育阶段。</a:t>
            </a:r>
          </a:p>
          <a:p>
            <a:pPr marL="87630" indent="-87630">
              <a:lnSpc>
                <a:spcPct val="130000"/>
              </a:lnSpc>
              <a:buClr>
                <a:schemeClr val="folHlink"/>
              </a:buClr>
              <a:buFont typeface="Wingdings" panose="05000000000000000000" pitchFamily="2" charset="2"/>
              <a:buChar char="q"/>
              <a:defRPr/>
            </a:pPr>
            <a:r>
              <a:rPr lang="zh-CN" altLang="en-US" sz="3200" b="1" dirty="0">
                <a:solidFill>
                  <a:srgbClr val="0000FF"/>
                </a:solidFill>
                <a:latin typeface="黑体" panose="02010609060101010101" pitchFamily="49" charset="-122"/>
                <a:ea typeface="黑体" panose="02010609060101010101" pitchFamily="49" charset="-122"/>
              </a:rPr>
              <a:t>世代交替</a:t>
            </a: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alternation of generations)——</a:t>
            </a:r>
            <a:r>
              <a:rPr lang="zh-CN" altLang="en-US" sz="3200" b="1" dirty="0">
                <a:latin typeface="黑体" panose="02010609060101010101" pitchFamily="49" charset="-122"/>
                <a:ea typeface="黑体" panose="02010609060101010101" pitchFamily="49" charset="-122"/>
              </a:rPr>
              <a:t>生活周期包括一个有性世代和一个无性世代,这样二者交替发生就称为世代交替。</a:t>
            </a:r>
          </a:p>
          <a:p>
            <a:pPr marL="87630" indent="-87630">
              <a:lnSpc>
                <a:spcPct val="130000"/>
              </a:lnSpc>
              <a:buClr>
                <a:schemeClr val="folHlink"/>
              </a:buClr>
              <a:buFont typeface="Wingdings" panose="05000000000000000000" pitchFamily="2" charset="2"/>
              <a:buChar char="q"/>
              <a:defRPr/>
            </a:pPr>
            <a:r>
              <a:rPr lang="zh-CN" altLang="en-US" b="1" dirty="0">
                <a:solidFill>
                  <a:srgbClr val="0000FF"/>
                </a:solidFill>
                <a:latin typeface="黑体" panose="02010609060101010101" pitchFamily="49" charset="-122"/>
                <a:ea typeface="黑体" panose="02010609060101010101" pitchFamily="49" charset="-122"/>
              </a:rPr>
              <a:t>孢子体世代</a:t>
            </a:r>
            <a:r>
              <a:rPr lang="zh-CN" altLang="en-US"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sporophyte</a:t>
            </a:r>
            <a:r>
              <a:rPr lang="en-US" altLang="zh-CN" b="1" dirty="0">
                <a:latin typeface="黑体" panose="02010609060101010101" pitchFamily="49" charset="-122"/>
                <a:ea typeface="黑体" panose="02010609060101010101" pitchFamily="49" charset="-122"/>
              </a:rPr>
              <a:t> generation)——</a:t>
            </a:r>
            <a:r>
              <a:rPr lang="zh-CN" altLang="en-US" b="1" dirty="0">
                <a:latin typeface="黑体" panose="02010609060101010101" pitchFamily="49" charset="-122"/>
                <a:ea typeface="黑体" panose="02010609060101010101" pitchFamily="49" charset="-122"/>
              </a:rPr>
              <a:t>从一个合子发育成为一个孢子体(到减数分裂之前)的世代，也称无性世代。</a:t>
            </a:r>
          </a:p>
          <a:p>
            <a:pPr marL="87630" indent="-87630">
              <a:lnSpc>
                <a:spcPct val="130000"/>
              </a:lnSpc>
              <a:buClr>
                <a:schemeClr val="folHlink"/>
              </a:buClr>
              <a:buFont typeface="Wingdings" panose="05000000000000000000" pitchFamily="2" charset="2"/>
              <a:buChar char="q"/>
              <a:defRPr/>
            </a:pPr>
            <a:r>
              <a:rPr lang="zh-CN" altLang="en-US" b="1" dirty="0">
                <a:solidFill>
                  <a:srgbClr val="0000FF"/>
                </a:solidFill>
                <a:latin typeface="黑体" panose="02010609060101010101" pitchFamily="49" charset="-122"/>
                <a:ea typeface="黑体" panose="02010609060101010101" pitchFamily="49" charset="-122"/>
              </a:rPr>
              <a:t>配子体世代</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gametophyte generation）——</a:t>
            </a:r>
            <a:r>
              <a:rPr lang="zh-CN" altLang="en-US" b="1" dirty="0">
                <a:latin typeface="黑体" panose="02010609060101010101" pitchFamily="49" charset="-122"/>
                <a:ea typeface="黑体" panose="02010609060101010101" pitchFamily="49" charset="-122"/>
              </a:rPr>
              <a:t>减数分裂形成的配子开始至卵细胞受精前的世代，也称有性世代。</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rrowheads="1"/>
          </p:cNvSpPr>
          <p:nvPr>
            <p:ph type="title"/>
          </p:nvPr>
        </p:nvSpPr>
        <p:spPr>
          <a:xfrm>
            <a:off x="645695" y="0"/>
            <a:ext cx="10515600" cy="1325563"/>
          </a:xfrm>
        </p:spPr>
        <p:txBody>
          <a:bodyPr>
            <a:normAutofit/>
          </a:bodyPr>
          <a:lstStyle/>
          <a:p>
            <a:pPr algn="ctr"/>
            <a:r>
              <a:rPr lang="zh-CN" altLang="en-US" sz="4000" b="1" dirty="0">
                <a:latin typeface="黑体" panose="02010609060101010101" pitchFamily="49" charset="-122"/>
                <a:ea typeface="黑体" panose="02010609060101010101" pitchFamily="49" charset="-122"/>
              </a:rPr>
              <a:t>第三节 染色体周史</a:t>
            </a:r>
          </a:p>
        </p:txBody>
      </p:sp>
      <p:sp>
        <p:nvSpPr>
          <p:cNvPr id="140291" name="Rectangle 3"/>
          <p:cNvSpPr>
            <a:spLocks noGrp="1" noRot="1" noChangeArrowheads="1"/>
          </p:cNvSpPr>
          <p:nvPr>
            <p:ph type="body" idx="1"/>
          </p:nvPr>
        </p:nvSpPr>
        <p:spPr>
          <a:xfrm>
            <a:off x="63366" y="1410802"/>
            <a:ext cx="12025965" cy="2208297"/>
          </a:xfrm>
        </p:spPr>
        <p:txBody>
          <a:bodyPr>
            <a:normAutofit/>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在高等生物如动植物中，在绝大部分的生活周期中是以</a:t>
            </a:r>
            <a:r>
              <a:rPr lang="zh-CN" altLang="en-US" b="1" dirty="0">
                <a:solidFill>
                  <a:srgbClr val="0000FF"/>
                </a:solidFill>
                <a:latin typeface="黑体" panose="02010609060101010101" pitchFamily="49" charset="-122"/>
                <a:ea typeface="黑体" panose="02010609060101010101" pitchFamily="49" charset="-122"/>
              </a:rPr>
              <a:t>二倍体</a:t>
            </a:r>
            <a:r>
              <a:rPr lang="zh-CN" altLang="en-US" b="1" dirty="0">
                <a:latin typeface="黑体" panose="02010609060101010101" pitchFamily="49" charset="-122"/>
                <a:ea typeface="黑体" panose="02010609060101010101" pitchFamily="49" charset="-122"/>
              </a:rPr>
              <a:t>的形式，即</a:t>
            </a:r>
            <a:r>
              <a:rPr lang="en-US" altLang="zh-CN" b="1" dirty="0">
                <a:latin typeface="黑体" panose="02010609060101010101" pitchFamily="49" charset="-122"/>
                <a:ea typeface="黑体" panose="02010609060101010101" pitchFamily="49" charset="-122"/>
              </a:rPr>
              <a:t>2n</a:t>
            </a:r>
            <a:r>
              <a:rPr lang="zh-CN" altLang="en-US" b="1" dirty="0">
                <a:latin typeface="黑体" panose="02010609060101010101" pitchFamily="49" charset="-122"/>
                <a:ea typeface="黑体" panose="02010609060101010101" pitchFamily="49" charset="-122"/>
              </a:rPr>
              <a:t>存在的；而在低等生物中，大部分的生活周期是以</a:t>
            </a:r>
            <a:r>
              <a:rPr lang="zh-CN" altLang="en-US" b="1" dirty="0">
                <a:solidFill>
                  <a:srgbClr val="0000FF"/>
                </a:solidFill>
                <a:latin typeface="黑体" panose="02010609060101010101" pitchFamily="49" charset="-122"/>
                <a:ea typeface="黑体" panose="02010609060101010101" pitchFamily="49" charset="-122"/>
              </a:rPr>
              <a:t>单倍体</a:t>
            </a:r>
            <a:r>
              <a:rPr lang="zh-CN" altLang="en-US" b="1" dirty="0">
                <a:latin typeface="黑体" panose="02010609060101010101" pitchFamily="49" charset="-122"/>
                <a:ea typeface="黑体" panose="02010609060101010101" pitchFamily="49" charset="-122"/>
              </a:rPr>
              <a:t>的形式，即</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存在的。</a:t>
            </a:r>
          </a:p>
          <a:p>
            <a:pPr marL="0" indent="0">
              <a:lnSpc>
                <a:spcPct val="120000"/>
              </a:lnSpc>
              <a:buNone/>
            </a:pPr>
            <a:r>
              <a:rPr lang="en-US" altLang="zh-CN" b="1" dirty="0">
                <a:latin typeface="黑体" panose="02010609060101010101" pitchFamily="49" charset="-122"/>
                <a:ea typeface="黑体" panose="02010609060101010101" pitchFamily="49" charset="-122"/>
              </a:rPr>
              <a:t>	</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rrowheads="1"/>
          </p:cNvSpPr>
          <p:nvPr>
            <p:ph type="title"/>
          </p:nvPr>
        </p:nvSpPr>
        <p:spPr>
          <a:xfrm>
            <a:off x="275414" y="-236578"/>
            <a:ext cx="10515600" cy="1325563"/>
          </a:xfrm>
        </p:spPr>
        <p:txBody>
          <a:bodyPr>
            <a:normAutofit/>
          </a:bodyPr>
          <a:lstStyle/>
          <a:p>
            <a:r>
              <a:rPr lang="en-US" altLang="zh-CN" sz="3600" b="1" dirty="0">
                <a:solidFill>
                  <a:srgbClr val="0000FF"/>
                </a:solidFill>
                <a:latin typeface="黑体" panose="02010609060101010101" pitchFamily="49" charset="-122"/>
                <a:ea typeface="黑体" panose="02010609060101010101" pitchFamily="49" charset="-122"/>
              </a:rPr>
              <a:t>1.</a:t>
            </a:r>
            <a:r>
              <a:rPr lang="zh-CN" altLang="en-US" sz="3600" b="1" dirty="0">
                <a:solidFill>
                  <a:srgbClr val="0000FF"/>
                </a:solidFill>
                <a:latin typeface="黑体" panose="02010609060101010101" pitchFamily="49" charset="-122"/>
                <a:ea typeface="黑体" panose="02010609060101010101" pitchFamily="49" charset="-122"/>
              </a:rPr>
              <a:t>动物的生活史 </a:t>
            </a:r>
          </a:p>
        </p:txBody>
      </p:sp>
      <p:sp>
        <p:nvSpPr>
          <p:cNvPr id="66563" name="Rectangle 3"/>
          <p:cNvSpPr>
            <a:spLocks noGrp="1" noRot="1" noChangeArrowheads="1"/>
          </p:cNvSpPr>
          <p:nvPr>
            <p:ph type="body" idx="1"/>
          </p:nvPr>
        </p:nvSpPr>
        <p:spPr>
          <a:xfrm>
            <a:off x="57751" y="780363"/>
            <a:ext cx="12076497" cy="1219416"/>
          </a:xfrm>
        </p:spPr>
        <p:txBody>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在动物中仅仅只是在减数分裂形成配子的阶段才存在单倍体，而在其他绝大部分的生活史中是以二倍体的形式存在的</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图</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a:t>
            </a:r>
          </a:p>
        </p:txBody>
      </p:sp>
      <p:pic>
        <p:nvPicPr>
          <p:cNvPr id="4" name="Picture 8" descr="图1-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53579" y="1952311"/>
            <a:ext cx="5498915" cy="412532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3"/>
          <p:cNvSpPr txBox="1">
            <a:spLocks noRot="1" noChangeArrowheads="1"/>
          </p:cNvSpPr>
          <p:nvPr/>
        </p:nvSpPr>
        <p:spPr>
          <a:xfrm>
            <a:off x="2823840" y="6207125"/>
            <a:ext cx="7262813" cy="6508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图   动物的染色体周史 </a:t>
            </a:r>
            <a:r>
              <a:rPr lang="en-US" altLang="zh-CN" dirty="0"/>
              <a:t>(</a:t>
            </a:r>
            <a:r>
              <a:rPr lang="zh-CN" altLang="en-US" dirty="0"/>
              <a:t>以果蝇为例</a:t>
            </a:r>
            <a:r>
              <a:rPr lang="en-US" altLang="zh-CN" dirty="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709D816-A9A6-4BF9-B4A0-1147CB4A226F}"/>
              </a:ext>
            </a:extLst>
          </p:cNvPr>
          <p:cNvSpPr>
            <a:spLocks noGrp="1"/>
          </p:cNvSpPr>
          <p:nvPr>
            <p:ph idx="4294967295"/>
          </p:nvPr>
        </p:nvSpPr>
        <p:spPr>
          <a:xfrm>
            <a:off x="-370116" y="830041"/>
            <a:ext cx="12562115" cy="5405867"/>
          </a:xfrm>
        </p:spPr>
        <p:txBody>
          <a:bodyPr>
            <a:normAutofit fontScale="92500" lnSpcReduction="20000"/>
          </a:bodyPr>
          <a:lstStyle/>
          <a:p>
            <a:pPr lvl="1">
              <a:lnSpc>
                <a:spcPct val="150000"/>
              </a:lnSpc>
            </a:pPr>
            <a:r>
              <a:rPr lang="zh-CN" altLang="en-US" b="1" dirty="0">
                <a:latin typeface="黑体" panose="02010609060101010101" pitchFamily="49" charset="-122"/>
                <a:ea typeface="黑体" panose="02010609060101010101" pitchFamily="49" charset="-122"/>
                <a:cs typeface="Times New Roman" panose="02020603050405020304" pitchFamily="18" charset="0"/>
              </a:rPr>
              <a:t>多细胞动物在雄性性腺（即睾丸）中有精原细胞，在雌性性腺（即卵巢）中有卵原细胞，它们的染色体数目与体细胞一样。</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lvl="1">
              <a:lnSpc>
                <a:spcPct val="150000"/>
              </a:lnSpc>
            </a:pPr>
            <a:r>
              <a:rPr lang="zh-CN" altLang="en-US" b="1" dirty="0">
                <a:latin typeface="黑体" panose="02010609060101010101" pitchFamily="49" charset="-122"/>
                <a:ea typeface="黑体" panose="02010609060101010101" pitchFamily="49" charset="-122"/>
                <a:cs typeface="Times New Roman" panose="02020603050405020304" pitchFamily="18" charset="0"/>
              </a:rPr>
              <a:t>精原细胞和卵原细胞经过多次有丝分裂后停止分裂，长大后分别成为初级精母细胞和初级卵母细胞。</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lvl="1">
              <a:lnSpc>
                <a:spcPct val="150000"/>
              </a:lnSpc>
            </a:pPr>
            <a:r>
              <a:rPr lang="zh-CN" altLang="en-US" b="1" dirty="0">
                <a:latin typeface="黑体" panose="02010609060101010101" pitchFamily="49" charset="-122"/>
                <a:ea typeface="黑体" panose="02010609060101010101" pitchFamily="49" charset="-122"/>
                <a:cs typeface="Times New Roman" panose="02020603050405020304" pitchFamily="18" charset="0"/>
              </a:rPr>
              <a:t>初级精母细胞（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2n</a:t>
            </a:r>
            <a:r>
              <a:rPr lang="zh-CN" altLang="en-US" b="1" dirty="0">
                <a:latin typeface="黑体" panose="02010609060101010101" pitchFamily="49" charset="-122"/>
                <a:ea typeface="黑体" panose="02010609060101010101" pitchFamily="49" charset="-122"/>
                <a:cs typeface="Times New Roman" panose="02020603050405020304" pitchFamily="18" charset="0"/>
              </a:rPr>
              <a:t>）通过减数分裂产生 </a:t>
            </a:r>
            <a:r>
              <a:rPr lang="en-US" altLang="zh-CN" b="1" dirty="0">
                <a:latin typeface="黑体" panose="02010609060101010101" pitchFamily="49" charset="-122"/>
                <a:ea typeface="黑体" panose="02010609060101010101" pitchFamily="49" charset="-122"/>
                <a:cs typeface="Times New Roman" panose="02020603050405020304" pitchFamily="18" charset="0"/>
              </a:rPr>
              <a:t>4 </a:t>
            </a:r>
            <a:r>
              <a:rPr lang="zh-CN" altLang="en-US" b="1" dirty="0">
                <a:latin typeface="黑体" panose="02010609060101010101" pitchFamily="49" charset="-122"/>
                <a:ea typeface="黑体" panose="02010609060101010101" pitchFamily="49" charset="-122"/>
                <a:cs typeface="Times New Roman" panose="02020603050405020304" pitchFamily="18" charset="0"/>
              </a:rPr>
              <a:t>个精细胞（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）。精细胞通过一系列的变化形成精子。</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lvl="1">
              <a:lnSpc>
                <a:spcPct val="150000"/>
              </a:lnSpc>
            </a:pPr>
            <a:r>
              <a:rPr lang="zh-CN" altLang="en-US" b="1" dirty="0">
                <a:latin typeface="黑体" panose="02010609060101010101" pitchFamily="49" charset="-122"/>
                <a:ea typeface="黑体" panose="02010609060101010101" pitchFamily="49" charset="-122"/>
                <a:cs typeface="Times New Roman" panose="02020603050405020304" pitchFamily="18" charset="0"/>
              </a:rPr>
              <a:t>初级卵母细胞（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2n</a:t>
            </a:r>
            <a:r>
              <a:rPr lang="zh-CN" altLang="en-US" b="1" dirty="0">
                <a:latin typeface="黑体" panose="02010609060101010101" pitchFamily="49" charset="-122"/>
                <a:ea typeface="黑体" panose="02010609060101010101" pitchFamily="49" charset="-122"/>
                <a:cs typeface="Times New Roman" panose="02020603050405020304" pitchFamily="18" charset="0"/>
              </a:rPr>
              <a:t>）经过第一次分裂，产生两个细胞，大的叫作次级卵母细胞（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）和第一极体（</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）。次级卵母细胞再经过一次分裂，也产生两个大小悬殊的细胞，大的叫卵细胞（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），小的叫第二极体（</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）。第一极体跟第二极体一起都退化了。所以每个初级卵母细胞经过减数分裂只产生一个有效的配子</a:t>
            </a:r>
            <a:r>
              <a:rPr lang="en-US" altLang="zh-CN" b="1" dirty="0">
                <a:latin typeface="黑体" panose="02010609060101010101" pitchFamily="49" charset="-122"/>
                <a:ea typeface="黑体" panose="02010609060101010101" pitchFamily="49" charset="-122"/>
                <a:cs typeface="Times New Roman" panose="02020603050405020304" pitchFamily="18" charset="0"/>
              </a:rPr>
              <a:t>——</a:t>
            </a:r>
            <a:r>
              <a:rPr lang="zh-CN" altLang="en-US" b="1" dirty="0">
                <a:latin typeface="黑体" panose="02010609060101010101" pitchFamily="49" charset="-122"/>
                <a:ea typeface="黑体" panose="02010609060101010101" pitchFamily="49" charset="-122"/>
                <a:cs typeface="Times New Roman" panose="02020603050405020304" pitchFamily="18" charset="0"/>
              </a:rPr>
              <a:t>卵细胞（</a:t>
            </a:r>
            <a:r>
              <a:rPr lang="en-US" altLang="zh-CN" b="1" dirty="0">
                <a:latin typeface="黑体" panose="02010609060101010101" pitchFamily="49" charset="-122"/>
                <a:ea typeface="黑体" panose="02010609060101010101" pitchFamily="49" charset="-122"/>
                <a:cs typeface="Times New Roman" panose="02020603050405020304" pitchFamily="18" charset="0"/>
              </a:rPr>
              <a:t>n</a:t>
            </a:r>
            <a:r>
              <a:rPr lang="zh-CN" altLang="en-US" b="1" dirty="0">
                <a:latin typeface="黑体" panose="02010609060101010101" pitchFamily="49" charset="-122"/>
                <a:ea typeface="黑体" panose="02010609060101010101" pitchFamily="49" charset="-122"/>
                <a:cs typeface="Times New Roman" panose="02020603050405020304" pitchFamily="18" charset="0"/>
              </a:rPr>
              <a:t>）。</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a:p>
            <a:pPr lvl="1">
              <a:lnSpc>
                <a:spcPct val="150000"/>
              </a:lnSpc>
            </a:pPr>
            <a:r>
              <a:rPr lang="zh-CN" altLang="en-US" b="1" dirty="0">
                <a:latin typeface="黑体" panose="02010609060101010101" pitchFamily="49" charset="-122"/>
                <a:ea typeface="黑体" panose="02010609060101010101" pitchFamily="49" charset="-122"/>
                <a:cs typeface="Times New Roman" panose="02020603050405020304" pitchFamily="18" charset="0"/>
              </a:rPr>
              <a:t>在受精时，精子进入卵细胞内，使卵细胞成为受精卵，也就是合子。合子经过有丝分裂而产生下一代个体的全身细胞，这些细胞也都是二倍体细胞。 </a:t>
            </a:r>
          </a:p>
        </p:txBody>
      </p:sp>
      <p:sp>
        <p:nvSpPr>
          <p:cNvPr id="6" name="灯片编号占位符 2">
            <a:extLst>
              <a:ext uri="{FF2B5EF4-FFF2-40B4-BE49-F238E27FC236}">
                <a16:creationId xmlns:a16="http://schemas.microsoft.com/office/drawing/2014/main" id="{9C0D5B19-1E49-4E0A-AB13-A961B71002D9}"/>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67</a:t>
            </a:fld>
            <a:endParaRPr lang="zh-CN" altLang="en-US" dirty="0"/>
          </a:p>
        </p:txBody>
      </p:sp>
      <p:sp>
        <p:nvSpPr>
          <p:cNvPr id="8" name="Rectangle 2">
            <a:extLst>
              <a:ext uri="{FF2B5EF4-FFF2-40B4-BE49-F238E27FC236}">
                <a16:creationId xmlns:a16="http://schemas.microsoft.com/office/drawing/2014/main" id="{7BC833CB-352B-BC09-ECC9-163AE846F685}"/>
              </a:ext>
            </a:extLst>
          </p:cNvPr>
          <p:cNvSpPr>
            <a:spLocks noGrp="1" noRot="1" noChangeArrowheads="1"/>
          </p:cNvSpPr>
          <p:nvPr>
            <p:ph type="title"/>
          </p:nvPr>
        </p:nvSpPr>
        <p:spPr>
          <a:xfrm>
            <a:off x="275414" y="-236578"/>
            <a:ext cx="10515600" cy="1325563"/>
          </a:xfrm>
        </p:spPr>
        <p:txBody>
          <a:bodyPr>
            <a:normAutofit/>
          </a:bodyPr>
          <a:lstStyle/>
          <a:p>
            <a:r>
              <a:rPr lang="en-US" altLang="zh-CN" sz="3600" b="1" dirty="0">
                <a:solidFill>
                  <a:srgbClr val="0000FF"/>
                </a:solidFill>
                <a:latin typeface="黑体" panose="02010609060101010101" pitchFamily="49" charset="-122"/>
                <a:ea typeface="黑体" panose="02010609060101010101" pitchFamily="49" charset="-122"/>
              </a:rPr>
              <a:t>1.</a:t>
            </a:r>
            <a:r>
              <a:rPr lang="zh-CN" altLang="en-US" sz="3600" b="1" dirty="0">
                <a:solidFill>
                  <a:srgbClr val="0000FF"/>
                </a:solidFill>
                <a:latin typeface="黑体" panose="02010609060101010101" pitchFamily="49" charset="-122"/>
                <a:ea typeface="黑体" panose="02010609060101010101" pitchFamily="49" charset="-122"/>
              </a:rPr>
              <a:t>动物的生活史 </a:t>
            </a:r>
          </a:p>
        </p:txBody>
      </p:sp>
    </p:spTree>
    <p:extLst>
      <p:ext uri="{BB962C8B-B14F-4D97-AF65-F5344CB8AC3E}">
        <p14:creationId xmlns:p14="http://schemas.microsoft.com/office/powerpoint/2010/main" val="23244491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A751D6C-6D00-4B5A-9F8B-13D11F19BEA7}"/>
              </a:ext>
            </a:extLst>
          </p:cNvPr>
          <p:cNvPicPr>
            <a:picLocks noGrp="1" noChangeAspect="1"/>
          </p:cNvPicPr>
          <p:nvPr>
            <p:ph idx="1"/>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669262" y="225847"/>
            <a:ext cx="7922003" cy="6406306"/>
          </a:xfrm>
        </p:spPr>
      </p:pic>
      <p:sp>
        <p:nvSpPr>
          <p:cNvPr id="8" name="文本框 7">
            <a:extLst>
              <a:ext uri="{FF2B5EF4-FFF2-40B4-BE49-F238E27FC236}">
                <a16:creationId xmlns:a16="http://schemas.microsoft.com/office/drawing/2014/main" id="{BEBA411C-C16B-4236-9881-B703C12200E9}"/>
              </a:ext>
            </a:extLst>
          </p:cNvPr>
          <p:cNvSpPr txBox="1"/>
          <p:nvPr/>
        </p:nvSpPr>
        <p:spPr>
          <a:xfrm>
            <a:off x="10010365" y="1556116"/>
            <a:ext cx="1920797" cy="707886"/>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sz="2000" b="1" dirty="0">
                <a:solidFill>
                  <a:srgbClr val="FF0000"/>
                </a:solidFill>
                <a:latin typeface="黑体" panose="02010609060101010101" pitchFamily="49" charset="-122"/>
                <a:ea typeface="黑体" panose="02010609060101010101" pitchFamily="49" charset="-122"/>
              </a:rPr>
              <a:t>动物生活史（以家蚕为例）</a:t>
            </a:r>
          </a:p>
        </p:txBody>
      </p:sp>
      <p:sp>
        <p:nvSpPr>
          <p:cNvPr id="5" name="灯片编号占位符 2">
            <a:extLst>
              <a:ext uri="{FF2B5EF4-FFF2-40B4-BE49-F238E27FC236}">
                <a16:creationId xmlns:a16="http://schemas.microsoft.com/office/drawing/2014/main" id="{1E83689C-79D8-45B3-B938-38C203B2F217}"/>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68</a:t>
            </a:fld>
            <a:endParaRPr lang="zh-CN" altLang="en-US" dirty="0"/>
          </a:p>
        </p:txBody>
      </p:sp>
    </p:spTree>
    <p:extLst>
      <p:ext uri="{BB962C8B-B14F-4D97-AF65-F5344CB8AC3E}">
        <p14:creationId xmlns:p14="http://schemas.microsoft.com/office/powerpoint/2010/main" val="15347103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C242616-27EE-474B-B359-7BA453D76390}"/>
              </a:ext>
            </a:extLst>
          </p:cNvPr>
          <p:cNvPicPr>
            <a:picLocks noChangeAspect="1"/>
          </p:cNvPicPr>
          <p:nvPr/>
        </p:nvPicPr>
        <p:blipFill>
          <a:blip r:embed="rId3"/>
          <a:stretch>
            <a:fillRect/>
          </a:stretch>
        </p:blipFill>
        <p:spPr>
          <a:xfrm>
            <a:off x="393836" y="733771"/>
            <a:ext cx="5031548" cy="4356705"/>
          </a:xfrm>
          <a:prstGeom prst="rect">
            <a:avLst/>
          </a:prstGeom>
        </p:spPr>
      </p:pic>
      <p:sp>
        <p:nvSpPr>
          <p:cNvPr id="4" name="文本框 3">
            <a:extLst>
              <a:ext uri="{FF2B5EF4-FFF2-40B4-BE49-F238E27FC236}">
                <a16:creationId xmlns:a16="http://schemas.microsoft.com/office/drawing/2014/main" id="{E0211DEB-5CD6-4235-A852-4B28FFDEF59D}"/>
              </a:ext>
            </a:extLst>
          </p:cNvPr>
          <p:cNvSpPr txBox="1"/>
          <p:nvPr/>
        </p:nvSpPr>
        <p:spPr>
          <a:xfrm>
            <a:off x="393836" y="5480843"/>
            <a:ext cx="5031548" cy="461665"/>
          </a:xfrm>
          <a:prstGeom prst="rect">
            <a:avLst/>
          </a:prstGeom>
          <a:noFill/>
        </p:spPr>
        <p:txBody>
          <a:bodyPr wrap="square">
            <a:spAutoFit/>
          </a:bodyPr>
          <a:lstStyle/>
          <a:p>
            <a:r>
              <a:rPr lang="en-US" altLang="zh-CN" sz="1200" b="1" dirty="0">
                <a:latin typeface="黑体" panose="02010609060101010101" pitchFamily="49" charset="-122"/>
                <a:ea typeface="黑体" panose="02010609060101010101" pitchFamily="49" charset="-122"/>
                <a:cs typeface="Times New Roman" panose="02020603050405020304" pitchFamily="18" charset="0"/>
              </a:rPr>
              <a:t>(</a:t>
            </a:r>
            <a:r>
              <a:rPr lang="zh-CN" altLang="en-US" sz="1200" b="1" dirty="0">
                <a:latin typeface="黑体" panose="02010609060101010101" pitchFamily="49" charset="-122"/>
                <a:ea typeface="黑体" panose="02010609060101010101" pitchFamily="49" charset="-122"/>
                <a:cs typeface="Times New Roman" panose="02020603050405020304" pitchFamily="18" charset="0"/>
              </a:rPr>
              <a:t>引自</a:t>
            </a:r>
            <a:r>
              <a:rPr lang="en-US" altLang="zh-CN" sz="1200" b="1" dirty="0">
                <a:latin typeface="黑体" panose="02010609060101010101" pitchFamily="49" charset="-122"/>
                <a:ea typeface="黑体" panose="02010609060101010101" pitchFamily="49" charset="-122"/>
                <a:cs typeface="Times New Roman" panose="02020603050405020304" pitchFamily="18" charset="0"/>
              </a:rPr>
              <a:t>Mihajlovic A I,</a:t>
            </a:r>
            <a:r>
              <a:rPr lang="zh-CN" altLang="en-US" sz="1200" b="1" dirty="0">
                <a:latin typeface="黑体" panose="02010609060101010101" pitchFamily="49" charset="-122"/>
                <a:ea typeface="黑体" panose="02010609060101010101" pitchFamily="49" charset="-122"/>
                <a:cs typeface="Times New Roman" panose="02020603050405020304" pitchFamily="18" charset="0"/>
              </a:rPr>
              <a:t> </a:t>
            </a:r>
            <a:r>
              <a:rPr lang="en-US" altLang="zh-CN" sz="1200" b="1" dirty="0">
                <a:latin typeface="黑体" panose="02010609060101010101" pitchFamily="49" charset="-122"/>
                <a:ea typeface="黑体" panose="02010609060101010101" pitchFamily="49" charset="-122"/>
                <a:cs typeface="Times New Roman" panose="02020603050405020304" pitchFamily="18" charset="0"/>
              </a:rPr>
              <a:t>et al. Segregating Chromosomes in the Mammalian Oocyte. </a:t>
            </a:r>
            <a:r>
              <a:rPr lang="en-US" altLang="zh-CN" sz="1200" b="1" i="1" dirty="0" err="1">
                <a:latin typeface="黑体" panose="02010609060101010101" pitchFamily="49" charset="-122"/>
                <a:ea typeface="黑体" panose="02010609060101010101" pitchFamily="49" charset="-122"/>
                <a:cs typeface="Times New Roman" panose="02020603050405020304" pitchFamily="18" charset="0"/>
              </a:rPr>
              <a:t>Curr</a:t>
            </a:r>
            <a:r>
              <a:rPr lang="en-US" altLang="zh-CN" sz="1200" b="1" i="1" dirty="0">
                <a:latin typeface="黑体" panose="02010609060101010101" pitchFamily="49" charset="-122"/>
                <a:ea typeface="黑体" panose="02010609060101010101" pitchFamily="49" charset="-122"/>
                <a:cs typeface="Times New Roman" panose="02020603050405020304" pitchFamily="18" charset="0"/>
              </a:rPr>
              <a:t> Biol</a:t>
            </a:r>
            <a:r>
              <a:rPr lang="en-US" altLang="zh-CN" sz="1200" b="1" dirty="0">
                <a:latin typeface="黑体" panose="02010609060101010101" pitchFamily="49" charset="-122"/>
                <a:ea typeface="黑体" panose="02010609060101010101" pitchFamily="49" charset="-122"/>
                <a:cs typeface="Times New Roman" panose="02020603050405020304" pitchFamily="18" charset="0"/>
              </a:rPr>
              <a:t>, 2018.)</a:t>
            </a:r>
            <a:endParaRPr lang="zh-CN" altLang="en-US" sz="1200" b="1"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2F91273C-5786-44D1-9005-E12F75E9B994}"/>
              </a:ext>
            </a:extLst>
          </p:cNvPr>
          <p:cNvPicPr>
            <a:picLocks noChangeAspect="1"/>
          </p:cNvPicPr>
          <p:nvPr/>
        </p:nvPicPr>
        <p:blipFill>
          <a:blip r:embed="rId4"/>
          <a:stretch>
            <a:fillRect/>
          </a:stretch>
        </p:blipFill>
        <p:spPr>
          <a:xfrm>
            <a:off x="5628322" y="733770"/>
            <a:ext cx="6265987" cy="4356704"/>
          </a:xfrm>
          <a:prstGeom prst="rect">
            <a:avLst/>
          </a:prstGeom>
        </p:spPr>
      </p:pic>
      <p:sp>
        <p:nvSpPr>
          <p:cNvPr id="6" name="文本框 5">
            <a:extLst>
              <a:ext uri="{FF2B5EF4-FFF2-40B4-BE49-F238E27FC236}">
                <a16:creationId xmlns:a16="http://schemas.microsoft.com/office/drawing/2014/main" id="{C3A27D69-E8C5-435F-91B1-51893BFEEBBF}"/>
              </a:ext>
            </a:extLst>
          </p:cNvPr>
          <p:cNvSpPr txBox="1"/>
          <p:nvPr/>
        </p:nvSpPr>
        <p:spPr>
          <a:xfrm>
            <a:off x="832025" y="5131771"/>
            <a:ext cx="4155170" cy="307777"/>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b="1" dirty="0">
                <a:solidFill>
                  <a:schemeClr val="tx1"/>
                </a:solidFill>
                <a:latin typeface="黑体" panose="02010609060101010101" pitchFamily="49" charset="-122"/>
                <a:ea typeface="黑体" panose="02010609060101010101" pitchFamily="49" charset="-122"/>
              </a:rPr>
              <a:t>　人类卵细胞及卵泡的发育成熟过程</a:t>
            </a:r>
          </a:p>
        </p:txBody>
      </p:sp>
      <p:sp>
        <p:nvSpPr>
          <p:cNvPr id="7" name="文本框 6">
            <a:extLst>
              <a:ext uri="{FF2B5EF4-FFF2-40B4-BE49-F238E27FC236}">
                <a16:creationId xmlns:a16="http://schemas.microsoft.com/office/drawing/2014/main" id="{C1531A28-B6D2-4BCB-8F72-A5982E4CD8C6}"/>
              </a:ext>
            </a:extLst>
          </p:cNvPr>
          <p:cNvSpPr txBox="1"/>
          <p:nvPr/>
        </p:nvSpPr>
        <p:spPr>
          <a:xfrm>
            <a:off x="6423691" y="5131771"/>
            <a:ext cx="4155170" cy="307777"/>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b="1" dirty="0">
                <a:solidFill>
                  <a:schemeClr val="tx1"/>
                </a:solidFill>
                <a:latin typeface="黑体" panose="02010609060101010101" pitchFamily="49" charset="-122"/>
                <a:ea typeface="黑体" panose="02010609060101010101" pitchFamily="49" charset="-122"/>
              </a:rPr>
              <a:t>　人类精细胞的发育成熟过程</a:t>
            </a:r>
          </a:p>
        </p:txBody>
      </p:sp>
      <p:sp>
        <p:nvSpPr>
          <p:cNvPr id="9" name="文本框 8">
            <a:extLst>
              <a:ext uri="{FF2B5EF4-FFF2-40B4-BE49-F238E27FC236}">
                <a16:creationId xmlns:a16="http://schemas.microsoft.com/office/drawing/2014/main" id="{A0A8AE0A-6552-488C-A687-FB7DED1753D0}"/>
              </a:ext>
            </a:extLst>
          </p:cNvPr>
          <p:cNvSpPr txBox="1"/>
          <p:nvPr/>
        </p:nvSpPr>
        <p:spPr>
          <a:xfrm>
            <a:off x="5972537" y="5480843"/>
            <a:ext cx="5825627" cy="461665"/>
          </a:xfrm>
          <a:prstGeom prst="rect">
            <a:avLst/>
          </a:prstGeom>
          <a:noFill/>
        </p:spPr>
        <p:txBody>
          <a:bodyPr wrap="square">
            <a:spAutoFit/>
          </a:bodyPr>
          <a:lstStyle>
            <a:defPPr>
              <a:defRPr lang="zh-CN"/>
            </a:defPPr>
            <a:lvl1pPr>
              <a:defRPr sz="1200">
                <a:solidFill>
                  <a:prstClr val="black"/>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引自</a:t>
            </a:r>
            <a:r>
              <a:rPr lang="en-US" altLang="zh-CN" b="1" dirty="0" err="1">
                <a:solidFill>
                  <a:schemeClr val="tx1"/>
                </a:solidFill>
                <a:latin typeface="黑体" panose="02010609060101010101" pitchFamily="49" charset="-122"/>
                <a:ea typeface="黑体" panose="02010609060101010101" pitchFamily="49" charset="-122"/>
              </a:rPr>
              <a:t>Gassei</a:t>
            </a:r>
            <a:r>
              <a:rPr lang="en-US" altLang="zh-CN" b="1" dirty="0">
                <a:solidFill>
                  <a:schemeClr val="tx1"/>
                </a:solidFill>
                <a:latin typeface="黑体" panose="02010609060101010101" pitchFamily="49" charset="-122"/>
                <a:ea typeface="黑体" panose="02010609060101010101" pitchFamily="49" charset="-122"/>
              </a:rPr>
              <a:t> K,</a:t>
            </a: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et al. Experimental methods to preserve male fertility and treat male factor infertility. </a:t>
            </a:r>
            <a:r>
              <a:rPr lang="en-US" altLang="zh-CN" b="1" i="1" dirty="0">
                <a:solidFill>
                  <a:schemeClr val="tx1"/>
                </a:solidFill>
                <a:latin typeface="黑体" panose="02010609060101010101" pitchFamily="49" charset="-122"/>
                <a:ea typeface="黑体" panose="02010609060101010101" pitchFamily="49" charset="-122"/>
              </a:rPr>
              <a:t>Fertility and Sterility</a:t>
            </a:r>
            <a:r>
              <a:rPr lang="en-US" altLang="zh-CN" b="1" dirty="0">
                <a:solidFill>
                  <a:schemeClr val="tx1"/>
                </a:solidFill>
                <a:latin typeface="黑体" panose="02010609060101010101" pitchFamily="49" charset="-122"/>
                <a:ea typeface="黑体" panose="02010609060101010101" pitchFamily="49" charset="-122"/>
              </a:rPr>
              <a:t>, 2016.)</a:t>
            </a:r>
            <a:endParaRPr lang="zh-CN" altLang="en-US" b="1" dirty="0">
              <a:solidFill>
                <a:schemeClr val="tx1"/>
              </a:solidFill>
              <a:latin typeface="黑体" panose="02010609060101010101" pitchFamily="49" charset="-122"/>
              <a:ea typeface="黑体" panose="02010609060101010101" pitchFamily="49" charset="-122"/>
            </a:endParaRPr>
          </a:p>
        </p:txBody>
      </p:sp>
      <p:sp>
        <p:nvSpPr>
          <p:cNvPr id="8" name="灯片编号占位符 2">
            <a:extLst>
              <a:ext uri="{FF2B5EF4-FFF2-40B4-BE49-F238E27FC236}">
                <a16:creationId xmlns:a16="http://schemas.microsoft.com/office/drawing/2014/main" id="{7BC738E1-F93F-44FB-89E0-9C3E2E548B7A}"/>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b="1">
                <a:latin typeface="黑体" panose="02010609060101010101" pitchFamily="49" charset="-122"/>
                <a:ea typeface="黑体" panose="02010609060101010101" pitchFamily="49" charset="-122"/>
              </a:rPr>
              <a:pPr/>
              <a:t>69</a:t>
            </a:fld>
            <a:endParaRPr lang="zh-CN" altLang="en-US"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24101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7DC9789-D39F-425B-9D5C-DFA80883E3D2}"/>
              </a:ext>
            </a:extLst>
          </p:cNvPr>
          <p:cNvSpPr>
            <a:spLocks noGrp="1"/>
          </p:cNvSpPr>
          <p:nvPr>
            <p:ph idx="1"/>
          </p:nvPr>
        </p:nvSpPr>
        <p:spPr>
          <a:xfrm>
            <a:off x="4908248" y="408762"/>
            <a:ext cx="7283751" cy="5422412"/>
          </a:xfrm>
        </p:spPr>
        <p:txBody>
          <a:bodyPr>
            <a:normAutofit/>
          </a:bodyPr>
          <a:lstStyle/>
          <a:p>
            <a:pPr lvl="1">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原始生殖细胞（</a:t>
            </a:r>
            <a:r>
              <a:rPr lang="en-US" altLang="zh-CN" b="1" dirty="0">
                <a:latin typeface="黑体" panose="02010609060101010101" pitchFamily="49" charset="-122"/>
                <a:ea typeface="黑体" panose="02010609060101010101" pitchFamily="49" charset="-122"/>
              </a:rPr>
              <a:t>PGC</a:t>
            </a:r>
            <a:r>
              <a:rPr lang="zh-CN" altLang="en-US" b="1" dirty="0">
                <a:latin typeface="黑体" panose="02010609060101010101" pitchFamily="49" charset="-122"/>
                <a:ea typeface="黑体" panose="02010609060101010101" pitchFamily="49" charset="-122"/>
              </a:rPr>
              <a:t>）可进一步分化形成卵原细胞或精原细胞。</a:t>
            </a:r>
            <a:endParaRPr lang="en-US" altLang="zh-CN" b="1" dirty="0">
              <a:latin typeface="黑体" panose="02010609060101010101" pitchFamily="49" charset="-122"/>
              <a:ea typeface="黑体" panose="02010609060101010101" pitchFamily="49" charset="-122"/>
            </a:endParaRPr>
          </a:p>
          <a:p>
            <a:pPr lvl="1">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一个健康成年男性，从精原干细胞发育至精子的全过程为 </a:t>
            </a:r>
            <a:r>
              <a:rPr lang="en-US" altLang="zh-CN" b="1" dirty="0">
                <a:latin typeface="黑体" panose="02010609060101010101" pitchFamily="49" charset="-122"/>
                <a:ea typeface="黑体" panose="02010609060101010101" pitchFamily="49" charset="-122"/>
              </a:rPr>
              <a:t>48</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64 </a:t>
            </a:r>
            <a:r>
              <a:rPr lang="zh-CN" altLang="en-US" b="1" dirty="0">
                <a:latin typeface="黑体" panose="02010609060101010101" pitchFamily="49" charset="-122"/>
                <a:ea typeface="黑体" panose="02010609060101010101" pitchFamily="49" charset="-122"/>
              </a:rPr>
              <a:t>天，且每天可以产生</a:t>
            </a:r>
            <a:r>
              <a:rPr lang="en-US" altLang="zh-CN" b="1" dirty="0">
                <a:latin typeface="黑体" panose="02010609060101010101" pitchFamily="49" charset="-122"/>
                <a:ea typeface="黑体" panose="02010609060101010101" pitchFamily="49" charset="-122"/>
              </a:rPr>
              <a:t>0.45 </a:t>
            </a:r>
            <a:r>
              <a:rPr lang="zh-CN" altLang="en-US" b="1" dirty="0">
                <a:latin typeface="黑体" panose="02010609060101010101" pitchFamily="49" charset="-122"/>
                <a:ea typeface="黑体" panose="02010609060101010101" pitchFamily="49" charset="-122"/>
              </a:rPr>
              <a:t>亿～</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亿个成熟精子。</a:t>
            </a:r>
            <a:endParaRPr lang="en-US" altLang="zh-CN" b="1" dirty="0">
              <a:latin typeface="黑体" panose="02010609060101010101" pitchFamily="49" charset="-122"/>
              <a:ea typeface="黑体" panose="02010609060101010101" pitchFamily="49" charset="-122"/>
            </a:endParaRPr>
          </a:p>
          <a:p>
            <a:pPr lvl="1">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对于女性而言，胎儿出生前后，每个初级卵母细胞均被单层扁平上皮细胞包围，形成相互独立的原始卵泡，数量为</a:t>
            </a:r>
            <a:r>
              <a:rPr lang="en-US" altLang="zh-CN" b="1" dirty="0">
                <a:latin typeface="黑体" panose="02010609060101010101" pitchFamily="49" charset="-122"/>
                <a:ea typeface="黑体" panose="02010609060101010101" pitchFamily="49" charset="-122"/>
              </a:rPr>
              <a:t>70</a:t>
            </a:r>
            <a:r>
              <a:rPr lang="zh-CN" altLang="en-US" b="1" dirty="0">
                <a:latin typeface="黑体" panose="02010609060101010101" pitchFamily="49" charset="-122"/>
                <a:ea typeface="黑体" panose="02010609060101010101" pitchFamily="49" charset="-122"/>
              </a:rPr>
              <a:t>万～</a:t>
            </a:r>
            <a:r>
              <a:rPr lang="en-US" altLang="zh-CN" b="1" dirty="0">
                <a:latin typeface="黑体" panose="02010609060101010101" pitchFamily="49" charset="-122"/>
                <a:ea typeface="黑体" panose="02010609060101010101" pitchFamily="49" charset="-122"/>
              </a:rPr>
              <a:t>200</a:t>
            </a:r>
            <a:r>
              <a:rPr lang="zh-CN" altLang="en-US" b="1" dirty="0">
                <a:latin typeface="黑体" panose="02010609060101010101" pitchFamily="49" charset="-122"/>
                <a:ea typeface="黑体" panose="02010609060101010101" pitchFamily="49" charset="-122"/>
              </a:rPr>
              <a:t>万个，它们构成了卵巢的生殖储备池。青春期开始后，每个月有</a:t>
            </a:r>
            <a:r>
              <a:rPr lang="en-US" altLang="zh-CN" b="1" dirty="0">
                <a:latin typeface="黑体" panose="02010609060101010101" pitchFamily="49" charset="-122"/>
                <a:ea typeface="黑体" panose="02010609060101010101" pitchFamily="49" charset="-122"/>
              </a:rPr>
              <a:t>15</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20</a:t>
            </a:r>
            <a:r>
              <a:rPr lang="zh-CN" altLang="en-US" b="1" dirty="0">
                <a:latin typeface="黑体" panose="02010609060101010101" pitchFamily="49" charset="-122"/>
                <a:ea typeface="黑体" panose="02010609060101010101" pitchFamily="49" charset="-122"/>
              </a:rPr>
              <a:t>个原始卵泡被激活，当卵母细胞成功受精后完成减数分裂全过程。</a:t>
            </a:r>
            <a:endParaRPr lang="en-US" altLang="zh-CN" b="1" dirty="0">
              <a:latin typeface="黑体" panose="02010609060101010101" pitchFamily="49" charset="-122"/>
              <a:ea typeface="黑体" panose="02010609060101010101" pitchFamily="49" charset="-122"/>
            </a:endParaRPr>
          </a:p>
          <a:p>
            <a:pPr lvl="1">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人类卵细胞发育的过程非常漫长，且女性一生的排卵数不足</a:t>
            </a:r>
            <a:r>
              <a:rPr lang="en-US" altLang="zh-CN" b="1" dirty="0">
                <a:latin typeface="黑体" panose="02010609060101010101" pitchFamily="49" charset="-122"/>
                <a:ea typeface="黑体" panose="02010609060101010101" pitchFamily="49" charset="-122"/>
              </a:rPr>
              <a:t>500</a:t>
            </a:r>
            <a:r>
              <a:rPr lang="zh-CN" altLang="en-US" b="1" dirty="0">
                <a:latin typeface="黑体" panose="02010609060101010101" pitchFamily="49" charset="-122"/>
                <a:ea typeface="黑体" panose="02010609060101010101" pitchFamily="49" charset="-122"/>
              </a:rPr>
              <a:t>个。</a:t>
            </a:r>
            <a:endParaRPr lang="en-US" altLang="zh-CN" b="1" dirty="0">
              <a:latin typeface="黑体" panose="02010609060101010101" pitchFamily="49" charset="-122"/>
              <a:ea typeface="黑体" panose="02010609060101010101" pitchFamily="49" charset="-122"/>
            </a:endParaRPr>
          </a:p>
          <a:p>
            <a:pPr lvl="1">
              <a:buClrTx/>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卵细胞成功受精后，受精卵经输卵管进入子宫，着床并发育，形成下一代。</a:t>
            </a:r>
            <a:endParaRPr lang="en-US" altLang="zh-CN" b="1" dirty="0">
              <a:latin typeface="黑体" panose="02010609060101010101" pitchFamily="49" charset="-122"/>
              <a:ea typeface="黑体" panose="02010609060101010101" pitchFamily="49" charset="-122"/>
            </a:endParaRPr>
          </a:p>
          <a:p>
            <a:pPr>
              <a:buClrTx/>
              <a:buFont typeface="Wingdings" panose="05000000000000000000" pitchFamily="2" charset="2"/>
              <a:buChar char="Ø"/>
            </a:pPr>
            <a:endParaRPr lang="zh-CN" altLang="en-US" b="1" dirty="0">
              <a:latin typeface="黑体" panose="02010609060101010101" pitchFamily="49" charset="-122"/>
              <a:ea typeface="黑体" panose="02010609060101010101" pitchFamily="49" charset="-122"/>
            </a:endParaRPr>
          </a:p>
        </p:txBody>
      </p:sp>
      <p:pic>
        <p:nvPicPr>
          <p:cNvPr id="4" name="图片 3">
            <a:extLst>
              <a:ext uri="{FF2B5EF4-FFF2-40B4-BE49-F238E27FC236}">
                <a16:creationId xmlns:a16="http://schemas.microsoft.com/office/drawing/2014/main" id="{8174BC42-3AA9-425E-8581-9DAFB92E0CB6}"/>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23174" y="0"/>
            <a:ext cx="4753364" cy="6606960"/>
          </a:xfrm>
          <a:prstGeom prst="rect">
            <a:avLst/>
          </a:prstGeom>
        </p:spPr>
      </p:pic>
      <p:sp>
        <p:nvSpPr>
          <p:cNvPr id="7" name="文本框 6">
            <a:extLst>
              <a:ext uri="{FF2B5EF4-FFF2-40B4-BE49-F238E27FC236}">
                <a16:creationId xmlns:a16="http://schemas.microsoft.com/office/drawing/2014/main" id="{021D8158-36F5-42E3-AB25-460323D75A86}"/>
              </a:ext>
            </a:extLst>
          </p:cNvPr>
          <p:cNvSpPr txBox="1"/>
          <p:nvPr/>
        </p:nvSpPr>
        <p:spPr>
          <a:xfrm>
            <a:off x="754494" y="6606960"/>
            <a:ext cx="4155170" cy="307777"/>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b="1" dirty="0">
                <a:solidFill>
                  <a:schemeClr val="tx1"/>
                </a:solidFill>
                <a:latin typeface="黑体" panose="02010609060101010101" pitchFamily="49" charset="-122"/>
                <a:ea typeface="黑体" panose="02010609060101010101" pitchFamily="49" charset="-122"/>
              </a:rPr>
              <a:t>　人类精子和卵细胞发育的基本过程示意图</a:t>
            </a:r>
          </a:p>
        </p:txBody>
      </p:sp>
      <p:sp>
        <p:nvSpPr>
          <p:cNvPr id="5" name="灯片编号占位符 2">
            <a:extLst>
              <a:ext uri="{FF2B5EF4-FFF2-40B4-BE49-F238E27FC236}">
                <a16:creationId xmlns:a16="http://schemas.microsoft.com/office/drawing/2014/main" id="{3D33C567-E9DC-46D6-B919-613C3B9CA844}"/>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70</a:t>
            </a:fld>
            <a:endParaRPr lang="zh-CN" altLang="en-US" dirty="0"/>
          </a:p>
        </p:txBody>
      </p:sp>
    </p:spTree>
    <p:extLst>
      <p:ext uri="{BB962C8B-B14F-4D97-AF65-F5344CB8AC3E}">
        <p14:creationId xmlns:p14="http://schemas.microsoft.com/office/powerpoint/2010/main" val="5065205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rrowheads="1"/>
          </p:cNvSpPr>
          <p:nvPr>
            <p:ph type="title"/>
          </p:nvPr>
        </p:nvSpPr>
        <p:spPr>
          <a:xfrm>
            <a:off x="438705" y="106532"/>
            <a:ext cx="10515600" cy="953841"/>
          </a:xfrm>
        </p:spPr>
        <p:txBody>
          <a:bodyPr>
            <a:normAutofit/>
          </a:bodyPr>
          <a:lstStyle/>
          <a:p>
            <a:r>
              <a:rPr lang="en-US" altLang="zh-CN" sz="3600" b="1" dirty="0">
                <a:solidFill>
                  <a:srgbClr val="0000FF"/>
                </a:solidFill>
                <a:latin typeface="黑体" panose="02010609060101010101" pitchFamily="49" charset="-122"/>
                <a:ea typeface="黑体" panose="02010609060101010101" pitchFamily="49" charset="-122"/>
              </a:rPr>
              <a:t>2.</a:t>
            </a:r>
            <a:r>
              <a:rPr lang="zh-CN" altLang="en-US" sz="3600" b="1" dirty="0">
                <a:solidFill>
                  <a:srgbClr val="0000FF"/>
                </a:solidFill>
                <a:latin typeface="黑体" panose="02010609060101010101" pitchFamily="49" charset="-122"/>
                <a:ea typeface="黑体" panose="02010609060101010101" pitchFamily="49" charset="-122"/>
              </a:rPr>
              <a:t>植物的生活史 </a:t>
            </a:r>
          </a:p>
        </p:txBody>
      </p:sp>
      <p:sp>
        <p:nvSpPr>
          <p:cNvPr id="69635" name="Rectangle 3"/>
          <p:cNvSpPr>
            <a:spLocks noGrp="1" noRot="1" noChangeArrowheads="1"/>
          </p:cNvSpPr>
          <p:nvPr>
            <p:ph type="body" idx="1"/>
          </p:nvPr>
        </p:nvSpPr>
        <p:spPr>
          <a:xfrm>
            <a:off x="0" y="1060373"/>
            <a:ext cx="5126637" cy="4981099"/>
          </a:xfrm>
        </p:spPr>
        <p:txBody>
          <a:bodyPr>
            <a:normAutofit/>
          </a:bodyPr>
          <a:lstStyle/>
          <a:p>
            <a:pPr marL="0" indent="0" algn="just">
              <a:lnSpc>
                <a:spcPct val="120000"/>
              </a:lnSpc>
              <a:buNone/>
            </a:pPr>
            <a:r>
              <a:rPr lang="en-US" altLang="zh-CN" sz="3200" dirty="0"/>
              <a:t>	</a:t>
            </a:r>
            <a:r>
              <a:rPr lang="zh-CN" altLang="en-US" sz="3200" b="1" dirty="0">
                <a:latin typeface="黑体" panose="02010609060101010101" pitchFamily="49" charset="-122"/>
                <a:ea typeface="黑体" panose="02010609060101010101" pitchFamily="49" charset="-122"/>
              </a:rPr>
              <a:t>植物的大部分生活史也是处在二倍体阶段，叫</a:t>
            </a:r>
            <a:r>
              <a:rPr lang="zh-CN" altLang="en-US" sz="3200" b="1" dirty="0">
                <a:solidFill>
                  <a:srgbClr val="0000FF"/>
                </a:solidFill>
                <a:latin typeface="黑体" panose="02010609060101010101" pitchFamily="49" charset="-122"/>
                <a:ea typeface="黑体" panose="02010609060101010101" pitchFamily="49" charset="-122"/>
              </a:rPr>
              <a:t>孢子体</a:t>
            </a:r>
            <a:r>
              <a:rPr lang="en-US" altLang="zh-CN" sz="3200" b="1" dirty="0">
                <a:latin typeface="黑体" panose="02010609060101010101" pitchFamily="49" charset="-122"/>
                <a:ea typeface="黑体" panose="02010609060101010101" pitchFamily="49" charset="-122"/>
              </a:rPr>
              <a:t>(sporophyte)</a:t>
            </a:r>
            <a:r>
              <a:rPr lang="zh-CN" altLang="en-US" sz="3200" b="1" dirty="0">
                <a:latin typeface="黑体" panose="02010609060101010101" pitchFamily="49" charset="-122"/>
                <a:ea typeface="黑体" panose="02010609060101010101" pitchFamily="49" charset="-122"/>
              </a:rPr>
              <a:t>，只有一小部分是在单倍体阶段，叫</a:t>
            </a:r>
            <a:r>
              <a:rPr lang="zh-CN" altLang="en-US" sz="3200" b="1" dirty="0">
                <a:solidFill>
                  <a:srgbClr val="0000FF"/>
                </a:solidFill>
                <a:latin typeface="黑体" panose="02010609060101010101" pitchFamily="49" charset="-122"/>
                <a:ea typeface="黑体" panose="02010609060101010101" pitchFamily="49" charset="-122"/>
              </a:rPr>
              <a:t>配子体</a:t>
            </a:r>
            <a:r>
              <a:rPr lang="en-US" altLang="zh-CN" sz="3200" b="1" dirty="0">
                <a:latin typeface="黑体" panose="02010609060101010101" pitchFamily="49" charset="-122"/>
                <a:ea typeface="黑体" panose="02010609060101010101" pitchFamily="49" charset="-122"/>
              </a:rPr>
              <a:t>(gametophyte)</a:t>
            </a:r>
            <a:r>
              <a:rPr lang="zh-CN" altLang="en-US" sz="3200" b="1" dirty="0">
                <a:latin typeface="黑体" panose="02010609060101010101" pitchFamily="49" charset="-122"/>
                <a:ea typeface="黑体" panose="02010609060101010101" pitchFamily="49" charset="-122"/>
              </a:rPr>
              <a:t>。配子体只是经历极少数的几次有丝分裂。 </a:t>
            </a:r>
          </a:p>
        </p:txBody>
      </p:sp>
      <p:pic>
        <p:nvPicPr>
          <p:cNvPr id="2" name="图片 1">
            <a:extLst>
              <a:ext uri="{FF2B5EF4-FFF2-40B4-BE49-F238E27FC236}">
                <a16:creationId xmlns:a16="http://schemas.microsoft.com/office/drawing/2014/main" id="{53FC632E-D168-4DDA-7407-B6F85801CE3B}"/>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126637" y="106532"/>
            <a:ext cx="7039130" cy="66046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4DAE991-4889-188E-8DDA-7BDBD335136B}"/>
              </a:ext>
            </a:extLst>
          </p:cNvPr>
          <p:cNvPicPr>
            <a:picLocks noChangeAspect="1"/>
          </p:cNvPicPr>
          <p:nvPr/>
        </p:nvPicPr>
        <p:blipFill>
          <a:blip r:embed="rId2"/>
          <a:stretch>
            <a:fillRect/>
          </a:stretch>
        </p:blipFill>
        <p:spPr>
          <a:xfrm>
            <a:off x="421705" y="0"/>
            <a:ext cx="8463987" cy="6858000"/>
          </a:xfrm>
          <a:prstGeom prst="rect">
            <a:avLst/>
          </a:prstGeom>
        </p:spPr>
      </p:pic>
      <p:sp>
        <p:nvSpPr>
          <p:cNvPr id="3" name="文本框 2">
            <a:extLst>
              <a:ext uri="{FF2B5EF4-FFF2-40B4-BE49-F238E27FC236}">
                <a16:creationId xmlns:a16="http://schemas.microsoft.com/office/drawing/2014/main" id="{B87FFB7C-DF26-A090-ED56-081357A64328}"/>
              </a:ext>
            </a:extLst>
          </p:cNvPr>
          <p:cNvSpPr txBox="1"/>
          <p:nvPr/>
        </p:nvSpPr>
        <p:spPr>
          <a:xfrm>
            <a:off x="8885692" y="5590460"/>
            <a:ext cx="3001508" cy="307777"/>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pPr algn="l"/>
            <a:r>
              <a:rPr lang="zh-CN" altLang="en-US" b="1" dirty="0">
                <a:solidFill>
                  <a:schemeClr val="tx1"/>
                </a:solidFill>
              </a:rPr>
              <a:t>植物生活史（以拟南芥为例）</a:t>
            </a:r>
          </a:p>
        </p:txBody>
      </p:sp>
      <p:sp>
        <p:nvSpPr>
          <p:cNvPr id="4" name="文本框 3">
            <a:extLst>
              <a:ext uri="{FF2B5EF4-FFF2-40B4-BE49-F238E27FC236}">
                <a16:creationId xmlns:a16="http://schemas.microsoft.com/office/drawing/2014/main" id="{255C0AAD-8FC3-B341-1E83-128EB45DDE26}"/>
              </a:ext>
            </a:extLst>
          </p:cNvPr>
          <p:cNvSpPr txBox="1"/>
          <p:nvPr/>
        </p:nvSpPr>
        <p:spPr>
          <a:xfrm>
            <a:off x="8885692" y="5916453"/>
            <a:ext cx="3001508" cy="646331"/>
          </a:xfrm>
          <a:prstGeom prst="rect">
            <a:avLst/>
          </a:prstGeom>
          <a:noFill/>
        </p:spPr>
        <p:txBody>
          <a:bodyPr wrap="square">
            <a:spAutoFit/>
          </a:bodyPr>
          <a:lstStyle>
            <a:defPPr>
              <a:defRPr lang="zh-CN"/>
            </a:defPPr>
            <a:lvl1pPr>
              <a:defRPr sz="1200">
                <a:solidFill>
                  <a:prstClr val="black"/>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b="1" dirty="0">
                <a:solidFill>
                  <a:schemeClr val="tx1"/>
                </a:solidFill>
              </a:rPr>
              <a:t>(</a:t>
            </a:r>
            <a:r>
              <a:rPr lang="zh-CN" altLang="en-US" b="1" dirty="0">
                <a:solidFill>
                  <a:schemeClr val="tx1"/>
                </a:solidFill>
              </a:rPr>
              <a:t>引自</a:t>
            </a:r>
            <a:r>
              <a:rPr lang="en-US" altLang="zh-CN" sz="1200" b="1" dirty="0" err="1">
                <a:solidFill>
                  <a:schemeClr val="tx1"/>
                </a:solidFill>
                <a:latin typeface="Calibri" panose="020F0502020204030204" pitchFamily="34" charset="0"/>
                <a:ea typeface="微软雅黑" panose="020B0503020204020204" pitchFamily="34" charset="-122"/>
              </a:rPr>
              <a:t>Snustad</a:t>
            </a:r>
            <a:r>
              <a:rPr lang="en-US" altLang="zh-CN" sz="1200" b="1" dirty="0">
                <a:solidFill>
                  <a:schemeClr val="tx1"/>
                </a:solidFill>
                <a:latin typeface="Calibri" panose="020F0502020204030204" pitchFamily="34" charset="0"/>
                <a:ea typeface="微软雅黑" panose="020B0503020204020204" pitchFamily="34" charset="-122"/>
              </a:rPr>
              <a:t> D P</a:t>
            </a:r>
            <a:r>
              <a:rPr lang="en-US" altLang="zh-CN" b="1" dirty="0">
                <a:solidFill>
                  <a:schemeClr val="tx1"/>
                </a:solidFill>
                <a:latin typeface="Calibri" panose="020F0502020204030204" pitchFamily="34" charset="0"/>
              </a:rPr>
              <a:t>,</a:t>
            </a:r>
            <a:r>
              <a:rPr lang="zh-CN" altLang="en-US" b="1" dirty="0">
                <a:solidFill>
                  <a:schemeClr val="tx1"/>
                </a:solidFill>
                <a:latin typeface="Calibri" panose="020F0502020204030204" pitchFamily="34" charset="0"/>
              </a:rPr>
              <a:t> </a:t>
            </a:r>
            <a:r>
              <a:rPr lang="en-US" altLang="zh-CN" b="1" dirty="0">
                <a:solidFill>
                  <a:schemeClr val="tx1"/>
                </a:solidFill>
                <a:latin typeface="Calibri" panose="020F0502020204030204" pitchFamily="34" charset="0"/>
              </a:rPr>
              <a:t>et</a:t>
            </a:r>
            <a:r>
              <a:rPr lang="zh-CN" altLang="en-US" b="1" dirty="0">
                <a:solidFill>
                  <a:schemeClr val="tx1"/>
                </a:solidFill>
                <a:latin typeface="Calibri" panose="020F0502020204030204" pitchFamily="34" charset="0"/>
              </a:rPr>
              <a:t> </a:t>
            </a:r>
            <a:r>
              <a:rPr lang="en-US" altLang="zh-CN" b="1" dirty="0">
                <a:solidFill>
                  <a:schemeClr val="tx1"/>
                </a:solidFill>
                <a:latin typeface="Calibri" panose="020F0502020204030204" pitchFamily="34" charset="0"/>
              </a:rPr>
              <a:t>al</a:t>
            </a:r>
            <a:r>
              <a:rPr lang="en-US" altLang="zh-CN" sz="1200" b="1" dirty="0">
                <a:solidFill>
                  <a:schemeClr val="tx1"/>
                </a:solidFill>
                <a:latin typeface="Calibri" panose="020F0502020204030204" pitchFamily="34" charset="0"/>
                <a:ea typeface="微软雅黑" panose="020B0503020204020204" pitchFamily="34" charset="-122"/>
              </a:rPr>
              <a:t>. </a:t>
            </a:r>
            <a:r>
              <a:rPr lang="en-US" altLang="zh-CN" sz="1200" b="1" i="1" dirty="0">
                <a:solidFill>
                  <a:schemeClr val="tx1"/>
                </a:solidFill>
                <a:latin typeface="Calibri" panose="020F0502020204030204" pitchFamily="34" charset="0"/>
                <a:ea typeface="微软雅黑" panose="020B0503020204020204" pitchFamily="34" charset="-122"/>
              </a:rPr>
              <a:t>Principles of Genetics </a:t>
            </a:r>
            <a:r>
              <a:rPr lang="en-US" altLang="zh-CN" sz="1200" b="1" dirty="0">
                <a:solidFill>
                  <a:schemeClr val="tx1"/>
                </a:solidFill>
                <a:latin typeface="Calibri" panose="020F0502020204030204" pitchFamily="34" charset="0"/>
                <a:ea typeface="微软雅黑" panose="020B0503020204020204" pitchFamily="34" charset="-122"/>
              </a:rPr>
              <a:t>6</a:t>
            </a:r>
            <a:r>
              <a:rPr lang="en-US" altLang="zh-CN" sz="1200" b="1" baseline="30000" dirty="0">
                <a:solidFill>
                  <a:schemeClr val="tx1"/>
                </a:solidFill>
                <a:latin typeface="Calibri" panose="020F0502020204030204" pitchFamily="34" charset="0"/>
                <a:ea typeface="微软雅黑" panose="020B0503020204020204" pitchFamily="34" charset="-122"/>
              </a:rPr>
              <a:t>th</a:t>
            </a:r>
            <a:r>
              <a:rPr lang="en-US" altLang="zh-CN" sz="1200" b="1" dirty="0">
                <a:solidFill>
                  <a:schemeClr val="tx1"/>
                </a:solidFill>
                <a:latin typeface="Calibri" panose="020F0502020204030204" pitchFamily="34" charset="0"/>
                <a:ea typeface="微软雅黑" panose="020B0503020204020204" pitchFamily="34" charset="-122"/>
              </a:rPr>
              <a:t> edition. John Wiley &amp; Sons, Inc. 2012)</a:t>
            </a:r>
            <a:endParaRPr lang="zh-CN" altLang="en-US" b="1" dirty="0">
              <a:solidFill>
                <a:schemeClr val="tx1"/>
              </a:solidFill>
            </a:endParaRPr>
          </a:p>
        </p:txBody>
      </p:sp>
    </p:spTree>
    <p:extLst>
      <p:ext uri="{BB962C8B-B14F-4D97-AF65-F5344CB8AC3E}">
        <p14:creationId xmlns:p14="http://schemas.microsoft.com/office/powerpoint/2010/main" val="35659398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1026"/>
          <p:cNvSpPr>
            <a:spLocks noGrp="1" noChangeArrowheads="1"/>
          </p:cNvSpPr>
          <p:nvPr>
            <p:ph type="title"/>
          </p:nvPr>
        </p:nvSpPr>
        <p:spPr bwMode="auto">
          <a:xfrm>
            <a:off x="0" y="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457200" indent="-457200">
              <a:buFont typeface="Arial" pitchFamily="34" charset="0"/>
              <a:buChar char="•"/>
            </a:pPr>
            <a:r>
              <a:rPr lang="zh-CN" altLang="en-US" sz="3200" b="1" dirty="0">
                <a:solidFill>
                  <a:srgbClr val="0000FF"/>
                </a:solidFill>
                <a:latin typeface="黑体" panose="02010609060101010101" pitchFamily="49" charset="-122"/>
                <a:ea typeface="黑体" panose="02010609060101010101" pitchFamily="49" charset="-122"/>
              </a:rPr>
              <a:t>雄配子体的形成</a:t>
            </a:r>
          </a:p>
        </p:txBody>
      </p:sp>
      <p:sp>
        <p:nvSpPr>
          <p:cNvPr id="109572" name="Rectangle 1027"/>
          <p:cNvSpPr>
            <a:spLocks noGrp="1" noChangeArrowheads="1"/>
          </p:cNvSpPr>
          <p:nvPr>
            <p:ph idx="1"/>
          </p:nvPr>
        </p:nvSpPr>
        <p:spPr bwMode="auto">
          <a:xfrm>
            <a:off x="1397000" y="590551"/>
            <a:ext cx="9144000" cy="1981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a:bodyPr>
          <a:lstStyle/>
          <a:p>
            <a:pPr marL="0" indent="0">
              <a:buNone/>
            </a:pPr>
            <a:r>
              <a:rPr lang="zh-CN" altLang="en-US" b="1" dirty="0"/>
              <a:t>    雄蕊中的花药  </a:t>
            </a:r>
            <a:r>
              <a:rPr lang="zh-CN" altLang="en-US" sz="2000" b="1" dirty="0">
                <a:solidFill>
                  <a:srgbClr val="0000FF"/>
                </a:solidFill>
              </a:rPr>
              <a:t>分化</a:t>
            </a:r>
            <a:r>
              <a:rPr lang="zh-CN" altLang="en-US" b="1" dirty="0"/>
              <a:t>   孢原细胞   </a:t>
            </a:r>
            <a:r>
              <a:rPr lang="zh-CN" altLang="en-US" sz="2000" b="1" dirty="0">
                <a:solidFill>
                  <a:srgbClr val="0000FF"/>
                </a:solidFill>
              </a:rPr>
              <a:t>分化</a:t>
            </a:r>
            <a:r>
              <a:rPr lang="zh-CN" altLang="en-US" b="1" dirty="0"/>
              <a:t>  花粉母细胞（小孢子母细胞）</a:t>
            </a:r>
            <a:r>
              <a:rPr lang="zh-CN" altLang="en-US" sz="2000" b="1" dirty="0">
                <a:solidFill>
                  <a:srgbClr val="0000FF"/>
                </a:solidFill>
              </a:rPr>
              <a:t>减数分裂</a:t>
            </a:r>
            <a:r>
              <a:rPr lang="zh-CN" altLang="en-US" b="1" dirty="0"/>
              <a:t>  四分孢子（由胼胝质壁分隔） </a:t>
            </a:r>
            <a:r>
              <a:rPr lang="zh-CN" altLang="en-US" sz="2000" b="1" dirty="0">
                <a:solidFill>
                  <a:srgbClr val="0000FF"/>
                </a:solidFill>
              </a:rPr>
              <a:t>发育</a:t>
            </a:r>
            <a:r>
              <a:rPr lang="zh-CN" altLang="en-US" b="1" dirty="0"/>
              <a:t>  4个</a:t>
            </a:r>
          </a:p>
          <a:p>
            <a:pPr marL="0" indent="0">
              <a:buNone/>
            </a:pPr>
            <a:r>
              <a:rPr lang="zh-CN" altLang="en-US" b="1" dirty="0"/>
              <a:t>                        </a:t>
            </a:r>
            <a:r>
              <a:rPr lang="zh-CN" altLang="en-US" b="1" dirty="0">
                <a:latin typeface="宋体" panose="02010600030101010101" pitchFamily="2" charset="-122"/>
              </a:rPr>
              <a:t>1个营</a:t>
            </a:r>
            <a:r>
              <a:rPr lang="zh-CN" altLang="en-US" b="1" dirty="0"/>
              <a:t>养核</a:t>
            </a:r>
            <a:endParaRPr lang="en-US" altLang="zh-CN" b="1" dirty="0"/>
          </a:p>
          <a:p>
            <a:pPr marL="0" indent="0">
              <a:buNone/>
            </a:pPr>
            <a:r>
              <a:rPr lang="zh-CN" altLang="en-US" b="1" dirty="0"/>
              <a:t>小孢子 </a:t>
            </a:r>
            <a:r>
              <a:rPr lang="zh-CN" altLang="en-US" sz="2000" b="1" dirty="0">
                <a:solidFill>
                  <a:srgbClr val="0000FF"/>
                </a:solidFill>
              </a:rPr>
              <a:t>有丝分裂</a:t>
            </a:r>
            <a:r>
              <a:rPr lang="zh-CN" altLang="en-US" sz="2000" b="1" dirty="0"/>
              <a:t>   </a:t>
            </a:r>
            <a:r>
              <a:rPr lang="zh-CN" altLang="en-US" b="1" dirty="0">
                <a:latin typeface="宋体" panose="02010600030101010101" pitchFamily="2" charset="-122"/>
              </a:rPr>
              <a:t>1个生殖细胞 </a:t>
            </a:r>
            <a:r>
              <a:rPr lang="zh-CN" altLang="en-US" sz="2000" b="1" dirty="0">
                <a:solidFill>
                  <a:srgbClr val="0000FF"/>
                </a:solidFill>
              </a:rPr>
              <a:t>有丝分裂</a:t>
            </a:r>
            <a:r>
              <a:rPr lang="zh-CN" altLang="en-US" sz="2000" b="1" dirty="0"/>
              <a:t>  </a:t>
            </a:r>
            <a:r>
              <a:rPr lang="en-US" altLang="zh-CN" b="1" dirty="0"/>
              <a:t>2</a:t>
            </a:r>
            <a:r>
              <a:rPr lang="zh-CN" altLang="en-US" b="1" dirty="0"/>
              <a:t>个精细胞   花粉粒</a:t>
            </a:r>
          </a:p>
        </p:txBody>
      </p:sp>
      <p:sp>
        <p:nvSpPr>
          <p:cNvPr id="109573" name="Line 1028"/>
          <p:cNvSpPr>
            <a:spLocks noChangeShapeType="1"/>
          </p:cNvSpPr>
          <p:nvPr/>
        </p:nvSpPr>
        <p:spPr bwMode="auto">
          <a:xfrm>
            <a:off x="3911600" y="914400"/>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4" name="Line 1029"/>
          <p:cNvSpPr>
            <a:spLocks noChangeShapeType="1"/>
          </p:cNvSpPr>
          <p:nvPr/>
        </p:nvSpPr>
        <p:spPr bwMode="auto">
          <a:xfrm>
            <a:off x="6197600" y="914400"/>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5" name="Line 1030"/>
          <p:cNvSpPr>
            <a:spLocks noChangeShapeType="1"/>
          </p:cNvSpPr>
          <p:nvPr/>
        </p:nvSpPr>
        <p:spPr bwMode="auto">
          <a:xfrm>
            <a:off x="2400300" y="1356591"/>
            <a:ext cx="1295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6" name="Line 1031"/>
          <p:cNvSpPr>
            <a:spLocks noChangeShapeType="1"/>
          </p:cNvSpPr>
          <p:nvPr/>
        </p:nvSpPr>
        <p:spPr bwMode="auto">
          <a:xfrm flipV="1">
            <a:off x="7961745" y="1280391"/>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7" name="Line 1033"/>
          <p:cNvSpPr>
            <a:spLocks noChangeShapeType="1"/>
          </p:cNvSpPr>
          <p:nvPr/>
        </p:nvSpPr>
        <p:spPr bwMode="auto">
          <a:xfrm>
            <a:off x="2552700" y="2280806"/>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8" name="Line 1035"/>
          <p:cNvSpPr>
            <a:spLocks noChangeShapeType="1"/>
          </p:cNvSpPr>
          <p:nvPr/>
        </p:nvSpPr>
        <p:spPr bwMode="auto">
          <a:xfrm flipV="1">
            <a:off x="5761182" y="2280806"/>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79" name="AutoShape 1036"/>
          <p:cNvSpPr/>
          <p:nvPr/>
        </p:nvSpPr>
        <p:spPr bwMode="auto">
          <a:xfrm>
            <a:off x="3556000" y="1670051"/>
            <a:ext cx="76200" cy="609600"/>
          </a:xfrm>
          <a:prstGeom prst="leftBrace">
            <a:avLst>
              <a:gd name="adj1" fmla="val 6644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a:endParaRPr lang="zh-CN" altLang="en-US">
              <a:solidFill>
                <a:prstClr val="black"/>
              </a:solidFill>
            </a:endParaRPr>
          </a:p>
        </p:txBody>
      </p:sp>
      <p:sp>
        <p:nvSpPr>
          <p:cNvPr id="109580" name="AutoShape 1037"/>
          <p:cNvSpPr/>
          <p:nvPr/>
        </p:nvSpPr>
        <p:spPr bwMode="auto">
          <a:xfrm>
            <a:off x="8380845" y="1631951"/>
            <a:ext cx="228600" cy="685800"/>
          </a:xfrm>
          <a:prstGeom prst="rightBrace">
            <a:avLst>
              <a:gd name="adj1" fmla="val 25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a:endParaRPr lang="zh-CN" altLang="en-US">
              <a:solidFill>
                <a:prstClr val="black"/>
              </a:solidFill>
            </a:endParaRPr>
          </a:p>
        </p:txBody>
      </p:sp>
      <p:sp>
        <p:nvSpPr>
          <p:cNvPr id="109581" name="Text Box 1039"/>
          <p:cNvSpPr txBox="1">
            <a:spLocks noChangeArrowheads="1"/>
          </p:cNvSpPr>
          <p:nvPr/>
        </p:nvSpPr>
        <p:spPr bwMode="auto">
          <a:xfrm>
            <a:off x="50800" y="2440576"/>
            <a:ext cx="5486400" cy="598488"/>
          </a:xfrm>
          <a:prstGeom prst="rect">
            <a:avLst/>
          </a:prstGeom>
          <a:noFill/>
          <a:ln w="19050">
            <a:no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marL="457200" indent="-457200">
              <a:spcBef>
                <a:spcPct val="50000"/>
              </a:spcBef>
              <a:buFont typeface="Arial" pitchFamily="34" charset="0"/>
              <a:buChar char="•"/>
            </a:pPr>
            <a:r>
              <a:rPr lang="zh-CN" altLang="en-US" sz="3200" dirty="0">
                <a:solidFill>
                  <a:srgbClr val="0000FF"/>
                </a:solidFill>
              </a:rPr>
              <a:t>雌配子体的形成</a:t>
            </a:r>
          </a:p>
        </p:txBody>
      </p:sp>
      <p:sp>
        <p:nvSpPr>
          <p:cNvPr id="120846" name="Text Box 1041"/>
          <p:cNvSpPr txBox="1">
            <a:spLocks noChangeArrowheads="1"/>
          </p:cNvSpPr>
          <p:nvPr/>
        </p:nvSpPr>
        <p:spPr bwMode="auto">
          <a:xfrm>
            <a:off x="0" y="3035302"/>
            <a:ext cx="12192000" cy="1566198"/>
          </a:xfrm>
          <a:prstGeom prst="rect">
            <a:avLst/>
          </a:prstGeom>
          <a:ln w="9525">
            <a:noFill/>
            <a:miter lim="800000"/>
          </a:ln>
        </p:spPr>
        <p:style>
          <a:lnRef idx="0">
            <a:scrgbClr r="0" g="0" b="0"/>
          </a:lnRef>
          <a:fillRef idx="1001">
            <a:schemeClr val="lt1"/>
          </a:fillRef>
          <a:effectRef idx="0">
            <a:scrgbClr r="0" g="0" b="0"/>
          </a:effectRef>
          <a:fontRef idx="major"/>
        </p:style>
        <p:txBody>
          <a:bodyPr wrap="square">
            <a:spAutoFit/>
          </a:bodyPr>
          <a:lstStyle/>
          <a:p>
            <a:pPr>
              <a:lnSpc>
                <a:spcPct val="140000"/>
              </a:lnSpc>
              <a:spcBef>
                <a:spcPct val="50000"/>
              </a:spcBef>
              <a:defRPr/>
            </a:pPr>
            <a:r>
              <a:rPr lang="zh-CN" altLang="en-US" sz="2400" b="1" dirty="0">
                <a:solidFill>
                  <a:prstClr val="black"/>
                </a:solidFill>
                <a:latin typeface="黑体" panose="02010609060101010101" pitchFamily="49" charset="-122"/>
                <a:ea typeface="黑体" panose="02010609060101010101" pitchFamily="49" charset="-122"/>
                <a:sym typeface="+mn-ea"/>
              </a:rPr>
              <a:t>    雌蕊子房里着生胚珠，胚珠珠心里分化出大孢子（胚囊）母细胞  </a:t>
            </a:r>
            <a:r>
              <a:rPr lang="zh-CN" altLang="en-US" sz="2400" b="1" dirty="0">
                <a:solidFill>
                  <a:srgbClr val="0000FF"/>
                </a:solidFill>
                <a:latin typeface="黑体" panose="02010609060101010101" pitchFamily="49" charset="-122"/>
                <a:ea typeface="黑体" panose="02010609060101010101" pitchFamily="49" charset="-122"/>
                <a:sym typeface="+mn-ea"/>
              </a:rPr>
              <a:t>减数分裂</a:t>
            </a:r>
            <a:r>
              <a:rPr lang="zh-CN" altLang="en-US" sz="2400" b="1" dirty="0">
                <a:solidFill>
                  <a:srgbClr val="E7E6E6"/>
                </a:solidFill>
                <a:latin typeface="黑体" panose="02010609060101010101" pitchFamily="49" charset="-122"/>
                <a:ea typeface="黑体" panose="02010609060101010101" pitchFamily="49" charset="-122"/>
                <a:sym typeface="+mn-ea"/>
              </a:rPr>
              <a:t>  </a:t>
            </a:r>
            <a:r>
              <a:rPr lang="zh-CN" altLang="en-US" sz="2400" b="1" dirty="0">
                <a:solidFill>
                  <a:prstClr val="black"/>
                </a:solidFill>
                <a:latin typeface="黑体" panose="02010609060101010101" pitchFamily="49" charset="-122"/>
                <a:ea typeface="黑体" panose="02010609060101010101" pitchFamily="49" charset="-122"/>
                <a:sym typeface="+mn-ea"/>
              </a:rPr>
              <a:t>直线排列的4个大孢子（四分孢子），只有远离珠孔的大孢子发育，其余解体 </a:t>
            </a:r>
            <a:r>
              <a:rPr lang="zh-CN" altLang="en-US" sz="2400" b="1" dirty="0">
                <a:solidFill>
                  <a:srgbClr val="0000FF"/>
                </a:solidFill>
                <a:latin typeface="黑体" panose="02010609060101010101" pitchFamily="49" charset="-122"/>
                <a:ea typeface="黑体" panose="02010609060101010101" pitchFamily="49" charset="-122"/>
                <a:sym typeface="+mn-ea"/>
              </a:rPr>
              <a:t>连续三次有丝分裂</a:t>
            </a:r>
            <a:r>
              <a:rPr lang="zh-CN" altLang="en-US" sz="2400" b="1" dirty="0">
                <a:solidFill>
                  <a:srgbClr val="E7E6E6"/>
                </a:solidFill>
                <a:latin typeface="黑体" panose="02010609060101010101" pitchFamily="49" charset="-122"/>
                <a:ea typeface="黑体" panose="02010609060101010101" pitchFamily="49" charset="-122"/>
                <a:sym typeface="+mn-ea"/>
              </a:rPr>
              <a:t>  </a:t>
            </a:r>
            <a:r>
              <a:rPr lang="zh-CN" altLang="en-US" sz="2400" b="1" dirty="0">
                <a:solidFill>
                  <a:prstClr val="black"/>
                </a:solidFill>
                <a:latin typeface="黑体" panose="02010609060101010101" pitchFamily="49" charset="-122"/>
                <a:ea typeface="黑体" panose="02010609060101010101" pitchFamily="49" charset="-122"/>
                <a:sym typeface="+mn-ea"/>
              </a:rPr>
              <a:t>形成胚囊（7细胞8核，包括3个反足细胞，2个助细胞，2个极核组成一个细胞，1个卵细胞）</a:t>
            </a:r>
          </a:p>
        </p:txBody>
      </p:sp>
      <p:sp>
        <p:nvSpPr>
          <p:cNvPr id="109583" name="Line 1046"/>
          <p:cNvSpPr>
            <a:spLocks noChangeShapeType="1"/>
          </p:cNvSpPr>
          <p:nvPr/>
        </p:nvSpPr>
        <p:spPr bwMode="auto">
          <a:xfrm flipV="1">
            <a:off x="9413480" y="3482111"/>
            <a:ext cx="1708132" cy="1154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09584" name="Line 1047"/>
          <p:cNvSpPr>
            <a:spLocks noChangeShapeType="1"/>
          </p:cNvSpPr>
          <p:nvPr/>
        </p:nvSpPr>
        <p:spPr bwMode="auto">
          <a:xfrm>
            <a:off x="9413481" y="4045250"/>
            <a:ext cx="265152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solidFill>
                <a:prstClr val="black"/>
              </a:solidFill>
            </a:endParaRPr>
          </a:p>
        </p:txBody>
      </p:sp>
      <p:sp>
        <p:nvSpPr>
          <p:cNvPr id="16" name="Rectangle 3"/>
          <p:cNvSpPr txBox="1">
            <a:spLocks noRot="1" noChangeArrowheads="1"/>
          </p:cNvSpPr>
          <p:nvPr/>
        </p:nvSpPr>
        <p:spPr>
          <a:xfrm>
            <a:off x="50800" y="5040772"/>
            <a:ext cx="12192000" cy="1643527"/>
          </a:xfrm>
          <a:prstGeom prst="rect">
            <a:avLst/>
          </a:prstGeom>
          <a:ln w="9525">
            <a:noFill/>
            <a:miter lim="800000"/>
          </a:ln>
        </p:spPr>
        <p:style>
          <a:lnRef idx="0">
            <a:scrgbClr r="0" g="0" b="0"/>
          </a:lnRef>
          <a:fillRef idx="1001">
            <a:schemeClr val="lt1"/>
          </a:fillRef>
          <a:effectRef idx="0">
            <a:scrgbClr r="0" g="0" b="0"/>
          </a:effectRef>
          <a:fontRef idx="major"/>
        </p:style>
        <p:txBody>
          <a:bodyPr wrap="square">
            <a:spAutoFit/>
          </a:bodyPr>
          <a:lstStyle>
            <a:defPPr>
              <a:defRPr lang="zh-CN"/>
            </a:defPPr>
            <a:lvl1pPr>
              <a:lnSpc>
                <a:spcPct val="140000"/>
              </a:lnSpc>
              <a:spcBef>
                <a:spcPct val="50000"/>
              </a:spcBef>
              <a:defRPr sz="2400" b="1">
                <a:solidFill>
                  <a:prstClr val="black"/>
                </a:solidFill>
                <a:latin typeface="黑体" panose="02010609060101010101" pitchFamily="49" charset="-122"/>
                <a:ea typeface="黑体" panose="02010609060101010101" pitchFamily="49" charset="-122"/>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zh-CN" dirty="0"/>
              <a:t>    </a:t>
            </a:r>
            <a:r>
              <a:rPr lang="zh-CN" altLang="en-US" dirty="0"/>
              <a:t>授粉后，花粉管沿着花柱长到胚囊，在那里，一个雄核跟卵核结合，产生二倍体核</a:t>
            </a:r>
            <a:r>
              <a:rPr lang="en-US" altLang="zh-CN" dirty="0"/>
              <a:t>(2n)</a:t>
            </a:r>
            <a:r>
              <a:rPr lang="zh-CN" altLang="en-US" dirty="0"/>
              <a:t>，发育成胚，另一雄核跟两个极核结合，产生三倍体</a:t>
            </a:r>
            <a:r>
              <a:rPr lang="en-US" altLang="zh-CN" dirty="0"/>
              <a:t>(3n)</a:t>
            </a:r>
            <a:r>
              <a:rPr lang="zh-CN" altLang="en-US" dirty="0"/>
              <a:t>的胚乳。胚和胚乳合在一起构成种子，种子萌芽，长成新的植株。 </a:t>
            </a:r>
          </a:p>
        </p:txBody>
      </p:sp>
      <p:sp>
        <p:nvSpPr>
          <p:cNvPr id="17" name="Text Box 1039"/>
          <p:cNvSpPr txBox="1">
            <a:spLocks noChangeArrowheads="1"/>
          </p:cNvSpPr>
          <p:nvPr/>
        </p:nvSpPr>
        <p:spPr bwMode="auto">
          <a:xfrm>
            <a:off x="50800" y="4601500"/>
            <a:ext cx="5486400" cy="598488"/>
          </a:xfrm>
          <a:prstGeom prst="rect">
            <a:avLst/>
          </a:prstGeom>
          <a:noFill/>
          <a:ln w="19050">
            <a:no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marL="457200" indent="-457200">
              <a:spcBef>
                <a:spcPct val="50000"/>
              </a:spcBef>
              <a:buFont typeface="Arial" pitchFamily="34" charset="0"/>
              <a:buChar char="•"/>
            </a:pPr>
            <a:r>
              <a:rPr lang="zh-CN" altLang="en-US" sz="3200" dirty="0">
                <a:solidFill>
                  <a:srgbClr val="0000FF"/>
                </a:solidFill>
              </a:rPr>
              <a:t>授粉（受精）</a:t>
            </a:r>
          </a:p>
        </p:txBody>
      </p:sp>
    </p:spTree>
    <p:extLst>
      <p:ext uri="{BB962C8B-B14F-4D97-AF65-F5344CB8AC3E}">
        <p14:creationId xmlns:p14="http://schemas.microsoft.com/office/powerpoint/2010/main" val="30737349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20" name="Picture 4" descr="2_18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64704" y="0"/>
            <a:ext cx="9303296" cy="66350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矩形 1"/>
          <p:cNvSpPr/>
          <p:nvPr/>
        </p:nvSpPr>
        <p:spPr>
          <a:xfrm>
            <a:off x="6736177" y="6230752"/>
            <a:ext cx="3417903" cy="461665"/>
          </a:xfrm>
          <a:prstGeom prst="rect">
            <a:avLst/>
          </a:prstGeom>
        </p:spPr>
        <p:txBody>
          <a:bodyPr wrap="square">
            <a:spAutoFit/>
          </a:bodyPr>
          <a:lstStyle/>
          <a:p>
            <a:r>
              <a:rPr lang="zh-CN" altLang="en-US" sz="2400" b="1" dirty="0">
                <a:solidFill>
                  <a:srgbClr val="0000FF"/>
                </a:solidFill>
                <a:latin typeface="黑体" panose="02010609060101010101" pitchFamily="49" charset="-122"/>
                <a:ea typeface="黑体" panose="02010609060101010101" pitchFamily="49" charset="-122"/>
              </a:rPr>
              <a:t>植物的染色体周史</a:t>
            </a:r>
            <a:endParaRPr lang="zh-CN" alt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AE2D549-D60E-4188-9F12-B715FE82D836}"/>
              </a:ext>
            </a:extLst>
          </p:cNvPr>
          <p:cNvPicPr>
            <a:picLocks noChangeAspect="1"/>
          </p:cNvPicPr>
          <p:nvPr/>
        </p:nvPicPr>
        <p:blipFill rotWithShape="1">
          <a:blip r:embed="rId3"/>
          <a:srcRect t="6140"/>
          <a:stretch/>
        </p:blipFill>
        <p:spPr>
          <a:xfrm>
            <a:off x="1394417" y="558866"/>
            <a:ext cx="9221922" cy="6335711"/>
          </a:xfrm>
          <a:prstGeom prst="rect">
            <a:avLst/>
          </a:prstGeom>
        </p:spPr>
      </p:pic>
      <p:sp>
        <p:nvSpPr>
          <p:cNvPr id="4" name="灯片编号占位符 2">
            <a:extLst>
              <a:ext uri="{FF2B5EF4-FFF2-40B4-BE49-F238E27FC236}">
                <a16:creationId xmlns:a16="http://schemas.microsoft.com/office/drawing/2014/main" id="{F59EEB67-3976-4152-ADDF-F775747EEE43}"/>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75</a:t>
            </a:fld>
            <a:endParaRPr lang="zh-CN" altLang="en-US" dirty="0"/>
          </a:p>
        </p:txBody>
      </p:sp>
      <p:sp>
        <p:nvSpPr>
          <p:cNvPr id="3" name="矩形 2"/>
          <p:cNvSpPr/>
          <p:nvPr/>
        </p:nvSpPr>
        <p:spPr>
          <a:xfrm>
            <a:off x="776259" y="208002"/>
            <a:ext cx="5678157" cy="701731"/>
          </a:xfrm>
          <a:prstGeom prst="rect">
            <a:avLst/>
          </a:prstGeom>
        </p:spPr>
        <p:txBody>
          <a:bodyPr vert="horz" lIns="91440" tIns="45720" rIns="91440" bIns="45720" rtlCol="0" anchor="ctr">
            <a:normAutofit/>
          </a:bodyPr>
          <a:lstStyle/>
          <a:p>
            <a:pPr>
              <a:lnSpc>
                <a:spcPct val="90000"/>
              </a:lnSpc>
              <a:spcBef>
                <a:spcPct val="0"/>
              </a:spcBef>
            </a:pPr>
            <a:endParaRPr lang="zh-CN" altLang="en-US" sz="4400" dirty="0">
              <a:latin typeface="+mj-lt"/>
              <a:ea typeface="+mj-ea"/>
              <a:cs typeface="+mj-cs"/>
            </a:endParaRPr>
          </a:p>
        </p:txBody>
      </p:sp>
      <p:sp>
        <p:nvSpPr>
          <p:cNvPr id="6" name="矩形 5"/>
          <p:cNvSpPr/>
          <p:nvPr/>
        </p:nvSpPr>
        <p:spPr>
          <a:xfrm>
            <a:off x="0" y="-58631"/>
            <a:ext cx="5678157" cy="701731"/>
          </a:xfrm>
          <a:prstGeom prst="rect">
            <a:avLst/>
          </a:prstGeom>
        </p:spPr>
        <p:txBody>
          <a:bodyPr vert="horz" lIns="91440" tIns="45720" rIns="91440" bIns="45720" rtlCol="0" anchor="ctr">
            <a:normAutofit/>
          </a:bodyPr>
          <a:lstStyle/>
          <a:p>
            <a:pPr>
              <a:lnSpc>
                <a:spcPct val="90000"/>
              </a:lnSpc>
              <a:spcBef>
                <a:spcPct val="0"/>
              </a:spcBef>
            </a:pPr>
            <a:r>
              <a:rPr lang="en-US" altLang="zh-CN" sz="3600" b="1" dirty="0">
                <a:solidFill>
                  <a:srgbClr val="0000FF"/>
                </a:solidFill>
                <a:latin typeface="黑体" panose="02010609060101010101" pitchFamily="49" charset="-122"/>
                <a:ea typeface="黑体" panose="02010609060101010101" pitchFamily="49" charset="-122"/>
                <a:cs typeface="+mj-cs"/>
              </a:rPr>
              <a:t>3.</a:t>
            </a:r>
            <a:r>
              <a:rPr lang="zh-CN" altLang="en-US" sz="3600" b="1" dirty="0">
                <a:solidFill>
                  <a:srgbClr val="0000FF"/>
                </a:solidFill>
                <a:latin typeface="黑体" panose="02010609060101010101" pitchFamily="49" charset="-122"/>
                <a:ea typeface="黑体" panose="02010609060101010101" pitchFamily="49" charset="-122"/>
                <a:cs typeface="+mj-cs"/>
              </a:rPr>
              <a:t>动植物生活史的比较</a:t>
            </a:r>
          </a:p>
        </p:txBody>
      </p:sp>
    </p:spTree>
    <p:extLst>
      <p:ext uri="{BB962C8B-B14F-4D97-AF65-F5344CB8AC3E}">
        <p14:creationId xmlns:p14="http://schemas.microsoft.com/office/powerpoint/2010/main" val="6662794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rrowheads="1"/>
          </p:cNvSpPr>
          <p:nvPr>
            <p:ph type="title"/>
          </p:nvPr>
        </p:nvSpPr>
        <p:spPr>
          <a:xfrm>
            <a:off x="367683" y="125428"/>
            <a:ext cx="10515600" cy="726828"/>
          </a:xfrm>
        </p:spPr>
        <p:txBody>
          <a:bodyPr/>
          <a:lstStyle/>
          <a:p>
            <a:r>
              <a:rPr lang="en-US" altLang="zh-CN" dirty="0"/>
              <a:t> </a:t>
            </a:r>
            <a:r>
              <a:rPr lang="en-US" altLang="zh-CN" sz="3600" b="1" dirty="0">
                <a:solidFill>
                  <a:srgbClr val="0000FF"/>
                </a:solidFill>
                <a:latin typeface="黑体" panose="02010609060101010101" pitchFamily="49" charset="-122"/>
                <a:ea typeface="黑体" panose="02010609060101010101" pitchFamily="49" charset="-122"/>
              </a:rPr>
              <a:t>4.</a:t>
            </a:r>
            <a:r>
              <a:rPr lang="zh-CN" altLang="en-US" sz="3600" b="1" dirty="0">
                <a:solidFill>
                  <a:srgbClr val="0000FF"/>
                </a:solidFill>
                <a:latin typeface="黑体" panose="02010609060101010101" pitchFamily="49" charset="-122"/>
                <a:ea typeface="黑体" panose="02010609060101010101" pitchFamily="49" charset="-122"/>
              </a:rPr>
              <a:t>真菌类的生活史 </a:t>
            </a:r>
            <a:endParaRPr lang="zh-CN" altLang="en-US" b="1" dirty="0">
              <a:solidFill>
                <a:srgbClr val="0000FF"/>
              </a:solidFill>
              <a:latin typeface="黑体" panose="02010609060101010101" pitchFamily="49" charset="-122"/>
              <a:ea typeface="黑体" panose="02010609060101010101" pitchFamily="49" charset="-122"/>
            </a:endParaRPr>
          </a:p>
        </p:txBody>
      </p:sp>
      <p:sp>
        <p:nvSpPr>
          <p:cNvPr id="73731" name="Rectangle 3"/>
          <p:cNvSpPr>
            <a:spLocks noGrp="1" noRot="1" noChangeArrowheads="1"/>
          </p:cNvSpPr>
          <p:nvPr>
            <p:ph type="body" idx="1"/>
          </p:nvPr>
        </p:nvSpPr>
        <p:spPr>
          <a:xfrm>
            <a:off x="0" y="852256"/>
            <a:ext cx="6509657" cy="5570315"/>
          </a:xfrm>
        </p:spPr>
        <p:txBody>
          <a:bodyPr>
            <a:normAutofit fontScale="70000" lnSpcReduction="20000"/>
          </a:bodyPr>
          <a:lstStyle/>
          <a:p>
            <a:pPr marL="0" indent="0" algn="just">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真菌的生活史是单倍体世代占优势，二倍体世代时间较短。</a:t>
            </a:r>
            <a:endParaRPr lang="en-US" altLang="zh-CN" b="1" dirty="0">
              <a:solidFill>
                <a:srgbClr val="0000FF"/>
              </a:solidFill>
              <a:latin typeface="黑体" panose="02010609060101010101" pitchFamily="49" charset="-122"/>
              <a:ea typeface="黑体" panose="02010609060101010101" pitchFamily="49" charset="-122"/>
            </a:endParaRPr>
          </a:p>
          <a:p>
            <a:pPr marL="0" indent="0" algn="just">
              <a:lnSpc>
                <a:spcPct val="120000"/>
              </a:lnSpc>
              <a:buNone/>
            </a:pPr>
            <a:r>
              <a:rPr lang="zh-CN" altLang="en-US" b="1" dirty="0">
                <a:latin typeface="黑体" panose="02010609060101010101" pitchFamily="49" charset="-122"/>
                <a:ea typeface="黑体" panose="02010609060101010101" pitchFamily="49" charset="-122"/>
              </a:rPr>
              <a:t>链孢霉</a:t>
            </a:r>
            <a:r>
              <a:rPr lang="en-US" altLang="zh-CN" b="1" dirty="0">
                <a:latin typeface="黑体" panose="02010609060101010101" pitchFamily="49" charset="-122"/>
                <a:ea typeface="黑体" panose="02010609060101010101" pitchFamily="49" charset="-122"/>
              </a:rPr>
              <a:t>(</a:t>
            </a:r>
            <a:r>
              <a:rPr lang="en-US" altLang="zh-CN" b="1" i="1" dirty="0">
                <a:latin typeface="黑体" panose="02010609060101010101" pitchFamily="49" charset="-122"/>
                <a:ea typeface="黑体" panose="02010609060101010101" pitchFamily="49" charset="-122"/>
              </a:rPr>
              <a:t>Neurospora </a:t>
            </a:r>
            <a:r>
              <a:rPr lang="en-US" altLang="zh-CN" b="1" i="1" dirty="0" err="1">
                <a:latin typeface="黑体" panose="02010609060101010101" pitchFamily="49" charset="-122"/>
                <a:ea typeface="黑体" panose="02010609060101010101" pitchFamily="49" charset="-122"/>
              </a:rPr>
              <a:t>crassa</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有两种繁殖方式：</a:t>
            </a:r>
            <a:endParaRPr lang="en-US" altLang="zh-CN" b="1" dirty="0">
              <a:latin typeface="黑体" panose="02010609060101010101" pitchFamily="49" charset="-122"/>
              <a:ea typeface="黑体" panose="02010609060101010101" pitchFamily="49" charset="-122"/>
            </a:endParaRPr>
          </a:p>
          <a:p>
            <a:pPr marL="0" indent="0" algn="just">
              <a:lnSpc>
                <a:spcPct val="120000"/>
              </a:lnSpc>
              <a:buNone/>
            </a:pPr>
            <a:r>
              <a:rPr lang="zh-CN" altLang="en-US" b="1" dirty="0">
                <a:solidFill>
                  <a:srgbClr val="0000FF"/>
                </a:solidFill>
                <a:latin typeface="黑体" panose="02010609060101010101" pitchFamily="49" charset="-122"/>
                <a:ea typeface="黑体" panose="02010609060101010101" pitchFamily="49" charset="-122"/>
              </a:rPr>
              <a:t>    一种是无性繁殖</a:t>
            </a:r>
            <a:r>
              <a:rPr lang="zh-CN" altLang="en-US" b="1" dirty="0">
                <a:latin typeface="黑体" panose="02010609060101010101" pitchFamily="49" charset="-122"/>
                <a:ea typeface="黑体" panose="02010609060101010101" pitchFamily="49" charset="-122"/>
              </a:rPr>
              <a:t>，当无性孢子</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或菌丝落在营养物上，孢子萌发，菌丝生长形成菌丝体</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0" indent="0" algn="just">
              <a:lnSpc>
                <a:spcPct val="120000"/>
              </a:lnSpc>
              <a:buNone/>
            </a:pPr>
            <a:r>
              <a:rPr lang="zh-CN" altLang="en-US" b="1" dirty="0">
                <a:solidFill>
                  <a:srgbClr val="0000FF"/>
                </a:solidFill>
                <a:latin typeface="黑体" panose="02010609060101010101" pitchFamily="49" charset="-122"/>
                <a:ea typeface="黑体" panose="02010609060101010101" pitchFamily="49" charset="-122"/>
              </a:rPr>
              <a:t>    一种是有性繁殖</a:t>
            </a:r>
            <a:r>
              <a:rPr lang="zh-CN" altLang="en-US" b="1" dirty="0">
                <a:latin typeface="黑体" panose="02010609060101010101" pitchFamily="49" charset="-122"/>
                <a:ea typeface="黑体" panose="02010609060101010101" pitchFamily="49" charset="-122"/>
              </a:rPr>
              <a:t>，需要两个不同交配型</a:t>
            </a:r>
            <a:r>
              <a:rPr lang="en-US" altLang="zh-CN" b="1" dirty="0">
                <a:latin typeface="黑体" panose="02010609060101010101" pitchFamily="49" charset="-122"/>
                <a:ea typeface="黑体" panose="02010609060101010101" pitchFamily="49" charset="-122"/>
              </a:rPr>
              <a:t>(mating types)</a:t>
            </a:r>
            <a:r>
              <a:rPr lang="zh-CN" altLang="en-US" b="1" dirty="0">
                <a:latin typeface="黑体" panose="02010609060101010101" pitchFamily="49" charset="-122"/>
                <a:ea typeface="黑体" panose="02010609060101010101" pitchFamily="49" charset="-122"/>
              </a:rPr>
              <a:t>的菌丝体参与，一个交配型的单倍体核</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通过另一相对交配型的子实体的受精丝，进入子实体中，核融合形成</a:t>
            </a:r>
            <a:r>
              <a:rPr lang="en-US" altLang="zh-CN" b="1" dirty="0">
                <a:latin typeface="黑体" panose="02010609060101010101" pitchFamily="49" charset="-122"/>
                <a:ea typeface="黑体" panose="02010609060101010101" pitchFamily="49" charset="-122"/>
              </a:rPr>
              <a:t>2n</a:t>
            </a:r>
            <a:r>
              <a:rPr lang="zh-CN" altLang="en-US" b="1" dirty="0">
                <a:latin typeface="黑体" panose="02010609060101010101" pitchFamily="49" charset="-122"/>
                <a:ea typeface="黑体" panose="02010609060101010101" pitchFamily="49" charset="-122"/>
              </a:rPr>
              <a:t>核</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脉孢霉只有在这个短暂时间内是二倍体世代</a:t>
            </a:r>
            <a:r>
              <a:rPr lang="zh-CN" altLang="en-US" b="1" dirty="0">
                <a:latin typeface="黑体" panose="02010609060101010101" pitchFamily="49" charset="-122"/>
                <a:ea typeface="黑体" panose="02010609060101010101" pitchFamily="49" charset="-122"/>
              </a:rPr>
              <a:t>。随后每个二倍体核很快进行减数分裂，</a:t>
            </a:r>
            <a:r>
              <a:rPr lang="zh-CN" altLang="en-US" b="1" dirty="0">
                <a:solidFill>
                  <a:srgbClr val="FF0000"/>
                </a:solidFill>
                <a:latin typeface="黑体" panose="02010609060101010101" pitchFamily="49" charset="-122"/>
                <a:ea typeface="黑体" panose="02010609060101010101" pitchFamily="49" charset="-122"/>
              </a:rPr>
              <a:t>产生四个单倍体核</a:t>
            </a:r>
            <a:r>
              <a:rPr lang="en-US" altLang="zh-CN" b="1" dirty="0">
                <a:solidFill>
                  <a:srgbClr val="FF0000"/>
                </a:solidFill>
                <a:latin typeface="黑体" panose="02010609060101010101" pitchFamily="49" charset="-122"/>
                <a:ea typeface="黑体" panose="02010609060101010101" pitchFamily="49" charset="-122"/>
              </a:rPr>
              <a:t>(n)</a:t>
            </a:r>
            <a:r>
              <a:rPr lang="zh-CN" altLang="en-US" b="1" dirty="0">
                <a:solidFill>
                  <a:srgbClr val="FF0000"/>
                </a:solidFill>
                <a:latin typeface="黑体" panose="02010609060101010101" pitchFamily="49" charset="-122"/>
                <a:ea typeface="黑体" panose="02010609060101010101" pitchFamily="49" charset="-122"/>
              </a:rPr>
              <a:t>，再经过一次有丝分裂，出现了八个核</a:t>
            </a:r>
            <a:r>
              <a:rPr lang="en-US" altLang="zh-CN" b="1" dirty="0">
                <a:solidFill>
                  <a:srgbClr val="FF0000"/>
                </a:solidFill>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。最后这些核成为子囊孢子，顺序地排列在一个子囊中，所以一个子囊中的八个孢子是单一减数分裂的产物。子囊孢子在适宜环境中萌发，通过连续的有丝分裂，产生新的菌丝体。 </a:t>
            </a:r>
          </a:p>
        </p:txBody>
      </p:sp>
      <p:pic>
        <p:nvPicPr>
          <p:cNvPr id="5" name="图片 4">
            <a:extLst>
              <a:ext uri="{FF2B5EF4-FFF2-40B4-BE49-F238E27FC236}">
                <a16:creationId xmlns:a16="http://schemas.microsoft.com/office/drawing/2014/main" id="{0FE63BD0-F514-4462-942F-9F1092A4DE13}"/>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410338" y="352972"/>
            <a:ext cx="5781661" cy="550932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1027"/>
          <p:cNvSpPr>
            <a:spLocks noGrp="1" noChangeArrowheads="1"/>
          </p:cNvSpPr>
          <p:nvPr>
            <p:ph idx="1"/>
          </p:nvPr>
        </p:nvSpPr>
        <p:spPr bwMode="auto">
          <a:xfrm>
            <a:off x="0" y="725219"/>
            <a:ext cx="12192000" cy="292149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fontScale="92500" lnSpcReduction="20000"/>
          </a:bodyPr>
          <a:lstStyle/>
          <a:p>
            <a:pPr>
              <a:lnSpc>
                <a:spcPct val="130000"/>
              </a:lnSpc>
              <a:buClr>
                <a:srgbClr val="FF9900"/>
              </a:buClr>
              <a:buFont typeface="Wingdings" pitchFamily="2" charset="2"/>
              <a:buChar char="Ø"/>
            </a:pPr>
            <a:r>
              <a:rPr lang="zh-CN" altLang="en-US" b="1" dirty="0">
                <a:solidFill>
                  <a:srgbClr val="0000FF"/>
                </a:solidFill>
                <a:latin typeface="黑体" panose="02010609060101010101" pitchFamily="49" charset="-122"/>
                <a:ea typeface="黑体" panose="02010609060101010101" pitchFamily="49" charset="-122"/>
              </a:rPr>
              <a:t>生物的生殖方式</a:t>
            </a:r>
            <a:r>
              <a:rPr lang="zh-CN" altLang="en-US" b="1" dirty="0">
                <a:latin typeface="黑体" panose="02010609060101010101" pitchFamily="49" charset="-122"/>
                <a:ea typeface="黑体" panose="02010609060101010101" pitchFamily="49" charset="-122"/>
              </a:rPr>
              <a:t>可分为</a:t>
            </a:r>
            <a:r>
              <a:rPr lang="zh-CN" altLang="en-US" b="1" dirty="0">
                <a:solidFill>
                  <a:srgbClr val="FF0000"/>
                </a:solidFill>
                <a:latin typeface="黑体" panose="02010609060101010101" pitchFamily="49" charset="-122"/>
                <a:ea typeface="黑体" panose="02010609060101010101" pitchFamily="49" charset="-122"/>
              </a:rPr>
              <a:t>无性生殖</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asexual reproduction）</a:t>
            </a:r>
            <a:r>
              <a:rPr lang="zh-CN" altLang="en-US" b="1" dirty="0">
                <a:latin typeface="黑体" panose="02010609060101010101" pitchFamily="49" charset="-122"/>
                <a:ea typeface="黑体" panose="02010609060101010101" pitchFamily="49" charset="-122"/>
              </a:rPr>
              <a:t>和</a:t>
            </a:r>
            <a:r>
              <a:rPr lang="zh-CN" altLang="en-US" b="1" dirty="0">
                <a:solidFill>
                  <a:srgbClr val="FF0000"/>
                </a:solidFill>
                <a:latin typeface="黑体" panose="02010609060101010101" pitchFamily="49" charset="-122"/>
                <a:ea typeface="黑体" panose="02010609060101010101" pitchFamily="49" charset="-122"/>
              </a:rPr>
              <a:t>有性生殖</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sexual reproduction）</a:t>
            </a:r>
            <a:r>
              <a:rPr lang="zh-CN" altLang="en-US" b="1" dirty="0">
                <a:latin typeface="黑体" panose="02010609060101010101" pitchFamily="49" charset="-122"/>
                <a:ea typeface="黑体" panose="02010609060101010101" pitchFamily="49" charset="-122"/>
              </a:rPr>
              <a:t>两种。</a:t>
            </a:r>
          </a:p>
          <a:p>
            <a:pPr marL="87630" indent="-87630">
              <a:lnSpc>
                <a:spcPct val="130000"/>
              </a:lnSpc>
              <a:buClr>
                <a:srgbClr val="FF9900"/>
              </a:buClr>
              <a:buNone/>
            </a:pPr>
            <a:r>
              <a:rPr lang="zh-CN" altLang="en-US" b="1" dirty="0">
                <a:solidFill>
                  <a:srgbClr val="FF0000"/>
                </a:solidFill>
                <a:latin typeface="黑体" panose="02010609060101010101" pitchFamily="49" charset="-122"/>
                <a:ea typeface="黑体" panose="02010609060101010101" pitchFamily="49" charset="-122"/>
              </a:rPr>
              <a:t>无性生殖</a:t>
            </a:r>
            <a:r>
              <a:rPr lang="zh-CN" altLang="en-US" b="1" dirty="0">
                <a:latin typeface="黑体" panose="02010609060101010101" pitchFamily="49" charset="-122"/>
                <a:ea typeface="黑体" panose="02010609060101010101" pitchFamily="49" charset="-122"/>
              </a:rPr>
              <a:t>—通过亲本营养体的分割而产生后代，又称为营养体生殖。如利用根、茎、芽、枝条等进行的繁殖。</a:t>
            </a:r>
          </a:p>
          <a:p>
            <a:pPr marL="87630" indent="-87630">
              <a:lnSpc>
                <a:spcPct val="130000"/>
              </a:lnSpc>
              <a:buClr>
                <a:srgbClr val="FF9900"/>
              </a:buClr>
              <a:buNone/>
            </a:pPr>
            <a:r>
              <a:rPr lang="zh-CN" altLang="en-US" b="1" dirty="0">
                <a:solidFill>
                  <a:srgbClr val="FF0000"/>
                </a:solidFill>
                <a:latin typeface="黑体" panose="02010609060101010101" pitchFamily="49" charset="-122"/>
                <a:ea typeface="黑体" panose="02010609060101010101" pitchFamily="49" charset="-122"/>
              </a:rPr>
              <a:t>有性生殖</a:t>
            </a:r>
            <a:r>
              <a:rPr lang="zh-CN" altLang="en-US" b="1" dirty="0">
                <a:latin typeface="黑体" panose="02010609060101010101" pitchFamily="49" charset="-122"/>
                <a:ea typeface="黑体" panose="02010609060101010101" pitchFamily="49" charset="-122"/>
              </a:rPr>
              <a:t>—通过亲本产生的雌雄配子结合成合子，再进一步分裂、分化、发育而成为新个体的生殖方式。</a:t>
            </a:r>
          </a:p>
        </p:txBody>
      </p:sp>
      <p:sp>
        <p:nvSpPr>
          <p:cNvPr id="2" name="文本框 1"/>
          <p:cNvSpPr txBox="1"/>
          <p:nvPr/>
        </p:nvSpPr>
        <p:spPr>
          <a:xfrm>
            <a:off x="0" y="0"/>
            <a:ext cx="2244525" cy="584775"/>
          </a:xfrm>
          <a:prstGeom prst="rect">
            <a:avLst/>
          </a:prstGeom>
          <a:noFill/>
        </p:spPr>
        <p:txBody>
          <a:bodyPr wrap="none" rtlCol="0">
            <a:spAutoFit/>
          </a:bodyPr>
          <a:lstStyle/>
          <a:p>
            <a:r>
              <a:rPr lang="zh-CN" altLang="en-US" sz="3200" b="1" dirty="0">
                <a:latin typeface="黑体" panose="02010609060101010101" pitchFamily="49" charset="-122"/>
                <a:ea typeface="黑体" panose="02010609060101010101" pitchFamily="49" charset="-122"/>
              </a:rPr>
              <a:t>补充知识：</a:t>
            </a:r>
          </a:p>
        </p:txBody>
      </p:sp>
      <p:sp>
        <p:nvSpPr>
          <p:cNvPr id="6" name="Text Box 6"/>
          <p:cNvSpPr txBox="1">
            <a:spLocks noChangeArrowheads="1"/>
          </p:cNvSpPr>
          <p:nvPr/>
        </p:nvSpPr>
        <p:spPr bwMode="auto">
          <a:xfrm>
            <a:off x="-10886" y="3869204"/>
            <a:ext cx="12181115" cy="231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nSpc>
                <a:spcPct val="110000"/>
              </a:lnSpc>
              <a:spcBef>
                <a:spcPts val="1000"/>
              </a:spcBef>
              <a:buClr>
                <a:srgbClr val="FF9900"/>
              </a:buClr>
            </a:pPr>
            <a:r>
              <a:rPr lang="zh-CN" altLang="en-US" dirty="0"/>
              <a:t>     </a:t>
            </a:r>
            <a:r>
              <a:rPr lang="zh-CN" altLang="en-US" sz="2400" dirty="0">
                <a:latin typeface="黑体" panose="02010609060101010101" pitchFamily="49" charset="-122"/>
              </a:rPr>
              <a:t>1.胚乳直感（花粉直感）：如果在3</a:t>
            </a:r>
            <a:r>
              <a:rPr lang="en-US" altLang="zh-CN" sz="2400" dirty="0">
                <a:latin typeface="黑体" panose="02010609060101010101" pitchFamily="49" charset="-122"/>
              </a:rPr>
              <a:t>n</a:t>
            </a:r>
            <a:r>
              <a:rPr lang="zh-CN" altLang="en-US" sz="2400" dirty="0">
                <a:latin typeface="黑体" panose="02010609060101010101" pitchFamily="49" charset="-122"/>
              </a:rPr>
              <a:t>胚乳的性状上由于精粒的影响而直接表现父本的某些性状，这种现象称为胚乳直感。一些单子叶植物和种子会出现这种现象，如用玉米黄粒的植株花粉给白粒的植株授粉，当代所结子粒即表现父本的黄粒性状 。</a:t>
            </a:r>
          </a:p>
          <a:p>
            <a:pPr>
              <a:lnSpc>
                <a:spcPct val="110000"/>
              </a:lnSpc>
              <a:spcBef>
                <a:spcPts val="1000"/>
              </a:spcBef>
              <a:buClr>
                <a:srgbClr val="FF9900"/>
              </a:buClr>
            </a:pPr>
            <a:r>
              <a:rPr lang="zh-CN" altLang="en-US" sz="2400" dirty="0">
                <a:latin typeface="黑体" panose="02010609060101010101" pitchFamily="49" charset="-122"/>
              </a:rPr>
              <a:t>   2.果实直感：种皮或者果皮组织在发育过程中由于花粉影响而表现父本的某些性状，则称为果实直感。</a:t>
            </a:r>
          </a:p>
        </p:txBody>
      </p:sp>
      <p:sp>
        <p:nvSpPr>
          <p:cNvPr id="4" name="矩形 3"/>
          <p:cNvSpPr/>
          <p:nvPr/>
        </p:nvSpPr>
        <p:spPr>
          <a:xfrm>
            <a:off x="103216" y="3394136"/>
            <a:ext cx="1912703" cy="573042"/>
          </a:xfrm>
          <a:prstGeom prst="rect">
            <a:avLst/>
          </a:prstGeom>
          <a:noFill/>
        </p:spPr>
        <p:txBody>
          <a:bodyPr vert="horz" wrap="square" lIns="91440" tIns="45720" rIns="91440" bIns="45720" numCol="1" rtlCol="0" anchor="t" anchorCtr="0" compatLnSpc="1">
            <a:normAutofit/>
          </a:bodyPr>
          <a:lstStyle/>
          <a:p>
            <a:pPr marL="228600" indent="-228600">
              <a:lnSpc>
                <a:spcPct val="130000"/>
              </a:lnSpc>
              <a:spcBef>
                <a:spcPts val="1000"/>
              </a:spcBef>
              <a:buClr>
                <a:srgbClr val="FF9900"/>
              </a:buClr>
              <a:buFont typeface="Wingdings" pitchFamily="2" charset="2"/>
              <a:buChar char="Ø"/>
            </a:pPr>
            <a:r>
              <a:rPr lang="zh-CN" altLang="en-US" sz="2800" b="1" dirty="0">
                <a:solidFill>
                  <a:srgbClr val="0000FF"/>
                </a:solidFill>
                <a:latin typeface="黑体" panose="02010609060101010101" pitchFamily="49" charset="-122"/>
                <a:ea typeface="黑体" panose="02010609060101010101" pitchFamily="49" charset="-122"/>
              </a:rPr>
              <a:t>直感现象</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2"/>
          <p:cNvSpPr>
            <a:spLocks noGrp="1" noChangeArrowheads="1"/>
          </p:cNvSpPr>
          <p:nvPr>
            <p:ph type="title"/>
          </p:nvPr>
        </p:nvSpPr>
        <p:spPr bwMode="auto">
          <a:xfrm>
            <a:off x="195943" y="108857"/>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p>
            <a:pPr marL="457200" indent="-457200">
              <a:buFont typeface="Wingdings" pitchFamily="2" charset="2"/>
              <a:buChar char="Ø"/>
            </a:pPr>
            <a:r>
              <a:rPr lang="zh-CN" altLang="en-US" sz="3200" b="1" dirty="0">
                <a:solidFill>
                  <a:srgbClr val="0000FF"/>
                </a:solidFill>
                <a:latin typeface="黑体" panose="02010609060101010101" pitchFamily="49" charset="-122"/>
                <a:ea typeface="黑体" panose="02010609060101010101" pitchFamily="49" charset="-122"/>
              </a:rPr>
              <a:t>无融合生殖</a:t>
            </a:r>
          </a:p>
        </p:txBody>
      </p:sp>
      <p:sp>
        <p:nvSpPr>
          <p:cNvPr id="122884" name="Rectangle 3"/>
          <p:cNvSpPr>
            <a:spLocks noGrp="1" noChangeArrowheads="1"/>
          </p:cNvSpPr>
          <p:nvPr>
            <p:ph idx="1"/>
          </p:nvPr>
        </p:nvSpPr>
        <p:spPr bwMode="auto">
          <a:xfrm>
            <a:off x="0" y="685800"/>
            <a:ext cx="12192000" cy="6172200"/>
          </a:xfrm>
          <a:ln>
            <a:miter lim="800000"/>
          </a:ln>
        </p:spPr>
        <p:style>
          <a:lnRef idx="0">
            <a:scrgbClr r="0" g="0" b="0"/>
          </a:lnRef>
          <a:fillRef idx="1001">
            <a:schemeClr val="lt1"/>
          </a:fillRef>
          <a:effectRef idx="0">
            <a:scrgbClr r="0" g="0" b="0"/>
          </a:effectRef>
          <a:fontRef idx="major"/>
        </p:style>
        <p:txBody>
          <a:bodyPr vert="horz" wrap="square" lIns="91440" tIns="45720" rIns="91440" bIns="45720" numCol="1" rtlCol="0" anchor="t" anchorCtr="0" compatLnSpc="1">
            <a:normAutofit/>
          </a:bodyPr>
          <a:lstStyle/>
          <a:p>
            <a:pPr marL="0" indent="0">
              <a:buNone/>
              <a:defRPr/>
            </a:pPr>
            <a:r>
              <a:rPr lang="zh-CN" altLang="en-US" dirty="0">
                <a:latin typeface="宋体" panose="02010600030101010101" pitchFamily="2" charset="-122"/>
              </a:rPr>
              <a:t>    </a:t>
            </a:r>
            <a:r>
              <a:rPr lang="zh-CN" altLang="en-US" b="1" dirty="0">
                <a:latin typeface="黑体" panose="02010609060101010101" pitchFamily="49" charset="-122"/>
                <a:ea typeface="黑体" panose="02010609060101010101" pitchFamily="49" charset="-122"/>
              </a:rPr>
              <a:t>无融合生殖是指配子不发生核融合的一种无性生殖方式，被认为是有性生殖的一种特殊方式或变态。这种现象在动物界和植物界都存在，但在植物界更普遍。无融合生殖可概分为营养无融合生殖和无融合结子</a:t>
            </a:r>
            <a:r>
              <a:rPr lang="en-US" altLang="zh-CN" b="1" dirty="0">
                <a:latin typeface="黑体" panose="02010609060101010101" pitchFamily="49" charset="-122"/>
                <a:ea typeface="黑体" panose="02010609060101010101" pitchFamily="49" charset="-122"/>
              </a:rPr>
              <a:t>。</a:t>
            </a:r>
          </a:p>
          <a:p>
            <a:pPr marL="0" indent="0">
              <a:buClr>
                <a:srgbClr val="FF9900"/>
              </a:buClr>
              <a:buNone/>
              <a:defRPr/>
            </a:pPr>
            <a:r>
              <a:rPr lang="en-US" altLang="zh-CN" b="1" dirty="0">
                <a:latin typeface="黑体" panose="02010609060101010101" pitchFamily="49" charset="-122"/>
                <a:ea typeface="黑体" panose="02010609060101010101" pitchFamily="49" charset="-122"/>
              </a:rPr>
              <a:t>   1.</a:t>
            </a:r>
            <a:r>
              <a:rPr lang="zh-CN" altLang="en-US" b="1" dirty="0">
                <a:solidFill>
                  <a:srgbClr val="FF0000"/>
                </a:solidFill>
                <a:latin typeface="黑体" panose="02010609060101010101" pitchFamily="49" charset="-122"/>
                <a:ea typeface="黑体" panose="02010609060101010101" pitchFamily="49" charset="-122"/>
              </a:rPr>
              <a:t>营养无融合生殖</a:t>
            </a:r>
            <a:r>
              <a:rPr lang="zh-CN" altLang="en-US" b="1" dirty="0">
                <a:latin typeface="黑体" panose="02010609060101010101" pitchFamily="49" charset="-122"/>
                <a:ea typeface="黑体" panose="02010609060101010101" pitchFamily="49" charset="-122"/>
              </a:rPr>
              <a:t>——包括那些代替有性生殖的营养生殖类型，如大蒜的总状花序上常形成近似种子的气生小鳞茎，可代替种子而生殖。 </a:t>
            </a:r>
          </a:p>
          <a:p>
            <a:pPr marL="0" indent="0">
              <a:buClr>
                <a:srgbClr val="FF9900"/>
              </a:buClr>
              <a:buNone/>
              <a:defRPr/>
            </a:pPr>
            <a:r>
              <a:rPr lang="zh-CN" altLang="en-US" b="1" dirty="0">
                <a:latin typeface="黑体" panose="02010609060101010101" pitchFamily="49" charset="-122"/>
                <a:ea typeface="黑体" panose="02010609060101010101" pitchFamily="49" charset="-122"/>
              </a:rPr>
              <a:t>   2.</a:t>
            </a:r>
            <a:r>
              <a:rPr lang="zh-CN" altLang="en-US" b="1" dirty="0">
                <a:solidFill>
                  <a:srgbClr val="FF0000"/>
                </a:solidFill>
                <a:latin typeface="黑体" panose="02010609060101010101" pitchFamily="49" charset="-122"/>
                <a:ea typeface="黑体" panose="02010609060101010101" pitchFamily="49" charset="-122"/>
              </a:rPr>
              <a:t>无融合生殖</a:t>
            </a:r>
            <a:r>
              <a:rPr lang="zh-CN" altLang="en-US" b="1" dirty="0">
                <a:latin typeface="黑体" panose="02010609060101010101" pitchFamily="49" charset="-122"/>
                <a:ea typeface="黑体" panose="02010609060101010101" pitchFamily="49" charset="-122"/>
              </a:rPr>
              <a:t>——指没有精卵的结合，直接产生胚的生殖类型。包括以下几种类型： </a:t>
            </a:r>
          </a:p>
          <a:p>
            <a:pPr marL="0" indent="0">
              <a:buClr>
                <a:schemeClr val="folHlink"/>
              </a:buClr>
              <a:buNone/>
              <a:defRPr/>
            </a:pPr>
            <a:r>
              <a:rPr lang="zh-CN" altLang="en-US" b="1" dirty="0">
                <a:latin typeface="黑体" panose="02010609060101010101" pitchFamily="49" charset="-122"/>
                <a:ea typeface="黑体" panose="02010609060101010101" pitchFamily="49" charset="-122"/>
              </a:rPr>
              <a:t>     </a:t>
            </a:r>
            <a:r>
              <a:rPr lang="zh-CN" altLang="en-US" b="1" dirty="0">
                <a:solidFill>
                  <a:srgbClr val="0000FF"/>
                </a:solidFill>
                <a:latin typeface="黑体" panose="02010609060101010101" pitchFamily="49" charset="-122"/>
                <a:ea typeface="黑体" panose="02010609060101010101" pitchFamily="49" charset="-122"/>
              </a:rPr>
              <a:t>单倍配子体无融合生殖 </a:t>
            </a:r>
          </a:p>
          <a:p>
            <a:pPr marL="0" indent="0">
              <a:buClr>
                <a:schemeClr val="folHlink"/>
              </a:buClr>
              <a:buNone/>
              <a:defRPr/>
            </a:pPr>
            <a:r>
              <a:rPr lang="zh-CN" altLang="en-US" b="1" dirty="0">
                <a:solidFill>
                  <a:srgbClr val="0000FF"/>
                </a:solidFill>
                <a:latin typeface="黑体" panose="02010609060101010101" pitchFamily="49" charset="-122"/>
                <a:ea typeface="黑体" panose="02010609060101010101" pitchFamily="49" charset="-122"/>
              </a:rPr>
              <a:t>     二倍体无融合生殖 </a:t>
            </a:r>
          </a:p>
          <a:p>
            <a:pPr marL="0" indent="0">
              <a:buClr>
                <a:schemeClr val="folHlink"/>
              </a:buClr>
              <a:buNone/>
              <a:defRPr/>
            </a:pPr>
            <a:r>
              <a:rPr lang="zh-CN" altLang="en-US" b="1" dirty="0">
                <a:solidFill>
                  <a:srgbClr val="0000FF"/>
                </a:solidFill>
                <a:latin typeface="黑体" panose="02010609060101010101" pitchFamily="49" charset="-122"/>
                <a:ea typeface="黑体" panose="02010609060101010101" pitchFamily="49" charset="-122"/>
              </a:rPr>
              <a:t>     不定胚 </a:t>
            </a:r>
          </a:p>
          <a:p>
            <a:pPr marL="0" indent="0">
              <a:buClr>
                <a:schemeClr val="folHlink"/>
              </a:buClr>
              <a:buNone/>
              <a:defRPr/>
            </a:pPr>
            <a:r>
              <a:rPr lang="zh-CN" altLang="en-US" b="1" dirty="0">
                <a:solidFill>
                  <a:srgbClr val="0000FF"/>
                </a:solidFill>
                <a:latin typeface="黑体" panose="02010609060101010101" pitchFamily="49" charset="-122"/>
                <a:ea typeface="黑体" panose="02010609060101010101" pitchFamily="49" charset="-122"/>
              </a:rPr>
              <a:t>     单性结实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4"/>
          <p:cNvSpPr>
            <a:spLocks noChangeArrowheads="1"/>
          </p:cNvSpPr>
          <p:nvPr/>
        </p:nvSpPr>
        <p:spPr bwMode="auto">
          <a:xfrm>
            <a:off x="250371" y="762000"/>
            <a:ext cx="11941629" cy="424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buClr>
                <a:schemeClr val="accent2"/>
              </a:buClr>
              <a:buSzPct val="80000"/>
            </a:pPr>
            <a:r>
              <a:rPr lang="zh-CN" altLang="en-US" dirty="0"/>
              <a:t>无融合生殖可产生的效应及其对应应用领域有：</a:t>
            </a:r>
          </a:p>
          <a:p>
            <a:pPr marL="457200" lvl="1" indent="0" eaLnBrk="1" hangingPunct="1">
              <a:buClr>
                <a:srgbClr val="FF9900"/>
              </a:buClr>
              <a:buSzPct val="90000"/>
            </a:pPr>
            <a:r>
              <a:rPr lang="zh-CN" altLang="en-US" dirty="0"/>
              <a:t>    产生</a:t>
            </a:r>
            <a:r>
              <a:rPr lang="zh-CN" altLang="en-US" dirty="0">
                <a:solidFill>
                  <a:srgbClr val="0000FF"/>
                </a:solidFill>
              </a:rPr>
              <a:t>单倍体胚(种子)</a:t>
            </a:r>
            <a:endParaRPr lang="en-US" altLang="zh-CN" dirty="0"/>
          </a:p>
          <a:p>
            <a:pPr marL="457200" lvl="1" indent="0" eaLnBrk="1" hangingPunct="1">
              <a:buClr>
                <a:srgbClr val="FF9900"/>
              </a:buClr>
              <a:buSzPct val="90000"/>
            </a:pPr>
            <a:r>
              <a:rPr lang="zh-CN" altLang="en-US" dirty="0">
                <a:ea typeface="楷体_GB2312" pitchFamily="49" charset="-122"/>
              </a:rPr>
              <a:t>用于产生、提供单倍性生物个体，作为遗传研究材料。</a:t>
            </a:r>
          </a:p>
          <a:p>
            <a:pPr marL="457200" lvl="1" indent="0" eaLnBrk="1" hangingPunct="1">
              <a:buClr>
                <a:srgbClr val="FF9900"/>
              </a:buClr>
              <a:buSzPct val="90000"/>
            </a:pPr>
            <a:r>
              <a:rPr lang="zh-CN" altLang="en-US" dirty="0"/>
              <a:t>    产生</a:t>
            </a:r>
            <a:r>
              <a:rPr lang="zh-CN" altLang="en-US" dirty="0">
                <a:solidFill>
                  <a:srgbClr val="0000FF"/>
                </a:solidFill>
              </a:rPr>
              <a:t>遗传上完全与母本一致的二倍体种子或果实</a:t>
            </a:r>
            <a:br>
              <a:rPr lang="zh-CN" altLang="en-US" dirty="0"/>
            </a:br>
            <a:r>
              <a:rPr lang="zh-CN" altLang="en-US" dirty="0"/>
              <a:t>  </a:t>
            </a:r>
            <a:r>
              <a:rPr lang="zh-CN" altLang="en-US" dirty="0">
                <a:ea typeface="楷体_GB2312" pitchFamily="49" charset="-122"/>
              </a:rPr>
              <a:t>优良生物品种高效、大量繁殖，杂种优势的固定等。无性生殖虽然也可以产生与母本完全一致的后代，但用以繁殖的各种组织、器官往往不便于运输和贮藏。</a:t>
            </a:r>
          </a:p>
          <a:p>
            <a:pPr marL="457200" lvl="1" indent="0" eaLnBrk="1" hangingPunct="1">
              <a:buClr>
                <a:srgbClr val="FF9900"/>
              </a:buClr>
              <a:buSzPct val="90000"/>
            </a:pPr>
            <a:r>
              <a:rPr lang="zh-CN" altLang="en-US" dirty="0"/>
              <a:t>    产生</a:t>
            </a:r>
            <a:r>
              <a:rPr lang="zh-CN" altLang="en-US" dirty="0">
                <a:solidFill>
                  <a:srgbClr val="0000FF"/>
                </a:solidFill>
              </a:rPr>
              <a:t>无胚(种子、籽粒)的果实</a:t>
            </a:r>
            <a:br>
              <a:rPr lang="zh-CN" altLang="en-US" dirty="0"/>
            </a:br>
            <a:r>
              <a:rPr lang="zh-CN" altLang="en-US" dirty="0"/>
              <a:t>  </a:t>
            </a:r>
            <a:r>
              <a:rPr lang="zh-CN" altLang="en-US" dirty="0">
                <a:ea typeface="楷体_GB2312" pitchFamily="49" charset="-122"/>
              </a:rPr>
              <a:t>用于无籽水果的生产，如：葡萄等。</a:t>
            </a:r>
          </a:p>
        </p:txBody>
      </p:sp>
      <p:sp>
        <p:nvSpPr>
          <p:cNvPr id="154629" name="Rectangle 5"/>
          <p:cNvSpPr>
            <a:spLocks noChangeArrowheads="1"/>
          </p:cNvSpPr>
          <p:nvPr/>
        </p:nvSpPr>
        <p:spPr bwMode="auto">
          <a:xfrm>
            <a:off x="1790700" y="228600"/>
            <a:ext cx="8610600" cy="533400"/>
          </a:xfrm>
          <a:prstGeom prst="rect">
            <a:avLst/>
          </a:prstGeom>
          <a:noFill/>
          <a:ln w="9525">
            <a:noFill/>
            <a:miter lim="800000"/>
          </a:ln>
          <a:effectLst/>
        </p:spPr>
        <p:txBody>
          <a:bodyPr lIns="92075" tIns="46038" rIns="92075" bIns="46038" anchor="b"/>
          <a:lstStyle/>
          <a:p>
            <a:pPr algn="ctr" eaLnBrk="1" hangingPunct="1">
              <a:defRPr/>
            </a:pPr>
            <a:r>
              <a:rPr lang="zh-CN" altLang="en-US" sz="3200" b="1" noProof="1">
                <a:solidFill>
                  <a:srgbClr val="0000FF"/>
                </a:solidFill>
                <a:latin typeface="黑体" panose="02010609060101010101" pitchFamily="49" charset="-122"/>
                <a:ea typeface="黑体" panose="02010609060101010101" pitchFamily="49" charset="-122"/>
                <a:sym typeface="+mn-ea"/>
              </a:rPr>
              <a:t>无融合生殖的应用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p:nvPr>
        </p:nvSpPr>
        <p:spPr>
          <a:xfrm>
            <a:off x="838200" y="-79899"/>
            <a:ext cx="10515600" cy="1085866"/>
          </a:xfrm>
        </p:spPr>
        <p:txBody>
          <a:bodyPr>
            <a:normAutofit/>
          </a:bodyPr>
          <a:lstStyle/>
          <a:p>
            <a:pPr algn="ctr"/>
            <a:r>
              <a:rPr lang="zh-CN" altLang="en-US" sz="4000" b="1" dirty="0">
                <a:latin typeface="黑体" panose="02010609060101010101" pitchFamily="49" charset="-122"/>
                <a:ea typeface="黑体" panose="02010609060101010101" pitchFamily="49" charset="-122"/>
              </a:rPr>
              <a:t>第四节 遗传的染色体学说</a:t>
            </a:r>
          </a:p>
        </p:txBody>
      </p:sp>
      <p:sp>
        <p:nvSpPr>
          <p:cNvPr id="78851" name="Rectangle 3"/>
          <p:cNvSpPr>
            <a:spLocks noGrp="1" noRot="1" noChangeArrowheads="1"/>
          </p:cNvSpPr>
          <p:nvPr>
            <p:ph type="body" idx="1"/>
          </p:nvPr>
        </p:nvSpPr>
        <p:spPr>
          <a:xfrm>
            <a:off x="337351" y="854259"/>
            <a:ext cx="11532094" cy="1694372"/>
          </a:xfrm>
        </p:spPr>
        <p:txBody>
          <a:bodyPr/>
          <a:lstStyle/>
          <a:p>
            <a:pPr marL="0" indent="0" algn="just">
              <a:lnSpc>
                <a:spcPct val="120000"/>
              </a:lnSpc>
              <a:buNone/>
            </a:pPr>
            <a:r>
              <a:rPr lang="en-US" altLang="zh-CN" b="1" dirty="0">
                <a:latin typeface="黑体" panose="02010609060101010101" pitchFamily="49" charset="-122"/>
                <a:ea typeface="黑体" panose="02010609060101010101" pitchFamily="49" charset="-122"/>
              </a:rPr>
              <a:t>	1900</a:t>
            </a:r>
            <a:r>
              <a:rPr lang="zh-CN" altLang="en-US" b="1" dirty="0">
                <a:latin typeface="黑体" panose="02010609060101010101" pitchFamily="49" charset="-122"/>
                <a:ea typeface="黑体" panose="02010609060101010101" pitchFamily="49" charset="-122"/>
              </a:rPr>
              <a:t>年孟德尔定律的重新发现引起了人们对它的极大兴趣。</a:t>
            </a:r>
            <a:r>
              <a:rPr lang="en-US" altLang="zh-CN" b="1" dirty="0">
                <a:latin typeface="黑体" panose="02010609060101010101" pitchFamily="49" charset="-122"/>
                <a:ea typeface="黑体" panose="02010609060101010101" pitchFamily="49" charset="-122"/>
              </a:rPr>
              <a:t>1902</a:t>
            </a:r>
            <a:r>
              <a:rPr lang="zh-CN" altLang="en-US" b="1" dirty="0">
                <a:latin typeface="黑体" panose="02010609060101010101" pitchFamily="49" charset="-122"/>
                <a:ea typeface="黑体" panose="02010609060101010101" pitchFamily="49" charset="-122"/>
              </a:rPr>
              <a:t>年，美国</a:t>
            </a:r>
            <a:r>
              <a:rPr lang="en-US" altLang="zh-CN" b="1" dirty="0" err="1">
                <a:latin typeface="黑体" panose="02010609060101010101" pitchFamily="49" charset="-122"/>
                <a:ea typeface="黑体" panose="02010609060101010101" pitchFamily="49" charset="-122"/>
              </a:rPr>
              <a:t>W.S.Sutton</a:t>
            </a:r>
            <a:r>
              <a:rPr lang="zh-CN" altLang="en-US" b="1" dirty="0">
                <a:latin typeface="黑体" panose="02010609060101010101" pitchFamily="49" charset="-122"/>
                <a:ea typeface="黑体" panose="02010609060101010101" pitchFamily="49" charset="-122"/>
              </a:rPr>
              <a:t>和德国的</a:t>
            </a:r>
            <a:r>
              <a:rPr lang="en-US" altLang="zh-CN" b="1" dirty="0" err="1">
                <a:latin typeface="黑体" panose="02010609060101010101" pitchFamily="49" charset="-122"/>
                <a:ea typeface="黑体" panose="02010609060101010101" pitchFamily="49" charset="-122"/>
              </a:rPr>
              <a:t>T.Boveri</a:t>
            </a:r>
            <a:r>
              <a:rPr lang="zh-CN" altLang="en-US" b="1" dirty="0">
                <a:latin typeface="黑体" panose="02010609060101010101" pitchFamily="49" charset="-122"/>
                <a:ea typeface="黑体" panose="02010609060101010101" pitchFamily="49" charset="-122"/>
              </a:rPr>
              <a:t>各自独立地认识到豌豆产生配子时遗传因子的行为和性细胞在减数分裂过程中的染色体行为有着平行的关系：</a:t>
            </a:r>
          </a:p>
        </p:txBody>
      </p:sp>
      <p:sp>
        <p:nvSpPr>
          <p:cNvPr id="4" name="Rectangle 3"/>
          <p:cNvSpPr txBox="1">
            <a:spLocks noRot="1" noChangeArrowheads="1"/>
          </p:cNvSpPr>
          <p:nvPr/>
        </p:nvSpPr>
        <p:spPr>
          <a:xfrm>
            <a:off x="1146700" y="2482048"/>
            <a:ext cx="10177508" cy="328843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b="1" dirty="0">
                <a:solidFill>
                  <a:srgbClr val="FF0000"/>
                </a:solidFill>
                <a:latin typeface="黑体" panose="02010609060101010101" pitchFamily="49" charset="-122"/>
                <a:ea typeface="黑体" panose="02010609060101010101" pitchFamily="49" charset="-122"/>
              </a:rPr>
              <a:t>在真核生物中基因是成对存在的</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等位基因</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，染色体也是成对存在的</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同源染色体</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p>
          <a:p>
            <a:pPr>
              <a:lnSpc>
                <a:spcPct val="100000"/>
              </a:lnSpc>
            </a:pPr>
            <a:r>
              <a:rPr lang="zh-CN" altLang="en-US" b="1" dirty="0">
                <a:solidFill>
                  <a:srgbClr val="FF0000"/>
                </a:solidFill>
                <a:latin typeface="黑体" panose="02010609060101010101" pitchFamily="49" charset="-122"/>
                <a:ea typeface="黑体" panose="02010609060101010101" pitchFamily="49" charset="-122"/>
              </a:rPr>
              <a:t>在形成配子时，等位基因相互分离，分别进入不同的配子中，一对同源染色体在减数第一次分裂时也相互分离，移向细胞的两极</a:t>
            </a:r>
            <a:r>
              <a:rPr lang="zh-CN" altLang="en-US" b="1" dirty="0">
                <a:latin typeface="黑体" panose="02010609060101010101" pitchFamily="49" charset="-122"/>
                <a:ea typeface="黑体" panose="02010609060101010101" pitchFamily="49" charset="-122"/>
              </a:rPr>
              <a:t>；</a:t>
            </a:r>
          </a:p>
          <a:p>
            <a:pPr>
              <a:lnSpc>
                <a:spcPct val="100000"/>
              </a:lnSpc>
            </a:pPr>
            <a:r>
              <a:rPr lang="zh-CN" altLang="en-US" b="1" dirty="0">
                <a:solidFill>
                  <a:srgbClr val="FF0000"/>
                </a:solidFill>
                <a:latin typeface="黑体" panose="02010609060101010101" pitchFamily="49" charset="-122"/>
                <a:ea typeface="黑体" panose="02010609060101010101" pitchFamily="49" charset="-122"/>
              </a:rPr>
              <a:t>非等位基因在形成配子时，是自由组合地进入配子的，非同源染色体亦如此</a:t>
            </a:r>
            <a:r>
              <a:rPr lang="zh-CN" altLang="en-US" b="1" dirty="0">
                <a:latin typeface="黑体" panose="02010609060101010101" pitchFamily="49" charset="-122"/>
                <a:ea typeface="黑体" panose="02010609060101010101" pitchFamily="49" charset="-122"/>
              </a:rPr>
              <a:t>。</a:t>
            </a:r>
          </a:p>
        </p:txBody>
      </p:sp>
      <p:sp>
        <p:nvSpPr>
          <p:cNvPr id="5" name="Rectangle 3"/>
          <p:cNvSpPr txBox="1">
            <a:spLocks noRot="1" noChangeArrowheads="1"/>
          </p:cNvSpPr>
          <p:nvPr/>
        </p:nvSpPr>
        <p:spPr>
          <a:xfrm>
            <a:off x="466078" y="5533378"/>
            <a:ext cx="11274640" cy="12447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zh-CN" altLang="en-US" b="1" dirty="0">
                <a:latin typeface="黑体" panose="02010609060101010101" pitchFamily="49" charset="-122"/>
                <a:ea typeface="黑体" panose="02010609060101010101" pitchFamily="49" charset="-122"/>
              </a:rPr>
              <a:t>因此，两位研究者各自独立地提出了细胞核的染色体可能是基因的载体的学说，即遗传的染色体学说</a:t>
            </a:r>
            <a:r>
              <a:rPr lang="en-US" altLang="zh-CN" b="1" dirty="0">
                <a:latin typeface="黑体" panose="02010609060101010101" pitchFamily="49" charset="-122"/>
                <a:ea typeface="黑体" panose="02010609060101010101" pitchFamily="49" charset="-122"/>
              </a:rPr>
              <a:t>(chromosome theory of heredity)</a:t>
            </a:r>
            <a:r>
              <a:rPr lang="zh-CN" altLang="en-US" b="1" dirty="0">
                <a:latin typeface="黑体" panose="02010609060101010101" pitchFamily="49" charset="-122"/>
                <a:ea typeface="黑体" panose="02010609060101010101" pitchFamily="49" charset="-122"/>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960EF9F-E588-427E-A26B-B956463E2788}"/>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50869" y="439327"/>
            <a:ext cx="4794016" cy="4990240"/>
          </a:xfrm>
          <a:prstGeom prst="rect">
            <a:avLst/>
          </a:prstGeom>
        </p:spPr>
      </p:pic>
      <p:pic>
        <p:nvPicPr>
          <p:cNvPr id="8" name="图片 7">
            <a:extLst>
              <a:ext uri="{FF2B5EF4-FFF2-40B4-BE49-F238E27FC236}">
                <a16:creationId xmlns:a16="http://schemas.microsoft.com/office/drawing/2014/main" id="{0C0D09B5-C79C-4B81-A41F-10F779654554}"/>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065947" y="31237"/>
            <a:ext cx="3863333" cy="6826763"/>
          </a:xfrm>
          <a:prstGeom prst="rect">
            <a:avLst/>
          </a:prstGeom>
        </p:spPr>
      </p:pic>
      <p:sp>
        <p:nvSpPr>
          <p:cNvPr id="6" name="灯片编号占位符 2">
            <a:extLst>
              <a:ext uri="{FF2B5EF4-FFF2-40B4-BE49-F238E27FC236}">
                <a16:creationId xmlns:a16="http://schemas.microsoft.com/office/drawing/2014/main" id="{C06FD6F3-DDE7-43C3-8975-596FD3657A83}"/>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81</a:t>
            </a:fld>
            <a:endParaRPr lang="zh-CN" altLang="en-US" dirty="0"/>
          </a:p>
        </p:txBody>
      </p:sp>
      <p:sp>
        <p:nvSpPr>
          <p:cNvPr id="2" name="矩形 1"/>
          <p:cNvSpPr/>
          <p:nvPr/>
        </p:nvSpPr>
        <p:spPr>
          <a:xfrm>
            <a:off x="0" y="5816377"/>
            <a:ext cx="6096000" cy="646331"/>
          </a:xfrm>
          <a:prstGeom prst="rect">
            <a:avLst/>
          </a:prstGeom>
        </p:spPr>
        <p:txBody>
          <a:bodyPr>
            <a:spAutoFit/>
          </a:bodyPr>
          <a:lstStyle/>
          <a:p>
            <a:r>
              <a:rPr lang="zh-CN" altLang="en-US" b="1" dirty="0">
                <a:latin typeface="黑体" panose="02010609060101010101" pitchFamily="49" charset="-122"/>
                <a:ea typeface="黑体" panose="02010609060101010101" pitchFamily="49" charset="-122"/>
              </a:rPr>
              <a:t>在第一次减数分裂中，由于</a:t>
            </a:r>
            <a:r>
              <a:rPr lang="zh-CN" altLang="en-US" b="1" dirty="0">
                <a:solidFill>
                  <a:srgbClr val="FF0000"/>
                </a:solidFill>
                <a:latin typeface="黑体" panose="02010609060101010101" pitchFamily="49" charset="-122"/>
                <a:ea typeface="黑体" panose="02010609060101010101" pitchFamily="49" charset="-122"/>
              </a:rPr>
              <a:t>同源染色体的分离，使位于同源染色体上的等位基因分离</a:t>
            </a:r>
            <a:endParaRPr lang="zh-CN" altLang="en-US" dirty="0"/>
          </a:p>
        </p:txBody>
      </p:sp>
    </p:spTree>
    <p:extLst>
      <p:ext uri="{BB962C8B-B14F-4D97-AF65-F5344CB8AC3E}">
        <p14:creationId xmlns:p14="http://schemas.microsoft.com/office/powerpoint/2010/main" val="3330540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44904351-4016-42AE-9649-1DE94A736E8A}"/>
              </a:ext>
            </a:extLst>
          </p:cNvPr>
          <p:cNvSpPr txBox="1"/>
          <p:nvPr/>
        </p:nvSpPr>
        <p:spPr>
          <a:xfrm>
            <a:off x="5873013" y="1923480"/>
            <a:ext cx="5439152" cy="1505520"/>
          </a:xfrm>
          <a:prstGeom prst="rect">
            <a:avLst/>
          </a:prstGeom>
        </p:spPr>
        <p:txBody>
          <a:bodyPr vert="horz" lIns="91440" tIns="45720" rIns="91440" bIns="45720" rtlCol="0">
            <a:normAutofit/>
          </a:bodyPr>
          <a:lstStyle>
            <a:lvl1pPr marL="228600" indent="-228600">
              <a:lnSpc>
                <a:spcPct val="120000"/>
              </a:lnSpc>
              <a:spcBef>
                <a:spcPts val="1000"/>
              </a:spcBef>
              <a:buClr>
                <a:schemeClr val="accent1"/>
              </a:buClr>
              <a:buSzPct val="80000"/>
              <a:buFont typeface="Wingdings" panose="05000000000000000000" pitchFamily="2" charset="2"/>
              <a:buChar char="p"/>
              <a:defRPr sz="2400">
                <a:latin typeface="Times New Roman" panose="02020603050405020304" pitchFamily="18" charset="0"/>
                <a:ea typeface="微软雅黑" panose="020B0503020204020204" pitchFamily="34" charset="-122"/>
                <a:cs typeface="Times New Roman" panose="02020603050405020304" pitchFamily="18" charset="0"/>
              </a:defRPr>
            </a:lvl1pPr>
            <a:lvl2pPr marL="685800" indent="-228600">
              <a:lnSpc>
                <a:spcPct val="120000"/>
              </a:lnSpc>
              <a:spcBef>
                <a:spcPts val="500"/>
              </a:spcBef>
              <a:buClr>
                <a:schemeClr val="accent1"/>
              </a:buClr>
              <a:buSzPct val="80000"/>
              <a:buFont typeface="Wingdings" panose="05000000000000000000" pitchFamily="2" charset="2"/>
              <a:buChar char="p"/>
              <a:defRPr sz="20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120000"/>
              </a:lnSpc>
              <a:spcBef>
                <a:spcPts val="500"/>
              </a:spcBef>
              <a:buClr>
                <a:schemeClr val="accent1"/>
              </a:buClr>
              <a:buSzPct val="80000"/>
              <a:buFont typeface="Wingdings" panose="05000000000000000000" pitchFamily="2" charset="2"/>
              <a:buChar char="p"/>
              <a:defRPr>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a:lnSpc>
                <a:spcPct val="120000"/>
              </a:lnSpc>
              <a:spcBef>
                <a:spcPts val="500"/>
              </a:spcBef>
              <a:buClr>
                <a:schemeClr val="accent1"/>
              </a:buClr>
              <a:buSzPct val="80000"/>
              <a:buFont typeface="Wingdings" panose="05000000000000000000" pitchFamily="2" charset="2"/>
              <a:buChar char="p"/>
              <a:defRPr sz="1600">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nSpc>
                <a:spcPct val="120000"/>
              </a:lnSpc>
              <a:spcBef>
                <a:spcPts val="500"/>
              </a:spcBef>
              <a:buClr>
                <a:schemeClr val="accent1"/>
              </a:buClr>
              <a:buSzPct val="80000"/>
              <a:buFont typeface="Wingdings" panose="05000000000000000000" pitchFamily="2" charset="2"/>
              <a:buChar char="p"/>
              <a:defRPr sz="1600">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50000"/>
              </a:lnSpc>
              <a:buNone/>
            </a:pPr>
            <a:r>
              <a:rPr lang="zh-CN" altLang="en-US" b="1" dirty="0"/>
              <a:t>只要假定基因在染色体上，就可十分圆满地解释孟德尔的两个定律。</a:t>
            </a:r>
          </a:p>
        </p:txBody>
      </p:sp>
      <p:pic>
        <p:nvPicPr>
          <p:cNvPr id="3" name="图片 2">
            <a:extLst>
              <a:ext uri="{FF2B5EF4-FFF2-40B4-BE49-F238E27FC236}">
                <a16:creationId xmlns:a16="http://schemas.microsoft.com/office/drawing/2014/main" id="{558E44C8-BA3F-4296-9979-0A85677F92E7}"/>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99920" y="85979"/>
            <a:ext cx="5206224" cy="6653285"/>
          </a:xfrm>
          <a:prstGeom prst="rect">
            <a:avLst/>
          </a:prstGeom>
        </p:spPr>
      </p:pic>
      <p:sp>
        <p:nvSpPr>
          <p:cNvPr id="5" name="灯片编号占位符 2">
            <a:extLst>
              <a:ext uri="{FF2B5EF4-FFF2-40B4-BE49-F238E27FC236}">
                <a16:creationId xmlns:a16="http://schemas.microsoft.com/office/drawing/2014/main" id="{6E5FB742-8492-4C5A-8B5A-B38425C6E668}"/>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82</a:t>
            </a:fld>
            <a:endParaRPr lang="zh-CN" altLang="en-US" dirty="0"/>
          </a:p>
        </p:txBody>
      </p:sp>
    </p:spTree>
    <p:extLst>
      <p:ext uri="{BB962C8B-B14F-4D97-AF65-F5344CB8AC3E}">
        <p14:creationId xmlns:p14="http://schemas.microsoft.com/office/powerpoint/2010/main" val="34463284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Rot="1" noChangeArrowheads="1"/>
          </p:cNvSpPr>
          <p:nvPr>
            <p:ph type="body" idx="1"/>
          </p:nvPr>
        </p:nvSpPr>
        <p:spPr>
          <a:xfrm>
            <a:off x="326571" y="410905"/>
            <a:ext cx="11430000" cy="2471167"/>
          </a:xfrm>
        </p:spPr>
        <p:txBody>
          <a:bodyPr>
            <a:normAutofit/>
          </a:bodyPr>
          <a:lstStyle/>
          <a:p>
            <a:pPr marL="0" indent="0">
              <a:lnSpc>
                <a:spcPct val="120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当时，</a:t>
            </a:r>
            <a:r>
              <a:rPr lang="en-US" altLang="zh-CN" b="1" dirty="0">
                <a:latin typeface="黑体" panose="02010609060101010101" pitchFamily="49" charset="-122"/>
                <a:ea typeface="黑体" panose="02010609060101010101" pitchFamily="49" charset="-122"/>
              </a:rPr>
              <a:t>Sutton-</a:t>
            </a:r>
            <a:r>
              <a:rPr lang="en-US" altLang="zh-CN" b="1" dirty="0" err="1">
                <a:latin typeface="黑体" panose="02010609060101010101" pitchFamily="49" charset="-122"/>
                <a:ea typeface="黑体" panose="02010609060101010101" pitchFamily="49" charset="-122"/>
              </a:rPr>
              <a:t>Boveri</a:t>
            </a:r>
            <a:r>
              <a:rPr lang="zh-CN" altLang="en-US" b="1" dirty="0">
                <a:latin typeface="黑体" panose="02010609060101010101" pitchFamily="49" charset="-122"/>
                <a:ea typeface="黑体" panose="02010609060101010101" pitchFamily="49" charset="-122"/>
              </a:rPr>
              <a:t>这个假设引起了广泛的注意，因为这个假设不仅圆满地解释了孟德尔的两个定律，而且染色体是细胞中可见的结构，十分具体。虽然大多数人也认为这一假说极为合理，但并不是所有的生物学家都相信染色体上含有遗传信息，因为它缺乏真正的证据。</a:t>
            </a:r>
          </a:p>
        </p:txBody>
      </p:sp>
      <p:sp>
        <p:nvSpPr>
          <p:cNvPr id="4" name="Rectangle 3"/>
          <p:cNvSpPr txBox="1">
            <a:spLocks noRot="1" noChangeArrowheads="1"/>
          </p:cNvSpPr>
          <p:nvPr/>
        </p:nvSpPr>
        <p:spPr>
          <a:xfrm>
            <a:off x="315686" y="2848580"/>
            <a:ext cx="11451771" cy="27400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要证实这个假设，进一步自然要把某一特定基因与特定染色体联系起来，将基因行为与在细胞分裂中染色体行为的平行关系转变为基因与染色体的从属关系。美国胚胎学家</a:t>
            </a:r>
            <a:r>
              <a:rPr lang="zh-CN" altLang="en-US" b="1" dirty="0">
                <a:solidFill>
                  <a:srgbClr val="FF0000"/>
                </a:solidFill>
                <a:latin typeface="黑体" panose="02010609060101010101" pitchFamily="49" charset="-122"/>
                <a:ea typeface="黑体" panose="02010609060101010101" pitchFamily="49" charset="-122"/>
              </a:rPr>
              <a:t>摩尔根</a:t>
            </a:r>
            <a:r>
              <a:rPr lang="zh-CN" altLang="en-US" b="1" dirty="0">
                <a:latin typeface="黑体" panose="02010609060101010101" pitchFamily="49" charset="-122"/>
                <a:ea typeface="黑体" panose="02010609060101010101" pitchFamily="49" charset="-122"/>
              </a:rPr>
              <a:t>在</a:t>
            </a:r>
            <a:r>
              <a:rPr lang="zh-CN" altLang="en-US" b="1" dirty="0">
                <a:solidFill>
                  <a:srgbClr val="FF0000"/>
                </a:solidFill>
                <a:latin typeface="黑体" panose="02010609060101010101" pitchFamily="49" charset="-122"/>
                <a:ea typeface="黑体" panose="02010609060101010101" pitchFamily="49" charset="-122"/>
              </a:rPr>
              <a:t>果蝇伴性遗传方面</a:t>
            </a:r>
            <a:r>
              <a:rPr lang="zh-CN" altLang="en-US" b="1" dirty="0">
                <a:latin typeface="黑体" panose="02010609060101010101" pitchFamily="49" charset="-122"/>
                <a:ea typeface="黑体" panose="02010609060101010101" pitchFamily="49" charset="-122"/>
              </a:rPr>
              <a:t>的发现及其</a:t>
            </a:r>
            <a:r>
              <a:rPr lang="zh-CN" altLang="en-US" b="1" dirty="0">
                <a:solidFill>
                  <a:srgbClr val="FF0000"/>
                </a:solidFill>
                <a:latin typeface="黑体" panose="02010609060101010101" pitchFamily="49" charset="-122"/>
                <a:ea typeface="黑体" panose="02010609060101010101" pitchFamily="49" charset="-122"/>
              </a:rPr>
              <a:t>基因理论</a:t>
            </a:r>
            <a:r>
              <a:rPr lang="zh-CN" altLang="en-US" b="1" dirty="0">
                <a:latin typeface="黑体" panose="02010609060101010101" pitchFamily="49" charset="-122"/>
                <a:ea typeface="黑体" panose="02010609060101010101" pitchFamily="49" charset="-122"/>
              </a:rPr>
              <a:t>的提出，以及他的学生</a:t>
            </a:r>
            <a:r>
              <a:rPr lang="en-US" altLang="zh-CN" b="1" dirty="0">
                <a:latin typeface="黑体" panose="02010609060101010101" pitchFamily="49" charset="-122"/>
                <a:ea typeface="黑体" panose="02010609060101010101" pitchFamily="49" charset="-122"/>
              </a:rPr>
              <a:t>Bridges</a:t>
            </a:r>
            <a:r>
              <a:rPr lang="zh-CN" altLang="en-US" b="1" dirty="0">
                <a:latin typeface="黑体" panose="02010609060101010101" pitchFamily="49" charset="-122"/>
                <a:ea typeface="黑体" panose="02010609060101010101" pitchFamily="49" charset="-122"/>
              </a:rPr>
              <a:t>的一系列工作使这一问题得到了很好的解决，这将在后面进</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步学习。 </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5655</Words>
  <Application>Microsoft Office PowerPoint</Application>
  <PresentationFormat>宽屏</PresentationFormat>
  <Paragraphs>447</Paragraphs>
  <Slides>83</Slides>
  <Notes>15</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83</vt:i4>
      </vt:variant>
    </vt:vector>
  </HeadingPairs>
  <TitlesOfParts>
    <vt:vector size="98" baseType="lpstr">
      <vt:lpstr>等线</vt:lpstr>
      <vt:lpstr>等线 Light</vt:lpstr>
      <vt:lpstr>仿宋_GB2312</vt:lpstr>
      <vt:lpstr>黑体</vt:lpstr>
      <vt:lpstr>楷体</vt:lpstr>
      <vt:lpstr>楷体_GB2312</vt:lpstr>
      <vt:lpstr>宋体</vt:lpstr>
      <vt:lpstr>微软雅黑</vt:lpstr>
      <vt:lpstr>Arial</vt:lpstr>
      <vt:lpstr>Calibri</vt:lpstr>
      <vt:lpstr>Times New Roman</vt:lpstr>
      <vt:lpstr>Wingdings</vt:lpstr>
      <vt:lpstr>Office 主题​​</vt:lpstr>
      <vt:lpstr>Office 主题</vt:lpstr>
      <vt:lpstr>1_Office 主题​​</vt:lpstr>
      <vt:lpstr>第三章  遗传的染色体学说</vt:lpstr>
      <vt:lpstr>1. 染色质(chromatin)和染色体(chromosome)</vt:lpstr>
      <vt:lpstr>染色质与染色体</vt:lpstr>
      <vt:lpstr>PowerPoint 演示文稿</vt:lpstr>
      <vt:lpstr>（1）染色质的化学组成</vt:lpstr>
      <vt:lpstr>（2）染色质的结构——</vt:lpstr>
      <vt:lpstr>PowerPoint 演示文稿</vt:lpstr>
      <vt:lpstr>PowerPoint 演示文稿</vt:lpstr>
      <vt:lpstr>PowerPoint 演示文稿</vt:lpstr>
      <vt:lpstr>染色体形成过程中长度与宽度的变化</vt:lpstr>
      <vt:lpstr>（3）染色质的类型</vt:lpstr>
      <vt:lpstr>2.染色体的形态、结构和数目</vt:lpstr>
      <vt:lpstr>2.染色体的形态、结构和数目</vt:lpstr>
      <vt:lpstr>（1）染色体的形态特征</vt:lpstr>
      <vt:lpstr>PowerPoint 演示文稿</vt:lpstr>
      <vt:lpstr>PowerPoint 演示文稿</vt:lpstr>
      <vt:lpstr>PowerPoint 演示文稿</vt:lpstr>
      <vt:lpstr>（2）染色体的数目</vt:lpstr>
      <vt:lpstr>（3）特殊类型的染色体</vt:lpstr>
      <vt:lpstr> 多线染色体</vt:lpstr>
      <vt:lpstr>细胞分裂间期多线染色体的形态</vt:lpstr>
      <vt:lpstr>PowerPoint 演示文稿</vt:lpstr>
      <vt:lpstr>灯刷染色体</vt:lpstr>
      <vt:lpstr>灯刷染色体的形态</vt:lpstr>
      <vt:lpstr>PowerPoint 演示文稿</vt:lpstr>
      <vt:lpstr>B染色体</vt:lpstr>
      <vt:lpstr>黑麦(S.cereale, 2n=14)的B染色体</vt:lpstr>
      <vt:lpstr>（4）染色体组型和组型分析</vt:lpstr>
      <vt:lpstr>PowerPoint 演示文稿</vt:lpstr>
      <vt:lpstr>PowerPoint 演示文稿</vt:lpstr>
      <vt:lpstr>第二节 细胞分裂 </vt:lpstr>
      <vt:lpstr>PowerPoint 演示文稿</vt:lpstr>
      <vt:lpstr>PowerPoint 演示文稿</vt:lpstr>
      <vt:lpstr>2.真核细胞的有丝分裂</vt:lpstr>
      <vt:lpstr>PowerPoint 演示文稿</vt:lpstr>
      <vt:lpstr>PowerPoint 演示文稿</vt:lpstr>
      <vt:lpstr>有丝分裂的特点和意义</vt:lpstr>
      <vt:lpstr>有丝分裂的异常现象</vt:lpstr>
      <vt:lpstr>PowerPoint 演示文稿</vt:lpstr>
      <vt:lpstr>细胞分裂间期多线染色体的形态</vt:lpstr>
      <vt:lpstr>多次有丝分裂</vt:lpstr>
      <vt:lpstr>有丝分裂异常现象与异常时期的关系</vt:lpstr>
      <vt:lpstr>3. 减数分裂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中期I： </vt:lpstr>
      <vt:lpstr> 后期I： </vt:lpstr>
      <vt:lpstr>末期I： </vt:lpstr>
      <vt:lpstr>减数间期：（减数第一次分裂后的间期） </vt:lpstr>
      <vt:lpstr>PowerPoint 演示文稿</vt:lpstr>
      <vt:lpstr>4.减数分裂的遗传学意义</vt:lpstr>
      <vt:lpstr>PowerPoint 演示文稿</vt:lpstr>
      <vt:lpstr>PowerPoint 演示文稿</vt:lpstr>
      <vt:lpstr>PowerPoint 演示文稿</vt:lpstr>
      <vt:lpstr>第三节 染色体周史</vt:lpstr>
      <vt:lpstr>PowerPoint 演示文稿</vt:lpstr>
      <vt:lpstr>第三节 染色体周史</vt:lpstr>
      <vt:lpstr>1.动物的生活史 </vt:lpstr>
      <vt:lpstr>1.动物的生活史 </vt:lpstr>
      <vt:lpstr>PowerPoint 演示文稿</vt:lpstr>
      <vt:lpstr>PowerPoint 演示文稿</vt:lpstr>
      <vt:lpstr>PowerPoint 演示文稿</vt:lpstr>
      <vt:lpstr>2.植物的生活史 </vt:lpstr>
      <vt:lpstr>PowerPoint 演示文稿</vt:lpstr>
      <vt:lpstr>雄配子体的形成</vt:lpstr>
      <vt:lpstr>PowerPoint 演示文稿</vt:lpstr>
      <vt:lpstr>PowerPoint 演示文稿</vt:lpstr>
      <vt:lpstr> 4.真菌类的生活史 </vt:lpstr>
      <vt:lpstr>PowerPoint 演示文稿</vt:lpstr>
      <vt:lpstr>无融合生殖</vt:lpstr>
      <vt:lpstr>PowerPoint 演示文稿</vt:lpstr>
      <vt:lpstr>第四节 遗传的染色体学说</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遗传的染色体学说 </dc:title>
  <dc:creator> </dc:creator>
  <cp:lastModifiedBy>Yijie Lee</cp:lastModifiedBy>
  <cp:revision>148</cp:revision>
  <dcterms:created xsi:type="dcterms:W3CDTF">2019-10-04T11:04:00Z</dcterms:created>
  <dcterms:modified xsi:type="dcterms:W3CDTF">2024-01-29T13:10:24Z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