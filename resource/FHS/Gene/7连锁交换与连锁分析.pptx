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dp" ContentType="image/vnd.ms-photo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701" r:id="rId3"/>
    <p:sldId id="257" r:id="rId5"/>
    <p:sldId id="258" r:id="rId6"/>
    <p:sldId id="259" r:id="rId7"/>
    <p:sldId id="263" r:id="rId8"/>
    <p:sldId id="264" r:id="rId9"/>
    <p:sldId id="4732" r:id="rId10"/>
    <p:sldId id="265" r:id="rId11"/>
    <p:sldId id="266" r:id="rId12"/>
    <p:sldId id="4702" r:id="rId13"/>
    <p:sldId id="478" r:id="rId14"/>
    <p:sldId id="269" r:id="rId15"/>
    <p:sldId id="270" r:id="rId16"/>
    <p:sldId id="272" r:id="rId17"/>
    <p:sldId id="273" r:id="rId18"/>
    <p:sldId id="4703" r:id="rId19"/>
    <p:sldId id="327" r:id="rId20"/>
    <p:sldId id="4704" r:id="rId21"/>
    <p:sldId id="4705" r:id="rId22"/>
    <p:sldId id="4706" r:id="rId23"/>
    <p:sldId id="281" r:id="rId24"/>
    <p:sldId id="329" r:id="rId25"/>
    <p:sldId id="283" r:id="rId26"/>
    <p:sldId id="4708" r:id="rId27"/>
    <p:sldId id="284" r:id="rId28"/>
    <p:sldId id="287" r:id="rId29"/>
    <p:sldId id="4709" r:id="rId30"/>
    <p:sldId id="289" r:id="rId31"/>
    <p:sldId id="4692" r:id="rId32"/>
    <p:sldId id="4731" r:id="rId33"/>
    <p:sldId id="290" r:id="rId34"/>
    <p:sldId id="4712" r:id="rId35"/>
    <p:sldId id="4729" r:id="rId36"/>
    <p:sldId id="292" r:id="rId37"/>
    <p:sldId id="295" r:id="rId38"/>
    <p:sldId id="296" r:id="rId39"/>
    <p:sldId id="297" r:id="rId40"/>
    <p:sldId id="298" r:id="rId41"/>
    <p:sldId id="299" r:id="rId42"/>
    <p:sldId id="4714" r:id="rId43"/>
    <p:sldId id="301" r:id="rId44"/>
    <p:sldId id="302" r:id="rId45"/>
    <p:sldId id="303" r:id="rId46"/>
    <p:sldId id="4730" r:id="rId47"/>
    <p:sldId id="304" r:id="rId48"/>
    <p:sldId id="305" r:id="rId49"/>
    <p:sldId id="306" r:id="rId50"/>
    <p:sldId id="4715" r:id="rId51"/>
    <p:sldId id="357" r:id="rId52"/>
    <p:sldId id="332" r:id="rId53"/>
    <p:sldId id="307" r:id="rId54"/>
    <p:sldId id="308" r:id="rId55"/>
    <p:sldId id="310" r:id="rId56"/>
    <p:sldId id="4639" r:id="rId57"/>
    <p:sldId id="4693" r:id="rId58"/>
    <p:sldId id="4694" r:id="rId59"/>
    <p:sldId id="4695" r:id="rId60"/>
    <p:sldId id="4696" r:id="rId61"/>
    <p:sldId id="4697" r:id="rId62"/>
    <p:sldId id="4698" r:id="rId63"/>
    <p:sldId id="4699" r:id="rId64"/>
    <p:sldId id="314" r:id="rId65"/>
    <p:sldId id="479" r:id="rId66"/>
    <p:sldId id="535" r:id="rId67"/>
    <p:sldId id="4717" r:id="rId68"/>
    <p:sldId id="542" r:id="rId69"/>
    <p:sldId id="342" r:id="rId70"/>
    <p:sldId id="4718" r:id="rId71"/>
    <p:sldId id="544" r:id="rId72"/>
    <p:sldId id="4720" r:id="rId73"/>
    <p:sldId id="4721" r:id="rId74"/>
    <p:sldId id="4722" r:id="rId75"/>
    <p:sldId id="349" r:id="rId76"/>
    <p:sldId id="4556" r:id="rId77"/>
    <p:sldId id="4557" r:id="rId78"/>
    <p:sldId id="348" r:id="rId79"/>
    <p:sldId id="367" r:id="rId80"/>
    <p:sldId id="4558" r:id="rId81"/>
    <p:sldId id="4726" r:id="rId82"/>
    <p:sldId id="4559" r:id="rId83"/>
    <p:sldId id="4560" r:id="rId84"/>
    <p:sldId id="368" r:id="rId85"/>
    <p:sldId id="4725" r:id="rId86"/>
    <p:sldId id="4723" r:id="rId87"/>
    <p:sldId id="345" r:id="rId88"/>
    <p:sldId id="4641" r:id="rId89"/>
    <p:sldId id="4727" r:id="rId90"/>
    <p:sldId id="4728" r:id="rId91"/>
    <p:sldId id="4640" r:id="rId92"/>
    <p:sldId id="352" r:id="rId93"/>
    <p:sldId id="354" r:id="rId94"/>
    <p:sldId id="4642" r:id="rId9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31B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88284" autoAdjust="0"/>
  </p:normalViewPr>
  <p:slideViewPr>
    <p:cSldViewPr snapToGrid="0" showGuides="1">
      <p:cViewPr>
        <p:scale>
          <a:sx n="50" d="100"/>
          <a:sy n="50" d="100"/>
        </p:scale>
        <p:origin x="3222" y="1182"/>
      </p:cViewPr>
      <p:guideLst>
        <p:guide orient="horz" pos="219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8" Type="http://schemas.openxmlformats.org/officeDocument/2006/relationships/tableStyles" Target="tableStyles.xml"/><Relationship Id="rId97" Type="http://schemas.openxmlformats.org/officeDocument/2006/relationships/viewProps" Target="viewProps.xml"/><Relationship Id="rId96" Type="http://schemas.openxmlformats.org/officeDocument/2006/relationships/presProps" Target="presProps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Clr>
                <a:srgbClr val="FF0066"/>
              </a:buClr>
              <a:buNone/>
            </a:pPr>
            <a:r>
              <a:rPr lang="en-US" altLang="zh-CN" sz="1200" dirty="0"/>
              <a:t>P28</a:t>
            </a:r>
            <a:endParaRPr lang="en-US" altLang="zh-CN" sz="1200" dirty="0"/>
          </a:p>
          <a:p>
            <a:pPr marL="0" indent="0">
              <a:lnSpc>
                <a:spcPct val="90000"/>
              </a:lnSpc>
              <a:buClr>
                <a:srgbClr val="FF0066"/>
              </a:buClr>
              <a:buNone/>
            </a:pPr>
            <a:r>
              <a:rPr lang="zh-CN" altLang="en-US" sz="1200" dirty="0"/>
              <a:t>重组值测定里面，自交法里面</a:t>
            </a:r>
            <a:endParaRPr lang="en-US" altLang="zh-CN" sz="1200" dirty="0"/>
          </a:p>
          <a:p>
            <a:pPr marL="0" indent="0">
              <a:lnSpc>
                <a:spcPct val="90000"/>
              </a:lnSpc>
              <a:buClr>
                <a:srgbClr val="FF0066"/>
              </a:buClr>
              <a:buNone/>
            </a:pPr>
            <a:r>
              <a:rPr lang="en-US" altLang="zh-CN" sz="1200" dirty="0"/>
              <a:t>B、</a:t>
            </a:r>
            <a:r>
              <a:rPr lang="zh-CN" altLang="en-US" sz="1200" dirty="0"/>
              <a:t>最大可能法</a:t>
            </a:r>
            <a:endParaRPr lang="zh-CN" altLang="en-US" sz="1200" dirty="0"/>
          </a:p>
          <a:p>
            <a:pPr marL="0" indent="0">
              <a:lnSpc>
                <a:spcPct val="90000"/>
              </a:lnSpc>
              <a:buClr>
                <a:srgbClr val="FF0066"/>
              </a:buClr>
              <a:buNone/>
            </a:pPr>
            <a:r>
              <a:rPr lang="en-US" altLang="zh-CN" sz="1200" dirty="0"/>
              <a:t>C、</a:t>
            </a:r>
            <a:r>
              <a:rPr lang="zh-CN" altLang="en-US" sz="1200" dirty="0"/>
              <a:t>乘积法</a:t>
            </a:r>
            <a:endParaRPr lang="en-US" altLang="zh-CN" sz="1200" dirty="0"/>
          </a:p>
          <a:p>
            <a:pPr marL="0" indent="0">
              <a:lnSpc>
                <a:spcPct val="90000"/>
              </a:lnSpc>
              <a:buClr>
                <a:srgbClr val="FF0066"/>
              </a:buClr>
              <a:buNone/>
            </a:pP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12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四种表现型个体数的比例与9:3:3:1相差很大，并且</a:t>
            </a:r>
            <a:r>
              <a:rPr lang="zh-CN" altLang="zh-CN" sz="1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两亲本性状组合类型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zh-CN" sz="1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紫圆和红长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)的</a:t>
            </a:r>
            <a:r>
              <a:rPr lang="zh-CN" altLang="zh-CN" sz="1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实际数高于理论数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，而</a:t>
            </a:r>
            <a:r>
              <a:rPr lang="zh-CN" altLang="zh-CN" sz="1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两种新性状组合类型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zh-CN" sz="1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紫长和红圆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)的</a:t>
            </a:r>
            <a:r>
              <a:rPr lang="zh-CN" altLang="zh-CN" sz="1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实际数少于理论数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/>
              <a:t>可进行卡方检验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12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四种表现型个体数的比例与9:3:3:1相差很大，并且</a:t>
            </a:r>
            <a:r>
              <a:rPr lang="zh-CN" altLang="zh-CN" sz="1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两亲本性状组合类型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zh-CN" sz="1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紫圆和红长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)的</a:t>
            </a:r>
            <a:r>
              <a:rPr lang="zh-CN" altLang="zh-CN" sz="1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实际数高于理论数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，而</a:t>
            </a:r>
            <a:r>
              <a:rPr lang="zh-CN" altLang="zh-CN" sz="1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两种新性状组合类型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zh-CN" sz="1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紫长和红圆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)的</a:t>
            </a:r>
            <a:r>
              <a:rPr lang="zh-CN" altLang="zh-CN" sz="1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实际数少于理论数</a:t>
            </a:r>
            <a:r>
              <a:rPr lang="zh-CN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dirty="0"/>
              <a:t>可进行卡方检验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测交后代只有两种表型，比例为</a:t>
            </a:r>
            <a:r>
              <a:rPr lang="en-US" altLang="zh-CN" dirty="0"/>
              <a:t>1∶1</a:t>
            </a:r>
            <a:r>
              <a:rPr lang="zh-CN" altLang="en-US" dirty="0"/>
              <a:t>，没有重组类型出现 </a:t>
            </a:r>
            <a:r>
              <a:rPr lang="en-US" altLang="zh-CN" dirty="0"/>
              <a:t>, </a:t>
            </a:r>
            <a:r>
              <a:rPr lang="zh-CN" altLang="en-US" dirty="0"/>
              <a:t>表现为完全连锁。</a:t>
            </a:r>
            <a:endParaRPr lang="zh-CN" alt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出现了重组类型，但亲组合比重组合多，表现为不完全连锁。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/>
              <a:t>一般地说，交换率愈小，基因间的连锁愈易察觉，测交比例与 </a:t>
            </a:r>
            <a:r>
              <a:rPr lang="en-US" altLang="zh-CN" sz="1200" dirty="0"/>
              <a:t>1∶1∶1∶1 </a:t>
            </a:r>
            <a:r>
              <a:rPr lang="zh-CN" altLang="en-US" sz="1200" dirty="0"/>
              <a:t>相差愈大；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/>
              <a:t>交换率愈大时，基因间的连锁愈难察觉，测交比例与 </a:t>
            </a:r>
            <a:r>
              <a:rPr lang="en-US" altLang="zh-CN" sz="1200" dirty="0"/>
              <a:t>1∶1∶1∶1 </a:t>
            </a:r>
            <a:r>
              <a:rPr lang="zh-CN" altLang="en-US" sz="1200" dirty="0"/>
              <a:t>很接近，需要有大量的测交后代，否则不易鉴别。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1305" indent="-281305">
              <a:buNone/>
            </a:pPr>
            <a:r>
              <a:rPr lang="zh-CN" altLang="en-US" dirty="0"/>
              <a:t>1.基因交换的实验证明</a:t>
            </a:r>
            <a:endParaRPr lang="zh-CN" altLang="en-US" dirty="0"/>
          </a:p>
          <a:p>
            <a:pPr marL="281305" indent="-281305">
              <a:buNone/>
            </a:pPr>
            <a:r>
              <a:rPr lang="zh-CN" altLang="en-US" dirty="0">
                <a:latin typeface="宋体" panose="02010600030101010101" pitchFamily="2" charset="-122"/>
              </a:rPr>
              <a:t>① </a:t>
            </a:r>
            <a:r>
              <a:rPr lang="en-US" altLang="zh-CN" dirty="0" err="1">
                <a:latin typeface="宋体" panose="02010600030101010101" pitchFamily="2" charset="-122"/>
              </a:rPr>
              <a:t>Creightion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dirty="0" err="1">
                <a:latin typeface="宋体" panose="02010600030101010101" pitchFamily="2" charset="-122"/>
              </a:rPr>
              <a:t>Mclintock</a:t>
            </a:r>
            <a:r>
              <a:rPr lang="zh-CN" altLang="en-US" dirty="0">
                <a:latin typeface="宋体" panose="02010600030101010101" pitchFamily="2" charset="-122"/>
              </a:rPr>
              <a:t>的实验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281305" indent="-281305">
              <a:buNone/>
            </a:pPr>
            <a:r>
              <a:rPr lang="zh-CN" altLang="en-US" dirty="0">
                <a:latin typeface="宋体" panose="02010600030101010101" pitchFamily="2" charset="-122"/>
              </a:rPr>
              <a:t>②</a:t>
            </a:r>
            <a:r>
              <a:rPr lang="zh-CN" altLang="en-US" dirty="0"/>
              <a:t> </a:t>
            </a:r>
            <a:r>
              <a:rPr lang="en-US" altLang="zh-CN" dirty="0"/>
              <a:t>Stern</a:t>
            </a:r>
            <a:r>
              <a:rPr lang="zh-CN" altLang="en-US" dirty="0"/>
              <a:t>的实验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3.交换与交叉的关系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/>
              <a:t>实验证明：</a:t>
            </a:r>
            <a:r>
              <a:rPr lang="zh-CN" altLang="en-US" sz="1200" dirty="0">
                <a:solidFill>
                  <a:srgbClr val="FF0066"/>
                </a:solidFill>
              </a:rPr>
              <a:t>花斑染色技术</a:t>
            </a:r>
            <a:endParaRPr lang="zh-CN" altLang="en-US" sz="1200" dirty="0">
              <a:solidFill>
                <a:srgbClr val="FF0066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151554" name="幻灯片图像占位符 15155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1555" name="文本占位符 15155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重组率最大的两个基因应该位于两边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1</a:t>
            </a:r>
            <a:r>
              <a:rPr lang="zh-CN" altLang="en-US" sz="1200" dirty="0"/>
              <a:t>次三点试验中得到的</a:t>
            </a:r>
            <a:r>
              <a:rPr lang="en-US" altLang="zh-CN" sz="1200" dirty="0"/>
              <a:t>3</a:t>
            </a:r>
            <a:r>
              <a:rPr lang="zh-CN" altLang="en-US" sz="1200" dirty="0"/>
              <a:t>个重组率是在</a:t>
            </a:r>
            <a:r>
              <a:rPr lang="zh-CN" altLang="en-US" sz="1200" dirty="0">
                <a:solidFill>
                  <a:srgbClr val="FF0000"/>
                </a:solidFill>
              </a:rPr>
              <a:t>同一基因型背景，同一环境条件</a:t>
            </a:r>
            <a:r>
              <a:rPr lang="zh-CN" altLang="en-US" sz="1200" dirty="0"/>
              <a:t>下得到的；而</a:t>
            </a:r>
            <a:r>
              <a:rPr lang="en-US" altLang="zh-CN" sz="1200" dirty="0"/>
              <a:t>3</a:t>
            </a:r>
            <a:r>
              <a:rPr lang="zh-CN" altLang="en-US" sz="1200" dirty="0"/>
              <a:t>次“两点试验”就不一定这样，因为重组率既受基因型背景的影响，也受各种环境条件的影响。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相邻两个交换是否会发生相互影响呢</a:t>
            </a:r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两基因间的重组率一定在</a:t>
            </a:r>
            <a:r>
              <a:rPr lang="en-US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0-50%</a:t>
            </a:r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之间，而图距可以大于</a:t>
            </a:r>
            <a:r>
              <a:rPr lang="en-US" altLang="zh-CN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50</a:t>
            </a:r>
            <a:r>
              <a: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rPr>
              <a:t>，因为图距实际上是交换率，包括了双交换等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黑体" panose="02010609060101010101" pitchFamily="49" charset="-122"/>
              </a:rPr>
              <a:t>x</a:t>
            </a:r>
            <a:r>
              <a:rPr lang="zh-CN" altLang="en-US" dirty="0">
                <a:latin typeface="黑体" panose="02010609060101010101" pitchFamily="49" charset="-122"/>
              </a:rPr>
              <a:t>表示交换率，</a:t>
            </a:r>
            <a:r>
              <a:rPr lang="en-US" altLang="zh-CN" dirty="0">
                <a:latin typeface="黑体" panose="02010609060101010101" pitchFamily="49" charset="-122"/>
              </a:rPr>
              <a:t>m</a:t>
            </a:r>
            <a:r>
              <a:rPr lang="zh-CN" altLang="en-US" dirty="0">
                <a:latin typeface="黑体" panose="02010609060101010101" pitchFamily="49" charset="-122"/>
              </a:rPr>
              <a:t>表示每个减数分裂细胞在某一特定区域发生交换的平均次数。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nic</a:t>
            </a:r>
            <a:r>
              <a:rPr lang="zh-CN" altLang="en-US" sz="1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2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ade</a:t>
            </a:r>
            <a:r>
              <a:rPr lang="zh-CN" altLang="en-US" sz="1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23</a:t>
            </a:r>
            <a:r>
              <a:rPr lang="zh-CN" altLang="en-US" sz="1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种情况中的重组率不同，可计算得出！！！！！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因为存在双交换。例如子囊型（</a:t>
            </a:r>
            <a:r>
              <a:rPr lang="en-US" altLang="zh-CN" dirty="0"/>
              <a:t>4</a:t>
            </a:r>
            <a:r>
              <a:rPr lang="zh-CN" altLang="en-US" dirty="0"/>
              <a:t>）对 </a:t>
            </a:r>
            <a:r>
              <a:rPr lang="en-US" altLang="zh-CN" dirty="0"/>
              <a:t>+/</a:t>
            </a:r>
            <a:r>
              <a:rPr lang="en-US" altLang="zh-CN" dirty="0" err="1"/>
              <a:t>ade</a:t>
            </a:r>
            <a:r>
              <a:rPr lang="en-US" altLang="zh-CN" dirty="0"/>
              <a:t> </a:t>
            </a:r>
            <a:r>
              <a:rPr lang="zh-CN" altLang="en-US" dirty="0"/>
              <a:t>来说是在 </a:t>
            </a:r>
            <a:r>
              <a:rPr lang="en-US" altLang="zh-CN" dirty="0"/>
              <a:t>M1</a:t>
            </a:r>
            <a:r>
              <a:rPr lang="zh-CN" altLang="en-US" dirty="0"/>
              <a:t>分 离，但同时考虑 </a:t>
            </a:r>
            <a:r>
              <a:rPr lang="en-US" altLang="zh-CN" dirty="0"/>
              <a:t>+/</a:t>
            </a:r>
            <a:r>
              <a:rPr lang="en-US" altLang="zh-CN" dirty="0" err="1"/>
              <a:t>nic</a:t>
            </a:r>
            <a:r>
              <a:rPr lang="en-US" altLang="zh-CN" dirty="0"/>
              <a:t> </a:t>
            </a:r>
            <a:r>
              <a:rPr lang="zh-CN" altLang="en-US" dirty="0"/>
              <a:t>时，知道在这些子囊中实际发生了二线双交换。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许多分子水平的遗传标记被开发出来，被广泛应用到了人类连锁分析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在某个体的一条染色体片段上，来自父亲的 </a:t>
            </a:r>
            <a:r>
              <a:rPr lang="en-US" altLang="zh-CN" dirty="0"/>
              <a:t>DNA</a:t>
            </a:r>
            <a:r>
              <a:rPr lang="zh-CN" altLang="en-US" dirty="0"/>
              <a:t>序列中存在 </a:t>
            </a:r>
            <a:r>
              <a:rPr lang="en-US" altLang="zh-CN" dirty="0"/>
              <a:t>4 </a:t>
            </a:r>
            <a:r>
              <a:rPr lang="zh-CN" altLang="en-US" dirty="0"/>
              <a:t>个特定限制性内切核酸酶酶切位点，</a:t>
            </a:r>
            <a:endParaRPr lang="en-US" altLang="zh-CN" dirty="0"/>
          </a:p>
          <a:p>
            <a:r>
              <a:rPr lang="zh-CN" altLang="en-US" dirty="0"/>
              <a:t>而来自于母亲的 </a:t>
            </a:r>
            <a:r>
              <a:rPr lang="en-US" altLang="zh-CN" dirty="0"/>
              <a:t>DNA </a:t>
            </a:r>
            <a:r>
              <a:rPr lang="zh-CN" altLang="en-US" dirty="0"/>
              <a:t>序列在 * 处与父源</a:t>
            </a:r>
            <a:r>
              <a:rPr lang="en-US" altLang="zh-CN" dirty="0"/>
              <a:t>DNA </a:t>
            </a:r>
            <a:r>
              <a:rPr lang="zh-CN" altLang="en-US" dirty="0"/>
              <a:t>序列有差异，造成了一个酶切位点的丢失。经酶切后得到的 </a:t>
            </a:r>
            <a:r>
              <a:rPr lang="en-US" altLang="zh-CN" dirty="0"/>
              <a:t>RF</a:t>
            </a:r>
            <a:r>
              <a:rPr lang="zh-CN" altLang="en-US" dirty="0"/>
              <a:t>数目不同，大小亦不相同（虚线框内）。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defRPr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一个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假想的 </a:t>
            </a:r>
            <a:r>
              <a:rPr lang="en-US" altLang="zh-CN" sz="2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SSLP 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位点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，方框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代表该 </a:t>
            </a:r>
            <a:r>
              <a:rPr lang="en-US" altLang="zh-CN" sz="2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SSLP 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基本重复单位，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个个体分别携带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6/8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5/7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7/9 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个重复拷贝，互不相同。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(b)</a:t>
            </a: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在 </a:t>
            </a:r>
            <a:r>
              <a:rPr lang="en-US" altLang="zh-CN" sz="2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SSLP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的侧翼序列上（</a:t>
            </a:r>
            <a:r>
              <a:rPr lang="zh-CN" altLang="en-US" sz="1400" dirty="0">
                <a:solidFill>
                  <a:srgbClr val="0000FF"/>
                </a:solidFill>
                <a:latin typeface="黑体" panose="02010609060101010101" pitchFamily="49" charset="-122"/>
              </a:rPr>
              <a:t>在每个微卫星两端</a:t>
            </a:r>
            <a:r>
              <a:rPr lang="en-US" altLang="zh-CN" sz="1400" dirty="0">
                <a:solidFill>
                  <a:srgbClr val="0000FF"/>
                </a:solidFill>
                <a:latin typeface="黑体" panose="02010609060101010101" pitchFamily="49" charset="-122"/>
              </a:rPr>
              <a:t>DNA</a:t>
            </a:r>
            <a:r>
              <a:rPr lang="zh-CN" altLang="en-US" sz="1400" dirty="0">
                <a:solidFill>
                  <a:srgbClr val="0000FF"/>
                </a:solidFill>
                <a:latin typeface="黑体" panose="02010609060101010101" pitchFamily="49" charset="-122"/>
              </a:rPr>
              <a:t>的序列多是相对保守的单拷贝序列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）设计引物进行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PCR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扩增，产物经电泳分离，可以看到每个个体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PCR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产物的带形互不相同，这是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由于该 </a:t>
            </a:r>
            <a:r>
              <a:rPr lang="en-US" altLang="zh-CN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SSLP </a:t>
            </a:r>
            <a:r>
              <a:rPr lang="zh-CN" altLang="en-US"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长度差异造成的。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序列右侧的括号中给出了假想的等位基因频率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利用</a:t>
            </a:r>
            <a:r>
              <a:rPr lang="en-US" altLang="zh-CN" dirty="0"/>
              <a:t>SNP</a:t>
            </a:r>
            <a:r>
              <a:rPr lang="zh-CN" altLang="en-US" dirty="0"/>
              <a:t>遗传标记，科学家们不仅有了更精细的遗传图谱，更在肿瘤、衰老、 糖尿病等复杂疾病的易感基因筛选中取得了一系列的成果。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latin typeface="黑体" panose="02010609060101010101" pitchFamily="49" charset="-122"/>
              </a:rPr>
              <a:t>理论上，</a:t>
            </a:r>
            <a:r>
              <a:rPr lang="en-US" altLang="zh-CN" dirty="0">
                <a:latin typeface="黑体" panose="02010609060101010101" pitchFamily="49" charset="-122"/>
              </a:rPr>
              <a:t>SNP</a:t>
            </a:r>
            <a:r>
              <a:rPr lang="zh-CN" altLang="en-US" dirty="0">
                <a:latin typeface="黑体" panose="02010609060101010101" pitchFamily="49" charset="-122"/>
              </a:rPr>
              <a:t>可在核苷酸水平上把序列图、物理图与遗传图有机地整合、统一起来。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l-GR" altLang="zh-CN" sz="12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β</a:t>
            </a:r>
            <a:r>
              <a:rPr lang="zh-CN" altLang="el-GR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正常</a:t>
            </a:r>
            <a:r>
              <a:rPr lang="el-GR" altLang="zh-CN" sz="12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β</a:t>
            </a:r>
            <a:r>
              <a:rPr lang="el-GR" altLang="zh-CN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珠蛋白基因；</a:t>
            </a:r>
            <a:r>
              <a:rPr lang="el-GR" altLang="zh-CN" sz="12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β</a:t>
            </a:r>
            <a:r>
              <a:rPr lang="el-GR" altLang="zh-CN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°</a:t>
            </a:r>
            <a:r>
              <a:rPr lang="zh-CN" altLang="el-GR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异常</a:t>
            </a:r>
            <a:r>
              <a:rPr lang="el-GR" altLang="zh-CN" sz="12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β</a:t>
            </a:r>
            <a:r>
              <a:rPr lang="el-GR" altLang="zh-CN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-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珠蛋白基因（有缺失）；</a:t>
            </a:r>
            <a:r>
              <a:rPr lang="en-US" altLang="zh-CN" sz="12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Pst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1200" i="1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Pst</a:t>
            </a:r>
            <a:r>
              <a:rPr lang="en-US" altLang="zh-CN" sz="12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Ⅰ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酶切位点。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由于患者的</a:t>
            </a:r>
            <a:r>
              <a:rPr lang="en-US" altLang="zh-CN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β-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珠蛋白基因内部发生了大段缺失，所以珠蛋白基因两侧的</a:t>
            </a:r>
            <a:r>
              <a:rPr lang="en-US" altLang="zh-CN" sz="1200" i="1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Pst</a:t>
            </a:r>
            <a:r>
              <a:rPr lang="en-US" altLang="zh-CN" sz="12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Ⅰ</a:t>
            </a:r>
            <a:r>
              <a:rPr lang="zh-CN" altLang="en-US" sz="1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位点酶切后形成了大小不同的片段。</a:t>
            </a:r>
            <a:endParaRPr lang="zh-CN" altLang="en-US" sz="12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结果显示在母方，突变基因与 </a:t>
            </a:r>
            <a:r>
              <a:rPr lang="en-US" altLang="zh-CN" sz="12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23 kb DNA </a:t>
            </a:r>
            <a:r>
              <a:rPr lang="zh-CN" altLang="en-US" sz="12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相连锁，而正常基因与 </a:t>
            </a:r>
            <a:r>
              <a:rPr lang="en-US" altLang="zh-CN" sz="12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19 kb DNA </a:t>
            </a:r>
            <a:r>
              <a:rPr lang="zh-CN" altLang="en-US" sz="12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相连锁。而未出生的胎儿的</a:t>
            </a:r>
            <a:r>
              <a:rPr lang="en-US" altLang="zh-CN" sz="12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RF</a:t>
            </a:r>
            <a:r>
              <a:rPr lang="zh-CN" altLang="en-US" sz="12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类型为</a:t>
            </a:r>
            <a:r>
              <a:rPr lang="en-US" altLang="zh-CN" sz="12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23/19</a:t>
            </a:r>
            <a:r>
              <a:rPr lang="zh-CN" altLang="en-US" sz="12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，因此至少携带一个来自母亲的正常基因（与</a:t>
            </a:r>
            <a:r>
              <a:rPr lang="en-US" altLang="zh-CN" sz="12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19 kb</a:t>
            </a:r>
            <a:r>
              <a:rPr lang="zh-CN" altLang="en-US" sz="12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连锁）</a:t>
            </a:r>
            <a:endParaRPr lang="en-US" altLang="zh-CN" sz="1200" b="1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通过出生前基因诊断，建议孕妇继续妊娠，因为生下来的孩子的表型是正常的。</a:t>
            </a:r>
            <a:endParaRPr lang="zh-CN" altLang="en-US" sz="2800" b="1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076700"/>
            <a:ext cx="10515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10515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4076700"/>
            <a:ext cx="10515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24367" y="76200"/>
            <a:ext cx="11698817" cy="5984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5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0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687D-AB34-4C37-9D27-4EC8F8F50E7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>
            <a:lvl1pPr>
              <a:defRPr/>
            </a:lvl1pPr>
          </a:lstStyle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687D-AB34-4C37-9D27-4EC8F8F50E7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>
            <a:lvl1pPr>
              <a:defRPr/>
            </a:lvl1pPr>
          </a:lstStyle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687D-AB34-4C37-9D27-4EC8F8F50E7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>
            <a:lvl1pPr>
              <a:defRPr/>
            </a:lvl1pPr>
          </a:lstStyle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687D-AB34-4C37-9D27-4EC8F8F50E7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>
            <a:lvl1pPr>
              <a:defRPr/>
            </a:lvl1pPr>
          </a:lstStyle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687D-AB34-4C37-9D27-4EC8F8F50E7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>
            <a:lvl1pPr>
              <a:defRPr/>
            </a:lvl1pPr>
          </a:lstStyle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687D-AB34-4C37-9D27-4EC8F8F50E7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>
            <a:lvl1pPr>
              <a:defRPr/>
            </a:lvl1pPr>
          </a:lstStyle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>
            <a:lvl1pPr>
              <a:defRPr/>
            </a:lvl1pPr>
          </a:lstStyle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687D-AB34-4C37-9D27-4EC8F8F50E7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>
            <a:lvl1pPr>
              <a:defRPr/>
            </a:lvl1pPr>
          </a:lstStyle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687D-AB34-4C37-9D27-4EC8F8F50E7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>
            <a:lvl1pPr>
              <a:defRPr/>
            </a:lvl1pPr>
          </a:lstStyle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687D-AB34-4C37-9D27-4EC8F8F50E7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>
            <a:lvl1pPr>
              <a:defRPr/>
            </a:lvl1pPr>
          </a:lstStyle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5638" y="1211017"/>
            <a:ext cx="4938347" cy="496594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7687D-AB34-4C37-9D27-4EC8F8F50E7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>
            <a:lvl1pPr>
              <a:defRPr/>
            </a:lvl1pPr>
          </a:lstStyle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microsoft.com/office/2007/relationships/hdphoto" Target="../media/image10.wdp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1.xml"/><Relationship Id="rId6" Type="http://schemas.microsoft.com/office/2007/relationships/hdphoto" Target="../media/image16.wdp"/><Relationship Id="rId5" Type="http://schemas.openxmlformats.org/officeDocument/2006/relationships/image" Target="../media/image15.jpeg"/><Relationship Id="rId4" Type="http://schemas.microsoft.com/office/2007/relationships/hdphoto" Target="../media/image14.wdp"/><Relationship Id="rId3" Type="http://schemas.openxmlformats.org/officeDocument/2006/relationships/image" Target="../media/image13.jpeg"/><Relationship Id="rId2" Type="http://schemas.microsoft.com/office/2007/relationships/hdphoto" Target="../media/image12.wdp"/><Relationship Id="rId1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2.xml"/><Relationship Id="rId6" Type="http://schemas.microsoft.com/office/2007/relationships/hdphoto" Target="../media/image22.wdp"/><Relationship Id="rId5" Type="http://schemas.openxmlformats.org/officeDocument/2006/relationships/image" Target="../media/image21.jpeg"/><Relationship Id="rId4" Type="http://schemas.microsoft.com/office/2007/relationships/hdphoto" Target="../media/image20.wdp"/><Relationship Id="rId3" Type="http://schemas.openxmlformats.org/officeDocument/2006/relationships/image" Target="../media/image19.png"/><Relationship Id="rId2" Type="http://schemas.microsoft.com/office/2007/relationships/hdphoto" Target="../media/image18.wdp"/><Relationship Id="rId1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9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6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microsoft.com/office/2007/relationships/hdphoto" Target="../media/image36.wdp"/><Relationship Id="rId1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7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8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0.png"/><Relationship Id="rId1" Type="http://schemas.openxmlformats.org/officeDocument/2006/relationships/image" Target="../media/image38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1.jpe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41.jpeg"/><Relationship Id="rId1" Type="http://schemas.openxmlformats.org/officeDocument/2006/relationships/image" Target="../media/image37.jpeg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5.xml"/><Relationship Id="rId4" Type="http://schemas.microsoft.com/office/2007/relationships/hdphoto" Target="../media/image45.wdp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microsoft.com/office/2007/relationships/hdphoto" Target="../media/image48.wdp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jpe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microsoft.com/office/2007/relationships/hdphoto" Target="../media/image50.wdp"/><Relationship Id="rId1" Type="http://schemas.openxmlformats.org/officeDocument/2006/relationships/image" Target="../media/image49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microsoft.com/office/2007/relationships/hdphoto" Target="../media/image52.wdp"/><Relationship Id="rId1" Type="http://schemas.openxmlformats.org/officeDocument/2006/relationships/image" Target="../media/image51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microsoft.com/office/2007/relationships/hdphoto" Target="../media/image54.wdp"/><Relationship Id="rId1" Type="http://schemas.openxmlformats.org/officeDocument/2006/relationships/image" Target="../media/image5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56.wdp"/><Relationship Id="rId1" Type="http://schemas.openxmlformats.org/officeDocument/2006/relationships/image" Target="../media/image55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7.xml"/><Relationship Id="rId4" Type="http://schemas.microsoft.com/office/2007/relationships/hdphoto" Target="../media/image60.wdp"/><Relationship Id="rId3" Type="http://schemas.openxmlformats.org/officeDocument/2006/relationships/image" Target="../media/image59.jpeg"/><Relationship Id="rId2" Type="http://schemas.microsoft.com/office/2007/relationships/hdphoto" Target="../media/image58.wdp"/><Relationship Id="rId1" Type="http://schemas.openxmlformats.org/officeDocument/2006/relationships/image" Target="../media/image57.jpe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emf"/></Relationships>
</file>

<file path=ppt/slides/_rels/slide6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microsoft.com/office/2007/relationships/hdphoto" Target="../media/image65.wdp"/><Relationship Id="rId3" Type="http://schemas.openxmlformats.org/officeDocument/2006/relationships/image" Target="../media/image64.png"/><Relationship Id="rId2" Type="http://schemas.openxmlformats.org/officeDocument/2006/relationships/image" Target="../media/image62.emf"/><Relationship Id="rId1" Type="http://schemas.openxmlformats.org/officeDocument/2006/relationships/image" Target="../media/image63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microsoft.com/office/2007/relationships/hdphoto" Target="../media/image67.wdp"/><Relationship Id="rId1" Type="http://schemas.openxmlformats.org/officeDocument/2006/relationships/image" Target="../media/image66.jpeg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microsoft.com/office/2007/relationships/hdphoto" Target="../media/image67.wdp"/><Relationship Id="rId2" Type="http://schemas.openxmlformats.org/officeDocument/2006/relationships/image" Target="../media/image66.jpeg"/><Relationship Id="rId1" Type="http://schemas.openxmlformats.org/officeDocument/2006/relationships/image" Target="../media/image68.emf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7.xml"/><Relationship Id="rId7" Type="http://schemas.microsoft.com/office/2007/relationships/hdphoto" Target="../media/image67.wdp"/><Relationship Id="rId6" Type="http://schemas.openxmlformats.org/officeDocument/2006/relationships/image" Target="../media/image66.jpeg"/><Relationship Id="rId5" Type="http://schemas.microsoft.com/office/2007/relationships/hdphoto" Target="../media/image73.wdp"/><Relationship Id="rId4" Type="http://schemas.openxmlformats.org/officeDocument/2006/relationships/image" Target="../media/image72.jpeg"/><Relationship Id="rId3" Type="http://schemas.openxmlformats.org/officeDocument/2006/relationships/image" Target="../media/image71.png"/><Relationship Id="rId2" Type="http://schemas.microsoft.com/office/2007/relationships/hdphoto" Target="../media/image70.wdp"/><Relationship Id="rId1" Type="http://schemas.openxmlformats.org/officeDocument/2006/relationships/image" Target="../media/image69.jpe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8.xml"/><Relationship Id="rId2" Type="http://schemas.microsoft.com/office/2007/relationships/hdphoto" Target="../media/image75.wdp"/><Relationship Id="rId1" Type="http://schemas.openxmlformats.org/officeDocument/2006/relationships/image" Target="../media/image74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78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8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9.xml"/><Relationship Id="rId2" Type="http://schemas.microsoft.com/office/2007/relationships/hdphoto" Target="../media/image80.wdp"/><Relationship Id="rId1" Type="http://schemas.openxmlformats.org/officeDocument/2006/relationships/image" Target="../media/image79.png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9.xml"/><Relationship Id="rId2" Type="http://schemas.microsoft.com/office/2007/relationships/hdphoto" Target="../media/image82.wdp"/><Relationship Id="rId1" Type="http://schemas.openxmlformats.org/officeDocument/2006/relationships/image" Target="../media/image81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7.xml"/><Relationship Id="rId2" Type="http://schemas.microsoft.com/office/2007/relationships/hdphoto" Target="../media/image84.wdp"/><Relationship Id="rId1" Type="http://schemas.openxmlformats.org/officeDocument/2006/relationships/image" Target="../media/image83.jpe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9.xml"/><Relationship Id="rId2" Type="http://schemas.microsoft.com/office/2007/relationships/hdphoto" Target="../media/image86.wdp"/><Relationship Id="rId1" Type="http://schemas.openxmlformats.org/officeDocument/2006/relationships/image" Target="../media/image85.jpe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7.wmf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标题 114689"/>
          <p:cNvSpPr>
            <a:spLocks noGrp="1"/>
          </p:cNvSpPr>
          <p:nvPr>
            <p:ph type="ctrTitle"/>
          </p:nvPr>
        </p:nvSpPr>
        <p:spPr>
          <a:xfrm>
            <a:off x="1171663" y="1172817"/>
            <a:ext cx="9144000" cy="745436"/>
          </a:xfrm>
        </p:spPr>
        <p:txBody>
          <a:bodyPr lIns="92075" tIns="46038" rIns="92075" bIns="46038" anchor="ctr">
            <a:normAutofit/>
          </a:bodyPr>
          <a:lstStyle/>
          <a:p>
            <a:pPr defTabSz="914400">
              <a:buSzTx/>
            </a:pPr>
            <a:r>
              <a:rPr lang="zh-CN" altLang="en-US" sz="4400" b="1" kern="1200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第一节 连锁与交换</a:t>
            </a:r>
            <a:endParaRPr lang="en-US" altLang="zh-CN" kern="1200" baseline="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4691" name="副标题 114690"/>
          <p:cNvSpPr>
            <a:spLocks noGrp="1"/>
          </p:cNvSpPr>
          <p:nvPr>
            <p:ph type="subTitle" idx="1"/>
          </p:nvPr>
        </p:nvSpPr>
        <p:spPr>
          <a:xfrm>
            <a:off x="2439440" y="2138361"/>
            <a:ext cx="6534439" cy="3432260"/>
          </a:xfrm>
        </p:spPr>
        <p:txBody>
          <a:bodyPr lIns="92075" tIns="46038" rIns="92075" bIns="46038" anchor="t">
            <a:normAutofit/>
          </a:bodyPr>
          <a:lstStyle/>
          <a:p>
            <a:pPr algn="l" defTabSz="914400">
              <a:buSzPct val="75000"/>
            </a:pPr>
            <a:r>
              <a:rPr lang="zh-CN" altLang="en-US" sz="2800" b="1" kern="1200" baseline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一、连锁遗传现象</a:t>
            </a:r>
            <a:endParaRPr lang="zh-CN" altLang="en-US" sz="2800" b="1" kern="1200" baseline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defTabSz="914400">
              <a:buSzPct val="75000"/>
            </a:pPr>
            <a:r>
              <a:rPr lang="zh-CN" altLang="en-US" sz="2800" b="1" kern="1200" baseline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二、连锁遗传的解释</a:t>
            </a:r>
            <a:endParaRPr lang="zh-CN" altLang="en-US" sz="2800" b="1" kern="1200" baseline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defTabSz="914400">
              <a:buSzPct val="75000"/>
            </a:pPr>
            <a:r>
              <a:rPr lang="zh-CN" altLang="en-US" sz="2800" b="1" kern="1200" baseline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三、完全连锁与不完全连锁</a:t>
            </a:r>
            <a:endParaRPr lang="zh-CN" altLang="en-US" sz="2800" b="1" kern="1200" baseline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defTabSz="914400">
              <a:buSzPct val="75000"/>
            </a:pPr>
            <a:r>
              <a:rPr lang="zh-CN" altLang="en-US" sz="2800" b="1" kern="1200" baseline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四、交换与不完全连锁的形成</a:t>
            </a:r>
            <a:endParaRPr lang="zh-CN" altLang="en-US" sz="2800" b="1" kern="1200" baseline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defTabSz="914400">
              <a:buSzPct val="75000"/>
            </a:pPr>
            <a:r>
              <a:rPr lang="zh-CN" altLang="en-US" sz="2800" b="1" kern="1200" baseline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</a:t>
            </a:r>
            <a:r>
              <a:rPr lang="en-US" altLang="en-US" sz="2800" b="1" kern="1200" baseline="0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交换的细胞学证据</a:t>
            </a:r>
            <a:endParaRPr lang="en-US" altLang="en-US" sz="2800" b="1" kern="1200" baseline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algn="l">
              <a:buSzPct val="75000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六、连锁群</a:t>
            </a:r>
            <a:endParaRPr lang="zh-CN" altLang="en-US" sz="2800" b="1" kern="1200" baseline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标题 235521"/>
          <p:cNvSpPr txBox="1"/>
          <p:nvPr/>
        </p:nvSpPr>
        <p:spPr>
          <a:xfrm>
            <a:off x="1171663" y="0"/>
            <a:ext cx="9144000" cy="1328825"/>
          </a:xfrm>
          <a:prstGeom prst="rect">
            <a:avLst/>
          </a:prstGeom>
        </p:spPr>
        <p:txBody>
          <a:bodyPr vert="horz" lIns="92075" tIns="46038" rIns="92075" bIns="46038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b="1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第七章 </a:t>
            </a: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染色体和连锁群</a:t>
            </a:r>
            <a:endParaRPr lang="zh-CN" altLang="en-US" sz="44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4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advAuto="100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04190" y="1522651"/>
            <a:ext cx="11294167" cy="2646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3200" b="1" dirty="0">
                <a:latin typeface="+mj-ea"/>
                <a:ea typeface="+mj-ea"/>
              </a:rPr>
              <a:t>　   W. Bateson(1906)</a:t>
            </a:r>
            <a:r>
              <a:rPr lang="zh-CN" altLang="zh-CN" sz="3200" b="1" dirty="0">
                <a:latin typeface="+mj-ea"/>
                <a:ea typeface="+mj-ea"/>
              </a:rPr>
              <a:t>在香豌豆</a:t>
            </a:r>
            <a:r>
              <a:rPr lang="zh-CN" altLang="en-US" sz="3200" b="1" dirty="0">
                <a:latin typeface="+mj-ea"/>
                <a:ea typeface="+mj-ea"/>
              </a:rPr>
              <a:t>两对相对性状杂交试验中发现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连锁遗传(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</a:rPr>
              <a:t>linkage)</a:t>
            </a:r>
            <a:r>
              <a:rPr lang="zh-CN" altLang="en-US" sz="3200" b="1" dirty="0">
                <a:latin typeface="+mj-ea"/>
                <a:ea typeface="+mj-ea"/>
              </a:rPr>
              <a:t>现象。</a:t>
            </a:r>
            <a:endParaRPr lang="en-US" altLang="zh-CN" sz="3200" b="1" dirty="0">
              <a:latin typeface="+mj-ea"/>
              <a:ea typeface="+mj-ea"/>
            </a:endParaRPr>
          </a:p>
          <a:p>
            <a:pPr>
              <a:lnSpc>
                <a:spcPct val="105000"/>
              </a:lnSpc>
            </a:pPr>
            <a:endParaRPr lang="zh-CN" altLang="en-US" sz="3200" b="1" dirty="0">
              <a:latin typeface="+mj-ea"/>
              <a:ea typeface="+mj-ea"/>
            </a:endParaRPr>
          </a:p>
          <a:p>
            <a:pPr>
              <a:lnSpc>
                <a:spcPct val="105000"/>
              </a:lnSpc>
            </a:pPr>
            <a:r>
              <a:rPr lang="en-US" altLang="zh-CN" sz="3200" b="1" dirty="0">
                <a:latin typeface="+mj-ea"/>
                <a:ea typeface="+mj-ea"/>
              </a:rPr>
              <a:t>　　T. H. Morgan et al.(1910)</a:t>
            </a:r>
            <a:r>
              <a:rPr lang="zh-CN" altLang="en-US" sz="3200" b="1" dirty="0">
                <a:latin typeface="+mj-ea"/>
                <a:ea typeface="+mj-ea"/>
              </a:rPr>
              <a:t>提出连锁遗传规律以及连锁与交换的遗传机理，并创立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基因论(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</a:rPr>
              <a:t>theory of the gene)</a:t>
            </a:r>
            <a:r>
              <a:rPr lang="en-US" altLang="zh-CN" sz="3200" b="1" dirty="0">
                <a:latin typeface="+mj-ea"/>
                <a:ea typeface="+mj-ea"/>
              </a:rPr>
              <a:t>。</a:t>
            </a:r>
            <a:endParaRPr lang="en-US" altLang="zh-CN" sz="3200" b="1" dirty="0">
              <a:latin typeface="+mj-ea"/>
              <a:ea typeface="+mj-ea"/>
            </a:endParaRPr>
          </a:p>
        </p:txBody>
      </p:sp>
      <p:sp>
        <p:nvSpPr>
          <p:cNvPr id="9" name="标题 114689"/>
          <p:cNvSpPr txBox="1"/>
          <p:nvPr/>
        </p:nvSpPr>
        <p:spPr>
          <a:xfrm>
            <a:off x="1047968" y="399476"/>
            <a:ext cx="9144000" cy="643902"/>
          </a:xfrm>
          <a:prstGeom prst="rect">
            <a:avLst/>
          </a:prstGeom>
        </p:spPr>
        <p:txBody>
          <a:bodyPr vert="horz" lIns="92075" tIns="46038" rIns="92075" bIns="46038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6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第一节 连锁与交换</a:t>
            </a:r>
            <a:endParaRPr lang="en-US" altLang="zh-CN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3" name="标题 13322"/>
          <p:cNvSpPr>
            <a:spLocks noGrp="1"/>
          </p:cNvSpPr>
          <p:nvPr>
            <p:ph type="title"/>
          </p:nvPr>
        </p:nvSpPr>
        <p:spPr>
          <a:xfrm>
            <a:off x="273901" y="778532"/>
            <a:ext cx="10515600" cy="591220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一、</a:t>
            </a:r>
            <a:r>
              <a:rPr lang="en-US" altLang="en-US" sz="36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连锁遗传现象</a:t>
            </a:r>
            <a:endParaRPr lang="en-US" altLang="en-US" sz="2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3324" name="文本占位符 13323"/>
          <p:cNvSpPr>
            <a:spLocks noGrp="1"/>
          </p:cNvSpPr>
          <p:nvPr>
            <p:ph type="body" idx="1"/>
          </p:nvPr>
        </p:nvSpPr>
        <p:spPr>
          <a:xfrm>
            <a:off x="716278" y="1369752"/>
            <a:ext cx="10515600" cy="352446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香豌豆(</a:t>
            </a:r>
            <a:r>
              <a:rPr lang="en-US" altLang="zh-CN" sz="3200" b="1" i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Lathyrus odoratus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两对相对性状杂交试验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lvl="2">
              <a:lnSpc>
                <a:spcPct val="100000"/>
              </a:lnSpc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花色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: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紫花(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P)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对</a:t>
            </a:r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红花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p)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为显性；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lvl="2">
              <a:lnSpc>
                <a:spcPct val="100000"/>
              </a:lnSpc>
              <a:buNone/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花粉粒形状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:</a:t>
            </a:r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长花粉粒(L)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对</a:t>
            </a:r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圆花粉粒(l)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为显性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lvl="2">
              <a:lnSpc>
                <a:spcPct val="100000"/>
              </a:lnSpc>
              <a:buNone/>
            </a:pPr>
            <a:r>
              <a:rPr lang="en-US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(1)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紫花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长花粉粒×红花、圆花粉粒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lvl="2">
              <a:lnSpc>
                <a:spcPct val="100000"/>
              </a:lnSpc>
              <a:buNone/>
            </a:pPr>
            <a:r>
              <a:rPr lang="en-US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(2)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紫花、圆花粉粒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×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红花、长花粉粒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4" name="标题 114689"/>
          <p:cNvSpPr txBox="1"/>
          <p:nvPr/>
        </p:nvSpPr>
        <p:spPr>
          <a:xfrm>
            <a:off x="1047968" y="111473"/>
            <a:ext cx="9144000" cy="643902"/>
          </a:xfrm>
          <a:prstGeom prst="rect">
            <a:avLst/>
          </a:prstGeom>
        </p:spPr>
        <p:txBody>
          <a:bodyPr vert="horz" lIns="92075" tIns="46038" rIns="92075" bIns="46038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16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第一节 连锁与交换</a:t>
            </a:r>
            <a:endParaRPr lang="en-US" altLang="zh-CN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3" grpId="0"/>
      <p:bldP spid="13324" grpId="0" advAuto="100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25601"/>
          <p:cNvSpPr>
            <a:spLocks noGrp="1"/>
          </p:cNvSpPr>
          <p:nvPr>
            <p:ph type="title"/>
          </p:nvPr>
        </p:nvSpPr>
        <p:spPr>
          <a:xfrm>
            <a:off x="823675" y="65997"/>
            <a:ext cx="6551161" cy="681129"/>
          </a:xfrm>
        </p:spPr>
        <p:txBody>
          <a:bodyPr vert="horz" lIns="92075" tIns="46038" rIns="92075" bIns="46038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紫花、长花粉粒×红花、圆花粉粒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765062" y="173143"/>
            <a:ext cx="4825360" cy="424732"/>
          </a:xfrm>
          <a:prstGeom prst="rect">
            <a:avLst/>
          </a:prstGeom>
        </p:spPr>
        <p:txBody>
          <a:bodyPr vert="horz" lIns="92075" tIns="46038" rIns="92075" bIns="46038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Wingdings" panose="05000000000000000000" pitchFamily="2" charset="2"/>
              </a:rPr>
              <a:t>紫花、圆花粉粒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Wingdings" panose="05000000000000000000" pitchFamily="2" charset="2"/>
              </a:rPr>
              <a:t>×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Wingdings" panose="05000000000000000000" pitchFamily="2" charset="2"/>
              </a:rPr>
              <a:t>红花、长花粉粒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3925"/>
            <a:ext cx="6105525" cy="5010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229" y="885825"/>
            <a:ext cx="5915025" cy="5048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15" name="文本占位符 117914"/>
          <p:cNvSpPr>
            <a:spLocks noGrp="1"/>
          </p:cNvSpPr>
          <p:nvPr>
            <p:ph type="body" sz="half" idx="1"/>
          </p:nvPr>
        </p:nvSpPr>
        <p:spPr>
          <a:xfrm>
            <a:off x="224033" y="179894"/>
            <a:ext cx="11743933" cy="1404358"/>
          </a:xfrm>
        </p:spPr>
        <p:txBody>
          <a:bodyPr>
            <a:noAutofit/>
          </a:bodyPr>
          <a:lstStyle/>
          <a:p>
            <a:pPr marL="0" indent="0">
              <a:buClr>
                <a:schemeClr val="tx2"/>
              </a:buClr>
              <a:buSzPct val="75000"/>
              <a:buNone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连锁遗传现象</a:t>
            </a:r>
            <a:endParaRPr lang="en-US" altLang="en-US" sz="32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	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杂交试验中，原来为同一亲本所具有的两个性状在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F</a:t>
            </a:r>
            <a:r>
              <a:rPr lang="en-US" altLang="zh-CN" sz="3200" b="1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中不符合独立分配规律，而</a:t>
            </a:r>
            <a:r>
              <a:rPr lang="zh-CN" altLang="zh-CN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常有连在一起遗传的倾向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的现象。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4033" y="2152812"/>
            <a:ext cx="116583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相引相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：不同显性基因（或不同隐性基因）相互联系在一起的基因构型。         如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AB/ab</a:t>
            </a: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相斥相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：显性基因和隐性基因相互联系在一起的基因构型。如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Ab/</a:t>
            </a:r>
            <a:r>
              <a:rPr lang="en-US" altLang="zh-CN" sz="2800" b="1" dirty="0" err="1">
                <a:latin typeface="Arial" panose="020B0604020202020204" pitchFamily="34" charset="0"/>
                <a:ea typeface="黑体" panose="02010609060101010101" pitchFamily="49" charset="-122"/>
              </a:rPr>
              <a:t>aB</a:t>
            </a: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7" name="标题 12296"/>
          <p:cNvSpPr>
            <a:spLocks noGrp="1"/>
          </p:cNvSpPr>
          <p:nvPr>
            <p:ph type="ctrTitle"/>
          </p:nvPr>
        </p:nvSpPr>
        <p:spPr>
          <a:xfrm>
            <a:off x="376990" y="270252"/>
            <a:ext cx="9144000" cy="710780"/>
          </a:xfrm>
        </p:spPr>
        <p:txBody>
          <a:bodyPr lIns="92075" tIns="46038" rIns="92075" bIns="46038" anchor="ctr">
            <a:normAutofit/>
          </a:bodyPr>
          <a:lstStyle/>
          <a:p>
            <a:pPr algn="l" defTabSz="914400">
              <a:buSzTx/>
            </a:pPr>
            <a:r>
              <a:rPr lang="zh-CN" altLang="en-US" sz="3600" b="1" kern="1200" baseline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二、连锁遗传的解释</a:t>
            </a:r>
            <a:endParaRPr lang="en-US" altLang="en-US" sz="1400" b="1" kern="1200" baseline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12298" name="副标题 12297"/>
          <p:cNvSpPr>
            <a:spLocks noGrp="1"/>
          </p:cNvSpPr>
          <p:nvPr>
            <p:ph type="subTitle" idx="1"/>
          </p:nvPr>
        </p:nvSpPr>
        <p:spPr>
          <a:xfrm>
            <a:off x="1456231" y="1317917"/>
            <a:ext cx="9893558" cy="2895600"/>
          </a:xfrm>
        </p:spPr>
        <p:txBody>
          <a:bodyPr lIns="92075" tIns="46038" rIns="92075" bIns="46038" anchor="t"/>
          <a:lstStyle/>
          <a:p>
            <a:pPr algn="l" defTabSz="914400">
              <a:buSzPct val="75000"/>
            </a:pPr>
            <a:r>
              <a:rPr lang="en-US" altLang="en-US" sz="2800" b="1" kern="1200" baseline="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为什么F</a:t>
            </a:r>
            <a:r>
              <a:rPr lang="en-US" altLang="en-US" sz="2800" b="1" kern="1200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en-US" altLang="en-US" sz="2800" b="1" kern="1200" baseline="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不表现9:3:3:1的表现型分离比例</a:t>
            </a:r>
            <a:r>
              <a:rPr lang="zh-CN" altLang="en-US" sz="2800" b="1" kern="1200" baseline="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？</a:t>
            </a:r>
            <a:endParaRPr lang="en-US" altLang="en-US" sz="2800" b="1" kern="1200" baseline="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lvl="1" algn="l">
              <a:buSzPct val="60000"/>
            </a:pPr>
            <a:r>
              <a:rPr lang="en-US" altLang="zh-CN" sz="2800" b="1" kern="1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1.</a:t>
            </a:r>
            <a:r>
              <a:rPr lang="en-US" altLang="en-US" sz="2800" b="1" kern="1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每对相对性状是否符合分离规律？</a:t>
            </a:r>
            <a:endParaRPr lang="en-US" altLang="en-US" sz="2800" b="1" kern="12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lvl="1" algn="l">
              <a:buSzPct val="60000"/>
            </a:pPr>
            <a:r>
              <a:rPr lang="en-US" altLang="zh-CN" sz="2800" b="1" kern="1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2.</a:t>
            </a:r>
            <a:r>
              <a:rPr lang="en-US" altLang="en-US" sz="2800" b="1" kern="1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非等位基因间是否符合独立分配规律？</a:t>
            </a:r>
            <a:endParaRPr lang="en-US" altLang="en-US" sz="2800" b="1" kern="12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lvl="1" algn="l">
              <a:buSzPct val="60000"/>
            </a:pPr>
            <a:r>
              <a:rPr lang="en-US" altLang="zh-CN" sz="2800" b="1" kern="12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3.</a:t>
            </a:r>
            <a:r>
              <a:rPr lang="zh-CN" altLang="en-US" sz="2800" b="1" kern="12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摩尔根等的果蝇遗传试验；</a:t>
            </a:r>
            <a:endParaRPr lang="zh-CN" altLang="en-US" sz="2800" b="1" kern="1200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lvl="1" algn="l">
              <a:buSzPct val="60000"/>
            </a:pPr>
            <a:r>
              <a:rPr lang="en-US" altLang="zh-CN" sz="2800" b="1" kern="12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4.</a:t>
            </a:r>
            <a:r>
              <a:rPr lang="zh-CN" altLang="en-US" sz="2800" b="1" kern="12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连锁遗传现象的解释。</a:t>
            </a:r>
            <a:endParaRPr lang="en-US" altLang="en-US" sz="2800" b="1" kern="1200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8" grpId="0" advAuto="100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23925"/>
            <a:ext cx="6105525" cy="5010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229" y="885825"/>
            <a:ext cx="5915025" cy="5048250"/>
          </a:xfrm>
          <a:prstGeom prst="rect">
            <a:avLst/>
          </a:prstGeom>
        </p:spPr>
      </p:pic>
      <p:sp>
        <p:nvSpPr>
          <p:cNvPr id="5" name="标题 34817"/>
          <p:cNvSpPr>
            <a:spLocks noGrp="1"/>
          </p:cNvSpPr>
          <p:nvPr>
            <p:ph type="title"/>
          </p:nvPr>
        </p:nvSpPr>
        <p:spPr>
          <a:xfrm>
            <a:off x="433356" y="149076"/>
            <a:ext cx="10515600" cy="627104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每对相对性状是否符合分离规律？</a:t>
            </a:r>
            <a:endParaRPr lang="en-US" altLang="en-US" sz="32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34817"/>
          <p:cNvSpPr>
            <a:spLocks noGrp="1"/>
          </p:cNvSpPr>
          <p:nvPr>
            <p:ph type="title"/>
          </p:nvPr>
        </p:nvSpPr>
        <p:spPr>
          <a:xfrm>
            <a:off x="433356" y="149076"/>
            <a:ext cx="10515600" cy="627104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每对相对性状是否符合分离规律？</a:t>
            </a:r>
            <a:endParaRPr lang="en-US" altLang="en-US" sz="32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1110551" y="1142890"/>
          <a:ext cx="983840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472"/>
                <a:gridCol w="2090454"/>
                <a:gridCol w="2165113"/>
                <a:gridCol w="2422685"/>
                <a:gridCol w="1967681"/>
              </a:tblGrid>
              <a:tr h="392826">
                <a:tc>
                  <a:txBody>
                    <a:bodyPr/>
                    <a:lstStyle/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性状</a:t>
                      </a:r>
                      <a:endParaRPr lang="zh-CN" altLang="en-US" sz="2200" b="1" dirty="0">
                        <a:solidFill>
                          <a:srgbClr val="0000FF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</a:t>
                      </a:r>
                      <a:r>
                        <a:rPr lang="en-US" altLang="zh-CN" sz="2200" b="1" baseline="-25000" dirty="0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lang="zh-CN" altLang="en-US" sz="2200" b="1" dirty="0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表现型</a:t>
                      </a:r>
                      <a:endParaRPr lang="zh-CN" altLang="en-US" sz="2200" b="1" dirty="0">
                        <a:solidFill>
                          <a:srgbClr val="0000FF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</a:t>
                      </a:r>
                      <a:r>
                        <a:rPr lang="en-US" altLang="zh-CN" sz="2200" b="1" baseline="-25000" dirty="0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lang="zh-CN" altLang="en-US" sz="2200" b="1" dirty="0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个体数</a:t>
                      </a:r>
                      <a:endParaRPr lang="zh-CN" altLang="en-US" sz="2200" b="1" dirty="0">
                        <a:solidFill>
                          <a:srgbClr val="0000FF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</a:t>
                      </a:r>
                      <a:r>
                        <a:rPr lang="en-US" altLang="zh-CN" sz="2200" b="1" baseline="-25000" dirty="0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lang="zh-CN" altLang="en-US" sz="2200" b="1" dirty="0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分离比例</a:t>
                      </a:r>
                      <a:endParaRPr lang="zh-CN" altLang="en-US" sz="2200" b="1" dirty="0">
                        <a:solidFill>
                          <a:srgbClr val="0000FF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826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相引相</a:t>
                      </a:r>
                      <a:endParaRPr lang="zh-CN" altLang="en-US" sz="2200" b="1" dirty="0">
                        <a:solidFill>
                          <a:srgbClr val="0000FF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花色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紫花（显）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4831+390=5221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：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826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红花（隐）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1338+393=1731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826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花粉粒形状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长花粉粒（显）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4831+393=5224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：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826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圆花粉粒（隐）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1338+390=1728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826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相斥相</a:t>
                      </a:r>
                      <a:endParaRPr lang="zh-CN" altLang="en-US" sz="2200" b="1" dirty="0">
                        <a:solidFill>
                          <a:srgbClr val="0000FF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花色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紫花（显）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226+95=321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：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826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红花（隐）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97+1=98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826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花粉粒形状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长花粉粒（显）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226+97=323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：</a:t>
                      </a: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2826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圆花粉粒（隐）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95+1=96</a:t>
                      </a:r>
                      <a:endParaRPr lang="zh-CN" altLang="en-US" sz="2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0" name="标题 35849"/>
          <p:cNvSpPr>
            <a:spLocks noGrp="1"/>
          </p:cNvSpPr>
          <p:nvPr>
            <p:ph type="title"/>
          </p:nvPr>
        </p:nvSpPr>
        <p:spPr>
          <a:xfrm>
            <a:off x="579890" y="66869"/>
            <a:ext cx="10515600" cy="679904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2.</a:t>
            </a:r>
            <a:r>
              <a:rPr lang="en-US" altLang="en-US" sz="3200" b="1" kern="1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en-US" altLang="en-US" sz="3200" b="1" kern="1200" dirty="0" err="1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非等位基因间是否符合独立分配规律</a:t>
            </a:r>
            <a:r>
              <a:rPr lang="en-US" altLang="en-US" sz="3200" b="1" kern="1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？</a:t>
            </a:r>
            <a:r>
              <a:rPr lang="zh-CN" altLang="en-US" sz="3200" b="1" kern="12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（自由组合？）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35851" name="文本占位符 35850"/>
          <p:cNvSpPr>
            <a:spLocks noGrp="1"/>
          </p:cNvSpPr>
          <p:nvPr>
            <p:ph type="body" idx="1"/>
          </p:nvPr>
        </p:nvSpPr>
        <p:spPr>
          <a:xfrm>
            <a:off x="952029" y="1536155"/>
            <a:ext cx="10316223" cy="299330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赫钦森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(C. B. Hutchinson, 1922)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玉米测交试验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玉米作为遗传学实验材料的优点：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很多性状可在种子上看到，种子已经是下一代；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同一果穗上有几百粒种子，便于计数分析；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雌雄蕊长在不同花序上，去雄容易，杂交也方便；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4.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玉米是一种经济作物，有些实验结果可直接应用到生产上。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96532" y="826689"/>
            <a:ext cx="77644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测交法：测定杂种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F</a:t>
            </a:r>
            <a:r>
              <a:rPr lang="en-US" altLang="zh-CN" sz="2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产生配子的种类和比例</a:t>
            </a:r>
            <a:endParaRPr lang="zh-CN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405" y="4841555"/>
            <a:ext cx="84556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2" indent="0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籽粒（糊粉层）颜色：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有色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(C)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无色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c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marL="914400" lvl="2" indent="0">
              <a:lnSpc>
                <a:spcPct val="100000"/>
              </a:lnSpc>
              <a:buNone/>
            </a:pPr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籽粒饱满程度：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饱满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Sh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、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凹陷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sh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1" grpId="0" uiExpand="1" build="p"/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7889"/>
          <p:cNvSpPr txBox="1"/>
          <p:nvPr/>
        </p:nvSpPr>
        <p:spPr>
          <a:xfrm>
            <a:off x="1781597" y="118616"/>
            <a:ext cx="2583900" cy="411163"/>
          </a:xfrm>
          <a:prstGeom prst="rect">
            <a:avLst/>
          </a:prstGeom>
        </p:spPr>
        <p:txBody>
          <a:bodyPr lIns="92075" tIns="46038" rIns="92075" bIns="46038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测交：相引相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标题 38929"/>
          <p:cNvSpPr txBox="1"/>
          <p:nvPr/>
        </p:nvSpPr>
        <p:spPr>
          <a:xfrm>
            <a:off x="8298598" y="83545"/>
            <a:ext cx="3035723" cy="481304"/>
          </a:xfrm>
          <a:prstGeom prst="rect">
            <a:avLst/>
          </a:prstGeom>
        </p:spPr>
        <p:txBody>
          <a:bodyPr vert="horz" lIns="92075" tIns="46038" rIns="92075" bIns="4603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测交：相斥相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196" y="4864896"/>
            <a:ext cx="1171924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试验结果分析：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lvl="1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F</a:t>
            </a:r>
            <a:r>
              <a:rPr lang="en-US" altLang="zh-CN" sz="2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产生的四种类型配子比例不等于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1:1:1:1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；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lvl="1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）亲本型配子比例高于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50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％，重组型配子比例低于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50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％；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lvl="1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）亲本型配子数基本相等，重组型配子数也基本相等。</a:t>
            </a:r>
            <a:endParaRPr lang="en-US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54" y="648067"/>
            <a:ext cx="5526986" cy="4305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820" y="648067"/>
            <a:ext cx="5947611" cy="4023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97195" y="838453"/>
            <a:ext cx="10515600" cy="74145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ea typeface="黑体" panose="02010609060101010101" pitchFamily="49" charset="-122"/>
              </a:rPr>
              <a:t>果蝇作为遗传学实验材料的优点：</a:t>
            </a:r>
            <a:endParaRPr lang="zh-CN" altLang="en-US" sz="3200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0072" y="1579907"/>
            <a:ext cx="10799446" cy="430081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Clr>
                <a:srgbClr val="FFCCCC"/>
              </a:buClr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个体小、易培养、繁殖能力强、生活周期短（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25℃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下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,10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天可完成一个世代）；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>
              <a:lnSpc>
                <a:spcPct val="120000"/>
              </a:lnSpc>
              <a:buClr>
                <a:srgbClr val="FFCCCC"/>
              </a:buClr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体细胞只有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染色体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algn="just">
              <a:lnSpc>
                <a:spcPct val="120000"/>
              </a:lnSpc>
              <a:buClr>
                <a:srgbClr val="FFCCCC"/>
              </a:buClr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突变型多：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20000"/>
              </a:lnSpc>
              <a:buClr>
                <a:srgbClr val="00FF00"/>
              </a:buClr>
              <a:buNone/>
            </a:pP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翅：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长翅、小翅、残翅；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20000"/>
              </a:lnSpc>
              <a:buClr>
                <a:srgbClr val="00FF00"/>
              </a:buClr>
              <a:buNone/>
            </a:pP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体色：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灰、黑、檀黑、黄体等；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20000"/>
              </a:lnSpc>
              <a:buClr>
                <a:srgbClr val="00FF00"/>
              </a:buClr>
              <a:buNone/>
            </a:pP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眼色：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红眼、白眼等。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标题 131073"/>
          <p:cNvSpPr txBox="1"/>
          <p:nvPr/>
        </p:nvSpPr>
        <p:spPr>
          <a:xfrm>
            <a:off x="245162" y="136411"/>
            <a:ext cx="10515600" cy="626998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3.</a:t>
            </a:r>
            <a:r>
              <a:rPr lang="zh-CN" altLang="en-US" sz="3600" b="1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摩尔根等的果蝇遗传试验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4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4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04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4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4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标题 131073"/>
          <p:cNvSpPr>
            <a:spLocks noGrp="1"/>
          </p:cNvSpPr>
          <p:nvPr>
            <p:ph type="title"/>
          </p:nvPr>
        </p:nvSpPr>
        <p:spPr>
          <a:xfrm>
            <a:off x="245162" y="136411"/>
            <a:ext cx="10515600" cy="626998"/>
          </a:xfrm>
        </p:spPr>
        <p:txBody>
          <a:bodyPr lIns="92075" tIns="46038" rIns="92075" bIns="46038" anchor="ctr">
            <a:noAutofit/>
          </a:bodyPr>
          <a:lstStyle/>
          <a:p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3.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摩尔根等的果蝇遗传试验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31075" name="文本占位符 131074"/>
          <p:cNvSpPr>
            <a:spLocks noGrp="1"/>
          </p:cNvSpPr>
          <p:nvPr>
            <p:ph type="body" idx="1"/>
          </p:nvPr>
        </p:nvSpPr>
        <p:spPr>
          <a:xfrm>
            <a:off x="763554" y="1429431"/>
            <a:ext cx="11188959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果蝇眼色与翅长的连锁遗传：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眼色：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红眼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</a:t>
            </a:r>
            <a:r>
              <a:rPr lang="en-US" altLang="zh-CN" sz="2800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紫眼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(pr)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为显性；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翅长：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长翅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(vg</a:t>
            </a:r>
            <a:r>
              <a:rPr lang="en-US" altLang="zh-CN" sz="2800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残翅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(vg)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为显性。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标题 133121"/>
          <p:cNvSpPr>
            <a:spLocks noGrp="1"/>
          </p:cNvSpPr>
          <p:nvPr>
            <p:ph type="title"/>
          </p:nvPr>
        </p:nvSpPr>
        <p:spPr>
          <a:xfrm>
            <a:off x="1150775" y="130011"/>
            <a:ext cx="3155302" cy="344001"/>
          </a:xfrm>
        </p:spPr>
        <p:txBody>
          <a:bodyPr lIns="92075" tIns="46038" rIns="92075" bIns="46038" anchor="ctr">
            <a:normAutofit fontScale="90000"/>
          </a:bodyPr>
          <a:lstStyle/>
          <a:p>
            <a:r>
              <a:rPr lang="zh-CN" altLang="en-US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相引相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23" name="文本占位符 133122"/>
          <p:cNvSpPr>
            <a:spLocks noGrp="1"/>
          </p:cNvSpPr>
          <p:nvPr>
            <p:ph type="body" idx="1"/>
          </p:nvPr>
        </p:nvSpPr>
        <p:spPr>
          <a:xfrm>
            <a:off x="175725" y="565116"/>
            <a:ext cx="5665237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P:   </a:t>
            </a:r>
            <a:r>
              <a:rPr lang="en-US" altLang="zh-CN" b="1" dirty="0" err="1">
                <a:solidFill>
                  <a:srgbClr val="FF0000"/>
                </a:solidFill>
              </a:rPr>
              <a:t>pr</a:t>
            </a:r>
            <a:r>
              <a:rPr lang="en-US" altLang="zh-CN" b="1" baseline="30000" dirty="0" err="1">
                <a:solidFill>
                  <a:srgbClr val="FF0000"/>
                </a:solidFill>
              </a:rPr>
              <a:t>+</a:t>
            </a:r>
            <a:r>
              <a:rPr lang="en-US" altLang="zh-CN" b="1" dirty="0" err="1">
                <a:solidFill>
                  <a:srgbClr val="FF0000"/>
                </a:solidFill>
              </a:rPr>
              <a:t>pr</a:t>
            </a:r>
            <a:r>
              <a:rPr lang="en-US" altLang="zh-CN" b="1" baseline="30000" dirty="0" err="1">
                <a:solidFill>
                  <a:srgbClr val="FF0000"/>
                </a:solidFill>
              </a:rPr>
              <a:t>+</a:t>
            </a:r>
            <a:r>
              <a:rPr lang="en-US" altLang="zh-CN" b="1" dirty="0" err="1">
                <a:solidFill>
                  <a:srgbClr val="FF0000"/>
                </a:solidFill>
              </a:rPr>
              <a:t>vg</a:t>
            </a:r>
            <a:r>
              <a:rPr lang="en-US" altLang="zh-CN" b="1" baseline="30000" dirty="0" err="1">
                <a:solidFill>
                  <a:srgbClr val="FF0000"/>
                </a:solidFill>
              </a:rPr>
              <a:t>+</a:t>
            </a:r>
            <a:r>
              <a:rPr lang="en-US" altLang="zh-CN" b="1" dirty="0" err="1">
                <a:solidFill>
                  <a:srgbClr val="FF0000"/>
                </a:solidFill>
              </a:rPr>
              <a:t>vg</a:t>
            </a:r>
            <a:r>
              <a:rPr lang="en-US" altLang="zh-CN" b="1" baseline="30000" dirty="0">
                <a:solidFill>
                  <a:srgbClr val="FF0000"/>
                </a:solidFill>
              </a:rPr>
              <a:t>+</a:t>
            </a:r>
            <a:r>
              <a:rPr lang="en-US" altLang="zh-CN" b="1" dirty="0">
                <a:solidFill>
                  <a:srgbClr val="FF0000"/>
                </a:solidFill>
              </a:rPr>
              <a:t>×prprvgvg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b="1" dirty="0"/>
              <a:t>			     ↓</a:t>
            </a:r>
            <a:endParaRPr lang="en-US" altLang="zh-CN" b="1" dirty="0"/>
          </a:p>
          <a:p>
            <a:pPr>
              <a:buNone/>
            </a:pPr>
            <a:r>
              <a:rPr lang="en-US" altLang="zh-CN" b="1" dirty="0"/>
              <a:t>F</a:t>
            </a:r>
            <a:r>
              <a:rPr lang="en-US" altLang="zh-CN" b="1" baseline="-25000" dirty="0"/>
              <a:t>1	      </a:t>
            </a:r>
            <a:r>
              <a:rPr lang="en-US" altLang="zh-CN" b="1" dirty="0" err="1"/>
              <a:t>pr</a:t>
            </a:r>
            <a:r>
              <a:rPr lang="en-US" altLang="zh-CN" b="1" baseline="30000" dirty="0" err="1"/>
              <a:t>+</a:t>
            </a:r>
            <a:r>
              <a:rPr lang="en-US" altLang="zh-CN" b="1" dirty="0" err="1"/>
              <a:t>prvg</a:t>
            </a:r>
            <a:r>
              <a:rPr lang="en-US" altLang="zh-CN" b="1" baseline="30000" dirty="0" err="1"/>
              <a:t>+</a:t>
            </a:r>
            <a:r>
              <a:rPr lang="en-US" altLang="zh-CN" b="1" dirty="0" err="1"/>
              <a:t>vg</a:t>
            </a:r>
            <a:r>
              <a:rPr lang="en-US" altLang="zh-CN" b="1" dirty="0"/>
              <a:t>  ×</a:t>
            </a:r>
            <a:r>
              <a:rPr lang="en-US" altLang="zh-CN" b="1" dirty="0" err="1"/>
              <a:t>prprvgvg</a:t>
            </a:r>
            <a:r>
              <a:rPr lang="en-US" altLang="zh-CN" b="1" dirty="0"/>
              <a:t>(</a:t>
            </a:r>
            <a:r>
              <a:rPr lang="zh-CN" altLang="en-US" b="1" dirty="0"/>
              <a:t>测交</a:t>
            </a:r>
            <a:r>
              <a:rPr lang="en-US" altLang="zh-CN" b="1" dirty="0"/>
              <a:t>)</a:t>
            </a:r>
            <a:endParaRPr lang="en-US" altLang="zh-CN" b="1" dirty="0"/>
          </a:p>
          <a:p>
            <a:pPr>
              <a:buNone/>
            </a:pPr>
            <a:r>
              <a:rPr lang="en-US" altLang="zh-CN" b="1" dirty="0"/>
              <a:t>                                    ↓</a:t>
            </a:r>
            <a:endParaRPr lang="en-US" altLang="zh-CN" b="1" dirty="0"/>
          </a:p>
          <a:p>
            <a:pPr>
              <a:buNone/>
            </a:pPr>
            <a:r>
              <a:rPr lang="en-US" altLang="zh-CN" b="1" dirty="0"/>
              <a:t>Ft	     </a:t>
            </a:r>
            <a:r>
              <a:rPr lang="en-US" altLang="zh-CN" b="1" dirty="0" err="1">
                <a:solidFill>
                  <a:srgbClr val="0000FF"/>
                </a:solidFill>
              </a:rPr>
              <a:t>pr</a:t>
            </a:r>
            <a:r>
              <a:rPr lang="en-US" altLang="zh-CN" b="1" baseline="30000" dirty="0" err="1">
                <a:solidFill>
                  <a:srgbClr val="0000FF"/>
                </a:solidFill>
              </a:rPr>
              <a:t>+</a:t>
            </a:r>
            <a:r>
              <a:rPr lang="en-US" altLang="zh-CN" b="1" dirty="0" err="1">
                <a:solidFill>
                  <a:srgbClr val="0000FF"/>
                </a:solidFill>
              </a:rPr>
              <a:t>prvg</a:t>
            </a:r>
            <a:r>
              <a:rPr lang="en-US" altLang="zh-CN" b="1" baseline="30000" dirty="0" err="1">
                <a:solidFill>
                  <a:srgbClr val="0000FF"/>
                </a:solidFill>
              </a:rPr>
              <a:t>+</a:t>
            </a:r>
            <a:r>
              <a:rPr lang="en-US" altLang="zh-CN" b="1" dirty="0" err="1">
                <a:solidFill>
                  <a:srgbClr val="0000FF"/>
                </a:solidFill>
              </a:rPr>
              <a:t>vg</a:t>
            </a:r>
            <a:r>
              <a:rPr lang="en-US" altLang="zh-CN" b="1" dirty="0">
                <a:solidFill>
                  <a:srgbClr val="0000FF"/>
                </a:solidFill>
              </a:rPr>
              <a:t>  </a:t>
            </a:r>
            <a:r>
              <a:rPr lang="en-US" altLang="zh-CN" b="1" dirty="0">
                <a:solidFill>
                  <a:srgbClr val="FF0000"/>
                </a:solidFill>
              </a:rPr>
              <a:t>1339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b="1" dirty="0"/>
              <a:t>		     </a:t>
            </a:r>
            <a:r>
              <a:rPr lang="en-US" altLang="zh-CN" b="1" dirty="0" err="1">
                <a:solidFill>
                  <a:srgbClr val="0000FF"/>
                </a:solidFill>
              </a:rPr>
              <a:t>prprvgvg</a:t>
            </a:r>
            <a:r>
              <a:rPr lang="en-US" altLang="zh-CN" b="1" dirty="0"/>
              <a:t>	   </a:t>
            </a:r>
            <a:r>
              <a:rPr lang="en-US" altLang="zh-CN" b="1" dirty="0">
                <a:solidFill>
                  <a:srgbClr val="FF0000"/>
                </a:solidFill>
              </a:rPr>
              <a:t>1195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b="1" dirty="0"/>
              <a:t>		     </a:t>
            </a:r>
            <a:r>
              <a:rPr lang="en-US" altLang="zh-CN" b="1" dirty="0" err="1"/>
              <a:t>pr</a:t>
            </a:r>
            <a:r>
              <a:rPr lang="en-US" altLang="zh-CN" b="1" baseline="30000" dirty="0" err="1"/>
              <a:t>+</a:t>
            </a:r>
            <a:r>
              <a:rPr lang="en-US" altLang="zh-CN" b="1" dirty="0" err="1"/>
              <a:t>prvgvg</a:t>
            </a:r>
            <a:r>
              <a:rPr lang="en-US" altLang="zh-CN" b="1" dirty="0"/>
              <a:t>	  151</a:t>
            </a:r>
            <a:endParaRPr lang="en-US" altLang="zh-CN" b="1" dirty="0"/>
          </a:p>
          <a:p>
            <a:pPr>
              <a:buNone/>
            </a:pPr>
            <a:r>
              <a:rPr lang="en-US" altLang="zh-CN" b="1" dirty="0"/>
              <a:t>		     </a:t>
            </a:r>
            <a:r>
              <a:rPr lang="en-US" altLang="zh-CN" b="1" dirty="0" err="1"/>
              <a:t>prprvg</a:t>
            </a:r>
            <a:r>
              <a:rPr lang="en-US" altLang="zh-CN" b="1" baseline="30000" dirty="0" err="1"/>
              <a:t>+</a:t>
            </a:r>
            <a:r>
              <a:rPr lang="en-US" altLang="zh-CN" b="1" dirty="0" err="1"/>
              <a:t>vg</a:t>
            </a:r>
            <a:r>
              <a:rPr lang="en-US" altLang="zh-CN" b="1" dirty="0"/>
              <a:t>	  154</a:t>
            </a:r>
            <a:endParaRPr lang="en-US" altLang="zh-CN" b="1" dirty="0"/>
          </a:p>
        </p:txBody>
      </p:sp>
      <p:sp>
        <p:nvSpPr>
          <p:cNvPr id="4" name="标题 132097"/>
          <p:cNvSpPr txBox="1"/>
          <p:nvPr/>
        </p:nvSpPr>
        <p:spPr>
          <a:xfrm>
            <a:off x="8358673" y="170459"/>
            <a:ext cx="1522445" cy="26310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相斥相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占位符 132098"/>
          <p:cNvSpPr txBox="1"/>
          <p:nvPr/>
        </p:nvSpPr>
        <p:spPr>
          <a:xfrm>
            <a:off x="6071120" y="565116"/>
            <a:ext cx="594515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P	: </a:t>
            </a:r>
            <a:r>
              <a:rPr lang="en-US" altLang="zh-CN" b="1" dirty="0" err="1">
                <a:solidFill>
                  <a:srgbClr val="FF0000"/>
                </a:solidFill>
              </a:rPr>
              <a:t>pr</a:t>
            </a:r>
            <a:r>
              <a:rPr lang="en-US" altLang="zh-CN" b="1" baseline="30000" dirty="0" err="1">
                <a:solidFill>
                  <a:srgbClr val="FF0000"/>
                </a:solidFill>
              </a:rPr>
              <a:t>+</a:t>
            </a:r>
            <a:r>
              <a:rPr lang="en-US" altLang="zh-CN" b="1" dirty="0" err="1">
                <a:solidFill>
                  <a:srgbClr val="FF0000"/>
                </a:solidFill>
              </a:rPr>
              <a:t>pr</a:t>
            </a:r>
            <a:r>
              <a:rPr lang="en-US" altLang="zh-CN" b="1" baseline="30000" dirty="0" err="1">
                <a:solidFill>
                  <a:srgbClr val="FF0000"/>
                </a:solidFill>
              </a:rPr>
              <a:t>+</a:t>
            </a:r>
            <a:r>
              <a:rPr lang="en-US" altLang="zh-CN" b="1" dirty="0" err="1">
                <a:solidFill>
                  <a:srgbClr val="FF0000"/>
                </a:solidFill>
              </a:rPr>
              <a:t>vgvg</a:t>
            </a:r>
            <a:r>
              <a:rPr lang="en-US" altLang="zh-CN" b="1" dirty="0">
                <a:solidFill>
                  <a:srgbClr val="FF0000"/>
                </a:solidFill>
              </a:rPr>
              <a:t>   ×   </a:t>
            </a:r>
            <a:r>
              <a:rPr lang="en-US" altLang="zh-CN" b="1" dirty="0" err="1">
                <a:solidFill>
                  <a:srgbClr val="FF0000"/>
                </a:solidFill>
              </a:rPr>
              <a:t>prprvg</a:t>
            </a:r>
            <a:r>
              <a:rPr lang="en-US" altLang="zh-CN" b="1" baseline="30000" dirty="0" err="1">
                <a:solidFill>
                  <a:srgbClr val="FF0000"/>
                </a:solidFill>
              </a:rPr>
              <a:t>+</a:t>
            </a:r>
            <a:r>
              <a:rPr lang="en-US" altLang="zh-CN" b="1" dirty="0" err="1">
                <a:solidFill>
                  <a:srgbClr val="FF0000"/>
                </a:solidFill>
              </a:rPr>
              <a:t>vg</a:t>
            </a:r>
            <a:r>
              <a:rPr lang="en-US" altLang="zh-CN" b="1" baseline="30000" dirty="0">
                <a:solidFill>
                  <a:srgbClr val="FF0000"/>
                </a:solidFill>
              </a:rPr>
              <a:t>+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b="1" dirty="0"/>
              <a:t>		               ↓</a:t>
            </a:r>
            <a:endParaRPr lang="en-US" altLang="zh-CN" b="1" dirty="0"/>
          </a:p>
          <a:p>
            <a:pPr>
              <a:buFont typeface="Arial" panose="020B0604020202020204" pitchFamily="34" charset="0"/>
              <a:buNone/>
            </a:pPr>
            <a:r>
              <a:rPr lang="en-US" altLang="zh-CN" b="1" dirty="0"/>
              <a:t>F</a:t>
            </a:r>
            <a:r>
              <a:rPr lang="en-US" altLang="zh-CN" b="1" baseline="-25000" dirty="0"/>
              <a:t>1	</a:t>
            </a:r>
            <a:r>
              <a:rPr lang="en-US" altLang="zh-CN" b="1" dirty="0" err="1"/>
              <a:t>pr</a:t>
            </a:r>
            <a:r>
              <a:rPr lang="en-US" altLang="zh-CN" b="1" baseline="30000" dirty="0" err="1"/>
              <a:t>+</a:t>
            </a:r>
            <a:r>
              <a:rPr lang="en-US" altLang="zh-CN" b="1" dirty="0" err="1"/>
              <a:t>prvg</a:t>
            </a:r>
            <a:r>
              <a:rPr lang="en-US" altLang="zh-CN" b="1" baseline="30000" dirty="0" err="1"/>
              <a:t>+</a:t>
            </a:r>
            <a:r>
              <a:rPr lang="en-US" altLang="zh-CN" b="1" dirty="0" err="1"/>
              <a:t>vg</a:t>
            </a:r>
            <a:r>
              <a:rPr lang="en-US" altLang="zh-CN" b="1" dirty="0"/>
              <a:t>	×   </a:t>
            </a:r>
            <a:r>
              <a:rPr lang="en-US" altLang="zh-CN" b="1" dirty="0" err="1"/>
              <a:t>prprvgvg</a:t>
            </a:r>
            <a:r>
              <a:rPr lang="en-US" altLang="zh-CN" b="1" dirty="0"/>
              <a:t>(</a:t>
            </a:r>
            <a:r>
              <a:rPr lang="zh-CN" altLang="en-US" b="1" dirty="0"/>
              <a:t>测交</a:t>
            </a:r>
            <a:r>
              <a:rPr lang="en-US" altLang="zh-CN" b="1" dirty="0"/>
              <a:t>)</a:t>
            </a:r>
            <a:endParaRPr lang="en-US" altLang="zh-CN" b="1" dirty="0"/>
          </a:p>
          <a:p>
            <a:pPr>
              <a:buFont typeface="Arial" panose="020B0604020202020204" pitchFamily="34" charset="0"/>
              <a:buNone/>
            </a:pPr>
            <a:r>
              <a:rPr lang="en-US" altLang="zh-CN" b="1" dirty="0"/>
              <a:t>                                  ↓</a:t>
            </a:r>
            <a:endParaRPr lang="en-US" altLang="zh-CN" b="1" dirty="0"/>
          </a:p>
          <a:p>
            <a:pPr>
              <a:buFont typeface="Arial" panose="020B0604020202020204" pitchFamily="34" charset="0"/>
              <a:buNone/>
            </a:pPr>
            <a:r>
              <a:rPr lang="en-US" altLang="zh-CN" b="1" dirty="0"/>
              <a:t>Ft		</a:t>
            </a:r>
            <a:r>
              <a:rPr lang="en-US" altLang="zh-CN" b="1" dirty="0" err="1"/>
              <a:t>pr</a:t>
            </a:r>
            <a:r>
              <a:rPr lang="en-US" altLang="zh-CN" b="1" baseline="30000" dirty="0" err="1"/>
              <a:t>+</a:t>
            </a:r>
            <a:r>
              <a:rPr lang="en-US" altLang="zh-CN" b="1" dirty="0" err="1"/>
              <a:t>prvg</a:t>
            </a:r>
            <a:r>
              <a:rPr lang="en-US" altLang="zh-CN" b="1" baseline="30000" dirty="0" err="1"/>
              <a:t>+</a:t>
            </a:r>
            <a:r>
              <a:rPr lang="en-US" altLang="zh-CN" b="1" dirty="0" err="1"/>
              <a:t>vg</a:t>
            </a:r>
            <a:r>
              <a:rPr lang="en-US" altLang="zh-CN" b="1" dirty="0"/>
              <a:t>	  157</a:t>
            </a:r>
            <a:endParaRPr lang="en-US" altLang="zh-CN" b="1" dirty="0"/>
          </a:p>
          <a:p>
            <a:pPr>
              <a:buFont typeface="Arial" panose="020B0604020202020204" pitchFamily="34" charset="0"/>
              <a:buNone/>
            </a:pPr>
            <a:r>
              <a:rPr lang="en-US" altLang="zh-CN" b="1" dirty="0"/>
              <a:t>			</a:t>
            </a:r>
            <a:r>
              <a:rPr lang="en-US" altLang="zh-CN" b="1" dirty="0" err="1"/>
              <a:t>prprvgvg</a:t>
            </a:r>
            <a:r>
              <a:rPr lang="en-US" altLang="zh-CN" b="1" dirty="0"/>
              <a:t>	  146</a:t>
            </a:r>
            <a:endParaRPr lang="en-US" altLang="zh-CN" b="1" dirty="0"/>
          </a:p>
          <a:p>
            <a:pPr>
              <a:buFont typeface="Arial" panose="020B0604020202020204" pitchFamily="34" charset="0"/>
              <a:buNone/>
            </a:pPr>
            <a:r>
              <a:rPr lang="en-US" altLang="zh-CN" b="1" dirty="0"/>
              <a:t>			</a:t>
            </a:r>
            <a:r>
              <a:rPr lang="en-US" altLang="zh-CN" b="1" dirty="0" err="1">
                <a:solidFill>
                  <a:srgbClr val="0000FF"/>
                </a:solidFill>
              </a:rPr>
              <a:t>pr</a:t>
            </a:r>
            <a:r>
              <a:rPr lang="en-US" altLang="zh-CN" b="1" baseline="30000" dirty="0" err="1">
                <a:solidFill>
                  <a:srgbClr val="0000FF"/>
                </a:solidFill>
              </a:rPr>
              <a:t>+</a:t>
            </a:r>
            <a:r>
              <a:rPr lang="en-US" altLang="zh-CN" b="1" dirty="0" err="1">
                <a:solidFill>
                  <a:srgbClr val="0000FF"/>
                </a:solidFill>
              </a:rPr>
              <a:t>prvgvg</a:t>
            </a:r>
            <a:r>
              <a:rPr lang="en-US" altLang="zh-CN" b="1" dirty="0"/>
              <a:t>	</a:t>
            </a:r>
            <a:r>
              <a:rPr lang="en-US" altLang="zh-CN" b="1" dirty="0">
                <a:solidFill>
                  <a:srgbClr val="FF0000"/>
                </a:solidFill>
              </a:rPr>
              <a:t>  965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zh-CN" b="1" dirty="0"/>
              <a:t>			</a:t>
            </a:r>
            <a:r>
              <a:rPr lang="en-US" altLang="zh-CN" b="1" dirty="0" err="1">
                <a:solidFill>
                  <a:srgbClr val="0000FF"/>
                </a:solidFill>
              </a:rPr>
              <a:t>prprvg</a:t>
            </a:r>
            <a:r>
              <a:rPr lang="en-US" altLang="zh-CN" b="1" baseline="30000" dirty="0" err="1">
                <a:solidFill>
                  <a:srgbClr val="0000FF"/>
                </a:solidFill>
              </a:rPr>
              <a:t>+</a:t>
            </a:r>
            <a:r>
              <a:rPr lang="en-US" altLang="zh-CN" b="1" dirty="0" err="1">
                <a:solidFill>
                  <a:srgbClr val="0000FF"/>
                </a:solidFill>
              </a:rPr>
              <a:t>vg</a:t>
            </a:r>
            <a:r>
              <a:rPr lang="en-US" altLang="zh-CN" b="1" dirty="0"/>
              <a:t>	</a:t>
            </a:r>
            <a:r>
              <a:rPr lang="en-US" altLang="zh-CN" b="1" dirty="0">
                <a:solidFill>
                  <a:srgbClr val="FF0000"/>
                </a:solidFill>
              </a:rPr>
              <a:t>1067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8775" y="4763440"/>
            <a:ext cx="1156218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结果：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(1)F</a:t>
            </a:r>
            <a:r>
              <a:rPr lang="en-US" altLang="zh-CN" sz="2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形成四种类型的配子；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但比例显然不符合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1:1:1:1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，且亲本类型配子明显多于重组型配子；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两种亲本型配子数大致相等，两种重组型配子数也大致相等。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标题 130049"/>
          <p:cNvSpPr>
            <a:spLocks noGrp="1"/>
          </p:cNvSpPr>
          <p:nvPr>
            <p:ph type="title"/>
          </p:nvPr>
        </p:nvSpPr>
        <p:spPr>
          <a:xfrm>
            <a:off x="485156" y="139308"/>
            <a:ext cx="10515600" cy="642580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4.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连锁遗传现象的解释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30051" name="文本占位符 130050"/>
          <p:cNvSpPr>
            <a:spLocks noGrp="1"/>
          </p:cNvSpPr>
          <p:nvPr>
            <p:ph type="body" idx="1"/>
          </p:nvPr>
        </p:nvSpPr>
        <p:spPr>
          <a:xfrm>
            <a:off x="674136" y="1051313"/>
            <a:ext cx="11053576" cy="344625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连锁遗传规律：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连锁遗传的相对性状是由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位于同一对染色体上的非等位基因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间控制，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具有连锁关系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，在形成配子时倾向于连在一起传递；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交换型配子是由于非姊妹染色单体间交换形成的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marL="0" indent="0">
              <a:buNone/>
            </a:pPr>
            <a:endParaRPr lang="en-US" altLang="en-US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控制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果蝇眼色和翅长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的两对非等位基因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位于同一同源染色体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上。即：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marL="457200" lvl="1" indent="0"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相引相中，</a:t>
            </a:r>
            <a:r>
              <a:rPr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</a:t>
            </a:r>
            <a:r>
              <a:rPr lang="en-US" altLang="zh-CN" sz="2800" b="1" baseline="300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vg</a:t>
            </a:r>
            <a:r>
              <a:rPr lang="en-US" altLang="zh-CN" sz="2800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连锁在一条染色体上，而</a:t>
            </a:r>
            <a:r>
              <a:rPr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prvg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连锁在另一条染色体，杂种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F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一对同源染色体分别具有</a:t>
            </a:r>
            <a:r>
              <a:rPr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</a:t>
            </a:r>
            <a:r>
              <a:rPr lang="en-US" altLang="zh-CN" sz="2800" b="1" baseline="3000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vg</a:t>
            </a:r>
            <a:r>
              <a:rPr lang="en-US" altLang="zh-CN" sz="2800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和</a:t>
            </a:r>
            <a:r>
              <a:rPr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prvg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0" name="标题 46089"/>
          <p:cNvSpPr>
            <a:spLocks noGrp="1"/>
          </p:cNvSpPr>
          <p:nvPr>
            <p:ph type="title"/>
          </p:nvPr>
        </p:nvSpPr>
        <p:spPr>
          <a:xfrm>
            <a:off x="150396" y="337913"/>
            <a:ext cx="10515600" cy="692312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en-US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三</a:t>
            </a: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、</a:t>
            </a:r>
            <a:r>
              <a:rPr lang="en-US" altLang="en-US" sz="36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完全连锁和不完全连锁</a:t>
            </a:r>
            <a:endParaRPr lang="en-US" altLang="en-US" sz="2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46091" name="文本占位符 46090"/>
          <p:cNvSpPr>
            <a:spLocks noGrp="1"/>
          </p:cNvSpPr>
          <p:nvPr>
            <p:ph type="body" idx="1"/>
          </p:nvPr>
        </p:nvSpPr>
        <p:spPr>
          <a:xfrm>
            <a:off x="354251" y="1319329"/>
            <a:ext cx="11203339" cy="32358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完全连锁 (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complete linkage)：</a:t>
            </a:r>
            <a:b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</a:b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如果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连锁基因的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杂种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F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双杂合体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)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只产生两种亲本类型的配子，而</a:t>
            </a:r>
            <a:r>
              <a:rPr lang="zh-CN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不产生非亲本类型的配子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，就称为完全连锁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。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例如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雄果蝇和雌家蚕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不完全连锁 (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incomplete linkage)：</a:t>
            </a:r>
            <a:b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</a:b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指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连锁基因的杂种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F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不仅产生亲本类型的配子，还会产生重组型配子。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1" grpId="0" advAuto="100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938" y="740272"/>
            <a:ext cx="5682062" cy="5102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标题 55337"/>
          <p:cNvSpPr txBox="1"/>
          <p:nvPr/>
        </p:nvSpPr>
        <p:spPr>
          <a:xfrm>
            <a:off x="435256" y="86549"/>
            <a:ext cx="5357327" cy="508518"/>
          </a:xfrm>
          <a:prstGeom prst="rect">
            <a:avLst/>
          </a:prstGeom>
        </p:spPr>
        <p:txBody>
          <a:bodyPr lIns="92075" tIns="46038" rIns="92075" bIns="4603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完全连锁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(complete linkage)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标题 56321"/>
          <p:cNvSpPr txBox="1"/>
          <p:nvPr/>
        </p:nvSpPr>
        <p:spPr>
          <a:xfrm>
            <a:off x="6480831" y="156040"/>
            <a:ext cx="5515947" cy="440268"/>
          </a:xfrm>
          <a:prstGeom prst="rect">
            <a:avLst/>
          </a:prstGeom>
        </p:spPr>
        <p:txBody>
          <a:bodyPr vert="horz" lIns="92075" tIns="46038" rIns="92075" bIns="46038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不完全连锁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(incomplete linkage)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67" y="1018116"/>
            <a:ext cx="6879060" cy="4253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379" y="3330222"/>
            <a:ext cx="8333621" cy="2994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0" y="4489543"/>
            <a:ext cx="48441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F1 </a:t>
            </a:r>
            <a:r>
              <a:rPr lang="zh-CN" altLang="en-US" dirty="0"/>
              <a:t>杂合子雌蚕的测交结果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023564" y="2218352"/>
            <a:ext cx="5437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F1 </a:t>
            </a:r>
            <a:r>
              <a:rPr lang="zh-CN" altLang="en-US" dirty="0"/>
              <a:t>杂合子雄蚕的测交结果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270934" y="-4537"/>
            <a:ext cx="11729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家蚕中，血液黄色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对白色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是显性，幼虫皮斑普通斑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对素白斑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是显性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7319"/>
            <a:ext cx="6788122" cy="3992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标题 55337"/>
          <p:cNvSpPr txBox="1"/>
          <p:nvPr/>
        </p:nvSpPr>
        <p:spPr>
          <a:xfrm>
            <a:off x="-215656" y="4823669"/>
            <a:ext cx="3775501" cy="508518"/>
          </a:xfrm>
          <a:prstGeom prst="rect">
            <a:avLst/>
          </a:prstGeom>
        </p:spPr>
        <p:txBody>
          <a:bodyPr lIns="92075" tIns="46038" rIns="92075" bIns="46038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完全连锁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标题 56321"/>
          <p:cNvSpPr txBox="1"/>
          <p:nvPr/>
        </p:nvSpPr>
        <p:spPr>
          <a:xfrm>
            <a:off x="9336919" y="2675466"/>
            <a:ext cx="2855081" cy="440268"/>
          </a:xfrm>
          <a:prstGeom prst="rect">
            <a:avLst/>
          </a:prstGeom>
        </p:spPr>
        <p:txBody>
          <a:bodyPr vert="horz" lIns="92075" tIns="46038" rIns="92075" bIns="46038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不完全连锁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084" y="2198769"/>
            <a:ext cx="4732252" cy="1361799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810084" y="3823223"/>
            <a:ext cx="4732252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有两个交叉（用箭头指出），表示非姐妹染色单体间发生过交换。</a:t>
            </a:r>
            <a:endParaRPr lang="zh-CN" altLang="en-US" b="1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635" y="879049"/>
            <a:ext cx="6523347" cy="50999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lvl="1"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 indent="-45720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j-ea"/>
                <a:ea typeface="+mj-ea"/>
              </a:rPr>
              <a:t>让森斯通过观察两栖类和直翅目昆虫的减数分裂，在摩尔根等确立遗传的染色体学说之前，提出了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交叉型假设学说</a:t>
            </a:r>
            <a:r>
              <a:rPr lang="zh-CN" altLang="en-US" dirty="0">
                <a:latin typeface="+mj-ea"/>
                <a:ea typeface="+mj-ea"/>
              </a:rPr>
              <a:t>：</a:t>
            </a:r>
            <a:endParaRPr lang="en-US" altLang="zh-CN" dirty="0">
              <a:latin typeface="+mj-ea"/>
              <a:ea typeface="+mj-ea"/>
            </a:endParaRPr>
          </a:p>
          <a:p>
            <a:pPr lvl="1" indent="-45720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j-ea"/>
                <a:ea typeface="+mj-ea"/>
              </a:rPr>
              <a:t>① 在减数分裂前期，尤其是双线期，配对中的染色体显出</a:t>
            </a: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交叉</a:t>
            </a:r>
            <a:r>
              <a:rPr lang="zh-CN" altLang="en-US" dirty="0">
                <a:latin typeface="+mj-ea"/>
                <a:ea typeface="+mj-ea"/>
              </a:rPr>
              <a:t>缠结的图像。每一个交叉，是同源染色体间对应片段发生交换的地方。</a:t>
            </a:r>
            <a:endParaRPr lang="en-US" altLang="zh-CN" dirty="0">
              <a:latin typeface="+mj-ea"/>
              <a:ea typeface="+mj-ea"/>
            </a:endParaRPr>
          </a:p>
          <a:p>
            <a:pPr lvl="1" indent="-45720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j-ea"/>
                <a:ea typeface="+mj-ea"/>
              </a:rPr>
              <a:t>② 相互连锁的两个基因位于同一染色体的不同位置，如果这两个位置之间发生交换，就导致这两个连锁基因的重组（</a:t>
            </a:r>
            <a:r>
              <a:rPr lang="en-US" altLang="zh-CN" dirty="0">
                <a:latin typeface="+mj-ea"/>
                <a:ea typeface="+mj-ea"/>
              </a:rPr>
              <a:t>recombination</a:t>
            </a:r>
            <a:r>
              <a:rPr lang="zh-CN" altLang="en-US" dirty="0">
                <a:latin typeface="+mj-ea"/>
                <a:ea typeface="+mj-ea"/>
              </a:rPr>
              <a:t>）。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0" name="标题 47112"/>
          <p:cNvSpPr txBox="1"/>
          <p:nvPr/>
        </p:nvSpPr>
        <p:spPr>
          <a:xfrm>
            <a:off x="166396" y="0"/>
            <a:ext cx="10515600" cy="765110"/>
          </a:xfrm>
          <a:prstGeom prst="rect">
            <a:avLst/>
          </a:prstGeom>
        </p:spPr>
        <p:txBody>
          <a:bodyPr vert="horz" lIns="92075" tIns="46038" rIns="92075" bIns="4603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四、交换与不完全连锁的形成</a:t>
            </a:r>
            <a:endParaRPr lang="en-US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0" y="942975"/>
            <a:ext cx="4856206" cy="4456983"/>
          </a:xfrm>
        </p:spPr>
      </p:pic>
      <p:pic>
        <p:nvPicPr>
          <p:cNvPr id="12" name="内容占位符 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354" y="28007"/>
            <a:ext cx="2218990" cy="324896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144429" y="328865"/>
            <a:ext cx="3349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FF0000"/>
                </a:solidFill>
              </a:rPr>
              <a:t>交叉发生在 </a:t>
            </a:r>
            <a:r>
              <a:rPr lang="en-US" altLang="zh-CN" sz="2400" b="1" i="1" dirty="0">
                <a:solidFill>
                  <a:srgbClr val="FF0000"/>
                </a:solidFill>
              </a:rPr>
              <a:t>sh—c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外侧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354" y="3324336"/>
            <a:ext cx="2214482" cy="332172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229491" y="3594049"/>
            <a:ext cx="3550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400" dirty="0"/>
              <a:t>交叉发生在 </a:t>
            </a:r>
            <a:r>
              <a:rPr lang="en-US" altLang="zh-CN" sz="2400" dirty="0" err="1"/>
              <a:t>sh</a:t>
            </a:r>
            <a:r>
              <a:rPr lang="en-US" altLang="zh-CN" sz="2400" dirty="0"/>
              <a:t>—c </a:t>
            </a:r>
            <a:r>
              <a:rPr lang="zh-CN" altLang="en-US" sz="2400" dirty="0"/>
              <a:t>内部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8167221" y="4011005"/>
            <a:ext cx="3899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形成的配子中，有一半是亲组合，另一半是重组合。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8229491" y="758309"/>
            <a:ext cx="3266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zh-CN" altLang="en-US" sz="1800" dirty="0"/>
              <a:t>形成的配子都是亲组合。</a:t>
            </a:r>
            <a:endParaRPr lang="zh-CN" altLang="en-US" sz="1800" dirty="0"/>
          </a:p>
        </p:txBody>
      </p:sp>
      <p:cxnSp>
        <p:nvCxnSpPr>
          <p:cNvPr id="19" name="直接箭头连接符 18"/>
          <p:cNvCxnSpPr>
            <a:stCxn id="5" idx="3"/>
            <a:endCxn id="12" idx="1"/>
          </p:cNvCxnSpPr>
          <p:nvPr/>
        </p:nvCxnSpPr>
        <p:spPr>
          <a:xfrm flipV="1">
            <a:off x="4875176" y="1652489"/>
            <a:ext cx="975178" cy="15189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5" idx="3"/>
            <a:endCxn id="14" idx="1"/>
          </p:cNvCxnSpPr>
          <p:nvPr/>
        </p:nvCxnSpPr>
        <p:spPr>
          <a:xfrm>
            <a:off x="4875176" y="3171467"/>
            <a:ext cx="975178" cy="18137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06555" y="4696777"/>
            <a:ext cx="5073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6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b="1" dirty="0"/>
              <a:t>F</a:t>
            </a:r>
            <a:r>
              <a:rPr lang="en-US" altLang="zh-CN" sz="1800" b="1" baseline="-25000" dirty="0"/>
              <a:t>1</a:t>
            </a:r>
            <a:r>
              <a:rPr lang="en-US" altLang="zh-CN" sz="1800" b="1" dirty="0"/>
              <a:t> </a:t>
            </a:r>
            <a:r>
              <a:rPr lang="zh-CN" altLang="en-US" sz="1800" b="1" dirty="0"/>
              <a:t>有色饱满的双杂合玉米植株测交后代分离比</a:t>
            </a:r>
            <a:endParaRPr lang="zh-CN" altLang="en-US" sz="1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220797" y="5069457"/>
            <a:ext cx="5528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pPr algn="l"/>
            <a:r>
              <a:rPr lang="zh-CN" altLang="en-US" sz="2400" dirty="0"/>
              <a:t>如 </a:t>
            </a:r>
            <a:r>
              <a:rPr lang="en-US" altLang="zh-CN" sz="2400" dirty="0"/>
              <a:t>F1 </a:t>
            </a:r>
            <a:r>
              <a:rPr lang="zh-CN" altLang="en-US" sz="2400" dirty="0"/>
              <a:t>植株在减数分裂时有 </a:t>
            </a:r>
            <a:r>
              <a:rPr lang="en-US" altLang="zh-CN" sz="2400" dirty="0"/>
              <a:t>_____</a:t>
            </a:r>
            <a:r>
              <a:rPr lang="zh-CN" altLang="en-US" sz="2400" dirty="0"/>
              <a:t>在 </a:t>
            </a:r>
            <a:r>
              <a:rPr lang="en-US" altLang="zh-CN" sz="2400" dirty="0"/>
              <a:t>sh—c </a:t>
            </a:r>
            <a:r>
              <a:rPr lang="zh-CN" altLang="en-US" sz="2400" dirty="0"/>
              <a:t>间形成一个交叉，则用双隐性植株测交时，测交后代将出现</a:t>
            </a:r>
            <a:r>
              <a:rPr lang="en-US" altLang="zh-CN" sz="2400" dirty="0"/>
              <a:t>3%</a:t>
            </a:r>
            <a:r>
              <a:rPr lang="zh-CN" altLang="en-US" sz="2400" dirty="0"/>
              <a:t>的重组合。</a:t>
            </a:r>
            <a:endParaRPr lang="zh-CN" altLang="en-US" sz="2400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998" y="107826"/>
            <a:ext cx="6016164" cy="4588951"/>
          </a:xfrm>
        </p:spPr>
      </p:pic>
      <p:sp>
        <p:nvSpPr>
          <p:cNvPr id="8" name="文本框 7"/>
          <p:cNvSpPr txBox="1"/>
          <p:nvPr/>
        </p:nvSpPr>
        <p:spPr>
          <a:xfrm>
            <a:off x="18854" y="3934506"/>
            <a:ext cx="5971203" cy="1568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Ø"/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lvl="1" indent="-45720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 sz="2800" b="0">
                <a:latin typeface="+mj-ea"/>
                <a:ea typeface="+mj-ea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zh-CN" altLang="en-US" sz="2400" b="1" dirty="0"/>
              <a:t>测交比例直接反映配子的分离比例，以上测交，</a:t>
            </a:r>
            <a:r>
              <a:rPr lang="zh-CN" altLang="en-US" sz="2400" b="1" dirty="0">
                <a:solidFill>
                  <a:srgbClr val="FF0000"/>
                </a:solidFill>
              </a:rPr>
              <a:t>重组率或交换率</a:t>
            </a:r>
            <a:r>
              <a:rPr lang="zh-CN" altLang="en-US" sz="2400" b="1" dirty="0"/>
              <a:t>可计算如下： </a:t>
            </a:r>
            <a:endParaRPr lang="en-US" altLang="zh-CN" sz="2400" b="1" dirty="0"/>
          </a:p>
          <a:p>
            <a:pPr lvl="1"/>
            <a:endParaRPr lang="en-US" altLang="zh-CN" sz="2400" b="1" dirty="0"/>
          </a:p>
          <a:p>
            <a:pPr lvl="1"/>
            <a:endParaRPr lang="en-US" altLang="zh-CN" sz="2400" b="1" dirty="0"/>
          </a:p>
          <a:p>
            <a:pPr lvl="1"/>
            <a:endParaRPr lang="en-US" altLang="zh-CN" sz="2400" b="1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6923" y="4826538"/>
            <a:ext cx="4990581" cy="10961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979033" y="5023577"/>
            <a:ext cx="7598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6% 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9" name="内容占位符 7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06" y="107826"/>
            <a:ext cx="5148053" cy="37707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49153"/>
          <p:cNvSpPr>
            <a:spLocks noGrp="1"/>
          </p:cNvSpPr>
          <p:nvPr>
            <p:ph type="title"/>
          </p:nvPr>
        </p:nvSpPr>
        <p:spPr>
          <a:xfrm>
            <a:off x="838200" y="407437"/>
            <a:ext cx="10515600" cy="440386"/>
          </a:xfrm>
        </p:spPr>
        <p:txBody>
          <a:bodyPr vert="horz" lIns="92075" tIns="46038" rIns="92075" bIns="46038" anchor="ctr">
            <a:no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五、</a:t>
            </a:r>
            <a:r>
              <a:rPr lang="en-US" altLang="en-US" sz="36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交换的细胞学</a:t>
            </a: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基础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pic>
        <p:nvPicPr>
          <p:cNvPr id="49164" name="内容占位符 49163" descr="3-4-2"/>
          <p:cNvPicPr>
            <a:picLocks noGrp="1" noChangeAspect="1"/>
          </p:cNvPicPr>
          <p:nvPr>
            <p:ph idx="1"/>
          </p:nvPr>
        </p:nvPicPr>
        <p:blipFill>
          <a:blip r:embed="rId1">
            <a:lum/>
          </a:blip>
          <a:stretch>
            <a:fillRect/>
          </a:stretch>
        </p:blipFill>
        <p:spPr>
          <a:xfrm>
            <a:off x="7027653" y="4013380"/>
            <a:ext cx="5019035" cy="2310387"/>
          </a:xfrm>
        </p:spPr>
      </p:pic>
      <p:sp>
        <p:nvSpPr>
          <p:cNvPr id="3" name="文本框 2"/>
          <p:cNvSpPr txBox="1"/>
          <p:nvPr/>
        </p:nvSpPr>
        <p:spPr>
          <a:xfrm>
            <a:off x="668079" y="1119145"/>
            <a:ext cx="10591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1305" indent="-281305"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.交换发生的时间——</a:t>
            </a:r>
            <a:r>
              <a:rPr lang="zh-CN" altLang="en-US" sz="2400" dirty="0">
                <a:solidFill>
                  <a:srgbClr val="FF0000"/>
                </a:solidFill>
              </a:rPr>
              <a:t>粗线期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281305" indent="-281305"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.交换与交叉的关系</a:t>
            </a:r>
            <a:endParaRPr lang="zh-CN" altLang="en-US" sz="2400" dirty="0"/>
          </a:p>
          <a:p>
            <a:pPr marL="281305" indent="-281305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交换</a:t>
            </a:r>
            <a:r>
              <a:rPr lang="zh-CN" altLang="en-US" sz="2400" dirty="0"/>
              <a:t>：遗传学术语，是指等位基因交换座位，表现为连锁基因的重组。</a:t>
            </a:r>
            <a:endParaRPr lang="zh-CN" altLang="en-US" sz="2400" dirty="0"/>
          </a:p>
          <a:p>
            <a:pPr marL="281305" indent="-281305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交叉</a:t>
            </a:r>
            <a:r>
              <a:rPr lang="zh-CN" altLang="en-US" sz="2400" dirty="0"/>
              <a:t>：是细胞学观察到的染色体交叉现象，这种现象只有在双线期同源染色体互斥，交叉点端化时才能观察到。实际上这时基因已经交换，交叉并不能表明交换的过程，而是交换的直接结果。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668079" y="3409989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dirty="0"/>
              <a:t>3</a:t>
            </a:r>
            <a:r>
              <a:rPr lang="zh-CN" altLang="en-US" sz="2400" dirty="0"/>
              <a:t>.交换的理论假设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①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断裂</a:t>
            </a:r>
            <a:r>
              <a:rPr lang="zh-CN" altLang="en-US" sz="2400" dirty="0">
                <a:solidFill>
                  <a:srgbClr val="FF0000"/>
                </a:solidFill>
              </a:rPr>
              <a:t>—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重接模型</a:t>
            </a:r>
            <a:r>
              <a:rPr lang="zh-CN" altLang="en-US" sz="2400" dirty="0">
                <a:latin typeface="宋体" panose="02010600030101010101" pitchFamily="2" charset="-122"/>
              </a:rPr>
              <a:t>   </a:t>
            </a:r>
            <a:r>
              <a:rPr lang="en-US" altLang="zh-CN" sz="2000" dirty="0"/>
              <a:t>Darlington </a:t>
            </a:r>
            <a:r>
              <a:rPr lang="zh-CN" altLang="en-US" sz="2000" dirty="0"/>
              <a:t>于1937年提出</a:t>
            </a:r>
            <a:endParaRPr lang="zh-CN" altLang="en-US" sz="2000" dirty="0"/>
          </a:p>
          <a:p>
            <a:pPr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②拷贝选择模型   </a:t>
            </a:r>
            <a:r>
              <a:rPr lang="en-US" altLang="zh-CN" sz="2000" dirty="0"/>
              <a:t>John Belling </a:t>
            </a:r>
            <a:r>
              <a:rPr lang="zh-CN" altLang="en-US" sz="2000" dirty="0"/>
              <a:t>于1928年提出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603" y="-74727"/>
            <a:ext cx="10515600" cy="666505"/>
          </a:xfrm>
        </p:spPr>
        <p:txBody>
          <a:bodyPr vert="horz" lIns="92075" tIns="46038" rIns="92075" bIns="46038" rtlCol="0" anchor="ctr">
            <a:no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六、连锁群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-193659" y="495525"/>
            <a:ext cx="12104922" cy="1886728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D 4</a:t>
            </a:r>
            <a:r>
              <a:rPr lang="zh-CN" altLang="en-US" dirty="0"/>
              <a:t>个基因，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连锁，</a:t>
            </a:r>
            <a:r>
              <a:rPr lang="en-US" altLang="zh-CN" dirty="0"/>
              <a:t>C</a:t>
            </a:r>
            <a:r>
              <a:rPr lang="zh-CN" altLang="en-US" dirty="0"/>
              <a:t>与</a:t>
            </a:r>
            <a:r>
              <a:rPr lang="en-US" altLang="zh-CN" dirty="0"/>
              <a:t>D</a:t>
            </a:r>
            <a:r>
              <a:rPr lang="zh-CN" altLang="en-US" dirty="0"/>
              <a:t>连锁，而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C</a:t>
            </a:r>
            <a:r>
              <a:rPr lang="zh-CN" altLang="en-US" dirty="0"/>
              <a:t>不连锁，则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属于同一</a:t>
            </a:r>
            <a:r>
              <a:rPr lang="zh-CN" altLang="en-US" b="1" dirty="0">
                <a:solidFill>
                  <a:srgbClr val="FF0000"/>
                </a:solidFill>
              </a:rPr>
              <a:t>连锁群（</a:t>
            </a:r>
            <a:r>
              <a:rPr lang="en-US" altLang="zh-CN" b="1" dirty="0">
                <a:solidFill>
                  <a:srgbClr val="FF0000"/>
                </a:solidFill>
              </a:rPr>
              <a:t>linkage group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D</a:t>
            </a:r>
            <a:r>
              <a:rPr lang="zh-CN" altLang="en-US" dirty="0"/>
              <a:t>属于另一连锁群。</a:t>
            </a:r>
            <a:endParaRPr lang="en-US" altLang="zh-CN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位于同一染色体上的所有基因组成一个连锁群，</a:t>
            </a:r>
            <a:r>
              <a:rPr lang="zh-CN" altLang="en-US" b="1" dirty="0"/>
              <a:t>连锁群的数目理论上应该等于单倍体染色体数</a:t>
            </a:r>
            <a:endParaRPr lang="en-US" altLang="zh-CN" b="1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US" altLang="zh-CN" dirty="0"/>
          </a:p>
        </p:txBody>
      </p:sp>
      <p:pic>
        <p:nvPicPr>
          <p:cNvPr id="6" name="Picture 4" descr="E:\My Files\遗传学CAI2002\Figures\C04\00-04-0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7788" y="1778501"/>
            <a:ext cx="6557590" cy="507949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50177"/>
          <p:cNvSpPr>
            <a:spLocks noGrp="1"/>
          </p:cNvSpPr>
          <p:nvPr>
            <p:ph type="title"/>
          </p:nvPr>
        </p:nvSpPr>
        <p:spPr>
          <a:xfrm>
            <a:off x="157066" y="879925"/>
            <a:ext cx="10515600" cy="934908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en-US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一</a:t>
            </a: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、</a:t>
            </a:r>
            <a:r>
              <a:rPr lang="en-US" altLang="en-US" sz="36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交换值的概念</a:t>
            </a:r>
            <a:endParaRPr lang="en-US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50179" name="文本占位符 50178"/>
          <p:cNvSpPr>
            <a:spLocks noGrp="1"/>
          </p:cNvSpPr>
          <p:nvPr>
            <p:ph type="body" sz="half" idx="1"/>
          </p:nvPr>
        </p:nvSpPr>
        <p:spPr>
          <a:xfrm>
            <a:off x="998376" y="1640682"/>
            <a:ext cx="10347647" cy="2454275"/>
          </a:xfrm>
        </p:spPr>
        <p:txBody>
          <a:bodyPr/>
          <a:lstStyle/>
          <a:p>
            <a:pPr marL="0" indent="0">
              <a:lnSpc>
                <a:spcPct val="140000"/>
              </a:lnSpc>
              <a:buClr>
                <a:schemeClr val="tx2"/>
              </a:buClr>
              <a:buSzPct val="75000"/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交换值</a:t>
            </a:r>
            <a:r>
              <a:rPr lang="en-US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cross-over value)，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也称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重组率/重组值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，是指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重组型配子占总配子的百分率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。即：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graphicFrame>
        <p:nvGraphicFramePr>
          <p:cNvPr id="50180" name="内容占位符 50179"/>
          <p:cNvGraphicFramePr>
            <a:graphicFrameLocks noGrp="1"/>
          </p:cNvGraphicFramePr>
          <p:nvPr>
            <p:ph sz="half" idx="2"/>
          </p:nvPr>
        </p:nvGraphicFramePr>
        <p:xfrm>
          <a:off x="2592387" y="2919882"/>
          <a:ext cx="6988175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260600" imgH="419100" progId="Equation.3">
                  <p:embed/>
                </p:oleObj>
              </mc:Choice>
              <mc:Fallback>
                <p:oleObj name="" r:id="rId1" imgW="2260600" imgH="419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2387" y="2919882"/>
                        <a:ext cx="6988175" cy="11938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1" name="矩形标注 50180"/>
          <p:cNvSpPr/>
          <p:nvPr/>
        </p:nvSpPr>
        <p:spPr>
          <a:xfrm flipV="1">
            <a:off x="7280596" y="4384405"/>
            <a:ext cx="2624436" cy="369332"/>
          </a:xfrm>
          <a:prstGeom prst="wedgeRectCallout">
            <a:avLst>
              <a:gd name="adj1" fmla="val -57060"/>
              <a:gd name="adj2" fmla="val 122106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wrap="none" anchor="ctr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亲本型配子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重组型配子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2" name="文本框 50181"/>
          <p:cNvSpPr txBox="1"/>
          <p:nvPr/>
        </p:nvSpPr>
        <p:spPr>
          <a:xfrm>
            <a:off x="1008395" y="5043168"/>
            <a:ext cx="6316153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用哪些方法可以测定各种配子的数目？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标题 124933"/>
          <p:cNvSpPr txBox="1"/>
          <p:nvPr/>
        </p:nvSpPr>
        <p:spPr>
          <a:xfrm>
            <a:off x="1931437" y="207472"/>
            <a:ext cx="8136294" cy="768058"/>
          </a:xfrm>
          <a:prstGeom prst="rect">
            <a:avLst/>
          </a:prstGeom>
        </p:spPr>
        <p:txBody>
          <a:bodyPr vert="horz" lIns="92075" tIns="46038" rIns="92075" bIns="46038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53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第二节</a:t>
            </a:r>
            <a:r>
              <a:rPr lang="en-US" altLang="en-US" sz="53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</a:t>
            </a:r>
            <a:r>
              <a:rPr lang="en-US" altLang="en-US" sz="53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交换值及其测定</a:t>
            </a:r>
            <a:br>
              <a:rPr lang="en-US" altLang="en-US" sz="3600" dirty="0">
                <a:latin typeface="Times New Roman" panose="02020603050405020304" pitchFamily="18" charset="0"/>
                <a:ea typeface="楷体_GB2312" pitchFamily="49" charset="-122"/>
                <a:sym typeface="宋体" panose="02010600030101010101" pitchFamily="2" charset="-122"/>
              </a:rPr>
            </a:b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/>
      <p:bldP spid="50179" grpId="0" advAuto="1000" build="p"/>
      <p:bldP spid="50181" grpId="0" bldLvl="0" animBg="1"/>
      <p:bldP spid="5018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51201"/>
          <p:cNvSpPr>
            <a:spLocks noGrp="1"/>
          </p:cNvSpPr>
          <p:nvPr>
            <p:ph type="title"/>
          </p:nvPr>
        </p:nvSpPr>
        <p:spPr>
          <a:xfrm>
            <a:off x="132757" y="0"/>
            <a:ext cx="10515600" cy="661144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二、</a:t>
            </a:r>
            <a:r>
              <a:rPr lang="en-US" altLang="en-US" sz="36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交换值的测定</a:t>
            </a:r>
            <a:endParaRPr lang="en-US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51203" name="文本占位符 51202"/>
          <p:cNvSpPr>
            <a:spLocks noGrp="1"/>
          </p:cNvSpPr>
          <p:nvPr>
            <p:ph type="body" idx="1"/>
          </p:nvPr>
        </p:nvSpPr>
        <p:spPr>
          <a:xfrm>
            <a:off x="135155" y="732597"/>
            <a:ext cx="11923295" cy="651035"/>
          </a:xfrm>
        </p:spPr>
        <p:txBody>
          <a:bodyPr>
            <a:noAutofit/>
          </a:bodyPr>
          <a:lstStyle/>
          <a:p>
            <a:pPr marL="0" lvl="1" indent="0">
              <a:lnSpc>
                <a:spcPct val="110000"/>
              </a:lnSpc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测交后代表型的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种类和比例直接反映被测个体(如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F</a:t>
            </a:r>
            <a:r>
              <a:rPr lang="en-US" altLang="zh-CN" sz="2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)产生配子的种类和比例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62647" y="42112"/>
            <a:ext cx="1834156" cy="5678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1.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测交法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878" y="1418856"/>
            <a:ext cx="6129120" cy="3773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" y="1334141"/>
            <a:ext cx="6057669" cy="3942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322976" y="5538852"/>
            <a:ext cx="6096000" cy="508409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2">
              <a:lnSpc>
                <a:spcPct val="110000"/>
              </a:lnSpc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C-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Sh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相引相的交换值为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______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43829" y="5538851"/>
            <a:ext cx="5454316" cy="508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>
              <a:lnSpc>
                <a:spcPct val="110000"/>
              </a:lnSpc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C-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Sh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相斥相的交换值为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_______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41884" y="5538851"/>
            <a:ext cx="909223" cy="480131"/>
          </a:xfrm>
          <a:prstGeom prst="rect">
            <a:avLst/>
          </a:prstGeom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宋体" panose="02010600030101010101" pitchFamily="2" charset="-122"/>
              </a:rPr>
              <a:t>3.6%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648562" y="5506403"/>
            <a:ext cx="909223" cy="480131"/>
          </a:xfrm>
          <a:prstGeom prst="rect">
            <a:avLst/>
          </a:prstGeom>
        </p:spPr>
        <p:txBody>
          <a:bodyPr lIns="92075" tIns="46038" rIns="92075" bIns="46038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宋体" panose="02010600030101010101" pitchFamily="2" charset="-122"/>
              </a:rPr>
              <a:t>3.0%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  <p:bldP spid="7" grpId="0"/>
      <p:bldP spid="8" grpId="0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51201"/>
          <p:cNvSpPr>
            <a:spLocks noGrp="1"/>
          </p:cNvSpPr>
          <p:nvPr>
            <p:ph type="title"/>
          </p:nvPr>
        </p:nvSpPr>
        <p:spPr>
          <a:xfrm>
            <a:off x="229009" y="107548"/>
            <a:ext cx="10515600" cy="661144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二、</a:t>
            </a:r>
            <a:r>
              <a:rPr lang="en-US" altLang="en-US" sz="36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交换值的测定</a:t>
            </a:r>
            <a:endParaRPr lang="en-US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373855" y="126334"/>
            <a:ext cx="1834156" cy="5678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2.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自交法</a:t>
            </a: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62" y="982078"/>
            <a:ext cx="5381625" cy="427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本占位符 63497"/>
          <p:cNvSpPr txBox="1"/>
          <p:nvPr/>
        </p:nvSpPr>
        <p:spPr>
          <a:xfrm>
            <a:off x="5636494" y="1237178"/>
            <a:ext cx="6555506" cy="17831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Clr>
                <a:schemeClr val="tx2"/>
              </a:buClr>
              <a:buSzPct val="75000"/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b="1" baseline="-25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产生的四种配子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PL, Pl*, </a:t>
            </a:r>
            <a:r>
              <a:rPr lang="en-US" altLang="zh-CN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pL</a:t>
            </a: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*, pl的比例分别为：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a, b, c, d</a:t>
            </a:r>
            <a:endParaRPr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Clr>
                <a:schemeClr val="tx2"/>
              </a:buClr>
              <a:buSzPct val="75000"/>
              <a:buFont typeface="Arial" panose="020B0604020202020204" pitchFamily="34" charset="0"/>
              <a:buNone/>
            </a:pPr>
            <a:r>
              <a:rPr lang="zh-CN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则有：</a:t>
            </a:r>
            <a:r>
              <a:rPr lang="en-US" altLang="zh-CN" sz="30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a+b+c+d</a:t>
            </a:r>
            <a:r>
              <a:rPr lang="en-US" altLang="zh-CN" sz="30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    a=d, b=c</a:t>
            </a:r>
            <a:endParaRPr lang="en-US" altLang="zh-CN" sz="30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dvAuto="100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文本占位符 64514"/>
          <p:cNvSpPr>
            <a:spLocks noGrp="1"/>
          </p:cNvSpPr>
          <p:nvPr>
            <p:ph type="body" sz="half" idx="2"/>
          </p:nvPr>
        </p:nvSpPr>
        <p:spPr>
          <a:xfrm>
            <a:off x="809305" y="3281256"/>
            <a:ext cx="10091306" cy="2455862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Clr>
                <a:schemeClr val="tx2"/>
              </a:buClr>
              <a:buSzPct val="75000"/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的4种表现型(9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种基因型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)及其理论比例为：</a:t>
            </a:r>
            <a:endParaRPr lang="zh-CN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P_L_ (PPLL,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PPLl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PpLL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PpLl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	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28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+2ab+2ac+2bc+2ad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  <a:buNone/>
            </a:pP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P_ll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(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PPll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Ppll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			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+2bd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  <a:buNone/>
            </a:pP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ppL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_    (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ppLL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ppLl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			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8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+2cd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10000"/>
              </a:lnSpc>
              <a:buNone/>
            </a:pPr>
            <a:r>
              <a:rPr lang="en-US" altLang="zh-CN" sz="2800" b="1" dirty="0" err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ppll</a:t>
            </a:r>
            <a:r>
              <a:rPr lang="en-US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 					        </a:t>
            </a:r>
            <a:r>
              <a:rPr lang="en-US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2800" b="1" baseline="30000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800" b="1" baseline="30000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表格 4"/>
          <p:cNvGraphicFramePr>
            <a:graphicFrameLocks noGrp="1"/>
          </p:cNvGraphicFramePr>
          <p:nvPr/>
        </p:nvGraphicFramePr>
        <p:xfrm>
          <a:off x="1742906" y="322955"/>
          <a:ext cx="4958683" cy="2802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073"/>
                <a:gridCol w="973095"/>
                <a:gridCol w="986589"/>
                <a:gridCol w="1046748"/>
                <a:gridCol w="830178"/>
              </a:tblGrid>
              <a:tr h="603477"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PL(a)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Pl(b)*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pL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(c)</a:t>
                      </a:r>
                      <a:r>
                        <a:rPr lang="zh-CN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*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(d)</a:t>
                      </a:r>
                      <a:endParaRPr lang="en-US" altLang="zh-CN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2569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PL(a)</a:t>
                      </a:r>
                      <a:endParaRPr lang="zh-CN" altLang="en-US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1421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Pl(b)*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453">
                <a:tc>
                  <a:txBody>
                    <a:bodyPr/>
                    <a:lstStyle/>
                    <a:p>
                      <a:r>
                        <a:rPr lang="en-US" altLang="zh-CN" sz="24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pL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(c)</a:t>
                      </a:r>
                      <a:r>
                        <a:rPr lang="zh-CN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*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1421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(d)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2400" b="1" baseline="30000" dirty="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advAuto="100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301" y="-1"/>
            <a:ext cx="5219700" cy="41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86001" y="2283525"/>
          <a:ext cx="8361362" cy="372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2" imgW="3441700" imgH="1524000" progId="Equation.3">
                  <p:embed/>
                </p:oleObj>
              </mc:Choice>
              <mc:Fallback>
                <p:oleObj name="" r:id="rId2" imgW="3441700" imgH="1524000" progId="Equation.3">
                  <p:embed/>
                  <p:pic>
                    <p:nvPicPr>
                      <p:cNvPr id="0" name="对象 655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01" y="2283525"/>
                        <a:ext cx="8361362" cy="372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72452" y="767833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中双隐性个体(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ppll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)的比例可直接计算得到(1338/6952)，因此有：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文本占位符 66562"/>
          <p:cNvSpPr>
            <a:spLocks noGrp="1"/>
          </p:cNvSpPr>
          <p:nvPr>
            <p:ph type="body" idx="1"/>
          </p:nvPr>
        </p:nvSpPr>
        <p:spPr>
          <a:xfrm>
            <a:off x="311317" y="532598"/>
            <a:ext cx="2674970" cy="507029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相斥相的分析：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784" y="137611"/>
            <a:ext cx="4273216" cy="3739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6564" name="对象 66563"/>
          <p:cNvGraphicFramePr/>
          <p:nvPr/>
        </p:nvGraphicFramePr>
        <p:xfrm>
          <a:off x="-84621" y="1591740"/>
          <a:ext cx="8458200" cy="424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" imgW="3594100" imgH="1803400" progId="Equation.3">
                  <p:embed/>
                </p:oleObj>
              </mc:Choice>
              <mc:Fallback>
                <p:oleObj name="" r:id="rId2" imgW="3594100" imgH="18034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84621" y="1591740"/>
                        <a:ext cx="8458200" cy="424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3"/>
          <p:cNvSpPr>
            <a:spLocks noGrp="1"/>
          </p:cNvSpPr>
          <p:nvPr>
            <p:ph idx="1"/>
          </p:nvPr>
        </p:nvSpPr>
        <p:spPr>
          <a:xfrm>
            <a:off x="744718" y="839771"/>
            <a:ext cx="10925665" cy="4608922"/>
          </a:xfrm>
          <a:solidFill>
            <a:schemeClr val="bg1"/>
          </a:solidFill>
          <a:ln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①测交法</a:t>
            </a:r>
            <a:r>
              <a:rPr lang="zh-CN" altLang="en-US" sz="2800" dirty="0"/>
              <a:t>——</a:t>
            </a:r>
            <a:r>
              <a:rPr lang="zh-CN" altLang="en-US" sz="2800" dirty="0">
                <a:sym typeface="宋体" panose="02010600030101010101" pitchFamily="2" charset="-122"/>
              </a:rPr>
              <a:t>测交后代</a:t>
            </a:r>
            <a:r>
              <a:rPr lang="zh-CN" altLang="zh-CN" sz="2800" dirty="0">
                <a:sym typeface="宋体" panose="02010600030101010101" pitchFamily="2" charset="-122"/>
              </a:rPr>
              <a:t>(</a:t>
            </a:r>
            <a:r>
              <a:rPr lang="en-US" altLang="zh-CN" sz="2800" dirty="0">
                <a:sym typeface="宋体" panose="02010600030101010101" pitchFamily="2" charset="-122"/>
              </a:rPr>
              <a:t>F</a:t>
            </a:r>
            <a:r>
              <a:rPr lang="en-US" altLang="zh-CN" sz="2800" baseline="-25000" dirty="0">
                <a:sym typeface="宋体" panose="02010600030101010101" pitchFamily="2" charset="-122"/>
              </a:rPr>
              <a:t>t</a:t>
            </a:r>
            <a:r>
              <a:rPr lang="en-US" altLang="zh-CN" sz="2800" dirty="0">
                <a:sym typeface="宋体" panose="02010600030101010101" pitchFamily="2" charset="-122"/>
              </a:rPr>
              <a:t>)</a:t>
            </a:r>
            <a:r>
              <a:rPr lang="zh-CN" altLang="en-US" sz="2800" dirty="0">
                <a:sym typeface="宋体" panose="02010600030101010101" pitchFamily="2" charset="-122"/>
              </a:rPr>
              <a:t>的表现型的种类和比例直接反映被测个体产生配子的种类和比例。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②自交法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rgbClr val="FF0066"/>
              </a:buClr>
              <a:buNone/>
            </a:pPr>
            <a:r>
              <a:rPr lang="en-US" altLang="zh-CN" sz="2800" dirty="0"/>
              <a:t>A、</a:t>
            </a:r>
            <a:r>
              <a:rPr lang="zh-CN" altLang="en-US" sz="2800" dirty="0"/>
              <a:t>简易法（</a:t>
            </a:r>
            <a:r>
              <a:rPr lang="en-US" altLang="zh-CN" sz="2800" dirty="0"/>
              <a:t>x—</a:t>
            </a:r>
            <a:r>
              <a:rPr lang="zh-CN" altLang="en-US" sz="2400" dirty="0"/>
              <a:t>指双隐性纯合子的频率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marL="0" indent="0">
              <a:lnSpc>
                <a:spcPct val="90000"/>
              </a:lnSpc>
              <a:buClr>
                <a:srgbClr val="FF0066"/>
              </a:buClr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 marL="0" indent="0">
              <a:lnSpc>
                <a:spcPct val="90000"/>
              </a:lnSpc>
              <a:buClr>
                <a:srgbClr val="FF0066"/>
              </a:buClr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 marL="0" indent="0">
              <a:lnSpc>
                <a:spcPct val="90000"/>
              </a:lnSpc>
              <a:buClr>
                <a:srgbClr val="FF0066"/>
              </a:buClr>
              <a:buFont typeface="Wingdings" panose="05000000000000000000" pitchFamily="2" charset="2"/>
              <a:buNone/>
            </a:pPr>
            <a:endParaRPr lang="zh-CN" altLang="en-US" sz="2800" dirty="0"/>
          </a:p>
        </p:txBody>
      </p:sp>
      <p:graphicFrame>
        <p:nvGraphicFramePr>
          <p:cNvPr id="244739" name="Object 2"/>
          <p:cNvGraphicFramePr/>
          <p:nvPr/>
        </p:nvGraphicFramePr>
        <p:xfrm>
          <a:off x="1974130" y="2908291"/>
          <a:ext cx="30480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824865" imgH="241300" progId="Equation.3">
                  <p:embed/>
                </p:oleObj>
              </mc:Choice>
              <mc:Fallback>
                <p:oleObj name="" r:id="rId1" imgW="824865" imgH="2413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74130" y="2908291"/>
                        <a:ext cx="3048000" cy="890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0" name="Object 3"/>
          <p:cNvGraphicFramePr/>
          <p:nvPr/>
        </p:nvGraphicFramePr>
        <p:xfrm>
          <a:off x="5784130" y="2908291"/>
          <a:ext cx="2590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647700" imgH="241300" progId="Equation.3">
                  <p:embed/>
                </p:oleObj>
              </mc:Choice>
              <mc:Fallback>
                <p:oleObj name="" r:id="rId3" imgW="647700" imgH="2413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4130" y="2908291"/>
                        <a:ext cx="25908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1" name="AutoShape 10"/>
          <p:cNvSpPr/>
          <p:nvPr/>
        </p:nvSpPr>
        <p:spPr>
          <a:xfrm>
            <a:off x="3945805" y="3608379"/>
            <a:ext cx="1966913" cy="838200"/>
          </a:xfrm>
          <a:prstGeom prst="cloudCallout">
            <a:avLst>
              <a:gd name="adj1" fmla="val -140671"/>
              <a:gd name="adj2" fmla="val -103787"/>
            </a:avLst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相引相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44742" name="AutoShape 11"/>
          <p:cNvSpPr/>
          <p:nvPr/>
        </p:nvSpPr>
        <p:spPr>
          <a:xfrm>
            <a:off x="6731868" y="3679816"/>
            <a:ext cx="2024062" cy="762000"/>
          </a:xfrm>
          <a:prstGeom prst="cloudCallout">
            <a:avLst>
              <a:gd name="adj1" fmla="val -69347"/>
              <a:gd name="adj2" fmla="val -107292"/>
            </a:avLst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相斥相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标题 51201"/>
          <p:cNvSpPr>
            <a:spLocks noGrp="1"/>
          </p:cNvSpPr>
          <p:nvPr>
            <p:ph type="title"/>
          </p:nvPr>
        </p:nvSpPr>
        <p:spPr>
          <a:xfrm>
            <a:off x="132757" y="0"/>
            <a:ext cx="10515600" cy="661144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二、</a:t>
            </a:r>
            <a:r>
              <a:rPr lang="en-US" altLang="en-US" sz="36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交换值的测定</a:t>
            </a:r>
            <a:endParaRPr lang="en-US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3"/>
          <p:cNvSpPr>
            <a:spLocks noGrp="1"/>
          </p:cNvSpPr>
          <p:nvPr>
            <p:ph idx="1"/>
          </p:nvPr>
        </p:nvSpPr>
        <p:spPr>
          <a:xfrm>
            <a:off x="744718" y="839771"/>
            <a:ext cx="10925665" cy="4608922"/>
          </a:xfrm>
          <a:solidFill>
            <a:schemeClr val="bg1"/>
          </a:solidFill>
          <a:ln>
            <a:noFill/>
          </a:ln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①测交法</a:t>
            </a:r>
            <a:r>
              <a:rPr lang="zh-CN" altLang="en-US" sz="2800" dirty="0"/>
              <a:t>——</a:t>
            </a:r>
            <a:r>
              <a:rPr lang="zh-CN" altLang="en-US" sz="2800" dirty="0">
                <a:sym typeface="宋体" panose="02010600030101010101" pitchFamily="2" charset="-122"/>
              </a:rPr>
              <a:t>测交后代</a:t>
            </a:r>
            <a:r>
              <a:rPr lang="zh-CN" altLang="zh-CN" sz="2800" dirty="0">
                <a:sym typeface="宋体" panose="02010600030101010101" pitchFamily="2" charset="-122"/>
              </a:rPr>
              <a:t>(</a:t>
            </a:r>
            <a:r>
              <a:rPr lang="en-US" altLang="zh-CN" sz="2800" dirty="0">
                <a:sym typeface="宋体" panose="02010600030101010101" pitchFamily="2" charset="-122"/>
              </a:rPr>
              <a:t>F</a:t>
            </a:r>
            <a:r>
              <a:rPr lang="en-US" altLang="zh-CN" sz="2800" baseline="-25000" dirty="0">
                <a:sym typeface="宋体" panose="02010600030101010101" pitchFamily="2" charset="-122"/>
              </a:rPr>
              <a:t>t</a:t>
            </a:r>
            <a:r>
              <a:rPr lang="en-US" altLang="zh-CN" sz="2800" dirty="0">
                <a:sym typeface="宋体" panose="02010600030101010101" pitchFamily="2" charset="-122"/>
              </a:rPr>
              <a:t>)</a:t>
            </a:r>
            <a:r>
              <a:rPr lang="zh-CN" altLang="en-US" sz="2800" dirty="0">
                <a:sym typeface="宋体" panose="02010600030101010101" pitchFamily="2" charset="-122"/>
              </a:rPr>
              <a:t>的表现型的种类和比例直接反映被测个体产生配子的种类和比例。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②自交法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Clr>
                <a:srgbClr val="FF0066"/>
              </a:buClr>
              <a:buNone/>
            </a:pPr>
            <a:r>
              <a:rPr lang="en-US" altLang="zh-CN" sz="2800" dirty="0"/>
              <a:t>A、</a:t>
            </a:r>
            <a:r>
              <a:rPr lang="zh-CN" altLang="en-US" sz="2800" dirty="0"/>
              <a:t>简易法（</a:t>
            </a:r>
            <a:r>
              <a:rPr lang="en-US" altLang="zh-CN" sz="2800" dirty="0"/>
              <a:t>x—</a:t>
            </a:r>
            <a:r>
              <a:rPr lang="zh-CN" altLang="en-US" sz="2400" dirty="0"/>
              <a:t>指双隐性纯合子的频率</a:t>
            </a:r>
            <a:r>
              <a:rPr lang="zh-CN" altLang="en-US" sz="2800" dirty="0"/>
              <a:t>）</a:t>
            </a:r>
            <a:endParaRPr lang="zh-CN" altLang="en-US" sz="2800" dirty="0"/>
          </a:p>
          <a:p>
            <a:pPr marL="0" indent="0">
              <a:lnSpc>
                <a:spcPct val="90000"/>
              </a:lnSpc>
              <a:buClr>
                <a:srgbClr val="FF0066"/>
              </a:buClr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 marL="0" indent="0">
              <a:lnSpc>
                <a:spcPct val="90000"/>
              </a:lnSpc>
              <a:buClr>
                <a:srgbClr val="FF0066"/>
              </a:buClr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 marL="0" indent="0">
              <a:lnSpc>
                <a:spcPct val="90000"/>
              </a:lnSpc>
              <a:buClr>
                <a:srgbClr val="FF0066"/>
              </a:buClr>
              <a:buFont typeface="Wingdings" panose="05000000000000000000" pitchFamily="2" charset="2"/>
              <a:buNone/>
            </a:pPr>
            <a:endParaRPr lang="zh-CN" altLang="en-US" sz="2800" dirty="0"/>
          </a:p>
          <a:p>
            <a:pPr marL="0" indent="0">
              <a:lnSpc>
                <a:spcPct val="90000"/>
              </a:lnSpc>
              <a:buClr>
                <a:srgbClr val="FF0066"/>
              </a:buClr>
              <a:buNone/>
            </a:pPr>
            <a:r>
              <a:rPr lang="en-US" altLang="zh-CN" sz="2800" dirty="0"/>
              <a:t>B、</a:t>
            </a:r>
            <a:r>
              <a:rPr lang="zh-CN" altLang="en-US" sz="2800" dirty="0"/>
              <a:t>最大可能法</a:t>
            </a:r>
            <a:endParaRPr lang="zh-CN" altLang="en-US" sz="2800" dirty="0"/>
          </a:p>
          <a:p>
            <a:pPr marL="0" indent="0">
              <a:lnSpc>
                <a:spcPct val="90000"/>
              </a:lnSpc>
              <a:buClr>
                <a:srgbClr val="FF0066"/>
              </a:buClr>
              <a:buNone/>
            </a:pPr>
            <a:r>
              <a:rPr lang="en-US" altLang="zh-CN" sz="2800" dirty="0"/>
              <a:t>C、</a:t>
            </a:r>
            <a:r>
              <a:rPr lang="zh-CN" altLang="en-US" sz="2800" dirty="0"/>
              <a:t>乘积法</a:t>
            </a:r>
            <a:endParaRPr lang="zh-CN" altLang="en-US" sz="2800" dirty="0"/>
          </a:p>
        </p:txBody>
      </p:sp>
      <p:graphicFrame>
        <p:nvGraphicFramePr>
          <p:cNvPr id="244739" name="Object 2"/>
          <p:cNvGraphicFramePr/>
          <p:nvPr/>
        </p:nvGraphicFramePr>
        <p:xfrm>
          <a:off x="1974130" y="2908291"/>
          <a:ext cx="304800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824865" imgH="241300" progId="Equation.3">
                  <p:embed/>
                </p:oleObj>
              </mc:Choice>
              <mc:Fallback>
                <p:oleObj name="" r:id="rId1" imgW="824865" imgH="2413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74130" y="2908291"/>
                        <a:ext cx="3048000" cy="8905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0" name="Object 3"/>
          <p:cNvGraphicFramePr/>
          <p:nvPr/>
        </p:nvGraphicFramePr>
        <p:xfrm>
          <a:off x="5784130" y="2908291"/>
          <a:ext cx="2590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647700" imgH="241300" progId="Equation.3">
                  <p:embed/>
                </p:oleObj>
              </mc:Choice>
              <mc:Fallback>
                <p:oleObj name="" r:id="rId3" imgW="647700" imgH="241300" progId="Equation.3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4130" y="2908291"/>
                        <a:ext cx="2590800" cy="965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41" name="AutoShape 10"/>
          <p:cNvSpPr/>
          <p:nvPr/>
        </p:nvSpPr>
        <p:spPr>
          <a:xfrm>
            <a:off x="3945805" y="3608379"/>
            <a:ext cx="1966913" cy="838200"/>
          </a:xfrm>
          <a:prstGeom prst="cloudCallout">
            <a:avLst>
              <a:gd name="adj1" fmla="val -140671"/>
              <a:gd name="adj2" fmla="val -103787"/>
            </a:avLst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相引相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44742" name="AutoShape 11"/>
          <p:cNvSpPr/>
          <p:nvPr/>
        </p:nvSpPr>
        <p:spPr>
          <a:xfrm>
            <a:off x="6731868" y="3679816"/>
            <a:ext cx="2024062" cy="762000"/>
          </a:xfrm>
          <a:prstGeom prst="cloudCallout">
            <a:avLst>
              <a:gd name="adj1" fmla="val -69347"/>
              <a:gd name="adj2" fmla="val -107292"/>
            </a:avLst>
          </a:prstGeom>
          <a:noFill/>
          <a:ln w="9525">
            <a:noFill/>
          </a:ln>
        </p:spPr>
        <p:txBody>
          <a:bodyPr anchor="t"/>
          <a:lstStyle/>
          <a:p>
            <a:pPr algn="ctr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相斥相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标题 51201"/>
          <p:cNvSpPr>
            <a:spLocks noGrp="1"/>
          </p:cNvSpPr>
          <p:nvPr>
            <p:ph type="title"/>
          </p:nvPr>
        </p:nvSpPr>
        <p:spPr>
          <a:xfrm>
            <a:off x="132757" y="0"/>
            <a:ext cx="10515600" cy="661144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二、</a:t>
            </a:r>
            <a:r>
              <a:rPr lang="en-US" altLang="en-US" sz="36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交换值的测定</a:t>
            </a:r>
            <a:endParaRPr lang="en-US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2" name="标题 52231"/>
          <p:cNvSpPr>
            <a:spLocks noGrp="1"/>
          </p:cNvSpPr>
          <p:nvPr>
            <p:ph type="title"/>
          </p:nvPr>
        </p:nvSpPr>
        <p:spPr>
          <a:xfrm>
            <a:off x="231711" y="149808"/>
            <a:ext cx="4928118" cy="782540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三、交换值与遗传距离</a:t>
            </a:r>
            <a:endParaRPr lang="en-US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52233" name="文本占位符 52232"/>
          <p:cNvSpPr>
            <a:spLocks noGrp="1"/>
          </p:cNvSpPr>
          <p:nvPr>
            <p:ph type="body" idx="1"/>
          </p:nvPr>
        </p:nvSpPr>
        <p:spPr>
          <a:xfrm>
            <a:off x="342899" y="1018551"/>
            <a:ext cx="11506201" cy="48208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非姊妹染色单体间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交换数目及位置是随机的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两个连锁基因间交换值的变化范围是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[0, 50%]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两基因间的距离越远，基因间的连锁强度越小，交换值就越大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通常用交换值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重组率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来度量基因间的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相对距离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，也称为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遗传距离。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通常以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1%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的重组率作为一个遗传距离单位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遗传单位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。两个基因间的距离用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图距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来表示，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1%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的重组值等于一个图距单位，图距单位用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厘摩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ceorti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Morgan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cM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）表示，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1cM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即为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1%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重组值去百分比的数值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09" name="Rectangle 2"/>
          <p:cNvSpPr>
            <a:spLocks noGrp="1"/>
          </p:cNvSpPr>
          <p:nvPr>
            <p:ph type="title"/>
          </p:nvPr>
        </p:nvSpPr>
        <p:spPr>
          <a:xfrm>
            <a:off x="199339" y="-18854"/>
            <a:ext cx="10160000" cy="838200"/>
          </a:xfrm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四、影响交换值的因素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7810" name="Rectangle 3"/>
          <p:cNvSpPr>
            <a:spLocks noGrp="1"/>
          </p:cNvSpPr>
          <p:nvPr>
            <p:ph idx="1"/>
          </p:nvPr>
        </p:nvSpPr>
        <p:spPr>
          <a:xfrm>
            <a:off x="307550" y="819346"/>
            <a:ext cx="11685111" cy="5722856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1.基因在染色体上的位置。一般越靠近染色体末端的基因其重组率越高。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2.基因之间的距离。基因相距越远，重组率越高。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3.重组型配子生活力的差异会影响重组率的估计。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4.减数分裂中同源染色体不能联会或联会不好，无法形成重组型配子或减少重组型配子产生的机会。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5.群体大小。当重组率很低时，在小群体中可能不会出现重组型个体，要准确估计重组率，足够数量的群体是必需的。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6.低温、辐射能使重组率提高。  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09" name="Rectangle 2"/>
          <p:cNvSpPr>
            <a:spLocks noGrp="1"/>
          </p:cNvSpPr>
          <p:nvPr>
            <p:ph type="title"/>
          </p:nvPr>
        </p:nvSpPr>
        <p:spPr>
          <a:xfrm>
            <a:off x="199339" y="-18854"/>
            <a:ext cx="10160000" cy="838200"/>
          </a:xfrm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四、影响交换值的因素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7810" name="Rectangle 3"/>
          <p:cNvSpPr>
            <a:spLocks noGrp="1"/>
          </p:cNvSpPr>
          <p:nvPr>
            <p:ph idx="1"/>
          </p:nvPr>
        </p:nvSpPr>
        <p:spPr>
          <a:xfrm>
            <a:off x="307550" y="819346"/>
            <a:ext cx="11685111" cy="3413289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7.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激素。激素对交换值影响表现在雌雄个体差异。如雄果蝇的染色体不发生交换，不形成重组型配子，因此在果蝇的基因重组测定中，杂合亲本总是用雌果蝇。但在家蚕中却是雌蚕的染色体不发生交换（♀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ZW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8.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二价阳离子（如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Ca</a:t>
            </a:r>
            <a:r>
              <a:rPr lang="en-US" altLang="zh-CN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2+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Mg</a:t>
            </a:r>
            <a:r>
              <a:rPr lang="en-US" altLang="zh-CN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2+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等）也会影响重组率，过高会降低重组率，过低会提高重组率。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9.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年龄及其它外部条件也会影响基因的重组率。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标题 145409"/>
          <p:cNvSpPr>
            <a:spLocks noGrp="1"/>
          </p:cNvSpPr>
          <p:nvPr>
            <p:ph type="ctrTitle"/>
          </p:nvPr>
        </p:nvSpPr>
        <p:spPr>
          <a:xfrm>
            <a:off x="1530350" y="684245"/>
            <a:ext cx="8991600" cy="1143000"/>
          </a:xfrm>
        </p:spPr>
        <p:txBody>
          <a:bodyPr lIns="92075" tIns="46038" rIns="92075" bIns="46038" anchor="ctr"/>
          <a:lstStyle/>
          <a:p>
            <a:pPr defTabSz="914400">
              <a:buSzTx/>
            </a:pPr>
            <a:r>
              <a:rPr lang="zh-CN" altLang="en-US" sz="4000" b="1" kern="1200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第三节</a:t>
            </a:r>
            <a:r>
              <a:rPr lang="en-US" altLang="en-US" sz="4000" b="1" kern="1200" baseline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</a:t>
            </a:r>
            <a:r>
              <a:rPr lang="en-US" altLang="en-US" sz="4000" b="1" kern="1200" baseline="0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基因定位与连锁遗传图</a:t>
            </a:r>
            <a:endParaRPr lang="en-US" altLang="en-US" b="1" kern="1200" baseline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45411" name="副标题 145410"/>
          <p:cNvSpPr>
            <a:spLocks noGrp="1"/>
          </p:cNvSpPr>
          <p:nvPr>
            <p:ph type="subTitle" idx="1"/>
          </p:nvPr>
        </p:nvSpPr>
        <p:spPr>
          <a:xfrm>
            <a:off x="1454150" y="2209800"/>
            <a:ext cx="9144000" cy="1655762"/>
          </a:xfrm>
        </p:spPr>
        <p:txBody>
          <a:bodyPr lIns="92075" tIns="46038" rIns="92075" bIns="46038" anchor="t">
            <a:noAutofit/>
          </a:bodyPr>
          <a:lstStyle/>
          <a:p>
            <a:pPr algn="l" defTabSz="914400">
              <a:lnSpc>
                <a:spcPct val="130000"/>
              </a:lnSpc>
              <a:buSzPct val="75000"/>
            </a:pPr>
            <a:r>
              <a:rPr lang="en-US" altLang="en-US" sz="3600" b="1" kern="1200" baseline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一、连锁分析的方法</a:t>
            </a:r>
            <a:endParaRPr lang="en-US" altLang="en-US" sz="3600" b="1" kern="1200" baseline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algn="l" defTabSz="914400">
              <a:lnSpc>
                <a:spcPct val="130000"/>
              </a:lnSpc>
              <a:buSzPct val="75000"/>
            </a:pPr>
            <a:r>
              <a:rPr lang="en-US" altLang="en-US" sz="3600" b="1" kern="1200" baseline="0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二、干扰和符合</a:t>
            </a:r>
            <a:endParaRPr lang="en-US" altLang="en-US" sz="3600" b="1" kern="1200" baseline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algn="l" defTabSz="914400">
              <a:lnSpc>
                <a:spcPct val="130000"/>
              </a:lnSpc>
              <a:buSzPct val="75000"/>
            </a:pPr>
            <a:r>
              <a:rPr lang="en-US" altLang="en-US" sz="3600" b="1" kern="1200" baseline="0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三、连锁遗传图</a:t>
            </a:r>
            <a:endParaRPr lang="en-US" altLang="en-US" sz="3600" b="1" kern="1200" baseline="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/>
      <p:bldP spid="145411" grpId="0" advAuto="100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标题 149505"/>
          <p:cNvSpPr>
            <a:spLocks noGrp="1"/>
          </p:cNvSpPr>
          <p:nvPr>
            <p:ph type="title"/>
          </p:nvPr>
        </p:nvSpPr>
        <p:spPr>
          <a:xfrm>
            <a:off x="211574" y="0"/>
            <a:ext cx="10515600" cy="783772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en-US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一</a:t>
            </a: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、连锁分析</a:t>
            </a:r>
            <a:r>
              <a:rPr lang="en-US" altLang="en-US" sz="36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的方法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49507" name="文本占位符 149506"/>
          <p:cNvSpPr>
            <a:spLocks noGrp="1"/>
          </p:cNvSpPr>
          <p:nvPr>
            <p:ph type="body" idx="1"/>
          </p:nvPr>
        </p:nvSpPr>
        <p:spPr>
          <a:xfrm>
            <a:off x="578701" y="783772"/>
            <a:ext cx="12032399" cy="3818648"/>
          </a:xfrm>
        </p:spPr>
        <p:txBody>
          <a:bodyPr>
            <a:no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(一)两点测验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(two-point testcross)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marL="457200" lvl="1" indent="0">
              <a:lnSpc>
                <a:spcPct val="135000"/>
              </a:lnSpc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通过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三次测验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，获得三对基因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两两间交换值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、估计其遗传距离。 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marL="0" lvl="1" indent="0">
              <a:lnSpc>
                <a:spcPct val="135000"/>
              </a:lnSpc>
              <a:spcBef>
                <a:spcPts val="10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(二)三点测验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(three-point testcross)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marL="457200" lvl="1" indent="0">
              <a:lnSpc>
                <a:spcPct val="135000"/>
              </a:lnSpc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通过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一次测验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获得三对基因间的距离并确定其排列次序。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标题 150529"/>
          <p:cNvSpPr>
            <a:spLocks noGrp="1"/>
          </p:cNvSpPr>
          <p:nvPr>
            <p:ph type="title"/>
          </p:nvPr>
        </p:nvSpPr>
        <p:spPr>
          <a:xfrm>
            <a:off x="348029" y="0"/>
            <a:ext cx="10515600" cy="692312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两点测验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50531" name="文本占位符 150530"/>
          <p:cNvSpPr>
            <a:spLocks noGrp="1"/>
          </p:cNvSpPr>
          <p:nvPr>
            <p:ph type="body" idx="1"/>
          </p:nvPr>
        </p:nvSpPr>
        <p:spPr>
          <a:xfrm>
            <a:off x="311265" y="711910"/>
            <a:ext cx="11728335" cy="4850690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通过三次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亲本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间两两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杂交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，杂种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F</a:t>
            </a:r>
            <a:r>
              <a:rPr lang="en-US" altLang="zh-CN" sz="3200" b="1" baseline="-250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与双隐性亲本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测交，考察测交子代的类型与比例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。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marL="0" indent="0">
              <a:buNone/>
            </a:pPr>
            <a:endParaRPr lang="zh-CN" altLang="zh-CN" sz="32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>
              <a:buNone/>
            </a:pPr>
            <a:r>
              <a:rPr lang="zh-CN" altLang="zh-CN" sz="3200" b="1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  <a:sym typeface="宋体" panose="02010600030101010101" pitchFamily="2" charset="-122"/>
              </a:rPr>
              <a:t>例：玉米</a:t>
            </a:r>
            <a:r>
              <a:rPr lang="zh-CN" altLang="en-US" sz="3200" b="1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  <a:sym typeface="宋体" panose="02010600030101010101" pitchFamily="2" charset="-122"/>
              </a:rPr>
              <a:t>第</a:t>
            </a:r>
            <a:r>
              <a:rPr lang="en-US" altLang="zh-CN" sz="3200" b="1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  <a:sym typeface="宋体" panose="02010600030101010101" pitchFamily="2" charset="-122"/>
              </a:rPr>
              <a:t>9</a:t>
            </a:r>
            <a:r>
              <a:rPr lang="zh-CN" altLang="en-US" sz="3200" b="1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  <a:sym typeface="宋体" panose="02010600030101010101" pitchFamily="2" charset="-122"/>
              </a:rPr>
              <a:t>染色体上</a:t>
            </a:r>
            <a:r>
              <a:rPr lang="zh-CN" altLang="zh-CN" sz="3200" b="1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  <a:sym typeface="宋体" panose="02010600030101010101" pitchFamily="2" charset="-122"/>
              </a:rPr>
              <a:t>三对基因间连锁分析</a:t>
            </a:r>
            <a:r>
              <a:rPr lang="zh-CN" altLang="en-US" sz="3200" b="1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  <a:sym typeface="宋体" panose="02010600030101010101" pitchFamily="2" charset="-122"/>
              </a:rPr>
              <a:t>：</a:t>
            </a:r>
            <a:endParaRPr lang="zh-CN" altLang="en-US" sz="3200" b="1" dirty="0">
              <a:solidFill>
                <a:srgbClr val="0000FF"/>
              </a:solidFill>
              <a:latin typeface="华文楷体" pitchFamily="2" charset="-122"/>
              <a:ea typeface="华文楷体" pitchFamily="2" charset="-122"/>
              <a:sym typeface="宋体" panose="02010600030101010101" pitchFamily="2" charset="-122"/>
            </a:endParaRPr>
          </a:p>
          <a:p>
            <a:pPr lvl="2"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子粒颜色：	有色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(C)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对无色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(c)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为显性；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lvl="2"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饱满程度：	饱满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(SH)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对凹陷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sh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为显性；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lvl="2"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淀粉粒：	非糯性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对糯性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为显性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.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lvl="1">
              <a:buNone/>
            </a:pPr>
            <a:r>
              <a:rPr lang="zh-CN" altLang="zh-CN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(1)</a:t>
            </a:r>
            <a:r>
              <a:rPr lang="en-US" altLang="zh-CN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</a:t>
            </a:r>
            <a:r>
              <a:rPr lang="en-US" altLang="zh-CN" sz="30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CCShSh×ccshsh</a:t>
            </a:r>
            <a:r>
              <a:rPr lang="en-US" altLang="zh-CN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)F</a:t>
            </a:r>
            <a:r>
              <a:rPr lang="en-US" altLang="zh-CN" sz="30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		×	</a:t>
            </a:r>
            <a:r>
              <a:rPr lang="en-US" altLang="zh-CN" sz="30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ccshsh</a:t>
            </a:r>
            <a:endParaRPr lang="en-US" altLang="zh-CN" sz="3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(2)(</a:t>
            </a:r>
            <a:r>
              <a:rPr lang="en-US" altLang="zh-CN" sz="30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wxwxShSh×WxWxshsh</a:t>
            </a:r>
            <a:r>
              <a:rPr lang="en-US" altLang="zh-CN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)F</a:t>
            </a:r>
            <a:r>
              <a:rPr lang="en-US" altLang="zh-CN" sz="30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	×	</a:t>
            </a:r>
            <a:r>
              <a:rPr lang="en-US" altLang="zh-CN" sz="30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wxwxshsh</a:t>
            </a:r>
            <a:endParaRPr lang="en-US" altLang="zh-CN" sz="3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lvl="1">
              <a:buNone/>
            </a:pPr>
            <a:r>
              <a:rPr lang="en-US" altLang="zh-CN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(3)(</a:t>
            </a:r>
            <a:r>
              <a:rPr lang="en-US" altLang="zh-CN" sz="30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wxwxCC×WxWxcc</a:t>
            </a:r>
            <a:r>
              <a:rPr lang="en-US" altLang="zh-CN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)F</a:t>
            </a:r>
            <a:r>
              <a:rPr lang="en-US" altLang="zh-CN" sz="30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</a:t>
            </a:r>
            <a:r>
              <a:rPr lang="en-US" altLang="zh-CN" sz="3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		×	</a:t>
            </a:r>
            <a:r>
              <a:rPr lang="en-US" altLang="zh-CN" sz="30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wxwxcc</a:t>
            </a:r>
            <a:endParaRPr lang="en-US" altLang="zh-CN" sz="3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579" name="内容占位符 152578"/>
          <p:cNvPicPr>
            <a:picLocks noGrp="1" noChangeAspect="1"/>
          </p:cNvPicPr>
          <p:nvPr>
            <p:ph idx="4294967295"/>
          </p:nvPr>
        </p:nvPicPr>
        <p:blipFill rotWithShape="1">
          <a:blip r:embed="rId1">
            <a:lum contrast="6000"/>
          </a:blip>
          <a:srcRect l="1720" t="2032" r="1542" b="2177"/>
          <a:stretch>
            <a:fillRect/>
          </a:stretch>
        </p:blipFill>
        <p:spPr>
          <a:xfrm>
            <a:off x="1193800" y="47130"/>
            <a:ext cx="10083800" cy="6810870"/>
          </a:xfrm>
        </p:spPr>
      </p:pic>
      <p:sp>
        <p:nvSpPr>
          <p:cNvPr id="152578" name="标题 152577"/>
          <p:cNvSpPr>
            <a:spLocks noGrp="1"/>
          </p:cNvSpPr>
          <p:nvPr>
            <p:ph type="title" idx="4294967295"/>
          </p:nvPr>
        </p:nvSpPr>
        <p:spPr>
          <a:xfrm>
            <a:off x="280969" y="2769109"/>
            <a:ext cx="658831" cy="637674"/>
          </a:xfrm>
        </p:spPr>
        <p:txBody>
          <a:bodyPr lIns="92075" tIns="46038" rIns="92075" bIns="46038" anchor="ctr">
            <a:normAutofit fontScale="90000"/>
          </a:bodyPr>
          <a:lstStyle/>
          <a:p>
            <a:pPr algn="ctr"/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两点测验的</a:t>
            </a:r>
            <a:r>
              <a:rPr lang="en-US" altLang="zh-CN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个测交结果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2580" name="组合 152579"/>
          <p:cNvGrpSpPr/>
          <p:nvPr/>
        </p:nvGrpSpPr>
        <p:grpSpPr>
          <a:xfrm>
            <a:off x="9672120" y="1600200"/>
            <a:ext cx="1443037" cy="5151629"/>
            <a:chOff x="4669" y="993"/>
            <a:chExt cx="909" cy="3301"/>
          </a:xfrm>
        </p:grpSpPr>
        <p:sp>
          <p:nvSpPr>
            <p:cNvPr id="152581" name="矩形 152580"/>
            <p:cNvSpPr/>
            <p:nvPr/>
          </p:nvSpPr>
          <p:spPr>
            <a:xfrm>
              <a:off x="4669" y="993"/>
              <a:ext cx="901" cy="749"/>
            </a:xfrm>
            <a:prstGeom prst="rect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2" name="矩形 152581"/>
            <p:cNvSpPr/>
            <p:nvPr/>
          </p:nvSpPr>
          <p:spPr>
            <a:xfrm>
              <a:off x="4677" y="2246"/>
              <a:ext cx="901" cy="790"/>
            </a:xfrm>
            <a:prstGeom prst="rect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583" name="矩形 152582"/>
            <p:cNvSpPr/>
            <p:nvPr/>
          </p:nvSpPr>
          <p:spPr>
            <a:xfrm>
              <a:off x="4677" y="3547"/>
              <a:ext cx="901" cy="747"/>
            </a:xfrm>
            <a:prstGeom prst="rect">
              <a:avLst/>
            </a:prstGeom>
            <a:noFill/>
            <a:ln w="38100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文本占位符 153602"/>
          <p:cNvSpPr>
            <a:spLocks noGrp="1"/>
          </p:cNvSpPr>
          <p:nvPr>
            <p:ph type="body" sz="half" idx="1"/>
          </p:nvPr>
        </p:nvSpPr>
        <p:spPr>
          <a:xfrm>
            <a:off x="585382" y="586581"/>
            <a:ext cx="10704918" cy="670719"/>
          </a:xfrm>
        </p:spPr>
        <p:txBody>
          <a:bodyPr>
            <a:noAutofit/>
          </a:bodyPr>
          <a:lstStyle/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2.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计算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三对基因两两间的交换值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估计基因间的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遗传距离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。</a:t>
            </a:r>
            <a:endParaRPr lang="zh-CN" altLang="zh-CN" sz="32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pic>
        <p:nvPicPr>
          <p:cNvPr id="153604" name="内容占位符 153603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5682" y="1671508"/>
            <a:ext cx="11322814" cy="3167192"/>
          </a:xfrm>
          <a:solidFill>
            <a:schemeClr val="bg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4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7" name="文本占位符 154626"/>
          <p:cNvSpPr>
            <a:spLocks noGrp="1"/>
          </p:cNvSpPr>
          <p:nvPr>
            <p:ph type="body" sz="half" idx="1"/>
          </p:nvPr>
        </p:nvSpPr>
        <p:spPr>
          <a:xfrm>
            <a:off x="106670" y="205113"/>
            <a:ext cx="12085330" cy="798188"/>
          </a:xfrm>
        </p:spPr>
        <p:txBody>
          <a:bodyPr>
            <a:noAutofit/>
          </a:bodyPr>
          <a:lstStyle/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3.根据基因间的遗传距离确定基因间的排列次序并作连锁遗传图谱。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algn="ctr"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C-</a:t>
            </a:r>
            <a:r>
              <a:rPr lang="en-US" altLang="zh-CN" sz="32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Sh</a:t>
            </a:r>
            <a:r>
              <a:rPr lang="en-US" altLang="zh-CN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: 3.6		</a:t>
            </a:r>
            <a:r>
              <a:rPr lang="en-US" altLang="zh-CN" sz="32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Wx-Sh</a:t>
            </a:r>
            <a:r>
              <a:rPr lang="en-US" altLang="zh-CN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: 20		</a:t>
            </a:r>
            <a:r>
              <a:rPr lang="en-US" altLang="zh-CN" sz="32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</a:t>
            </a:r>
            <a:r>
              <a:rPr lang="en-US" altLang="zh-CN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-C: 22	</a:t>
            </a:r>
            <a:endParaRPr lang="en-US" altLang="zh-CN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pic>
        <p:nvPicPr>
          <p:cNvPr id="154628" name="内容占位符 154627" descr="4-4-11"/>
          <p:cNvPicPr>
            <a:picLocks noGrp="1" noChangeAspect="1"/>
          </p:cNvPicPr>
          <p:nvPr>
            <p:ph sz="half" idx="2"/>
          </p:nvPr>
        </p:nvPicPr>
        <p:blipFill rotWithShape="1">
          <a:blip r:embed="rId1"/>
          <a:srcRect l="19605" b="57664"/>
          <a:stretch>
            <a:fillRect/>
          </a:stretch>
        </p:blipFill>
        <p:spPr>
          <a:xfrm>
            <a:off x="958121" y="2037718"/>
            <a:ext cx="10275758" cy="2782564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109" y="1211017"/>
            <a:ext cx="11898591" cy="4965946"/>
          </a:xfrm>
        </p:spPr>
        <p:txBody>
          <a:bodyPr>
            <a:noAutofit/>
          </a:bodyPr>
          <a:lstStyle/>
          <a:p>
            <a:pPr marL="22860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/>
              <a:t>是摩尔根和他的学生斯特蒂文特等早就发现，可以把这 </a:t>
            </a:r>
            <a:r>
              <a:rPr lang="en-US" altLang="zh-CN" sz="2800" dirty="0"/>
              <a:t>3 </a:t>
            </a:r>
            <a:r>
              <a:rPr lang="zh-CN" altLang="en-US" sz="2800" dirty="0"/>
              <a:t>个基因包括在同一次交配中，例如用三杂合子 </a:t>
            </a:r>
            <a:r>
              <a:rPr lang="en-US" altLang="zh-CN" sz="2800" i="1" dirty="0" err="1"/>
              <a:t>abc</a:t>
            </a:r>
            <a:r>
              <a:rPr lang="en-US" altLang="zh-CN" sz="2800" dirty="0"/>
              <a:t>/+++ </a:t>
            </a:r>
            <a:r>
              <a:rPr lang="zh-CN" altLang="en-US" sz="2800" dirty="0"/>
              <a:t>或 </a:t>
            </a:r>
            <a:r>
              <a:rPr lang="en-US" altLang="zh-CN" sz="2800" i="1" dirty="0"/>
              <a:t>ab+</a:t>
            </a:r>
            <a:r>
              <a:rPr lang="en-US" altLang="zh-CN" sz="2800" dirty="0"/>
              <a:t>/</a:t>
            </a:r>
            <a:r>
              <a:rPr lang="en-US" altLang="zh-CN" sz="2800" i="1" dirty="0"/>
              <a:t>++c </a:t>
            </a:r>
            <a:r>
              <a:rPr lang="zh-CN" altLang="en-US" sz="2800" dirty="0"/>
              <a:t>与三隐性个体 </a:t>
            </a:r>
            <a:r>
              <a:rPr lang="en-US" altLang="zh-CN" sz="2800" i="1" dirty="0" err="1"/>
              <a:t>abc</a:t>
            </a:r>
            <a:r>
              <a:rPr lang="en-US" altLang="zh-CN" sz="2800" dirty="0"/>
              <a:t>/</a:t>
            </a:r>
            <a:r>
              <a:rPr lang="en-US" altLang="zh-CN" sz="2800" i="1" dirty="0" err="1"/>
              <a:t>abc</a:t>
            </a:r>
            <a:r>
              <a:rPr lang="en-US" altLang="zh-CN" sz="2800" dirty="0"/>
              <a:t> </a:t>
            </a:r>
            <a:r>
              <a:rPr lang="zh-CN" altLang="en-US" sz="2800" dirty="0"/>
              <a:t>测交。这种试验叫作</a:t>
            </a:r>
            <a:r>
              <a:rPr lang="zh-CN" altLang="en-US" sz="2800" b="1" dirty="0"/>
              <a:t>三点测交（</a:t>
            </a:r>
            <a:r>
              <a:rPr lang="en-US" altLang="zh-CN" sz="2800" b="1" dirty="0"/>
              <a:t>three-point test cross</a:t>
            </a:r>
            <a:r>
              <a:rPr lang="zh-CN" altLang="en-US" sz="2800" b="1" dirty="0"/>
              <a:t>）</a:t>
            </a:r>
            <a:r>
              <a:rPr lang="zh-CN" altLang="en-US" sz="2800" dirty="0"/>
              <a:t>，简称</a:t>
            </a:r>
            <a:r>
              <a:rPr lang="zh-CN" altLang="en-US" sz="2800" b="1" dirty="0"/>
              <a:t>三点试验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22860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FF0000"/>
                </a:solidFill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</a:rPr>
              <a:t>次三点试验就等于</a:t>
            </a:r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次“两点试验”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228600" lvl="1" indent="-4572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FF0000"/>
                </a:solidFill>
              </a:rPr>
              <a:t>优点</a:t>
            </a:r>
            <a:r>
              <a:rPr lang="zh-CN" altLang="en-US" sz="2800" dirty="0"/>
              <a:t>：</a:t>
            </a:r>
            <a:r>
              <a:rPr lang="en-US" altLang="zh-CN" sz="2800" dirty="0"/>
              <a:t>1</a:t>
            </a:r>
            <a:r>
              <a:rPr lang="zh-CN" altLang="en-US" sz="2800" dirty="0"/>
              <a:t>次三点试验中得到的</a:t>
            </a:r>
            <a:r>
              <a:rPr lang="en-US" altLang="zh-CN" sz="2800" dirty="0"/>
              <a:t>3</a:t>
            </a:r>
            <a:r>
              <a:rPr lang="zh-CN" altLang="en-US" sz="2800" dirty="0"/>
              <a:t>个重组率是在</a:t>
            </a:r>
            <a:r>
              <a:rPr lang="zh-CN" altLang="en-US" sz="2800" dirty="0">
                <a:solidFill>
                  <a:srgbClr val="FF0000"/>
                </a:solidFill>
              </a:rPr>
              <a:t>同一基因型背景，同一环境条件</a:t>
            </a:r>
            <a:r>
              <a:rPr lang="zh-CN" altLang="en-US" sz="2800" dirty="0"/>
              <a:t>下得到的；而</a:t>
            </a:r>
            <a:r>
              <a:rPr lang="en-US" altLang="zh-CN" sz="2800" dirty="0"/>
              <a:t>3</a:t>
            </a:r>
            <a:r>
              <a:rPr lang="zh-CN" altLang="en-US" sz="2800" dirty="0"/>
              <a:t>次“两点试验”就不一定这样，因为重组率既受基因型背景的影响，也受各种环境条件的影响。此外，通过三点试验还可得到</a:t>
            </a:r>
            <a:r>
              <a:rPr lang="zh-CN" altLang="en-US" sz="2800" b="1" dirty="0">
                <a:solidFill>
                  <a:srgbClr val="FF0000"/>
                </a:solidFill>
              </a:rPr>
              <a:t>双交换</a:t>
            </a:r>
            <a:r>
              <a:rPr lang="zh-CN" altLang="en-US" sz="2800" dirty="0"/>
              <a:t>的资料。</a:t>
            </a:r>
            <a:endParaRPr lang="zh-CN" altLang="en-US" sz="2800" dirty="0"/>
          </a:p>
        </p:txBody>
      </p:sp>
      <p:sp>
        <p:nvSpPr>
          <p:cNvPr id="6" name="标题 156673"/>
          <p:cNvSpPr>
            <a:spLocks noGrp="1"/>
          </p:cNvSpPr>
          <p:nvPr>
            <p:ph type="title"/>
          </p:nvPr>
        </p:nvSpPr>
        <p:spPr>
          <a:xfrm>
            <a:off x="334347" y="261544"/>
            <a:ext cx="10515600" cy="571015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三点测验</a:t>
            </a:r>
            <a:endParaRPr lang="en-US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5" name="文本占位符 156674"/>
          <p:cNvSpPr>
            <a:spLocks noGrp="1"/>
          </p:cNvSpPr>
          <p:nvPr>
            <p:ph type="body" idx="1"/>
          </p:nvPr>
        </p:nvSpPr>
        <p:spPr>
          <a:xfrm>
            <a:off x="560873" y="204237"/>
            <a:ext cx="11170297" cy="4587632"/>
          </a:xfrm>
        </p:spPr>
        <p:txBody>
          <a:bodyPr>
            <a:normAutofit fontScale="90000" lnSpcReduction="20000"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en-US" sz="3100" b="1" dirty="0">
                <a:latin typeface="黑体" panose="02010609060101010101" pitchFamily="49" charset="-122"/>
                <a:ea typeface="黑体" panose="02010609060101010101" pitchFamily="49" charset="-122"/>
              </a:rPr>
              <a:t>仍以玉米</a:t>
            </a:r>
            <a:r>
              <a:rPr lang="en-US" altLang="zh-CN" sz="3100" b="1" dirty="0">
                <a:latin typeface="黑体" panose="02010609060101010101" pitchFamily="49" charset="-122"/>
                <a:ea typeface="黑体" panose="02010609060101010101" pitchFamily="49" charset="-122"/>
              </a:rPr>
              <a:t>C/c</a:t>
            </a:r>
            <a:r>
              <a:rPr lang="zh-CN" altLang="en-US" sz="31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31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Sh</a:t>
            </a:r>
            <a:r>
              <a:rPr lang="en-US" altLang="zh-CN" sz="31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en-US" altLang="zh-CN" sz="31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sh</a:t>
            </a:r>
            <a:r>
              <a:rPr lang="zh-CN" altLang="en-US" sz="31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31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Wx</a:t>
            </a:r>
            <a:r>
              <a:rPr lang="en-US" altLang="zh-CN" sz="31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en-US" altLang="zh-CN" sz="31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wx</a:t>
            </a:r>
            <a:r>
              <a:rPr lang="zh-CN" altLang="zh-CN" sz="3100" b="1" dirty="0">
                <a:latin typeface="黑体" panose="02010609060101010101" pitchFamily="49" charset="-122"/>
                <a:ea typeface="黑体" panose="02010609060101010101" pitchFamily="49" charset="-122"/>
              </a:rPr>
              <a:t>三对基因连锁分析</a:t>
            </a:r>
            <a:r>
              <a:rPr lang="zh-CN" altLang="en-US" sz="3100" b="1" dirty="0">
                <a:latin typeface="黑体" panose="02010609060101010101" pitchFamily="49" charset="-122"/>
                <a:ea typeface="黑体" panose="02010609060101010101" pitchFamily="49" charset="-122"/>
              </a:rPr>
              <a:t>为例，</a:t>
            </a:r>
            <a:r>
              <a:rPr lang="zh-CN" altLang="zh-CN" sz="3100" b="1" dirty="0">
                <a:latin typeface="黑体" panose="02010609060101010101" pitchFamily="49" charset="-122"/>
                <a:ea typeface="黑体" panose="02010609060101010101" pitchFamily="49" charset="-122"/>
              </a:rPr>
              <a:t>在描述时用“+”代表各</a:t>
            </a:r>
            <a:r>
              <a:rPr lang="zh-CN" altLang="en-US" sz="3100" b="1" dirty="0">
                <a:latin typeface="黑体" panose="02010609060101010101" pitchFamily="49" charset="-122"/>
                <a:ea typeface="黑体" panose="02010609060101010101" pitchFamily="49" charset="-122"/>
              </a:rPr>
              <a:t>基因对应的</a:t>
            </a:r>
            <a:r>
              <a:rPr lang="zh-CN" altLang="zh-CN" sz="3100" b="1" dirty="0">
                <a:latin typeface="黑体" panose="02010609060101010101" pitchFamily="49" charset="-122"/>
                <a:ea typeface="黑体" panose="02010609060101010101" pitchFamily="49" charset="-122"/>
              </a:rPr>
              <a:t>显性基因。</a:t>
            </a:r>
            <a:endParaRPr lang="zh-CN" altLang="zh-CN" sz="31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ts val="1800"/>
              </a:spcBef>
              <a:buNone/>
            </a:pPr>
            <a:r>
              <a:rPr lang="zh-CN" altLang="zh-CN" sz="31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1.用三对性状差异的两个纯系作亲本进行杂交、测交：</a:t>
            </a:r>
            <a:endParaRPr lang="zh-CN" altLang="en-US" sz="31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zh-CN" sz="2400" b="1" dirty="0">
                <a:ea typeface="楷体_GB2312" pitchFamily="49" charset="-122"/>
              </a:rPr>
              <a:t>P:			凹陷、非糯性、有色    ×   饱满、糯性、无色</a:t>
            </a:r>
            <a:endParaRPr lang="zh-CN" altLang="zh-CN" sz="2400" b="1" dirty="0"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en-US" sz="2400" b="1" dirty="0">
                <a:ea typeface="楷体_GB2312" pitchFamily="49" charset="-122"/>
              </a:rPr>
              <a:t>			</a:t>
            </a:r>
            <a:r>
              <a:rPr lang="en-US" altLang="zh-CN" sz="2400" b="1" dirty="0" err="1">
                <a:ea typeface="楷体_GB2312" pitchFamily="49" charset="-122"/>
              </a:rPr>
              <a:t>shsh</a:t>
            </a:r>
            <a:r>
              <a:rPr lang="en-US" altLang="zh-CN" sz="2400" b="1" dirty="0">
                <a:ea typeface="楷体_GB2312" pitchFamily="49" charset="-122"/>
              </a:rPr>
              <a:t>        ++         ++                   ++       </a:t>
            </a:r>
            <a:r>
              <a:rPr lang="en-US" altLang="zh-CN" sz="2400" b="1" dirty="0" err="1">
                <a:ea typeface="楷体_GB2312" pitchFamily="49" charset="-122"/>
              </a:rPr>
              <a:t>wxwx</a:t>
            </a:r>
            <a:r>
              <a:rPr lang="en-US" altLang="zh-CN" sz="2400" b="1" dirty="0">
                <a:ea typeface="楷体_GB2312" pitchFamily="49" charset="-122"/>
              </a:rPr>
              <a:t>       cc</a:t>
            </a:r>
            <a:endParaRPr lang="en-US" altLang="zh-CN" sz="2400" b="1" dirty="0"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 dirty="0">
                <a:ea typeface="楷体_GB2312" pitchFamily="49" charset="-122"/>
              </a:rPr>
              <a:t>                                              		↓</a:t>
            </a:r>
            <a:endParaRPr lang="en-US" altLang="zh-CN" sz="2400" b="1" dirty="0"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 dirty="0">
                <a:ea typeface="楷体_GB2312" pitchFamily="49" charset="-122"/>
              </a:rPr>
              <a:t>F</a:t>
            </a:r>
            <a:r>
              <a:rPr lang="en-US" altLang="zh-CN" sz="2400" b="1" baseline="-25000" dirty="0">
                <a:ea typeface="楷体_GB2312" pitchFamily="49" charset="-122"/>
              </a:rPr>
              <a:t>1</a:t>
            </a:r>
            <a:r>
              <a:rPr lang="zh-CN" altLang="en-US" sz="2400" b="1" dirty="0">
                <a:ea typeface="楷体_GB2312" pitchFamily="49" charset="-122"/>
              </a:rPr>
              <a:t>及测交</a:t>
            </a:r>
            <a:r>
              <a:rPr lang="zh-CN" altLang="zh-CN" sz="2400" b="1" dirty="0">
                <a:ea typeface="楷体_GB2312" pitchFamily="49" charset="-122"/>
              </a:rPr>
              <a:t>:   	           </a:t>
            </a:r>
            <a:r>
              <a:rPr lang="en-US" altLang="zh-CN" sz="2400" b="1" dirty="0">
                <a:ea typeface="楷体_GB2312" pitchFamily="49" charset="-122"/>
              </a:rPr>
              <a:t>            </a:t>
            </a:r>
            <a:r>
              <a:rPr lang="zh-CN" altLang="zh-CN" sz="2400" b="1" dirty="0">
                <a:ea typeface="楷体_GB2312" pitchFamily="49" charset="-122"/>
              </a:rPr>
              <a:t> 饱满、非糯性、有色</a:t>
            </a:r>
            <a:r>
              <a:rPr lang="en-US" altLang="zh-CN" sz="2400" b="1" dirty="0">
                <a:ea typeface="楷体_GB2312" pitchFamily="49" charset="-122"/>
              </a:rPr>
              <a:t>        </a:t>
            </a:r>
            <a:r>
              <a:rPr lang="zh-CN" altLang="zh-CN" sz="2400" b="1" dirty="0">
                <a:ea typeface="楷体_GB2312" pitchFamily="49" charset="-122"/>
              </a:rPr>
              <a:t>×</a:t>
            </a:r>
            <a:r>
              <a:rPr lang="en-US" altLang="zh-CN" sz="2400" b="1" dirty="0">
                <a:ea typeface="楷体_GB2312" pitchFamily="49" charset="-122"/>
              </a:rPr>
              <a:t>            </a:t>
            </a:r>
            <a:r>
              <a:rPr lang="zh-CN" altLang="zh-CN" sz="2400" b="1" dirty="0">
                <a:ea typeface="楷体_GB2312" pitchFamily="49" charset="-122"/>
              </a:rPr>
              <a:t>凹陷、糯性、无色</a:t>
            </a:r>
            <a:endParaRPr lang="zh-CN" altLang="zh-CN" sz="2400" b="1" dirty="0"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zh-CN" altLang="en-US" sz="2400" b="1" dirty="0">
                <a:ea typeface="楷体_GB2312" pitchFamily="49" charset="-122"/>
              </a:rPr>
              <a:t>                                                       </a:t>
            </a:r>
            <a:r>
              <a:rPr lang="en-US" altLang="zh-CN" sz="2400" b="1" dirty="0">
                <a:ea typeface="楷体_GB2312" pitchFamily="49" charset="-122"/>
              </a:rPr>
              <a:t>+</a:t>
            </a:r>
            <a:r>
              <a:rPr lang="en-US" altLang="zh-CN" sz="2400" b="1" dirty="0" err="1">
                <a:ea typeface="楷体_GB2312" pitchFamily="49" charset="-122"/>
              </a:rPr>
              <a:t>sh</a:t>
            </a:r>
            <a:r>
              <a:rPr lang="en-US" altLang="zh-CN" sz="2400" b="1" dirty="0">
                <a:ea typeface="楷体_GB2312" pitchFamily="49" charset="-122"/>
              </a:rPr>
              <a:t>         +</a:t>
            </a:r>
            <a:r>
              <a:rPr lang="en-US" altLang="zh-CN" sz="2400" b="1" dirty="0" err="1">
                <a:ea typeface="楷体_GB2312" pitchFamily="49" charset="-122"/>
              </a:rPr>
              <a:t>wx</a:t>
            </a:r>
            <a:r>
              <a:rPr lang="en-US" altLang="zh-CN" sz="2400" b="1" dirty="0">
                <a:ea typeface="楷体_GB2312" pitchFamily="49" charset="-122"/>
              </a:rPr>
              <a:t>         +c                          </a:t>
            </a:r>
            <a:r>
              <a:rPr lang="en-US" altLang="zh-CN" sz="2400" b="1" dirty="0" err="1">
                <a:ea typeface="楷体_GB2312" pitchFamily="49" charset="-122"/>
              </a:rPr>
              <a:t>shsh</a:t>
            </a:r>
            <a:r>
              <a:rPr lang="en-US" altLang="zh-CN" sz="2400" b="1" dirty="0">
                <a:ea typeface="楷体_GB2312" pitchFamily="49" charset="-122"/>
              </a:rPr>
              <a:t>      </a:t>
            </a:r>
            <a:r>
              <a:rPr lang="en-US" altLang="zh-CN" sz="2400" b="1" dirty="0" err="1">
                <a:ea typeface="楷体_GB2312" pitchFamily="49" charset="-122"/>
              </a:rPr>
              <a:t>wxwx</a:t>
            </a:r>
            <a:r>
              <a:rPr lang="en-US" altLang="zh-CN" sz="2400" b="1" dirty="0">
                <a:ea typeface="楷体_GB2312" pitchFamily="49" charset="-122"/>
              </a:rPr>
              <a:t>     cc      </a:t>
            </a:r>
            <a:endParaRPr lang="en-US" altLang="zh-CN" sz="2400" b="1" dirty="0"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dirty="0">
                <a:ea typeface="楷体_GB2312" pitchFamily="49" charset="-122"/>
              </a:rPr>
              <a:t>                                                                                                     ↓</a:t>
            </a:r>
            <a:endParaRPr lang="en-US" altLang="zh-CN" sz="2400" dirty="0">
              <a:ea typeface="楷体_GB2312" pitchFamily="49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31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31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考察</a:t>
            </a:r>
            <a:r>
              <a:rPr lang="zh-CN" altLang="zh-CN" sz="31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测交后代的表现型</a:t>
            </a:r>
            <a:r>
              <a:rPr lang="zh-CN" altLang="en-US" sz="31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、进行</a:t>
            </a:r>
            <a:r>
              <a:rPr lang="zh-CN" altLang="zh-CN" sz="31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分类统计。</a:t>
            </a:r>
            <a:endParaRPr lang="zh-CN" altLang="en-US" sz="31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6676" name="文本框 156675"/>
          <p:cNvSpPr txBox="1"/>
          <p:nvPr/>
        </p:nvSpPr>
        <p:spPr>
          <a:xfrm>
            <a:off x="856083" y="4860552"/>
            <a:ext cx="9276184" cy="50840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在不完全连锁的情况下测交后代有多少种表现型？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98" name="内容占位符 157697"/>
          <p:cNvPicPr>
            <a:picLocks noGrp="1" noChangeAspect="1"/>
          </p:cNvPicPr>
          <p:nvPr>
            <p:ph sz="half" idx="2"/>
          </p:nvPr>
        </p:nvPicPr>
        <p:blipFill>
          <a:blip r:embed="rId1">
            <a:clrChange>
              <a:clrFrom>
                <a:srgbClr val="FF9900"/>
              </a:clrFrom>
              <a:clrTo>
                <a:srgbClr val="FFFFFF"/>
              </a:clrTo>
            </a:clrChange>
            <a:lum bright="40000" contrast="40000"/>
          </a:blip>
          <a:stretch>
            <a:fillRect/>
          </a:stretch>
        </p:blipFill>
        <p:spPr>
          <a:xfrm>
            <a:off x="683418" y="1136651"/>
            <a:ext cx="10606882" cy="5269699"/>
          </a:xfrm>
          <a:solidFill>
            <a:schemeClr val="bg1"/>
          </a:solidFill>
        </p:spPr>
      </p:pic>
      <p:sp>
        <p:nvSpPr>
          <p:cNvPr id="157699" name="文本占位符 157698"/>
          <p:cNvSpPr>
            <a:spLocks noGrp="1"/>
          </p:cNvSpPr>
          <p:nvPr>
            <p:ph type="body" sz="half" idx="1"/>
          </p:nvPr>
        </p:nvSpPr>
        <p:spPr>
          <a:xfrm>
            <a:off x="790575" y="0"/>
            <a:ext cx="11172825" cy="1192438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按各类表现型的个体数，对测交后代进行分组；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5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进一步确定两种亲本类型和两种双交换类型；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72100" y="1790700"/>
            <a:ext cx="2171700" cy="901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372100" y="4889500"/>
            <a:ext cx="2171700" cy="901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5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文本占位符 158722"/>
          <p:cNvSpPr>
            <a:spLocks noGrp="1"/>
          </p:cNvSpPr>
          <p:nvPr>
            <p:ph type="body" idx="1"/>
          </p:nvPr>
        </p:nvSpPr>
        <p:spPr>
          <a:xfrm>
            <a:off x="536251" y="158928"/>
            <a:ext cx="11347581" cy="812034"/>
          </a:xfrm>
        </p:spPr>
        <p:txBody>
          <a:bodyPr>
            <a:noAutofit/>
          </a:bodyPr>
          <a:lstStyle/>
          <a:p>
            <a:pPr>
              <a:lnSpc>
                <a:spcPct val="145000"/>
              </a:lnSpc>
              <a:buNone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确定三对基因在染色体上的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排列顺序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内容占位符 157697"/>
          <p:cNvPicPr>
            <a:picLocks noChangeAspect="1"/>
          </p:cNvPicPr>
          <p:nvPr/>
        </p:nvPicPr>
        <p:blipFill>
          <a:blip r:embed="rId1">
            <a:clrChange>
              <a:clrFrom>
                <a:srgbClr val="FF9900"/>
              </a:clrFrom>
              <a:clrTo>
                <a:srgbClr val="FFFFFF"/>
              </a:clrTo>
            </a:clrChange>
            <a:lum bright="40000" contrast="40000"/>
          </a:blip>
          <a:stretch>
            <a:fillRect/>
          </a:stretch>
        </p:blipFill>
        <p:spPr>
          <a:xfrm>
            <a:off x="683418" y="1136651"/>
            <a:ext cx="10606882" cy="526969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矩形 2"/>
          <p:cNvSpPr/>
          <p:nvPr/>
        </p:nvSpPr>
        <p:spPr>
          <a:xfrm>
            <a:off x="5372100" y="1790700"/>
            <a:ext cx="2171700" cy="901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372100" y="4889500"/>
            <a:ext cx="2171700" cy="901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3" name="文本占位符 158722"/>
          <p:cNvSpPr>
            <a:spLocks noGrp="1"/>
          </p:cNvSpPr>
          <p:nvPr>
            <p:ph type="body" idx="1"/>
          </p:nvPr>
        </p:nvSpPr>
        <p:spPr>
          <a:xfrm>
            <a:off x="536251" y="158927"/>
            <a:ext cx="11347581" cy="5238313"/>
          </a:xfrm>
        </p:spPr>
        <p:txBody>
          <a:bodyPr>
            <a:noAutofit/>
          </a:bodyPr>
          <a:lstStyle/>
          <a:p>
            <a:pPr>
              <a:lnSpc>
                <a:spcPct val="145000"/>
              </a:lnSpc>
              <a:buNone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确定三对基因在染色体上的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排列顺序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45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用亲本型配子与双交换型配子比较：</a:t>
            </a:r>
            <a:b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双交换配子与亲本型配子中不同的基因位点位于中间。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hlinkClick r:id="" action="ppaction://hlinkshowjump?jump=previousslide"/>
            </a:endParaRPr>
          </a:p>
          <a:p>
            <a:pPr marL="457200" lvl="1" indent="0">
              <a:lnSpc>
                <a:spcPct val="145000"/>
              </a:lnSpc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wx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c与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sh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wx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c相比只有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sh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位点不同，因此可以断定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sh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位点位于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wx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和c之间；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lnSpc>
                <a:spcPct val="145000"/>
              </a:lnSpc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7" name="内容占位符 159746" descr="my-4-6"/>
          <p:cNvPicPr>
            <a:picLocks noGrp="1" noChangeAspect="1"/>
          </p:cNvPicPr>
          <p:nvPr>
            <p:ph idx="1"/>
          </p:nvPr>
        </p:nvPicPr>
        <p:blipFill>
          <a:blip r:embed="rId1">
            <a:lum bright="-10001" contrast="40000"/>
          </a:blip>
          <a:stretch>
            <a:fillRect/>
          </a:stretch>
        </p:blipFill>
        <p:spPr>
          <a:xfrm>
            <a:off x="905672" y="-83035"/>
            <a:ext cx="9241628" cy="6941035"/>
          </a:xfr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157697"/>
          <p:cNvPicPr>
            <a:picLocks noChangeAspect="1"/>
          </p:cNvPicPr>
          <p:nvPr/>
        </p:nvPicPr>
        <p:blipFill>
          <a:blip r:embed="rId1">
            <a:clrChange>
              <a:clrFrom>
                <a:srgbClr val="FF9900"/>
              </a:clrFrom>
              <a:clrTo>
                <a:srgbClr val="FFFFFF"/>
              </a:clrTo>
            </a:clrChange>
            <a:lum bright="40000" contrast="40000"/>
          </a:blip>
          <a:stretch>
            <a:fillRect/>
          </a:stretch>
        </p:blipFill>
        <p:spPr>
          <a:xfrm>
            <a:off x="716054" y="794150"/>
            <a:ext cx="10606882" cy="526969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60771" name="文本占位符 160770"/>
          <p:cNvSpPr>
            <a:spLocks noGrp="1"/>
          </p:cNvSpPr>
          <p:nvPr>
            <p:ph type="body" sz="half" idx="1"/>
          </p:nvPr>
        </p:nvSpPr>
        <p:spPr>
          <a:xfrm>
            <a:off x="287078" y="96353"/>
            <a:ext cx="11617843" cy="570912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6.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计算基因间的交换值。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0772" name="内容占位符 16077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9549" y="1160683"/>
            <a:ext cx="10759892" cy="4536632"/>
          </a:xfrm>
        </p:spPr>
      </p:pic>
      <p:grpSp>
        <p:nvGrpSpPr>
          <p:cNvPr id="5" name="组合 4"/>
          <p:cNvGrpSpPr/>
          <p:nvPr/>
        </p:nvGrpSpPr>
        <p:grpSpPr>
          <a:xfrm>
            <a:off x="6019495" y="176710"/>
            <a:ext cx="2446638" cy="369332"/>
            <a:chOff x="8130746" y="264661"/>
            <a:chExt cx="2446638" cy="369332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8130746" y="605481"/>
              <a:ext cx="2446638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8236422" y="264661"/>
              <a:ext cx="223528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 err="1"/>
                <a:t>Wx</a:t>
              </a:r>
              <a:r>
                <a:rPr lang="en-US" altLang="zh-CN" b="1" dirty="0"/>
                <a:t>            </a:t>
              </a:r>
              <a:r>
                <a:rPr lang="en-US" altLang="zh-CN" b="1" dirty="0" err="1"/>
                <a:t>sh</a:t>
              </a:r>
              <a:r>
                <a:rPr lang="en-US" altLang="zh-CN" b="1" dirty="0"/>
                <a:t>             c</a:t>
              </a:r>
              <a:endParaRPr lang="en-US" altLang="zh-CN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5" name="文本占位符 161794"/>
          <p:cNvSpPr>
            <a:spLocks noGrp="1"/>
          </p:cNvSpPr>
          <p:nvPr>
            <p:ph type="body" sz="half" idx="1"/>
          </p:nvPr>
        </p:nvSpPr>
        <p:spPr>
          <a:xfrm>
            <a:off x="847271" y="230933"/>
            <a:ext cx="8769350" cy="2057400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7.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绘制连锁遗传图。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lnSpc>
                <a:spcPct val="95000"/>
              </a:lnSpc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Sh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位于</a:t>
            </a:r>
            <a:r>
              <a:rPr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wx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之间；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1" indent="0">
              <a:lnSpc>
                <a:spcPct val="95000"/>
              </a:lnSpc>
              <a:buNone/>
            </a:pPr>
            <a:r>
              <a:rPr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wx-sh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:18.4	  </a:t>
            </a:r>
            <a:r>
              <a:rPr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sh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-c:3.5   wx-c:21.9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1796" name="内容占位符 161795" descr="4-4-13"/>
          <p:cNvPicPr>
            <a:picLocks noGrp="1" noChangeAspect="1"/>
          </p:cNvPicPr>
          <p:nvPr>
            <p:ph sz="half" idx="2"/>
          </p:nvPr>
        </p:nvPicPr>
        <p:blipFill rotWithShape="1">
          <a:blip r:embed="rId1">
            <a:lum bright="6000" contrast="6000"/>
          </a:blip>
          <a:srcRect t="13698" b="7477"/>
          <a:stretch>
            <a:fillRect/>
          </a:stretch>
        </p:blipFill>
        <p:spPr>
          <a:xfrm>
            <a:off x="893620" y="1892299"/>
            <a:ext cx="10375228" cy="2057401"/>
          </a:xfrm>
        </p:spPr>
      </p:pic>
      <p:sp>
        <p:nvSpPr>
          <p:cNvPr id="161797" name="文本框 161796"/>
          <p:cNvSpPr txBox="1"/>
          <p:nvPr/>
        </p:nvSpPr>
        <p:spPr>
          <a:xfrm>
            <a:off x="610190" y="3879773"/>
            <a:ext cx="11124019" cy="2458720"/>
          </a:xfrm>
          <a:prstGeom prst="rect">
            <a:avLst/>
          </a:prstGeom>
          <a:noFill/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两个思考问题：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三点测验考虑到了</a:t>
            </a:r>
            <a:r>
              <a:rPr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wx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之间的双交换值，应该比两点测验得到的遗传距离更大。但事实上变小了，为什么？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各种方法在各次试验中测定的交换值（遗传距离）都不相同，到底哪一个最能反映基因间的遗传距离？如何选择？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7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7" name="文本占位符 154626"/>
          <p:cNvSpPr>
            <a:spLocks noGrp="1"/>
          </p:cNvSpPr>
          <p:nvPr>
            <p:ph type="body" sz="half" idx="1"/>
          </p:nvPr>
        </p:nvSpPr>
        <p:spPr>
          <a:xfrm>
            <a:off x="0" y="244705"/>
            <a:ext cx="5924550" cy="517295"/>
          </a:xfrm>
        </p:spPr>
        <p:txBody>
          <a:bodyPr>
            <a:noAutofit/>
          </a:bodyPr>
          <a:lstStyle/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C-</a:t>
            </a:r>
            <a:r>
              <a:rPr lang="en-US" altLang="zh-CN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Sh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: 3.6	 </a:t>
            </a:r>
            <a:r>
              <a:rPr lang="en-US" altLang="zh-CN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Wx-Sh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: 20  </a:t>
            </a:r>
            <a:r>
              <a:rPr lang="en-US" altLang="zh-CN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-C: 22	</a:t>
            </a:r>
            <a:endParaRPr lang="en-US" altLang="zh-CN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pic>
        <p:nvPicPr>
          <p:cNvPr id="154628" name="内容占位符 154627" descr="4-4-11"/>
          <p:cNvPicPr>
            <a:picLocks noGrp="1" noChangeAspect="1"/>
          </p:cNvPicPr>
          <p:nvPr>
            <p:ph sz="half" idx="2"/>
          </p:nvPr>
        </p:nvPicPr>
        <p:blipFill rotWithShape="1">
          <a:blip r:embed="rId1"/>
          <a:srcRect l="21758" r="3909" b="58079"/>
          <a:stretch>
            <a:fillRect/>
          </a:stretch>
        </p:blipFill>
        <p:spPr>
          <a:xfrm>
            <a:off x="11420" y="921641"/>
            <a:ext cx="5854181" cy="1697734"/>
          </a:xfrm>
        </p:spPr>
      </p:pic>
      <p:pic>
        <p:nvPicPr>
          <p:cNvPr id="2" name="内容占位符 161795" descr="4-4-13"/>
          <p:cNvPicPr>
            <a:picLocks noChangeAspect="1"/>
          </p:cNvPicPr>
          <p:nvPr/>
        </p:nvPicPr>
        <p:blipFill rotWithShape="1">
          <a:blip r:embed="rId2">
            <a:lum bright="6000" contrast="6000"/>
          </a:blip>
          <a:srcRect l="6663" t="13698" r="14246" b="7477"/>
          <a:stretch>
            <a:fillRect/>
          </a:stretch>
        </p:blipFill>
        <p:spPr>
          <a:xfrm>
            <a:off x="6067425" y="883541"/>
            <a:ext cx="6076950" cy="153371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047875" y="2787282"/>
            <a:ext cx="1504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两点测验</a:t>
            </a:r>
            <a:endParaRPr lang="zh-CN" altLang="en-US" sz="2400" dirty="0"/>
          </a:p>
        </p:txBody>
      </p:sp>
      <p:sp>
        <p:nvSpPr>
          <p:cNvPr id="5" name="标题 156673"/>
          <p:cNvSpPr>
            <a:spLocks noGrp="1"/>
          </p:cNvSpPr>
          <p:nvPr>
            <p:ph type="title"/>
          </p:nvPr>
        </p:nvSpPr>
        <p:spPr>
          <a:xfrm>
            <a:off x="8460095" y="2686655"/>
            <a:ext cx="1684030" cy="424732"/>
          </a:xfr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宋体" panose="02010600030101010101" pitchFamily="2" charset="-122"/>
              </a:rPr>
              <a:t>三点测验</a:t>
            </a:r>
            <a:endParaRPr lang="en-US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6" name="文本占位符 161794"/>
          <p:cNvSpPr txBox="1"/>
          <p:nvPr/>
        </p:nvSpPr>
        <p:spPr>
          <a:xfrm>
            <a:off x="5772193" y="183036"/>
            <a:ext cx="6419807" cy="578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95000"/>
              </a:lnSpc>
              <a:buFont typeface="Arial" panose="020B0604020202020204" pitchFamily="34" charset="0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wx-sh:18.4  sh-c:3.5  wx-c:21.9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3990" y="3746614"/>
            <a:ext cx="11124019" cy="2458720"/>
          </a:xfrm>
          <a:prstGeom prst="rect">
            <a:avLst/>
          </a:prstGeom>
          <a:noFill/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两个思考问题：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三点测验考虑到了</a:t>
            </a:r>
            <a:r>
              <a:rPr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wx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之间的双交换值，应该比两点测验得到的遗传距离更大。但事实上变小了，为什么？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各种方法在各次试验中测定的交换值（遗传距离）都不相同，到底哪一个最能反映基因间的遗传距离？如何选择？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-15875"/>
            <a:ext cx="12192000" cy="9068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  <a:lvl2pPr marL="685800" lvl="1" indent="-228600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lvl="1"/>
            <a:r>
              <a:rPr lang="zh-CN" altLang="en-US" sz="2800" b="1" u="sng" dirty="0"/>
              <a:t>例题</a:t>
            </a:r>
            <a:r>
              <a:rPr lang="en-US" altLang="zh-CN" sz="2800" b="1" u="sng" dirty="0"/>
              <a:t>1</a:t>
            </a:r>
            <a:r>
              <a:rPr lang="zh-CN" altLang="en-US" sz="2000" dirty="0"/>
              <a:t>：</a:t>
            </a:r>
            <a:r>
              <a:rPr lang="en-US" altLang="zh-CN" sz="2000" dirty="0"/>
              <a:t>3 </a:t>
            </a:r>
            <a:r>
              <a:rPr lang="zh-CN" altLang="en-US" sz="2000" dirty="0"/>
              <a:t>个突变基因是 </a:t>
            </a:r>
            <a:r>
              <a:rPr lang="en-US" altLang="zh-CN" sz="2000" i="1" dirty="0" err="1"/>
              <a:t>ec</a:t>
            </a:r>
            <a:r>
              <a:rPr lang="zh-CN" altLang="en-US" sz="2000" dirty="0"/>
              <a:t>（棘眼）， </a:t>
            </a:r>
            <a:r>
              <a:rPr lang="en-US" altLang="zh-CN" sz="2000" i="1" dirty="0" err="1"/>
              <a:t>sc</a:t>
            </a:r>
            <a:r>
              <a:rPr lang="zh-CN" altLang="en-US" sz="2000" dirty="0"/>
              <a:t>（缺少某些胸部刚毛）和 </a:t>
            </a:r>
            <a:r>
              <a:rPr lang="en-US" altLang="zh-CN" sz="2000" i="1" dirty="0"/>
              <a:t>cv</a:t>
            </a:r>
            <a:r>
              <a:rPr lang="zh-CN" altLang="en-US" sz="2000" dirty="0"/>
              <a:t>（翅上横脉缺失），都是 </a:t>
            </a:r>
            <a:r>
              <a:rPr lang="en-US" altLang="zh-CN" sz="2000" dirty="0"/>
              <a:t>X </a:t>
            </a:r>
            <a:r>
              <a:rPr lang="zh-CN" altLang="en-US" sz="2000" dirty="0"/>
              <a:t>连锁遗传。把棘眼果蝇与缺胸刚毛、缺横脉果蝇杂交，</a:t>
            </a:r>
            <a:r>
              <a:rPr lang="zh-CN" altLang="en-US" sz="2000" b="1" dirty="0"/>
              <a:t>得到三杂合子；再与三隐性雄蝇测交，得到子代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0">
              <a:lnSpc>
                <a:spcPct val="120000"/>
              </a:lnSpc>
            </a:pPr>
            <a:endParaRPr lang="zh-CN" altLang="en-US" sz="2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t="1526" b="2353"/>
          <a:stretch>
            <a:fillRect/>
          </a:stretch>
        </p:blipFill>
        <p:spPr>
          <a:xfrm>
            <a:off x="117231" y="919691"/>
            <a:ext cx="3598358" cy="501861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050" y="913886"/>
            <a:ext cx="8006497" cy="502442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2465"/>
          <a:stretch>
            <a:fillRect/>
          </a:stretch>
        </p:blipFill>
        <p:spPr>
          <a:xfrm>
            <a:off x="4476750" y="5914347"/>
            <a:ext cx="2721219" cy="8967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69529" y="0"/>
            <a:ext cx="11518379" cy="984738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b="1" dirty="0">
                <a:ea typeface="微软雅黑" panose="020B0503020204020204" charset="-122"/>
              </a:rPr>
              <a:t>案例</a:t>
            </a:r>
            <a:r>
              <a:rPr lang="en-US" altLang="zh-CN" b="1" dirty="0">
                <a:ea typeface="微软雅黑" panose="020B0503020204020204" charset="-122"/>
              </a:rPr>
              <a:t>2</a:t>
            </a:r>
            <a:r>
              <a:rPr lang="zh-CN" altLang="en-US" dirty="0">
                <a:ea typeface="微软雅黑" panose="020B0503020204020204" charset="-122"/>
              </a:rPr>
              <a:t>：</a:t>
            </a:r>
            <a:r>
              <a:rPr lang="zh-CN" altLang="en-US" sz="2400" dirty="0">
                <a:ea typeface="微软雅黑" panose="020B0503020204020204" charset="-122"/>
              </a:rPr>
              <a:t>三基因</a:t>
            </a:r>
            <a:r>
              <a:rPr lang="en-US" altLang="zh-CN" sz="2400" dirty="0" err="1">
                <a:ea typeface="微软雅黑" panose="020B0503020204020204" charset="-122"/>
              </a:rPr>
              <a:t>ec</a:t>
            </a:r>
            <a:r>
              <a:rPr lang="zh-CN" altLang="en-US" sz="2400" dirty="0">
                <a:ea typeface="微软雅黑" panose="020B0503020204020204" charset="-122"/>
              </a:rPr>
              <a:t>（棘眼），</a:t>
            </a:r>
            <a:r>
              <a:rPr lang="en-US" altLang="zh-CN" sz="2400" dirty="0" err="1">
                <a:ea typeface="微软雅黑" panose="020B0503020204020204" charset="-122"/>
              </a:rPr>
              <a:t>ct</a:t>
            </a:r>
            <a:r>
              <a:rPr lang="zh-CN" altLang="en-US" sz="2400" dirty="0">
                <a:ea typeface="微软雅黑" panose="020B0503020204020204" charset="-122"/>
              </a:rPr>
              <a:t>（</a:t>
            </a:r>
            <a:r>
              <a:rPr lang="en-US" altLang="zh-CN" sz="2400" dirty="0">
                <a:ea typeface="微软雅黑" panose="020B0503020204020204" charset="-122"/>
              </a:rPr>
              <a:t>cut</a:t>
            </a:r>
            <a:r>
              <a:rPr lang="zh-CN" altLang="en-US" sz="2400" dirty="0">
                <a:ea typeface="微软雅黑" panose="020B0503020204020204" charset="-122"/>
              </a:rPr>
              <a:t>，截翅）和 </a:t>
            </a:r>
            <a:r>
              <a:rPr lang="en-US" altLang="zh-CN" sz="2400" dirty="0">
                <a:ea typeface="微软雅黑" panose="020B0503020204020204" charset="-122"/>
              </a:rPr>
              <a:t>cv</a:t>
            </a:r>
            <a:r>
              <a:rPr lang="zh-CN" altLang="en-US" sz="2400" dirty="0">
                <a:ea typeface="微软雅黑" panose="020B0503020204020204" charset="-122"/>
              </a:rPr>
              <a:t>（横脉缺失），把棘眼、截翅个体与横脉缺失个体交配，得到三杂合子。三杂合雌蝇与三隐性雄蝇测交</a:t>
            </a:r>
            <a:endParaRPr lang="zh-CN" altLang="en-US" dirty="0"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838" y="940925"/>
            <a:ext cx="8367347" cy="57805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718" y="2484148"/>
            <a:ext cx="4330282" cy="98473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4759569" y="940925"/>
            <a:ext cx="3959925" cy="5780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标题 162817"/>
          <p:cNvSpPr>
            <a:spLocks noGrp="1"/>
          </p:cNvSpPr>
          <p:nvPr>
            <p:ph type="title"/>
          </p:nvPr>
        </p:nvSpPr>
        <p:spPr>
          <a:xfrm>
            <a:off x="343439" y="161287"/>
            <a:ext cx="10515600" cy="483961"/>
          </a:xfrm>
        </p:spPr>
        <p:txBody>
          <a:bodyPr lIns="92075" tIns="46038" rIns="92075" bIns="46038" anchor="ctr">
            <a:noAutofit/>
          </a:bodyPr>
          <a:lstStyle/>
          <a:p>
            <a:r>
              <a:rPr lang="en-US" altLang="en-US" sz="36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二、干扰</a:t>
            </a:r>
            <a:endParaRPr lang="en-US" altLang="zh-CN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2819" name="文本占位符 162818"/>
          <p:cNvSpPr>
            <a:spLocks noGrp="1"/>
          </p:cNvSpPr>
          <p:nvPr>
            <p:ph type="body" idx="1"/>
          </p:nvPr>
        </p:nvSpPr>
        <p:spPr>
          <a:xfrm>
            <a:off x="446075" y="767923"/>
            <a:ext cx="11000828" cy="2084244"/>
          </a:xfrm>
        </p:spPr>
        <p:txBody>
          <a:bodyPr>
            <a:no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1. 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理论双交换值</a:t>
            </a:r>
            <a:endParaRPr lang="en-US" altLang="en-US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marL="457200" lvl="1" indent="0">
              <a:lnSpc>
                <a:spcPct val="135000"/>
              </a:lnSpc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如果两个基因对间的单交换不影响邻近两个基因对间的单交换， 我们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预期双交换的频率就是两个单交换频率的乘积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6075" y="2852167"/>
            <a:ext cx="11000827" cy="5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35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例：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-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sh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-c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三点测验中，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和c基因间理论双交换值应为：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pic>
        <p:nvPicPr>
          <p:cNvPr id="4" name="内容占位符 161795" descr="4-4-13"/>
          <p:cNvPicPr>
            <a:picLocks noChangeAspect="1"/>
          </p:cNvPicPr>
          <p:nvPr/>
        </p:nvPicPr>
        <p:blipFill rotWithShape="1">
          <a:blip r:embed="rId1">
            <a:lum bright="6000" contrast="6000"/>
          </a:blip>
          <a:srcRect t="13698" b="7477"/>
          <a:stretch>
            <a:fillRect/>
          </a:stretch>
        </p:blipFill>
        <p:spPr>
          <a:xfrm>
            <a:off x="758874" y="4251921"/>
            <a:ext cx="10375228" cy="205740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49874" y="3552044"/>
            <a:ext cx="6094428" cy="58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35000"/>
              </a:lnSpc>
              <a:buNone/>
            </a:pP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0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.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184×0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.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035=0.64%。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2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2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8" grpId="0"/>
      <p:bldP spid="162819" grpId="0" advAuto="1000" build="p"/>
      <p:bldP spid="3" grpId="0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文本占位符 163842"/>
          <p:cNvSpPr>
            <a:spLocks noGrp="1"/>
          </p:cNvSpPr>
          <p:nvPr>
            <p:ph type="body" idx="1"/>
          </p:nvPr>
        </p:nvSpPr>
        <p:spPr>
          <a:xfrm>
            <a:off x="348793" y="903758"/>
            <a:ext cx="11293310" cy="1781009"/>
          </a:xfrm>
        </p:spPr>
        <p:txBody>
          <a:bodyPr>
            <a:noAutofit/>
          </a:bodyPr>
          <a:lstStyle/>
          <a:p>
            <a:pPr marL="0" lvl="1" indent="0">
              <a:lnSpc>
                <a:spcPct val="100000"/>
              </a:lnSpc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  </a:t>
            </a:r>
            <a:r>
              <a:rPr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</a:t>
            </a:r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和c基因间的实际双交换值为0.09％，低于理论双交换值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，这是由于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wx-sh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间或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sh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-c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间一旦发生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一次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交换后就会影响另一个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区域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交换的发生，使双交换的频率下降。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这种现象称为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干扰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或干涉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，即</a:t>
            </a:r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一个交换发生后，影响其邻近交换的发生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，</a:t>
            </a:r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使实际双交换值不等于理论双交换值。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8028" y="113742"/>
            <a:ext cx="6094428" cy="58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35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lvl="1" indent="0">
              <a:lnSpc>
                <a:spcPct val="135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>
                <a:sym typeface="宋体" panose="02010600030101010101" pitchFamily="2" charset="-122"/>
              </a:rPr>
              <a:t>2.</a:t>
            </a:r>
            <a:r>
              <a:rPr lang="zh-CN" altLang="en-US" dirty="0">
                <a:sym typeface="宋体" panose="02010600030101010101" pitchFamily="2" charset="-122"/>
              </a:rPr>
              <a:t>干扰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或干涉</a:t>
            </a:r>
            <a:r>
              <a:rPr lang="en-US" altLang="zh-CN" dirty="0">
                <a:sym typeface="宋体" panose="02010600030101010101" pitchFamily="2" charset="-122"/>
              </a:rPr>
              <a:t>(interference)</a:t>
            </a:r>
            <a:r>
              <a:rPr lang="zh-CN" altLang="en-US" dirty="0">
                <a:sym typeface="宋体" panose="02010600030101010101" pitchFamily="2" charset="-122"/>
              </a:rPr>
              <a:t>：</a:t>
            </a:r>
            <a:endParaRPr lang="zh-CN" altLang="en-US" dirty="0">
              <a:sym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8792" y="3034718"/>
            <a:ext cx="11538408" cy="58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0" lvl="1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r>
              <a:rPr lang="zh-CN" altLang="en-US" dirty="0">
                <a:solidFill>
                  <a:schemeClr val="tx1"/>
                </a:solidFill>
              </a:rPr>
              <a:t>可用</a:t>
            </a:r>
            <a:r>
              <a:rPr lang="zh-CN" altLang="en-US" dirty="0">
                <a:solidFill>
                  <a:srgbClr val="FF0000"/>
                </a:solidFill>
              </a:rPr>
              <a:t>并发率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coincidence</a:t>
            </a:r>
            <a:r>
              <a:rPr lang="zh-CN" altLang="en-US" dirty="0">
                <a:solidFill>
                  <a:schemeClr val="tx1"/>
                </a:solidFill>
              </a:rPr>
              <a:t>）（</a:t>
            </a:r>
            <a:r>
              <a:rPr lang="zh-CN" altLang="en-US" dirty="0">
                <a:solidFill>
                  <a:srgbClr val="FF0000"/>
                </a:solidFill>
              </a:rPr>
              <a:t>并发系数、符合系数</a:t>
            </a:r>
            <a:r>
              <a:rPr lang="zh-CN" altLang="en-US" dirty="0">
                <a:solidFill>
                  <a:schemeClr val="tx1"/>
                </a:solidFill>
              </a:rPr>
              <a:t>）来表示干涉的大小</a:t>
            </a:r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8" name="内容占位符 164867"/>
          <p:cNvPicPr>
            <a:picLocks noChangeAspect="1"/>
          </p:cNvPicPr>
          <p:nvPr/>
        </p:nvPicPr>
        <p:blipFill>
          <a:blip r:embed="rId1">
            <a:biLevel thresh="7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9723" y="3623918"/>
            <a:ext cx="4310063" cy="93345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文本框 9"/>
          <p:cNvSpPr txBox="1"/>
          <p:nvPr/>
        </p:nvSpPr>
        <p:spPr>
          <a:xfrm>
            <a:off x="628062" y="4746775"/>
            <a:ext cx="10329420" cy="1390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并发率愈大，干涉愈小；并发率</a:t>
            </a:r>
            <a:r>
              <a:rPr lang="en-US" altLang="zh-CN" sz="2400" dirty="0"/>
              <a:t>=1</a:t>
            </a:r>
            <a:r>
              <a:rPr lang="zh-CN" altLang="en-US" sz="2400" dirty="0"/>
              <a:t>，表示没有干涉。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干涉（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=1-</a:t>
            </a:r>
            <a:r>
              <a:rPr lang="en-US" altLang="zh-CN" sz="2400" b="1" i="1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endParaRPr lang="en-US" altLang="zh-CN" sz="2400" b="1" i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真核生物：</a:t>
            </a:r>
            <a:r>
              <a:rPr lang="en-US" altLang="zh-CN" sz="2400" dirty="0"/>
              <a:t>C</a:t>
            </a:r>
            <a:r>
              <a:rPr lang="zh-CN" altLang="en-US" sz="2400" dirty="0"/>
              <a:t>为</a:t>
            </a:r>
            <a:r>
              <a:rPr lang="en-US" altLang="zh-CN" sz="2400" dirty="0"/>
              <a:t>[0, 1]—</a:t>
            </a:r>
            <a:r>
              <a:rPr lang="zh-CN" altLang="en-US" sz="2400" b="1" dirty="0">
                <a:solidFill>
                  <a:srgbClr val="FF0000"/>
                </a:solidFill>
              </a:rPr>
              <a:t>正干扰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/>
              <a:t>某些微生物中</a:t>
            </a:r>
            <a:r>
              <a:rPr lang="en-US" altLang="zh-CN" sz="2400" dirty="0"/>
              <a:t>C</a:t>
            </a:r>
            <a:r>
              <a:rPr lang="zh-CN" altLang="en-US" sz="2400" dirty="0"/>
              <a:t>往往大于</a:t>
            </a:r>
            <a:r>
              <a:rPr lang="en-US" altLang="zh-CN" sz="2400" dirty="0"/>
              <a:t>1</a:t>
            </a:r>
            <a:r>
              <a:rPr lang="zh-CN" altLang="en-US" sz="2400" dirty="0"/>
              <a:t>，称为</a:t>
            </a:r>
            <a:r>
              <a:rPr lang="zh-CN" altLang="en-US" sz="2400" b="1" dirty="0">
                <a:solidFill>
                  <a:srgbClr val="FF0000"/>
                </a:solidFill>
              </a:rPr>
              <a:t>负干扰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792772" y="3623918"/>
            <a:ext cx="609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Clr>
                <a:schemeClr val="tx2"/>
              </a:buClr>
              <a:buSzPct val="75000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例如前述中：</a:t>
            </a:r>
            <a:b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</a:b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符合系数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=0.09/0.64=0.14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3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advAuto="1000" build="p"/>
      <p:bldP spid="7" grpId="0"/>
      <p:bldP spid="10" grpId="0"/>
      <p:bldP spid="1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标题 165889"/>
          <p:cNvSpPr>
            <a:spLocks noGrp="1"/>
          </p:cNvSpPr>
          <p:nvPr>
            <p:ph type="title"/>
          </p:nvPr>
        </p:nvSpPr>
        <p:spPr>
          <a:xfrm>
            <a:off x="0" y="-58615"/>
            <a:ext cx="10515600" cy="720304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en-US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三</a:t>
            </a: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、</a:t>
            </a:r>
            <a:r>
              <a:rPr lang="en-US" altLang="en-US" sz="36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连锁遗传图</a:t>
            </a:r>
            <a:r>
              <a:rPr lang="en-US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(</a:t>
            </a:r>
            <a:r>
              <a:rPr lang="en-US" altLang="zh-CN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linkage map)</a:t>
            </a:r>
            <a:endParaRPr lang="en-US" altLang="zh-CN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  <p:sp>
        <p:nvSpPr>
          <p:cNvPr id="165891" name="文本占位符 165890"/>
          <p:cNvSpPr>
            <a:spLocks noGrp="1"/>
          </p:cNvSpPr>
          <p:nvPr>
            <p:ph type="body" idx="1"/>
          </p:nvPr>
        </p:nvSpPr>
        <p:spPr>
          <a:xfrm>
            <a:off x="179614" y="543520"/>
            <a:ext cx="11637248" cy="1248454"/>
          </a:xfrm>
        </p:spPr>
        <p:txBody>
          <a:bodyPr>
            <a:noAutofit/>
          </a:bodyPr>
          <a:lstStyle/>
          <a:p>
            <a:pPr marL="0" indent="0" eaLnBrk="0" hangingPunct="0">
              <a:lnSpc>
                <a:spcPts val="3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根据基因在染色体上直线排列的定律，我们可以把每个连锁群画成一个连锁图，或称遗传学图（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genetic map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）。这种图是大量实验材料的简明总结，是以后实验工作和育种工作的重要参考资料。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  <a:p>
            <a:pPr marL="533400" indent="-533400" eaLnBrk="0" hangingPunct="0">
              <a:lnSpc>
                <a:spcPts val="3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zh-CN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52846" y="2394109"/>
            <a:ext cx="5539154" cy="157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ts val="3000"/>
              </a:lnSpc>
              <a:buNone/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要以最先端的基因点当作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，依次向下排列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。以后发现新的连锁基因，再补充定出位置。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如果新发现的基因位置应在最先端基因的外端，那就应该把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点让给新的基因，其余基因的位置要作相应的变动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内容占位符 4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88" y="1929978"/>
            <a:ext cx="6105279" cy="342640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5726" y="5027990"/>
            <a:ext cx="114128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重组率在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0-50%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之间，但是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在遗传学图上，可以出现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50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单位以上的图距（两  </a:t>
            </a:r>
            <a:endParaRPr lang="en-US" altLang="zh-CN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基因间发生多次交换的结果），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由实验得到的重组率与遗传图上的数值不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一定是一致的。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2.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遗传图上数值对应的基因间的重组率只限于临近的基因座位间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66007" y="673364"/>
            <a:ext cx="11922160" cy="2592350"/>
          </a:xfrm>
          <a:solidFill>
            <a:schemeClr val="bg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indent="0">
              <a:spcBef>
                <a:spcPct val="1000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重组值(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R)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不完全连锁的双杂合体产生的重组型配子占总配子数的比率。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spcBef>
                <a:spcPct val="1000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交换值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:指不完全连锁的两基因间发生交换的频率。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spcBef>
                <a:spcPct val="10000"/>
              </a:spcBef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通常又把重组值称为交换值。但严格说，交换值不能等同于重组值，因为等位基因之间偶然会发生多重交换，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多重交换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的结果不一定形成重组型配子，用重组值代表交换值会造成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_______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的估计。可用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Haldane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推导出的作图函数进行校正。 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6007" y="113941"/>
            <a:ext cx="6094324" cy="456566"/>
          </a:xfrm>
          <a:prstGeom prst="rect">
            <a:avLst/>
          </a:prstGeom>
        </p:spPr>
        <p:txBody>
          <a:bodyPr vert="horz" lIns="92075" tIns="46038" rIns="92075" bIns="46038" rtlCol="0" anchor="ctr">
            <a:normAutofit fontScale="92500" lnSpcReduction="20000"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zh-CN" altLang="en-US" dirty="0"/>
              <a:t>重组值与交换值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129705" y="2255419"/>
            <a:ext cx="934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偏低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72" y="3368571"/>
            <a:ext cx="6906675" cy="239150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292906" y="3169616"/>
            <a:ext cx="4569422" cy="3179894"/>
          </a:xfrm>
          <a:prstGeom prst="rect">
            <a:avLst/>
          </a:prstGeom>
          <a:solidFill>
            <a:schemeClr val="bg1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indent="0">
              <a:lnSpc>
                <a:spcPct val="90000"/>
              </a:lnSpc>
              <a:spcBef>
                <a:spcPct val="10000"/>
              </a:spcBef>
              <a:buFont typeface="Arial" panose="020B0604020202020204" pitchFamily="34" charset="0"/>
              <a:buNone/>
              <a:defRPr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① 曲线的起始一小段基本上是直线，斜率接近于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zh-CN" altLang="en-US" sz="2000" dirty="0">
                <a:solidFill>
                  <a:schemeClr val="tx1"/>
                </a:solidFill>
              </a:rPr>
              <a:t>，重组率几乎等于图距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② 曲线曲度较大的区域，重组率就不是加性的了。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③ 标记基因间的图距很大时，重组率与图距无关，接近或等于</a:t>
            </a:r>
            <a:r>
              <a:rPr lang="en-US" altLang="zh-CN" sz="2000" dirty="0">
                <a:solidFill>
                  <a:schemeClr val="tx1"/>
                </a:solidFill>
              </a:rPr>
              <a:t>1/2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99411" y="5837364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tx1"/>
                </a:solidFill>
              </a:rPr>
              <a:t>纵轴是 </a:t>
            </a:r>
            <a:r>
              <a:rPr lang="en-US" altLang="zh-CN" sz="1800" b="1" dirty="0">
                <a:solidFill>
                  <a:schemeClr val="tx1"/>
                </a:solidFill>
              </a:rPr>
              <a:t>R</a:t>
            </a:r>
            <a:r>
              <a:rPr lang="zh-CN" altLang="en-US" sz="1800" b="1" dirty="0">
                <a:solidFill>
                  <a:schemeClr val="tx1"/>
                </a:solidFill>
              </a:rPr>
              <a:t>，代表重组率；</a:t>
            </a:r>
            <a:endParaRPr lang="en-US" altLang="zh-CN" sz="1800" b="1" dirty="0">
              <a:solidFill>
                <a:schemeClr val="tx1"/>
              </a:solidFill>
            </a:endParaRPr>
          </a:p>
          <a:p>
            <a:r>
              <a:rPr lang="zh-CN" altLang="en-US" sz="1800" b="1" dirty="0">
                <a:solidFill>
                  <a:schemeClr val="tx1"/>
                </a:solidFill>
              </a:rPr>
              <a:t>横轴是</a:t>
            </a:r>
            <a:r>
              <a:rPr lang="en-US" altLang="zh-CN" sz="1800" b="1" dirty="0">
                <a:solidFill>
                  <a:schemeClr val="tx1"/>
                </a:solidFill>
              </a:rPr>
              <a:t>100x</a:t>
            </a:r>
            <a:r>
              <a:rPr lang="zh-CN" altLang="en-US" sz="1800" b="1" dirty="0">
                <a:solidFill>
                  <a:schemeClr val="tx1"/>
                </a:solidFill>
              </a:rPr>
              <a:t>，代表图距，</a:t>
            </a:r>
            <a:r>
              <a:rPr lang="en-US" altLang="zh-CN" sz="1800" b="1" dirty="0">
                <a:solidFill>
                  <a:schemeClr val="tx1"/>
                </a:solidFill>
              </a:rPr>
              <a:t>x</a:t>
            </a:r>
            <a:r>
              <a:rPr lang="zh-CN" altLang="en-US" sz="1800" b="1" dirty="0">
                <a:solidFill>
                  <a:schemeClr val="tx1"/>
                </a:solidFill>
              </a:rPr>
              <a:t>是交换率。</a:t>
            </a:r>
            <a:endParaRPr lang="en-US" altLang="zh-CN" sz="1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5" name="Rectangle 3"/>
          <p:cNvSpPr>
            <a:spLocks noGrp="1"/>
          </p:cNvSpPr>
          <p:nvPr>
            <p:ph idx="1"/>
          </p:nvPr>
        </p:nvSpPr>
        <p:spPr>
          <a:xfrm>
            <a:off x="1981200" y="342900"/>
            <a:ext cx="8229600" cy="4525963"/>
          </a:xfrm>
          <a:noFill/>
          <a:ln>
            <a:noFill/>
          </a:ln>
        </p:spPr>
        <p:txBody>
          <a:bodyPr anchor="t"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</a:rPr>
              <a:t>(03</a:t>
            </a:r>
            <a:r>
              <a:rPr lang="zh-CN" altLang="en-US" b="1" i="1" dirty="0">
                <a:latin typeface="黑体" panose="02010609060101010101" pitchFamily="49" charset="-122"/>
                <a:ea typeface="黑体" panose="02010609060101010101" pitchFamily="49" charset="-122"/>
              </a:rPr>
              <a:t>年全国联赛</a:t>
            </a:r>
            <a:r>
              <a:rPr lang="en-US" altLang="zh-CN" b="1" i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如果两个遗传性状发生重组，说明控制这两个性状的基因有如下的可能关系（多选）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A.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独立遗传       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B.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不完全连锁     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C.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完全连锁       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D.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细胞质遗传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．用果蝇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AB/ab♀×Ab/aB♂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杂交，已知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A/a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B/b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间的交换值为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10%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，则表型为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Ab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的个体占多大比例？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 A.22.5%  B.47.5%  C.25%  D.22.75%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29701" name="Rectangle 5"/>
          <p:cNvSpPr>
            <a:spLocks noChangeArrowheads="1"/>
          </p:cNvSpPr>
          <p:nvPr/>
        </p:nvSpPr>
        <p:spPr bwMode="auto">
          <a:xfrm>
            <a:off x="5941060" y="-260985"/>
            <a:ext cx="309880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429702" name="Text Box 6"/>
          <p:cNvSpPr txBox="1">
            <a:spLocks noChangeArrowheads="1"/>
          </p:cNvSpPr>
          <p:nvPr/>
        </p:nvSpPr>
        <p:spPr bwMode="auto">
          <a:xfrm>
            <a:off x="8040688" y="3789363"/>
            <a:ext cx="936625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 typeface="Arial" panose="020B0604020202020204" pitchFamily="34" charset="0"/>
            </a:pPr>
            <a:r>
              <a:rPr kumimoji="0" lang="en-US" altLang="zh-CN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C</a:t>
            </a:r>
            <a:endParaRPr kumimoji="0" lang="en-US" altLang="zh-CN" kern="1200" cap="none" spc="0" normalizeH="0" baseline="0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  <a:cs typeface="+mn-cs"/>
              <a:sym typeface="+mn-ea"/>
            </a:endParaRPr>
          </a:p>
        </p:txBody>
      </p:sp>
      <p:sp>
        <p:nvSpPr>
          <p:cNvPr id="6429703" name="Text Box 7"/>
          <p:cNvSpPr txBox="1">
            <a:spLocks noChangeArrowheads="1"/>
          </p:cNvSpPr>
          <p:nvPr/>
        </p:nvSpPr>
        <p:spPr bwMode="auto">
          <a:xfrm>
            <a:off x="8130858" y="1322388"/>
            <a:ext cx="936625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defRPr/>
            </a:pPr>
            <a:r>
              <a:rPr kumimoji="0" lang="en-US" altLang="zh-CN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AB</a:t>
            </a:r>
            <a:endParaRPr kumimoji="0" lang="en-US" altLang="zh-CN" b="1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9702" grpId="0" bldLvl="0" animBg="1"/>
      <p:bldP spid="6429703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3"/>
          <p:cNvSpPr>
            <a:spLocks noGrp="1"/>
          </p:cNvSpPr>
          <p:nvPr>
            <p:ph idx="1"/>
          </p:nvPr>
        </p:nvSpPr>
        <p:spPr>
          <a:xfrm>
            <a:off x="838200" y="742950"/>
            <a:ext cx="10515600" cy="4351338"/>
          </a:xfrm>
          <a:noFill/>
          <a:ln>
            <a:noFill/>
          </a:ln>
        </p:spPr>
        <p:txBody>
          <a:bodyPr anchor="t"/>
          <a:lstStyle/>
          <a:p>
            <a:pPr eaLnBrk="1" hangingPunct="1">
              <a:buNone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800" b="1" i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(06</a:t>
            </a:r>
            <a:r>
              <a:rPr lang="zh-CN" altLang="en-US" sz="2800" b="1" i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年全国联赛</a:t>
            </a:r>
            <a:r>
              <a:rPr lang="en-US" altLang="zh-CN" sz="2800" b="1" i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某种二倍体植物中，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C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三个基因位于同一染色体上，连锁图如下：</a:t>
            </a:r>
            <a:endParaRPr lang="zh-CN" altLang="pt-BR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|——————|————————|—</a:t>
            </a:r>
            <a:endParaRPr lang="pt-BR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</a:t>
            </a:r>
            <a:r>
              <a:rPr lang="en-US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A		     </a:t>
            </a:r>
            <a:r>
              <a:rPr lang="en-US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B		        C</a:t>
            </a:r>
            <a:endParaRPr lang="pt-BR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 A</a:t>
            </a:r>
            <a:r>
              <a:rPr lang="zh-CN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和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</a:t>
            </a:r>
            <a:r>
              <a:rPr lang="zh-CN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的图距为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20</a:t>
            </a:r>
            <a:r>
              <a:rPr lang="zh-CN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B</a:t>
            </a:r>
            <a:r>
              <a:rPr lang="zh-CN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与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C</a:t>
            </a:r>
            <a:r>
              <a:rPr lang="zh-CN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的图距为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30</a:t>
            </a:r>
            <a:r>
              <a:rPr lang="zh-CN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。现在有一亲本，基因型为：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Abc/aBC</a:t>
            </a:r>
            <a:r>
              <a:rPr lang="zh-CN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，如果亲本自交，不考虑干涉的情况下，基因型为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abc/abc</a:t>
            </a:r>
            <a:r>
              <a:rPr lang="zh-CN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的子代的比例为</a:t>
            </a:r>
            <a:endParaRPr lang="zh-CN" altLang="pt-BR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A</a:t>
            </a:r>
            <a:r>
              <a:rPr lang="zh-CN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．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12.5%     B</a:t>
            </a:r>
            <a:r>
              <a:rPr lang="zh-CN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．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7%	  C</a:t>
            </a:r>
            <a:r>
              <a:rPr lang="zh-CN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．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0.49%	 </a:t>
            </a:r>
            <a:r>
              <a:rPr lang="en-US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D</a:t>
            </a:r>
            <a:r>
              <a:rPr lang="zh-CN" altLang="pt-BR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．</a:t>
            </a:r>
            <a:r>
              <a:rPr lang="pt-BR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0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6488068" name="Text Box 4"/>
          <p:cNvSpPr txBox="1">
            <a:spLocks noChangeArrowheads="1"/>
          </p:cNvSpPr>
          <p:nvPr/>
        </p:nvSpPr>
        <p:spPr bwMode="auto">
          <a:xfrm>
            <a:off x="9263698" y="3705543"/>
            <a:ext cx="576263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 typeface="Arial" panose="020B0604020202020204" pitchFamily="34" charset="0"/>
            </a:pPr>
            <a:r>
              <a:rPr kumimoji="0" lang="en-US" altLang="zh-CN" sz="2800" b="1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C</a:t>
            </a:r>
            <a:endParaRPr kumimoji="0" lang="en-US" altLang="zh-CN" sz="2800" b="1" kern="1200" cap="none" spc="0" normalizeH="0" baseline="0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3" name="Rectangle 3"/>
          <p:cNvSpPr>
            <a:spLocks noGrp="1"/>
          </p:cNvSpPr>
          <p:nvPr>
            <p:ph idx="1"/>
          </p:nvPr>
        </p:nvSpPr>
        <p:spPr>
          <a:noFill/>
          <a:ln>
            <a:noFill/>
          </a:ln>
        </p:spPr>
        <p:txBody>
          <a:bodyPr anchor="t"/>
          <a:lstStyle/>
          <a:p>
            <a:pPr eaLnBrk="1" hangingPunct="1">
              <a:buNone/>
            </a:pPr>
            <a:r>
              <a:rPr lang="en-US" altLang="zh-CN" b="1" dirty="0"/>
              <a:t>4</a:t>
            </a:r>
            <a:r>
              <a:rPr lang="zh-CN" altLang="en-US" b="1" dirty="0"/>
              <a:t>．（</a:t>
            </a:r>
            <a:r>
              <a:rPr lang="en-US" altLang="zh-CN" b="1" dirty="0"/>
              <a:t>13</a:t>
            </a:r>
            <a:r>
              <a:rPr lang="zh-CN" altLang="en-US" b="1" dirty="0"/>
              <a:t>年全国联赛）对基因型为</a:t>
            </a:r>
            <a:r>
              <a:rPr lang="en-US" altLang="zh-CN" b="1" dirty="0"/>
              <a:t>AaBbCc</a:t>
            </a:r>
            <a:r>
              <a:rPr lang="zh-CN" altLang="en-US" b="1" dirty="0"/>
              <a:t>的雌果蝇进行基因连锁关系分析，可以采用以下哪些方法：  </a:t>
            </a:r>
            <a:r>
              <a:rPr lang="en-US" altLang="zh-CN" b="1" dirty="0"/>
              <a:t>(</a:t>
            </a:r>
            <a:r>
              <a:rPr lang="zh-CN" altLang="en-US" b="1" dirty="0"/>
              <a:t>多选</a:t>
            </a:r>
            <a:r>
              <a:rPr lang="en-US" altLang="zh-CN" b="1" dirty="0"/>
              <a:t>)</a:t>
            </a:r>
            <a:endParaRPr lang="en-US" altLang="zh-CN" b="1" dirty="0"/>
          </a:p>
          <a:p>
            <a:pPr eaLnBrk="1" hangingPunct="1">
              <a:buNone/>
            </a:pPr>
            <a:r>
              <a:rPr lang="en-US" altLang="zh-CN" b="1" dirty="0"/>
              <a:t>    A</a:t>
            </a:r>
            <a:r>
              <a:rPr lang="zh-CN" altLang="en-US" b="1" dirty="0"/>
              <a:t>．测交法                       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  </a:t>
            </a:r>
            <a:r>
              <a:rPr lang="en-US" altLang="zh-CN" b="1" dirty="0"/>
              <a:t>B</a:t>
            </a:r>
            <a:r>
              <a:rPr lang="zh-CN" altLang="en-US" b="1" dirty="0"/>
              <a:t>．以</a:t>
            </a:r>
            <a:r>
              <a:rPr lang="en-US" altLang="zh-CN" b="1" dirty="0"/>
              <a:t>ABC</a:t>
            </a:r>
            <a:r>
              <a:rPr lang="zh-CN" altLang="en-US" b="1" dirty="0"/>
              <a:t>／</a:t>
            </a:r>
            <a:r>
              <a:rPr lang="en-US" altLang="zh-CN" b="1" dirty="0"/>
              <a:t>abc</a:t>
            </a:r>
            <a:r>
              <a:rPr lang="zh-CN" altLang="en-US" b="1" dirty="0"/>
              <a:t>雄果蝇与其杂交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  </a:t>
            </a:r>
            <a:r>
              <a:rPr lang="en-US" altLang="zh-CN" b="1" dirty="0"/>
              <a:t>C</a:t>
            </a:r>
            <a:r>
              <a:rPr lang="zh-CN" altLang="en-US" b="1" dirty="0"/>
              <a:t>．以</a:t>
            </a:r>
            <a:r>
              <a:rPr lang="en-US" altLang="zh-CN" b="1" dirty="0"/>
              <a:t>ABC</a:t>
            </a:r>
            <a:r>
              <a:rPr lang="zh-CN" altLang="en-US" b="1" dirty="0"/>
              <a:t>／</a:t>
            </a:r>
            <a:r>
              <a:rPr lang="en-US" altLang="zh-CN" b="1" dirty="0"/>
              <a:t>ABC</a:t>
            </a:r>
            <a:r>
              <a:rPr lang="zh-CN" altLang="en-US" b="1" dirty="0"/>
              <a:t>雄果蝇与其杂交    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  </a:t>
            </a:r>
            <a:r>
              <a:rPr lang="en-US" altLang="zh-CN" b="1" dirty="0"/>
              <a:t>D</a:t>
            </a:r>
            <a:r>
              <a:rPr lang="zh-CN" altLang="en-US" b="1" dirty="0"/>
              <a:t>．以</a:t>
            </a:r>
            <a:r>
              <a:rPr lang="en-US" altLang="zh-CN" b="1" dirty="0"/>
              <a:t>Abc</a:t>
            </a:r>
            <a:r>
              <a:rPr lang="zh-CN" altLang="en-US" b="1" dirty="0"/>
              <a:t>／</a:t>
            </a:r>
            <a:r>
              <a:rPr lang="en-US" altLang="zh-CN" b="1" dirty="0"/>
              <a:t>aBC</a:t>
            </a:r>
            <a:r>
              <a:rPr lang="zh-CN" altLang="en-US" b="1" dirty="0"/>
              <a:t>雄果蝇与其杂交</a:t>
            </a:r>
            <a:endParaRPr lang="zh-CN" altLang="en-US" b="1" dirty="0"/>
          </a:p>
        </p:txBody>
      </p:sp>
      <p:sp>
        <p:nvSpPr>
          <p:cNvPr id="6480900" name="Text Box 4"/>
          <p:cNvSpPr txBox="1">
            <a:spLocks noChangeArrowheads="1"/>
          </p:cNvSpPr>
          <p:nvPr/>
        </p:nvSpPr>
        <p:spPr bwMode="auto">
          <a:xfrm>
            <a:off x="8482648" y="2771775"/>
            <a:ext cx="1223963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defRPr/>
            </a:pPr>
            <a:r>
              <a:rPr kumimoji="0" lang="en-US" altLang="zh-CN" sz="28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AB</a:t>
            </a:r>
            <a:endParaRPr kumimoji="0" lang="en-US" altLang="zh-CN" sz="2800" b="1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0900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3"/>
          <p:cNvSpPr>
            <a:spLocks noGrp="1"/>
          </p:cNvSpPr>
          <p:nvPr>
            <p:ph idx="1"/>
          </p:nvPr>
        </p:nvSpPr>
        <p:spPr>
          <a:xfrm>
            <a:off x="838200" y="1049020"/>
            <a:ext cx="10515600" cy="4351338"/>
          </a:xfrm>
          <a:noFill/>
          <a:ln>
            <a:noFill/>
          </a:ln>
        </p:spPr>
        <p:txBody>
          <a:bodyPr anchor="t"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．（</a:t>
            </a:r>
            <a:r>
              <a:rPr lang="en-US" altLang="zh-CN" sz="2400" b="1" dirty="0"/>
              <a:t>13</a:t>
            </a:r>
            <a:r>
              <a:rPr lang="zh-CN" altLang="en-US" sz="2400" b="1" dirty="0"/>
              <a:t>年全国联赛）基因型为</a:t>
            </a:r>
            <a:r>
              <a:rPr lang="en-US" altLang="zh-CN" sz="2400" b="1" dirty="0"/>
              <a:t>AaBbCcDd</a:t>
            </a:r>
            <a:r>
              <a:rPr lang="zh-CN" altLang="en-US" sz="2400" b="1" dirty="0"/>
              <a:t>的雌果蝇可产生   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       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种配子，其类型与比例分别为  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单选</a:t>
            </a:r>
            <a:r>
              <a:rPr lang="en-US" altLang="zh-CN" sz="2400" b="1" dirty="0"/>
              <a:t>)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       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18</a:t>
            </a:r>
            <a:r>
              <a:rPr lang="zh-CN" altLang="en-US" sz="2400" b="1" dirty="0"/>
              <a:t>％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18</a:t>
            </a:r>
            <a:r>
              <a:rPr lang="zh-CN" altLang="en-US" sz="2400" b="1" dirty="0"/>
              <a:t>％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18</a:t>
            </a:r>
            <a:r>
              <a:rPr lang="zh-CN" altLang="en-US" sz="2400" b="1" dirty="0"/>
              <a:t>％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18</a:t>
            </a:r>
            <a:r>
              <a:rPr lang="zh-CN" altLang="en-US" sz="2400" b="1" dirty="0"/>
              <a:t>％     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    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％ 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％ 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％ 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％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    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％ 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％ 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％ 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％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    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％ 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％ 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％    </a:t>
            </a:r>
            <a:r>
              <a:rPr lang="en-US" altLang="zh-CN" sz="2400" b="1" dirty="0"/>
              <a:t>abCd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％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      则四基因的关系为 </a:t>
            </a:r>
            <a:endParaRPr lang="zh-CN" altLang="en-US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1" dirty="0"/>
              <a:t>      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．</a:t>
            </a:r>
            <a:r>
              <a:rPr lang="en-US" altLang="zh-CN" sz="2400" b="1" dirty="0"/>
              <a:t>AB/ab,CD/cd          B</a:t>
            </a:r>
            <a:r>
              <a:rPr lang="zh-CN" altLang="en-US" sz="2400" b="1" dirty="0"/>
              <a:t>．</a:t>
            </a:r>
            <a:r>
              <a:rPr lang="en-US" altLang="zh-CN" sz="2400" b="1" dirty="0"/>
              <a:t>A/a,BCD/bcd      </a:t>
            </a:r>
            <a:endParaRPr lang="en-US" altLang="zh-CN" sz="24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1" dirty="0"/>
              <a:t>      C</a:t>
            </a:r>
            <a:r>
              <a:rPr lang="zh-CN" altLang="en-US" sz="2400" b="1" dirty="0"/>
              <a:t>．</a:t>
            </a:r>
            <a:r>
              <a:rPr lang="en-US" altLang="zh-CN" sz="2400" b="1" dirty="0"/>
              <a:t>ABC/abc,D/d           D</a:t>
            </a:r>
            <a:r>
              <a:rPr lang="zh-CN" altLang="en-US" sz="2400" b="1" dirty="0"/>
              <a:t>．</a:t>
            </a:r>
            <a:r>
              <a:rPr lang="en-US" altLang="zh-CN" sz="2400" b="1" dirty="0"/>
              <a:t>AC/ac,BD/bd </a:t>
            </a:r>
            <a:endParaRPr lang="en-US" altLang="zh-CN" sz="2400" b="1" dirty="0"/>
          </a:p>
        </p:txBody>
      </p:sp>
      <p:sp>
        <p:nvSpPr>
          <p:cNvPr id="6481925" name="Rectangle 5"/>
          <p:cNvSpPr>
            <a:spLocks noChangeArrowheads="1"/>
          </p:cNvSpPr>
          <p:nvPr/>
        </p:nvSpPr>
        <p:spPr bwMode="auto">
          <a:xfrm>
            <a:off x="5941060" y="-260985"/>
            <a:ext cx="309880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481926" name="Text Box 6"/>
          <p:cNvSpPr txBox="1">
            <a:spLocks noChangeArrowheads="1"/>
          </p:cNvSpPr>
          <p:nvPr/>
        </p:nvSpPr>
        <p:spPr bwMode="auto">
          <a:xfrm>
            <a:off x="8702993" y="3698240"/>
            <a:ext cx="720725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 typeface="Arial" panose="020B0604020202020204" pitchFamily="34" charset="0"/>
            </a:pPr>
            <a:r>
              <a:rPr kumimoji="0" lang="en-US" altLang="zh-CN" sz="2800" b="1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B</a:t>
            </a:r>
            <a:endParaRPr kumimoji="0" lang="en-US" altLang="zh-CN" sz="2800" b="1" kern="1200" cap="none" spc="0" normalizeH="0" baseline="0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1" name="Rectangle 3"/>
          <p:cNvSpPr>
            <a:spLocks noGrp="1"/>
          </p:cNvSpPr>
          <p:nvPr>
            <p:ph type="body" sz="half" idx="1"/>
          </p:nvPr>
        </p:nvSpPr>
        <p:spPr>
          <a:xfrm>
            <a:off x="1703388" y="549275"/>
            <a:ext cx="8713787" cy="4525963"/>
          </a:xfrm>
          <a:noFill/>
          <a:ln>
            <a:noFill/>
          </a:ln>
        </p:spPr>
        <p:txBody>
          <a:bodyPr anchor="t">
            <a:noAutofit/>
          </a:bodyPr>
          <a:lstStyle/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．（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年联赛）具有如下基因型的雄果蝇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A/a,B/b,CDE/cde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产生纯隐性配子的概率是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1/2 	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1/4    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1/8   D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．不能确定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(05</a:t>
            </a:r>
            <a:r>
              <a:rPr lang="zh-CN" altLang="en-US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年联赛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在一个涉及果蝇三对等位基因的杂交中，基因型为（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AaBbCc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）的杂种果蝇与一纯合隐性的雄果蝇杂交，得到下列表现型的后代：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根据这一杂交结果，可以得出结论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A. 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基因连锁，与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基因自由组合    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B. 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基因连锁，与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基因自由组合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C. 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三个基因不完全连锁，且基因连锁的相对顺序 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A-b-C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D. A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三个基因不完全连锁，且基因连锁的相对顺序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b-A-C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482948" name="Text Box 4"/>
          <p:cNvSpPr txBox="1">
            <a:spLocks noChangeArrowheads="1"/>
          </p:cNvSpPr>
          <p:nvPr/>
        </p:nvSpPr>
        <p:spPr bwMode="auto">
          <a:xfrm>
            <a:off x="9992360" y="962025"/>
            <a:ext cx="915670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 typeface="Arial" panose="020B0604020202020204" pitchFamily="34" charset="0"/>
            </a:pPr>
            <a:r>
              <a:rPr kumimoji="0" lang="en-US" altLang="zh-CN" sz="2800" b="1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C</a:t>
            </a:r>
            <a:endParaRPr kumimoji="0" lang="en-US" altLang="zh-CN" sz="2800" b="1" kern="1200" cap="none" spc="0" normalizeH="0" baseline="0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</p:txBody>
      </p:sp>
      <p:graphicFrame>
        <p:nvGraphicFramePr>
          <p:cNvPr id="6482997" name="Group 53"/>
          <p:cNvGraphicFramePr>
            <a:graphicFrameLocks noGrp="1"/>
          </p:cNvGraphicFramePr>
          <p:nvPr>
            <p:ph sz="half" idx="4294967295"/>
            <p:custDataLst>
              <p:tags r:id="rId1"/>
            </p:custDataLst>
          </p:nvPr>
        </p:nvGraphicFramePr>
        <p:xfrm>
          <a:off x="2031683" y="2617153"/>
          <a:ext cx="8280400" cy="792480"/>
        </p:xfrm>
        <a:graphic>
          <a:graphicData uri="http://schemas.openxmlformats.org/drawingml/2006/table">
            <a:tbl>
              <a:tblPr/>
              <a:tblGrid>
                <a:gridCol w="1007745"/>
                <a:gridCol w="830580"/>
                <a:gridCol w="922020"/>
                <a:gridCol w="920750"/>
                <a:gridCol w="917575"/>
                <a:gridCol w="920750"/>
                <a:gridCol w="922655"/>
                <a:gridCol w="917575"/>
                <a:gridCol w="920750"/>
              </a:tblGrid>
              <a:tr h="39624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表现型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aBc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数目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9" marB="456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82998" name="Text Box 54"/>
          <p:cNvSpPr txBox="1">
            <a:spLocks noChangeArrowheads="1"/>
          </p:cNvSpPr>
          <p:nvPr/>
        </p:nvSpPr>
        <p:spPr bwMode="auto">
          <a:xfrm>
            <a:off x="8904288" y="3716338"/>
            <a:ext cx="576263" cy="52197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>
              <a:spcBef>
                <a:spcPct val="50000"/>
              </a:spcBef>
              <a:buClrTx/>
              <a:buSzTx/>
              <a:buFont typeface="Arial" panose="020B0604020202020204" pitchFamily="34" charset="0"/>
            </a:pPr>
            <a:r>
              <a:rPr kumimoji="0" lang="en-US" altLang="zh-CN" sz="2800" b="1" kern="1200" cap="none" spc="0" normalizeH="0" baseline="0" noProof="1">
                <a:solidFill>
                  <a:srgbClr val="F31B0B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+mn-ea"/>
              </a:rPr>
              <a:t>D</a:t>
            </a:r>
            <a:endParaRPr kumimoji="0" lang="en-US" altLang="zh-CN" sz="2800" b="1" kern="1200" cap="none" spc="0" normalizeH="0" baseline="0" noProof="1">
              <a:solidFill>
                <a:srgbClr val="F31B0B"/>
              </a:solidFill>
              <a:effectLst>
                <a:outerShdw blurRad="38100" dist="38100" dir="2700000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2948" grpId="0" bldLvl="0" animBg="1"/>
      <p:bldP spid="6482998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514475" y="981075"/>
            <a:ext cx="8634730" cy="452628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(09)8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．同源染色体联会后发生的实际双交换，往往不同于理论 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双交换的数量。试分析下列选项哪一个正确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?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 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．若染色体某一区段发生了负干扰时，就意味着这一区段    的实际双交换率低于理论双交换率，但却有双交换发生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．这一区段未发生双交换时，由于计算公式失效，显示出负干扰值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 C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．当这一区段发生的双交换率高于理论双交换率时，所获得的并发率大于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1 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  D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．这一区段的实际双交换率与理论双交换值相等时，由于计算公式中理论双交换值有系数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0.5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，所获得的并发率就呈现大于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的数值 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422533" name="Text Box 5"/>
          <p:cNvSpPr txBox="1">
            <a:spLocks noChangeArrowheads="1"/>
          </p:cNvSpPr>
          <p:nvPr/>
        </p:nvSpPr>
        <p:spPr bwMode="auto">
          <a:xfrm>
            <a:off x="9311640" y="1325880"/>
            <a:ext cx="456565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R="0" algn="ctr" defTabSz="914400">
              <a:buClrTx/>
              <a:buSzTx/>
              <a:buFont typeface="Arial" panose="020B0604020202020204" pitchFamily="34" charset="0"/>
            </a:pPr>
            <a:r>
              <a:rPr kumimoji="0" lang="en-US" altLang="zh-CN" b="1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  <a:cs typeface="+mn-cs"/>
                <a:sym typeface="+mn-ea"/>
              </a:rPr>
              <a:t>C</a:t>
            </a:r>
            <a:endParaRPr kumimoji="0" lang="en-US" altLang="zh-CN" b="1" kern="1200" cap="none" spc="0" normalizeH="0" baseline="0" noProof="1">
              <a:solidFill>
                <a:srgbClr val="FF0000"/>
              </a:solidFill>
              <a:effectLst>
                <a:outerShdw blurRad="38100" dist="38100" dir="2700000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2533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950595" y="144780"/>
            <a:ext cx="9163050" cy="63696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ctr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(09)9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．已知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相距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个图距单位，从杂交后代测得的重组值为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 19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％，则两基因间的双交换值为  </a:t>
            </a:r>
            <a:b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</a:b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0.5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％       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％  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％   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％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(08)10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．真实遗传的弗吉尼亚烟草中，三个显性等位基因分别决定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烟草叶子的形态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(M)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、颜色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(C)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和大小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(S)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。卡罗来那烟草三这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三个基因座上都是隐性纯合的。三个基因座位于同一条染色体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上，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在中央，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MC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的图距为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6mu, CS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图距为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17mu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。两种烟草杂交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F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代再与卡罗来那烟草回交，回交产生的子代中，三种性状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都和卡罗来那烟草相同的占  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 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50%       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39%      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27%       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％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．（接上题）回交产生的子代中，三种性状都和弗吉尼亚烟草相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同的占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50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％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39%      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27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％ 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％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．（接上题）回交产生的子代中，叶子形态与大小与弗吉尼亚烟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草相同，而叶子颜色与卡罗来那烟草相同的所占比例为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    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8%      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％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C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％    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D 0.5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％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+mn-ea"/>
            </a:endParaRP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7363143" y="819785"/>
            <a:ext cx="513080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A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5723255" y="3395345"/>
            <a:ext cx="513080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B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3934460" y="4401185"/>
            <a:ext cx="513080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B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441" name="Rectangle 9"/>
          <p:cNvSpPr>
            <a:spLocks noChangeArrowheads="1"/>
          </p:cNvSpPr>
          <p:nvPr/>
        </p:nvSpPr>
        <p:spPr bwMode="auto">
          <a:xfrm>
            <a:off x="9302433" y="5643245"/>
            <a:ext cx="513080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D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bldLvl="0" animBg="1"/>
      <p:bldP spid="18439" grpId="0" bldLvl="0" animBg="1"/>
      <p:bldP spid="18440" grpId="0" bldLvl="0" animBg="1"/>
      <p:bldP spid="18441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183297"/>
          <p:cNvSpPr txBox="1"/>
          <p:nvPr/>
        </p:nvSpPr>
        <p:spPr>
          <a:xfrm>
            <a:off x="2410342" y="-263405"/>
            <a:ext cx="7251440" cy="1054359"/>
          </a:xfrm>
          <a:prstGeom prst="rect">
            <a:avLst/>
          </a:prstGeom>
        </p:spPr>
        <p:txBody>
          <a:bodyPr vert="horz" lIns="91440" tIns="45720" rIns="91440" bIns="45720" rtlCol="0">
            <a:normAutofit fontScale="87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endParaRPr lang="en-US" altLang="zh-CN" sz="3200" b="1" dirty="0">
              <a:ea typeface="楷体_GB2312" pitchFamily="49" charset="-122"/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43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第四节  真菌的连锁分析</a:t>
            </a:r>
            <a:endParaRPr lang="zh-CN" altLang="en-US" sz="2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086" y="851114"/>
            <a:ext cx="5773946" cy="550197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2339" y="124936"/>
            <a:ext cx="10515600" cy="70164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粗糙链孢霉作为遗传学实验材料的优点：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4306" y="773917"/>
            <a:ext cx="11118426" cy="56979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一个小囊中的孢子是一次减数分裂的产物，易于分析配子比例。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单一减数分裂的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个产物留在一起，称作四分子。对四分子进行遗传学分析，称作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四分子分析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tetrad analysis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① 这是遗传学分析的好材料，可以简单明了地看出分离比和计算重组率。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② 可以把着丝粒作为一个基因座，计算某一基因与着丝粒的重组率。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③ 子囊中子囊孢子的正确对称性质，证明减数分裂是一个交互过程。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④ 可以检验染色单体的交换有无干涉现象，而且还可用它来进行基因转变（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gene conversion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）的研究，关于基因转换在以后讨论。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……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147736" y="41910"/>
            <a:ext cx="10515600" cy="617668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FF"/>
                </a:solidFill>
                <a:ea typeface="黑体" panose="02010609060101010101" pitchFamily="49" charset="-122"/>
              </a:rPr>
              <a:t>一、着丝粒作图</a:t>
            </a:r>
            <a:endParaRPr lang="zh-CN" altLang="en-US" sz="3600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4975" y="660027"/>
            <a:ext cx="10944808" cy="281784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16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以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着丝粒作为一个位点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来计算相对于着丝粒的基因位置就称为着丝粒作图。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野生型链孢霉（记为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lys</a:t>
            </a:r>
            <a:r>
              <a:rPr lang="en-US" altLang="zh-CN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）与赖氨酸缺陷型（记为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lys</a:t>
            </a:r>
            <a:r>
              <a:rPr lang="en-US" altLang="zh-CN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）杂交，得到的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个子囊孢子中，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个黑色（野生型）、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个灰色（为赖氨酸缺陷型，成熟较晚，故为灰色）。根据黑色孢子和灰色孢子在子囊中排列次序，共有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种子囊型。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86271" y="3355846"/>
            <a:ext cx="10530907" cy="32013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非交换型：</a:t>
            </a:r>
            <a:r>
              <a:rPr lang="zh-CN" altLang="en-US" b="1" dirty="0">
                <a:latin typeface="宋体" panose="02010600030101010101" pitchFamily="2" charset="-122"/>
              </a:rPr>
              <a:t>①</a:t>
            </a: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+ + - -</a:t>
            </a:r>
            <a:endParaRPr lang="en-US" altLang="zh-CN" b="1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b="1" dirty="0">
                <a:latin typeface="宋体" panose="02010600030101010101" pitchFamily="2" charset="-122"/>
              </a:rPr>
              <a:t>②</a:t>
            </a: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- - + +</a:t>
            </a:r>
            <a:endParaRPr lang="en-US" altLang="zh-CN" b="1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交换型：</a:t>
            </a:r>
            <a:r>
              <a:rPr lang="zh-CN" altLang="en-US" b="1" dirty="0">
                <a:latin typeface="宋体" panose="02010600030101010101" pitchFamily="2" charset="-122"/>
              </a:rPr>
              <a:t>③</a:t>
            </a: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+ - + -</a:t>
            </a:r>
            <a:endParaRPr lang="en-US" altLang="zh-CN" b="1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b="1" dirty="0">
                <a:latin typeface="宋体" panose="02010600030101010101" pitchFamily="2" charset="-122"/>
              </a:rPr>
              <a:t>④</a:t>
            </a: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- + - +</a:t>
            </a:r>
            <a:endParaRPr lang="en-US" altLang="zh-CN" b="1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b="1" dirty="0">
                <a:latin typeface="宋体" panose="02010600030101010101" pitchFamily="2" charset="-122"/>
              </a:rPr>
              <a:t>⑤</a:t>
            </a: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+ - - +</a:t>
            </a:r>
            <a:endParaRPr lang="en-US" altLang="zh-CN" b="1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b="1" dirty="0">
                <a:latin typeface="宋体" panose="02010600030101010101" pitchFamily="2" charset="-122"/>
              </a:rPr>
              <a:t>⑥</a:t>
            </a:r>
            <a:r>
              <a:rPr lang="en-US" altLang="zh-CN" b="1" dirty="0">
                <a:solidFill>
                  <a:schemeClr val="folHlink"/>
                </a:solidFill>
                <a:latin typeface="宋体" panose="02010600030101010101" pitchFamily="2" charset="-122"/>
              </a:rPr>
              <a:t>- + + -</a:t>
            </a:r>
            <a:endParaRPr lang="en-US" altLang="zh-CN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4284580" y="3519507"/>
            <a:ext cx="205740" cy="685800"/>
          </a:xfrm>
          <a:prstGeom prst="rightBrace">
            <a:avLst>
              <a:gd name="adj1" fmla="val 27778"/>
              <a:gd name="adj2" fmla="val 50000"/>
            </a:avLst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20"/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071023" y="3691591"/>
            <a:ext cx="3017520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20" b="1" dirty="0">
                <a:solidFill>
                  <a:srgbClr val="FFCCCC"/>
                </a:solidFill>
                <a:latin typeface="Times New Roman" panose="02020603050405020304" pitchFamily="18" charset="0"/>
              </a:rPr>
              <a:t>            </a:t>
            </a:r>
            <a:r>
              <a:rPr lang="zh-CN" altLang="en-US" sz="1620" b="1" dirty="0">
                <a:latin typeface="Times New Roman" panose="02020603050405020304" pitchFamily="18" charset="0"/>
              </a:rPr>
              <a:t>第一次分裂分离</a:t>
            </a:r>
            <a:endParaRPr lang="zh-CN" altLang="en-US" sz="1620" b="1" dirty="0">
              <a:latin typeface="Times New Roman" panose="02020603050405020304" pitchFamily="18" charset="0"/>
            </a:endParaRPr>
          </a:p>
        </p:txBody>
      </p:sp>
      <p:sp>
        <p:nvSpPr>
          <p:cNvPr id="11" name="AutoShape 6"/>
          <p:cNvSpPr/>
          <p:nvPr/>
        </p:nvSpPr>
        <p:spPr bwMode="auto">
          <a:xfrm>
            <a:off x="4284461" y="4604548"/>
            <a:ext cx="274320" cy="1677353"/>
          </a:xfrm>
          <a:prstGeom prst="rightBrace">
            <a:avLst>
              <a:gd name="adj1" fmla="val 50955"/>
              <a:gd name="adj2" fmla="val 50000"/>
            </a:avLst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 sz="1620" b="1">
              <a:solidFill>
                <a:srgbClr val="FFFF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071023" y="5272408"/>
            <a:ext cx="3086100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20" b="1" dirty="0">
                <a:solidFill>
                  <a:srgbClr val="FFCCCC"/>
                </a:solidFill>
                <a:latin typeface="Times New Roman" panose="02020603050405020304" pitchFamily="18" charset="0"/>
              </a:rPr>
              <a:t>            </a:t>
            </a:r>
            <a:r>
              <a:rPr lang="zh-CN" altLang="en-US" sz="1620" b="1" dirty="0">
                <a:latin typeface="Times New Roman" panose="02020603050405020304" pitchFamily="18" charset="0"/>
              </a:rPr>
              <a:t>第二次分裂分离</a:t>
            </a:r>
            <a:r>
              <a:rPr lang="zh-CN" altLang="en-US" sz="1620" b="1" dirty="0">
                <a:solidFill>
                  <a:srgbClr val="FFCCCC"/>
                </a:solidFill>
                <a:latin typeface="Times New Roman" panose="02020603050405020304" pitchFamily="18" charset="0"/>
              </a:rPr>
              <a:t> </a:t>
            </a:r>
            <a:endParaRPr lang="zh-CN" altLang="en-US" sz="1620" b="1" dirty="0">
              <a:solidFill>
                <a:srgbClr val="FFCC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565" y="97790"/>
            <a:ext cx="4268470" cy="6664960"/>
          </a:xfr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55" y="0"/>
            <a:ext cx="4403464" cy="686015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13378" y="97771"/>
            <a:ext cx="4326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400" b="1" dirty="0">
                <a:solidFill>
                  <a:srgbClr val="FF0000"/>
                </a:solidFill>
              </a:rPr>
              <a:t>M1</a:t>
            </a:r>
            <a:r>
              <a:rPr lang="zh-CN" altLang="en-US" sz="2400" b="1" dirty="0">
                <a:solidFill>
                  <a:srgbClr val="FF0000"/>
                </a:solidFill>
              </a:rPr>
              <a:t>分离产生非交换型子囊类型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7982352" y="158731"/>
            <a:ext cx="4326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400" b="1" dirty="0">
                <a:solidFill>
                  <a:srgbClr val="FF0000"/>
                </a:solidFill>
              </a:rPr>
              <a:t>M2</a:t>
            </a:r>
            <a:r>
              <a:rPr lang="zh-CN" altLang="en-US" sz="2400" b="1" dirty="0">
                <a:solidFill>
                  <a:srgbClr val="FF0000"/>
                </a:solidFill>
              </a:rPr>
              <a:t>分离产生交换型子囊类型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63944" y="102076"/>
            <a:ext cx="10515600" cy="82825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a typeface="黑体" panose="02010609060101010101" pitchFamily="49" charset="-122"/>
              </a:rPr>
              <a:t>基因与着丝粒重组率的计算</a:t>
            </a:r>
            <a:endParaRPr lang="zh-CN" altLang="en-US" sz="3200" b="1" dirty="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370695" name="Text Box 7"/>
          <p:cNvSpPr txBox="1">
            <a:spLocks noChangeArrowheads="1"/>
          </p:cNvSpPr>
          <p:nvPr/>
        </p:nvSpPr>
        <p:spPr bwMode="auto">
          <a:xfrm>
            <a:off x="969653" y="1866824"/>
            <a:ext cx="3131205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2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∴重组率（</a:t>
            </a:r>
            <a:r>
              <a:rPr lang="en-US" altLang="zh-CN" sz="252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52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52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0696" name="Rectangle 8"/>
          <p:cNvSpPr>
            <a:spLocks noChangeArrowheads="1"/>
          </p:cNvSpPr>
          <p:nvPr/>
        </p:nvSpPr>
        <p:spPr bwMode="auto">
          <a:xfrm>
            <a:off x="2825592" y="556737"/>
            <a:ext cx="5623560" cy="2169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880" b="1" dirty="0"/>
              <a:t>  </a:t>
            </a:r>
            <a:endParaRPr lang="en-US" altLang="zh-CN" sz="2880" b="1" dirty="0">
              <a:solidFill>
                <a:srgbClr val="003366"/>
              </a:solidFill>
            </a:endParaRPr>
          </a:p>
          <a:p>
            <a:pPr>
              <a:spcBef>
                <a:spcPct val="20000"/>
              </a:spcBef>
            </a:pPr>
            <a:endParaRPr lang="en-US" altLang="zh-CN" sz="2880" b="1" dirty="0"/>
          </a:p>
          <a:p>
            <a:pPr>
              <a:spcBef>
                <a:spcPct val="20000"/>
              </a:spcBef>
            </a:pPr>
            <a:r>
              <a:rPr lang="en-US" altLang="zh-CN" sz="2880" b="1" dirty="0"/>
              <a:t>                      </a:t>
            </a:r>
            <a:r>
              <a:rPr lang="zh-CN" altLang="en-US" sz="2520" b="1" dirty="0"/>
              <a:t>交换型子囊数</a:t>
            </a:r>
            <a:r>
              <a:rPr lang="zh-CN" altLang="en-US" sz="2520" b="1" dirty="0">
                <a:sym typeface="Symbol" panose="05050102010706020507" pitchFamily="18" charset="2"/>
              </a:rPr>
              <a:t></a:t>
            </a:r>
            <a:r>
              <a:rPr lang="en-US" altLang="zh-CN" sz="2520" b="1" dirty="0">
                <a:solidFill>
                  <a:srgbClr val="FF0000"/>
                </a:solidFill>
                <a:sym typeface="Symbol" panose="05050102010706020507" pitchFamily="18" charset="2"/>
              </a:rPr>
              <a:t>1/2 </a:t>
            </a:r>
            <a:endParaRPr lang="en-US" altLang="zh-CN" sz="2520" b="1" dirty="0">
              <a:solidFill>
                <a:srgbClr val="FF0000"/>
              </a:solidFill>
            </a:endParaRPr>
          </a:p>
          <a:p>
            <a:pPr>
              <a:spcBef>
                <a:spcPct val="20000"/>
              </a:spcBef>
            </a:pPr>
            <a:r>
              <a:rPr lang="en-US" altLang="zh-CN" sz="2520" b="1" dirty="0"/>
              <a:t>             </a:t>
            </a:r>
            <a:r>
              <a:rPr lang="zh-CN" altLang="en-US" sz="2520" b="1" dirty="0"/>
              <a:t>交换型子囊数</a:t>
            </a:r>
            <a:r>
              <a:rPr lang="en-US" altLang="zh-CN" sz="2520" b="1" dirty="0"/>
              <a:t>+</a:t>
            </a:r>
            <a:r>
              <a:rPr lang="zh-CN" altLang="en-US" sz="2520" b="1" dirty="0"/>
              <a:t>非交换型子囊数</a:t>
            </a:r>
            <a:endParaRPr lang="zh-CN" altLang="en-US" sz="2520" b="1" dirty="0"/>
          </a:p>
          <a:p>
            <a:pPr>
              <a:spcBef>
                <a:spcPct val="20000"/>
              </a:spcBef>
            </a:pPr>
            <a:endParaRPr lang="en-US" altLang="zh-CN" sz="2880" b="1" dirty="0">
              <a:sym typeface="Symbol" panose="05050102010706020507" pitchFamily="18" charset="2"/>
            </a:endParaRPr>
          </a:p>
        </p:txBody>
      </p:sp>
      <p:sp>
        <p:nvSpPr>
          <p:cNvPr id="370697" name="Text Box 9"/>
          <p:cNvSpPr txBox="1">
            <a:spLocks noChangeArrowheads="1"/>
          </p:cNvSpPr>
          <p:nvPr/>
        </p:nvSpPr>
        <p:spPr bwMode="auto">
          <a:xfrm>
            <a:off x="3455597" y="1872952"/>
            <a:ext cx="369012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520" b="1" dirty="0">
                <a:latin typeface="Times New Roman" panose="02020603050405020304" pitchFamily="18" charset="0"/>
              </a:rPr>
              <a:t>=</a:t>
            </a:r>
            <a:endParaRPr lang="en-US" altLang="zh-CN" sz="2520" b="1" dirty="0">
              <a:latin typeface="Times New Roman" panose="02020603050405020304" pitchFamily="18" charset="0"/>
            </a:endParaRPr>
          </a:p>
        </p:txBody>
      </p:sp>
      <p:sp>
        <p:nvSpPr>
          <p:cNvPr id="370698" name="Line 10"/>
          <p:cNvSpPr>
            <a:spLocks noChangeShapeType="1"/>
          </p:cNvSpPr>
          <p:nvPr/>
        </p:nvSpPr>
        <p:spPr bwMode="auto">
          <a:xfrm>
            <a:off x="3901440" y="2136185"/>
            <a:ext cx="438912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20"/>
          </a:p>
        </p:txBody>
      </p:sp>
      <p:sp>
        <p:nvSpPr>
          <p:cNvPr id="370699" name="Text Box 11"/>
          <p:cNvSpPr txBox="1">
            <a:spLocks noChangeArrowheads="1"/>
          </p:cNvSpPr>
          <p:nvPr/>
        </p:nvSpPr>
        <p:spPr bwMode="auto">
          <a:xfrm>
            <a:off x="8202549" y="1830416"/>
            <a:ext cx="184652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80" dirty="0">
                <a:latin typeface="Times New Roman" panose="02020603050405020304" pitchFamily="18" charset="0"/>
                <a:sym typeface="Symbol" panose="05050102010706020507" pitchFamily="18" charset="2"/>
              </a:rPr>
              <a:t>100%</a:t>
            </a:r>
            <a:endParaRPr lang="en-US" altLang="zh-CN" sz="288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35850" y="920242"/>
            <a:ext cx="59554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∵交换型子囊中有半数孢子发生重组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220" y="3324193"/>
            <a:ext cx="118037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例题：一次四分子分析中，发现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9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个子囊对的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lys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基因是非交换型，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个是交换型，那么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lys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与着丝粒间的遗传图距为多少？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19369" y="4468931"/>
            <a:ext cx="5753439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5/(9+5)*100%*½=18%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重组率即为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18%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，遗传图距是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18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标题 214017"/>
          <p:cNvSpPr>
            <a:spLocks noGrp="1"/>
          </p:cNvSpPr>
          <p:nvPr>
            <p:ph type="title"/>
          </p:nvPr>
        </p:nvSpPr>
        <p:spPr>
          <a:xfrm>
            <a:off x="147735" y="27214"/>
            <a:ext cx="7772400" cy="499188"/>
          </a:xfrm>
        </p:spPr>
        <p:txBody>
          <a:bodyPr lIns="92075" tIns="46038" rIns="92075" bIns="46038" anchor="ctr">
            <a:no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二、粗糙链孢霉的连锁分析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4019" name="文本占位符 214018"/>
          <p:cNvSpPr>
            <a:spLocks noGrp="1"/>
          </p:cNvSpPr>
          <p:nvPr>
            <p:ph type="body" idx="1"/>
          </p:nvPr>
        </p:nvSpPr>
        <p:spPr>
          <a:xfrm>
            <a:off x="240044" y="550400"/>
            <a:ext cx="11840794" cy="2612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杂交： 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nic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+ × + 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ade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其中 </a:t>
            </a:r>
            <a:r>
              <a:rPr lang="en-US" altLang="zh-CN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nic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是烟酸依赖型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，要在培养基中添加烟酸才能生长， </a:t>
            </a:r>
            <a:r>
              <a:rPr lang="en-US" altLang="zh-CN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ade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是腺嘌呤依赖型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，要在培养基中添加腺嘌呤才能生长。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一对基因杂交，有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种不同的子囊型，两对基因杂交，有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6×6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36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种不同的子囊型；把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36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种不同的子囊型归纳为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种基本子囊型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1992" t="6652" r="1873" b="7150"/>
          <a:stretch>
            <a:fillRect/>
          </a:stretch>
        </p:blipFill>
        <p:spPr>
          <a:xfrm>
            <a:off x="1425840" y="2789694"/>
            <a:ext cx="9360979" cy="3782743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3124" y="3895371"/>
            <a:ext cx="1216887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形成四分孢子类型可能有三种：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亲二型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parental 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ditype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，简写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PD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种基因型，跟亲代一样，如（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）和（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非亲二型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noparental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ditype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，简写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NPD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种基因型，都跟亲代不一样，是重组型。如（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）和（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0"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四型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tetratype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，简写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种基因型，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种跟亲代一样，如（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）、（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）、（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lum bright="-20000" contrast="40000"/>
          </a:blip>
          <a:stretch>
            <a:fillRect/>
          </a:stretch>
        </p:blipFill>
        <p:spPr>
          <a:xfrm>
            <a:off x="1859267" y="0"/>
            <a:ext cx="8035050" cy="3895371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0314" y="0"/>
            <a:ext cx="4168235" cy="68780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0" y="0"/>
            <a:ext cx="8035050" cy="389537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t="14059" b="39922"/>
          <a:stretch>
            <a:fillRect/>
          </a:stretch>
        </p:blipFill>
        <p:spPr>
          <a:xfrm>
            <a:off x="1373388" y="4205062"/>
            <a:ext cx="6626926" cy="130385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3780066"/>
            <a:ext cx="43636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r>
              <a:rPr lang="en-US" altLang="zh-CN" sz="24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nic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和着丝粒间的重组率：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5707" t="77067" r="3253"/>
          <a:stretch>
            <a:fillRect/>
          </a:stretch>
        </p:blipFill>
        <p:spPr>
          <a:xfrm>
            <a:off x="786243" y="5818605"/>
            <a:ext cx="6810887" cy="73350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-30144" y="5257986"/>
            <a:ext cx="40543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r>
              <a:rPr lang="en-US" altLang="zh-CN" sz="24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ade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和着丝间的重组率：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8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2" y="852989"/>
            <a:ext cx="10805923" cy="265400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47510" y="0"/>
            <a:ext cx="59602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nic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ade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之间有三种可能性可以考虑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38120" y="3668252"/>
            <a:ext cx="2244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如何确定？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4204" y="4655793"/>
            <a:ext cx="114325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400" dirty="0">
                <a:solidFill>
                  <a:srgbClr val="FF0000"/>
                </a:solidFill>
              </a:rPr>
              <a:t>子代中</a:t>
            </a:r>
            <a:r>
              <a:rPr lang="en-US" altLang="zh-CN" sz="2400" dirty="0">
                <a:solidFill>
                  <a:srgbClr val="FF0000"/>
                </a:solidFill>
              </a:rPr>
              <a:t>PD</a:t>
            </a:r>
            <a:r>
              <a:rPr lang="zh-CN" altLang="en-US" sz="2400" dirty="0">
                <a:solidFill>
                  <a:srgbClr val="FF0000"/>
                </a:solidFill>
              </a:rPr>
              <a:t>的数量占比</a:t>
            </a:r>
            <a:r>
              <a:rPr lang="en-US" altLang="zh-CN" sz="2400" dirty="0">
                <a:solidFill>
                  <a:srgbClr val="FF0000"/>
                </a:solidFill>
              </a:rPr>
              <a:t>80.8%</a:t>
            </a:r>
            <a:r>
              <a:rPr lang="zh-CN" altLang="en-US" sz="2400" dirty="0">
                <a:solidFill>
                  <a:srgbClr val="FF0000"/>
                </a:solidFill>
              </a:rPr>
              <a:t>，大于</a:t>
            </a:r>
            <a:r>
              <a:rPr lang="en-US" altLang="zh-CN" sz="2400" dirty="0">
                <a:solidFill>
                  <a:srgbClr val="FF0000"/>
                </a:solidFill>
              </a:rPr>
              <a:t>50%</a:t>
            </a:r>
            <a:r>
              <a:rPr lang="zh-CN" altLang="en-US" sz="2400" dirty="0">
                <a:solidFill>
                  <a:srgbClr val="FF0000"/>
                </a:solidFill>
              </a:rPr>
              <a:t>，说明两个基因不是自由组合。排除第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>
                <a:solidFill>
                  <a:srgbClr val="FF0000"/>
                </a:solidFill>
              </a:rPr>
              <a:t>种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0908" y="3641735"/>
            <a:ext cx="1199018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altLang="zh-CN" sz="2400" dirty="0"/>
              <a:t>·—</a:t>
            </a:r>
            <a:r>
              <a:rPr lang="en-US" altLang="zh-CN" sz="2400" i="1" dirty="0" err="1"/>
              <a:t>nic</a:t>
            </a:r>
            <a:r>
              <a:rPr lang="en-US" altLang="zh-CN" sz="2400" i="1" dirty="0"/>
              <a:t> </a:t>
            </a:r>
            <a:r>
              <a:rPr lang="zh-CN" altLang="en-US" sz="2400" dirty="0"/>
              <a:t>间不发生交换而 </a:t>
            </a:r>
            <a:r>
              <a:rPr lang="en-US" altLang="zh-CN" sz="2400" dirty="0"/>
              <a:t>·—</a:t>
            </a:r>
            <a:r>
              <a:rPr lang="en-US" altLang="zh-CN" sz="2400" i="1" dirty="0" err="1"/>
              <a:t>ade</a:t>
            </a:r>
            <a:r>
              <a:rPr lang="en-US" altLang="zh-CN" sz="2400" i="1" dirty="0"/>
              <a:t> </a:t>
            </a:r>
            <a:r>
              <a:rPr lang="zh-CN" altLang="en-US" sz="2400" dirty="0"/>
              <a:t>间发生交换 （</a:t>
            </a:r>
            <a:r>
              <a:rPr lang="en-US" altLang="zh-CN" sz="2400" dirty="0"/>
              <a:t>M1M2 </a:t>
            </a:r>
            <a:r>
              <a:rPr lang="zh-CN" altLang="en-US" sz="2400" dirty="0"/>
              <a:t>）的子囊数是 </a:t>
            </a:r>
            <a:r>
              <a:rPr lang="en-US" altLang="zh-CN" sz="2400" dirty="0"/>
              <a:t>90/1 000</a:t>
            </a:r>
            <a:r>
              <a:rPr lang="zh-CN" altLang="en-US" sz="2400" dirty="0"/>
              <a:t>，反之是 </a:t>
            </a:r>
            <a:r>
              <a:rPr lang="en-US" altLang="zh-CN" sz="2400" dirty="0"/>
              <a:t>5/1 000</a:t>
            </a:r>
            <a:r>
              <a:rPr lang="zh-CN" altLang="en-US" sz="2400" dirty="0"/>
              <a:t>，两者之比为 </a:t>
            </a:r>
            <a:r>
              <a:rPr lang="en-US" altLang="zh-CN" sz="2400" dirty="0"/>
              <a:t>18∶1</a:t>
            </a:r>
            <a:r>
              <a:rPr lang="zh-CN" altLang="en-US" sz="2400" dirty="0"/>
              <a:t>，远远超过两重组率之比 </a:t>
            </a:r>
            <a:r>
              <a:rPr lang="en-US" altLang="zh-CN" sz="2400" dirty="0"/>
              <a:t>9.30%∶5.05% = 1.84∶1</a:t>
            </a:r>
            <a:r>
              <a:rPr lang="zh-CN" altLang="en-US" sz="2400" dirty="0"/>
              <a:t>。这表明两个基因与着丝粒的交换不是相互独立的，而是密切相关的。</a:t>
            </a:r>
            <a:r>
              <a:rPr lang="zh-CN" altLang="en-US" sz="2400" b="1" dirty="0"/>
              <a:t>可以排除第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种</a:t>
            </a:r>
            <a:endParaRPr lang="en-US" altLang="zh-CN" sz="2400" b="1" dirty="0"/>
          </a:p>
          <a:p>
            <a:pPr marL="342900" lvl="1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altLang="zh-CN" sz="2400" dirty="0"/>
              <a:t>·—</a:t>
            </a:r>
            <a:r>
              <a:rPr lang="en-US" altLang="zh-CN" sz="2400" i="1" dirty="0" err="1"/>
              <a:t>nic</a:t>
            </a:r>
            <a:r>
              <a:rPr lang="en-US" altLang="zh-CN" sz="2400" i="1" dirty="0"/>
              <a:t> </a:t>
            </a:r>
            <a:r>
              <a:rPr lang="zh-CN" altLang="en-US" sz="2400" dirty="0"/>
              <a:t>间发生交换时，大部分时间在</a:t>
            </a:r>
            <a:r>
              <a:rPr lang="en-US" altLang="zh-CN" sz="2400" dirty="0"/>
              <a:t>·—</a:t>
            </a:r>
            <a:r>
              <a:rPr lang="en-US" altLang="zh-CN" sz="2400" i="1" dirty="0" err="1"/>
              <a:t>ade</a:t>
            </a:r>
            <a:r>
              <a:rPr lang="en-US" altLang="zh-CN" sz="2400" dirty="0"/>
              <a:t> </a:t>
            </a:r>
            <a:r>
              <a:rPr lang="zh-CN" altLang="en-US" sz="2400" dirty="0"/>
              <a:t>间也发生交换（</a:t>
            </a:r>
            <a:r>
              <a:rPr lang="en-US" altLang="zh-CN" sz="2400" dirty="0"/>
              <a:t>101 </a:t>
            </a:r>
            <a:r>
              <a:rPr lang="zh-CN" altLang="en-US" sz="2400" dirty="0"/>
              <a:t>次中有 </a:t>
            </a:r>
            <a:r>
              <a:rPr lang="en-US" altLang="zh-CN" sz="2400" dirty="0"/>
              <a:t>96 </a:t>
            </a:r>
            <a:r>
              <a:rPr lang="zh-CN" altLang="en-US" sz="2400" dirty="0"/>
              <a:t>次），提示同一交换既使 </a:t>
            </a:r>
            <a:r>
              <a:rPr lang="en-US" altLang="zh-CN" sz="2400" dirty="0"/>
              <a:t>+/</a:t>
            </a:r>
            <a:r>
              <a:rPr lang="en-US" altLang="zh-CN" sz="2400" i="1" dirty="0" err="1"/>
              <a:t>nic</a:t>
            </a:r>
            <a:r>
              <a:rPr lang="en-US" altLang="zh-CN" sz="2400" i="1" dirty="0"/>
              <a:t> </a:t>
            </a:r>
            <a:r>
              <a:rPr lang="zh-CN" altLang="en-US" sz="2400" dirty="0"/>
              <a:t>在 </a:t>
            </a:r>
            <a:r>
              <a:rPr lang="en-US" altLang="zh-CN" sz="2400" dirty="0"/>
              <a:t>M2 </a:t>
            </a:r>
            <a:r>
              <a:rPr lang="zh-CN" altLang="en-US" sz="2400" dirty="0"/>
              <a:t>分离，也使 </a:t>
            </a:r>
            <a:r>
              <a:rPr lang="en-US" altLang="zh-CN" sz="2400" dirty="0"/>
              <a:t>+/</a:t>
            </a:r>
            <a:r>
              <a:rPr lang="en-US" altLang="zh-CN" sz="2400" i="1" dirty="0" err="1"/>
              <a:t>ade</a:t>
            </a:r>
            <a:r>
              <a:rPr lang="en-US" altLang="zh-CN" sz="2400" dirty="0"/>
              <a:t> </a:t>
            </a:r>
            <a:r>
              <a:rPr lang="zh-CN" altLang="en-US" sz="2400" dirty="0"/>
              <a:t>在 </a:t>
            </a:r>
            <a:r>
              <a:rPr lang="en-US" altLang="zh-CN" sz="2400" dirty="0"/>
              <a:t>M2 </a:t>
            </a:r>
            <a:r>
              <a:rPr lang="zh-CN" altLang="en-US" sz="2400" dirty="0"/>
              <a:t>分离，这</a:t>
            </a:r>
            <a:r>
              <a:rPr lang="zh-CN" altLang="en-US" sz="2400" b="1" dirty="0"/>
              <a:t>证明是第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种连锁关系</a:t>
            </a:r>
            <a:r>
              <a:rPr lang="zh-CN" altLang="en-US" sz="2400" dirty="0"/>
              <a:t>，即 </a:t>
            </a:r>
            <a:r>
              <a:rPr lang="en-US" altLang="zh-CN" sz="2400" i="1" dirty="0" err="1"/>
              <a:t>nic</a:t>
            </a:r>
            <a:r>
              <a:rPr lang="en-US" altLang="zh-CN" sz="2400" dirty="0"/>
              <a:t> </a:t>
            </a:r>
            <a:r>
              <a:rPr lang="zh-CN" altLang="en-US" sz="2400" dirty="0"/>
              <a:t>与 </a:t>
            </a:r>
            <a:r>
              <a:rPr lang="en-US" altLang="zh-CN" sz="2400" i="1" dirty="0" err="1"/>
              <a:t>ade</a:t>
            </a:r>
            <a:r>
              <a:rPr lang="en-US" altLang="zh-CN" sz="2400" dirty="0"/>
              <a:t> </a:t>
            </a:r>
            <a:r>
              <a:rPr lang="zh-CN" altLang="en-US" sz="2400" dirty="0"/>
              <a:t>位于着丝粒的同一侧。</a:t>
            </a:r>
            <a:endParaRPr lang="zh-CN" altLang="en-US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b="1562"/>
          <a:stretch>
            <a:fillRect/>
          </a:stretch>
        </p:blipFill>
        <p:spPr>
          <a:xfrm>
            <a:off x="2229623" y="0"/>
            <a:ext cx="5413091" cy="3641735"/>
          </a:xfrm>
          <a:prstGeom prst="rect">
            <a:avLst/>
          </a:prstGeom>
        </p:spPr>
      </p:pic>
      <p:pic>
        <p:nvPicPr>
          <p:cNvPr id="2" name="内容占位符 8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8513" r="68728"/>
          <a:stretch>
            <a:fillRect/>
          </a:stretch>
        </p:blipFill>
        <p:spPr>
          <a:xfrm>
            <a:off x="8355472" y="1114425"/>
            <a:ext cx="3379328" cy="189726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47691" y="1375336"/>
            <a:ext cx="645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（</a:t>
            </a:r>
            <a:r>
              <a:rPr lang="en-US" altLang="zh-CN" b="1" dirty="0"/>
              <a:t> 2 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7678312" y="2190043"/>
            <a:ext cx="645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（</a:t>
            </a:r>
            <a:r>
              <a:rPr lang="en-US" altLang="zh-CN" b="1" dirty="0"/>
              <a:t> 3 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93589" y="121785"/>
            <a:ext cx="119954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altLang="zh-CN" sz="2400" dirty="0" err="1"/>
              <a:t>nic</a:t>
            </a:r>
            <a:r>
              <a:rPr lang="en-US" altLang="zh-CN" sz="2400" dirty="0"/>
              <a:t>—</a:t>
            </a:r>
            <a:r>
              <a:rPr lang="en-US" altLang="zh-CN" sz="2400" dirty="0" err="1"/>
              <a:t>ade</a:t>
            </a:r>
            <a:r>
              <a:rPr lang="zh-CN" altLang="en-US" sz="2400" dirty="0"/>
              <a:t>之间的重组值</a:t>
            </a:r>
            <a:r>
              <a:rPr lang="en-US" altLang="zh-CN" sz="2400" dirty="0"/>
              <a:t>=9.30% —</a:t>
            </a:r>
            <a:r>
              <a:rPr lang="zh-CN" altLang="en-US" sz="2400" dirty="0"/>
              <a:t> </a:t>
            </a:r>
            <a:r>
              <a:rPr lang="en-US" altLang="zh-CN" sz="2400" dirty="0"/>
              <a:t>5.05%</a:t>
            </a:r>
            <a:r>
              <a:rPr lang="zh-CN" altLang="en-US" sz="2400" dirty="0"/>
              <a:t>？</a:t>
            </a:r>
            <a:endParaRPr lang="en-US" altLang="zh-CN" sz="2400" dirty="0"/>
          </a:p>
        </p:txBody>
      </p:sp>
      <p:pic>
        <p:nvPicPr>
          <p:cNvPr id="3" name="内容占位符 6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950" y="788585"/>
            <a:ext cx="5259836" cy="175531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535384" y="119087"/>
            <a:ext cx="39574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31B0B"/>
                </a:solidFill>
              </a:rPr>
              <a:t>NO</a:t>
            </a:r>
            <a:r>
              <a:rPr lang="zh-CN" altLang="en-US" sz="2400" b="1" dirty="0">
                <a:solidFill>
                  <a:srgbClr val="F31B0B"/>
                </a:solidFill>
              </a:rPr>
              <a:t>！因为存在双交换。</a:t>
            </a:r>
            <a:endParaRPr lang="zh-CN" altLang="en-US" sz="2400" b="1" dirty="0">
              <a:solidFill>
                <a:srgbClr val="F31B0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3587" y="2778529"/>
            <a:ext cx="119954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非亲二型（</a:t>
            </a:r>
            <a:r>
              <a:rPr lang="en-US" altLang="zh-CN" sz="2400" dirty="0"/>
              <a:t>NPD</a:t>
            </a:r>
            <a:r>
              <a:rPr lang="zh-CN" altLang="en-US" sz="2400" dirty="0"/>
              <a:t>）子囊中，</a:t>
            </a:r>
            <a:r>
              <a:rPr lang="en-US" altLang="zh-CN" sz="2400" dirty="0"/>
              <a:t>4 </a:t>
            </a:r>
            <a:r>
              <a:rPr lang="zh-CN" altLang="en-US" sz="2400" dirty="0"/>
              <a:t>个孢子对全部都是重组基因型，而四型（</a:t>
            </a:r>
            <a:r>
              <a:rPr lang="en-US" altLang="zh-CN" sz="2400" dirty="0"/>
              <a:t>T</a:t>
            </a:r>
            <a:r>
              <a:rPr lang="zh-CN" altLang="en-US" sz="2400" dirty="0"/>
              <a:t>）子囊中，有一半孢子对是重组基因型，所以</a:t>
            </a:r>
            <a:r>
              <a:rPr lang="en-US" altLang="zh-CN" sz="2400" dirty="0" err="1"/>
              <a:t>nic</a:t>
            </a:r>
            <a:r>
              <a:rPr lang="en-US" altLang="zh-CN" sz="2400" dirty="0"/>
              <a:t>—</a:t>
            </a:r>
            <a:r>
              <a:rPr lang="en-US" altLang="zh-CN" sz="2400" dirty="0" err="1"/>
              <a:t>ade</a:t>
            </a:r>
            <a:r>
              <a:rPr lang="en-US" altLang="zh-CN" sz="2400" dirty="0"/>
              <a:t> </a:t>
            </a:r>
            <a:r>
              <a:rPr lang="zh-CN" altLang="en-US" sz="2400" dirty="0"/>
              <a:t>间的重组率计算如下：</a:t>
            </a:r>
            <a:endParaRPr lang="en-US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93587" y="3919773"/>
            <a:ext cx="7252242" cy="1518103"/>
          </a:xfrm>
          <a:prstGeom prst="rect">
            <a:avLst/>
          </a:prstGeom>
        </p:spPr>
      </p:pic>
      <p:pic>
        <p:nvPicPr>
          <p:cNvPr id="7" name="内容占位符 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9895" y="4078795"/>
            <a:ext cx="4612105" cy="1132294"/>
          </a:xfrm>
          <a:prstGeom prst="rect">
            <a:avLst/>
          </a:prstGeom>
        </p:spPr>
      </p:pic>
      <p:pic>
        <p:nvPicPr>
          <p:cNvPr id="8" name="内容占位符 8"/>
          <p:cNvPicPr>
            <a:picLocks noChangeAspect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0862" r="68157"/>
          <a:stretch>
            <a:fillRect/>
          </a:stretch>
        </p:blipFill>
        <p:spPr>
          <a:xfrm>
            <a:off x="434415" y="773054"/>
            <a:ext cx="3440908" cy="10387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20161"/>
          <p:cNvSpPr>
            <a:spLocks noGrp="1"/>
          </p:cNvSpPr>
          <p:nvPr>
            <p:ph type="title"/>
          </p:nvPr>
        </p:nvSpPr>
        <p:spPr>
          <a:xfrm>
            <a:off x="1110343" y="211041"/>
            <a:ext cx="10730204" cy="685800"/>
          </a:xfrm>
        </p:spPr>
        <p:txBody>
          <a:bodyPr lIns="92075" tIns="46038" rIns="92075" bIns="46038" anchor="ctr">
            <a:normAutofit fontScale="90000"/>
          </a:bodyPr>
          <a:lstStyle/>
          <a:p>
            <a:r>
              <a:rPr lang="zh-CN" altLang="en-US" sz="4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第五节 连锁分析与人类基因的诊断和定位</a:t>
            </a:r>
            <a:endParaRPr lang="zh-CN" altLang="en-US" sz="4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8640" y="1030292"/>
            <a:ext cx="113680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	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利用模式生物介绍了不同基因对之间的连锁关系，以及如何利用连锁分析计算不同基因对之间的遗传距离的方法。对于模式生物研究时，常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采用性状标记（如果蝇复眼的颜色，粗糙链孢霉的营养缺陷型）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来进行连锁分析，通过人为设计的杂交方案进行杂交，分析后代表型。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3256964"/>
            <a:ext cx="113680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	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对于人类而言，一方面，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我们不能采用指定婚配的方法，而且可供追踪的家系的数目和大小也非常有限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，另一方面，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人类有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23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对染色体，已知性状标记在基因组中覆盖度极低，很难仅利用它们实现人类的连锁分析。</a:t>
            </a:r>
            <a:endParaRPr lang="zh-CN" altLang="en-US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4172" y="140078"/>
            <a:ext cx="12114962" cy="12867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一、限制性片段长度多肽性</a:t>
            </a:r>
            <a:b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restriction fragment length polymorphism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RFLP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b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323556" y="1191806"/>
            <a:ext cx="11503354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latin typeface="黑体" panose="02010609060101010101" pitchFamily="49" charset="-122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是第一代分子遗传标记</a:t>
            </a:r>
            <a:r>
              <a:rPr lang="zh-CN" altLang="en-US" dirty="0">
                <a:latin typeface="黑体" panose="02010609060101010101" pitchFamily="49" charset="-122"/>
              </a:rPr>
              <a:t>，由限制性内切酶把很大的</a:t>
            </a:r>
            <a:r>
              <a:rPr lang="en-US" altLang="zh-CN" dirty="0">
                <a:latin typeface="黑体" panose="02010609060101010101" pitchFamily="49" charset="-122"/>
              </a:rPr>
              <a:t>DNA</a:t>
            </a:r>
            <a:r>
              <a:rPr lang="zh-CN" altLang="en-US" dirty="0">
                <a:latin typeface="黑体" panose="02010609060101010101" pitchFamily="49" charset="-122"/>
              </a:rPr>
              <a:t>分子降解成许多长短不同的较小片段，其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数目和长度反映了限制性内切酶的切点在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</a:rPr>
              <a:t>DNA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分子上的分布</a:t>
            </a:r>
            <a:r>
              <a:rPr lang="zh-CN" altLang="en-US" dirty="0">
                <a:latin typeface="黑体" panose="02010609060101010101" pitchFamily="49" charset="-122"/>
              </a:rPr>
              <a:t>，它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能作为某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</a:rPr>
              <a:t>DNA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或含这种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</a:rPr>
              <a:t>DNA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生物所特有的“指纹”</a:t>
            </a:r>
            <a:r>
              <a:rPr lang="zh-CN" altLang="en-US" dirty="0">
                <a:latin typeface="黑体" panose="02010609060101010101" pitchFamily="49" charset="-122"/>
              </a:rPr>
              <a:t>，不同个体的等位基因之间碱基代换、重排、插入、缺失等都会引起这种“指纹”的多态性。</a:t>
            </a:r>
            <a:endParaRPr lang="zh-CN" altLang="en-US" dirty="0">
              <a:latin typeface="黑体" panose="02010609060101010101" pitchFamily="49" charset="-122"/>
            </a:endParaRPr>
          </a:p>
          <a:p>
            <a:r>
              <a:rPr lang="zh-CN" altLang="en-US" dirty="0">
                <a:latin typeface="黑体" panose="02010609060101010101" pitchFamily="49" charset="-122"/>
              </a:rPr>
              <a:t>    对于复杂的真核基因，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要检测限制性片段长度多态性必须借助于放射性同位素(通常用</a:t>
            </a:r>
            <a:r>
              <a:rPr lang="zh-CN" altLang="en-US" baseline="30000" dirty="0">
                <a:solidFill>
                  <a:srgbClr val="FF0000"/>
                </a:solidFill>
                <a:latin typeface="黑体" panose="02010609060101010101" pitchFamily="49" charset="-122"/>
              </a:rPr>
              <a:t>32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</a:rPr>
              <a:t>p)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或非放射性物质(如地高辛等)标记的探针</a:t>
            </a:r>
            <a:r>
              <a:rPr lang="zh-CN" altLang="en-US" dirty="0">
                <a:latin typeface="黑体" panose="02010609060101010101" pitchFamily="49" charset="-122"/>
              </a:rPr>
              <a:t>,与经限制性内切酶消化的基因组</a:t>
            </a:r>
            <a:r>
              <a:rPr lang="en-US" altLang="zh-CN" dirty="0">
                <a:latin typeface="黑体" panose="02010609060101010101" pitchFamily="49" charset="-122"/>
              </a:rPr>
              <a:t>DNA</a:t>
            </a:r>
            <a:r>
              <a:rPr lang="zh-CN" altLang="en-US" dirty="0">
                <a:latin typeface="黑体" panose="02010609060101010101" pitchFamily="49" charset="-122"/>
              </a:rPr>
              <a:t>杂交,再通过电泳显示限制性酶切片段的大小来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检测不同遗传位点的等位变异(多态性)</a:t>
            </a:r>
            <a:r>
              <a:rPr lang="zh-CN" altLang="en-US" dirty="0">
                <a:latin typeface="黑体" panose="02010609060101010101" pitchFamily="49" charset="-122"/>
              </a:rPr>
              <a:t>。</a:t>
            </a:r>
            <a:endParaRPr lang="zh-CN" altLang="en-US" dirty="0">
              <a:latin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416719" y="342901"/>
            <a:ext cx="5638800" cy="53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例1：人的</a:t>
            </a:r>
            <a:r>
              <a:rPr lang="en-US" altLang="zh-CN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RFLP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指纹分析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8788" name="Text Box 1028"/>
          <p:cNvSpPr txBox="1">
            <a:spLocks noChangeArrowheads="1"/>
          </p:cNvSpPr>
          <p:nvPr/>
        </p:nvSpPr>
        <p:spPr bwMode="auto">
          <a:xfrm>
            <a:off x="541221" y="836115"/>
            <a:ext cx="5062654" cy="4823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800000"/>
                </a:solidFill>
              </a:rPr>
              <a:t>    </a:t>
            </a:r>
            <a:r>
              <a:rPr lang="en-US" altLang="zh-CN" sz="2000" dirty="0">
                <a:solidFill>
                  <a:srgbClr val="800000"/>
                </a:solidFill>
              </a:rPr>
              <a:t>	</a:t>
            </a:r>
            <a:r>
              <a:rPr lang="en-US" altLang="zh-CN" dirty="0"/>
              <a:t>A</a:t>
            </a:r>
            <a:r>
              <a:rPr lang="zh-CN" altLang="en-US" dirty="0"/>
              <a:t>为父亲的</a:t>
            </a:r>
            <a:r>
              <a:rPr lang="en-US" altLang="zh-CN" dirty="0"/>
              <a:t>DNA</a:t>
            </a:r>
            <a:r>
              <a:rPr lang="zh-CN" altLang="en-US" dirty="0"/>
              <a:t>指纹图谱，</a:t>
            </a:r>
            <a:r>
              <a:rPr lang="en-US" altLang="zh-CN" dirty="0"/>
              <a:t>B</a:t>
            </a:r>
            <a:r>
              <a:rPr lang="zh-CN" altLang="en-US" dirty="0"/>
              <a:t>为母亲的</a:t>
            </a:r>
            <a:r>
              <a:rPr lang="en-US" altLang="zh-CN" dirty="0"/>
              <a:t>DNA</a:t>
            </a:r>
            <a:r>
              <a:rPr lang="zh-CN" altLang="en-US" dirty="0"/>
              <a:t>指纹图谱，</a:t>
            </a:r>
            <a:r>
              <a:rPr lang="en-US" altLang="zh-CN" dirty="0"/>
              <a:t>C</a:t>
            </a:r>
            <a:r>
              <a:rPr lang="zh-CN" altLang="en-US" dirty="0"/>
              <a:t>为子</a:t>
            </a:r>
            <a:r>
              <a:rPr lang="en-US" altLang="zh-CN" dirty="0"/>
              <a:t>/</a:t>
            </a:r>
            <a:r>
              <a:rPr lang="zh-CN" altLang="en-US" dirty="0"/>
              <a:t>女可能出现的</a:t>
            </a:r>
            <a:r>
              <a:rPr lang="en-US" altLang="zh-CN" dirty="0"/>
              <a:t>DNA</a:t>
            </a:r>
            <a:r>
              <a:rPr lang="zh-CN" altLang="en-US" dirty="0"/>
              <a:t>指纹图谱。图左、右两侧的箭头表示子女</a:t>
            </a:r>
            <a:r>
              <a:rPr lang="en-US" altLang="zh-CN" dirty="0"/>
              <a:t>DNA</a:t>
            </a:r>
            <a:r>
              <a:rPr lang="zh-CN" altLang="en-US" dirty="0"/>
              <a:t>指纹图中分别与其父、母的</a:t>
            </a:r>
            <a:r>
              <a:rPr lang="en-US" altLang="zh-CN" dirty="0"/>
              <a:t>DNA</a:t>
            </a:r>
            <a:r>
              <a:rPr lang="zh-CN" altLang="en-US" dirty="0"/>
              <a:t>指纹图谱中相对应的分子杂交条带。</a:t>
            </a:r>
            <a:endParaRPr lang="zh-CN" altLang="en-US" dirty="0"/>
          </a:p>
        </p:txBody>
      </p:sp>
      <p:grpSp>
        <p:nvGrpSpPr>
          <p:cNvPr id="2" name="Group 1029"/>
          <p:cNvGrpSpPr/>
          <p:nvPr/>
        </p:nvGrpSpPr>
        <p:grpSpPr bwMode="auto">
          <a:xfrm>
            <a:off x="6096000" y="304801"/>
            <a:ext cx="4191000" cy="6543675"/>
            <a:chOff x="2880" y="192"/>
            <a:chExt cx="2640" cy="4122"/>
          </a:xfrm>
        </p:grpSpPr>
        <p:grpSp>
          <p:nvGrpSpPr>
            <p:cNvPr id="175109" name="Group 1030"/>
            <p:cNvGrpSpPr/>
            <p:nvPr/>
          </p:nvGrpSpPr>
          <p:grpSpPr bwMode="auto">
            <a:xfrm>
              <a:off x="2880" y="384"/>
              <a:ext cx="2640" cy="3930"/>
              <a:chOff x="2880" y="384"/>
              <a:chExt cx="2640" cy="3930"/>
            </a:xfrm>
          </p:grpSpPr>
          <p:grpSp>
            <p:nvGrpSpPr>
              <p:cNvPr id="175111" name="Group 1031"/>
              <p:cNvGrpSpPr/>
              <p:nvPr/>
            </p:nvGrpSpPr>
            <p:grpSpPr bwMode="auto">
              <a:xfrm>
                <a:off x="4656" y="3933"/>
                <a:ext cx="432" cy="381"/>
                <a:chOff x="3312" y="3981"/>
                <a:chExt cx="432" cy="381"/>
              </a:xfrm>
            </p:grpSpPr>
            <p:sp>
              <p:nvSpPr>
                <p:cNvPr id="175160" name="Oval 1032"/>
                <p:cNvSpPr>
                  <a:spLocks noChangeArrowheads="1"/>
                </p:cNvSpPr>
                <p:nvPr/>
              </p:nvSpPr>
              <p:spPr bwMode="auto">
                <a:xfrm>
                  <a:off x="3456" y="3981"/>
                  <a:ext cx="144" cy="144"/>
                </a:xfrm>
                <a:prstGeom prst="ellipse">
                  <a:avLst/>
                </a:prstGeom>
                <a:solidFill>
                  <a:schemeClr val="bg1"/>
                </a:solidFill>
                <a:ln w="222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75161" name="Text Box 1033"/>
                <p:cNvSpPr txBox="1">
                  <a:spLocks noChangeArrowheads="1"/>
                </p:cNvSpPr>
                <p:nvPr/>
              </p:nvSpPr>
              <p:spPr bwMode="auto">
                <a:xfrm>
                  <a:off x="3312" y="4032"/>
                  <a:ext cx="432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</a:pPr>
                  <a:r>
                    <a:rPr lang="zh-CN" altLang="en-US" dirty="0"/>
                    <a:t>＋</a:t>
                  </a:r>
                  <a:endParaRPr lang="zh-CN" altLang="en-US" dirty="0"/>
                </a:p>
              </p:txBody>
            </p:sp>
          </p:grpSp>
          <p:grpSp>
            <p:nvGrpSpPr>
              <p:cNvPr id="175112" name="Group 1034"/>
              <p:cNvGrpSpPr/>
              <p:nvPr/>
            </p:nvGrpSpPr>
            <p:grpSpPr bwMode="auto">
              <a:xfrm>
                <a:off x="3504" y="3936"/>
                <a:ext cx="288" cy="288"/>
                <a:chOff x="816" y="3888"/>
                <a:chExt cx="288" cy="288"/>
              </a:xfrm>
            </p:grpSpPr>
            <p:sp>
              <p:nvSpPr>
                <p:cNvPr id="175158" name="Oval 1035"/>
                <p:cNvSpPr>
                  <a:spLocks noChangeArrowheads="1"/>
                </p:cNvSpPr>
                <p:nvPr/>
              </p:nvSpPr>
              <p:spPr bwMode="auto">
                <a:xfrm>
                  <a:off x="816" y="4032"/>
                  <a:ext cx="192" cy="144"/>
                </a:xfrm>
                <a:prstGeom prst="ellipse">
                  <a:avLst/>
                </a:prstGeom>
                <a:solidFill>
                  <a:schemeClr val="bg1"/>
                </a:solidFill>
                <a:ln w="222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75159" name="Line 1036"/>
                <p:cNvSpPr>
                  <a:spLocks noChangeShapeType="1"/>
                </p:cNvSpPr>
                <p:nvPr/>
              </p:nvSpPr>
              <p:spPr bwMode="auto">
                <a:xfrm flipV="1">
                  <a:off x="917" y="3888"/>
                  <a:ext cx="187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5113" name="Text Box 1037"/>
              <p:cNvSpPr txBox="1">
                <a:spLocks noChangeArrowheads="1"/>
              </p:cNvSpPr>
              <p:nvPr/>
            </p:nvSpPr>
            <p:spPr bwMode="auto">
              <a:xfrm>
                <a:off x="4080" y="3888"/>
                <a:ext cx="43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>
                    <a:solidFill>
                      <a:srgbClr val="800000"/>
                    </a:solidFill>
                  </a:rPr>
                  <a:t>F</a:t>
                </a:r>
                <a:r>
                  <a:rPr lang="en-US" altLang="zh-CN" baseline="-25000">
                    <a:solidFill>
                      <a:srgbClr val="800000"/>
                    </a:solidFill>
                  </a:rPr>
                  <a:t>1</a:t>
                </a:r>
                <a:endParaRPr lang="en-US" altLang="zh-CN" baseline="-25000">
                  <a:solidFill>
                    <a:srgbClr val="800000"/>
                  </a:solidFill>
                </a:endParaRPr>
              </a:p>
            </p:txBody>
          </p:sp>
          <p:sp>
            <p:nvSpPr>
              <p:cNvPr id="175114" name="Rectangle 1038"/>
              <p:cNvSpPr>
                <a:spLocks noChangeArrowheads="1"/>
              </p:cNvSpPr>
              <p:nvPr/>
            </p:nvSpPr>
            <p:spPr bwMode="auto">
              <a:xfrm>
                <a:off x="3139" y="384"/>
                <a:ext cx="2122" cy="3504"/>
              </a:xfrm>
              <a:prstGeom prst="rect">
                <a:avLst/>
              </a:prstGeom>
              <a:solidFill>
                <a:srgbClr val="9191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75115" name="Line 1039"/>
              <p:cNvSpPr>
                <a:spLocks noChangeShapeType="1"/>
              </p:cNvSpPr>
              <p:nvPr/>
            </p:nvSpPr>
            <p:spPr bwMode="auto">
              <a:xfrm>
                <a:off x="3398" y="654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16" name="Line 1040"/>
              <p:cNvSpPr>
                <a:spLocks noChangeShapeType="1"/>
              </p:cNvSpPr>
              <p:nvPr/>
            </p:nvSpPr>
            <p:spPr bwMode="auto">
              <a:xfrm>
                <a:off x="3967" y="743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17" name="Line 1041"/>
              <p:cNvSpPr>
                <a:spLocks noChangeShapeType="1"/>
              </p:cNvSpPr>
              <p:nvPr/>
            </p:nvSpPr>
            <p:spPr bwMode="auto">
              <a:xfrm>
                <a:off x="4536" y="743"/>
                <a:ext cx="363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18" name="Line 1042"/>
              <p:cNvSpPr>
                <a:spLocks noChangeShapeType="1"/>
              </p:cNvSpPr>
              <p:nvPr/>
            </p:nvSpPr>
            <p:spPr bwMode="auto">
              <a:xfrm>
                <a:off x="3398" y="1777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19" name="Line 1043"/>
              <p:cNvSpPr>
                <a:spLocks noChangeShapeType="1"/>
              </p:cNvSpPr>
              <p:nvPr/>
            </p:nvSpPr>
            <p:spPr bwMode="auto">
              <a:xfrm>
                <a:off x="3967" y="1238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0" name="Line 1044"/>
              <p:cNvSpPr>
                <a:spLocks noChangeShapeType="1"/>
              </p:cNvSpPr>
              <p:nvPr/>
            </p:nvSpPr>
            <p:spPr bwMode="auto">
              <a:xfrm>
                <a:off x="3967" y="1148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1" name="Line 1045"/>
              <p:cNvSpPr>
                <a:spLocks noChangeShapeType="1"/>
              </p:cNvSpPr>
              <p:nvPr/>
            </p:nvSpPr>
            <p:spPr bwMode="auto">
              <a:xfrm>
                <a:off x="3398" y="1013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2" name="Line 1046"/>
              <p:cNvSpPr>
                <a:spLocks noChangeShapeType="1"/>
              </p:cNvSpPr>
              <p:nvPr/>
            </p:nvSpPr>
            <p:spPr bwMode="auto">
              <a:xfrm>
                <a:off x="3398" y="1148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3" name="Line 1047"/>
              <p:cNvSpPr>
                <a:spLocks noChangeShapeType="1"/>
              </p:cNvSpPr>
              <p:nvPr/>
            </p:nvSpPr>
            <p:spPr bwMode="auto">
              <a:xfrm>
                <a:off x="3398" y="1238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4" name="Line 1048"/>
              <p:cNvSpPr>
                <a:spLocks noChangeShapeType="1"/>
              </p:cNvSpPr>
              <p:nvPr/>
            </p:nvSpPr>
            <p:spPr bwMode="auto">
              <a:xfrm>
                <a:off x="3398" y="1687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5" name="Line 1049"/>
              <p:cNvSpPr>
                <a:spLocks noChangeShapeType="1"/>
              </p:cNvSpPr>
              <p:nvPr/>
            </p:nvSpPr>
            <p:spPr bwMode="auto">
              <a:xfrm>
                <a:off x="3398" y="2046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6" name="Line 1050"/>
              <p:cNvSpPr>
                <a:spLocks noChangeShapeType="1"/>
              </p:cNvSpPr>
              <p:nvPr/>
            </p:nvSpPr>
            <p:spPr bwMode="auto">
              <a:xfrm>
                <a:off x="3398" y="2271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7" name="Line 1051"/>
              <p:cNvSpPr>
                <a:spLocks noChangeShapeType="1"/>
              </p:cNvSpPr>
              <p:nvPr/>
            </p:nvSpPr>
            <p:spPr bwMode="auto">
              <a:xfrm>
                <a:off x="3398" y="2855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8" name="Line 1052"/>
              <p:cNvSpPr>
                <a:spLocks noChangeShapeType="1"/>
              </p:cNvSpPr>
              <p:nvPr/>
            </p:nvSpPr>
            <p:spPr bwMode="auto">
              <a:xfrm>
                <a:off x="3398" y="3439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29" name="Line 1053"/>
              <p:cNvSpPr>
                <a:spLocks noChangeShapeType="1"/>
              </p:cNvSpPr>
              <p:nvPr/>
            </p:nvSpPr>
            <p:spPr bwMode="auto">
              <a:xfrm>
                <a:off x="3967" y="1777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0" name="Line 1054"/>
              <p:cNvSpPr>
                <a:spLocks noChangeShapeType="1"/>
              </p:cNvSpPr>
              <p:nvPr/>
            </p:nvSpPr>
            <p:spPr bwMode="auto">
              <a:xfrm>
                <a:off x="4536" y="788"/>
                <a:ext cx="363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1" name="Line 1055"/>
              <p:cNvSpPr>
                <a:spLocks noChangeShapeType="1"/>
              </p:cNvSpPr>
              <p:nvPr/>
            </p:nvSpPr>
            <p:spPr bwMode="auto">
              <a:xfrm>
                <a:off x="3967" y="2271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2" name="Line 1056"/>
              <p:cNvSpPr>
                <a:spLocks noChangeShapeType="1"/>
              </p:cNvSpPr>
              <p:nvPr/>
            </p:nvSpPr>
            <p:spPr bwMode="auto">
              <a:xfrm>
                <a:off x="3967" y="2450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3" name="Line 1057"/>
              <p:cNvSpPr>
                <a:spLocks noChangeShapeType="1"/>
              </p:cNvSpPr>
              <p:nvPr/>
            </p:nvSpPr>
            <p:spPr bwMode="auto">
              <a:xfrm>
                <a:off x="3967" y="2855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4" name="Line 1058"/>
              <p:cNvSpPr>
                <a:spLocks noChangeShapeType="1"/>
              </p:cNvSpPr>
              <p:nvPr/>
            </p:nvSpPr>
            <p:spPr bwMode="auto">
              <a:xfrm>
                <a:off x="3967" y="2945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5" name="Line 1059"/>
              <p:cNvSpPr>
                <a:spLocks noChangeShapeType="1"/>
              </p:cNvSpPr>
              <p:nvPr/>
            </p:nvSpPr>
            <p:spPr bwMode="auto">
              <a:xfrm>
                <a:off x="3967" y="3259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6" name="Line 1060"/>
              <p:cNvSpPr>
                <a:spLocks noChangeShapeType="1"/>
              </p:cNvSpPr>
              <p:nvPr/>
            </p:nvSpPr>
            <p:spPr bwMode="auto">
              <a:xfrm>
                <a:off x="3967" y="3529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7" name="Line 1061"/>
              <p:cNvSpPr>
                <a:spLocks noChangeShapeType="1"/>
              </p:cNvSpPr>
              <p:nvPr/>
            </p:nvSpPr>
            <p:spPr bwMode="auto">
              <a:xfrm>
                <a:off x="4536" y="1193"/>
                <a:ext cx="363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8" name="Line 1062"/>
              <p:cNvSpPr>
                <a:spLocks noChangeShapeType="1"/>
              </p:cNvSpPr>
              <p:nvPr/>
            </p:nvSpPr>
            <p:spPr bwMode="auto">
              <a:xfrm>
                <a:off x="4536" y="1372"/>
                <a:ext cx="363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39" name="Line 1063"/>
              <p:cNvSpPr>
                <a:spLocks noChangeShapeType="1"/>
              </p:cNvSpPr>
              <p:nvPr/>
            </p:nvSpPr>
            <p:spPr bwMode="auto">
              <a:xfrm>
                <a:off x="4536" y="1507"/>
                <a:ext cx="363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40" name="Line 1064"/>
              <p:cNvSpPr>
                <a:spLocks noChangeShapeType="1"/>
              </p:cNvSpPr>
              <p:nvPr/>
            </p:nvSpPr>
            <p:spPr bwMode="auto">
              <a:xfrm>
                <a:off x="4588" y="2181"/>
                <a:ext cx="363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41" name="Line 1065"/>
              <p:cNvSpPr>
                <a:spLocks noChangeShapeType="1"/>
              </p:cNvSpPr>
              <p:nvPr/>
            </p:nvSpPr>
            <p:spPr bwMode="auto">
              <a:xfrm>
                <a:off x="4588" y="2450"/>
                <a:ext cx="363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42" name="Line 1066"/>
              <p:cNvSpPr>
                <a:spLocks noChangeShapeType="1"/>
              </p:cNvSpPr>
              <p:nvPr/>
            </p:nvSpPr>
            <p:spPr bwMode="auto">
              <a:xfrm>
                <a:off x="4588" y="2945"/>
                <a:ext cx="363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43" name="Line 1067"/>
              <p:cNvSpPr>
                <a:spLocks noChangeShapeType="1"/>
              </p:cNvSpPr>
              <p:nvPr/>
            </p:nvSpPr>
            <p:spPr bwMode="auto">
              <a:xfrm>
                <a:off x="4588" y="3124"/>
                <a:ext cx="363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44" name="Line 1068"/>
              <p:cNvSpPr>
                <a:spLocks noChangeShapeType="1"/>
              </p:cNvSpPr>
              <p:nvPr/>
            </p:nvSpPr>
            <p:spPr bwMode="auto">
              <a:xfrm>
                <a:off x="4588" y="3259"/>
                <a:ext cx="363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45" name="Line 1069"/>
              <p:cNvSpPr>
                <a:spLocks noChangeShapeType="1"/>
              </p:cNvSpPr>
              <p:nvPr/>
            </p:nvSpPr>
            <p:spPr bwMode="auto">
              <a:xfrm>
                <a:off x="4588" y="3529"/>
                <a:ext cx="363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46" name="Line 1070"/>
              <p:cNvSpPr>
                <a:spLocks noChangeShapeType="1"/>
              </p:cNvSpPr>
              <p:nvPr/>
            </p:nvSpPr>
            <p:spPr bwMode="auto">
              <a:xfrm>
                <a:off x="3967" y="1372"/>
                <a:ext cx="362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47" name="Line 1071"/>
              <p:cNvSpPr>
                <a:spLocks noChangeShapeType="1"/>
              </p:cNvSpPr>
              <p:nvPr/>
            </p:nvSpPr>
            <p:spPr bwMode="auto">
              <a:xfrm flipH="1">
                <a:off x="5261" y="743"/>
                <a:ext cx="259" cy="0"/>
              </a:xfrm>
              <a:prstGeom prst="line">
                <a:avLst/>
              </a:prstGeom>
              <a:noFill/>
              <a:ln w="38100">
                <a:solidFill>
                  <a:srgbClr val="CC3399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48" name="Line 1072"/>
              <p:cNvSpPr>
                <a:spLocks noChangeShapeType="1"/>
              </p:cNvSpPr>
              <p:nvPr/>
            </p:nvSpPr>
            <p:spPr bwMode="auto">
              <a:xfrm flipH="1">
                <a:off x="5261" y="1372"/>
                <a:ext cx="259" cy="0"/>
              </a:xfrm>
              <a:prstGeom prst="line">
                <a:avLst/>
              </a:prstGeom>
              <a:noFill/>
              <a:ln w="38100">
                <a:solidFill>
                  <a:srgbClr val="CC3399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49" name="Line 1073"/>
              <p:cNvSpPr>
                <a:spLocks noChangeShapeType="1"/>
              </p:cNvSpPr>
              <p:nvPr/>
            </p:nvSpPr>
            <p:spPr bwMode="auto">
              <a:xfrm flipH="1">
                <a:off x="5261" y="3529"/>
                <a:ext cx="259" cy="0"/>
              </a:xfrm>
              <a:prstGeom prst="line">
                <a:avLst/>
              </a:prstGeom>
              <a:noFill/>
              <a:ln w="38100">
                <a:solidFill>
                  <a:srgbClr val="CC3399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0" name="Line 1074"/>
              <p:cNvSpPr>
                <a:spLocks noChangeShapeType="1"/>
              </p:cNvSpPr>
              <p:nvPr/>
            </p:nvSpPr>
            <p:spPr bwMode="auto">
              <a:xfrm flipH="1">
                <a:off x="5261" y="2450"/>
                <a:ext cx="259" cy="0"/>
              </a:xfrm>
              <a:prstGeom prst="line">
                <a:avLst/>
              </a:prstGeom>
              <a:noFill/>
              <a:ln w="38100">
                <a:solidFill>
                  <a:srgbClr val="CC3399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1" name="Line 1075"/>
              <p:cNvSpPr>
                <a:spLocks noChangeShapeType="1"/>
              </p:cNvSpPr>
              <p:nvPr/>
            </p:nvSpPr>
            <p:spPr bwMode="auto">
              <a:xfrm flipH="1">
                <a:off x="5261" y="2945"/>
                <a:ext cx="259" cy="0"/>
              </a:xfrm>
              <a:prstGeom prst="line">
                <a:avLst/>
              </a:prstGeom>
              <a:noFill/>
              <a:ln w="38100">
                <a:solidFill>
                  <a:srgbClr val="CC3399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2" name="Line 1076"/>
              <p:cNvSpPr>
                <a:spLocks noChangeShapeType="1"/>
              </p:cNvSpPr>
              <p:nvPr/>
            </p:nvSpPr>
            <p:spPr bwMode="auto">
              <a:xfrm flipH="1">
                <a:off x="5261" y="3259"/>
                <a:ext cx="259" cy="0"/>
              </a:xfrm>
              <a:prstGeom prst="line">
                <a:avLst/>
              </a:prstGeom>
              <a:noFill/>
              <a:ln w="38100">
                <a:solidFill>
                  <a:srgbClr val="CC3399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3" name="Line 1077"/>
              <p:cNvSpPr>
                <a:spLocks noChangeShapeType="1"/>
              </p:cNvSpPr>
              <p:nvPr/>
            </p:nvSpPr>
            <p:spPr bwMode="auto">
              <a:xfrm>
                <a:off x="2880" y="2855"/>
                <a:ext cx="259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4" name="Line 1078"/>
              <p:cNvSpPr>
                <a:spLocks noChangeShapeType="1"/>
              </p:cNvSpPr>
              <p:nvPr/>
            </p:nvSpPr>
            <p:spPr bwMode="auto">
              <a:xfrm>
                <a:off x="2880" y="2271"/>
                <a:ext cx="259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5" name="Line 1079"/>
              <p:cNvSpPr>
                <a:spLocks noChangeShapeType="1"/>
              </p:cNvSpPr>
              <p:nvPr/>
            </p:nvSpPr>
            <p:spPr bwMode="auto">
              <a:xfrm>
                <a:off x="2880" y="1148"/>
                <a:ext cx="259" cy="0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6" name="Line 1080"/>
              <p:cNvSpPr>
                <a:spLocks noChangeShapeType="1"/>
              </p:cNvSpPr>
              <p:nvPr/>
            </p:nvSpPr>
            <p:spPr bwMode="auto">
              <a:xfrm>
                <a:off x="2880" y="1238"/>
                <a:ext cx="259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57" name="Line 1081"/>
              <p:cNvSpPr>
                <a:spLocks noChangeShapeType="1"/>
              </p:cNvSpPr>
              <p:nvPr/>
            </p:nvSpPr>
            <p:spPr bwMode="auto">
              <a:xfrm>
                <a:off x="2880" y="1777"/>
                <a:ext cx="259" cy="0"/>
              </a:xfrm>
              <a:prstGeom prst="line">
                <a:avLst/>
              </a:prstGeom>
              <a:noFill/>
              <a:ln w="28575">
                <a:solidFill>
                  <a:srgbClr val="0000CC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5110" name="Text Box 1082"/>
            <p:cNvSpPr txBox="1">
              <a:spLocks noChangeArrowheads="1"/>
            </p:cNvSpPr>
            <p:nvPr/>
          </p:nvSpPr>
          <p:spPr bwMode="auto">
            <a:xfrm>
              <a:off x="3456" y="192"/>
              <a:ext cx="16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CC0000"/>
                  </a:solidFill>
                </a:rPr>
                <a:t>A          C            B</a:t>
              </a:r>
              <a:endParaRPr lang="en-US" altLang="zh-CN" sz="2000" dirty="0">
                <a:solidFill>
                  <a:srgbClr val="CC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884355" y="761114"/>
            <a:ext cx="34296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400" b="1" dirty="0">
                <a:solidFill>
                  <a:srgbClr val="FF0000"/>
                </a:solidFill>
              </a:rPr>
              <a:t>RFLP</a:t>
            </a:r>
            <a:r>
              <a:rPr lang="zh-CN" altLang="en-US" sz="2400" b="1" dirty="0">
                <a:solidFill>
                  <a:srgbClr val="FF0000"/>
                </a:solidFill>
              </a:rPr>
              <a:t>示意图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6755" y="4985281"/>
            <a:ext cx="11796889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0" lvl="1" indent="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/>
              <a:t>▼指示的是探针位置，酶切后通过凝胶电泳和</a:t>
            </a:r>
            <a:r>
              <a:rPr lang="en-US" altLang="zh-CN" dirty="0"/>
              <a:t>Southern</a:t>
            </a:r>
            <a:r>
              <a:rPr lang="zh-CN" altLang="en-US" dirty="0"/>
              <a:t>印迹可以鉴定该个体在这个</a:t>
            </a:r>
            <a:r>
              <a:rPr lang="en-US" altLang="zh-CN" dirty="0"/>
              <a:t>RFLP</a:t>
            </a:r>
            <a:r>
              <a:rPr lang="zh-CN" altLang="en-US" dirty="0"/>
              <a:t>标记上为 </a:t>
            </a:r>
            <a:r>
              <a:rPr lang="en-US" altLang="zh-CN" dirty="0"/>
              <a:t>2.0 kb/4.5 kb </a:t>
            </a:r>
            <a:r>
              <a:rPr lang="zh-CN" altLang="en-US" dirty="0"/>
              <a:t>的杂合子。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1"/>
          </p:nvPr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14" y="191911"/>
            <a:ext cx="8448873" cy="4730044"/>
          </a:xfr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-54873"/>
            <a:ext cx="8850503" cy="428820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021778" y="5648464"/>
            <a:ext cx="43320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RFLP</a:t>
            </a:r>
            <a:r>
              <a:rPr lang="zh-CN" altLang="en-US" sz="1600" dirty="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的形成机制与</a:t>
            </a:r>
            <a:r>
              <a:rPr lang="en-US" altLang="zh-CN" sz="1600" dirty="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Southern</a:t>
            </a:r>
            <a:r>
              <a:rPr lang="zh-CN" altLang="en-US" sz="1600" dirty="0">
                <a:solidFill>
                  <a:srgbClr val="3A599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检测结果示意图</a:t>
            </a:r>
            <a:endParaRPr lang="en-US" altLang="zh-CN" sz="1600" dirty="0">
              <a:solidFill>
                <a:srgbClr val="3A5991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latin typeface="Calibri" panose="020F0502020204030204" charset="0"/>
                <a:ea typeface="微软雅黑" panose="020B0503020204020204" charset="-122"/>
              </a:rPr>
              <a:t>(</a:t>
            </a:r>
            <a:r>
              <a:rPr lang="zh-CN" altLang="en-US" sz="1200" dirty="0">
                <a:latin typeface="Calibri" panose="020F0502020204030204" charset="0"/>
                <a:ea typeface="微软雅黑" panose="020B0503020204020204" charset="-122"/>
              </a:rPr>
              <a:t>引自</a:t>
            </a:r>
            <a:r>
              <a:rPr lang="en-US" altLang="zh-CN" sz="1200" dirty="0">
                <a:latin typeface="Calibri" panose="020F0502020204030204" charset="0"/>
                <a:ea typeface="微软雅黑" panose="020B0503020204020204" charset="-122"/>
              </a:rPr>
              <a:t>Snustad &amp; Simmons. </a:t>
            </a:r>
            <a:r>
              <a:rPr lang="en-US" altLang="zh-CN" sz="1200" i="1" dirty="0">
                <a:latin typeface="Calibri" panose="020F0502020204030204" charset="0"/>
                <a:ea typeface="微软雅黑" panose="020B0503020204020204" charset="-122"/>
              </a:rPr>
              <a:t>Principles of Genetics </a:t>
            </a:r>
            <a:r>
              <a:rPr lang="en-US" altLang="zh-CN" sz="1200" dirty="0">
                <a:latin typeface="Calibri" panose="020F0502020204030204" charset="0"/>
                <a:ea typeface="微软雅黑" panose="020B0503020204020204" charset="-122"/>
              </a:rPr>
              <a:t>6</a:t>
            </a:r>
            <a:r>
              <a:rPr lang="en-US" altLang="zh-CN" sz="1200" baseline="30000" dirty="0">
                <a:latin typeface="Calibri" panose="020F0502020204030204" charset="0"/>
                <a:ea typeface="微软雅黑" panose="020B0503020204020204" charset="-122"/>
              </a:rPr>
              <a:t>th</a:t>
            </a:r>
            <a:r>
              <a:rPr lang="en-US" altLang="zh-CN" sz="1200" dirty="0">
                <a:latin typeface="Calibri" panose="020F0502020204030204" charset="0"/>
                <a:ea typeface="微软雅黑" panose="020B0503020204020204" charset="-122"/>
              </a:rPr>
              <a:t> edition. © John Wiley &amp; Sons, Inc. 2014.)</a:t>
            </a:r>
            <a:endParaRPr lang="en-US" altLang="zh-CN" sz="1200" dirty="0">
              <a:latin typeface="Calibri" panose="020F050202020403020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l="27956"/>
          <a:stretch>
            <a:fillRect/>
          </a:stretch>
        </p:blipFill>
        <p:spPr>
          <a:xfrm>
            <a:off x="2193106" y="3850303"/>
            <a:ext cx="4464288" cy="2972211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05579"/>
            <a:ext cx="5562600" cy="4365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例2：系统发育的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RFLP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6731000" y="547688"/>
            <a:ext cx="3435350" cy="742951"/>
            <a:chOff x="3184" y="605"/>
            <a:chExt cx="2164" cy="468"/>
          </a:xfrm>
        </p:grpSpPr>
        <p:sp>
          <p:nvSpPr>
            <p:cNvPr id="176174" name="Line 4"/>
            <p:cNvSpPr>
              <a:spLocks noChangeShapeType="1"/>
            </p:cNvSpPr>
            <p:nvPr/>
          </p:nvSpPr>
          <p:spPr bwMode="auto">
            <a:xfrm>
              <a:off x="3216" y="816"/>
              <a:ext cx="20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5" name="Text Box 5"/>
            <p:cNvSpPr txBox="1">
              <a:spLocks noChangeArrowheads="1"/>
            </p:cNvSpPr>
            <p:nvPr/>
          </p:nvSpPr>
          <p:spPr bwMode="auto">
            <a:xfrm>
              <a:off x="3184" y="840"/>
              <a:ext cx="216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800" dirty="0">
                  <a:solidFill>
                    <a:srgbClr val="0000FF"/>
                  </a:solidFill>
                </a:rPr>
                <a:t>A</a:t>
              </a:r>
              <a:r>
                <a:rPr lang="zh-CN" altLang="en-US" sz="1800" dirty="0">
                  <a:solidFill>
                    <a:srgbClr val="0000FF"/>
                  </a:solidFill>
                </a:rPr>
                <a:t>植物的</a:t>
              </a:r>
              <a:r>
                <a:rPr lang="en-US" altLang="zh-CN" sz="1800" dirty="0">
                  <a:solidFill>
                    <a:srgbClr val="0000FF"/>
                  </a:solidFill>
                </a:rPr>
                <a:t>DNA</a:t>
              </a:r>
              <a:r>
                <a:rPr lang="zh-CN" altLang="en-US" sz="1800" dirty="0">
                  <a:solidFill>
                    <a:srgbClr val="0000FF"/>
                  </a:solidFill>
                </a:rPr>
                <a:t>限制性内切酶图谱</a:t>
              </a:r>
              <a:endParaRPr lang="zh-CN" altLang="en-US" sz="1800" dirty="0">
                <a:solidFill>
                  <a:srgbClr val="0000FF"/>
                </a:solidFill>
              </a:endParaRPr>
            </a:p>
          </p:txBody>
        </p:sp>
        <p:sp>
          <p:nvSpPr>
            <p:cNvPr id="176176" name="Text Box 6"/>
            <p:cNvSpPr txBox="1">
              <a:spLocks noChangeArrowheads="1"/>
            </p:cNvSpPr>
            <p:nvPr/>
          </p:nvSpPr>
          <p:spPr bwMode="auto">
            <a:xfrm>
              <a:off x="3408" y="624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>
                  <a:solidFill>
                    <a:srgbClr val="800000"/>
                  </a:solidFill>
                </a:rPr>
                <a:t>13</a:t>
              </a:r>
              <a:endParaRPr lang="zh-CN" altLang="en-US" sz="1400">
                <a:solidFill>
                  <a:srgbClr val="800000"/>
                </a:solidFill>
              </a:endParaRPr>
            </a:p>
          </p:txBody>
        </p:sp>
        <p:sp>
          <p:nvSpPr>
            <p:cNvPr id="176177" name="Line 7"/>
            <p:cNvSpPr>
              <a:spLocks noChangeShapeType="1"/>
            </p:cNvSpPr>
            <p:nvPr/>
          </p:nvSpPr>
          <p:spPr bwMode="auto">
            <a:xfrm>
              <a:off x="3984" y="720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8" name="Line 8"/>
            <p:cNvSpPr>
              <a:spLocks noChangeShapeType="1"/>
            </p:cNvSpPr>
            <p:nvPr/>
          </p:nvSpPr>
          <p:spPr bwMode="auto">
            <a:xfrm>
              <a:off x="4272" y="720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79" name="Line 9"/>
            <p:cNvSpPr>
              <a:spLocks noChangeShapeType="1"/>
            </p:cNvSpPr>
            <p:nvPr/>
          </p:nvSpPr>
          <p:spPr bwMode="auto">
            <a:xfrm>
              <a:off x="4656" y="720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0" name="Line 10"/>
            <p:cNvSpPr>
              <a:spLocks noChangeShapeType="1"/>
            </p:cNvSpPr>
            <p:nvPr/>
          </p:nvSpPr>
          <p:spPr bwMode="auto">
            <a:xfrm>
              <a:off x="4800" y="720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81" name="Text Box 11"/>
            <p:cNvSpPr txBox="1">
              <a:spLocks noChangeArrowheads="1"/>
            </p:cNvSpPr>
            <p:nvPr/>
          </p:nvSpPr>
          <p:spPr bwMode="auto">
            <a:xfrm>
              <a:off x="4032" y="624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>
                  <a:solidFill>
                    <a:srgbClr val="800000"/>
                  </a:solidFill>
                </a:rPr>
                <a:t>5</a:t>
              </a:r>
              <a:endParaRPr lang="zh-CN" altLang="en-US" sz="1400">
                <a:solidFill>
                  <a:srgbClr val="800000"/>
                </a:solidFill>
              </a:endParaRPr>
            </a:p>
          </p:txBody>
        </p:sp>
        <p:sp>
          <p:nvSpPr>
            <p:cNvPr id="176182" name="Text Box 12"/>
            <p:cNvSpPr txBox="1">
              <a:spLocks noChangeArrowheads="1"/>
            </p:cNvSpPr>
            <p:nvPr/>
          </p:nvSpPr>
          <p:spPr bwMode="auto">
            <a:xfrm>
              <a:off x="4368" y="624"/>
              <a:ext cx="24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>
                  <a:solidFill>
                    <a:srgbClr val="800000"/>
                  </a:solidFill>
                </a:rPr>
                <a:t>6</a:t>
              </a:r>
              <a:endParaRPr lang="zh-CN" altLang="en-US" sz="1400">
                <a:solidFill>
                  <a:srgbClr val="800000"/>
                </a:solidFill>
              </a:endParaRPr>
            </a:p>
          </p:txBody>
        </p:sp>
        <p:sp>
          <p:nvSpPr>
            <p:cNvPr id="176183" name="Text Box 13"/>
            <p:cNvSpPr txBox="1">
              <a:spLocks noChangeArrowheads="1"/>
            </p:cNvSpPr>
            <p:nvPr/>
          </p:nvSpPr>
          <p:spPr bwMode="auto">
            <a:xfrm>
              <a:off x="4567" y="605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>
                  <a:solidFill>
                    <a:srgbClr val="800000"/>
                  </a:solidFill>
                </a:rPr>
                <a:t>2</a:t>
              </a:r>
              <a:endParaRPr lang="zh-CN" altLang="en-US" sz="1400">
                <a:solidFill>
                  <a:srgbClr val="800000"/>
                </a:solidFill>
              </a:endParaRPr>
            </a:p>
          </p:txBody>
        </p:sp>
        <p:sp>
          <p:nvSpPr>
            <p:cNvPr id="176184" name="Text Box 14"/>
            <p:cNvSpPr txBox="1">
              <a:spLocks noChangeArrowheads="1"/>
            </p:cNvSpPr>
            <p:nvPr/>
          </p:nvSpPr>
          <p:spPr bwMode="auto">
            <a:xfrm>
              <a:off x="4896" y="624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>
                  <a:solidFill>
                    <a:srgbClr val="800000"/>
                  </a:solidFill>
                </a:rPr>
                <a:t>8</a:t>
              </a:r>
              <a:endParaRPr lang="zh-CN" altLang="en-US" sz="1400">
                <a:solidFill>
                  <a:srgbClr val="800000"/>
                </a:solidFill>
              </a:endParaRPr>
            </a:p>
          </p:txBody>
        </p:sp>
      </p:grpSp>
      <p:sp>
        <p:nvSpPr>
          <p:cNvPr id="119823" name="Text Box 15"/>
          <p:cNvSpPr txBox="1">
            <a:spLocks noChangeArrowheads="1"/>
          </p:cNvSpPr>
          <p:nvPr/>
        </p:nvSpPr>
        <p:spPr bwMode="auto">
          <a:xfrm>
            <a:off x="283028" y="4640261"/>
            <a:ext cx="1162594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800000"/>
                </a:solidFill>
              </a:rPr>
              <a:t>       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</a:rPr>
              <a:t>如果</a:t>
            </a:r>
            <a:r>
              <a:rPr lang="zh-CN" altLang="en-US" sz="2400" dirty="0">
                <a:latin typeface="黑体" panose="02010609060101010101" pitchFamily="49" charset="-122"/>
              </a:rPr>
              <a:t>植物</a:t>
            </a:r>
            <a:r>
              <a:rPr lang="en-US" altLang="zh-CN" sz="2400" dirty="0">
                <a:latin typeface="黑体" panose="02010609060101010101" pitchFamily="49" charset="-122"/>
              </a:rPr>
              <a:t>A</a:t>
            </a:r>
            <a:r>
              <a:rPr lang="zh-CN" altLang="en-US" sz="2400" dirty="0">
                <a:latin typeface="黑体" panose="02010609060101010101" pitchFamily="49" charset="-122"/>
              </a:rPr>
              <a:t>与祖先植物种相比变化很小，假设它发生了两个突变，一个突变是形成植物</a:t>
            </a:r>
            <a:r>
              <a:rPr lang="en-US" altLang="zh-CN" sz="2400" dirty="0">
                <a:latin typeface="黑体" panose="02010609060101010101" pitchFamily="49" charset="-122"/>
              </a:rPr>
              <a:t>B</a:t>
            </a:r>
            <a:r>
              <a:rPr lang="zh-CN" altLang="en-US" sz="2400" dirty="0">
                <a:latin typeface="黑体" panose="02010609060101010101" pitchFamily="49" charset="-122"/>
              </a:rPr>
              <a:t>的过程中产生了一个9</a:t>
            </a:r>
            <a:r>
              <a:rPr lang="en-US" altLang="zh-CN" sz="2400" dirty="0" err="1">
                <a:latin typeface="黑体" panose="02010609060101010101" pitchFamily="49" charset="-122"/>
              </a:rPr>
              <a:t>kp</a:t>
            </a:r>
            <a:r>
              <a:rPr lang="zh-CN" altLang="en-US" sz="2400" dirty="0">
                <a:latin typeface="黑体" panose="02010609060101010101" pitchFamily="49" charset="-122"/>
              </a:rPr>
              <a:t>和4</a:t>
            </a:r>
            <a:r>
              <a:rPr lang="en-US" altLang="zh-CN" sz="2400" dirty="0" err="1">
                <a:latin typeface="黑体" panose="02010609060101010101" pitchFamily="49" charset="-122"/>
              </a:rPr>
              <a:t>kp</a:t>
            </a:r>
            <a:r>
              <a:rPr lang="zh-CN" altLang="en-US" sz="2400" dirty="0">
                <a:latin typeface="黑体" panose="02010609060101010101" pitchFamily="49" charset="-122"/>
              </a:rPr>
              <a:t>的片段；另一个突变是形成植物</a:t>
            </a:r>
            <a:r>
              <a:rPr lang="en-US" altLang="zh-CN" sz="2400" dirty="0">
                <a:latin typeface="黑体" panose="02010609060101010101" pitchFamily="49" charset="-122"/>
              </a:rPr>
              <a:t>C</a:t>
            </a:r>
            <a:r>
              <a:rPr lang="zh-CN" altLang="en-US" sz="2400" dirty="0">
                <a:latin typeface="黑体" panose="02010609060101010101" pitchFamily="49" charset="-122"/>
              </a:rPr>
              <a:t>的过程中，一个限制性内切酶位点消失，产生一个11</a:t>
            </a:r>
            <a:r>
              <a:rPr lang="en-US" altLang="zh-CN" sz="2400" dirty="0" err="1">
                <a:latin typeface="黑体" panose="02010609060101010101" pitchFamily="49" charset="-122"/>
              </a:rPr>
              <a:t>kp</a:t>
            </a:r>
            <a:r>
              <a:rPr lang="zh-CN" altLang="en-US" sz="2400" dirty="0">
                <a:latin typeface="黑体" panose="02010609060101010101" pitchFamily="49" charset="-122"/>
              </a:rPr>
              <a:t>的内切酶片段，而5</a:t>
            </a:r>
            <a:r>
              <a:rPr lang="en-US" altLang="zh-CN" sz="2400" dirty="0" err="1">
                <a:latin typeface="黑体" panose="02010609060101010101" pitchFamily="49" charset="-122"/>
              </a:rPr>
              <a:t>kp</a:t>
            </a:r>
            <a:r>
              <a:rPr lang="zh-CN" altLang="en-US" sz="2400" dirty="0">
                <a:latin typeface="黑体" panose="02010609060101010101" pitchFamily="49" charset="-122"/>
              </a:rPr>
              <a:t>和6</a:t>
            </a:r>
            <a:r>
              <a:rPr lang="en-US" altLang="zh-CN" sz="2400" dirty="0" err="1">
                <a:latin typeface="黑体" panose="02010609060101010101" pitchFamily="49" charset="-122"/>
              </a:rPr>
              <a:t>kp</a:t>
            </a:r>
            <a:r>
              <a:rPr lang="zh-CN" altLang="en-US" sz="2400" dirty="0">
                <a:latin typeface="黑体" panose="02010609060101010101" pitchFamily="49" charset="-122"/>
              </a:rPr>
              <a:t>两条带消失。可以根据这些变化列出如右侧的系统发育图。</a:t>
            </a:r>
            <a:endParaRPr lang="zh-CN" altLang="en-US" sz="2000" dirty="0">
              <a:latin typeface="黑体" panose="02010609060101010101" pitchFamily="49" charset="-122"/>
            </a:endParaRPr>
          </a:p>
        </p:txBody>
      </p:sp>
      <p:grpSp>
        <p:nvGrpSpPr>
          <p:cNvPr id="3" name="Group 16"/>
          <p:cNvGrpSpPr/>
          <p:nvPr/>
        </p:nvGrpSpPr>
        <p:grpSpPr bwMode="auto">
          <a:xfrm>
            <a:off x="2188119" y="882650"/>
            <a:ext cx="3144838" cy="3673475"/>
            <a:chOff x="703" y="672"/>
            <a:chExt cx="1981" cy="2314"/>
          </a:xfrm>
        </p:grpSpPr>
        <p:sp>
          <p:nvSpPr>
            <p:cNvPr id="176144" name="Text Box 17"/>
            <p:cNvSpPr txBox="1">
              <a:spLocks noChangeArrowheads="1"/>
            </p:cNvSpPr>
            <p:nvPr/>
          </p:nvSpPr>
          <p:spPr bwMode="auto">
            <a:xfrm>
              <a:off x="1100" y="672"/>
              <a:ext cx="12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CC0000"/>
                  </a:solidFill>
                </a:rPr>
                <a:t> </a:t>
              </a:r>
              <a:r>
                <a:rPr lang="en-US" altLang="zh-CN" sz="2000" dirty="0">
                  <a:solidFill>
                    <a:srgbClr val="CC0000"/>
                  </a:solidFill>
                </a:rPr>
                <a:t>A     B      C</a:t>
              </a:r>
              <a:endParaRPr lang="en-US" altLang="zh-CN" sz="2000" dirty="0">
                <a:solidFill>
                  <a:srgbClr val="CC0000"/>
                </a:solidFill>
              </a:endParaRPr>
            </a:p>
          </p:txBody>
        </p:sp>
        <p:sp>
          <p:nvSpPr>
            <p:cNvPr id="176145" name="Rectangle 18"/>
            <p:cNvSpPr>
              <a:spLocks noChangeArrowheads="1"/>
            </p:cNvSpPr>
            <p:nvPr/>
          </p:nvSpPr>
          <p:spPr bwMode="auto">
            <a:xfrm>
              <a:off x="1008" y="874"/>
              <a:ext cx="1405" cy="1872"/>
            </a:xfrm>
            <a:prstGeom prst="rect">
              <a:avLst/>
            </a:prstGeom>
            <a:solidFill>
              <a:srgbClr val="919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76146" name="Line 19"/>
            <p:cNvSpPr>
              <a:spLocks noChangeShapeType="1"/>
            </p:cNvSpPr>
            <p:nvPr/>
          </p:nvSpPr>
          <p:spPr bwMode="auto">
            <a:xfrm>
              <a:off x="1180" y="1044"/>
              <a:ext cx="239" cy="0"/>
            </a:xfrm>
            <a:prstGeom prst="line">
              <a:avLst/>
            </a:prstGeom>
            <a:noFill/>
            <a:ln w="57150" cmpd="thinThick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7" name="Line 20"/>
            <p:cNvSpPr>
              <a:spLocks noChangeShapeType="1"/>
            </p:cNvSpPr>
            <p:nvPr/>
          </p:nvSpPr>
          <p:spPr bwMode="auto">
            <a:xfrm>
              <a:off x="1549" y="1044"/>
              <a:ext cx="240" cy="0"/>
            </a:xfrm>
            <a:prstGeom prst="line">
              <a:avLst/>
            </a:prstGeom>
            <a:noFill/>
            <a:ln w="57150" cmpd="thinThick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8" name="Line 21"/>
            <p:cNvSpPr>
              <a:spLocks noChangeShapeType="1"/>
            </p:cNvSpPr>
            <p:nvPr/>
          </p:nvSpPr>
          <p:spPr bwMode="auto">
            <a:xfrm>
              <a:off x="1934" y="1044"/>
              <a:ext cx="239" cy="0"/>
            </a:xfrm>
            <a:prstGeom prst="line">
              <a:avLst/>
            </a:prstGeom>
            <a:noFill/>
            <a:ln w="57150" cmpd="thinThick">
              <a:solidFill>
                <a:schemeClr val="bg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49" name="Line 22"/>
            <p:cNvSpPr>
              <a:spLocks noChangeShapeType="1"/>
            </p:cNvSpPr>
            <p:nvPr/>
          </p:nvSpPr>
          <p:spPr bwMode="auto">
            <a:xfrm>
              <a:off x="1180" y="1637"/>
              <a:ext cx="239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0" name="Line 23"/>
            <p:cNvSpPr>
              <a:spLocks noChangeShapeType="1"/>
            </p:cNvSpPr>
            <p:nvPr/>
          </p:nvSpPr>
          <p:spPr bwMode="auto">
            <a:xfrm>
              <a:off x="1180" y="1290"/>
              <a:ext cx="239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1" name="Line 24"/>
            <p:cNvSpPr>
              <a:spLocks noChangeShapeType="1"/>
            </p:cNvSpPr>
            <p:nvPr/>
          </p:nvSpPr>
          <p:spPr bwMode="auto">
            <a:xfrm>
              <a:off x="1180" y="1895"/>
              <a:ext cx="239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2" name="Line 25"/>
            <p:cNvSpPr>
              <a:spLocks noChangeShapeType="1"/>
            </p:cNvSpPr>
            <p:nvPr/>
          </p:nvSpPr>
          <p:spPr bwMode="auto">
            <a:xfrm>
              <a:off x="1180" y="2008"/>
              <a:ext cx="239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3" name="Line 26"/>
            <p:cNvSpPr>
              <a:spLocks noChangeShapeType="1"/>
            </p:cNvSpPr>
            <p:nvPr/>
          </p:nvSpPr>
          <p:spPr bwMode="auto">
            <a:xfrm>
              <a:off x="1180" y="2632"/>
              <a:ext cx="239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4" name="Line 27"/>
            <p:cNvSpPr>
              <a:spLocks noChangeShapeType="1"/>
            </p:cNvSpPr>
            <p:nvPr/>
          </p:nvSpPr>
          <p:spPr bwMode="auto">
            <a:xfrm>
              <a:off x="1557" y="1637"/>
              <a:ext cx="24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5" name="Line 28"/>
            <p:cNvSpPr>
              <a:spLocks noChangeShapeType="1"/>
            </p:cNvSpPr>
            <p:nvPr/>
          </p:nvSpPr>
          <p:spPr bwMode="auto">
            <a:xfrm>
              <a:off x="1557" y="1895"/>
              <a:ext cx="24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6" name="Line 29"/>
            <p:cNvSpPr>
              <a:spLocks noChangeShapeType="1"/>
            </p:cNvSpPr>
            <p:nvPr/>
          </p:nvSpPr>
          <p:spPr bwMode="auto">
            <a:xfrm>
              <a:off x="1557" y="2008"/>
              <a:ext cx="24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7" name="Line 30"/>
            <p:cNvSpPr>
              <a:spLocks noChangeShapeType="1"/>
            </p:cNvSpPr>
            <p:nvPr/>
          </p:nvSpPr>
          <p:spPr bwMode="auto">
            <a:xfrm>
              <a:off x="1557" y="2242"/>
              <a:ext cx="24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8" name="Line 31"/>
            <p:cNvSpPr>
              <a:spLocks noChangeShapeType="1"/>
            </p:cNvSpPr>
            <p:nvPr/>
          </p:nvSpPr>
          <p:spPr bwMode="auto">
            <a:xfrm>
              <a:off x="1557" y="2632"/>
              <a:ext cx="24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59" name="Line 32"/>
            <p:cNvSpPr>
              <a:spLocks noChangeShapeType="1"/>
            </p:cNvSpPr>
            <p:nvPr/>
          </p:nvSpPr>
          <p:spPr bwMode="auto">
            <a:xfrm>
              <a:off x="1934" y="1384"/>
              <a:ext cx="239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0" name="Line 33"/>
            <p:cNvSpPr>
              <a:spLocks noChangeShapeType="1"/>
            </p:cNvSpPr>
            <p:nvPr/>
          </p:nvSpPr>
          <p:spPr bwMode="auto">
            <a:xfrm>
              <a:off x="1934" y="1554"/>
              <a:ext cx="239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1" name="Line 34"/>
            <p:cNvSpPr>
              <a:spLocks noChangeShapeType="1"/>
            </p:cNvSpPr>
            <p:nvPr/>
          </p:nvSpPr>
          <p:spPr bwMode="auto">
            <a:xfrm>
              <a:off x="1934" y="1637"/>
              <a:ext cx="239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2" name="Line 35"/>
            <p:cNvSpPr>
              <a:spLocks noChangeShapeType="1"/>
            </p:cNvSpPr>
            <p:nvPr/>
          </p:nvSpPr>
          <p:spPr bwMode="auto">
            <a:xfrm>
              <a:off x="1968" y="2242"/>
              <a:ext cx="239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3" name="Line 36"/>
            <p:cNvSpPr>
              <a:spLocks noChangeShapeType="1"/>
            </p:cNvSpPr>
            <p:nvPr/>
          </p:nvSpPr>
          <p:spPr bwMode="auto">
            <a:xfrm>
              <a:off x="1968" y="2632"/>
              <a:ext cx="239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4" name="Line 37"/>
            <p:cNvSpPr>
              <a:spLocks noChangeShapeType="1"/>
            </p:cNvSpPr>
            <p:nvPr/>
          </p:nvSpPr>
          <p:spPr bwMode="auto">
            <a:xfrm>
              <a:off x="1557" y="1554"/>
              <a:ext cx="240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165" name="Text Box 38"/>
            <p:cNvSpPr txBox="1">
              <a:spLocks noChangeArrowheads="1"/>
            </p:cNvSpPr>
            <p:nvPr/>
          </p:nvSpPr>
          <p:spPr bwMode="auto">
            <a:xfrm>
              <a:off x="703" y="1202"/>
              <a:ext cx="4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 dirty="0">
                  <a:solidFill>
                    <a:srgbClr val="800000"/>
                  </a:solidFill>
                </a:rPr>
                <a:t>13</a:t>
              </a:r>
              <a:endParaRPr lang="zh-CN" alt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176166" name="Text Box 39"/>
            <p:cNvSpPr txBox="1">
              <a:spLocks noChangeArrowheads="1"/>
            </p:cNvSpPr>
            <p:nvPr/>
          </p:nvSpPr>
          <p:spPr bwMode="auto">
            <a:xfrm>
              <a:off x="747" y="2538"/>
              <a:ext cx="4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 dirty="0">
                  <a:solidFill>
                    <a:srgbClr val="800000"/>
                  </a:solidFill>
                </a:rPr>
                <a:t>2</a:t>
              </a:r>
              <a:endParaRPr lang="zh-CN" alt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176167" name="Text Box 40"/>
            <p:cNvSpPr txBox="1">
              <a:spLocks noChangeArrowheads="1"/>
            </p:cNvSpPr>
            <p:nvPr/>
          </p:nvSpPr>
          <p:spPr bwMode="auto">
            <a:xfrm>
              <a:off x="2250" y="2164"/>
              <a:ext cx="4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>
                  <a:solidFill>
                    <a:srgbClr val="800000"/>
                  </a:solidFill>
                </a:rPr>
                <a:t>4</a:t>
              </a:r>
              <a:endParaRPr lang="zh-CN" altLang="en-US" sz="1400">
                <a:solidFill>
                  <a:srgbClr val="800000"/>
                </a:solidFill>
              </a:endParaRPr>
            </a:p>
          </p:txBody>
        </p:sp>
        <p:sp>
          <p:nvSpPr>
            <p:cNvPr id="176168" name="Text Box 41"/>
            <p:cNvSpPr txBox="1">
              <a:spLocks noChangeArrowheads="1"/>
            </p:cNvSpPr>
            <p:nvPr/>
          </p:nvSpPr>
          <p:spPr bwMode="auto">
            <a:xfrm>
              <a:off x="2256" y="1258"/>
              <a:ext cx="4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 dirty="0">
                  <a:solidFill>
                    <a:srgbClr val="800000"/>
                  </a:solidFill>
                </a:rPr>
                <a:t>11</a:t>
              </a:r>
              <a:endParaRPr lang="zh-CN" alt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176169" name="Text Box 42"/>
            <p:cNvSpPr txBox="1">
              <a:spLocks noChangeArrowheads="1"/>
            </p:cNvSpPr>
            <p:nvPr/>
          </p:nvSpPr>
          <p:spPr bwMode="auto">
            <a:xfrm>
              <a:off x="734" y="1552"/>
              <a:ext cx="4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 dirty="0">
                  <a:solidFill>
                    <a:srgbClr val="800000"/>
                  </a:solidFill>
                </a:rPr>
                <a:t>8</a:t>
              </a:r>
              <a:endParaRPr lang="zh-CN" alt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176170" name="Text Box 43"/>
            <p:cNvSpPr txBox="1">
              <a:spLocks noChangeArrowheads="1"/>
            </p:cNvSpPr>
            <p:nvPr/>
          </p:nvSpPr>
          <p:spPr bwMode="auto">
            <a:xfrm>
              <a:off x="2256" y="1450"/>
              <a:ext cx="4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 dirty="0">
                  <a:solidFill>
                    <a:srgbClr val="800000"/>
                  </a:solidFill>
                </a:rPr>
                <a:t>9</a:t>
              </a:r>
              <a:endParaRPr lang="zh-CN" alt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176171" name="Text Box 44"/>
            <p:cNvSpPr txBox="1">
              <a:spLocks noChangeArrowheads="1"/>
            </p:cNvSpPr>
            <p:nvPr/>
          </p:nvSpPr>
          <p:spPr bwMode="auto">
            <a:xfrm>
              <a:off x="800" y="1786"/>
              <a:ext cx="30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>
                  <a:solidFill>
                    <a:srgbClr val="800000"/>
                  </a:solidFill>
                </a:rPr>
                <a:t>6</a:t>
              </a:r>
              <a:endParaRPr lang="zh-CN" altLang="en-US" sz="1400">
                <a:solidFill>
                  <a:srgbClr val="800000"/>
                </a:solidFill>
              </a:endParaRPr>
            </a:p>
          </p:txBody>
        </p:sp>
        <p:sp>
          <p:nvSpPr>
            <p:cNvPr id="176172" name="Text Box 45"/>
            <p:cNvSpPr txBox="1">
              <a:spLocks noChangeArrowheads="1"/>
            </p:cNvSpPr>
            <p:nvPr/>
          </p:nvSpPr>
          <p:spPr bwMode="auto">
            <a:xfrm>
              <a:off x="743" y="1930"/>
              <a:ext cx="4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1400" dirty="0">
                  <a:solidFill>
                    <a:srgbClr val="800000"/>
                  </a:solidFill>
                </a:rPr>
                <a:t>5</a:t>
              </a:r>
              <a:endParaRPr lang="zh-CN" altLang="en-US" sz="1400" dirty="0">
                <a:solidFill>
                  <a:srgbClr val="800000"/>
                </a:solidFill>
              </a:endParaRPr>
            </a:p>
          </p:txBody>
        </p:sp>
        <p:sp>
          <p:nvSpPr>
            <p:cNvPr id="176173" name="Text Box 46"/>
            <p:cNvSpPr txBox="1">
              <a:spLocks noChangeArrowheads="1"/>
            </p:cNvSpPr>
            <p:nvPr/>
          </p:nvSpPr>
          <p:spPr bwMode="auto">
            <a:xfrm>
              <a:off x="1056" y="2736"/>
              <a:ext cx="13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>
                  <a:solidFill>
                    <a:srgbClr val="0000FF"/>
                  </a:solidFill>
                </a:rPr>
                <a:t>琼脂糖电泳图谱</a:t>
              </a:r>
              <a:endParaRPr lang="zh-CN" altLang="en-US" sz="2000">
                <a:solidFill>
                  <a:srgbClr val="0000FF"/>
                </a:solidFill>
              </a:endParaRPr>
            </a:p>
          </p:txBody>
        </p:sp>
      </p:grpSp>
      <p:grpSp>
        <p:nvGrpSpPr>
          <p:cNvPr id="4" name="Group 47"/>
          <p:cNvGrpSpPr/>
          <p:nvPr/>
        </p:nvGrpSpPr>
        <p:grpSpPr bwMode="auto">
          <a:xfrm>
            <a:off x="7391400" y="1905000"/>
            <a:ext cx="1828800" cy="2562225"/>
            <a:chOff x="3744" y="1344"/>
            <a:chExt cx="1152" cy="1614"/>
          </a:xfrm>
        </p:grpSpPr>
        <p:grpSp>
          <p:nvGrpSpPr>
            <p:cNvPr id="176135" name="Group 48"/>
            <p:cNvGrpSpPr/>
            <p:nvPr/>
          </p:nvGrpSpPr>
          <p:grpSpPr bwMode="auto">
            <a:xfrm>
              <a:off x="3936" y="1632"/>
              <a:ext cx="768" cy="1056"/>
              <a:chOff x="4560" y="1872"/>
              <a:chExt cx="480" cy="768"/>
            </a:xfrm>
          </p:grpSpPr>
          <p:sp>
            <p:nvSpPr>
              <p:cNvPr id="176138" name="Line 49"/>
              <p:cNvSpPr>
                <a:spLocks noChangeShapeType="1"/>
              </p:cNvSpPr>
              <p:nvPr/>
            </p:nvSpPr>
            <p:spPr bwMode="auto">
              <a:xfrm>
                <a:off x="4560" y="1872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39" name="Line 50"/>
              <p:cNvSpPr>
                <a:spLocks noChangeShapeType="1"/>
              </p:cNvSpPr>
              <p:nvPr/>
            </p:nvSpPr>
            <p:spPr bwMode="auto">
              <a:xfrm>
                <a:off x="4752" y="1872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40" name="Line 51"/>
              <p:cNvSpPr>
                <a:spLocks noChangeShapeType="1"/>
              </p:cNvSpPr>
              <p:nvPr/>
            </p:nvSpPr>
            <p:spPr bwMode="auto">
              <a:xfrm>
                <a:off x="5040" y="1872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41" name="Line 52"/>
              <p:cNvSpPr>
                <a:spLocks noChangeShapeType="1"/>
              </p:cNvSpPr>
              <p:nvPr/>
            </p:nvSpPr>
            <p:spPr bwMode="auto">
              <a:xfrm>
                <a:off x="4896" y="23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42" name="Line 53"/>
              <p:cNvSpPr>
                <a:spLocks noChangeShapeType="1"/>
              </p:cNvSpPr>
              <p:nvPr/>
            </p:nvSpPr>
            <p:spPr bwMode="auto">
              <a:xfrm>
                <a:off x="4752" y="2304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143" name="Line 54"/>
              <p:cNvSpPr>
                <a:spLocks noChangeShapeType="1"/>
              </p:cNvSpPr>
              <p:nvPr/>
            </p:nvSpPr>
            <p:spPr bwMode="auto">
              <a:xfrm>
                <a:off x="4560" y="264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6136" name="Text Box 55"/>
            <p:cNvSpPr txBox="1">
              <a:spLocks noChangeArrowheads="1"/>
            </p:cNvSpPr>
            <p:nvPr/>
          </p:nvSpPr>
          <p:spPr bwMode="auto">
            <a:xfrm>
              <a:off x="3840" y="1344"/>
              <a:ext cx="105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CC0000"/>
                  </a:solidFill>
                </a:rPr>
                <a:t>A   B        C</a:t>
              </a:r>
              <a:endParaRPr lang="en-US" altLang="zh-CN" sz="2000" dirty="0">
                <a:solidFill>
                  <a:srgbClr val="CC0000"/>
                </a:solidFill>
              </a:endParaRPr>
            </a:p>
          </p:txBody>
        </p:sp>
        <p:sp>
          <p:nvSpPr>
            <p:cNvPr id="176137" name="Text Box 56"/>
            <p:cNvSpPr txBox="1">
              <a:spLocks noChangeArrowheads="1"/>
            </p:cNvSpPr>
            <p:nvPr/>
          </p:nvSpPr>
          <p:spPr bwMode="auto">
            <a:xfrm>
              <a:off x="3744" y="2708"/>
              <a:ext cx="11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solidFill>
                    <a:srgbClr val="0000FF"/>
                  </a:solidFill>
                </a:rPr>
                <a:t>系统发育图谱</a:t>
              </a:r>
              <a:endParaRPr lang="zh-CN" altLang="en-US" sz="2000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9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23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0" y="287161"/>
            <a:ext cx="12192000" cy="35394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0" lvl="1" indent="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en-US" altLang="zh-CN" dirty="0"/>
              <a:t>RFLP</a:t>
            </a:r>
            <a:r>
              <a:rPr lang="zh-CN" altLang="en-US" dirty="0"/>
              <a:t>是</a:t>
            </a:r>
            <a:r>
              <a:rPr lang="en-US" altLang="zh-CN" dirty="0"/>
              <a:t>DNA</a:t>
            </a:r>
            <a:r>
              <a:rPr lang="zh-CN" altLang="en-US" dirty="0"/>
              <a:t>水平的遗传标记，与基因的表达和表型的实现无关， 因此无表型效应，更不受环境条件和发育阶段的影响。</a:t>
            </a:r>
            <a:endParaRPr lang="en-US" altLang="zh-CN" dirty="0"/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en-US" altLang="zh-CN" dirty="0"/>
              <a:t>RFLP</a:t>
            </a:r>
            <a:r>
              <a:rPr lang="zh-CN" altLang="en-US" dirty="0"/>
              <a:t>遵循共显性的遗传方式，可以很容易地区分杂合子和纯合子。</a:t>
            </a:r>
            <a:endParaRPr lang="en-US" altLang="zh-CN" dirty="0"/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zh-CN" altLang="en-US" dirty="0"/>
              <a:t>通过成熟的基因型分型技术如 </a:t>
            </a:r>
            <a:r>
              <a:rPr lang="en-US" altLang="zh-CN" dirty="0"/>
              <a:t>Southern </a:t>
            </a:r>
            <a:r>
              <a:rPr lang="zh-CN" altLang="en-US" dirty="0"/>
              <a:t>印迹准确地进行</a:t>
            </a:r>
            <a:r>
              <a:rPr lang="en-US" altLang="zh-CN" dirty="0"/>
              <a:t>RFLP</a:t>
            </a:r>
            <a:r>
              <a:rPr lang="zh-CN" altLang="en-US" dirty="0"/>
              <a:t>基因型的鉴定。</a:t>
            </a:r>
            <a:endParaRPr lang="en-US" altLang="zh-CN" dirty="0"/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zh-CN" altLang="en-US" dirty="0"/>
              <a:t>非等位的</a:t>
            </a:r>
            <a:r>
              <a:rPr lang="en-US" altLang="zh-CN" dirty="0"/>
              <a:t>RFLP</a:t>
            </a:r>
            <a:r>
              <a:rPr lang="zh-CN" altLang="en-US" dirty="0"/>
              <a:t>标记之间互不干扰，可以同时进行多个</a:t>
            </a:r>
            <a:r>
              <a:rPr lang="en-US" altLang="zh-CN" dirty="0"/>
              <a:t>RFLP</a:t>
            </a:r>
            <a:r>
              <a:rPr lang="zh-CN" altLang="en-US" dirty="0"/>
              <a:t>的遗传分析。</a:t>
            </a:r>
            <a:endParaRPr lang="en-US" altLang="zh-CN" dirty="0"/>
          </a:p>
          <a:p>
            <a:pPr marL="457200" lvl="1" indent="-457200">
              <a:buFont typeface="Wingdings" panose="05000000000000000000" pitchFamily="2" charset="2"/>
              <a:buChar char="Ø"/>
            </a:pPr>
            <a:r>
              <a:rPr lang="en-US" altLang="zh-CN" dirty="0"/>
              <a:t>RFLP</a:t>
            </a:r>
            <a:r>
              <a:rPr lang="zh-CN" altLang="en-US" dirty="0"/>
              <a:t>来自于人类基因组自身的变异，全基因组中大约有</a:t>
            </a:r>
            <a:r>
              <a:rPr lang="en-US" altLang="zh-CN" dirty="0"/>
              <a:t>4000</a:t>
            </a:r>
            <a:r>
              <a:rPr lang="zh-CN" altLang="en-US" dirty="0"/>
              <a:t>多个</a:t>
            </a:r>
            <a:r>
              <a:rPr lang="en-US" altLang="zh-CN" dirty="0"/>
              <a:t>RFLP</a:t>
            </a:r>
            <a:r>
              <a:rPr lang="zh-CN" altLang="en-US" dirty="0"/>
              <a:t>，可以较好地覆盖整个基因组。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79022" y="4100550"/>
            <a:ext cx="1211297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但由于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RFLP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只有“能够被限制性内切酶识别和切割”以及“不能够被识别和切割”两种等位基因形式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，多态性不足，限制了它在人类基因组精细作图中的应用。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5818" y="0"/>
            <a:ext cx="11460363" cy="103093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随机扩增多态性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DNA</a:t>
            </a:r>
            <a:b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random amplified polymorphic DNA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RAPD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b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b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endParaRPr lang="zh-CN" altLang="en-US" sz="36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0835" name="Text Box 3"/>
          <p:cNvSpPr txBox="1">
            <a:spLocks noChangeArrowheads="1"/>
          </p:cNvSpPr>
          <p:nvPr/>
        </p:nvSpPr>
        <p:spPr bwMode="auto">
          <a:xfrm>
            <a:off x="271971" y="1113721"/>
            <a:ext cx="11212287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1200"/>
              </a:spcBef>
            </a:pPr>
            <a:r>
              <a:rPr lang="zh-CN" altLang="en-US" dirty="0">
                <a:solidFill>
                  <a:srgbClr val="000099"/>
                </a:solidFill>
              </a:rPr>
              <a:t>       </a:t>
            </a:r>
            <a:r>
              <a:rPr lang="en-US" altLang="zh-CN" dirty="0">
                <a:latin typeface="黑体" panose="02010609060101010101" pitchFamily="49" charset="-122"/>
              </a:rPr>
              <a:t>RAPD</a:t>
            </a:r>
            <a:r>
              <a:rPr lang="zh-CN" altLang="en-US" dirty="0">
                <a:latin typeface="黑体" panose="02010609060101010101" pitchFamily="49" charset="-122"/>
              </a:rPr>
              <a:t>是1990年由</a:t>
            </a:r>
            <a:r>
              <a:rPr lang="en-US" altLang="zh-CN" dirty="0">
                <a:latin typeface="黑体" panose="02010609060101010101" pitchFamily="49" charset="-122"/>
              </a:rPr>
              <a:t>Williams</a:t>
            </a:r>
            <a:r>
              <a:rPr lang="zh-CN" altLang="en-US" dirty="0">
                <a:latin typeface="黑体" panose="02010609060101010101" pitchFamily="49" charset="-122"/>
              </a:rPr>
              <a:t>等发明的。其方法是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用一个随机核苷酸序列（9-10</a:t>
            </a: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</a:rPr>
              <a:t>bp）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为引物对基因组的</a:t>
            </a: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</a:rPr>
              <a:t>DNA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进行</a:t>
            </a: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</a:rPr>
              <a:t>PCR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扩增</a:t>
            </a:r>
            <a:r>
              <a:rPr lang="zh-CN" altLang="en-US" dirty="0">
                <a:latin typeface="黑体" panose="02010609060101010101" pitchFamily="49" charset="-122"/>
              </a:rPr>
              <a:t>，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产生不连续的</a:t>
            </a: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</a:rPr>
              <a:t>DNA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产物，再通过凝胶电泳来观察扩增片段的多态性，获得特异分子标记</a:t>
            </a:r>
            <a:r>
              <a:rPr lang="zh-CN" altLang="en-US" dirty="0">
                <a:latin typeface="黑体" panose="02010609060101010101" pitchFamily="49" charset="-122"/>
              </a:rPr>
              <a:t>。</a:t>
            </a:r>
            <a:endParaRPr lang="zh-CN" altLang="en-US" dirty="0">
              <a:latin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>
                <a:latin typeface="黑体" panose="02010609060101010101" pitchFamily="49" charset="-122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</a:rPr>
              <a:t>RAPD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只产生显性标记（即有或没有），所以不能用来鉴定杂合体。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</a:rPr>
              <a:t>RAPD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也不能单独的用来对没有基因标记的生物进行遗传图谱分析，因为它所产生的多态性是随机的</a:t>
            </a:r>
            <a:r>
              <a:rPr lang="zh-CN" altLang="en-US" dirty="0">
                <a:latin typeface="黑体" panose="02010609060101010101" pitchFamily="49" charset="-122"/>
              </a:rPr>
              <a:t>。</a:t>
            </a:r>
            <a:endParaRPr lang="zh-CN" altLang="en-US" dirty="0">
              <a:latin typeface="黑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>
                <a:latin typeface="黑体" panose="02010609060101010101" pitchFamily="49" charset="-122"/>
              </a:rPr>
              <a:t>    然而</a:t>
            </a:r>
            <a:r>
              <a:rPr lang="en-US" altLang="zh-CN" dirty="0">
                <a:latin typeface="黑体" panose="02010609060101010101" pitchFamily="49" charset="-122"/>
              </a:rPr>
              <a:t>RAPD</a:t>
            </a:r>
            <a:r>
              <a:rPr lang="zh-CN" altLang="en-US" dirty="0">
                <a:latin typeface="黑体" panose="02010609060101010101" pitchFamily="49" charset="-122"/>
              </a:rPr>
              <a:t>比</a:t>
            </a:r>
            <a:r>
              <a:rPr lang="en-US" altLang="zh-CN" dirty="0">
                <a:latin typeface="黑体" panose="02010609060101010101" pitchFamily="49" charset="-122"/>
              </a:rPr>
              <a:t>RFLP</a:t>
            </a:r>
            <a:r>
              <a:rPr lang="zh-CN" altLang="en-US" dirty="0">
                <a:latin typeface="黑体" panose="02010609060101010101" pitchFamily="49" charset="-122"/>
              </a:rPr>
              <a:t>有一定的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</a:rPr>
              <a:t>优点</a:t>
            </a:r>
            <a:r>
              <a:rPr lang="zh-CN" altLang="en-US" dirty="0">
                <a:latin typeface="黑体" panose="02010609060101010101" pitchFamily="49" charset="-122"/>
              </a:rPr>
              <a:t>：随机引物可在实验室空间进行交换；免去</a:t>
            </a:r>
            <a:r>
              <a:rPr lang="en-US" altLang="zh-CN" dirty="0">
                <a:latin typeface="黑体" panose="02010609060101010101" pitchFamily="49" charset="-122"/>
              </a:rPr>
              <a:t>DNA</a:t>
            </a:r>
            <a:r>
              <a:rPr lang="zh-CN" altLang="en-US" dirty="0">
                <a:latin typeface="黑体" panose="02010609060101010101" pitchFamily="49" charset="-122"/>
              </a:rPr>
              <a:t>分子杂交；对低拷贝序列同样灵敏；操作自动化，可成为遗传图谱构建的普遍方法。</a:t>
            </a:r>
            <a:endParaRPr lang="zh-CN" altLang="en-US" dirty="0">
              <a:latin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15685" y="214313"/>
            <a:ext cx="11521273" cy="11321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扩增片段长度多态性</a:t>
            </a:r>
            <a:b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amplified fragment length polymorphism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AFLP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b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</a:b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1859" name="Text Box 3"/>
          <p:cNvSpPr txBox="1">
            <a:spLocks noChangeArrowheads="1"/>
          </p:cNvSpPr>
          <p:nvPr/>
        </p:nvSpPr>
        <p:spPr bwMode="auto">
          <a:xfrm>
            <a:off x="174382" y="1477290"/>
            <a:ext cx="11275423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defRPr sz="2800" b="1">
                <a:solidFill>
                  <a:srgbClr val="000099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        </a:t>
            </a:r>
            <a:r>
              <a:rPr lang="en-US" altLang="zh-CN" dirty="0">
                <a:solidFill>
                  <a:schemeClr val="tx1"/>
                </a:solidFill>
              </a:rPr>
              <a:t>AFLP</a:t>
            </a:r>
            <a:r>
              <a:rPr lang="zh-CN" altLang="en-US" dirty="0">
                <a:solidFill>
                  <a:schemeClr val="tx1"/>
                </a:solidFill>
              </a:rPr>
              <a:t>是</a:t>
            </a:r>
            <a:r>
              <a:rPr lang="en-US" altLang="zh-CN" dirty="0">
                <a:solidFill>
                  <a:srgbClr val="0000FF"/>
                </a:solidFill>
              </a:rPr>
              <a:t>RFLP</a:t>
            </a:r>
            <a:r>
              <a:rPr lang="zh-CN" altLang="en-US" dirty="0">
                <a:solidFill>
                  <a:srgbClr val="0000FF"/>
                </a:solidFill>
              </a:rPr>
              <a:t>和</a:t>
            </a:r>
            <a:r>
              <a:rPr lang="en-US" altLang="zh-CN" dirty="0">
                <a:solidFill>
                  <a:srgbClr val="0000FF"/>
                </a:solidFill>
              </a:rPr>
              <a:t>PCR</a:t>
            </a:r>
            <a:r>
              <a:rPr lang="zh-CN" altLang="en-US" dirty="0">
                <a:solidFill>
                  <a:srgbClr val="0000FF"/>
                </a:solidFill>
              </a:rPr>
              <a:t>技术相结合</a:t>
            </a:r>
            <a:r>
              <a:rPr lang="zh-CN" altLang="en-US" dirty="0">
                <a:solidFill>
                  <a:schemeClr val="tx1"/>
                </a:solidFill>
              </a:rPr>
              <a:t>产生的一种新技术。用限制性内切酶消化基因组</a:t>
            </a:r>
            <a:r>
              <a:rPr lang="en-US" altLang="zh-CN" dirty="0">
                <a:solidFill>
                  <a:schemeClr val="tx1"/>
                </a:solidFill>
              </a:rPr>
              <a:t>DNA，</a:t>
            </a:r>
            <a:r>
              <a:rPr lang="zh-CN" altLang="en-US" dirty="0">
                <a:solidFill>
                  <a:schemeClr val="tx1"/>
                </a:solidFill>
              </a:rPr>
              <a:t>由于不同材料的</a:t>
            </a:r>
            <a:r>
              <a:rPr lang="en-US" altLang="zh-CN" dirty="0">
                <a:solidFill>
                  <a:schemeClr val="tx1"/>
                </a:solidFill>
              </a:rPr>
              <a:t>DNA</a:t>
            </a:r>
            <a:r>
              <a:rPr lang="zh-CN" altLang="en-US" dirty="0">
                <a:solidFill>
                  <a:schemeClr val="tx1"/>
                </a:solidFill>
              </a:rPr>
              <a:t>的酶切片段存在差异，用特定引物选择性地扩增基因组限制性酶切片段，再用</a:t>
            </a:r>
            <a:r>
              <a:rPr lang="zh-CN" altLang="en-US" dirty="0">
                <a:solidFill>
                  <a:srgbClr val="0000FF"/>
                </a:solidFill>
              </a:rPr>
              <a:t>凝胶电泳</a:t>
            </a:r>
            <a:r>
              <a:rPr lang="zh-CN" altLang="en-US" dirty="0">
                <a:solidFill>
                  <a:schemeClr val="tx1"/>
                </a:solidFill>
              </a:rPr>
              <a:t>分离就可以观察基因组</a:t>
            </a:r>
            <a:r>
              <a:rPr lang="en-US" altLang="zh-CN" dirty="0">
                <a:solidFill>
                  <a:schemeClr val="tx1"/>
                </a:solidFill>
              </a:rPr>
              <a:t>DNA</a:t>
            </a:r>
            <a:r>
              <a:rPr lang="zh-CN" altLang="en-US" dirty="0">
                <a:solidFill>
                  <a:schemeClr val="tx1"/>
                </a:solidFill>
              </a:rPr>
              <a:t>的多态性。该法</a:t>
            </a:r>
            <a:r>
              <a:rPr lang="zh-CN" altLang="en-US" dirty="0">
                <a:solidFill>
                  <a:srgbClr val="FF0000"/>
                </a:solidFill>
              </a:rPr>
              <a:t>避免了使用繁杂的</a:t>
            </a:r>
            <a:r>
              <a:rPr lang="en-US" altLang="zh-CN" dirty="0">
                <a:solidFill>
                  <a:srgbClr val="FF0000"/>
                </a:solidFill>
              </a:rPr>
              <a:t>DNA</a:t>
            </a:r>
            <a:r>
              <a:rPr lang="zh-CN" altLang="en-US" dirty="0">
                <a:solidFill>
                  <a:srgbClr val="FF0000"/>
                </a:solidFill>
              </a:rPr>
              <a:t>杂交技术</a:t>
            </a:r>
            <a:r>
              <a:rPr lang="zh-CN" altLang="en-US" dirty="0">
                <a:solidFill>
                  <a:schemeClr val="tx1"/>
                </a:solidFill>
              </a:rPr>
              <a:t>，同时具有多态性丰富、不受环境影响、无复等位效应、灵敏度高、快速高效等特点。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655289"/>
            <a:ext cx="6813178" cy="360392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9632" y="6138802"/>
            <a:ext cx="58739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b="1" dirty="0"/>
              <a:t>SSLP </a:t>
            </a:r>
            <a:r>
              <a:rPr lang="zh-CN" altLang="en-US" sz="2000" b="1" dirty="0"/>
              <a:t>及 </a:t>
            </a:r>
            <a:r>
              <a:rPr lang="en-US" altLang="zh-CN" sz="2000" b="1" dirty="0"/>
              <a:t>PCR </a:t>
            </a:r>
            <a:r>
              <a:rPr lang="zh-CN" altLang="en-US" sz="2000" b="1" dirty="0"/>
              <a:t>检测结果示意图</a:t>
            </a:r>
            <a:endParaRPr lang="zh-CN" altLang="en-US" sz="20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6893169" y="2614620"/>
            <a:ext cx="5138476" cy="4306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  <a:lvl1pPr marL="457200" indent="-4572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>
                <a:solidFill>
                  <a:srgbClr val="3A599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685800" lvl="1" indent="-2286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latin typeface="微软雅黑" panose="020B0503020204020204" charset="-122"/>
                <a:ea typeface="微软雅黑" panose="020B0503020204020204" charset="-122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lvl="1">
              <a:lnSpc>
                <a:spcPct val="100000"/>
              </a:lnSpc>
            </a:pPr>
            <a:r>
              <a:rPr lang="zh-CN" altLang="en-US" sz="2400" dirty="0"/>
              <a:t>人类基因组的遗传作图主要利用了两类 </a:t>
            </a:r>
            <a:r>
              <a:rPr lang="en-US" altLang="zh-CN" sz="2400" dirty="0"/>
              <a:t>SSLP</a:t>
            </a:r>
            <a:r>
              <a:rPr lang="zh-CN" altLang="en-US" sz="2400" dirty="0"/>
              <a:t>。第一类是</a:t>
            </a:r>
            <a:r>
              <a:rPr lang="zh-CN" altLang="en-US" sz="2400" b="1" dirty="0">
                <a:solidFill>
                  <a:srgbClr val="FF0000"/>
                </a:solidFill>
              </a:rPr>
              <a:t>小卫星 </a:t>
            </a:r>
            <a:r>
              <a:rPr lang="en-US" altLang="zh-CN" sz="2400" b="1" dirty="0">
                <a:solidFill>
                  <a:srgbClr val="FF0000"/>
                </a:solidFill>
              </a:rPr>
              <a:t>DNA</a:t>
            </a:r>
            <a:r>
              <a:rPr lang="zh-CN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</a:rPr>
              <a:t>minisatellite DNA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，也叫</a:t>
            </a:r>
            <a:r>
              <a:rPr lang="zh-CN" altLang="en-US" sz="2400" b="1" dirty="0">
                <a:solidFill>
                  <a:srgbClr val="FF0000"/>
                </a:solidFill>
              </a:rPr>
              <a:t>数目变异串联重复（</a:t>
            </a:r>
            <a:r>
              <a:rPr lang="en-US" altLang="zh-CN" sz="2400" b="1" dirty="0">
                <a:solidFill>
                  <a:srgbClr val="FF0000"/>
                </a:solidFill>
              </a:rPr>
              <a:t>variable number of tandem repeat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</a:rPr>
              <a:t>VNTR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。另一类 是</a:t>
            </a:r>
            <a:r>
              <a:rPr lang="zh-CN" altLang="en-US" sz="2400" b="1" dirty="0">
                <a:solidFill>
                  <a:srgbClr val="FF0000"/>
                </a:solidFill>
              </a:rPr>
              <a:t>微卫星 </a:t>
            </a:r>
            <a:r>
              <a:rPr lang="en-US" altLang="zh-CN" sz="2400" b="1" dirty="0">
                <a:solidFill>
                  <a:srgbClr val="FF0000"/>
                </a:solidFill>
              </a:rPr>
              <a:t>DNA</a:t>
            </a:r>
            <a:r>
              <a:rPr lang="zh-CN" altLang="en-US" sz="2400" b="1" dirty="0">
                <a:solidFill>
                  <a:srgbClr val="FF0000"/>
                </a:solidFill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</a:rPr>
              <a:t>microsatellite DNA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，也叫</a:t>
            </a:r>
            <a:r>
              <a:rPr lang="zh-CN" altLang="en-US" sz="2400" b="1" dirty="0">
                <a:solidFill>
                  <a:srgbClr val="FF0000"/>
                </a:solidFill>
              </a:rPr>
              <a:t>简单重复序列（</a:t>
            </a:r>
            <a:r>
              <a:rPr lang="en-US" altLang="zh-CN" sz="2400" b="1" dirty="0">
                <a:solidFill>
                  <a:srgbClr val="FF0000"/>
                </a:solidFill>
              </a:rPr>
              <a:t>simple tandem repeat</a:t>
            </a:r>
            <a:r>
              <a:rPr lang="zh-CN" altLang="en-US" sz="2400" b="1" dirty="0">
                <a:solidFill>
                  <a:srgbClr val="FF0000"/>
                </a:solidFill>
              </a:rPr>
              <a:t>，</a:t>
            </a:r>
            <a:r>
              <a:rPr lang="en-US" altLang="zh-CN" sz="2400" b="1" dirty="0">
                <a:solidFill>
                  <a:srgbClr val="FF0000"/>
                </a:solidFill>
              </a:rPr>
              <a:t>STR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lvl="1">
              <a:lnSpc>
                <a:spcPct val="100000"/>
              </a:lnSpc>
            </a:pPr>
            <a:r>
              <a:rPr lang="en-US" altLang="zh-CN" sz="2400" dirty="0"/>
              <a:t>SSLP </a:t>
            </a:r>
            <a:r>
              <a:rPr lang="zh-CN" altLang="en-US" sz="2400" dirty="0"/>
              <a:t>可以通过 </a:t>
            </a:r>
            <a:r>
              <a:rPr lang="en-US" altLang="zh-CN" sz="2400" dirty="0"/>
              <a:t>PCR </a:t>
            </a:r>
            <a:r>
              <a:rPr lang="zh-CN" altLang="en-US" sz="2400" dirty="0"/>
              <a:t>进行检测。</a:t>
            </a:r>
            <a:endParaRPr lang="en-US" altLang="zh-CN" sz="2400" dirty="0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/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60837" y="145097"/>
            <a:ext cx="11415347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第二代分子遗传标记：简单序列长度多态性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single sequence length polymorphism</a:t>
            </a:r>
            <a:r>
              <a:rPr lang="zh-CN" altLang="en-US" dirty="0"/>
              <a:t>， </a:t>
            </a:r>
            <a:r>
              <a:rPr lang="en-US" altLang="zh-CN" dirty="0"/>
              <a:t>SSLP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12" name="文本框 11"/>
          <p:cNvSpPr txBox="1"/>
          <p:nvPr/>
        </p:nvSpPr>
        <p:spPr>
          <a:xfrm>
            <a:off x="137268" y="1070239"/>
            <a:ext cx="1179389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lvl="1" indent="0"/>
            <a:r>
              <a:rPr lang="zh-CN" altLang="en-US" dirty="0"/>
              <a:t>        属于串联重复 </a:t>
            </a:r>
            <a:r>
              <a:rPr lang="en-US" altLang="zh-CN" dirty="0"/>
              <a:t>DNA </a:t>
            </a:r>
            <a:r>
              <a:rPr lang="zh-CN" altLang="en-US" dirty="0"/>
              <a:t>序列。他们的单位序列的串联重复次数在人群中存在普遍差异，即不同个体在相同 </a:t>
            </a:r>
            <a:r>
              <a:rPr lang="en-US" altLang="zh-CN" dirty="0"/>
              <a:t>SSLP </a:t>
            </a:r>
            <a:r>
              <a:rPr lang="zh-CN" altLang="en-US" dirty="0"/>
              <a:t>的基因座上往往携带了不同长度的等位基因形式（由于不同重复次数造成），从而形成了遗传多态现象。</a:t>
            </a:r>
            <a:endParaRPr lang="en-US" altLang="zh-CN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37268" y="1070239"/>
            <a:ext cx="1179389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0" lvl="1" indent="0"/>
            <a:r>
              <a:rPr lang="zh-CN" altLang="en-US" dirty="0"/>
              <a:t>        属于串联重复 </a:t>
            </a:r>
            <a:r>
              <a:rPr lang="en-US" altLang="zh-CN" dirty="0"/>
              <a:t>DNA </a:t>
            </a:r>
            <a:r>
              <a:rPr lang="zh-CN" altLang="en-US" dirty="0"/>
              <a:t>序列。他们的单位序列的串联重复次数在人群中存在普遍差异，即不同个体</a:t>
            </a:r>
            <a:r>
              <a:rPr lang="zh-CN" altLang="en-US"/>
              <a:t>在相同 </a:t>
            </a:r>
            <a:r>
              <a:rPr lang="en-US" altLang="zh-CN"/>
              <a:t>SSLP </a:t>
            </a:r>
            <a:r>
              <a:rPr lang="zh-CN" altLang="en-US"/>
              <a:t>的</a:t>
            </a:r>
            <a:r>
              <a:rPr lang="zh-CN" altLang="en-US" dirty="0"/>
              <a:t>基因座上往往携带了不同长度的等位基因形式（由于不同重复次数造成），从而形成了遗传多态现象。</a:t>
            </a:r>
            <a:endParaRPr lang="en-US" altLang="zh-CN" dirty="0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1353799" y="6356350"/>
            <a:ext cx="577363" cy="365125"/>
          </a:xfrm>
        </p:spPr>
        <p:txBody>
          <a:bodyPr/>
          <a:lstStyle/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60837" y="145097"/>
            <a:ext cx="11415347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第二代分子遗传标记：简单序列长度多态性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single sequence length polymorphism</a:t>
            </a:r>
            <a:r>
              <a:rPr lang="zh-CN" altLang="en-US" dirty="0"/>
              <a:t>， </a:t>
            </a:r>
            <a:r>
              <a:rPr lang="en-US" altLang="zh-CN" dirty="0"/>
              <a:t>SSLP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256202" y="2635687"/>
            <a:ext cx="115560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0" lvl="1" indent="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zh-CN" altLang="en-US" dirty="0">
                <a:solidFill>
                  <a:srgbClr val="0000FF"/>
                </a:solidFill>
              </a:rPr>
              <a:t>       与</a:t>
            </a:r>
            <a:r>
              <a:rPr lang="en-US" altLang="zh-CN" dirty="0">
                <a:solidFill>
                  <a:srgbClr val="0000FF"/>
                </a:solidFill>
              </a:rPr>
              <a:t>RFLP</a:t>
            </a:r>
            <a:r>
              <a:rPr lang="zh-CN" altLang="en-US" dirty="0">
                <a:solidFill>
                  <a:srgbClr val="0000FF"/>
                </a:solidFill>
              </a:rPr>
              <a:t>一样，</a:t>
            </a:r>
            <a:r>
              <a:rPr lang="en-US" altLang="zh-CN" dirty="0">
                <a:solidFill>
                  <a:srgbClr val="0000FF"/>
                </a:solidFill>
              </a:rPr>
              <a:t>SSLP</a:t>
            </a:r>
            <a:r>
              <a:rPr lang="zh-CN" altLang="en-US" dirty="0">
                <a:solidFill>
                  <a:srgbClr val="0000FF"/>
                </a:solidFill>
              </a:rPr>
              <a:t>的多态性也体现在</a:t>
            </a:r>
            <a:r>
              <a:rPr lang="en-US" altLang="zh-CN" dirty="0">
                <a:solidFill>
                  <a:srgbClr val="0000FF"/>
                </a:solidFill>
              </a:rPr>
              <a:t>DNA</a:t>
            </a:r>
            <a:r>
              <a:rPr lang="zh-CN" altLang="en-US" dirty="0">
                <a:solidFill>
                  <a:srgbClr val="0000FF"/>
                </a:solidFill>
              </a:rPr>
              <a:t>序列的长度上，</a:t>
            </a:r>
            <a:r>
              <a:rPr lang="en-US" altLang="zh-CN" dirty="0">
                <a:solidFill>
                  <a:srgbClr val="0000FF"/>
                </a:solidFill>
              </a:rPr>
              <a:t>SSLP</a:t>
            </a:r>
            <a:r>
              <a:rPr lang="zh-CN" altLang="en-US" dirty="0">
                <a:solidFill>
                  <a:srgbClr val="0000FF"/>
                </a:solidFill>
              </a:rPr>
              <a:t>相比</a:t>
            </a:r>
            <a:r>
              <a:rPr lang="en-US" altLang="zh-CN" dirty="0">
                <a:solidFill>
                  <a:srgbClr val="0000FF"/>
                </a:solidFill>
              </a:rPr>
              <a:t>RFLP</a:t>
            </a:r>
            <a:r>
              <a:rPr lang="zh-CN" altLang="en-US" dirty="0">
                <a:solidFill>
                  <a:srgbClr val="0000FF"/>
                </a:solidFill>
              </a:rPr>
              <a:t>的优点有？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5924" y="3781965"/>
            <a:ext cx="11310259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0" lvl="1" indent="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dirty="0">
                <a:solidFill>
                  <a:srgbClr val="F31B0B"/>
                </a:solidFill>
              </a:rPr>
              <a:t>1.SSLP</a:t>
            </a:r>
            <a:r>
              <a:rPr lang="zh-CN" altLang="en-US" dirty="0">
                <a:solidFill>
                  <a:srgbClr val="F31B0B"/>
                </a:solidFill>
              </a:rPr>
              <a:t>在基因组的分布范围和密度都更大</a:t>
            </a:r>
            <a:endParaRPr lang="en-US" altLang="zh-CN" dirty="0">
              <a:solidFill>
                <a:srgbClr val="F31B0B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dirty="0">
                <a:solidFill>
                  <a:srgbClr val="F31B0B"/>
                </a:solidFill>
              </a:rPr>
              <a:t>2.</a:t>
            </a:r>
            <a:r>
              <a:rPr lang="zh-CN" altLang="en-US" dirty="0">
                <a:solidFill>
                  <a:srgbClr val="F31B0B"/>
                </a:solidFill>
              </a:rPr>
              <a:t>有不同重复次数的多种等位基因形式，比</a:t>
            </a:r>
            <a:r>
              <a:rPr lang="en-US" altLang="zh-CN" dirty="0">
                <a:solidFill>
                  <a:srgbClr val="F31B0B"/>
                </a:solidFill>
              </a:rPr>
              <a:t>RFLP</a:t>
            </a:r>
            <a:r>
              <a:rPr lang="zh-CN" altLang="en-US" dirty="0">
                <a:solidFill>
                  <a:srgbClr val="F31B0B"/>
                </a:solidFill>
              </a:rPr>
              <a:t>的二态性好</a:t>
            </a:r>
            <a:endParaRPr lang="en-US" altLang="zh-CN" dirty="0">
              <a:solidFill>
                <a:srgbClr val="F31B0B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dirty="0">
                <a:solidFill>
                  <a:srgbClr val="F31B0B"/>
                </a:solidFill>
              </a:rPr>
              <a:t>（两种</a:t>
            </a:r>
            <a:r>
              <a:rPr lang="en-US" altLang="zh-CN" dirty="0">
                <a:solidFill>
                  <a:srgbClr val="F31B0B"/>
                </a:solidFill>
              </a:rPr>
              <a:t>SSLP</a:t>
            </a:r>
            <a:r>
              <a:rPr lang="zh-CN" altLang="en-US" dirty="0">
                <a:solidFill>
                  <a:srgbClr val="F31B0B"/>
                </a:solidFill>
              </a:rPr>
              <a:t>中</a:t>
            </a:r>
            <a:r>
              <a:rPr lang="en-US" altLang="zh-CN" dirty="0">
                <a:solidFill>
                  <a:srgbClr val="F31B0B"/>
                </a:solidFill>
              </a:rPr>
              <a:t>STR</a:t>
            </a:r>
            <a:r>
              <a:rPr lang="zh-CN" altLang="en-US" dirty="0">
                <a:solidFill>
                  <a:srgbClr val="F31B0B"/>
                </a:solidFill>
              </a:rPr>
              <a:t>的使用更广泛，因为分布更广，密度更高，序列更短，检测更方便）</a:t>
            </a:r>
            <a:endParaRPr lang="zh-CN" altLang="en-US" dirty="0">
              <a:solidFill>
                <a:srgbClr val="F31B0B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33979" y="4993707"/>
            <a:ext cx="12058021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0" lvl="1" indent="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2000" dirty="0">
                <a:latin typeface="+mj-ea"/>
                <a:ea typeface="+mj-ea"/>
              </a:rPr>
              <a:t>SNP</a:t>
            </a:r>
            <a:r>
              <a:rPr lang="zh-CN" altLang="en-US" sz="2000" dirty="0">
                <a:latin typeface="+mj-ea"/>
                <a:ea typeface="+mj-ea"/>
              </a:rPr>
              <a:t>一般只有两种不同的碱基组成，频率高的被称为</a:t>
            </a:r>
            <a:r>
              <a:rPr lang="zh-CN" altLang="en-US" sz="2000" dirty="0">
                <a:solidFill>
                  <a:srgbClr val="FF0000"/>
                </a:solidFill>
                <a:latin typeface="+mj-ea"/>
                <a:ea typeface="+mj-ea"/>
              </a:rPr>
              <a:t>主要等位基因</a:t>
            </a:r>
            <a:r>
              <a:rPr lang="zh-CN" altLang="en-US" sz="2000" dirty="0">
                <a:latin typeface="+mj-ea"/>
                <a:ea typeface="+mj-ea"/>
              </a:rPr>
              <a:t>，频率低的被称为</a:t>
            </a:r>
            <a:r>
              <a:rPr lang="zh-CN" altLang="en-US" sz="2000" dirty="0">
                <a:solidFill>
                  <a:srgbClr val="FF0000"/>
                </a:solidFill>
                <a:latin typeface="+mj-ea"/>
                <a:ea typeface="+mj-ea"/>
              </a:rPr>
              <a:t>次要等位基因</a:t>
            </a:r>
            <a:r>
              <a:rPr lang="zh-CN" altLang="en-US" sz="2000" dirty="0">
                <a:latin typeface="+mj-ea"/>
                <a:ea typeface="+mj-ea"/>
              </a:rPr>
              <a:t>。</a:t>
            </a:r>
            <a:endParaRPr lang="en-US" altLang="zh-CN" sz="2000" dirty="0">
              <a:latin typeface="+mj-ea"/>
              <a:ea typeface="+mj-ea"/>
            </a:endParaRPr>
          </a:p>
          <a:p>
            <a:r>
              <a:rPr lang="zh-CN" altLang="en-US" sz="2000" dirty="0">
                <a:latin typeface="+mj-ea"/>
                <a:ea typeface="+mj-ea"/>
              </a:rPr>
              <a:t>出现频率低于</a:t>
            </a:r>
            <a:r>
              <a:rPr lang="en-US" altLang="zh-CN" sz="2000" dirty="0">
                <a:latin typeface="+mj-ea"/>
                <a:ea typeface="+mj-ea"/>
              </a:rPr>
              <a:t>1%</a:t>
            </a:r>
            <a:r>
              <a:rPr lang="zh-CN" altLang="en-US" sz="2000" dirty="0">
                <a:latin typeface="+mj-ea"/>
                <a:ea typeface="+mj-ea"/>
              </a:rPr>
              <a:t>，且会导致疾病 </a:t>
            </a:r>
            <a:r>
              <a:rPr lang="en-US" altLang="zh-CN" sz="2000" dirty="0">
                <a:latin typeface="+mj-ea"/>
                <a:ea typeface="+mj-ea"/>
              </a:rPr>
              <a:t>/ </a:t>
            </a:r>
            <a:r>
              <a:rPr lang="zh-CN" altLang="en-US" sz="2000" dirty="0">
                <a:latin typeface="+mj-ea"/>
                <a:ea typeface="+mj-ea"/>
              </a:rPr>
              <a:t>性状产生的等位基因被称为</a:t>
            </a:r>
            <a:r>
              <a:rPr lang="zh-CN" altLang="en-US" sz="2000" dirty="0">
                <a:solidFill>
                  <a:srgbClr val="FF0000"/>
                </a:solidFill>
                <a:latin typeface="+mj-ea"/>
                <a:ea typeface="+mj-ea"/>
              </a:rPr>
              <a:t>突变型等位基因</a:t>
            </a:r>
            <a:r>
              <a:rPr lang="zh-CN" altLang="en-US" sz="2000" dirty="0">
                <a:latin typeface="+mj-ea"/>
                <a:ea typeface="+mj-ea"/>
              </a:rPr>
              <a:t>，频率接近 </a:t>
            </a:r>
            <a:r>
              <a:rPr lang="en-US" altLang="zh-CN" sz="2000" dirty="0">
                <a:latin typeface="+mj-ea"/>
                <a:ea typeface="+mj-ea"/>
              </a:rPr>
              <a:t>100% </a:t>
            </a:r>
            <a:r>
              <a:rPr lang="zh-CN" altLang="en-US" sz="2000" dirty="0">
                <a:latin typeface="+mj-ea"/>
                <a:ea typeface="+mj-ea"/>
              </a:rPr>
              <a:t>的被称为</a:t>
            </a:r>
            <a:r>
              <a:rPr lang="zh-CN" altLang="en-US" sz="2000" dirty="0">
                <a:solidFill>
                  <a:srgbClr val="FF0000"/>
                </a:solidFill>
                <a:latin typeface="+mj-ea"/>
                <a:ea typeface="+mj-ea"/>
              </a:rPr>
              <a:t>野生型等位基因</a:t>
            </a:r>
            <a:r>
              <a:rPr lang="zh-CN" altLang="en-US" sz="2000" dirty="0">
                <a:latin typeface="+mj-ea"/>
                <a:ea typeface="+mj-ea"/>
              </a:rPr>
              <a:t>。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74278" y="4553405"/>
            <a:ext cx="77094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人群常见遗传差异</a:t>
            </a:r>
            <a:r>
              <a:rPr lang="en-US" altLang="zh-CN" dirty="0"/>
              <a:t>SNP</a:t>
            </a:r>
            <a:r>
              <a:rPr lang="zh-CN" altLang="en-US" dirty="0"/>
              <a:t>与点突变的对比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35" y="2090176"/>
            <a:ext cx="11756587" cy="228580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0870" y="1125691"/>
            <a:ext cx="1187715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0" lvl="1" indent="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lvl="1"/>
            <a:r>
              <a:rPr lang="zh-CN" altLang="en-US" dirty="0"/>
              <a:t>指的是由</a:t>
            </a:r>
            <a:r>
              <a:rPr lang="zh-CN" altLang="en-US" dirty="0">
                <a:solidFill>
                  <a:srgbClr val="0000FF"/>
                </a:solidFill>
              </a:rPr>
              <a:t>单个核苷酸变异</a:t>
            </a:r>
            <a:r>
              <a:rPr lang="zh-CN" altLang="en-US" dirty="0"/>
              <a:t>所引起的 </a:t>
            </a:r>
            <a:r>
              <a:rPr lang="en-US" altLang="zh-CN" dirty="0"/>
              <a:t>DNA </a:t>
            </a:r>
            <a:r>
              <a:rPr lang="zh-CN" altLang="en-US" dirty="0"/>
              <a:t>序列的多态性。人类基因组中平均每</a:t>
            </a:r>
            <a:r>
              <a:rPr lang="en-US" altLang="zh-CN" dirty="0"/>
              <a:t>1200</a:t>
            </a:r>
            <a:r>
              <a:rPr lang="zh-CN" altLang="en-US" dirty="0"/>
              <a:t>个核苷酸中就有一个</a:t>
            </a:r>
            <a:r>
              <a:rPr lang="en-US" altLang="zh-CN" dirty="0"/>
              <a:t>SNP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5125" y="146961"/>
            <a:ext cx="10387483" cy="97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第三代分子遗传标记：单核苷酸多态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single nucleotide polymorphism, SNP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305283" y="5491120"/>
            <a:ext cx="9009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单条染色体上连续多个</a:t>
            </a:r>
            <a:r>
              <a:rPr lang="en-US" altLang="zh-CN" dirty="0"/>
              <a:t>SNP</a:t>
            </a:r>
            <a:r>
              <a:rPr lang="zh-CN" altLang="en-US" dirty="0"/>
              <a:t>构成的单倍型在人群中呈现出良好的多态性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0" y="2835449"/>
            <a:ext cx="12080626" cy="259066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4690" y="103566"/>
            <a:ext cx="11943089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ts val="1200"/>
              </a:spcBef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0" lvl="1" indent="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lvl="1"/>
            <a:r>
              <a:rPr lang="en-US" altLang="zh-CN" dirty="0"/>
              <a:t>       SNP</a:t>
            </a:r>
            <a:r>
              <a:rPr lang="zh-CN" altLang="en-US" dirty="0"/>
              <a:t>的数量和分布远超</a:t>
            </a:r>
            <a:r>
              <a:rPr lang="en-US" altLang="zh-CN" dirty="0"/>
              <a:t>SSLP</a:t>
            </a:r>
            <a:r>
              <a:rPr lang="zh-CN" altLang="en-US" dirty="0"/>
              <a:t>和</a:t>
            </a:r>
            <a:r>
              <a:rPr lang="en-US" altLang="zh-CN" dirty="0"/>
              <a:t>RFLP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它是当下使用最广泛的分子遗传标记</a:t>
            </a:r>
            <a:r>
              <a:rPr lang="zh-CN" altLang="en-US" dirty="0"/>
              <a:t>。</a:t>
            </a:r>
            <a:r>
              <a:rPr lang="en-US" altLang="zh-CN" dirty="0"/>
              <a:t>SNP</a:t>
            </a:r>
            <a:r>
              <a:rPr lang="zh-CN" altLang="en-US" dirty="0"/>
              <a:t>和</a:t>
            </a:r>
            <a:r>
              <a:rPr lang="en-US" altLang="zh-CN" dirty="0"/>
              <a:t>RFLP</a:t>
            </a:r>
            <a:r>
              <a:rPr lang="zh-CN" altLang="en-US" dirty="0"/>
              <a:t>、</a:t>
            </a:r>
            <a:r>
              <a:rPr lang="en-US" altLang="zh-CN" dirty="0"/>
              <a:t>SSLP</a:t>
            </a:r>
            <a:r>
              <a:rPr lang="zh-CN" altLang="en-US" dirty="0"/>
              <a:t>不同，它不再是</a:t>
            </a:r>
            <a:r>
              <a:rPr lang="en-US" altLang="zh-CN" dirty="0"/>
              <a:t>DNA</a:t>
            </a:r>
            <a:r>
              <a:rPr lang="zh-CN" altLang="en-US" dirty="0"/>
              <a:t>片段的长度变化，而是直接以序列变异作为标记。因此，常用的</a:t>
            </a:r>
            <a:r>
              <a:rPr lang="en-US" altLang="zh-CN" dirty="0"/>
              <a:t>SNP</a:t>
            </a:r>
            <a:r>
              <a:rPr lang="zh-CN" altLang="en-US" dirty="0"/>
              <a:t>检测方法是</a:t>
            </a:r>
            <a:r>
              <a:rPr lang="zh-CN" altLang="en-US" dirty="0">
                <a:solidFill>
                  <a:srgbClr val="FF0000"/>
                </a:solidFill>
              </a:rPr>
              <a:t>分子杂交技术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       尽管</a:t>
            </a:r>
            <a:r>
              <a:rPr lang="en-US" altLang="zh-CN" dirty="0"/>
              <a:t>SNP</a:t>
            </a:r>
            <a:r>
              <a:rPr lang="zh-CN" altLang="en-US" dirty="0"/>
              <a:t>通常也是二态的，即一个</a:t>
            </a:r>
            <a:r>
              <a:rPr lang="en-US" altLang="zh-CN" dirty="0"/>
              <a:t>SNP</a:t>
            </a:r>
            <a:r>
              <a:rPr lang="zh-CN" altLang="en-US" dirty="0"/>
              <a:t>在人群中通常有两种核苷酸类型，但由于</a:t>
            </a:r>
            <a:r>
              <a:rPr lang="en-US" altLang="zh-CN" dirty="0"/>
              <a:t>SNP</a:t>
            </a:r>
            <a:r>
              <a:rPr lang="zh-CN" altLang="en-US" dirty="0"/>
              <a:t>数量多，可以</a:t>
            </a:r>
            <a:r>
              <a:rPr lang="zh-CN" altLang="en-US" dirty="0">
                <a:solidFill>
                  <a:srgbClr val="FF0000"/>
                </a:solidFill>
              </a:rPr>
              <a:t>通过单倍型组合增加多态性</a:t>
            </a:r>
            <a:r>
              <a:rPr lang="zh-CN" altLang="en-US" dirty="0"/>
              <a:t>。此外，芯片杂交技术的成熟促进了</a:t>
            </a:r>
            <a:r>
              <a:rPr lang="en-US" altLang="zh-CN" dirty="0"/>
              <a:t>SNP</a:t>
            </a:r>
            <a:r>
              <a:rPr lang="zh-CN" altLang="en-US" dirty="0"/>
              <a:t>自动化批量检测和快速数据分析。</a:t>
            </a:r>
            <a:endParaRPr lang="en-US" altLang="zh-CN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063" y="382542"/>
            <a:ext cx="10515600" cy="697321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二、基因连锁与基因诊断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4063" y="1079863"/>
            <a:ext cx="112928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基因诊断：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指的是利用分子生物学技术从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DNA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水平检测人类遗传性疾病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	   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的基因缺陷，又称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DNA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分析法。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基因诊断包括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直接诊断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间接诊断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直接诊断：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是直接分析致病基因是否存在异常，确定致病基因的缺陷性质，但是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需要已知的遗传机制，致病基因的详细序列信息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间接诊断：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可以在不知道致病基因序列的前提下，利用与疾病基因紧密连锁的遗传标记进行基因诊断。（如果已知某遗传标记与致病基因紧密连锁，那么即使不检测该致病基因的序列，也能正确进行基因突变的诊断。）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6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78" y="0"/>
            <a:ext cx="9084037" cy="432638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62415" y="4326384"/>
            <a:ext cx="11927985" cy="22467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案例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β 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地中海贫血是一种遗传性溶血性贫血症。有一孕妇以前生育过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β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地中海贫血儿子，该患儿于生后一年死亡，她现在又怀孕，要求对她的胎儿进行产前诊断。连锁分析显示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3.7 kb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的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RF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条带与突变 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β°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珠蛋白基因连锁，而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4.4 kb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的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RF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条带和正常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β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珠蛋白基因连锁。胎儿仅有 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3.7 kb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的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</a:rPr>
              <a:t>RF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</a:rPr>
              <a:t>带，仍然是贫血患儿。</a:t>
            </a: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51D38-C989-48BC-B1AB-387F6E8DCEB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3628593" y="5214141"/>
            <a:ext cx="4405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14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400" b="1" dirty="0"/>
              <a:t>苯丙酮尿症的基因诊断</a:t>
            </a:r>
            <a:endParaRPr lang="zh-CN" altLang="en-US" sz="24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-16777" y="5826778"/>
            <a:ext cx="12208778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</a:t>
            </a:r>
            <a:r>
              <a:rPr lang="en-US" altLang="zh-CN" sz="16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PH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基因及其侧翼区域的结构示意图。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Msp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</a:t>
            </a:r>
            <a:r>
              <a:rPr lang="en-US" altLang="zh-CN" sz="1600" i="1" dirty="0" err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Msp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Ⅰ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酶切位点。（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）家系图：每个成员的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RF 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大小已标出。（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 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Southern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印迹结果。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" y="1314723"/>
            <a:ext cx="12212198" cy="3471766"/>
          </a:xfrm>
          <a:prstGeom prst="rect">
            <a:avLst/>
          </a:prstGeom>
        </p:spPr>
      </p:pic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79022" y="112889"/>
            <a:ext cx="12112978" cy="867930"/>
          </a:xfrm>
          <a:noFill/>
          <a:ln>
            <a:noFill/>
          </a:ln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案例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2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：苯丙酮尿症是由于苯丙氨酸羟化酶基因（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PH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）异常引起的。可以利用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PH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基因所在染色体邻近座位上的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RFLP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对</a:t>
            </a:r>
            <a:r>
              <a:rPr lang="en-US" altLang="zh-CN" sz="28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PH</a:t>
            </a:r>
            <a:r>
              <a:rPr lang="zh-CN" altLang="en-US" sz="2800" b="1" dirty="0"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基因进行基因诊断</a:t>
            </a:r>
            <a:endParaRPr lang="en-US" altLang="zh-CN" sz="2800" b="1" dirty="0"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22209"/>
          <p:cNvSpPr txBox="1"/>
          <p:nvPr/>
        </p:nvSpPr>
        <p:spPr>
          <a:xfrm>
            <a:off x="297024" y="508651"/>
            <a:ext cx="10515600" cy="642581"/>
          </a:xfrm>
          <a:prstGeom prst="rect">
            <a:avLst/>
          </a:prstGeom>
        </p:spPr>
        <p:txBody>
          <a:bodyPr vert="horz" lIns="92075" tIns="46038" rIns="92075" bIns="4603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三、家系分析法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占位符 222210"/>
          <p:cNvSpPr txBox="1"/>
          <p:nvPr/>
        </p:nvSpPr>
        <p:spPr>
          <a:xfrm>
            <a:off x="488301" y="1290569"/>
            <a:ext cx="10515600" cy="11974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家系的连锁分析首先要从群体中选择适合的家系，要求被挑选家系中双亲之一或两个为双杂合体，并且注意双杂合体家系要随机抽样，避免产生偏倚。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1527" y="2488062"/>
            <a:ext cx="108981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同时必须剔除下列几种家系：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）双亲性状不能在子代中得到分离的，如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GgTt╳GGTT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）家庭中仅有一个子代的；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）亲本之一的基因型不明或死亡的。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标题 224257"/>
          <p:cNvSpPr>
            <a:spLocks noGrp="1"/>
          </p:cNvSpPr>
          <p:nvPr>
            <p:ph type="title"/>
          </p:nvPr>
        </p:nvSpPr>
        <p:spPr>
          <a:xfrm>
            <a:off x="614265" y="190500"/>
            <a:ext cx="7772400" cy="571500"/>
          </a:xfrm>
        </p:spPr>
        <p:txBody>
          <a:bodyPr lIns="92075" tIns="46038" rIns="92075" bIns="46038" anchor="ctr">
            <a:normAutofit/>
          </a:bodyPr>
          <a:lstStyle/>
          <a:p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三代的系谱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4259" name="文本占位符 224258"/>
          <p:cNvSpPr>
            <a:spLocks noGrp="1"/>
          </p:cNvSpPr>
          <p:nvPr>
            <p:ph type="body" idx="1"/>
          </p:nvPr>
        </p:nvSpPr>
        <p:spPr>
          <a:xfrm>
            <a:off x="614265" y="762000"/>
            <a:ext cx="11132976" cy="24290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在三代系谱中较容易确定子代是否发生基因重组，可直接计算重组值。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例：如图，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设黑色表示患一种显性的肌强直功能不全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mytonic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dystrophy)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性状标志为唾液分泌类型，由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Se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se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一对等位基因所控制，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Se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为显性基因。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文本占位符 225282"/>
          <p:cNvPicPr>
            <a:picLocks noChangeAspect="1"/>
          </p:cNvPicPr>
          <p:nvPr/>
        </p:nvPicPr>
        <p:blipFill>
          <a:blip r:embed="rId1"/>
          <a:srcRect l="17647" t="17696" r="23529" b="594"/>
          <a:stretch>
            <a:fillRect/>
          </a:stretch>
        </p:blipFill>
        <p:spPr>
          <a:xfrm>
            <a:off x="3125755" y="2869740"/>
            <a:ext cx="4836367" cy="3466295"/>
          </a:xfrm>
          <a:prstGeom prst="rect">
            <a:avLst/>
          </a:prstGeom>
        </p:spPr>
      </p:pic>
      <p:sp>
        <p:nvSpPr>
          <p:cNvPr id="5" name="标题 225281"/>
          <p:cNvSpPr txBox="1"/>
          <p:nvPr/>
        </p:nvSpPr>
        <p:spPr>
          <a:xfrm>
            <a:off x="1965650" y="6117771"/>
            <a:ext cx="7772400" cy="927100"/>
          </a:xfrm>
          <a:prstGeom prst="rect">
            <a:avLst/>
          </a:prstGeom>
        </p:spPr>
        <p:txBody>
          <a:bodyPr vert="horz" lIns="92075" tIns="46038" rIns="92075" bIns="46038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肌强直功能不全和唾液分泌类型发生分离的家庭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文本占位符 226305"/>
          <p:cNvSpPr>
            <a:spLocks noGrp="1"/>
          </p:cNvSpPr>
          <p:nvPr>
            <p:ph type="body" idx="1"/>
          </p:nvPr>
        </p:nvSpPr>
        <p:spPr>
          <a:xfrm>
            <a:off x="373224" y="467373"/>
            <a:ext cx="11445552" cy="3020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个体患有肌强直功能不全症并伴有唾液分泌型的特性；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I-2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不患此病并为非分泌型。其生育的女儿（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II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）也为肌强直功能不全症并伴有唾液分泌型，所以她（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II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）的疾病和分泌型性状的两个基因来自父亲，说明疾病基因和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Se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基因在一条染色体上，她的基因型为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GSe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gse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，为相引相的双杂合体。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第三代的性状开始分离，有的为分泌型伴疾病，有的不伴病。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占位符 227329"/>
          <p:cNvSpPr txBox="1"/>
          <p:nvPr/>
        </p:nvSpPr>
        <p:spPr>
          <a:xfrm>
            <a:off x="373224" y="3199947"/>
            <a:ext cx="10773747" cy="2377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在第三代六个子代中，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III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个体为健康者并为分泌型，说明原来疾病基因和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Se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基因连锁的染色体与其同源染色体间发生了交换，因此该个体为重组体。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III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-2 -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III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-6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均为非重组体。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因此重组率为：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1/6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9560" y="336436"/>
            <a:ext cx="10515600" cy="68920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四、优势对数计分法（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做一定了解</a:t>
            </a: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89560" y="1377110"/>
            <a:ext cx="10515600" cy="689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五、克隆定位（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做一定了解</a:t>
            </a: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1c11c507-e4b0-4bf7-b050-8be12020c09e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15355</Words>
  <Application>WPS 演示</Application>
  <PresentationFormat>宽屏</PresentationFormat>
  <Paragraphs>927</Paragraphs>
  <Slides>92</Slides>
  <Notes>30</Notes>
  <HiddenSlides>1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92</vt:i4>
      </vt:variant>
    </vt:vector>
  </HeadingPairs>
  <TitlesOfParts>
    <vt:vector size="112" baseType="lpstr">
      <vt:lpstr>Arial</vt:lpstr>
      <vt:lpstr>宋体</vt:lpstr>
      <vt:lpstr>Wingdings</vt:lpstr>
      <vt:lpstr>Times New Roman</vt:lpstr>
      <vt:lpstr>黑体</vt:lpstr>
      <vt:lpstr>楷体_GB2312</vt:lpstr>
      <vt:lpstr>新宋体</vt:lpstr>
      <vt:lpstr>微软雅黑</vt:lpstr>
      <vt:lpstr>Arial Unicode MS</vt:lpstr>
      <vt:lpstr>Calibri</vt:lpstr>
      <vt:lpstr>华文楷体</vt:lpstr>
      <vt:lpstr>Symbol</vt:lpstr>
      <vt:lpstr>Office 主题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第一节 连锁与交换</vt:lpstr>
      <vt:lpstr>PowerPoint 演示文稿</vt:lpstr>
      <vt:lpstr>一、连锁遗传现象</vt:lpstr>
      <vt:lpstr>紫花、长花粉粒×红花、圆花粉粒</vt:lpstr>
      <vt:lpstr>PowerPoint 演示文稿</vt:lpstr>
      <vt:lpstr>二、连锁遗传的解释</vt:lpstr>
      <vt:lpstr>1.每对相对性状是否符合分离规律？</vt:lpstr>
      <vt:lpstr>1.每对相对性状是否符合分离规律？</vt:lpstr>
      <vt:lpstr>2. 非等位基因间是否符合独立分配规律？（自由组合？）</vt:lpstr>
      <vt:lpstr>PowerPoint 演示文稿</vt:lpstr>
      <vt:lpstr>果蝇作为遗传学实验材料的优点：</vt:lpstr>
      <vt:lpstr>3.摩尔根等的果蝇遗传试验</vt:lpstr>
      <vt:lpstr>   相引相</vt:lpstr>
      <vt:lpstr>4.连锁遗传现象的解释</vt:lpstr>
      <vt:lpstr>三、完全连锁和不完全连锁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五、交换的细胞学基础</vt:lpstr>
      <vt:lpstr>六、连锁群</vt:lpstr>
      <vt:lpstr>一、交换值的概念</vt:lpstr>
      <vt:lpstr>二、交换值的测定</vt:lpstr>
      <vt:lpstr>二、交换值的测定</vt:lpstr>
      <vt:lpstr>PowerPoint 演示文稿</vt:lpstr>
      <vt:lpstr>PowerPoint 演示文稿</vt:lpstr>
      <vt:lpstr>PowerPoint 演示文稿</vt:lpstr>
      <vt:lpstr>二、交换值的测定</vt:lpstr>
      <vt:lpstr>二、交换值的测定</vt:lpstr>
      <vt:lpstr>三、交换值与遗传距离</vt:lpstr>
      <vt:lpstr>四、影响交换值的因素</vt:lpstr>
      <vt:lpstr>四、影响交换值的因素</vt:lpstr>
      <vt:lpstr>第三节 基因定位与连锁遗传图</vt:lpstr>
      <vt:lpstr>一、连锁分析的方法</vt:lpstr>
      <vt:lpstr>两点测验</vt:lpstr>
      <vt:lpstr>两点测验的3个测交结果</vt:lpstr>
      <vt:lpstr>PowerPoint 演示文稿</vt:lpstr>
      <vt:lpstr>PowerPoint 演示文稿</vt:lpstr>
      <vt:lpstr>三点测验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三点测验</vt:lpstr>
      <vt:lpstr>PowerPoint 演示文稿</vt:lpstr>
      <vt:lpstr>PowerPoint 演示文稿</vt:lpstr>
      <vt:lpstr>二、干扰</vt:lpstr>
      <vt:lpstr>PowerPoint 演示文稿</vt:lpstr>
      <vt:lpstr>三、连锁遗传图(linkage map)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粗糙链孢霉作为遗传学实验材料的优点：</vt:lpstr>
      <vt:lpstr>一、着丝粒作图</vt:lpstr>
      <vt:lpstr>PowerPoint 演示文稿</vt:lpstr>
      <vt:lpstr>基因与着丝粒重组率的计算</vt:lpstr>
      <vt:lpstr>二、粗糙链孢霉的连锁分析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第五节 连锁分析与人类基因的诊断和定位</vt:lpstr>
      <vt:lpstr>一、限制性片段长度多肽性 （ restriction fragment length polymorphism， RFLP ） </vt:lpstr>
      <vt:lpstr>例1：人的RFLP指纹分析</vt:lpstr>
      <vt:lpstr>PowerPoint 演示文稿</vt:lpstr>
      <vt:lpstr>PowerPoint 演示文稿</vt:lpstr>
      <vt:lpstr>例2：系统发育的RFLP分析</vt:lpstr>
      <vt:lpstr>PowerPoint 演示文稿</vt:lpstr>
      <vt:lpstr>随机扩增多态性DNA （random amplified polymorphic DNA，RAPD ）  </vt:lpstr>
      <vt:lpstr>扩增片段长度多态性 （amplified fragment length polymorphism， AFLP ） </vt:lpstr>
      <vt:lpstr>PowerPoint 演示文稿</vt:lpstr>
      <vt:lpstr>PowerPoint 演示文稿</vt:lpstr>
      <vt:lpstr>PowerPoint 演示文稿</vt:lpstr>
      <vt:lpstr>PowerPoint 演示文稿</vt:lpstr>
      <vt:lpstr>二、基因连锁与基因诊断</vt:lpstr>
      <vt:lpstr>PowerPoint 演示文稿</vt:lpstr>
      <vt:lpstr>PowerPoint 演示文稿</vt:lpstr>
      <vt:lpstr>PowerPoint 演示文稿</vt:lpstr>
      <vt:lpstr>三代的系谱</vt:lpstr>
      <vt:lpstr>PowerPoint 演示文稿</vt:lpstr>
      <vt:lpstr>四、优势对数计分法（做一定了解）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第六章 染色体和连锁群</dc:title>
  <dc:creator>Administrator</dc:creator>
  <cp:lastModifiedBy>杨柳岸Larry</cp:lastModifiedBy>
  <cp:revision>261</cp:revision>
  <dcterms:created xsi:type="dcterms:W3CDTF">2019-10-23T11:59:00Z</dcterms:created>
  <dcterms:modified xsi:type="dcterms:W3CDTF">2025-02-22T01:35:25Z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BF062D70FCA049E287FB128B51DA3B9F_12</vt:lpwstr>
  </property>
</Properties>
</file>