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21"/>
  </p:notesMasterIdLst>
  <p:sldIdLst>
    <p:sldId id="263" r:id="rId3"/>
    <p:sldId id="316" r:id="rId4"/>
    <p:sldId id="318" r:id="rId5"/>
    <p:sldId id="321" r:id="rId6"/>
    <p:sldId id="346" r:id="rId7"/>
    <p:sldId id="347" r:id="rId8"/>
    <p:sldId id="324" r:id="rId9"/>
    <p:sldId id="326" r:id="rId10"/>
    <p:sldId id="327" r:id="rId11"/>
    <p:sldId id="328" r:id="rId12"/>
    <p:sldId id="329" r:id="rId13"/>
    <p:sldId id="343" r:id="rId14"/>
    <p:sldId id="330" r:id="rId15"/>
    <p:sldId id="344" r:id="rId16"/>
    <p:sldId id="334" r:id="rId17"/>
    <p:sldId id="335" r:id="rId18"/>
    <p:sldId id="345" r:id="rId19"/>
    <p:sldId id="342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1CFB"/>
    <a:srgbClr val="041BFA"/>
    <a:srgbClr val="3A5991"/>
    <a:srgbClr val="EDEEF2"/>
    <a:srgbClr val="063090"/>
    <a:srgbClr val="FFFF00"/>
    <a:srgbClr val="031386"/>
    <a:srgbClr val="006699"/>
    <a:srgbClr val="0046D4"/>
    <a:srgbClr val="00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077" autoAdjust="0"/>
  </p:normalViewPr>
  <p:slideViewPr>
    <p:cSldViewPr snapToGrid="0">
      <p:cViewPr varScale="1">
        <p:scale>
          <a:sx n="94" d="100"/>
          <a:sy n="94" d="100"/>
        </p:scale>
        <p:origin x="636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2323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2BE6C-E1A6-417E-951F-337EB91C0C8D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31CDC8-E1E3-4EFD-A43E-3723536F9B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0475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1CDC8-E1E3-4EFD-A43E-3723536F9B5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19859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麦粉蛾中，野生型的幼虫皮肤是有色的，成虫复眼是深褐色的。这一性状由一对基因控制。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31CDC8-E1E3-4EFD-A43E-3723536F9B5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98396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拿一个螺壳，使螺壳的开口朝着 你自己，椎尖朝上，那么开口在右边的，螺壳就是右旋的，开口在左边的，螺壳就是左旋的。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31CDC8-E1E3-4EFD-A43E-3723536F9B5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28839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31CDC8-E1E3-4EFD-A43E-3723536F9B5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44854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酵母菌有性生殖时，两个交配型不同的单倍体细胞互相结合，形成二倍体合子。二倍体合子经过减数分裂，形成 </a:t>
            </a:r>
            <a:r>
              <a:rPr lang="en-US" altLang="zh-CN" dirty="0"/>
              <a:t>4 </a:t>
            </a:r>
            <a:r>
              <a:rPr lang="zh-CN" altLang="en-US" dirty="0"/>
              <a:t>个单倍体子囊孢子。无性繁殖时，酵母菌利用出芽生殖的方法增殖，在合适条件下，不论单倍体细胞或双倍体细胞，都可用出芽生 殖继续繁衍下去。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实验材料：“小菌落”酵母，缺少细胞色素 </a:t>
            </a:r>
            <a:r>
              <a:rPr lang="en-US" altLang="zh-CN" dirty="0"/>
              <a:t>a</a:t>
            </a:r>
            <a:r>
              <a:rPr lang="zh-CN" altLang="en-US" dirty="0"/>
              <a:t>和 </a:t>
            </a:r>
            <a:r>
              <a:rPr lang="en-US" altLang="zh-CN" dirty="0"/>
              <a:t>b </a:t>
            </a:r>
            <a:r>
              <a:rPr lang="zh-CN" altLang="en-US" dirty="0"/>
              <a:t>以及细胞色素 </a:t>
            </a:r>
            <a:r>
              <a:rPr lang="en-US" altLang="zh-CN" dirty="0"/>
              <a:t>c </a:t>
            </a:r>
            <a:r>
              <a:rPr lang="zh-CN" altLang="en-US" dirty="0"/>
              <a:t>氧化酶。把小菌落酵母菌跟正常的酵母菌交配，只产生正常的二倍体合子，它们的单倍体后代也是正 常的，“小菌落”的性状消失了，完全表现为细胞质遗传。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31CDC8-E1E3-4EFD-A43E-3723536F9B5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32796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不同交配型用黑白小圈表示，因为交配型由核基因控制，所以显示孟德尔式分离比 </a:t>
            </a:r>
            <a:r>
              <a:rPr lang="en-US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4∶4</a:t>
            </a:r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。野生型</a:t>
            </a:r>
            <a:r>
              <a:rPr lang="en-US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(+)</a:t>
            </a:r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细胞质中有小黑点，突变型</a:t>
            </a:r>
            <a:r>
              <a:rPr lang="en-US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120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po</a:t>
            </a:r>
            <a:r>
              <a:rPr lang="en-US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细胞质中没有小黑点，杂交后代未出现分离，显示母系遗传。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31CDC8-E1E3-4EFD-A43E-3723536F9B5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60095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草履虫有两种基本的生殖方式：①无性生殖，由一个个体通过细胞分裂成为两个个体；②有性生殖，即接合生殖，两个个体接合，相互交换小核。自体受精是另一种有性生殖方式，即一 个体的两个小核经过减数分裂，留下 </a:t>
            </a:r>
            <a:r>
              <a:rPr lang="en-US" altLang="zh-CN" dirty="0"/>
              <a:t>1 </a:t>
            </a:r>
            <a:r>
              <a:rPr lang="zh-CN" altLang="en-US" dirty="0"/>
              <a:t>个小核，这个小核分裂一次，又相互合并，以后再分裂发育 成大核和小核。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31CDC8-E1E3-4EFD-A43E-3723536F9B50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45498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草履虫有两种基本的生殖方式：①无性生殖，由一个个体通过细胞分裂成为两个个体；②有性生殖，即接合生殖，两个个体接合，相互交换小核。自体受精是另一种有性生殖方式，即一 个体的两个小核经过减数分裂，留下 </a:t>
            </a:r>
            <a:r>
              <a:rPr lang="en-US" altLang="zh-CN" dirty="0"/>
              <a:t>1 </a:t>
            </a:r>
            <a:r>
              <a:rPr lang="zh-CN" altLang="en-US" dirty="0"/>
              <a:t>个小核，这个小核分裂一次，又相互合并，以后再分裂发育 成大核和小核。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31CDC8-E1E3-4EFD-A43E-3723536F9B50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45498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草履虫有两种基本的生殖方式：①无性生殖，由一个个体通过细胞分裂成为两个个体；②有性生殖，即接合生殖，两个个体接合，相互交换小核。自体受精是另一种有性生殖方式，即一 个体的两个小核经过减数分裂，留下 </a:t>
            </a:r>
            <a:r>
              <a:rPr lang="en-US" altLang="zh-CN" dirty="0"/>
              <a:t>1 </a:t>
            </a:r>
            <a:r>
              <a:rPr lang="zh-CN" altLang="en-US" dirty="0"/>
              <a:t>个小核，这个小核分裂一次，又相互合并，以后再分裂发育 成大核和小核。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31CDC8-E1E3-4EFD-A43E-3723536F9B50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45498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>
                <a:solidFill>
                  <a:schemeClr val="tx1"/>
                </a:solidFill>
              </a:rPr>
              <a:t>(a)</a:t>
            </a:r>
            <a:r>
              <a:rPr lang="zh-CN" altLang="en-US" dirty="0">
                <a:solidFill>
                  <a:schemeClr val="tx1"/>
                </a:solidFill>
              </a:rPr>
              <a:t> 接合时间短，没有交换细胞质。</a:t>
            </a:r>
            <a:r>
              <a:rPr lang="en-US" altLang="zh-CN" dirty="0">
                <a:solidFill>
                  <a:schemeClr val="tx1"/>
                </a:solidFill>
              </a:rPr>
              <a:t>1. </a:t>
            </a:r>
            <a:r>
              <a:rPr lang="zh-CN" altLang="en-US" dirty="0">
                <a:solidFill>
                  <a:schemeClr val="tx1"/>
                </a:solidFill>
              </a:rPr>
              <a:t>接合； </a:t>
            </a:r>
            <a:r>
              <a:rPr lang="en-US" altLang="zh-CN" dirty="0">
                <a:solidFill>
                  <a:schemeClr val="tx1"/>
                </a:solidFill>
              </a:rPr>
              <a:t>2. </a:t>
            </a:r>
            <a:r>
              <a:rPr lang="zh-CN" altLang="en-US" dirty="0">
                <a:solidFill>
                  <a:schemeClr val="tx1"/>
                </a:solidFill>
              </a:rPr>
              <a:t>交换小核后，基因型都成 为 </a:t>
            </a:r>
            <a:r>
              <a:rPr lang="en-US" altLang="zh-CN" dirty="0" err="1">
                <a:solidFill>
                  <a:schemeClr val="tx1"/>
                </a:solidFill>
              </a:rPr>
              <a:t>Kk</a:t>
            </a:r>
            <a:r>
              <a:rPr lang="zh-CN" altLang="en-US" dirty="0">
                <a:solidFill>
                  <a:schemeClr val="tx1"/>
                </a:solidFill>
              </a:rPr>
              <a:t>； </a:t>
            </a:r>
            <a:r>
              <a:rPr lang="en-US" altLang="zh-CN" dirty="0">
                <a:solidFill>
                  <a:schemeClr val="tx1"/>
                </a:solidFill>
              </a:rPr>
              <a:t>3. </a:t>
            </a:r>
            <a:r>
              <a:rPr lang="zh-CN" altLang="en-US" dirty="0">
                <a:solidFill>
                  <a:schemeClr val="tx1"/>
                </a:solidFill>
              </a:rPr>
              <a:t>后 代 中 一 半 </a:t>
            </a:r>
            <a:r>
              <a:rPr lang="en-US" altLang="zh-CN" dirty="0">
                <a:solidFill>
                  <a:schemeClr val="tx1"/>
                </a:solidFill>
              </a:rPr>
              <a:t>KK</a:t>
            </a:r>
            <a:r>
              <a:rPr lang="zh-CN" altLang="en-US" dirty="0">
                <a:solidFill>
                  <a:schemeClr val="tx1"/>
                </a:solidFill>
              </a:rPr>
              <a:t>，一半</a:t>
            </a:r>
            <a:r>
              <a:rPr lang="en-US" altLang="zh-CN" dirty="0" err="1">
                <a:solidFill>
                  <a:schemeClr val="tx1"/>
                </a:solidFill>
              </a:rPr>
              <a:t>kk</a:t>
            </a:r>
            <a:r>
              <a:rPr lang="zh-CN" altLang="en-US" dirty="0">
                <a:solidFill>
                  <a:schemeClr val="tx1"/>
                </a:solidFill>
              </a:rPr>
              <a:t>。但只有放毒型的后代 </a:t>
            </a:r>
            <a:r>
              <a:rPr lang="en-US" altLang="zh-CN" dirty="0">
                <a:solidFill>
                  <a:schemeClr val="tx1"/>
                </a:solidFill>
              </a:rPr>
              <a:t>KK </a:t>
            </a:r>
            <a:r>
              <a:rPr lang="zh-CN" altLang="en-US" dirty="0">
                <a:solidFill>
                  <a:schemeClr val="tx1"/>
                </a:solidFill>
              </a:rPr>
              <a:t>仍是放毒型。</a:t>
            </a:r>
            <a:endParaRPr lang="en-US" altLang="zh-CN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chemeClr val="tx1"/>
                </a:solidFill>
              </a:rPr>
              <a:t>(b)</a:t>
            </a:r>
            <a:r>
              <a:rPr lang="zh-CN" altLang="en-US" dirty="0">
                <a:solidFill>
                  <a:schemeClr val="tx1"/>
                </a:solidFill>
              </a:rPr>
              <a:t> 接合时间较长，交换了细胞质。 </a:t>
            </a:r>
            <a:r>
              <a:rPr lang="en-US" altLang="zh-CN" dirty="0">
                <a:solidFill>
                  <a:schemeClr val="tx1"/>
                </a:solidFill>
              </a:rPr>
              <a:t>1. </a:t>
            </a:r>
            <a:r>
              <a:rPr lang="zh-CN" altLang="en-US" dirty="0">
                <a:solidFill>
                  <a:schemeClr val="tx1"/>
                </a:solidFill>
              </a:rPr>
              <a:t>接合，也交换了细胞质； </a:t>
            </a:r>
            <a:r>
              <a:rPr lang="en-US" altLang="zh-CN" dirty="0">
                <a:solidFill>
                  <a:schemeClr val="tx1"/>
                </a:solidFill>
              </a:rPr>
              <a:t>2. </a:t>
            </a:r>
            <a:r>
              <a:rPr lang="zh-CN" altLang="en-US" dirty="0">
                <a:solidFill>
                  <a:schemeClr val="tx1"/>
                </a:solidFill>
              </a:rPr>
              <a:t>两个草履虫都有卡巴粒； </a:t>
            </a:r>
            <a:r>
              <a:rPr lang="en-US" altLang="zh-CN" dirty="0">
                <a:solidFill>
                  <a:schemeClr val="tx1"/>
                </a:solidFill>
              </a:rPr>
              <a:t>3. </a:t>
            </a:r>
            <a:r>
              <a:rPr lang="zh-CN" altLang="en-US" dirty="0">
                <a:solidFill>
                  <a:schemeClr val="tx1"/>
                </a:solidFill>
              </a:rPr>
              <a:t>后代中一半 </a:t>
            </a:r>
            <a:r>
              <a:rPr lang="en-US" altLang="zh-CN" dirty="0">
                <a:solidFill>
                  <a:schemeClr val="tx1"/>
                </a:solidFill>
              </a:rPr>
              <a:t>KK</a:t>
            </a:r>
            <a:r>
              <a:rPr lang="zh-CN" altLang="en-US" dirty="0">
                <a:solidFill>
                  <a:schemeClr val="tx1"/>
                </a:solidFill>
              </a:rPr>
              <a:t>，一半 </a:t>
            </a:r>
            <a:r>
              <a:rPr lang="en-US" altLang="zh-CN" dirty="0" err="1">
                <a:solidFill>
                  <a:schemeClr val="tx1"/>
                </a:solidFill>
              </a:rPr>
              <a:t>kk</a:t>
            </a:r>
            <a:r>
              <a:rPr lang="zh-CN" altLang="en-US" dirty="0">
                <a:solidFill>
                  <a:schemeClr val="tx1"/>
                </a:solidFill>
              </a:rPr>
              <a:t>。 </a:t>
            </a:r>
            <a:r>
              <a:rPr lang="en-US" altLang="zh-CN" dirty="0">
                <a:solidFill>
                  <a:schemeClr val="tx1"/>
                </a:solidFill>
              </a:rPr>
              <a:t>KK </a:t>
            </a:r>
            <a:r>
              <a:rPr lang="zh-CN" altLang="en-US" dirty="0">
                <a:solidFill>
                  <a:schemeClr val="tx1"/>
                </a:solidFill>
              </a:rPr>
              <a:t>都是放毒型， </a:t>
            </a:r>
            <a:r>
              <a:rPr lang="en-US" altLang="zh-CN" dirty="0" err="1">
                <a:solidFill>
                  <a:schemeClr val="tx1"/>
                </a:solidFill>
              </a:rPr>
              <a:t>kk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是敏感型。点代表卡巴粒，有点的个体是放毒型，无点的个体是敏感型。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31CDC8-E1E3-4EFD-A43E-3723536F9B50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9373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一区内交替地种植不育系和保持系。从不育系植株收获的种子仍旧是不育系。从保持系植株收获的种子仍旧是保持系。另外一区里交替地种植不育系和恢复系。从不育系植株收获的种子就是杂交种子，可供大田生产用。从恢复系植株收获的种子仍旧是恢复系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31CDC8-E1E3-4EFD-A43E-3723536F9B50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62002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5638" y="1211017"/>
            <a:ext cx="4938347" cy="496594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</p:spTree>
    <p:extLst>
      <p:ext uri="{BB962C8B-B14F-4D97-AF65-F5344CB8AC3E}">
        <p14:creationId xmlns:p14="http://schemas.microsoft.com/office/powerpoint/2010/main" val="2805196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05912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2">
            <a:extLst>
              <a:ext uri="{FF2B5EF4-FFF2-40B4-BE49-F238E27FC236}">
                <a16:creationId xmlns:a16="http://schemas.microsoft.com/office/drawing/2014/main" id="{E2C5B7A1-44B1-4D62-8157-AFEC4E28C6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638" y="360485"/>
            <a:ext cx="10515600" cy="57643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  <a:endParaRPr lang="en-US" altLang="zh-CN" dirty="0"/>
          </a:p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93131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8880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5638" y="1211017"/>
            <a:ext cx="4938347" cy="4965946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</p:spTree>
    <p:extLst>
      <p:ext uri="{BB962C8B-B14F-4D97-AF65-F5344CB8AC3E}">
        <p14:creationId xmlns:p14="http://schemas.microsoft.com/office/powerpoint/2010/main" val="4044201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527290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53720" y="599598"/>
            <a:ext cx="11084560" cy="5658803"/>
          </a:xfrm>
        </p:spPr>
        <p:txBody>
          <a:bodyPr/>
          <a:lstStyle>
            <a:lvl1pPr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一级标题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77316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140528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129750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671111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9477653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39933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327320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5019581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2854107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7844777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2261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65638" y="318476"/>
            <a:ext cx="10515600" cy="7251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65638" y="1113448"/>
            <a:ext cx="10515600" cy="50113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  <a:endParaRPr lang="en-US" altLang="zh-CN" dirty="0"/>
          </a:p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15201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4" r:id="rId2"/>
    <p:sldLayoutId id="2147483655" r:id="rId3"/>
    <p:sldLayoutId id="2147483660" r:id="rId4"/>
    <p:sldLayoutId id="2147483674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rgbClr val="051CFB"/>
          </a:solidFill>
          <a:latin typeface="黑体" pitchFamily="49" charset="-122"/>
          <a:ea typeface="黑体" pitchFamily="49" charset="-122"/>
          <a:cs typeface="+mj-cs"/>
        </a:defRPr>
      </a:lvl1pPr>
    </p:titleStyle>
    <p:bodyStyle>
      <a:lvl1pPr marL="457200" indent="-457200" algn="l" defTabSz="914400" rtl="0" eaLnBrk="1" latinLnBrk="0" hangingPunct="1">
        <a:lnSpc>
          <a:spcPct val="90000"/>
        </a:lnSpc>
        <a:spcBef>
          <a:spcPts val="1000"/>
        </a:spcBef>
        <a:buFont typeface="+mj-lt"/>
        <a:buAutoNum type="arabicPeriod"/>
        <a:defRPr sz="2400" b="1" kern="1200">
          <a:solidFill>
            <a:srgbClr val="051CFB"/>
          </a:solidFill>
          <a:latin typeface="黑体" pitchFamily="49" charset="-122"/>
          <a:ea typeface="黑体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65638" y="318476"/>
            <a:ext cx="10515600" cy="7251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65638" y="1113448"/>
            <a:ext cx="10515600" cy="50113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  <a:endParaRPr lang="en-US" altLang="zh-CN" dirty="0"/>
          </a:p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11532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rgbClr val="051CFB"/>
          </a:solidFill>
          <a:latin typeface="黑体" pitchFamily="49" charset="-122"/>
          <a:ea typeface="黑体" pitchFamily="49" charset="-122"/>
          <a:cs typeface="+mj-cs"/>
        </a:defRPr>
      </a:lvl1pPr>
    </p:titleStyle>
    <p:bodyStyle>
      <a:lvl1pPr marL="457200" indent="-457200" algn="l" defTabSz="914400" rtl="0" eaLnBrk="1" latinLnBrk="0" hangingPunct="1">
        <a:lnSpc>
          <a:spcPct val="90000"/>
        </a:lnSpc>
        <a:spcBef>
          <a:spcPts val="1000"/>
        </a:spcBef>
        <a:buFont typeface="+mj-lt"/>
        <a:buAutoNum type="arabicPeriod"/>
        <a:defRPr sz="2400" b="1" kern="1200">
          <a:solidFill>
            <a:srgbClr val="051CFB"/>
          </a:solidFill>
          <a:latin typeface="黑体" pitchFamily="49" charset="-122"/>
          <a:ea typeface="黑体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microsoft.com/office/2007/relationships/hdphoto" Target="../media/hdphoto3.wdp"/><Relationship Id="rId5" Type="http://schemas.openxmlformats.org/officeDocument/2006/relationships/image" Target="../media/image3.jpeg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microsoft.com/office/2007/relationships/hdphoto" Target="../media/hdphoto7.wdp"/><Relationship Id="rId5" Type="http://schemas.openxmlformats.org/officeDocument/2006/relationships/image" Target="../media/image7.jpeg"/><Relationship Id="rId4" Type="http://schemas.microsoft.com/office/2007/relationships/hdphoto" Target="../media/hdphoto6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microsoft.com/office/2007/relationships/hdphoto" Target="../media/hdphoto8.wdp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microsoft.com/office/2007/relationships/hdphoto" Target="../media/hdphoto12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microsoft.com/office/2007/relationships/hdphoto" Target="../media/hdphoto13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microsoft.com/office/2007/relationships/hdphoto" Target="../media/hdphoto14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microsoft.com/office/2007/relationships/hdphoto" Target="../media/hdphoto16.wdp"/><Relationship Id="rId5" Type="http://schemas.openxmlformats.org/officeDocument/2006/relationships/image" Target="../media/image16.jpeg"/><Relationship Id="rId4" Type="http://schemas.microsoft.com/office/2007/relationships/hdphoto" Target="../media/hdphoto15.wdp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microsoft.com/office/2007/relationships/hdphoto" Target="../media/hdphoto18.wdp"/><Relationship Id="rId5" Type="http://schemas.openxmlformats.org/officeDocument/2006/relationships/image" Target="../media/image19.jpeg"/><Relationship Id="rId4" Type="http://schemas.microsoft.com/office/2007/relationships/hdphoto" Target="../media/hdphoto17.wdp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9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E68668C-E989-456D-8173-377CB1C7F961}"/>
              </a:ext>
            </a:extLst>
          </p:cNvPr>
          <p:cNvSpPr txBox="1"/>
          <p:nvPr/>
        </p:nvSpPr>
        <p:spPr>
          <a:xfrm>
            <a:off x="1278835" y="667139"/>
            <a:ext cx="9945278" cy="13136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8800" b="1" spc="600">
                <a:solidFill>
                  <a:srgbClr val="3A599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sz="6000" dirty="0">
                <a:solidFill>
                  <a:schemeClr val="tx1"/>
                </a:solidFill>
              </a:rPr>
              <a:t>第十三章 细胞质和遗传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88162D7-1618-46C8-A447-D7BCE47CF410}"/>
              </a:ext>
            </a:extLst>
          </p:cNvPr>
          <p:cNvSpPr txBox="1">
            <a:spLocks/>
          </p:cNvSpPr>
          <p:nvPr/>
        </p:nvSpPr>
        <p:spPr>
          <a:xfrm>
            <a:off x="367577" y="2483185"/>
            <a:ext cx="11767793" cy="23199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zh-CN"/>
            </a:defPPr>
            <a:lvl1pPr marL="457200" indent="-4572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defRPr sz="2400">
                <a:solidFill>
                  <a:srgbClr val="3A599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0" lvl="1" indent="0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Char char="Ø"/>
              <a:defRPr sz="2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1"/>
            <a:r>
              <a:rPr lang="zh-CN" altLang="en-US" dirty="0"/>
              <a:t>细胞质与细胞核有着相互依存的关系，某些性状的遗传，不仅需要核基因的存在，而且还与细胞质因素有关，所以细胞质在遗传中的作用不容忽视。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35538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111F3A11-9007-4637-8855-AA97E1756EA2}"/>
              </a:ext>
            </a:extLst>
          </p:cNvPr>
          <p:cNvSpPr txBox="1"/>
          <p:nvPr/>
        </p:nvSpPr>
        <p:spPr>
          <a:xfrm>
            <a:off x="7143381" y="5735505"/>
            <a:ext cx="37434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zh-CN" altLang="en-US" dirty="0"/>
              <a:t>麦粉蛾色素遗传中的母性影响</a:t>
            </a:r>
          </a:p>
        </p:txBody>
      </p:sp>
      <p:sp>
        <p:nvSpPr>
          <p:cNvPr id="13" name="标题 4">
            <a:extLst>
              <a:ext uri="{FF2B5EF4-FFF2-40B4-BE49-F238E27FC236}">
                <a16:creationId xmlns:a16="http://schemas.microsoft.com/office/drawing/2014/main" id="{FD8D0972-5DE8-4D6D-85D2-B37C65BAF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429" y="1524000"/>
            <a:ext cx="10515600" cy="72512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一、 短暂的母性影响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27C6996-5025-4EA5-9357-4AB856C21D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2614" y="2000145"/>
            <a:ext cx="6662957" cy="346602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F146C9D5-6620-4D25-87C1-9770C38EF73E}"/>
              </a:ext>
            </a:extLst>
          </p:cNvPr>
          <p:cNvSpPr txBox="1"/>
          <p:nvPr/>
        </p:nvSpPr>
        <p:spPr>
          <a:xfrm>
            <a:off x="179110" y="581137"/>
            <a:ext cx="12012890" cy="9776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zh-CN"/>
            </a:defPPr>
            <a:lvl1pPr marL="457200" indent="-4572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defRPr sz="2400">
                <a:solidFill>
                  <a:srgbClr val="3A599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0" lvl="1" indent="0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Char char="Ø"/>
              <a:defRPr sz="2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1">
              <a:buNone/>
            </a:pPr>
            <a:r>
              <a:rPr lang="zh-CN" altLang="en-US" sz="2400" dirty="0"/>
              <a:t>子代的表型受到母本基因型的影响，与母本的表型有关，这种现象叫作</a:t>
            </a:r>
            <a:r>
              <a:rPr lang="zh-CN" altLang="en-US" sz="2400" b="1" dirty="0">
                <a:solidFill>
                  <a:srgbClr val="FF0000"/>
                </a:solidFill>
              </a:rPr>
              <a:t>母性影响</a:t>
            </a:r>
            <a:r>
              <a:rPr lang="zh-CN" altLang="en-US" sz="2400" dirty="0"/>
              <a:t>（</a:t>
            </a:r>
            <a:r>
              <a:rPr lang="en-US" altLang="zh-CN" sz="2400" dirty="0"/>
              <a:t>maternal effect</a:t>
            </a:r>
            <a:r>
              <a:rPr lang="zh-CN" altLang="en-US" sz="2400" dirty="0"/>
              <a:t>）。</a:t>
            </a:r>
          </a:p>
        </p:txBody>
      </p:sp>
      <p:sp>
        <p:nvSpPr>
          <p:cNvPr id="10" name="标题 4">
            <a:extLst>
              <a:ext uri="{FF2B5EF4-FFF2-40B4-BE49-F238E27FC236}">
                <a16:creationId xmlns:a16="http://schemas.microsoft.com/office/drawing/2014/main" id="{7C8A8B25-6970-42EC-AB10-295D02DA448D}"/>
              </a:ext>
            </a:extLst>
          </p:cNvPr>
          <p:cNvSpPr txBox="1">
            <a:spLocks/>
          </p:cNvSpPr>
          <p:nvPr/>
        </p:nvSpPr>
        <p:spPr>
          <a:xfrm>
            <a:off x="371237" y="0"/>
            <a:ext cx="10515600" cy="7251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3A59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b="1" dirty="0">
                <a:solidFill>
                  <a:srgbClr val="051CFB"/>
                </a:solidFill>
                <a:latin typeface="黑体" pitchFamily="49" charset="-122"/>
                <a:ea typeface="黑体" pitchFamily="49" charset="-122"/>
              </a:rPr>
              <a:t>第一节  母性影响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C4CE2BD-FD83-438E-890F-98EE160E767D}"/>
              </a:ext>
            </a:extLst>
          </p:cNvPr>
          <p:cNvSpPr txBox="1"/>
          <p:nvPr/>
        </p:nvSpPr>
        <p:spPr>
          <a:xfrm>
            <a:off x="0" y="2301394"/>
            <a:ext cx="5272614" cy="3603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zh-CN"/>
            </a:defPPr>
            <a:lvl1pPr marL="457200" indent="-4572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defRPr sz="2400">
                <a:solidFill>
                  <a:srgbClr val="3A599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0" lvl="1" indent="0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Char char="Ø"/>
              <a:defRPr sz="2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1"/>
            <a:r>
              <a:rPr lang="zh-CN" altLang="en-US" sz="2400" dirty="0"/>
              <a:t>当 </a:t>
            </a:r>
            <a:r>
              <a:rPr lang="en-US" altLang="zh-CN" sz="2400" dirty="0" err="1"/>
              <a:t>Aa</a:t>
            </a:r>
            <a:r>
              <a:rPr lang="en-US" altLang="zh-CN" sz="2400" dirty="0"/>
              <a:t> </a:t>
            </a:r>
            <a:r>
              <a:rPr lang="zh-CN" altLang="en-US" sz="2400" dirty="0"/>
              <a:t>母蛾形成卵子时，不论 </a:t>
            </a:r>
            <a:r>
              <a:rPr lang="en-US" altLang="zh-CN" sz="2400" dirty="0"/>
              <a:t>A </a:t>
            </a:r>
            <a:r>
              <a:rPr lang="zh-CN" altLang="en-US" sz="2400" dirty="0"/>
              <a:t>卵或 </a:t>
            </a:r>
            <a:r>
              <a:rPr lang="en-US" altLang="zh-CN" sz="2400" dirty="0"/>
              <a:t>a </a:t>
            </a:r>
            <a:r>
              <a:rPr lang="zh-CN" altLang="en-US" sz="2400" dirty="0"/>
              <a:t>卵，细胞质中都含足量的</a:t>
            </a:r>
            <a:r>
              <a:rPr lang="zh-CN" altLang="en-US" sz="2400" b="1" dirty="0"/>
              <a:t>犬尿素</a:t>
            </a:r>
            <a:r>
              <a:rPr lang="zh-CN" altLang="en-US" sz="2400" dirty="0"/>
              <a:t>，所以它们的后代中，</a:t>
            </a:r>
            <a:r>
              <a:rPr lang="en-US" altLang="zh-CN" sz="2400" b="1" dirty="0" err="1"/>
              <a:t>aa</a:t>
            </a:r>
            <a:r>
              <a:rPr lang="en-US" altLang="zh-CN" sz="2400" b="1" dirty="0"/>
              <a:t> </a:t>
            </a:r>
            <a:r>
              <a:rPr lang="zh-CN" altLang="en-US" sz="2400" b="1" dirty="0"/>
              <a:t>幼虫的皮肤也是有色的</a:t>
            </a:r>
            <a:r>
              <a:rPr lang="zh-CN" altLang="en-US" sz="2400" dirty="0"/>
              <a:t>。不过这种母性影响是暂时的，因为这样的 </a:t>
            </a:r>
            <a:r>
              <a:rPr lang="en-US" altLang="zh-CN" sz="2400" dirty="0" err="1"/>
              <a:t>aa</a:t>
            </a:r>
            <a:r>
              <a:rPr lang="en-US" altLang="zh-CN" sz="2400" dirty="0"/>
              <a:t> </a:t>
            </a:r>
            <a:r>
              <a:rPr lang="zh-CN" altLang="en-US" sz="2400" dirty="0"/>
              <a:t>个体缺乏 </a:t>
            </a:r>
            <a:r>
              <a:rPr lang="en-US" altLang="zh-CN" sz="2400" dirty="0"/>
              <a:t>A </a:t>
            </a:r>
            <a:r>
              <a:rPr lang="zh-CN" altLang="en-US" sz="2400" dirty="0"/>
              <a:t>基因，不能自己制造色素，所以随着个体的发育，色素逐渐消耗，到成虫时复眼变为红色。</a:t>
            </a:r>
            <a:endParaRPr lang="en-US" altLang="zh-CN" sz="2400" dirty="0"/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994095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C47A0B1B-0787-41A2-97D6-6BED24B85EC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870" y="802888"/>
            <a:ext cx="6299975" cy="366819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8A131DF-A09B-4AEF-9F1F-67BB14E118D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8719" y="4471080"/>
            <a:ext cx="3315137" cy="2049463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6640285" y="1196189"/>
            <a:ext cx="5551715" cy="26411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lvl="1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螺类的受精卵是螺旋式卵裂，成体外壳的旋向取决于最初两次卵裂中纺锤体的方向。而纺锤体的方向取决于卵细胞质的特性，归根结底取决于母体染色体上的基因型。</a:t>
            </a:r>
            <a:endParaRPr lang="en-US" altLang="zh-CN" sz="28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标题 4">
            <a:extLst>
              <a:ext uri="{FF2B5EF4-FFF2-40B4-BE49-F238E27FC236}">
                <a16:creationId xmlns:a16="http://schemas.microsoft.com/office/drawing/2014/main" id="{FD8D0972-5DE8-4D6D-85D2-B37C65BAF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870" y="0"/>
            <a:ext cx="10515600" cy="72512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二、 持久的母性影响</a:t>
            </a:r>
          </a:p>
        </p:txBody>
      </p:sp>
    </p:spTree>
    <p:extLst>
      <p:ext uri="{BB962C8B-B14F-4D97-AF65-F5344CB8AC3E}">
        <p14:creationId xmlns:p14="http://schemas.microsoft.com/office/powerpoint/2010/main" val="2663147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64DCDF0-4F96-40C7-B1E8-D63BC3B89A3C}"/>
              </a:ext>
            </a:extLst>
          </p:cNvPr>
          <p:cNvSpPr txBox="1"/>
          <p:nvPr/>
        </p:nvSpPr>
        <p:spPr>
          <a:xfrm>
            <a:off x="785250" y="501537"/>
            <a:ext cx="6094428" cy="5355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rgbClr val="051CFB"/>
                </a:solidFill>
                <a:latin typeface="黑体" pitchFamily="49" charset="-122"/>
                <a:ea typeface="黑体" pitchFamily="49" charset="-122"/>
                <a:cs typeface="+mj-cs"/>
              </a:defRPr>
            </a:lvl1pPr>
          </a:lstStyle>
          <a:p>
            <a:r>
              <a:rPr lang="zh-CN" altLang="en-US" sz="3600" dirty="0"/>
              <a:t>第二节　细胞质遗传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1EC10AB-2582-4F8C-BB42-4BCFDD14B650}"/>
              </a:ext>
            </a:extLst>
          </p:cNvPr>
          <p:cNvSpPr txBox="1"/>
          <p:nvPr/>
        </p:nvSpPr>
        <p:spPr>
          <a:xfrm>
            <a:off x="241301" y="1633968"/>
            <a:ext cx="12191999" cy="10167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zh-CN"/>
            </a:defPPr>
            <a:lvl1pPr marL="457200" indent="-4572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defRPr sz="2400">
                <a:solidFill>
                  <a:srgbClr val="3A599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0" lvl="1" indent="0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None/>
              <a:defRPr sz="2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1"/>
            <a:r>
              <a:rPr lang="zh-CN" altLang="en-US" sz="2800" dirty="0"/>
              <a:t>细胞质遗传（</a:t>
            </a:r>
            <a:r>
              <a:rPr lang="en-US" altLang="zh-CN" sz="2800" dirty="0"/>
              <a:t>cytoplasmic inheritance</a:t>
            </a:r>
            <a:r>
              <a:rPr lang="zh-CN" altLang="en-US" sz="2800" dirty="0"/>
              <a:t>）又称核外遗传，是由细胞质中的遗传物质决定的。</a:t>
            </a:r>
          </a:p>
        </p:txBody>
      </p:sp>
    </p:spTree>
    <p:extLst>
      <p:ext uri="{BB962C8B-B14F-4D97-AF65-F5344CB8AC3E}">
        <p14:creationId xmlns:p14="http://schemas.microsoft.com/office/powerpoint/2010/main" val="1619370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4">
            <a:extLst>
              <a:ext uri="{FF2B5EF4-FFF2-40B4-BE49-F238E27FC236}">
                <a16:creationId xmlns:a16="http://schemas.microsoft.com/office/drawing/2014/main" id="{FD8D0972-5DE8-4D6D-85D2-B37C65BAF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279" y="229535"/>
            <a:ext cx="10515600" cy="72512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一、 高等植物叶绿体的遗传</a:t>
            </a:r>
          </a:p>
        </p:txBody>
      </p:sp>
      <p:sp>
        <p:nvSpPr>
          <p:cNvPr id="12" name="矩形 11"/>
          <p:cNvSpPr/>
          <p:nvPr/>
        </p:nvSpPr>
        <p:spPr>
          <a:xfrm>
            <a:off x="7543800" y="1492350"/>
            <a:ext cx="4648200" cy="26575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胞质分裂时叶绿体随机分配到子细胞中。雄配子中前质体很少或者没有，所以叶绿体性状大都由母本传下去，如紫茉莉， 这种遗传方式称为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母系遗传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maternal inheritance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10" name="矩形 9"/>
          <p:cNvSpPr/>
          <p:nvPr/>
        </p:nvSpPr>
        <p:spPr>
          <a:xfrm>
            <a:off x="1240517" y="5189408"/>
            <a:ext cx="595227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051CFB"/>
                </a:solidFill>
                <a:latin typeface="黑体" pitchFamily="49" charset="-122"/>
                <a:ea typeface="黑体" pitchFamily="49" charset="-122"/>
              </a:rPr>
              <a:t>母系遗传与母性影响有何异同？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81DE6D7-E66D-CA5F-4197-851CA12A58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625" y="898330"/>
            <a:ext cx="7496175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175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849091F-6161-AD71-E408-56556FFBEA4E}"/>
              </a:ext>
            </a:extLst>
          </p:cNvPr>
          <p:cNvSpPr txBox="1"/>
          <p:nvPr/>
        </p:nvSpPr>
        <p:spPr>
          <a:xfrm>
            <a:off x="3377431" y="5205102"/>
            <a:ext cx="54371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0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玉米的埃型条斑的遗传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67C77A6-A8A8-4D0D-9ACC-F48B00070C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3289" y="813141"/>
            <a:ext cx="9405421" cy="4081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21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111F3A11-9007-4637-8855-AA97E1756EA2}"/>
              </a:ext>
            </a:extLst>
          </p:cNvPr>
          <p:cNvSpPr txBox="1"/>
          <p:nvPr/>
        </p:nvSpPr>
        <p:spPr>
          <a:xfrm>
            <a:off x="1322869" y="6364645"/>
            <a:ext cx="22163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0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酵母菌的生活史</a:t>
            </a:r>
          </a:p>
        </p:txBody>
      </p:sp>
      <p:sp>
        <p:nvSpPr>
          <p:cNvPr id="13" name="标题 4">
            <a:extLst>
              <a:ext uri="{FF2B5EF4-FFF2-40B4-BE49-F238E27FC236}">
                <a16:creationId xmlns:a16="http://schemas.microsoft.com/office/drawing/2014/main" id="{FD8D0972-5DE8-4D6D-85D2-B37C65BAF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19" y="0"/>
            <a:ext cx="10515600" cy="72512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三、 真菌类线粒体的遗传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EA61FB8-52AC-4949-B437-A5A2A77F522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619" y="751173"/>
            <a:ext cx="4223269" cy="557452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8D45F99B-8FCA-4057-919E-95ACD7E4E81E}"/>
              </a:ext>
            </a:extLst>
          </p:cNvPr>
          <p:cNvSpPr txBox="1"/>
          <p:nvPr/>
        </p:nvSpPr>
        <p:spPr>
          <a:xfrm>
            <a:off x="6396343" y="6382919"/>
            <a:ext cx="51371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0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正常酵母菌和“小菌落”酵母菌杂交结果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C0F9E45-8CF2-4E61-80F3-F820AC52EAD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6343" y="340751"/>
            <a:ext cx="4726234" cy="5984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147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111F3A11-9007-4637-8855-AA97E1756EA2}"/>
              </a:ext>
            </a:extLst>
          </p:cNvPr>
          <p:cNvSpPr txBox="1"/>
          <p:nvPr/>
        </p:nvSpPr>
        <p:spPr>
          <a:xfrm>
            <a:off x="3515667" y="5566371"/>
            <a:ext cx="61617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0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sz="2400" dirty="0"/>
              <a:t>粗糙链孢霉的缓慢生长性状的母系遗传现象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F0E3211-617B-492C-A73F-D1F98DBC90F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236" y="1006321"/>
            <a:ext cx="8694672" cy="4106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602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0A09C844-3EBA-4E29-85BC-F2E0B3B5733D}"/>
              </a:ext>
            </a:extLst>
          </p:cNvPr>
          <p:cNvSpPr txBox="1"/>
          <p:nvPr/>
        </p:nvSpPr>
        <p:spPr>
          <a:xfrm>
            <a:off x="2002971" y="5819410"/>
            <a:ext cx="8850085" cy="54034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zh-CN"/>
            </a:defPPr>
            <a:lvl1pPr marL="457200" indent="-4572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defRPr sz="2400">
                <a:solidFill>
                  <a:srgbClr val="3A599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0" lvl="1" indent="0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None/>
              <a:defRPr sz="2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</a:rPr>
              <a:t>患者发病程度不等， </a:t>
            </a:r>
            <a:r>
              <a:rPr lang="en-US" altLang="zh-CN" dirty="0">
                <a:solidFill>
                  <a:schemeClr val="tx1"/>
                </a:solidFill>
              </a:rPr>
              <a:t>m </a:t>
            </a:r>
            <a:r>
              <a:rPr lang="zh-CN" altLang="en-US" dirty="0">
                <a:solidFill>
                  <a:schemeClr val="tx1"/>
                </a:solidFill>
              </a:rPr>
              <a:t>表示轻度， </a:t>
            </a:r>
            <a:r>
              <a:rPr lang="en-US" altLang="zh-CN" dirty="0" err="1">
                <a:solidFill>
                  <a:schemeClr val="tx1"/>
                </a:solidFill>
              </a:rPr>
              <a:t>i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表示中度， </a:t>
            </a:r>
            <a:r>
              <a:rPr lang="en-US" altLang="zh-CN" dirty="0">
                <a:solidFill>
                  <a:schemeClr val="tx1"/>
                </a:solidFill>
              </a:rPr>
              <a:t>s </a:t>
            </a:r>
            <a:r>
              <a:rPr lang="zh-CN" altLang="en-US" dirty="0">
                <a:solidFill>
                  <a:schemeClr val="tx1"/>
                </a:solidFill>
              </a:rPr>
              <a:t>表示严重。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11F3A11-9007-4637-8855-AA97E1756EA2}"/>
              </a:ext>
            </a:extLst>
          </p:cNvPr>
          <p:cNvSpPr txBox="1"/>
          <p:nvPr/>
        </p:nvSpPr>
        <p:spPr>
          <a:xfrm>
            <a:off x="3672371" y="5393584"/>
            <a:ext cx="46028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0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一个线粒体心肌病家系</a:t>
            </a:r>
          </a:p>
        </p:txBody>
      </p:sp>
      <p:sp>
        <p:nvSpPr>
          <p:cNvPr id="13" name="标题 4">
            <a:extLst>
              <a:ext uri="{FF2B5EF4-FFF2-40B4-BE49-F238E27FC236}">
                <a16:creationId xmlns:a16="http://schemas.microsoft.com/office/drawing/2014/main" id="{FD8D0972-5DE8-4D6D-85D2-B37C65BAF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472" y="133419"/>
            <a:ext cx="10515600" cy="72512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五、 人类线粒体遗传与机制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2131098-6AEE-4BD0-BD21-66C91EA161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372" y="1084697"/>
            <a:ext cx="7713142" cy="3944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807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111F3A11-9007-4637-8855-AA97E1756EA2}"/>
              </a:ext>
            </a:extLst>
          </p:cNvPr>
          <p:cNvSpPr txBox="1"/>
          <p:nvPr/>
        </p:nvSpPr>
        <p:spPr>
          <a:xfrm>
            <a:off x="448734" y="5464365"/>
            <a:ext cx="61567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0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线粒体遗传中的表型不规律分离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1540AA3-924B-4CF8-9A10-C512CAE14F9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9827"/>
            <a:ext cx="6356011" cy="398000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99521A75-4386-461D-9DB7-1F46B0A4BECD}"/>
              </a:ext>
            </a:extLst>
          </p:cNvPr>
          <p:cNvSpPr txBox="1"/>
          <p:nvPr/>
        </p:nvSpPr>
        <p:spPr>
          <a:xfrm>
            <a:off x="0" y="174760"/>
            <a:ext cx="10388338" cy="7571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zh-CN"/>
            </a:defPPr>
            <a:lvl1pPr marL="457200" indent="-4572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defRPr sz="2000">
                <a:solidFill>
                  <a:srgbClr val="3A599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0" lvl="1" indent="0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Char char="Ø"/>
              <a:defRPr sz="2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1"/>
            <a:r>
              <a:rPr lang="zh-CN" altLang="en-US" dirty="0"/>
              <a:t>人类线粒体 </a:t>
            </a:r>
            <a:r>
              <a:rPr lang="en-US" altLang="zh-CN" dirty="0"/>
              <a:t>DNA </a:t>
            </a:r>
            <a:r>
              <a:rPr lang="zh-CN" altLang="en-US" dirty="0"/>
              <a:t>遗传具有</a:t>
            </a:r>
            <a:r>
              <a:rPr lang="zh-CN" altLang="en-US" b="1" dirty="0">
                <a:solidFill>
                  <a:srgbClr val="FF0000"/>
                </a:solidFill>
              </a:rPr>
              <a:t>表型不规律分离</a:t>
            </a:r>
            <a:r>
              <a:rPr lang="zh-CN" altLang="en-US" dirty="0"/>
              <a:t>、</a:t>
            </a:r>
            <a:r>
              <a:rPr lang="zh-CN" altLang="en-US" b="1" dirty="0">
                <a:solidFill>
                  <a:srgbClr val="FF0000"/>
                </a:solidFill>
              </a:rPr>
              <a:t>阈值效应</a:t>
            </a:r>
            <a:r>
              <a:rPr lang="zh-CN" altLang="en-US" dirty="0"/>
              <a:t>和</a:t>
            </a:r>
            <a:r>
              <a:rPr lang="zh-CN" altLang="en-US" b="1" dirty="0">
                <a:solidFill>
                  <a:srgbClr val="FF0000"/>
                </a:solidFill>
              </a:rPr>
              <a:t>遗传瓶颈</a:t>
            </a:r>
            <a:r>
              <a:rPr lang="zh-CN" altLang="en-US" dirty="0"/>
              <a:t>等特点。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5A299FE-D791-4878-AA92-FF6E14479E59}"/>
              </a:ext>
            </a:extLst>
          </p:cNvPr>
          <p:cNvSpPr txBox="1"/>
          <p:nvPr/>
        </p:nvSpPr>
        <p:spPr>
          <a:xfrm>
            <a:off x="6379028" y="911707"/>
            <a:ext cx="5812972" cy="48844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zh-CN"/>
            </a:defPPr>
            <a:lvl1pPr marL="457200" indent="-4572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defRPr sz="2000">
                <a:solidFill>
                  <a:srgbClr val="3A599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0" lvl="1" indent="0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Char char="Ø"/>
              <a:defRPr sz="2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1"/>
            <a:r>
              <a:rPr lang="zh-CN" altLang="en-US" dirty="0"/>
              <a:t>在一个合子内携带不同类型的细胞器（如野生型和突变型）的现象被称为</a:t>
            </a:r>
            <a:r>
              <a:rPr lang="zh-CN" altLang="en-US" b="1" dirty="0">
                <a:solidFill>
                  <a:srgbClr val="FF0000"/>
                </a:solidFill>
              </a:rPr>
              <a:t>异质性</a:t>
            </a:r>
            <a:r>
              <a:rPr lang="zh-CN" altLang="en-US" dirty="0"/>
              <a:t>（</a:t>
            </a:r>
            <a:r>
              <a:rPr lang="en-US" altLang="zh-CN" dirty="0" err="1"/>
              <a:t>heteroplasmy</a:t>
            </a:r>
            <a:r>
              <a:rPr lang="zh-CN" altLang="en-US" dirty="0"/>
              <a:t>），如果合子只含有一种类型（全部野生型或突变型）的细胞器则称为</a:t>
            </a:r>
            <a:r>
              <a:rPr lang="zh-CN" altLang="en-US" b="1" dirty="0">
                <a:solidFill>
                  <a:srgbClr val="FF0000"/>
                </a:solidFill>
              </a:rPr>
              <a:t>同质性</a:t>
            </a:r>
            <a:r>
              <a:rPr lang="zh-CN" altLang="en-US" dirty="0"/>
              <a:t> （</a:t>
            </a:r>
            <a:r>
              <a:rPr lang="en-US" altLang="zh-CN" dirty="0" err="1"/>
              <a:t>homoplasmy</a:t>
            </a:r>
            <a:r>
              <a:rPr lang="zh-CN" altLang="en-US" dirty="0"/>
              <a:t>）。</a:t>
            </a:r>
            <a:endParaRPr lang="en-US" altLang="zh-CN" dirty="0"/>
          </a:p>
          <a:p>
            <a:pPr lvl="1"/>
            <a:r>
              <a:rPr lang="zh-CN" altLang="en-US" dirty="0"/>
              <a:t>在一个异质性的受精卵的发育过程中，由于胞质分裂的随机性，细胞器在子细胞中随机分配，就会产生不同类型的子细胞，这就是线粒体遗传的</a:t>
            </a:r>
            <a:r>
              <a:rPr lang="zh-CN" altLang="en-US" b="1" dirty="0">
                <a:solidFill>
                  <a:srgbClr val="FF0000"/>
                </a:solidFill>
              </a:rPr>
              <a:t>表型不规律分离</a:t>
            </a:r>
            <a:r>
              <a:rPr lang="zh-CN" altLang="en-US" dirty="0"/>
              <a:t>，它会导致</a:t>
            </a:r>
            <a:r>
              <a:rPr lang="zh-CN" altLang="en-US" b="1" dirty="0"/>
              <a:t>同一个体的不同器官的表型不同</a:t>
            </a:r>
            <a:r>
              <a:rPr lang="zh-CN" altLang="en-US" dirty="0"/>
              <a:t>（以及</a:t>
            </a:r>
            <a:r>
              <a:rPr lang="zh-CN" altLang="en-US" b="1" dirty="0"/>
              <a:t>不同个体受累器官不同</a:t>
            </a:r>
            <a:r>
              <a:rPr lang="zh-CN" altLang="en-US" dirty="0"/>
              <a:t>）等现象。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24002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9EEED71-6DB4-4E19-AE82-7AA23F6A4B8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53799" y="6356350"/>
            <a:ext cx="577363" cy="365125"/>
          </a:xfrm>
          <a:prstGeom prst="rect">
            <a:avLst/>
          </a:prstGeom>
        </p:spPr>
        <p:txBody>
          <a:bodyPr/>
          <a:lstStyle/>
          <a:p>
            <a:fld id="{D4751D38-C989-48BC-B1AB-387F6E8DCEB6}" type="slidenum">
              <a:rPr lang="zh-CN" altLang="en-US" smtClean="0"/>
              <a:pPr/>
              <a:t>11</a:t>
            </a:fld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11F3A11-9007-4637-8855-AA97E1756EA2}"/>
              </a:ext>
            </a:extLst>
          </p:cNvPr>
          <p:cNvSpPr txBox="1"/>
          <p:nvPr/>
        </p:nvSpPr>
        <p:spPr>
          <a:xfrm>
            <a:off x="660239" y="5084620"/>
            <a:ext cx="60907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0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线粒体遗传瓶颈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217DC86-998D-47D9-A6E5-6A9F16AAA19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7" y="811181"/>
            <a:ext cx="6473870" cy="4000019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2EB3E30C-A480-4BA4-B952-2148EAB007A6}"/>
              </a:ext>
            </a:extLst>
          </p:cNvPr>
          <p:cNvSpPr txBox="1"/>
          <p:nvPr/>
        </p:nvSpPr>
        <p:spPr>
          <a:xfrm>
            <a:off x="6750969" y="712141"/>
            <a:ext cx="5162274" cy="52475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zh-CN"/>
            </a:defPPr>
            <a:lvl1pPr marL="457200" indent="-4572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defRPr sz="2000">
                <a:solidFill>
                  <a:srgbClr val="3A599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0" lvl="1" indent="0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Char char="Ø"/>
              <a:defRPr sz="2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1"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线粒体遗传瓶颈</a:t>
            </a:r>
            <a:r>
              <a:rPr lang="zh-CN" altLang="en-US" dirty="0"/>
              <a:t>（</a:t>
            </a:r>
            <a:r>
              <a:rPr lang="en-US" altLang="zh-CN" dirty="0"/>
              <a:t>mitochondrial genetic bottleneck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b="1" dirty="0"/>
              <a:t>在雌性胚胎的原始生殖细胞发育过程中</a:t>
            </a:r>
            <a:r>
              <a:rPr lang="zh-CN" altLang="en-US" dirty="0"/>
              <a:t>，</a:t>
            </a:r>
            <a:r>
              <a:rPr lang="zh-CN" altLang="en-US" b="1" dirty="0"/>
              <a:t>线粒体数目会发生大幅减少</a:t>
            </a:r>
            <a:r>
              <a:rPr lang="zh-CN" altLang="en-US" dirty="0"/>
              <a:t>，最终</a:t>
            </a:r>
            <a:r>
              <a:rPr lang="zh-CN" altLang="en-US" b="1" dirty="0"/>
              <a:t>只有少量的线粒体 </a:t>
            </a:r>
            <a:r>
              <a:rPr lang="en-US" altLang="zh-CN" b="1" dirty="0"/>
              <a:t>DNA </a:t>
            </a:r>
            <a:r>
              <a:rPr lang="zh-CN" altLang="en-US" b="1" dirty="0"/>
              <a:t>经复制后积累在成熟的卵母细胞中</a:t>
            </a:r>
            <a:r>
              <a:rPr lang="zh-CN" altLang="en-US" dirty="0"/>
              <a:t>。如果一个雌性胚胎细胞是异质性的，那么在它的原始生殖细胞发育的过程中，成熟卵细胞之间突变型线粒体 </a:t>
            </a:r>
            <a:r>
              <a:rPr lang="en-US" altLang="zh-CN" dirty="0"/>
              <a:t>DNA </a:t>
            </a:r>
            <a:r>
              <a:rPr lang="zh-CN" altLang="en-US" dirty="0"/>
              <a:t>的比例会显著不同，受精后得到的个体自然就会出现不同程度的表型了。</a:t>
            </a:r>
          </a:p>
        </p:txBody>
      </p:sp>
    </p:spTree>
    <p:extLst>
      <p:ext uri="{BB962C8B-B14F-4D97-AF65-F5344CB8AC3E}">
        <p14:creationId xmlns:p14="http://schemas.microsoft.com/office/powerpoint/2010/main" val="3597594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111F3A11-9007-4637-8855-AA97E1756EA2}"/>
              </a:ext>
            </a:extLst>
          </p:cNvPr>
          <p:cNvSpPr txBox="1"/>
          <p:nvPr/>
        </p:nvSpPr>
        <p:spPr>
          <a:xfrm>
            <a:off x="8445516" y="3170403"/>
            <a:ext cx="37464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0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sz="2400" dirty="0"/>
              <a:t>草履虫的接合生殖</a:t>
            </a:r>
          </a:p>
        </p:txBody>
      </p:sp>
      <p:sp>
        <p:nvSpPr>
          <p:cNvPr id="13" name="标题 4">
            <a:extLst>
              <a:ext uri="{FF2B5EF4-FFF2-40B4-BE49-F238E27FC236}">
                <a16:creationId xmlns:a16="http://schemas.microsoft.com/office/drawing/2014/main" id="{FD8D0972-5DE8-4D6D-85D2-B37C65BAF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583" y="0"/>
            <a:ext cx="10515600" cy="72512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六、 草履虫放毒型的遗传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3B32B23-F29E-4C12-990C-176E71ADA3D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90" y="633090"/>
            <a:ext cx="8398567" cy="61205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B30D5A4-A49F-46A0-A578-6466335AACEB}"/>
              </a:ext>
            </a:extLst>
          </p:cNvPr>
          <p:cNvSpPr txBox="1"/>
          <p:nvPr/>
        </p:nvSpPr>
        <p:spPr>
          <a:xfrm>
            <a:off x="20311" y="846404"/>
            <a:ext cx="6740221" cy="24301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zh-CN"/>
            </a:defPPr>
            <a:lvl1pPr marL="457200" indent="-4572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defRPr sz="2000">
                <a:solidFill>
                  <a:srgbClr val="3A599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0" lvl="1" indent="0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Char char="Ø"/>
              <a:defRPr sz="2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694812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4">
            <a:extLst>
              <a:ext uri="{FF2B5EF4-FFF2-40B4-BE49-F238E27FC236}">
                <a16:creationId xmlns:a16="http://schemas.microsoft.com/office/drawing/2014/main" id="{FD8D0972-5DE8-4D6D-85D2-B37C65BAF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011" y="153880"/>
            <a:ext cx="10515600" cy="72512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六、 草履虫放毒型的遗传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B30D5A4-A49F-46A0-A578-6466335AACEB}"/>
              </a:ext>
            </a:extLst>
          </p:cNvPr>
          <p:cNvSpPr txBox="1"/>
          <p:nvPr/>
        </p:nvSpPr>
        <p:spPr>
          <a:xfrm>
            <a:off x="20311" y="846404"/>
            <a:ext cx="6740221" cy="24301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zh-CN"/>
            </a:defPPr>
            <a:lvl1pPr marL="457200" indent="-4572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defRPr sz="2000">
                <a:solidFill>
                  <a:srgbClr val="3A599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0" lvl="1" indent="0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Char char="Ø"/>
              <a:defRPr sz="2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1"/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AF00D64-5FE3-43D7-820A-CB004AF89224}"/>
              </a:ext>
            </a:extLst>
          </p:cNvPr>
          <p:cNvSpPr txBox="1"/>
          <p:nvPr/>
        </p:nvSpPr>
        <p:spPr>
          <a:xfrm>
            <a:off x="4047287" y="5789264"/>
            <a:ext cx="34323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草履虫的自体受精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8AA9EA47-6798-49F6-8C8F-F45BFE3C3F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169" y="1077895"/>
            <a:ext cx="10084374" cy="457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4412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4">
            <a:extLst>
              <a:ext uri="{FF2B5EF4-FFF2-40B4-BE49-F238E27FC236}">
                <a16:creationId xmlns:a16="http://schemas.microsoft.com/office/drawing/2014/main" id="{FD8D0972-5DE8-4D6D-85D2-B37C65BAF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011" y="153880"/>
            <a:ext cx="10515600" cy="72512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六、 草履虫放毒型的遗传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B30D5A4-A49F-46A0-A578-6466335AACEB}"/>
              </a:ext>
            </a:extLst>
          </p:cNvPr>
          <p:cNvSpPr txBox="1"/>
          <p:nvPr/>
        </p:nvSpPr>
        <p:spPr>
          <a:xfrm>
            <a:off x="20311" y="846404"/>
            <a:ext cx="6740221" cy="24301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zh-CN"/>
            </a:defPPr>
            <a:lvl1pPr marL="457200" indent="-4572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defRPr sz="2000">
                <a:solidFill>
                  <a:srgbClr val="3A599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0" lvl="1" indent="0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Char char="Ø"/>
              <a:defRPr sz="2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1"/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AEE0057-DD8D-4AC1-806E-11307E1E31E5}"/>
              </a:ext>
            </a:extLst>
          </p:cNvPr>
          <p:cNvSpPr txBox="1"/>
          <p:nvPr/>
        </p:nvSpPr>
        <p:spPr>
          <a:xfrm>
            <a:off x="5589109" y="2047991"/>
            <a:ext cx="6602891" cy="22473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zh-CN"/>
            </a:defPPr>
            <a:lvl1pPr marL="457200" indent="-4572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defRPr sz="2000">
                <a:solidFill>
                  <a:srgbClr val="3A599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0" lvl="1" indent="0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Char char="Ø"/>
              <a:defRPr sz="2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1"/>
            <a:r>
              <a:rPr lang="zh-CN" altLang="en-US" dirty="0"/>
              <a:t>草履虫的放毒型需要两种因子同时存在：①细胞质因子，</a:t>
            </a:r>
            <a:r>
              <a:rPr lang="zh-CN" altLang="en-US" b="1" dirty="0"/>
              <a:t>卡巴粒（</a:t>
            </a:r>
            <a:r>
              <a:rPr lang="en-US" altLang="zh-CN" b="1" dirty="0"/>
              <a:t>κ</a:t>
            </a:r>
            <a:r>
              <a:rPr lang="zh-CN" altLang="en-US" b="1" dirty="0"/>
              <a:t>）</a:t>
            </a:r>
            <a:r>
              <a:rPr lang="zh-CN" altLang="en-US" dirty="0"/>
              <a:t>；②</a:t>
            </a:r>
            <a:r>
              <a:rPr lang="zh-CN" altLang="en-US" b="1" dirty="0"/>
              <a:t>核基因</a:t>
            </a:r>
            <a:r>
              <a:rPr lang="en-US" altLang="zh-CN" b="1" dirty="0"/>
              <a:t>K</a:t>
            </a:r>
            <a:r>
              <a:rPr lang="zh-CN" altLang="en-US" dirty="0"/>
              <a:t>，显性基因，参与调节卡巴粒的增殖，</a:t>
            </a:r>
            <a:r>
              <a:rPr lang="en-US" altLang="zh-CN" dirty="0"/>
              <a:t>k </a:t>
            </a:r>
            <a:r>
              <a:rPr lang="zh-CN" altLang="en-US" dirty="0"/>
              <a:t>是隐性等位基因。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34C774E7-B361-4EB5-89A5-DBC8DF2B8A8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332" y="914897"/>
            <a:ext cx="4479267" cy="493421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8E31D849-3D3F-4C36-983A-410D02B7D36E}"/>
              </a:ext>
            </a:extLst>
          </p:cNvPr>
          <p:cNvSpPr txBox="1"/>
          <p:nvPr/>
        </p:nvSpPr>
        <p:spPr>
          <a:xfrm>
            <a:off x="702333" y="6000820"/>
            <a:ext cx="50673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0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sz="2400" dirty="0"/>
              <a:t>草履虫的放毒型（</a:t>
            </a:r>
            <a:r>
              <a:rPr lang="en-US" altLang="zh-CN" sz="2400" dirty="0"/>
              <a:t>a</a:t>
            </a:r>
            <a:r>
              <a:rPr lang="zh-CN" altLang="en-US" sz="2400" dirty="0"/>
              <a:t>）和敏感型（</a:t>
            </a:r>
            <a:r>
              <a:rPr lang="en-US" altLang="zh-CN" sz="2400" dirty="0"/>
              <a:t>b</a:t>
            </a:r>
            <a:r>
              <a:rPr lang="zh-CN" altLang="en-US" sz="2400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41870986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111F3A11-9007-4637-8855-AA97E1756EA2}"/>
              </a:ext>
            </a:extLst>
          </p:cNvPr>
          <p:cNvSpPr txBox="1"/>
          <p:nvPr/>
        </p:nvSpPr>
        <p:spPr>
          <a:xfrm>
            <a:off x="6968814" y="5585788"/>
            <a:ext cx="43523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草履虫放毒型细胞中核基因组与细胞质基因组间的相互关系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A984BBF-E0CF-4785-BF5B-1889E9AA94F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9007" y="956649"/>
            <a:ext cx="6074228" cy="420167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7F03C57-F82B-438F-9BA0-A36364DCF444}"/>
              </a:ext>
            </a:extLst>
          </p:cNvPr>
          <p:cNvSpPr txBox="1"/>
          <p:nvPr/>
        </p:nvSpPr>
        <p:spPr>
          <a:xfrm>
            <a:off x="750873" y="6090187"/>
            <a:ext cx="46975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草履虫放毒型和敏感型的接合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422FFFA-E00C-4C4D-9387-BFB56BC7393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253" y="499137"/>
            <a:ext cx="5440180" cy="5500705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499046" y="129805"/>
            <a:ext cx="17235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接合时间短</a:t>
            </a:r>
          </a:p>
        </p:txBody>
      </p:sp>
      <p:sp>
        <p:nvSpPr>
          <p:cNvPr id="5" name="矩形 4"/>
          <p:cNvSpPr/>
          <p:nvPr/>
        </p:nvSpPr>
        <p:spPr>
          <a:xfrm>
            <a:off x="3549150" y="129805"/>
            <a:ext cx="17235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接合时间长</a:t>
            </a:r>
          </a:p>
        </p:txBody>
      </p:sp>
    </p:spTree>
    <p:extLst>
      <p:ext uri="{BB962C8B-B14F-4D97-AF65-F5344CB8AC3E}">
        <p14:creationId xmlns:p14="http://schemas.microsoft.com/office/powerpoint/2010/main" val="20474078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-1"/>
            <a:ext cx="5334000" cy="6820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111F3A11-9007-4637-8855-AA97E1756EA2}"/>
              </a:ext>
            </a:extLst>
          </p:cNvPr>
          <p:cNvSpPr txBox="1"/>
          <p:nvPr/>
        </p:nvSpPr>
        <p:spPr>
          <a:xfrm>
            <a:off x="3141647" y="6056377"/>
            <a:ext cx="36020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玉米雄性不育的遗传</a:t>
            </a:r>
          </a:p>
        </p:txBody>
      </p:sp>
      <p:sp>
        <p:nvSpPr>
          <p:cNvPr id="13" name="标题 4">
            <a:extLst>
              <a:ext uri="{FF2B5EF4-FFF2-40B4-BE49-F238E27FC236}">
                <a16:creationId xmlns:a16="http://schemas.microsoft.com/office/drawing/2014/main" id="{FD8D0972-5DE8-4D6D-85D2-B37C65BAF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2512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第三节　核质互作与禾谷类作物的雄性不育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19CA195-2D84-4656-B5DD-E5EF6ACC8851}"/>
              </a:ext>
            </a:extLst>
          </p:cNvPr>
          <p:cNvSpPr txBox="1"/>
          <p:nvPr/>
        </p:nvSpPr>
        <p:spPr>
          <a:xfrm>
            <a:off x="177800" y="1367347"/>
            <a:ext cx="7200900" cy="122345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zh-CN"/>
            </a:defPPr>
            <a:lvl1pPr marL="457200" indent="-4572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defRPr sz="2000">
                <a:solidFill>
                  <a:srgbClr val="3A599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0" lvl="1" indent="0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Char char="Ø"/>
              <a:defRPr sz="2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1">
              <a:buNone/>
            </a:pPr>
            <a:r>
              <a:rPr lang="zh-CN" altLang="en-US" sz="2800" dirty="0"/>
              <a:t>        雄性不育的性状是细胞质基因和核基因共同作用的结果。</a:t>
            </a:r>
          </a:p>
        </p:txBody>
      </p:sp>
    </p:spTree>
    <p:extLst>
      <p:ext uri="{BB962C8B-B14F-4D97-AF65-F5344CB8AC3E}">
        <p14:creationId xmlns:p14="http://schemas.microsoft.com/office/powerpoint/2010/main" val="23077461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8">
            <a:extLst>
              <a:ext uri="{FF2B5EF4-FFF2-40B4-BE49-F238E27FC236}">
                <a16:creationId xmlns:a16="http://schemas.microsoft.com/office/drawing/2014/main" id="{111F3A11-9007-4637-8855-AA97E1756EA2}"/>
              </a:ext>
            </a:extLst>
          </p:cNvPr>
          <p:cNvSpPr txBox="1"/>
          <p:nvPr/>
        </p:nvSpPr>
        <p:spPr>
          <a:xfrm>
            <a:off x="6590523" y="6050709"/>
            <a:ext cx="44711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制造杂交种，同时繁殖恢复系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C6AD2A3-E65B-4BAB-8351-0FEB43E488C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10083"/>
          <a:stretch/>
        </p:blipFill>
        <p:spPr>
          <a:xfrm>
            <a:off x="6644755" y="852929"/>
            <a:ext cx="4416945" cy="4964911"/>
          </a:xfrm>
          <a:prstGeom prst="rect">
            <a:avLst/>
          </a:prstGeom>
        </p:spPr>
      </p:pic>
      <p:sp>
        <p:nvSpPr>
          <p:cNvPr id="5" name="文本框 11">
            <a:extLst>
              <a:ext uri="{FF2B5EF4-FFF2-40B4-BE49-F238E27FC236}">
                <a16:creationId xmlns:a16="http://schemas.microsoft.com/office/drawing/2014/main" id="{2FB20713-4946-4414-8230-7ED60AC7B200}"/>
              </a:ext>
            </a:extLst>
          </p:cNvPr>
          <p:cNvSpPr txBox="1"/>
          <p:nvPr/>
        </p:nvSpPr>
        <p:spPr>
          <a:xfrm>
            <a:off x="1551150" y="6050708"/>
            <a:ext cx="43156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雄性不育系和保持系的繁殖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F29E87B-8024-4A3A-92CE-C8A6EE8ABBE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938" y="902841"/>
            <a:ext cx="4182182" cy="486508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903724" y="117159"/>
            <a:ext cx="86194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zh-CN" altLang="en-US" sz="2800" b="1" dirty="0">
                <a:solidFill>
                  <a:srgbClr val="051CFB"/>
                </a:solidFill>
                <a:latin typeface="黑体" pitchFamily="49" charset="-122"/>
                <a:ea typeface="黑体" pitchFamily="49" charset="-122"/>
              </a:rPr>
              <a:t>“二区三系”制种法</a:t>
            </a:r>
            <a:r>
              <a:rPr lang="en-US" altLang="zh-CN" sz="2800" b="1" dirty="0">
                <a:solidFill>
                  <a:srgbClr val="051CFB"/>
                </a:solidFill>
                <a:latin typeface="黑体" pitchFamily="49" charset="-122"/>
                <a:ea typeface="黑体" pitchFamily="49" charset="-122"/>
              </a:rPr>
              <a:t>——</a:t>
            </a:r>
            <a:r>
              <a:rPr lang="zh-CN" altLang="en-US" sz="2800" b="1" dirty="0">
                <a:solidFill>
                  <a:srgbClr val="051CFB"/>
                </a:solidFill>
                <a:latin typeface="黑体" pitchFamily="49" charset="-122"/>
                <a:ea typeface="黑体" pitchFamily="49" charset="-122"/>
              </a:rPr>
              <a:t>两个隔离区同时繁殖三系</a:t>
            </a:r>
          </a:p>
        </p:txBody>
      </p:sp>
    </p:spTree>
    <p:extLst>
      <p:ext uri="{BB962C8B-B14F-4D97-AF65-F5344CB8AC3E}">
        <p14:creationId xmlns:p14="http://schemas.microsoft.com/office/powerpoint/2010/main" val="2223325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E81B80-7EEF-4A4D-81E4-9FFCDB419E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-1" y="676242"/>
            <a:ext cx="9654813" cy="5165758"/>
          </a:xfrm>
        </p:spPr>
        <p:txBody>
          <a:bodyPr vert="horz" lIns="91440" tIns="45720" rIns="91440" bIns="45720" rtlCol="0">
            <a:noAutofit/>
          </a:bodyPr>
          <a:lstStyle/>
          <a:p>
            <a:pPr marL="0" lvl="1" indent="0">
              <a:lnSpc>
                <a:spcPct val="120000"/>
              </a:lnSpc>
              <a:spcBef>
                <a:spcPts val="1200"/>
              </a:spcBef>
            </a:pPr>
            <a:r>
              <a:rPr lang="zh-CN" altLang="en-US" sz="2400" dirty="0"/>
              <a:t>以袁隆平为代表的 中国水稻育种学家们对水稻的雄性不育性状进行了广泛研究，</a:t>
            </a:r>
            <a:r>
              <a:rPr lang="en-US" altLang="zh-CN" sz="2400" dirty="0"/>
              <a:t>1973 </a:t>
            </a:r>
            <a:r>
              <a:rPr lang="zh-CN" altLang="en-US" sz="2400" dirty="0"/>
              <a:t>年籼型三系杂交水稻成功配制，极大地提高了水稻产量。中国成为世界上第一个成功培育杂交水稻并大面积应用于生产的 国家。</a:t>
            </a:r>
            <a:endParaRPr lang="en-US" altLang="zh-CN" sz="2400" dirty="0"/>
          </a:p>
          <a:p>
            <a:pPr marL="0" lvl="1" indent="0">
              <a:lnSpc>
                <a:spcPct val="120000"/>
              </a:lnSpc>
              <a:spcBef>
                <a:spcPts val="1200"/>
              </a:spcBef>
            </a:pPr>
            <a:r>
              <a:rPr lang="zh-CN" altLang="en-US" sz="2400" dirty="0"/>
              <a:t>同年，石明松（</a:t>
            </a:r>
            <a:r>
              <a:rPr lang="en-US" altLang="zh-CN" sz="2400" dirty="0"/>
              <a:t>1938—1989</a:t>
            </a:r>
            <a:r>
              <a:rPr lang="zh-CN" altLang="en-US" sz="2400" dirty="0"/>
              <a:t>）在水稻田间发现了一株天然雄性不育株，</a:t>
            </a:r>
            <a:r>
              <a:rPr lang="zh-CN" altLang="en-US" sz="2400" b="1" dirty="0"/>
              <a:t>该不育系在长日照的高温条件下表现为雄性不育，可以作为不育系用于杂交水稻制种；而在短日照低温条件下可育， 可以用于不育系的繁种</a:t>
            </a:r>
            <a:r>
              <a:rPr lang="zh-CN" altLang="en-US" sz="2400" dirty="0"/>
              <a:t>，后被称为</a:t>
            </a:r>
            <a:r>
              <a:rPr lang="zh-CN" altLang="en-US" sz="2400" b="1" dirty="0">
                <a:solidFill>
                  <a:srgbClr val="FF0000"/>
                </a:solidFill>
              </a:rPr>
              <a:t>光周期敏感核不育系</a:t>
            </a:r>
            <a:r>
              <a:rPr lang="zh-CN" altLang="en-US" sz="2400" dirty="0"/>
              <a:t>。利用这个特殊品系，中国水稻育种学家们又成功开创了“二系”杂交水稻育种技术， 两系杂交稻可以进一步增加亲本的遗传差异，杂交种的产量进一步提升。</a:t>
            </a:r>
            <a:endParaRPr lang="en-US" altLang="zh-C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276066-32B6-4C4E-A675-8DEFFBEEC0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111" b="7404"/>
          <a:stretch/>
        </p:blipFill>
        <p:spPr bwMode="auto">
          <a:xfrm>
            <a:off x="9654813" y="1299916"/>
            <a:ext cx="2537187" cy="31958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38146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1528</Words>
  <Application>Microsoft Office PowerPoint</Application>
  <PresentationFormat>宽屏</PresentationFormat>
  <Paragraphs>71</Paragraphs>
  <Slides>18</Slides>
  <Notes>11</Notes>
  <HiddenSlides>1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黑体</vt:lpstr>
      <vt:lpstr>微软雅黑</vt:lpstr>
      <vt:lpstr>Arial</vt:lpstr>
      <vt:lpstr>Calibri</vt:lpstr>
      <vt:lpstr>Times New Roman</vt:lpstr>
      <vt:lpstr>Wingdings</vt:lpstr>
      <vt:lpstr>Office 主题</vt:lpstr>
      <vt:lpstr>1_Office 主题</vt:lpstr>
      <vt:lpstr>PowerPoint 演示文稿</vt:lpstr>
      <vt:lpstr>一、 短暂的母性影响</vt:lpstr>
      <vt:lpstr>二、 持久的母性影响</vt:lpstr>
      <vt:lpstr>PowerPoint 演示文稿</vt:lpstr>
      <vt:lpstr>一、 高等植物叶绿体的遗传</vt:lpstr>
      <vt:lpstr>PowerPoint 演示文稿</vt:lpstr>
      <vt:lpstr>三、 真菌类线粒体的遗传</vt:lpstr>
      <vt:lpstr>PowerPoint 演示文稿</vt:lpstr>
      <vt:lpstr>五、 人类线粒体遗传与机制</vt:lpstr>
      <vt:lpstr>PowerPoint 演示文稿</vt:lpstr>
      <vt:lpstr>PowerPoint 演示文稿</vt:lpstr>
      <vt:lpstr>六、 草履虫放毒型的遗传</vt:lpstr>
      <vt:lpstr>六、 草履虫放毒型的遗传</vt:lpstr>
      <vt:lpstr>六、 草履虫放毒型的遗传</vt:lpstr>
      <vt:lpstr>PowerPoint 演示文稿</vt:lpstr>
      <vt:lpstr>第三节　核质互作与禾谷类作物的雄性不育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zhaojy@hep.com.cn</dc:creator>
  <cp:lastModifiedBy>Admin</cp:lastModifiedBy>
  <cp:revision>95</cp:revision>
  <dcterms:created xsi:type="dcterms:W3CDTF">2020-09-25T05:42:09Z</dcterms:created>
  <dcterms:modified xsi:type="dcterms:W3CDTF">2023-07-05T13:10:23Z</dcterms:modified>
</cp:coreProperties>
</file>