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3"/>
  </p:notesMasterIdLst>
  <p:sldIdLst>
    <p:sldId id="263" r:id="rId3"/>
    <p:sldId id="352" r:id="rId4"/>
    <p:sldId id="317" r:id="rId5"/>
    <p:sldId id="318" r:id="rId6"/>
    <p:sldId id="319" r:id="rId7"/>
    <p:sldId id="322" r:id="rId8"/>
    <p:sldId id="323" r:id="rId9"/>
    <p:sldId id="324" r:id="rId10"/>
    <p:sldId id="394" r:id="rId11"/>
    <p:sldId id="326" r:id="rId12"/>
    <p:sldId id="355" r:id="rId13"/>
    <p:sldId id="287" r:id="rId14"/>
    <p:sldId id="328" r:id="rId15"/>
    <p:sldId id="354" r:id="rId16"/>
    <p:sldId id="327" r:id="rId17"/>
    <p:sldId id="357" r:id="rId18"/>
    <p:sldId id="356" r:id="rId19"/>
    <p:sldId id="395" r:id="rId20"/>
    <p:sldId id="358" r:id="rId21"/>
    <p:sldId id="332" r:id="rId22"/>
    <p:sldId id="334" r:id="rId23"/>
    <p:sldId id="359" r:id="rId24"/>
    <p:sldId id="336" r:id="rId25"/>
    <p:sldId id="360" r:id="rId26"/>
    <p:sldId id="361" r:id="rId27"/>
    <p:sldId id="396" r:id="rId28"/>
    <p:sldId id="340" r:id="rId29"/>
    <p:sldId id="342" r:id="rId30"/>
    <p:sldId id="344" r:id="rId31"/>
    <p:sldId id="34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0FB"/>
    <a:srgbClr val="1A11D5"/>
    <a:srgbClr val="592DFB"/>
    <a:srgbClr val="3A5991"/>
    <a:srgbClr val="EDEEF2"/>
    <a:srgbClr val="063090"/>
    <a:srgbClr val="FFFF00"/>
    <a:srgbClr val="031386"/>
    <a:srgbClr val="006699"/>
    <a:srgbClr val="004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93" autoAdjust="0"/>
  </p:normalViewPr>
  <p:slideViewPr>
    <p:cSldViewPr snapToGrid="0">
      <p:cViewPr varScale="1">
        <p:scale>
          <a:sx n="107" d="100"/>
          <a:sy n="107" d="100"/>
        </p:scale>
        <p:origin x="1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323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2BE6C-E1A6-417E-951F-337EB91C0C8D}" type="datetimeFigureOut">
              <a:rPr lang="zh-CN" altLang="en-US" smtClean="0"/>
              <a:t>2023/5/29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1CDC8-E1E3-4EFD-A43E-3723536F9B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47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85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668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84EB0-0DBB-49F7-AA1A-60EEEE821FF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63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1CDC8-E1E3-4EFD-A43E-3723536F9B5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431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10515600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45973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920FB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solidFill>
                  <a:srgbClr val="0920F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280519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920FB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591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2C5B7A1-44B1-4D62-8157-AFEC4E28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38" y="360485"/>
            <a:ext cx="10515600" cy="5764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AutoNum type="arabicPeriod"/>
              <a:defRPr lang="zh-CN" altLang="en-US" sz="2400" b="1" kern="1200" dirty="0">
                <a:solidFill>
                  <a:srgbClr val="0920FB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457200" lvl="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13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4AF746EE-B019-4F59-B570-FF658F14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880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FDB94-F5D9-4E23-87FC-531BEAEE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27" y="126587"/>
            <a:ext cx="11336785" cy="61553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>
                <a:solidFill>
                  <a:srgbClr val="0920FB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5EE13-5C08-44FE-B565-6B1E6D6A6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8" y="1420426"/>
            <a:ext cx="11336784" cy="5072447"/>
          </a:xfrm>
        </p:spPr>
        <p:txBody>
          <a:bodyPr>
            <a:normAutofit/>
          </a:bodyPr>
          <a:lstStyle>
            <a:lvl1pPr marL="228600" indent="-228600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  <a:defRPr sz="2400">
                <a:solidFill>
                  <a:srgbClr val="0920F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29930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94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52729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53720" y="599598"/>
            <a:ext cx="11084560" cy="5658803"/>
          </a:xfrm>
        </p:spPr>
        <p:txBody>
          <a:bodyPr/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一级标题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731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4052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29750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7111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7765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99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732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01958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5410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84477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26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5638" y="146199"/>
            <a:ext cx="10515600" cy="595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5638" y="1113448"/>
            <a:ext cx="10515600" cy="501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20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2" r:id="rId2"/>
    <p:sldLayoutId id="2147483654" r:id="rId3"/>
    <p:sldLayoutId id="2147483655" r:id="rId4"/>
    <p:sldLayoutId id="2147483660" r:id="rId5"/>
    <p:sldLayoutId id="2147483675" r:id="rId6"/>
    <p:sldLayoutId id="214748367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92DFB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400" b="1" kern="1200">
          <a:solidFill>
            <a:srgbClr val="592DFB"/>
          </a:solidFill>
          <a:latin typeface="黑体" pitchFamily="49" charset="-122"/>
          <a:ea typeface="黑体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5638" y="0"/>
            <a:ext cx="10515600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5638" y="1113448"/>
            <a:ext cx="10515600" cy="501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153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3200" b="1" kern="1200" dirty="0">
          <a:solidFill>
            <a:srgbClr val="0920FB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400" b="1" kern="1200">
          <a:solidFill>
            <a:srgbClr val="0920FB"/>
          </a:solidFill>
          <a:latin typeface="黑体" pitchFamily="49" charset="-122"/>
          <a:ea typeface="黑体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7.wdp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microsoft.com/office/2007/relationships/hdphoto" Target="../media/hdphoto8.wdp"/><Relationship Id="rId7" Type="http://schemas.microsoft.com/office/2007/relationships/hdphoto" Target="../media/hdphoto10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9.wdp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6.wdp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68668C-E989-456D-8173-377CB1C7F961}"/>
              </a:ext>
            </a:extLst>
          </p:cNvPr>
          <p:cNvSpPr txBox="1"/>
          <p:nvPr/>
        </p:nvSpPr>
        <p:spPr>
          <a:xfrm>
            <a:off x="1178351" y="1338458"/>
            <a:ext cx="9945278" cy="1260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8800" b="1" spc="6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60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第九章 数量性状遗传</a:t>
            </a:r>
          </a:p>
        </p:txBody>
      </p:sp>
    </p:spTree>
    <p:extLst>
      <p:ext uri="{BB962C8B-B14F-4D97-AF65-F5344CB8AC3E}">
        <p14:creationId xmlns:p14="http://schemas.microsoft.com/office/powerpoint/2010/main" val="343553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F74B5B-33A1-406B-BF83-80909A58A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544989"/>
            <a:ext cx="12192001" cy="4385501"/>
          </a:xfrm>
        </p:spPr>
        <p:txBody>
          <a:bodyPr>
            <a:normAutofit/>
          </a:bodyPr>
          <a:lstStyle/>
          <a:p>
            <a:pPr marL="0" lvl="1" indent="0">
              <a:lnSpc>
                <a:spcPct val="120000"/>
              </a:lnSpc>
              <a:buNone/>
            </a:pPr>
            <a:r>
              <a:rPr lang="zh-CN" altLang="en-US" sz="2800" b="1" dirty="0"/>
              <a:t>        遗传性状的分布有连续的和不连续的：表现不连续分布的性状称为</a:t>
            </a:r>
            <a:r>
              <a:rPr lang="zh-CN" altLang="en-US" sz="2800" b="1" dirty="0">
                <a:solidFill>
                  <a:srgbClr val="FF0000"/>
                </a:solidFill>
              </a:rPr>
              <a:t>质量性状</a:t>
            </a:r>
            <a:r>
              <a:rPr lang="zh-CN" altLang="en-US" sz="2800" b="1" dirty="0"/>
              <a:t>；表现连续分布的性状称为</a:t>
            </a:r>
            <a:r>
              <a:rPr lang="zh-CN" altLang="en-US" sz="2800" b="1" dirty="0">
                <a:solidFill>
                  <a:srgbClr val="FF0000"/>
                </a:solidFill>
              </a:rPr>
              <a:t>数量性状</a:t>
            </a:r>
            <a:r>
              <a:rPr lang="zh-CN" altLang="en-US" sz="2800" b="1" dirty="0"/>
              <a:t>。</a:t>
            </a:r>
          </a:p>
          <a:p>
            <a:pPr marL="0" lvl="1" indent="0">
              <a:lnSpc>
                <a:spcPct val="120000"/>
              </a:lnSpc>
            </a:pPr>
            <a:r>
              <a:rPr lang="zh-CN" altLang="en-US" sz="2800" b="1" dirty="0"/>
              <a:t>质量性状</a:t>
            </a:r>
            <a:r>
              <a:rPr lang="zh-CN" altLang="en-US" sz="2800" dirty="0"/>
              <a:t>可以比较容易地由分离定律、自由组合定律和连锁定律来分析。</a:t>
            </a:r>
            <a:endParaRPr lang="en-US" altLang="zh-CN" sz="2800" dirty="0"/>
          </a:p>
          <a:p>
            <a:pPr marL="0" lvl="1" indent="0">
              <a:lnSpc>
                <a:spcPct val="120000"/>
              </a:lnSpc>
            </a:pPr>
            <a:r>
              <a:rPr lang="zh-CN" altLang="en-US" sz="2800" b="1" dirty="0"/>
              <a:t>数量性状</a:t>
            </a:r>
            <a:r>
              <a:rPr lang="zh-CN" altLang="en-US" sz="2800" dirty="0"/>
              <a:t>是变异呈连续状态，界限不清楚，不易分类的性状。动、植物的许多重要经济性状往往都是数量性状，如</a:t>
            </a:r>
            <a:r>
              <a:rPr lang="zh-CN" altLang="en-US" sz="2800" b="1" dirty="0"/>
              <a:t>作物的产量、成熟期，奶牛的泌乳量，棉花的纤维长度、细度</a:t>
            </a:r>
            <a:r>
              <a:rPr lang="zh-CN" altLang="en-US" sz="2800" dirty="0"/>
              <a:t>等。数量性状的遗传似乎</a:t>
            </a:r>
            <a:r>
              <a:rPr lang="zh-CN" altLang="en-US" sz="2800" b="1" dirty="0"/>
              <a:t>不能直接用孟德尔定律来分析</a:t>
            </a:r>
            <a:r>
              <a:rPr lang="zh-CN" altLang="en-US" sz="2800" dirty="0"/>
              <a:t>，但在</a:t>
            </a:r>
            <a:r>
              <a:rPr lang="en-US" altLang="zh-CN" sz="2800" dirty="0"/>
              <a:t>1909</a:t>
            </a:r>
            <a:r>
              <a:rPr lang="zh-CN" altLang="en-US" sz="2800" dirty="0"/>
              <a:t>年，尼尔松埃勒指出，这类性状的遗传在本质上仍与孟德尔式的遗传一样，</a:t>
            </a:r>
            <a:r>
              <a:rPr lang="zh-CN" altLang="en-US" sz="2800" b="1" dirty="0"/>
              <a:t>可以用多基因理论来解释</a:t>
            </a:r>
            <a:r>
              <a:rPr lang="zh-CN" altLang="en-US" sz="2800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96BEC0-8ABA-47FE-8E45-44A7AB0428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001500" cy="1200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endParaRPr lang="en-US" altLang="zh-CN" sz="28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98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1328" y="808138"/>
            <a:ext cx="10515600" cy="725121"/>
          </a:xfrm>
        </p:spPr>
        <p:txBody>
          <a:bodyPr/>
          <a:lstStyle/>
          <a:p>
            <a:r>
              <a:rPr lang="zh-CN" altLang="en-US" dirty="0"/>
              <a:t>一、数量性状的多基因假说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272" y="0"/>
            <a:ext cx="3939516" cy="6768228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41DC19-36EA-4AA7-A709-A0C930133F10}"/>
              </a:ext>
            </a:extLst>
          </p:cNvPr>
          <p:cNvSpPr txBox="1"/>
          <p:nvPr/>
        </p:nvSpPr>
        <p:spPr>
          <a:xfrm>
            <a:off x="254573" y="1616276"/>
            <a:ext cx="7416134" cy="46621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 b="1">
                <a:solidFill>
                  <a:srgbClr val="592DFB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依据多基因假说，</a:t>
            </a:r>
            <a:r>
              <a:rPr lang="zh-CN" altLang="en-US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每一个数量性状是由许多基因共同作用的结果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 其中每一个基因的单独作用较小，与环境影响所造成的差异差不多</a:t>
            </a:r>
            <a:endParaRPr lang="en-US" altLang="zh-CN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例如玉米穗长度这一数量性状，我们假定它由两对基因共同控制的，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(A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，其中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对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为不完全显性，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等效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。</a:t>
            </a:r>
            <a:endParaRPr lang="en-US" altLang="zh-CN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杂交得到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是</a:t>
            </a:r>
            <a:r>
              <a:rPr lang="en-US" altLang="zh-CN" dirty="0" err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AaBb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，平均玉米穗长度在两个亲本之间。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自交得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F2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，它的基因型和表型如右图所示。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如果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F2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植株的确可以清清楚楚分成这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类，其比例应为</a:t>
            </a:r>
            <a:r>
              <a:rPr lang="en-US" altLang="zh-CN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1∶4∶6∶4∶1</a:t>
            </a:r>
            <a:r>
              <a:rPr lang="zh-CN" altLang="en-US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800" b="1" dirty="0">
              <a:solidFill>
                <a:srgbClr val="0920FB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zh-CN" altLang="en-US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3A9969-E642-48F3-9432-A4B116813AF1}"/>
              </a:ext>
            </a:extLst>
          </p:cNvPr>
          <p:cNvSpPr txBox="1"/>
          <p:nvPr/>
        </p:nvSpPr>
        <p:spPr>
          <a:xfrm>
            <a:off x="391328" y="0"/>
            <a:ext cx="6338232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592DFB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920FB"/>
                </a:solidFill>
              </a:rPr>
              <a:t>第一节　数量性状的遗传学分析</a:t>
            </a:r>
          </a:p>
        </p:txBody>
      </p:sp>
    </p:spTree>
    <p:extLst>
      <p:ext uri="{BB962C8B-B14F-4D97-AF65-F5344CB8AC3E}">
        <p14:creationId xmlns:p14="http://schemas.microsoft.com/office/powerpoint/2010/main" val="303924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7301" y="138866"/>
            <a:ext cx="12009176" cy="1611248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1" indent="0">
              <a:lnSpc>
                <a:spcPct val="100000"/>
              </a:lnSpc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案例：两个玉米品系，一个玉米品系的穗是短的，长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～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8cm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；另一玉米品系的穗是长的，长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13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～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21cm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。将它们作为亲本，两亲本品系中各种长度的玉米穗分布情况，以及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F2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的各种长度的玉米穗分布情况如下表所示。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5787" r="2542" b="5579"/>
          <a:stretch/>
        </p:blipFill>
        <p:spPr>
          <a:xfrm>
            <a:off x="-39733" y="1750114"/>
            <a:ext cx="12303243" cy="340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2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3" y="121663"/>
            <a:ext cx="7087914" cy="67363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FAC4CBF-C7C2-8A39-7328-EE4624171696}"/>
              </a:ext>
            </a:extLst>
          </p:cNvPr>
          <p:cNvSpPr txBox="1"/>
          <p:nvPr/>
        </p:nvSpPr>
        <p:spPr>
          <a:xfrm>
            <a:off x="6619038" y="1713618"/>
            <a:ext cx="779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穗长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70177C-BE80-F589-9AC6-19D240EE1331}"/>
              </a:ext>
            </a:extLst>
          </p:cNvPr>
          <p:cNvSpPr txBox="1"/>
          <p:nvPr/>
        </p:nvSpPr>
        <p:spPr>
          <a:xfrm>
            <a:off x="6619039" y="2658239"/>
            <a:ext cx="779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穗长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C40A37-0690-F863-5478-30D694A71D36}"/>
              </a:ext>
            </a:extLst>
          </p:cNvPr>
          <p:cNvSpPr txBox="1"/>
          <p:nvPr/>
        </p:nvSpPr>
        <p:spPr>
          <a:xfrm>
            <a:off x="6636969" y="6266659"/>
            <a:ext cx="779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穗长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522B59-01A4-9C55-4291-5D640A5B9546}"/>
              </a:ext>
            </a:extLst>
          </p:cNvPr>
          <p:cNvSpPr txBox="1"/>
          <p:nvPr/>
        </p:nvSpPr>
        <p:spPr>
          <a:xfrm>
            <a:off x="0" y="186242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800">
                <a:solidFill>
                  <a:schemeClr val="tx1"/>
                </a:solidFill>
              </a:rPr>
              <a:t>植株数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9996C2-39C4-9D72-0FFB-7F9CD7A23D27}"/>
              </a:ext>
            </a:extLst>
          </p:cNvPr>
          <p:cNvSpPr txBox="1"/>
          <p:nvPr/>
        </p:nvSpPr>
        <p:spPr>
          <a:xfrm>
            <a:off x="0" y="-63003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植株数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B16B9E-37BF-8305-122F-396E6D4F6DAB}"/>
              </a:ext>
            </a:extLst>
          </p:cNvPr>
          <p:cNvSpPr txBox="1"/>
          <p:nvPr/>
        </p:nvSpPr>
        <p:spPr>
          <a:xfrm>
            <a:off x="0" y="3421582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800">
                <a:solidFill>
                  <a:schemeClr val="tx1"/>
                </a:solidFill>
              </a:rPr>
              <a:t>植株数</a:t>
            </a:r>
            <a:endParaRPr lang="zh-CN" altLang="en-US" dirty="0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59EF8B2E-2D62-3D54-3693-174A3978A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9280" y="1898284"/>
            <a:ext cx="4962720" cy="404485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lvl="1" indent="0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植株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虽然基因型彼此全都相同但由于</a:t>
            </a:r>
            <a:r>
              <a:rPr lang="zh-CN" altLang="en-US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环境的影响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，也存在一些表型差异， 玉米穗的长度也是连续变异的，两头少、中间多。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marL="0" lvl="1" indent="0">
              <a:lnSpc>
                <a:spcPct val="100000"/>
              </a:lnSpc>
              <a:spcBef>
                <a:spcPts val="1200"/>
              </a:spcBef>
            </a:pP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marL="0" lvl="1" indent="0"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但</a:t>
            </a:r>
            <a:r>
              <a:rPr lang="en-US" altLang="zh-CN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F2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不同，</a:t>
            </a:r>
            <a:r>
              <a:rPr lang="zh-CN" altLang="en-US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除了环境影响之外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sz="2800" b="1" dirty="0">
                <a:solidFill>
                  <a:srgbClr val="0920FB"/>
                </a:solidFill>
                <a:latin typeface="黑体" pitchFamily="49" charset="-122"/>
                <a:ea typeface="黑体" pitchFamily="49" charset="-122"/>
              </a:rPr>
              <a:t>还有基因型差异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，所以虽然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F2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平均数与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一样，并且也是两头少，中间多，但总的变异范围要比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F1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大。</a:t>
            </a:r>
          </a:p>
        </p:txBody>
      </p:sp>
    </p:spTree>
    <p:extLst>
      <p:ext uri="{BB962C8B-B14F-4D97-AF65-F5344CB8AC3E}">
        <p14:creationId xmlns:p14="http://schemas.microsoft.com/office/powerpoint/2010/main" val="71545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97" y="-13037"/>
            <a:ext cx="10515600" cy="595924"/>
          </a:xfrm>
        </p:spPr>
        <p:txBody>
          <a:bodyPr/>
          <a:lstStyle/>
          <a:p>
            <a:r>
              <a:rPr lang="zh-CN" altLang="en-US" dirty="0"/>
              <a:t>二、 数量性状与质量性状的关系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3612" y="2396373"/>
            <a:ext cx="11328868" cy="43251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29265B8-292F-45CD-84E7-14FCC78B2905}"/>
              </a:ext>
            </a:extLst>
          </p:cNvPr>
          <p:cNvSpPr txBox="1"/>
          <p:nvPr/>
        </p:nvSpPr>
        <p:spPr>
          <a:xfrm>
            <a:off x="104098" y="1078534"/>
            <a:ext cx="12087901" cy="1470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案例：小麦粒色，受到两对基因不连锁的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的控制。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决定红色，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决定白色，显性不完全，并有累加效应。将红粒（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en-US" altLang="zh-CN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）与白粒（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en-US" altLang="zh-CN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）杂交，观察子代表型。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如麦粒颜色分为红色和白色两种，可以看作是质量性状；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如将红色麦粒再加细分，从深红到淡红间有一系列变化，就表现出数量性状的特点。</a:t>
            </a:r>
          </a:p>
        </p:txBody>
      </p:sp>
      <p:sp>
        <p:nvSpPr>
          <p:cNvPr id="5" name="矩形 4"/>
          <p:cNvSpPr/>
          <p:nvPr/>
        </p:nvSpPr>
        <p:spPr>
          <a:xfrm>
            <a:off x="244346" y="582887"/>
            <a:ext cx="6939572" cy="495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zh-CN" altLang="en-US" sz="2400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）由于区分性状的方法不同</a:t>
            </a:r>
            <a:endParaRPr lang="en-US" altLang="zh-CN" sz="2400" b="1" dirty="0">
              <a:solidFill>
                <a:srgbClr val="0920F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4243" y="115454"/>
            <a:ext cx="11243810" cy="565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）由于用于杂交的亲本间相差基因对数的不同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48" y="1512285"/>
            <a:ext cx="9955103" cy="34869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FF5C55-B138-4F1B-A14F-74F1E275F6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12" b="5884"/>
          <a:stretch/>
        </p:blipFill>
        <p:spPr>
          <a:xfrm>
            <a:off x="1118448" y="4999268"/>
            <a:ext cx="9955102" cy="12527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33F49FA-DE0E-4E89-B645-AB46F8F3882F}"/>
              </a:ext>
            </a:extLst>
          </p:cNvPr>
          <p:cNvSpPr txBox="1"/>
          <p:nvPr/>
        </p:nvSpPr>
        <p:spPr>
          <a:xfrm>
            <a:off x="3049" y="535294"/>
            <a:ext cx="116850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2pPr marL="0" lvl="1">
              <a:lnSpc>
                <a:spcPct val="12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例如：假定水稻植株的高矮由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对基因控制。高植株（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）与矮植株 （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）杂交，子代配子和合子的分布如下表，表现为数量性状。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但是，如果更换杂交亲本的品系，将高植株（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）与矮植株（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）杂交，两亲仅有一对基因的差别，子代表现为质量性状。</a:t>
            </a:r>
          </a:p>
        </p:txBody>
      </p:sp>
    </p:spTree>
    <p:extLst>
      <p:ext uri="{BB962C8B-B14F-4D97-AF65-F5344CB8AC3E}">
        <p14:creationId xmlns:p14="http://schemas.microsoft.com/office/powerpoint/2010/main" val="278275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44" y="1925463"/>
            <a:ext cx="9831672" cy="2355072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459810" y="749469"/>
            <a:ext cx="11570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800" dirty="0"/>
              <a:t>有些多基因控制的性状，在外观上表现为质量性状，但其基本物质或原因物质可能是连续分布的，接近正态分布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09C844-3EBA-4E29-85BC-F2E0B3B5733D}"/>
              </a:ext>
            </a:extLst>
          </p:cNvPr>
          <p:cNvSpPr txBox="1"/>
          <p:nvPr/>
        </p:nvSpPr>
        <p:spPr>
          <a:xfrm>
            <a:off x="945594" y="4368723"/>
            <a:ext cx="44764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>
              <a:lnSpc>
                <a:spcPct val="12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r>
              <a:rPr lang="zh-CN" altLang="en-US" dirty="0"/>
              <a:t>假想的基本物质的连续分布。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58BCF2-FCD5-F600-903D-2241FD0122E7}"/>
              </a:ext>
            </a:extLst>
          </p:cNvPr>
          <p:cNvSpPr txBox="1"/>
          <p:nvPr/>
        </p:nvSpPr>
        <p:spPr>
          <a:xfrm>
            <a:off x="340659" y="231974"/>
            <a:ext cx="6096000" cy="3772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400" b="1">
                <a:solidFill>
                  <a:srgbClr val="0920FB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）由于观察的层次不同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F538BC-8F47-B456-6EE7-275B6AB7BCAF}"/>
              </a:ext>
            </a:extLst>
          </p:cNvPr>
          <p:cNvSpPr txBox="1"/>
          <p:nvPr/>
        </p:nvSpPr>
        <p:spPr>
          <a:xfrm>
            <a:off x="5698280" y="4341223"/>
            <a:ext cx="60339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>
              <a:lnSpc>
                <a:spcPct val="12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r>
              <a:rPr lang="zh-CN" altLang="en-US" dirty="0"/>
              <a:t>性状的不连续分布。图示基本物质低于阈值 </a:t>
            </a:r>
            <a:r>
              <a:rPr lang="en-US" altLang="zh-CN" dirty="0"/>
              <a:t>t </a:t>
            </a:r>
            <a:r>
              <a:rPr lang="zh-CN" altLang="en-US" dirty="0"/>
              <a:t>时，表现为一种性状；如超过阈值 </a:t>
            </a:r>
            <a:r>
              <a:rPr lang="en-US" altLang="zh-CN" dirty="0"/>
              <a:t>t </a:t>
            </a:r>
            <a:r>
              <a:rPr lang="zh-CN" altLang="en-US" dirty="0"/>
              <a:t>时，就呈现另一性状。</a:t>
            </a:r>
          </a:p>
        </p:txBody>
      </p:sp>
    </p:spTree>
    <p:extLst>
      <p:ext uri="{BB962C8B-B14F-4D97-AF65-F5344CB8AC3E}">
        <p14:creationId xmlns:p14="http://schemas.microsoft.com/office/powerpoint/2010/main" val="88499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798" y="446103"/>
            <a:ext cx="11353799" cy="2867487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在进行植物杂交时，杂种后代往往出现一种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超亲遗传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的现象。这个现象可用多基因假说予以解释。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例如，两个水稻品种一个早熟、一个晚熟，杂种第一代表现为中间型，生育期介于两亲本之间，但其后代可能出现比早熟亲本更早熟，或比晚熟亲本更晚熟的植株，这就是超亲遗传。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04798" y="3053614"/>
            <a:ext cx="11353800" cy="434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假如某作物生育期是由三对独立基因决定的，早熟亲本的基因型为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，晚熟亲本的基因型为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的基因型为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，表现型介于两亲之间，比晚熟的亲本早熟，比早熟本晚熟。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F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群体的基因型有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27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种，其中基因型为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的个体，将比晚熟亲本更晚熟，基因型为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的个体，将比早熟亲本更早熟。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DE68187-27B8-438F-8BC5-72A6DE8EC79F}"/>
              </a:ext>
            </a:extLst>
          </p:cNvPr>
          <p:cNvSpPr txBox="1">
            <a:spLocks/>
          </p:cNvSpPr>
          <p:nvPr/>
        </p:nvSpPr>
        <p:spPr>
          <a:xfrm>
            <a:off x="539314" y="181145"/>
            <a:ext cx="10515600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3A59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0920FB"/>
                </a:solidFill>
              </a:rPr>
              <a:t>第二节 分析数量性状的基本统计方法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1E92AE51-9A4E-4A8B-9BE6-71D9E84F1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935" y="951419"/>
            <a:ext cx="11863227" cy="1169038"/>
          </a:xfr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2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cs typeface="+mn-cs"/>
              </a:rPr>
              <a:t>       在数量性状的遗传中，不同基因型间的表型差异，受到环境的影响较大。考虑到这些复杂情况，将通常用于质量性状的分析方法用于数量性状的分析就显得不合适 了。针对数量性状的特点，在分析数量性状遗传时，要应用</a:t>
            </a:r>
            <a:r>
              <a:rPr lang="zh-CN" altLang="en-US" b="1" dirty="0">
                <a:latin typeface="微软雅黑" panose="020B0503020204020204" pitchFamily="34" charset="-122"/>
                <a:cs typeface="+mn-cs"/>
              </a:rPr>
              <a:t>统计学方法</a:t>
            </a:r>
            <a:r>
              <a:rPr lang="zh-CN" altLang="en-US" dirty="0">
                <a:latin typeface="微软雅黑" panose="020B0503020204020204" pitchFamily="34" charset="-122"/>
                <a:cs typeface="+mn-cs"/>
              </a:rPr>
              <a:t>。</a:t>
            </a:r>
            <a:endParaRPr lang="en-US" altLang="zh-CN" dirty="0">
              <a:latin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87ECB2E-37F0-4255-A8F7-E800E5298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35" y="3042622"/>
            <a:ext cx="11926841" cy="209953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F341F9B-A075-7B2F-E14E-55096323F898}"/>
              </a:ext>
            </a:extLst>
          </p:cNvPr>
          <p:cNvSpPr txBox="1"/>
          <p:nvPr/>
        </p:nvSpPr>
        <p:spPr>
          <a:xfrm>
            <a:off x="753036" y="2215308"/>
            <a:ext cx="988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一、 平均数</a:t>
            </a:r>
            <a:r>
              <a:rPr lang="en-US" altLang="zh-CN" sz="3200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某一性状的多个观察数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表现型值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的平均</a:t>
            </a:r>
            <a:endParaRPr lang="en-US" altLang="zh-CN" sz="3200" b="1" dirty="0">
              <a:solidFill>
                <a:srgbClr val="0920F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16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9D9CEED-A4F1-4F17-B9BF-1EF57D57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01" y="537220"/>
            <a:ext cx="3905596" cy="15013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05B161B-6E12-4691-9A18-7472FD17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119" y="732195"/>
            <a:ext cx="4619503" cy="18709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5EC4E0-AD92-424F-8566-8E986D0AE3A0}"/>
              </a:ext>
            </a:extLst>
          </p:cNvPr>
          <p:cNvSpPr txBox="1"/>
          <p:nvPr/>
        </p:nvSpPr>
        <p:spPr>
          <a:xfrm>
            <a:off x="304601" y="2198463"/>
            <a:ext cx="11626561" cy="1311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>
              <a:lnSpc>
                <a:spcPct val="15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lvl="1" indent="-2286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方差一定是正的。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如果观察数跟平均数的偏差大，方差就大；因此，</a:t>
            </a:r>
            <a:r>
              <a:rPr lang="zh-CN" altLang="en-US" sz="2400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方差可以用来测量变异的程度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若平均数从实际观察数计算出来，则分母应除以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544417-6D61-47CC-A1A6-17833DC04647}"/>
              </a:ext>
            </a:extLst>
          </p:cNvPr>
          <p:cNvSpPr txBox="1"/>
          <p:nvPr/>
        </p:nvSpPr>
        <p:spPr>
          <a:xfrm>
            <a:off x="552235" y="365729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None/>
              <a:defRPr sz="3200" b="1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三、 标准误（</a:t>
            </a:r>
            <a:r>
              <a:rPr lang="en-US" altLang="zh-CN" dirty="0"/>
              <a:t>standard error</a:t>
            </a:r>
            <a:r>
              <a:rPr lang="zh-CN" altLang="en-US" dirty="0"/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F60960-4B98-4C70-9508-1DDDDD98F3FC}"/>
              </a:ext>
            </a:extLst>
          </p:cNvPr>
          <p:cNvSpPr txBox="1"/>
          <p:nvPr/>
        </p:nvSpPr>
        <p:spPr>
          <a:xfrm>
            <a:off x="304601" y="4321174"/>
            <a:ext cx="11755242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457200" indent="-457200">
              <a:lnSpc>
                <a:spcPct val="15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lvl="1" indent="-22860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r>
              <a:rPr lang="zh-CN" altLang="en-US" dirty="0"/>
              <a:t>平均数的方差是个体观察数的方差的</a:t>
            </a:r>
            <a:r>
              <a:rPr lang="en-US" altLang="zh-CN" dirty="0"/>
              <a:t>1/n </a:t>
            </a:r>
            <a:r>
              <a:rPr lang="zh-CN" altLang="en-US" dirty="0"/>
              <a:t>，这个数值的平方根叫作标准误。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80AE322-E4A5-47BC-BCFF-F972DFA69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427" y="4901010"/>
            <a:ext cx="3017020" cy="10657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97BC0F1-E09A-0BDC-E36F-372FFE8C1C69}"/>
              </a:ext>
            </a:extLst>
          </p:cNvPr>
          <p:cNvSpPr txBox="1"/>
          <p:nvPr/>
        </p:nvSpPr>
        <p:spPr>
          <a:xfrm>
            <a:off x="552235" y="-20964"/>
            <a:ext cx="10440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None/>
              <a:defRPr sz="3200" b="1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二、 方差（</a:t>
            </a:r>
            <a:r>
              <a:rPr lang="en-US" altLang="zh-CN" dirty="0"/>
              <a:t>s</a:t>
            </a:r>
            <a:r>
              <a:rPr lang="en-US" altLang="zh-CN" baseline="30000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sz="2800" dirty="0">
                <a:solidFill>
                  <a:schemeClr val="tx1"/>
                </a:solidFill>
              </a:rPr>
              <a:t>变量跟平均数的偏差的平均平方和</a:t>
            </a:r>
            <a:endParaRPr lang="en-US" altLang="zh-C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81AFCED-5443-8467-8312-828AF52B5B9C}"/>
                  </a:ext>
                </a:extLst>
              </p:cNvPr>
              <p:cNvSpPr txBox="1"/>
              <p:nvPr/>
            </p:nvSpPr>
            <p:spPr>
              <a:xfrm>
                <a:off x="806353" y="5900310"/>
                <a:ext cx="1018634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一般生物学资料中，单注明平均数往往是不够的，应该加上标准误，表明平均数的可能变异范围。表示方法为：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zh-CN" altLang="en-US" sz="2000" b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CN" sz="2000" b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acc>
                      <m:accPr>
                        <m:chr m:val="̅"/>
                        <m:ctrlPr>
                          <a:rPr lang="en-US" altLang="zh-CN" sz="2000" b="1" i="1" baseline="-25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baseline="-25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81AFCED-5443-8467-8312-828AF52B5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53" y="5900310"/>
                <a:ext cx="10186346" cy="707886"/>
              </a:xfrm>
              <a:prstGeom prst="rect">
                <a:avLst/>
              </a:prstGeom>
              <a:blipFill>
                <a:blip r:embed="rId5"/>
                <a:stretch>
                  <a:fillRect l="-598" t="-5172" r="-299" b="-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76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72698" y="523220"/>
            <a:ext cx="575907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不同穗长的玉米进行杂交实验，统计了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57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个子代玉米穗长度： </a:t>
            </a:r>
          </a:p>
        </p:txBody>
      </p:sp>
      <p:graphicFrame>
        <p:nvGraphicFramePr>
          <p:cNvPr id="4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53993"/>
              </p:ext>
            </p:extLst>
          </p:nvPr>
        </p:nvGraphicFramePr>
        <p:xfrm>
          <a:off x="350697" y="1252873"/>
          <a:ext cx="5432762" cy="1151774"/>
        </p:xfrm>
        <a:graphic>
          <a:graphicData uri="http://schemas.openxmlformats.org/drawingml/2006/table">
            <a:tbl>
              <a:tblPr/>
              <a:tblGrid>
                <a:gridCol w="1086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6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2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长度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(cm)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1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观察数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>
                <a:off x="6096001" y="230832"/>
                <a:ext cx="5823302" cy="62954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5000"/>
                  </a:lnSpc>
                  <a:buFontTx/>
                  <a:buNone/>
                  <a:defRPr/>
                </a:pPr>
                <a:r>
                  <a:rPr lang="zh-CN" altLang="en-US" sz="2000" b="1" dirty="0">
                    <a:solidFill>
                      <a:srgbClr val="0920F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解答：</a:t>
                </a:r>
                <a:endParaRPr lang="en-US" altLang="zh-CN" sz="2000" b="1" dirty="0">
                  <a:solidFill>
                    <a:srgbClr val="0920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=57</m:t>
                      </m:r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25000"/>
                  </a:lnSpc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×4+6×21+7×24+8×8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57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=6.63 </m:t>
                      </m:r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25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×4+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×21+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×24+</m:t>
                      </m:r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×8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2544</m:t>
                      </m:r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25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×4+6×21+7×24+8×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378</m:t>
                      </m:r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25000"/>
                  </a:lnSpc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2544−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378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57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56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=0.67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5000"/>
                  </a:lnSpc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0.67</m:t>
                          </m:r>
                        </m:e>
                      </m:ra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=0.81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25000"/>
                  </a:lnSpc>
                  <a:buFontTx/>
                  <a:buNone/>
                  <a:defRPr/>
                </a:pPr>
                <a:r>
                  <a:rPr lang="zh-CN" altLang="en-US" sz="2000" dirty="0">
                    <a:latin typeface="+mn-ea"/>
                  </a:rPr>
                  <a:t> </a:t>
                </a:r>
                <a:endParaRPr lang="en-US" altLang="zh-CN" sz="2000" dirty="0">
                  <a:latin typeface="+mn-ea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30832"/>
                <a:ext cx="5823302" cy="6295474"/>
              </a:xfrm>
              <a:prstGeom prst="rect">
                <a:avLst/>
              </a:prstGeom>
              <a:blipFill>
                <a:blip r:embed="rId3"/>
                <a:stretch>
                  <a:fillRect l="-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67261" y="2801621"/>
            <a:ext cx="5884828" cy="2477145"/>
            <a:chOff x="174661" y="1192696"/>
            <a:chExt cx="5884828" cy="2477145"/>
          </a:xfrm>
          <a:solidFill>
            <a:schemeClr val="bg1">
              <a:lumMod val="85000"/>
            </a:schemeClr>
          </a:solidFill>
        </p:grpSpPr>
        <p:sp>
          <p:nvSpPr>
            <p:cNvPr id="5" name="圆角矩形 4"/>
            <p:cNvSpPr/>
            <p:nvPr/>
          </p:nvSpPr>
          <p:spPr>
            <a:xfrm>
              <a:off x="174661" y="1192696"/>
              <a:ext cx="5884828" cy="2477145"/>
            </a:xfrm>
            <a:prstGeom prst="roundRect">
              <a:avLst>
                <a:gd name="adj" fmla="val 784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300416" y="3043193"/>
                  <a:ext cx="3105530" cy="387670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标准差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方差</m:t>
                            </m:r>
                          </m:e>
                        </m:ra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416" y="3043193"/>
                  <a:ext cx="3105530" cy="3876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300416" y="1214463"/>
                  <a:ext cx="2362057" cy="603691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平均数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416" y="1214463"/>
                  <a:ext cx="2362057" cy="6036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300416" y="2061470"/>
                  <a:ext cx="5400773" cy="753220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方差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subHide m:val="on"/>
                                                <m:supHide m:val="on"/>
                                                <m:ctrlPr>
                                                  <a:rPr lang="en-US" altLang="zh-CN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/>
                                              <m:sup/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nary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nary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416" y="2061470"/>
                  <a:ext cx="5400773" cy="75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文本框 11"/>
          <p:cNvSpPr txBox="1"/>
          <p:nvPr/>
        </p:nvSpPr>
        <p:spPr>
          <a:xfrm>
            <a:off x="271635" y="0"/>
            <a:ext cx="1005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20FB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293071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0132" y="1584525"/>
            <a:ext cx="10515600" cy="590651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一、遗传率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2399" y="676666"/>
            <a:ext cx="11996848" cy="1098346"/>
          </a:xfrm>
        </p:spPr>
        <p:txBody>
          <a:bodyPr vert="horz" lIns="91440" tIns="45720" rIns="91440" bIns="45720" rtlCol="0">
            <a:noAutofit/>
          </a:bodyPr>
          <a:lstStyle/>
          <a:p>
            <a:pPr marL="0" lvl="1" indent="0">
              <a:lnSpc>
                <a:spcPct val="120000"/>
              </a:lnSpc>
            </a:pPr>
            <a:r>
              <a:rPr lang="zh-CN" altLang="en-US" sz="2400" dirty="0"/>
              <a:t>遗传变异来自基因以及它们与其他基因的相互作用。遗传变异是总的表型变异的一部分，表型变异的其余部分是环境变异。环境变异是由环境对基因型的作用造成的。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F5F6F6-8BD1-4E52-B726-19EAE6C242B0}"/>
              </a:ext>
            </a:extLst>
          </p:cNvPr>
          <p:cNvSpPr txBox="1"/>
          <p:nvPr/>
        </p:nvSpPr>
        <p:spPr>
          <a:xfrm>
            <a:off x="440132" y="68728"/>
            <a:ext cx="6220644" cy="607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>
                <a:solidFill>
                  <a:srgbClr val="3A59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0920FB"/>
                </a:solidFill>
              </a:rPr>
              <a:t>第三节　遗传变异和遗传率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52A54A-274B-42FF-ADDC-824FCD84D4DA}"/>
              </a:ext>
            </a:extLst>
          </p:cNvPr>
          <p:cNvSpPr txBox="1"/>
          <p:nvPr/>
        </p:nvSpPr>
        <p:spPr>
          <a:xfrm>
            <a:off x="163370" y="2118140"/>
            <a:ext cx="11965877" cy="2675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lvl="1" indent="-2286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方差可用来测量变异的程度：表型变异用</a:t>
            </a:r>
            <a:r>
              <a:rPr lang="zh-CN" altLang="en-US" sz="2400" b="1" dirty="0">
                <a:solidFill>
                  <a:srgbClr val="FF0000"/>
                </a:solidFill>
              </a:rPr>
              <a:t>表型方差（</a:t>
            </a:r>
            <a:r>
              <a:rPr lang="en-US" altLang="zh-CN" sz="2400" b="1" dirty="0">
                <a:solidFill>
                  <a:srgbClr val="FF0000"/>
                </a:solidFill>
              </a:rPr>
              <a:t>phenotypic variance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来表示，遗传变异用</a:t>
            </a:r>
            <a:r>
              <a:rPr lang="zh-CN" altLang="en-US" sz="2400" b="1" dirty="0">
                <a:solidFill>
                  <a:srgbClr val="FF0000"/>
                </a:solidFill>
              </a:rPr>
              <a:t>遗传方差（</a:t>
            </a:r>
            <a:r>
              <a:rPr lang="en-US" altLang="zh-CN" sz="2400" b="1" dirty="0">
                <a:solidFill>
                  <a:srgbClr val="FF0000"/>
                </a:solidFill>
              </a:rPr>
              <a:t>genetic variance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G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来表示，环境变异用</a:t>
            </a:r>
            <a:r>
              <a:rPr lang="zh-CN" altLang="en-US" sz="2400" b="1" dirty="0">
                <a:solidFill>
                  <a:srgbClr val="FF0000"/>
                </a:solidFill>
              </a:rPr>
              <a:t>环境方差（</a:t>
            </a:r>
            <a:r>
              <a:rPr lang="en-US" altLang="zh-CN" sz="2400" b="1" dirty="0">
                <a:solidFill>
                  <a:srgbClr val="FF0000"/>
                </a:solidFill>
              </a:rPr>
              <a:t>environmental variance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E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来表示。</a:t>
            </a:r>
            <a:endParaRPr lang="en-US" altLang="zh-CN" sz="2400" dirty="0"/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表型方差可以分为遗传方差和环境方差两部分  </a:t>
            </a:r>
            <a:r>
              <a:rPr lang="en-US" altLang="zh-CN" sz="2400" b="1" i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</a:rPr>
              <a:t> = </a:t>
            </a:r>
            <a:r>
              <a:rPr lang="en-US" altLang="zh-CN" sz="2400" b="1" i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400" b="1" dirty="0">
                <a:solidFill>
                  <a:srgbClr val="FF0000"/>
                </a:solidFill>
              </a:rPr>
              <a:t> + </a:t>
            </a:r>
            <a:r>
              <a:rPr lang="en-US" altLang="zh-CN" sz="2400" b="1" i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E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所谓</a:t>
            </a:r>
            <a:r>
              <a:rPr lang="zh-CN" altLang="en-US" sz="2400" b="1" dirty="0">
                <a:solidFill>
                  <a:srgbClr val="FF0000"/>
                </a:solidFill>
              </a:rPr>
              <a:t>遗传率（</a:t>
            </a:r>
            <a:r>
              <a:rPr lang="en-US" altLang="zh-CN" sz="2400" b="1" dirty="0">
                <a:solidFill>
                  <a:srgbClr val="FF0000"/>
                </a:solidFill>
              </a:rPr>
              <a:t>heritability</a:t>
            </a:r>
            <a:r>
              <a:rPr lang="zh-CN" altLang="en-US" sz="2400" b="1" dirty="0">
                <a:solidFill>
                  <a:srgbClr val="FF0000"/>
                </a:solidFill>
              </a:rPr>
              <a:t>，以 </a:t>
            </a:r>
            <a:r>
              <a:rPr lang="en-US" altLang="zh-CN" sz="2400" b="1" i="1" dirty="0">
                <a:solidFill>
                  <a:srgbClr val="FF0000"/>
                </a:solidFill>
              </a:rPr>
              <a:t>h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表示）</a:t>
            </a:r>
            <a:r>
              <a:rPr lang="zh-CN" altLang="en-US" sz="2400" b="1" dirty="0"/>
              <a:t>，</a:t>
            </a:r>
            <a:r>
              <a:rPr lang="zh-CN" altLang="en-US" sz="2400" dirty="0"/>
              <a:t>就是遗传方差在总的表型方差中所占的比例。</a:t>
            </a:r>
            <a:endParaRPr lang="en-US" altLang="zh-CN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4D6B11-AD4C-4645-9BC9-E60C293B0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13" y="4611107"/>
            <a:ext cx="6329263" cy="150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4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563" y="1088642"/>
            <a:ext cx="7292488" cy="1082875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3055563" y="2242510"/>
            <a:ext cx="54258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表示 </a:t>
            </a:r>
            <a:r>
              <a:rPr lang="en-US" altLang="zh-CN" dirty="0"/>
              <a:t>AA</a:t>
            </a:r>
            <a:r>
              <a:rPr lang="zh-CN" altLang="en-US" dirty="0"/>
              <a:t>、</a:t>
            </a:r>
            <a:r>
              <a:rPr lang="en-US" altLang="zh-CN" dirty="0"/>
              <a:t>Aa</a:t>
            </a:r>
            <a:r>
              <a:rPr lang="zh-CN" altLang="en-US" dirty="0"/>
              <a:t>、</a:t>
            </a:r>
            <a:r>
              <a:rPr lang="en-US" altLang="zh-CN" dirty="0"/>
              <a:t>aa </a:t>
            </a:r>
            <a:r>
              <a:rPr lang="zh-CN" altLang="en-US" dirty="0"/>
              <a:t>的性状计量的模式图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4C780-520D-4F1B-B717-DB3255077ACB}"/>
              </a:ext>
            </a:extLst>
          </p:cNvPr>
          <p:cNvSpPr txBox="1"/>
          <p:nvPr/>
        </p:nvSpPr>
        <p:spPr>
          <a:xfrm>
            <a:off x="87983" y="97828"/>
            <a:ext cx="12016033" cy="10426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spcBef>
                <a:spcPts val="600"/>
              </a:spcBef>
              <a:buNone/>
            </a:pPr>
            <a:r>
              <a:rPr lang="zh-CN" altLang="en-US" dirty="0"/>
              <a:t>如有一对基因 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，它们的</a:t>
            </a:r>
            <a:r>
              <a:rPr lang="en-US" altLang="zh-CN" dirty="0"/>
              <a:t>3</a:t>
            </a:r>
            <a:r>
              <a:rPr lang="zh-CN" altLang="en-US" dirty="0"/>
              <a:t>个基因型在表型上的平均效应是：</a:t>
            </a:r>
            <a:r>
              <a:rPr lang="en-US" altLang="zh-CN" dirty="0" err="1"/>
              <a:t>AA,a</a:t>
            </a:r>
            <a:r>
              <a:rPr lang="zh-CN" altLang="en-US" dirty="0"/>
              <a:t>；</a:t>
            </a:r>
            <a:r>
              <a:rPr lang="en-US" altLang="zh-CN" dirty="0" err="1"/>
              <a:t>Aa,d</a:t>
            </a:r>
            <a:r>
              <a:rPr lang="zh-CN" altLang="en-US" dirty="0"/>
              <a:t>；</a:t>
            </a:r>
            <a:r>
              <a:rPr lang="en-US" altLang="zh-CN" dirty="0"/>
              <a:t>aa,-a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spcBef>
                <a:spcPts val="600"/>
              </a:spcBef>
              <a:buNone/>
            </a:pPr>
            <a:r>
              <a:rPr lang="zh-CN" altLang="en-US" dirty="0"/>
              <a:t>若</a:t>
            </a:r>
            <a:r>
              <a:rPr lang="en-US" altLang="zh-CN" dirty="0"/>
              <a:t>d=0</a:t>
            </a:r>
            <a:r>
              <a:rPr lang="zh-CN" altLang="en-US" dirty="0"/>
              <a:t>，没有显性，遗传变异完全由于相加的效应；若</a:t>
            </a:r>
            <a:r>
              <a:rPr lang="en-US" altLang="zh-CN" dirty="0"/>
              <a:t>d=a</a:t>
            </a:r>
            <a:r>
              <a:rPr lang="zh-CN" altLang="en-US" dirty="0"/>
              <a:t>，完全显性。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CD3192-6FF7-450A-9C37-3A3BEBBC1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9135" y="3733667"/>
            <a:ext cx="5212865" cy="75185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D0DAFFC-39E8-4A38-B0D5-004AF9A84836}"/>
              </a:ext>
            </a:extLst>
          </p:cNvPr>
          <p:cNvSpPr txBox="1"/>
          <p:nvPr/>
        </p:nvSpPr>
        <p:spPr>
          <a:xfrm>
            <a:off x="7192809" y="3228945"/>
            <a:ext cx="2577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的遗传方差是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E76EC0-D398-7BEA-9C48-C6B9D4AD6B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838" y="2652057"/>
            <a:ext cx="6716229" cy="399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3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1034473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400" dirty="0"/>
              <a:t>如果控制同一性状的有 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zh-CN" altLang="en-US" sz="2400" dirty="0"/>
              <a:t>；</a:t>
            </a:r>
            <a:r>
              <a:rPr lang="en-US" altLang="zh-CN" sz="2400" dirty="0"/>
              <a:t>B</a:t>
            </a:r>
            <a:r>
              <a:rPr lang="zh-CN" altLang="en-US" sz="2400" dirty="0"/>
              <a:t>，</a:t>
            </a:r>
            <a:r>
              <a:rPr lang="en-US" altLang="zh-CN" sz="2400" dirty="0"/>
              <a:t>b</a:t>
            </a:r>
            <a:r>
              <a:rPr lang="zh-CN" altLang="en-US" sz="2400" dirty="0"/>
              <a:t>；</a:t>
            </a:r>
            <a:r>
              <a:rPr lang="en-US" altLang="zh-CN" sz="2400" dirty="0"/>
              <a:t>…</a:t>
            </a:r>
            <a:r>
              <a:rPr lang="zh-CN" altLang="en-US" sz="2400" dirty="0"/>
              <a:t>；</a:t>
            </a:r>
            <a:r>
              <a:rPr lang="en-US" altLang="zh-CN" sz="2400" dirty="0"/>
              <a:t>N</a:t>
            </a:r>
            <a:r>
              <a:rPr lang="zh-CN" altLang="en-US" sz="2400" dirty="0"/>
              <a:t>，</a:t>
            </a:r>
            <a:r>
              <a:rPr lang="en-US" altLang="zh-CN" sz="2400" dirty="0"/>
              <a:t>n </a:t>
            </a:r>
            <a:r>
              <a:rPr lang="zh-CN" altLang="en-US" sz="2400" dirty="0"/>
              <a:t>等多对基因，这些基因之间不连锁，没有相互作用，则 </a:t>
            </a:r>
            <a:r>
              <a:rPr lang="en-US" altLang="zh-CN" sz="2400" dirty="0"/>
              <a:t>F2</a:t>
            </a:r>
            <a:r>
              <a:rPr lang="zh-CN" altLang="en-US" sz="2400" dirty="0"/>
              <a:t>的遗传方差应为：</a:t>
            </a:r>
            <a:endParaRPr lang="en-US" altLang="zh-CN" sz="2400" dirty="0"/>
          </a:p>
          <a:p>
            <a:endParaRPr lang="en-US" altLang="zh-CN" dirty="0">
              <a:solidFill>
                <a:srgbClr val="3A5991"/>
              </a:solidFill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rgbClr val="3A5991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FE75662-3225-4104-AEFE-94879919F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34" y="875410"/>
            <a:ext cx="7686932" cy="10344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DCB3D7-A099-4F74-AA43-E49400165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134" y="2105970"/>
            <a:ext cx="7349046" cy="67932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BB10257-C62E-4C62-A66F-32D5215C7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207" y="2970638"/>
            <a:ext cx="3621149" cy="978225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97E7B8E-7DFE-E268-5526-792B68F7803D}"/>
              </a:ext>
            </a:extLst>
          </p:cNvPr>
          <p:cNvSpPr txBox="1">
            <a:spLocks/>
          </p:cNvSpPr>
          <p:nvPr/>
        </p:nvSpPr>
        <p:spPr>
          <a:xfrm>
            <a:off x="51034" y="4128355"/>
            <a:ext cx="12140966" cy="1443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 b="1" kern="1200">
                <a:solidFill>
                  <a:srgbClr val="0920FB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A</a:t>
            </a:r>
            <a:r>
              <a:rPr lang="zh-CN" altLang="en-US" sz="2400" dirty="0"/>
              <a:t>是由基因的相加效应所产生的方差，即</a:t>
            </a:r>
            <a:r>
              <a:rPr lang="zh-CN" altLang="en-US" sz="2400" b="1" dirty="0">
                <a:solidFill>
                  <a:srgbClr val="FF0000"/>
                </a:solidFill>
              </a:rPr>
              <a:t>加性方差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additive genetic variance</a:t>
            </a:r>
            <a:r>
              <a:rPr lang="zh-CN" altLang="en-US" sz="2400" b="1" dirty="0"/>
              <a:t>）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是 由基因在杂合态时的显性效应所产生的方差，即</a:t>
            </a:r>
            <a:r>
              <a:rPr lang="zh-CN" altLang="en-US" sz="2400" b="1" dirty="0">
                <a:solidFill>
                  <a:srgbClr val="FF0000"/>
                </a:solidFill>
              </a:rPr>
              <a:t>显性方差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dominance variance</a:t>
            </a:r>
            <a:r>
              <a:rPr lang="zh-CN" altLang="en-US" sz="2400" b="1" dirty="0"/>
              <a:t>）</a:t>
            </a:r>
            <a:r>
              <a:rPr lang="zh-CN" altLang="en-US" sz="2400" dirty="0"/>
              <a:t>。</a:t>
            </a:r>
            <a:endParaRPr lang="zh-CN" altLang="en-US" dirty="0">
              <a:solidFill>
                <a:srgbClr val="3A599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F917BF-C4B2-2877-DECD-7091636A8B54}"/>
              </a:ext>
            </a:extLst>
          </p:cNvPr>
          <p:cNvSpPr txBox="1"/>
          <p:nvPr/>
        </p:nvSpPr>
        <p:spPr>
          <a:xfrm>
            <a:off x="744698" y="2286126"/>
            <a:ext cx="1609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如果设：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29DA09-5E43-8F79-44D8-2E3D4FC9CD03}"/>
              </a:ext>
            </a:extLst>
          </p:cNvPr>
          <p:cNvSpPr txBox="1"/>
          <p:nvPr/>
        </p:nvSpPr>
        <p:spPr>
          <a:xfrm>
            <a:off x="108527" y="3228919"/>
            <a:ext cx="3068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则 </a:t>
            </a:r>
            <a:r>
              <a:rPr lang="en-US" altLang="zh-CN" dirty="0"/>
              <a:t>F2 </a:t>
            </a:r>
            <a:r>
              <a:rPr lang="zh-CN" altLang="en-US" dirty="0"/>
              <a:t>的表型方差是：</a:t>
            </a:r>
          </a:p>
        </p:txBody>
      </p:sp>
    </p:spTree>
    <p:extLst>
      <p:ext uri="{BB962C8B-B14F-4D97-AF65-F5344CB8AC3E}">
        <p14:creationId xmlns:p14="http://schemas.microsoft.com/office/powerpoint/2010/main" val="24093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6"/>
              <p:cNvSpPr>
                <a:spLocks noChangeArrowheads="1"/>
              </p:cNvSpPr>
              <p:nvPr/>
            </p:nvSpPr>
            <p:spPr bwMode="auto">
              <a:xfrm>
                <a:off x="457501" y="591127"/>
                <a:ext cx="10876645" cy="54186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D99694"/>
                  </a:buClr>
                  <a:buSzPct val="100000"/>
                  <a:defRPr/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）利用纯合亲本（和基因型一致的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CN" sz="2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）估算环境方差：</a:t>
                </a:r>
                <a:b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</a:b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𝐸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 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kumimoji="1"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D99694"/>
                  </a:buClr>
                  <a:buSzPct val="100000"/>
                  <a:defRPr/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）利用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CN" sz="2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代估算表型方差：</a:t>
                </a: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D99694"/>
                  </a:buClr>
                  <a:buSzPct val="100000"/>
                  <a:defRPr/>
                </a:pPr>
                <a:r>
                  <a:rPr kumimoji="1" lang="en-US" altLang="zh-CN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kumimoji="1" lang="en-US" altLang="zh-CN" sz="2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D99694"/>
                  </a:buClr>
                  <a:buSzPct val="100000"/>
                  <a:defRPr/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）遗传方差由表型方差和环境方差相减得到：</a:t>
                </a: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D99694"/>
                  </a:buClr>
                  <a:buSzPct val="100000"/>
                  <a:defRPr/>
                </a:pP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kumimoji="1" lang="en-US" altLang="zh-CN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–</m:t>
                    </m:r>
                    <m:r>
                      <m:rPr>
                        <m:nor/>
                      </m:rPr>
                      <a:rPr kumimoji="1" lang="en-US" altLang="zh-CN" sz="2400" b="0" i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–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kumimoji="1" lang="en-US" altLang="zh-CN" sz="2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009900"/>
                  </a:buClr>
                  <a:buSzPct val="80000"/>
                  <a:defRPr/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kumimoji="1" lang="zh-CN" altLang="en-US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广义遗传率</a:t>
                </a:r>
                <a:r>
                  <a:rPr lang="zh-CN" altLang="en-US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heritability in the broad sense</a:t>
                </a:r>
                <a:r>
                  <a:rPr lang="zh-CN" altLang="en-US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由遗传方差除以表型方差得到，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 </a:t>
                </a:r>
                <a:r>
                  <a:rPr lang="en-US" altLang="zh-CN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的下脚注以符号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 </a:t>
                </a: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009900"/>
                  </a:buClr>
                  <a:buSzPct val="80000"/>
                  <a:defRPr/>
                </a:pPr>
                <a:r>
                  <a:rPr kumimoji="1" lang="en-US" altLang="zh-CN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              </a:t>
                </a:r>
                <a:r>
                  <a:rPr kumimoji="1" lang="en-US" altLang="zh-CN" sz="2400" b="1" i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h</a:t>
                </a:r>
                <a:r>
                  <a:rPr kumimoji="1" lang="en-US" altLang="zh-CN" sz="2400" b="1" baseline="-30000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kumimoji="1" lang="en-US" altLang="zh-CN" sz="2400" b="1" baseline="30000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 </a:t>
                </a:r>
                <a:r>
                  <a:rPr kumimoji="1" lang="en-US" altLang="zh-CN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%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920F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kumimoji="1" lang="en-US" altLang="zh-CN" sz="2400" b="1" i="1" baseline="-30000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920FB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kumimoji="1" lang="en-US" altLang="zh-CN" sz="2400" b="1" i="1" baseline="-30000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0920FB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× 100% </a:t>
                </a:r>
                <a:endParaRPr lang="en-US" altLang="zh-CN" sz="2400" b="1" dirty="0">
                  <a:solidFill>
                    <a:srgbClr val="0920FB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rgbClr val="009900"/>
                  </a:buClr>
                  <a:buSzPct val="80000"/>
                  <a:defRPr/>
                </a:pP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501" y="591127"/>
                <a:ext cx="10876645" cy="5418660"/>
              </a:xfrm>
              <a:prstGeom prst="rect">
                <a:avLst/>
              </a:prstGeom>
              <a:blipFill>
                <a:blip r:embed="rId2"/>
                <a:stretch>
                  <a:fillRect l="-841" t="-2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57501" y="39766"/>
            <a:ext cx="5314276" cy="551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0920FB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</a:lstStyle>
          <a:p>
            <a:r>
              <a:rPr lang="zh-CN" altLang="en-US" dirty="0"/>
              <a:t>广义遗传率</a:t>
            </a:r>
          </a:p>
        </p:txBody>
      </p:sp>
    </p:spTree>
    <p:extLst>
      <p:ext uri="{BB962C8B-B14F-4D97-AF65-F5344CB8AC3E}">
        <p14:creationId xmlns:p14="http://schemas.microsoft.com/office/powerpoint/2010/main" val="403821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37B973F-3965-4F54-BDA6-C8ECAC5A6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32612" y="2603864"/>
            <a:ext cx="5096074" cy="15621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82A62B-B7CD-4762-A58C-CC4766216C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-13683"/>
          <a:stretch/>
        </p:blipFill>
        <p:spPr>
          <a:xfrm>
            <a:off x="6957868" y="4166013"/>
            <a:ext cx="3327773" cy="1147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FD3DFD3-5137-458D-B01D-2F5ACB7861A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-9586" t="-420" r="1"/>
          <a:stretch/>
        </p:blipFill>
        <p:spPr>
          <a:xfrm>
            <a:off x="6957868" y="5283994"/>
            <a:ext cx="4589299" cy="8883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D01305-B91F-CC51-782E-4F1A84B53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6" y="0"/>
            <a:ext cx="4953001" cy="68580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942BCD7-A3BD-F60E-355E-3ABE7839B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6240" y="6573"/>
            <a:ext cx="6895189" cy="259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02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F243E40-A72E-115C-4CD4-3D2BA3E7B984}"/>
              </a:ext>
            </a:extLst>
          </p:cNvPr>
          <p:cNvSpPr txBox="1">
            <a:spLocks noChangeArrowheads="1"/>
          </p:cNvSpPr>
          <p:nvPr/>
        </p:nvSpPr>
        <p:spPr>
          <a:xfrm>
            <a:off x="349880" y="829901"/>
            <a:ext cx="11665259" cy="1599534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 b="1" kern="1200">
                <a:solidFill>
                  <a:srgbClr val="592DFB"/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Font typeface="+mj-lt"/>
              <a:buNone/>
            </a:pPr>
            <a:r>
              <a:rPr lang="zh-CN" altLang="en-US" dirty="0">
                <a:solidFill>
                  <a:schemeClr val="tx1"/>
                </a:solidFill>
              </a:rPr>
              <a:t>基因</a:t>
            </a:r>
            <a:r>
              <a:rPr lang="zh-CN" altLang="en-US" dirty="0">
                <a:solidFill>
                  <a:srgbClr val="FF0000"/>
                </a:solidFill>
              </a:rPr>
              <a:t>加性方差</a:t>
            </a:r>
            <a:r>
              <a:rPr lang="zh-CN" altLang="en-US" dirty="0">
                <a:solidFill>
                  <a:schemeClr val="tx1"/>
                </a:solidFill>
              </a:rPr>
              <a:t>占表现型总方差的比值，称为</a:t>
            </a:r>
            <a:r>
              <a:rPr lang="zh-CN" altLang="en-US" dirty="0">
                <a:solidFill>
                  <a:srgbClr val="FF0000"/>
                </a:solidFill>
              </a:rPr>
              <a:t>狭义遗传率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  <a:p>
            <a:pPr marL="0" indent="0" algn="just">
              <a:buFont typeface="+mj-lt"/>
              <a:buNone/>
            </a:pPr>
            <a:r>
              <a:rPr lang="zh-CN" altLang="en-US" dirty="0"/>
              <a:t>∵</a:t>
            </a:r>
            <a:r>
              <a:rPr lang="en-US" altLang="zh-CN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G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基因型方差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A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加性方差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D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显性方差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上位性方差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 marL="0" indent="0" algn="just">
              <a:buFont typeface="+mj-lt"/>
              <a:buNone/>
            </a:pPr>
            <a:r>
              <a:rPr lang="en-US" altLang="zh-CN" dirty="0"/>
              <a:t>∴V</a:t>
            </a:r>
            <a:r>
              <a:rPr lang="en-US" altLang="zh-CN" baseline="-25000" dirty="0"/>
              <a:t>P</a:t>
            </a:r>
            <a:r>
              <a:rPr lang="zh-CN" altLang="en-US" dirty="0"/>
              <a:t>＝</a:t>
            </a:r>
            <a:r>
              <a:rPr lang="en-US" altLang="zh-CN" dirty="0"/>
              <a:t>(V</a:t>
            </a:r>
            <a:r>
              <a:rPr lang="en-US" altLang="zh-CN" baseline="-25000" dirty="0"/>
              <a:t>A</a:t>
            </a:r>
            <a:r>
              <a:rPr lang="zh-CN" altLang="en-US" dirty="0"/>
              <a:t>＋</a:t>
            </a:r>
            <a:r>
              <a:rPr lang="en-US" altLang="zh-CN" dirty="0"/>
              <a:t>V</a:t>
            </a:r>
            <a:r>
              <a:rPr lang="en-US" altLang="zh-CN" baseline="-25000" dirty="0"/>
              <a:t>D</a:t>
            </a:r>
            <a:r>
              <a:rPr lang="zh-CN" altLang="en-US" dirty="0"/>
              <a:t>＋</a:t>
            </a:r>
            <a:r>
              <a:rPr lang="en-US" altLang="zh-CN" dirty="0"/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/>
              <a:t>)</a:t>
            </a:r>
            <a:r>
              <a:rPr lang="zh-CN" altLang="en-US" dirty="0"/>
              <a:t>＋</a:t>
            </a:r>
            <a:r>
              <a:rPr lang="en-US" altLang="zh-CN" dirty="0"/>
              <a:t>V</a:t>
            </a:r>
            <a:r>
              <a:rPr lang="en-US" altLang="zh-CN" baseline="-25000" dirty="0"/>
              <a:t>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C5BEAA-5BF7-F36A-7C67-C0C7684DFB4B}"/>
              </a:ext>
            </a:extLst>
          </p:cNvPr>
          <p:cNvSpPr txBox="1"/>
          <p:nvPr/>
        </p:nvSpPr>
        <p:spPr>
          <a:xfrm>
            <a:off x="287126" y="3692883"/>
            <a:ext cx="11142873" cy="2459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植物和动物育种家通常对个体所携基因的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育种值（加性效应）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较之个体自身的表型更感兴趣，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育种值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将决定其后代的表现型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。因而育种家的兴趣集中于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加性遗传方差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上。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基因加性方差是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可固定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的遗传变异量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而显性方差和上位性方差是不能固定的遗传变量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ECE50E-4F9A-137E-F953-C94E769D3C49}"/>
              </a:ext>
            </a:extLst>
          </p:cNvPr>
          <p:cNvSpPr txBox="1"/>
          <p:nvPr/>
        </p:nvSpPr>
        <p:spPr>
          <a:xfrm>
            <a:off x="349880" y="66064"/>
            <a:ext cx="7114681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0920FB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</a:lstStyle>
          <a:p>
            <a:r>
              <a:rPr lang="zh-CN" altLang="en-US" dirty="0"/>
              <a:t>狭义遗传率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5EF70D-8BBC-6DE5-E1B9-D342042795B1}"/>
              </a:ext>
            </a:extLst>
          </p:cNvPr>
          <p:cNvSpPr txBox="1"/>
          <p:nvPr/>
        </p:nvSpPr>
        <p:spPr>
          <a:xfrm>
            <a:off x="349880" y="2421071"/>
            <a:ext cx="6096000" cy="448969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indent="0" algn="just">
              <a:lnSpc>
                <a:spcPct val="110000"/>
              </a:lnSpc>
              <a:spcBef>
                <a:spcPts val="1000"/>
              </a:spcBef>
              <a:buFont typeface="+mj-lt"/>
              <a:buNone/>
              <a:defRPr sz="2400" b="1">
                <a:latin typeface="黑体" pitchFamily="49" charset="-122"/>
                <a:ea typeface="黑体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狭义遗传率的公式为：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623C713-87B9-7685-229F-8806ED3E9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419" y="2260962"/>
            <a:ext cx="6387140" cy="110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03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49880" y="714811"/>
            <a:ext cx="5486051" cy="8417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回交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亲本的子代个体为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的遗传方差为：</a:t>
            </a:r>
          </a:p>
        </p:txBody>
      </p:sp>
      <p:graphicFrame>
        <p:nvGraphicFramePr>
          <p:cNvPr id="3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69227"/>
              </p:ext>
            </p:extLst>
          </p:nvPr>
        </p:nvGraphicFramePr>
        <p:xfrm>
          <a:off x="442872" y="1592249"/>
          <a:ext cx="5362065" cy="223202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3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B1</a:t>
                      </a:r>
                      <a:endParaRPr kumimoji="0" lang="zh-CN" altLang="zh-CN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fx</a:t>
                      </a:r>
                      <a:r>
                        <a:rPr kumimoji="0" lang="en-US" altLang="zh-CN" sz="200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½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a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½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d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合计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endParaRPr kumimoji="0" lang="zh-CN" altLang="zh-CN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a + ½ 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a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+ ½ d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41"/>
              <p:cNvSpPr txBox="1">
                <a:spLocks noChangeArrowheads="1"/>
              </p:cNvSpPr>
              <p:nvPr/>
            </p:nvSpPr>
            <p:spPr bwMode="auto">
              <a:xfrm>
                <a:off x="111349" y="4218352"/>
                <a:ext cx="5850302" cy="18896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2000" b="1" dirty="0">
                    <a:solidFill>
                      <a:schemeClr val="tx1"/>
                    </a:solidFill>
                    <a:latin typeface="+mn-ea"/>
                    <a:ea typeface="+mn-ea"/>
                  </a:rPr>
                  <a:t>B</a:t>
                </a:r>
                <a:r>
                  <a:rPr kumimoji="1" lang="en-US" altLang="zh-CN" sz="2000" b="1" baseline="-25000" dirty="0">
                    <a:solidFill>
                      <a:schemeClr val="tx1"/>
                    </a:solidFill>
                    <a:latin typeface="+mn-ea"/>
                    <a:ea typeface="+mn-ea"/>
                  </a:rPr>
                  <a:t>1</a:t>
                </a:r>
                <a:r>
                  <a:rPr kumimoji="1" lang="zh-CN" altLang="en-US" sz="20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的遗传方差</a:t>
                </a:r>
                <a:r>
                  <a:rPr kumimoji="1"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：</a:t>
                </a:r>
                <a:endParaRPr kumimoji="1"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V</a:t>
                </a:r>
                <a:r>
                  <a:rPr lang="en-US" altLang="zh-CN" sz="2000" b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G(B1)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(½ a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½ d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 –(½ a + ½ d)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=  ¼ (a - d)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endParaRPr kumimoji="1" lang="en-US" altLang="zh-CN" sz="2000" b="1" baseline="30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349" y="4218352"/>
                <a:ext cx="5850302" cy="1889684"/>
              </a:xfrm>
              <a:prstGeom prst="rect">
                <a:avLst/>
              </a:prstGeom>
              <a:blipFill>
                <a:blip r:embed="rId3"/>
                <a:stretch>
                  <a:fillRect l="-1042" t="-25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07100"/>
              </p:ext>
            </p:extLst>
          </p:nvPr>
        </p:nvGraphicFramePr>
        <p:xfrm>
          <a:off x="6252408" y="1592249"/>
          <a:ext cx="5396199" cy="223202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037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6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9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B2</a:t>
                      </a:r>
                      <a:endParaRPr kumimoji="0" lang="zh-CN" altLang="zh-CN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fx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fx</a:t>
                      </a:r>
                      <a:r>
                        <a:rPr kumimoji="0" lang="en-US" altLang="zh-CN" sz="2000" u="none" strike="noStrike" cap="none" normalizeH="0" baseline="3000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½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 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-½ 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a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½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d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9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合计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endParaRPr kumimoji="0" lang="zh-CN" altLang="zh-CN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-½ a + ½ 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½ a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 ½ d</a:t>
                      </a:r>
                      <a:r>
                        <a:rPr kumimoji="0" lang="en-US" altLang="zh-CN" sz="20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5" marB="45705" anchor="ctr" anchorCtr="1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221413" y="712396"/>
            <a:ext cx="5396198" cy="84998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回交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亲本的子代个体为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的遗传方差为：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41"/>
              <p:cNvSpPr txBox="1">
                <a:spLocks noChangeArrowheads="1"/>
              </p:cNvSpPr>
              <p:nvPr/>
            </p:nvSpPr>
            <p:spPr bwMode="auto">
              <a:xfrm>
                <a:off x="6252408" y="4255920"/>
                <a:ext cx="6131397" cy="18896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2000" b="1" dirty="0">
                    <a:solidFill>
                      <a:schemeClr val="tx1"/>
                    </a:solidFill>
                    <a:latin typeface="+mn-ea"/>
                    <a:ea typeface="+mn-ea"/>
                  </a:rPr>
                  <a:t>B</a:t>
                </a:r>
                <a:r>
                  <a:rPr kumimoji="1" lang="en-US" altLang="zh-CN" sz="2000" b="1" baseline="-25000" dirty="0">
                    <a:solidFill>
                      <a:schemeClr val="tx1"/>
                    </a:solidFill>
                    <a:latin typeface="+mn-ea"/>
                    <a:ea typeface="+mn-ea"/>
                  </a:rPr>
                  <a:t>2</a:t>
                </a:r>
                <a:r>
                  <a:rPr kumimoji="1" lang="zh-CN" altLang="en-US" sz="20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的遗传方差</a:t>
                </a:r>
                <a:r>
                  <a:rPr kumimoji="1"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：</a:t>
                </a:r>
                <a:endParaRPr kumimoji="1"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V</a:t>
                </a:r>
                <a:r>
                  <a:rPr lang="en-US" altLang="zh-CN" sz="2000" b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G(B2)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(½ a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½ d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 –(-½ a + ½ d)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en-US" altLang="zh-CN" sz="20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= ¼ (a + d)</a:t>
                </a:r>
                <a:r>
                  <a:rPr lang="en-US" altLang="zh-CN" sz="2000" b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endParaRPr kumimoji="1" lang="en-US" altLang="zh-CN" sz="2000" b="1" baseline="30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2408" y="4255920"/>
                <a:ext cx="6131397" cy="1889684"/>
              </a:xfrm>
              <a:prstGeom prst="rect">
                <a:avLst/>
              </a:prstGeom>
              <a:blipFill>
                <a:blip r:embed="rId4"/>
                <a:stretch>
                  <a:fillRect l="-1095" t="-22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49880" y="66064"/>
            <a:ext cx="7114681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0920FB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</a:lstStyle>
          <a:p>
            <a:r>
              <a:rPr lang="zh-CN" altLang="en-US" dirty="0"/>
              <a:t>狭义遗传率的计算</a:t>
            </a:r>
          </a:p>
        </p:txBody>
      </p:sp>
    </p:spTree>
    <p:extLst>
      <p:ext uri="{BB962C8B-B14F-4D97-AF65-F5344CB8AC3E}">
        <p14:creationId xmlns:p14="http://schemas.microsoft.com/office/powerpoint/2010/main" val="9708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38B722C-EA48-4C93-987F-C0488F7B7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55" y="3429000"/>
            <a:ext cx="3922049" cy="17203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04A499E-3E1F-48A1-AF74-32751877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105" y="5416680"/>
            <a:ext cx="2578851" cy="7028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79908C9-6F1B-4B65-96AA-0714B1764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323" y="5515278"/>
            <a:ext cx="777881" cy="5056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273E59-BF0B-89F7-1FAF-6B19075D8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190" y="20726"/>
            <a:ext cx="7124338" cy="35427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E3732CE-2C9D-62D5-C3DF-D241B8B41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6" y="20726"/>
            <a:ext cx="4913745" cy="38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18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212" t="6920" r="1404" b="2939"/>
          <a:stretch/>
        </p:blipFill>
        <p:spPr>
          <a:xfrm>
            <a:off x="618564" y="-143435"/>
            <a:ext cx="11122995" cy="42940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7CDA80-5549-4972-9E45-8AC5A97BD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1555" y="4118858"/>
            <a:ext cx="4807670" cy="94939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F729419-E4BE-4C31-8BA1-82EAC636B149}"/>
              </a:ext>
            </a:extLst>
          </p:cNvPr>
          <p:cNvSpPr txBox="1"/>
          <p:nvPr/>
        </p:nvSpPr>
        <p:spPr>
          <a:xfrm>
            <a:off x="134470" y="5053520"/>
            <a:ext cx="11923059" cy="1354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 b="1">
                <a:solidFill>
                  <a:srgbClr val="0920FB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显性虽然不完全，但明显的是存在的，因为</a:t>
            </a:r>
            <a:r>
              <a:rPr lang="en-US" altLang="zh-CN" dirty="0"/>
              <a:t>F1</a:t>
            </a:r>
            <a:r>
              <a:rPr lang="zh-CN" altLang="en-US" dirty="0"/>
              <a:t>的平均值低于两亲的平均值，表明早抽穗是不完全显性。如果所有基因都没有显性，那么显性程度等于</a:t>
            </a:r>
            <a:r>
              <a:rPr lang="en-US" altLang="zh-CN" dirty="0"/>
              <a:t>0 </a:t>
            </a:r>
            <a:r>
              <a:rPr lang="zh-CN" altLang="en-US" dirty="0"/>
              <a:t>；如显性完全，那么显性程度等于 </a:t>
            </a:r>
            <a:r>
              <a:rPr lang="en-US" altLang="zh-CN" dirty="0"/>
              <a:t>1 </a:t>
            </a:r>
            <a:r>
              <a:rPr lang="zh-CN" altLang="en-US" dirty="0"/>
              <a:t>；如有显性，但不完全，那么不管显性方向是正是负，都会得出不等于 </a:t>
            </a:r>
            <a:r>
              <a:rPr lang="en-US" altLang="zh-CN" dirty="0"/>
              <a:t>0 </a:t>
            </a:r>
            <a:r>
              <a:rPr lang="zh-CN" altLang="en-US" dirty="0"/>
              <a:t>的数值来。</a:t>
            </a:r>
          </a:p>
        </p:txBody>
      </p:sp>
    </p:spTree>
    <p:extLst>
      <p:ext uri="{BB962C8B-B14F-4D97-AF65-F5344CB8AC3E}">
        <p14:creationId xmlns:p14="http://schemas.microsoft.com/office/powerpoint/2010/main" val="2417541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DD8F3-DFA6-4A37-9296-3DC0887D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02" y="36686"/>
            <a:ext cx="10515600" cy="725121"/>
          </a:xfrm>
        </p:spPr>
        <p:txBody>
          <a:bodyPr/>
          <a:lstStyle/>
          <a:p>
            <a:r>
              <a:rPr lang="zh-CN" altLang="en-US" dirty="0"/>
              <a:t>二、 对遗传率的几点说明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95DE0-1EF0-4A1B-B798-CEBF0A935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402" y="851321"/>
            <a:ext cx="11212397" cy="3891008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b="1" dirty="0"/>
              <a:t>遗传率是一个统计学概念，针对群体，而不适用于个体</a:t>
            </a:r>
            <a:r>
              <a:rPr lang="zh-CN" altLang="en-US" sz="2400" dirty="0"/>
              <a:t>。例如人类身高的遗传率是 </a:t>
            </a:r>
            <a:r>
              <a:rPr lang="en-US" altLang="zh-CN" sz="2400" dirty="0"/>
              <a:t>50%</a:t>
            </a:r>
            <a:r>
              <a:rPr lang="zh-CN" altLang="en-US" sz="2400" dirty="0"/>
              <a:t>， 并不是说某一个体的身高一半由遗传控制，一半由环境决定。这只是说，在群体身高总变异中，</a:t>
            </a:r>
            <a:r>
              <a:rPr lang="en-US" altLang="zh-CN" sz="2400" dirty="0"/>
              <a:t>50%</a:t>
            </a:r>
            <a:r>
              <a:rPr lang="zh-CN" altLang="en-US" sz="2400" dirty="0"/>
              <a:t>与遗传差异有关，其余</a:t>
            </a:r>
            <a:r>
              <a:rPr lang="en-US" altLang="zh-CN" sz="2400" dirty="0"/>
              <a:t>50%</a:t>
            </a:r>
            <a:r>
              <a:rPr lang="zh-CN" altLang="en-US" sz="2400" dirty="0"/>
              <a:t>与环境因子的差异有关；或者说，群体中身高变异的</a:t>
            </a:r>
            <a:r>
              <a:rPr lang="en-US" altLang="zh-CN" sz="2400" dirty="0"/>
              <a:t>50%</a:t>
            </a:r>
            <a:r>
              <a:rPr lang="zh-CN" altLang="en-US" sz="2400" dirty="0"/>
              <a:t>是由遗传差异造成的。</a:t>
            </a:r>
            <a:endParaRPr lang="en-US" altLang="zh-CN" sz="2400" dirty="0"/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一般地说，遗传率高的性状，选择较易；遗传率低的性状，选择难些，所以进行育种时，能够知道遗传率的大小是有帮助的。在育种时，如能运用杂交等方法，增加遗传变异，</a:t>
            </a:r>
            <a:r>
              <a:rPr lang="zh-CN" altLang="en-US" sz="2400" b="1" dirty="0"/>
              <a:t>同时力求饲养方式和栽培条件等一致，使环境变异降低</a:t>
            </a:r>
            <a:r>
              <a:rPr lang="zh-CN" altLang="en-US" sz="2400" dirty="0"/>
              <a:t>，</a:t>
            </a:r>
            <a:r>
              <a:rPr lang="zh-CN" altLang="en-US" sz="2400" b="1" dirty="0"/>
              <a:t>这样遗传率增大，育种进度可以加快</a:t>
            </a:r>
            <a:r>
              <a:rPr lang="zh-CN" altLang="en-US" sz="2400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882854-7CC8-4167-92C9-34A6EBF39E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023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2561" y="1348034"/>
            <a:ext cx="11133872" cy="2166131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近亲繁殖或近交（</a:t>
            </a:r>
            <a:r>
              <a:rPr lang="en-US" altLang="zh-CN" sz="2400" b="1" dirty="0">
                <a:solidFill>
                  <a:srgbClr val="FF0000"/>
                </a:solidFill>
              </a:rPr>
              <a:t>inbreeding</a:t>
            </a:r>
            <a:r>
              <a:rPr lang="zh-CN" altLang="en-US" sz="2400" b="1" dirty="0">
                <a:solidFill>
                  <a:srgbClr val="FF0000"/>
                </a:solidFill>
              </a:rPr>
              <a:t>）：</a:t>
            </a:r>
            <a:r>
              <a:rPr lang="zh-CN" altLang="en-US" sz="2400" dirty="0"/>
              <a:t>指有亲缘关系的个体相互交配，繁殖后代，可以使原来杂交的生物</a:t>
            </a:r>
            <a:r>
              <a:rPr lang="zh-CN" altLang="en-US" sz="2400" b="1" dirty="0">
                <a:solidFill>
                  <a:srgbClr val="FF0000"/>
                </a:solidFill>
              </a:rPr>
              <a:t>增加纯合性</a:t>
            </a:r>
            <a:r>
              <a:rPr lang="zh-CN" altLang="en-US" sz="2400" dirty="0"/>
              <a:t>，从而提高基因型的稳定性，但往往也会带来严重的衰退现象。</a:t>
            </a:r>
            <a:endParaRPr lang="en-US" altLang="zh-CN" sz="2400" dirty="0"/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杂交</a:t>
            </a:r>
            <a:r>
              <a:rPr lang="zh-CN" altLang="en-US" sz="2400" dirty="0"/>
              <a:t>可以使自交的动植物</a:t>
            </a:r>
            <a:r>
              <a:rPr lang="zh-CN" altLang="en-US" sz="2400" b="1" dirty="0">
                <a:solidFill>
                  <a:srgbClr val="FF0000"/>
                </a:solidFill>
              </a:rPr>
              <a:t>增加杂合性</a:t>
            </a:r>
            <a:r>
              <a:rPr lang="zh-CN" altLang="en-US" sz="2400" dirty="0"/>
              <a:t>，出现</a:t>
            </a:r>
            <a:r>
              <a:rPr lang="zh-CN" altLang="en-US" sz="2400" b="1" dirty="0">
                <a:solidFill>
                  <a:srgbClr val="FF0000"/>
                </a:solidFill>
              </a:rPr>
              <a:t>杂种优势 （</a:t>
            </a:r>
            <a:r>
              <a:rPr lang="en-US" altLang="zh-CN" sz="2400" b="1" dirty="0">
                <a:solidFill>
                  <a:srgbClr val="FF0000"/>
                </a:solidFill>
              </a:rPr>
              <a:t>heterosis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，但杂种优势不能用有性繁殖方法固定下来。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1B9B71E-4381-4F71-AEE7-FD0B4E974DB2}"/>
              </a:ext>
            </a:extLst>
          </p:cNvPr>
          <p:cNvSpPr txBox="1">
            <a:spLocks/>
          </p:cNvSpPr>
          <p:nvPr/>
        </p:nvSpPr>
        <p:spPr>
          <a:xfrm>
            <a:off x="502885" y="181265"/>
            <a:ext cx="10515600" cy="725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0920FB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</a:lstStyle>
          <a:p>
            <a:r>
              <a:rPr lang="zh-CN" altLang="en-US" dirty="0"/>
              <a:t>第四节　近亲繁殖和杂种优势</a:t>
            </a:r>
          </a:p>
        </p:txBody>
      </p:sp>
    </p:spTree>
    <p:extLst>
      <p:ext uri="{BB962C8B-B14F-4D97-AF65-F5344CB8AC3E}">
        <p14:creationId xmlns:p14="http://schemas.microsoft.com/office/powerpoint/2010/main" val="1316668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5661" y="142566"/>
            <a:ext cx="10515600" cy="725121"/>
          </a:xfrm>
        </p:spPr>
        <p:txBody>
          <a:bodyPr/>
          <a:lstStyle/>
          <a:p>
            <a:r>
              <a:rPr lang="zh-CN" altLang="en-US" dirty="0"/>
              <a:t>一、近交和近交系数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940" y="930441"/>
            <a:ext cx="12100059" cy="2906454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400" dirty="0"/>
              <a:t>        近交的遗传效应可用</a:t>
            </a:r>
            <a:r>
              <a:rPr lang="zh-CN" altLang="en-US" sz="2400" b="1" dirty="0">
                <a:solidFill>
                  <a:srgbClr val="FF0000"/>
                </a:solidFill>
              </a:rPr>
              <a:t>近交系数（</a:t>
            </a:r>
            <a:r>
              <a:rPr lang="en-US" altLang="zh-CN" sz="2400" b="1" dirty="0">
                <a:solidFill>
                  <a:srgbClr val="FF0000"/>
                </a:solidFill>
              </a:rPr>
              <a:t>coefficient of inbreeding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来表示。近交系数常记作 </a:t>
            </a:r>
            <a:r>
              <a:rPr lang="en-US" altLang="zh-CN" sz="2400" dirty="0"/>
              <a:t>F</a:t>
            </a:r>
            <a:r>
              <a:rPr lang="zh-CN" altLang="en-US" sz="2400" dirty="0"/>
              <a:t>，指一个个体从某一祖先得到一对纯合的，而且</a:t>
            </a:r>
            <a:r>
              <a:rPr lang="zh-CN" altLang="en-US" sz="2400" dirty="0">
                <a:solidFill>
                  <a:srgbClr val="FF0000"/>
                </a:solidFill>
              </a:rPr>
              <a:t>遗传上等同的基因</a:t>
            </a:r>
            <a:r>
              <a:rPr lang="zh-CN" altLang="en-US" sz="2400" dirty="0"/>
              <a:t>的概率。</a:t>
            </a:r>
            <a:endParaRPr lang="en-US" altLang="zh-CN" sz="2400" dirty="0"/>
          </a:p>
          <a:p>
            <a:pPr marL="0" lvl="1" indent="0"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/>
              <a:t>同一基因座的两个基因如果分别来自无亲缘关系的两个祖先，即使这两个基因的结构相同，也不是遗传上等同的，只有同一祖先的特定基因的两个拷贝，才可称为遗传上等同的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75758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50740-8098-4A80-80EB-3510630C28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9DAD8E-2E86-45CB-8777-7076049E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49" y="-158151"/>
            <a:ext cx="8346460" cy="701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2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71CADCC-4469-AB44-EF94-DEE0408761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51"/>
          <a:stretch/>
        </p:blipFill>
        <p:spPr>
          <a:xfrm>
            <a:off x="3822872" y="194813"/>
            <a:ext cx="8369128" cy="60804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5422" y="103471"/>
            <a:ext cx="10515600" cy="595924"/>
          </a:xfrm>
        </p:spPr>
        <p:txBody>
          <a:bodyPr/>
          <a:lstStyle/>
          <a:p>
            <a:r>
              <a:rPr lang="zh-CN" altLang="en-US" dirty="0"/>
              <a:t>二、近交系数的计算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22" y="1527995"/>
            <a:ext cx="3276750" cy="4137700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AC50512-718B-0449-31CE-FD2279D662B4}"/>
              </a:ext>
            </a:extLst>
          </p:cNvPr>
          <p:cNvSpPr txBox="1"/>
          <p:nvPr/>
        </p:nvSpPr>
        <p:spPr>
          <a:xfrm>
            <a:off x="-161365" y="8023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案例：兄妹交配所生仔畜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F097B2-4548-16BA-0D0D-AE55DBA31AAB}"/>
              </a:ext>
            </a:extLst>
          </p:cNvPr>
          <p:cNvSpPr txBox="1"/>
          <p:nvPr/>
        </p:nvSpPr>
        <p:spPr>
          <a:xfrm>
            <a:off x="3957917" y="6293855"/>
            <a:ext cx="617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920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有无简便方法？</a:t>
            </a:r>
          </a:p>
        </p:txBody>
      </p:sp>
    </p:spTree>
    <p:extLst>
      <p:ext uri="{BB962C8B-B14F-4D97-AF65-F5344CB8AC3E}">
        <p14:creationId xmlns:p14="http://schemas.microsoft.com/office/powerpoint/2010/main" val="315990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1671245" y="5208460"/>
            <a:ext cx="5688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800" b="0" dirty="0"/>
              <a:t>请计算表兄妹结婚所生子女一个基因座上纯合的可能性：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30" y="659260"/>
            <a:ext cx="5001461" cy="4360510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4D65C31-7754-4112-A3AC-6910E3575A34}"/>
              </a:ext>
            </a:extLst>
          </p:cNvPr>
          <p:cNvSpPr txBox="1"/>
          <p:nvPr/>
        </p:nvSpPr>
        <p:spPr>
          <a:xfrm>
            <a:off x="7481062" y="5123193"/>
            <a:ext cx="4276165" cy="712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>
              <a:buNone/>
            </a:pPr>
            <a:r>
              <a:rPr lang="en-US" altLang="zh-CN" dirty="0">
                <a:solidFill>
                  <a:srgbClr val="FF0000"/>
                </a:solidFill>
              </a:rPr>
              <a:t>4×(1/2)</a:t>
            </a:r>
            <a:r>
              <a:rPr lang="en-US" altLang="zh-CN" baseline="30000" dirty="0">
                <a:solidFill>
                  <a:srgbClr val="FF0000"/>
                </a:solidFill>
              </a:rPr>
              <a:t>6</a:t>
            </a:r>
            <a:r>
              <a:rPr lang="en-US" altLang="zh-CN" dirty="0">
                <a:solidFill>
                  <a:srgbClr val="FF0000"/>
                </a:solidFill>
              </a:rPr>
              <a:t> = 1/16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54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8" y="68666"/>
            <a:ext cx="10515600" cy="595924"/>
          </a:xfrm>
        </p:spPr>
        <p:txBody>
          <a:bodyPr/>
          <a:lstStyle/>
          <a:p>
            <a:r>
              <a:rPr lang="zh-CN" altLang="en-US" dirty="0"/>
              <a:t>三、 近交的遗传效应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7028320" y="3713678"/>
            <a:ext cx="4378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经过不同类型的近交，纯合子的百分比在世代中改变的情况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09C844-3EBA-4E29-85BC-F2E0B3B5733D}"/>
              </a:ext>
            </a:extLst>
          </p:cNvPr>
          <p:cNvSpPr txBox="1"/>
          <p:nvPr/>
        </p:nvSpPr>
        <p:spPr>
          <a:xfrm>
            <a:off x="6948392" y="4306730"/>
            <a:ext cx="4485334" cy="700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 b="1">
                <a:solidFill>
                  <a:srgbClr val="0920FB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b="0" dirty="0">
                <a:solidFill>
                  <a:schemeClr val="tx1"/>
                </a:solidFill>
              </a:rPr>
              <a:t>（</a:t>
            </a:r>
            <a:r>
              <a:rPr lang="en-US" altLang="zh-CN" b="0" dirty="0">
                <a:solidFill>
                  <a:schemeClr val="tx1"/>
                </a:solidFill>
              </a:rPr>
              <a:t>a</a:t>
            </a:r>
            <a:r>
              <a:rPr lang="zh-CN" altLang="en-US" b="0" dirty="0">
                <a:solidFill>
                  <a:schemeClr val="tx1"/>
                </a:solidFill>
              </a:rPr>
              <a:t>）自交      （</a:t>
            </a:r>
            <a:r>
              <a:rPr lang="en-US" altLang="zh-CN" b="0" dirty="0">
                <a:solidFill>
                  <a:schemeClr val="tx1"/>
                </a:solidFill>
              </a:rPr>
              <a:t>b</a:t>
            </a:r>
            <a:r>
              <a:rPr lang="zh-CN" altLang="en-US" b="0" dirty="0">
                <a:solidFill>
                  <a:schemeClr val="tx1"/>
                </a:solidFill>
              </a:rPr>
              <a:t>）兄妹交配 （</a:t>
            </a:r>
            <a:r>
              <a:rPr lang="en-US" altLang="zh-CN" b="0" dirty="0">
                <a:solidFill>
                  <a:schemeClr val="tx1"/>
                </a:solidFill>
              </a:rPr>
              <a:t>c</a:t>
            </a:r>
            <a:r>
              <a:rPr lang="zh-CN" altLang="en-US" b="0" dirty="0">
                <a:solidFill>
                  <a:schemeClr val="tx1"/>
                </a:solidFill>
              </a:rPr>
              <a:t>）半兄妹（同父异母或同母异父）交配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0" dirty="0">
                <a:solidFill>
                  <a:schemeClr val="tx1"/>
                </a:solidFill>
              </a:rPr>
              <a:t>（</a:t>
            </a:r>
            <a:r>
              <a:rPr lang="en-US" altLang="zh-CN" b="0" dirty="0">
                <a:solidFill>
                  <a:schemeClr val="tx1"/>
                </a:solidFill>
              </a:rPr>
              <a:t>d</a:t>
            </a:r>
            <a:r>
              <a:rPr lang="zh-CN" altLang="en-US" b="0" dirty="0">
                <a:solidFill>
                  <a:schemeClr val="tx1"/>
                </a:solidFill>
              </a:rPr>
              <a:t>）表兄妹交配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320" y="926133"/>
            <a:ext cx="4485334" cy="2746059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6D2A5A7-9F3C-47F6-B8CE-FF1F6AB3A18F}"/>
              </a:ext>
            </a:extLst>
          </p:cNvPr>
          <p:cNvSpPr txBox="1"/>
          <p:nvPr/>
        </p:nvSpPr>
        <p:spPr>
          <a:xfrm>
            <a:off x="0" y="926133"/>
            <a:ext cx="6583680" cy="494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在动、植物育种中，为了获得某种程度的纯合性，有时要进行系统的近交。</a:t>
            </a:r>
            <a:endParaRPr lang="en-US" altLang="zh-CN" dirty="0"/>
          </a:p>
          <a:p>
            <a:pPr lvl="1"/>
            <a:r>
              <a:rPr lang="zh-CN" altLang="en-US" b="1" dirty="0"/>
              <a:t>自交</a:t>
            </a:r>
            <a:r>
              <a:rPr lang="zh-CN" altLang="en-US" dirty="0"/>
              <a:t>接近纯合性最快，经过 </a:t>
            </a:r>
            <a:r>
              <a:rPr lang="en-US" altLang="zh-CN" dirty="0"/>
              <a:t>4 </a:t>
            </a:r>
            <a:r>
              <a:rPr lang="zh-CN" altLang="en-US" dirty="0"/>
              <a:t>代自交，纯合度已超过 </a:t>
            </a:r>
            <a:r>
              <a:rPr lang="en-US" altLang="zh-CN" dirty="0"/>
              <a:t>90%</a:t>
            </a:r>
            <a:r>
              <a:rPr lang="zh-CN" altLang="en-US" dirty="0"/>
              <a:t>，经过 </a:t>
            </a:r>
            <a:r>
              <a:rPr lang="en-US" altLang="zh-CN" dirty="0"/>
              <a:t>5 </a:t>
            </a:r>
            <a:r>
              <a:rPr lang="zh-CN" altLang="en-US" dirty="0"/>
              <a:t>代，已超过 </a:t>
            </a:r>
            <a:r>
              <a:rPr lang="en-US" altLang="zh-CN" dirty="0"/>
              <a:t>95%</a:t>
            </a:r>
            <a:r>
              <a:rPr lang="zh-CN" altLang="en-US" dirty="0"/>
              <a:t>。</a:t>
            </a:r>
            <a:r>
              <a:rPr lang="zh-CN" altLang="en-US" b="1" dirty="0"/>
              <a:t>兄妹交配</a:t>
            </a:r>
            <a:r>
              <a:rPr lang="zh-CN" altLang="en-US" dirty="0"/>
              <a:t>在提高纯合性方面不及自交，但在非自体受精的生物中则是最强烈的近交了。</a:t>
            </a:r>
            <a:endParaRPr lang="en-US" altLang="zh-CN" dirty="0"/>
          </a:p>
          <a:p>
            <a:pPr lvl="1"/>
            <a:r>
              <a:rPr lang="zh-CN" altLang="en-US" dirty="0"/>
              <a:t>本来是杂交繁殖的生物，继续进行自交，随着纯合度的增加，机体的生活力就不断下降。</a:t>
            </a:r>
          </a:p>
        </p:txBody>
      </p:sp>
    </p:spTree>
    <p:extLst>
      <p:ext uri="{BB962C8B-B14F-4D97-AF65-F5344CB8AC3E}">
        <p14:creationId xmlns:p14="http://schemas.microsoft.com/office/powerpoint/2010/main" val="1507764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79" y="42338"/>
            <a:ext cx="10515600" cy="595924"/>
          </a:xfrm>
        </p:spPr>
        <p:txBody>
          <a:bodyPr/>
          <a:lstStyle/>
          <a:p>
            <a:r>
              <a:rPr lang="zh-CN" altLang="en-US" dirty="0"/>
              <a:t>四、 杂种优势及其遗传理论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353799" y="6356350"/>
            <a:ext cx="577363" cy="365125"/>
          </a:xfrm>
          <a:prstGeom prst="rect">
            <a:avLst/>
          </a:prstGeom>
        </p:spPr>
        <p:txBody>
          <a:bodyPr/>
          <a:lstStyle/>
          <a:p>
            <a:fld id="{D4751D38-C989-48BC-B1AB-387F6E8DCEB6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7598005" y="2705044"/>
            <a:ext cx="3483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显性说的说明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17"/>
          <a:stretch/>
        </p:blipFill>
        <p:spPr>
          <a:xfrm>
            <a:off x="6951622" y="1014870"/>
            <a:ext cx="4568025" cy="1412095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7D9C44-5EB2-47E9-BD73-1C38F83AA5B5}"/>
              </a:ext>
            </a:extLst>
          </p:cNvPr>
          <p:cNvSpPr txBox="1"/>
          <p:nvPr/>
        </p:nvSpPr>
        <p:spPr>
          <a:xfrm>
            <a:off x="4067" y="736258"/>
            <a:ext cx="6947555" cy="5385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如杂种的活力超过双亲的中间值，就有</a:t>
            </a:r>
            <a:r>
              <a:rPr lang="zh-CN" altLang="en-US" b="1" dirty="0">
                <a:solidFill>
                  <a:srgbClr val="FF0000"/>
                </a:solidFill>
              </a:rPr>
              <a:t>杂种优势</a:t>
            </a:r>
            <a:r>
              <a:rPr lang="zh-CN" altLang="en-US" dirty="0"/>
              <a:t>。优势可以表现在生活力、繁殖率、抗逆性以及产量和品质上。</a:t>
            </a:r>
            <a:endParaRPr lang="en-US" altLang="zh-CN" dirty="0"/>
          </a:p>
          <a:p>
            <a:pPr lvl="1"/>
            <a:r>
              <a:rPr lang="zh-CN" altLang="en-US" dirty="0"/>
              <a:t>杂种优势的遗传机制（</a:t>
            </a:r>
            <a:r>
              <a:rPr lang="en-US" altLang="zh-CN" dirty="0"/>
              <a:t>1</a:t>
            </a:r>
            <a:r>
              <a:rPr lang="zh-CN" altLang="en-US" dirty="0"/>
              <a:t>）：</a:t>
            </a:r>
            <a:r>
              <a:rPr lang="zh-CN" altLang="en-US" b="1" dirty="0"/>
              <a:t>显性说</a:t>
            </a:r>
            <a:r>
              <a:rPr lang="zh-CN" altLang="en-US" dirty="0"/>
              <a:t>，如双亲很多座位上的等位基因是纯合子，形成杂种后，显性的有利基因的效应聚积起来，而隐性有害基因的作用被遮盖，出现明显优势。</a:t>
            </a:r>
            <a:endParaRPr lang="en-US" altLang="zh-CN" dirty="0"/>
          </a:p>
          <a:p>
            <a:pPr lvl="1"/>
            <a:r>
              <a:rPr lang="zh-CN" altLang="en-US" dirty="0"/>
              <a:t>杂种优势的遗传机制（</a:t>
            </a:r>
            <a:r>
              <a:rPr lang="en-US" altLang="zh-CN" dirty="0"/>
              <a:t>2</a:t>
            </a:r>
            <a:r>
              <a:rPr lang="zh-CN" altLang="en-US" dirty="0"/>
              <a:t>）：</a:t>
            </a:r>
            <a:r>
              <a:rPr lang="zh-CN" altLang="en-US" b="1" dirty="0"/>
              <a:t>超显性说</a:t>
            </a:r>
            <a:r>
              <a:rPr lang="zh-CN" altLang="en-US" dirty="0"/>
              <a:t>，这个学说认为基因处于杂合态时比两个纯合态都好。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4E678B-C736-4AC1-9C75-3128C37B5679}"/>
              </a:ext>
            </a:extLst>
          </p:cNvPr>
          <p:cNvSpPr txBox="1"/>
          <p:nvPr/>
        </p:nvSpPr>
        <p:spPr>
          <a:xfrm>
            <a:off x="7305774" y="4956946"/>
            <a:ext cx="4308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超显性说的说明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3FE165B-EE72-425B-A9C6-7A8C250FA9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66"/>
          <a:stretch/>
        </p:blipFill>
        <p:spPr>
          <a:xfrm>
            <a:off x="6951622" y="3693459"/>
            <a:ext cx="5019551" cy="115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16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579" y="457859"/>
            <a:ext cx="3141523" cy="5458041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838" y="139089"/>
            <a:ext cx="10515600" cy="725121"/>
          </a:xfrm>
        </p:spPr>
        <p:txBody>
          <a:bodyPr/>
          <a:lstStyle/>
          <a:p>
            <a:r>
              <a:rPr lang="zh-CN" altLang="en-US" dirty="0"/>
              <a:t>五、 杂种优势的实践利用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1F3A11-9007-4637-8855-AA97E1756EA2}"/>
              </a:ext>
            </a:extLst>
          </p:cNvPr>
          <p:cNvSpPr txBox="1"/>
          <p:nvPr/>
        </p:nvSpPr>
        <p:spPr>
          <a:xfrm>
            <a:off x="7848579" y="6017796"/>
            <a:ext cx="31415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600" b="1" dirty="0"/>
              <a:t>玉米双交种的制种过程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0DBC5B-3071-4205-95D2-E95A6C6025B4}"/>
              </a:ext>
            </a:extLst>
          </p:cNvPr>
          <p:cNvSpPr txBox="1"/>
          <p:nvPr/>
        </p:nvSpPr>
        <p:spPr>
          <a:xfrm>
            <a:off x="0" y="887161"/>
            <a:ext cx="7390614" cy="5130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0" lvl="1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/>
              <a:t>杂种优势在实践上非常重要，大家最熟知的例子就是杂种玉米，是通过</a:t>
            </a:r>
            <a:r>
              <a:rPr lang="en-US" altLang="zh-CN" dirty="0"/>
              <a:t>1916</a:t>
            </a:r>
            <a:r>
              <a:rPr lang="zh-CN" altLang="en-US" dirty="0"/>
              <a:t>年建立的双杂交技术得到的杂种。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 </a:t>
            </a:r>
            <a:r>
              <a:rPr lang="zh-CN" altLang="en-US" dirty="0"/>
              <a:t>和 </a:t>
            </a:r>
            <a:r>
              <a:rPr lang="en-US" altLang="zh-CN" dirty="0"/>
              <a:t>D </a:t>
            </a:r>
            <a:r>
              <a:rPr lang="zh-CN" altLang="en-US" dirty="0"/>
              <a:t>代表 </a:t>
            </a:r>
            <a:r>
              <a:rPr lang="en-US" altLang="zh-CN" dirty="0"/>
              <a:t>4 </a:t>
            </a:r>
            <a:r>
              <a:rPr lang="zh-CN" altLang="en-US" dirty="0"/>
              <a:t>个适宜的自交系，它们都是高度纯合化的纯系，生活力弱，产量低。</a:t>
            </a:r>
            <a:r>
              <a:rPr lang="en-US" altLang="zh-CN" dirty="0"/>
              <a:t>A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是一个杂交组，结果产生出杂种 </a:t>
            </a:r>
            <a:r>
              <a:rPr lang="en-US" altLang="zh-CN" dirty="0"/>
              <a:t>AB</a:t>
            </a:r>
            <a:r>
              <a:rPr lang="zh-CN" altLang="en-US" dirty="0"/>
              <a:t>。</a:t>
            </a:r>
            <a:r>
              <a:rPr lang="en-US" altLang="zh-CN" dirty="0"/>
              <a:t>C</a:t>
            </a:r>
            <a:r>
              <a:rPr lang="zh-CN" altLang="en-US" dirty="0"/>
              <a:t>和 </a:t>
            </a:r>
            <a:r>
              <a:rPr lang="en-US" altLang="zh-CN" dirty="0"/>
              <a:t>D </a:t>
            </a:r>
            <a:r>
              <a:rPr lang="zh-CN" altLang="en-US" dirty="0"/>
              <a:t>是另一杂交组，结果产生出杂种 </a:t>
            </a:r>
            <a:r>
              <a:rPr lang="en-US" altLang="zh-CN" dirty="0"/>
              <a:t>CD</a:t>
            </a:r>
            <a:r>
              <a:rPr lang="zh-CN" altLang="en-US" dirty="0"/>
              <a:t>。然后把杂种 </a:t>
            </a:r>
            <a:r>
              <a:rPr lang="en-US" altLang="zh-CN" dirty="0"/>
              <a:t>AB </a:t>
            </a:r>
            <a:r>
              <a:rPr lang="zh-CN" altLang="en-US" dirty="0"/>
              <a:t>与杂种 </a:t>
            </a:r>
            <a:r>
              <a:rPr lang="en-US" altLang="zh-CN" dirty="0"/>
              <a:t>CD </a:t>
            </a:r>
            <a:r>
              <a:rPr lang="zh-CN" altLang="en-US" dirty="0"/>
              <a:t>交配，产生出杂种 </a:t>
            </a:r>
            <a:r>
              <a:rPr lang="en-US" altLang="zh-CN" dirty="0"/>
              <a:t>ABCD</a:t>
            </a:r>
            <a:r>
              <a:rPr lang="zh-CN" altLang="en-US" dirty="0"/>
              <a:t>，产量很高，这就是播种用的杂种种子。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214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2762</Words>
  <Application>Microsoft Office PowerPoint</Application>
  <PresentationFormat>宽屏</PresentationFormat>
  <Paragraphs>197</Paragraphs>
  <Slides>30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Microsoft YaHei Light</vt:lpstr>
      <vt:lpstr>黑体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</vt:lpstr>
      <vt:lpstr>1_Office 主题</vt:lpstr>
      <vt:lpstr>PowerPoint 演示文稿</vt:lpstr>
      <vt:lpstr>PowerPoint 演示文稿</vt:lpstr>
      <vt:lpstr>一、数量性状的多基因假说</vt:lpstr>
      <vt:lpstr>PowerPoint 演示文稿</vt:lpstr>
      <vt:lpstr>PowerPoint 演示文稿</vt:lpstr>
      <vt:lpstr>二、 数量性状与质量性状的关系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一、遗传率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二、 对遗传率的几点说明</vt:lpstr>
      <vt:lpstr>PowerPoint 演示文稿</vt:lpstr>
      <vt:lpstr>一、近交和近交系数</vt:lpstr>
      <vt:lpstr>PowerPoint 演示文稿</vt:lpstr>
      <vt:lpstr>二、近交系数的计算</vt:lpstr>
      <vt:lpstr>PowerPoint 演示文稿</vt:lpstr>
      <vt:lpstr>三、 近交的遗传效应</vt:lpstr>
      <vt:lpstr>四、 杂种优势及其遗传理论</vt:lpstr>
      <vt:lpstr>五、 杂种优势的实践利用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zhaojy@hep.com.cn</dc:creator>
  <cp:lastModifiedBy>Admin</cp:lastModifiedBy>
  <cp:revision>140</cp:revision>
  <dcterms:created xsi:type="dcterms:W3CDTF">2020-09-25T05:42:09Z</dcterms:created>
  <dcterms:modified xsi:type="dcterms:W3CDTF">2023-05-29T09:10:46Z</dcterms:modified>
</cp:coreProperties>
</file>