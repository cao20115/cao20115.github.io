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1"/>
  </p:notesMasterIdLst>
  <p:sldIdLst>
    <p:sldId id="263" r:id="rId3"/>
    <p:sldId id="332" r:id="rId4"/>
    <p:sldId id="258" r:id="rId5"/>
    <p:sldId id="259" r:id="rId6"/>
    <p:sldId id="334" r:id="rId7"/>
    <p:sldId id="261" r:id="rId8"/>
    <p:sldId id="319" r:id="rId9"/>
    <p:sldId id="320" r:id="rId10"/>
    <p:sldId id="323" r:id="rId11"/>
    <p:sldId id="324" r:id="rId12"/>
    <p:sldId id="325" r:id="rId13"/>
    <p:sldId id="342" r:id="rId14"/>
    <p:sldId id="343" r:id="rId15"/>
    <p:sldId id="326" r:id="rId16"/>
    <p:sldId id="344" r:id="rId17"/>
    <p:sldId id="327" r:id="rId18"/>
    <p:sldId id="328" r:id="rId19"/>
    <p:sldId id="329" r:id="rId20"/>
    <p:sldId id="345" r:id="rId21"/>
    <p:sldId id="330" r:id="rId22"/>
    <p:sldId id="346" r:id="rId23"/>
    <p:sldId id="331" r:id="rId24"/>
    <p:sldId id="347" r:id="rId25"/>
    <p:sldId id="348" r:id="rId26"/>
    <p:sldId id="350" r:id="rId27"/>
    <p:sldId id="264" r:id="rId28"/>
    <p:sldId id="351" r:id="rId29"/>
    <p:sldId id="35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07F7"/>
    <a:srgbClr val="EDEEF2"/>
    <a:srgbClr val="3A5991"/>
    <a:srgbClr val="063090"/>
    <a:srgbClr val="FFFF00"/>
    <a:srgbClr val="031386"/>
    <a:srgbClr val="006699"/>
    <a:srgbClr val="0046D4"/>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135" autoAdjust="0"/>
  </p:normalViewPr>
  <p:slideViewPr>
    <p:cSldViewPr snapToGrid="0">
      <p:cViewPr varScale="1">
        <p:scale>
          <a:sx n="99" d="100"/>
          <a:sy n="99" d="100"/>
        </p:scale>
        <p:origin x="1032" y="108"/>
      </p:cViewPr>
      <p:guideLst>
        <p:guide orient="horz" pos="2160"/>
        <p:guide pos="3840"/>
      </p:guideLst>
    </p:cSldViewPr>
  </p:slideViewPr>
  <p:notesTextViewPr>
    <p:cViewPr>
      <p:scale>
        <a:sx n="1" d="1"/>
        <a:sy n="1" d="1"/>
      </p:scale>
      <p:origin x="0" y="0"/>
    </p:cViewPr>
  </p:notesTextViewPr>
  <p:sorterViewPr>
    <p:cViewPr>
      <p:scale>
        <a:sx n="100" d="100"/>
        <a:sy n="100" d="100"/>
      </p:scale>
      <p:origin x="0" y="-6000"/>
    </p:cViewPr>
  </p:sorterViewPr>
  <p:notesViewPr>
    <p:cSldViewPr snapToGrid="0">
      <p:cViewPr varScale="1">
        <p:scale>
          <a:sx n="66" d="100"/>
          <a:sy n="66" d="100"/>
        </p:scale>
        <p:origin x="2323"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62BE6C-E1A6-417E-951F-337EB91C0C8D}" type="datetimeFigureOut">
              <a:rPr lang="zh-CN" altLang="en-US" smtClean="0"/>
              <a:t>2024/1/9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1CDC8-E1E3-4EFD-A43E-3723536F9B50}" type="slidenum">
              <a:rPr lang="zh-CN" altLang="en-US" smtClean="0"/>
              <a:t>‹#›</a:t>
            </a:fld>
            <a:endParaRPr lang="zh-CN" altLang="en-US"/>
          </a:p>
        </p:txBody>
      </p:sp>
    </p:spTree>
    <p:extLst>
      <p:ext uri="{BB962C8B-B14F-4D97-AF65-F5344CB8AC3E}">
        <p14:creationId xmlns:p14="http://schemas.microsoft.com/office/powerpoint/2010/main" val="2330475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a:t>
            </a:fld>
            <a:endParaRPr lang="zh-CN" altLang="en-US"/>
          </a:p>
        </p:txBody>
      </p:sp>
    </p:spTree>
    <p:extLst>
      <p:ext uri="{BB962C8B-B14F-4D97-AF65-F5344CB8AC3E}">
        <p14:creationId xmlns:p14="http://schemas.microsoft.com/office/powerpoint/2010/main" val="3471985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3</a:t>
            </a:fld>
            <a:endParaRPr lang="zh-CN" altLang="en-US"/>
          </a:p>
        </p:txBody>
      </p:sp>
    </p:spTree>
    <p:extLst>
      <p:ext uri="{BB962C8B-B14F-4D97-AF65-F5344CB8AC3E}">
        <p14:creationId xmlns:p14="http://schemas.microsoft.com/office/powerpoint/2010/main" val="3702298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chemeClr val="tx1"/>
                </a:solidFill>
                <a:latin typeface="微软雅黑" pitchFamily="34" charset="-122"/>
                <a:ea typeface="微软雅黑" pitchFamily="34" charset="-122"/>
              </a:rPr>
              <a:t> 在一个大群体里，如交配是随机的，没有突变、迁移，没有自然选择的影响等，那么群体中 </a:t>
            </a:r>
            <a:r>
              <a:rPr lang="en-US" altLang="zh-CN" dirty="0">
                <a:solidFill>
                  <a:schemeClr val="tx1"/>
                </a:solidFill>
                <a:latin typeface="微软雅黑" pitchFamily="34" charset="-122"/>
                <a:ea typeface="微软雅黑" pitchFamily="34" charset="-122"/>
              </a:rPr>
              <a:t>3 </a:t>
            </a:r>
            <a:r>
              <a:rPr lang="zh-CN" altLang="en-US" dirty="0">
                <a:solidFill>
                  <a:schemeClr val="tx1"/>
                </a:solidFill>
                <a:latin typeface="微软雅黑" pitchFamily="34" charset="-122"/>
                <a:ea typeface="微软雅黑" pitchFamily="34" charset="-122"/>
              </a:rPr>
              <a:t>种基因型的频率如不平衡，只要经过一代就可达到平衡</a:t>
            </a:r>
            <a:r>
              <a:rPr lang="zh-CN" altLang="en-US" b="0" dirty="0">
                <a:solidFill>
                  <a:schemeClr val="tx1"/>
                </a:solidFill>
                <a:latin typeface="微软雅黑" pitchFamily="34" charset="-122"/>
                <a:ea typeface="微软雅黑" pitchFamily="34" charset="-122"/>
              </a:rPr>
              <a:t>，</a:t>
            </a:r>
            <a:r>
              <a:rPr lang="zh-CN" altLang="en-US" dirty="0">
                <a:solidFill>
                  <a:schemeClr val="tx1"/>
                </a:solidFill>
                <a:latin typeface="微软雅黑" pitchFamily="34" charset="-122"/>
                <a:ea typeface="微软雅黑" pitchFamily="34" charset="-122"/>
              </a:rPr>
              <a:t>如已经平衡，则可一代代保持下去</a:t>
            </a:r>
            <a:r>
              <a:rPr lang="zh-CN" altLang="en-US" b="0" dirty="0">
                <a:solidFill>
                  <a:schemeClr val="tx1"/>
                </a:solidFill>
                <a:latin typeface="微软雅黑" pitchFamily="34" charset="-122"/>
                <a:ea typeface="微软雅黑" pitchFamily="34" charset="-122"/>
              </a:rPr>
              <a:t>，不发生变化。</a:t>
            </a:r>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8</a:t>
            </a:fld>
            <a:endParaRPr lang="zh-CN" altLang="en-US"/>
          </a:p>
        </p:txBody>
      </p:sp>
    </p:spTree>
    <p:extLst>
      <p:ext uri="{BB962C8B-B14F-4D97-AF65-F5344CB8AC3E}">
        <p14:creationId xmlns:p14="http://schemas.microsoft.com/office/powerpoint/2010/main" val="905913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9</a:t>
            </a:fld>
            <a:endParaRPr lang="zh-CN" altLang="en-US"/>
          </a:p>
        </p:txBody>
      </p:sp>
    </p:spTree>
    <p:extLst>
      <p:ext uri="{BB962C8B-B14F-4D97-AF65-F5344CB8AC3E}">
        <p14:creationId xmlns:p14="http://schemas.microsoft.com/office/powerpoint/2010/main" val="462136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为了判断该群体是否达到平衡，把计算得到的等位基因频率代入基因型的平衡频率，再乘以总人 数后，得到预期数，与实得数比较，进行 </a:t>
            </a:r>
            <a:r>
              <a:rPr lang="en-US" altLang="zh-CN" dirty="0"/>
              <a:t>χ</a:t>
            </a:r>
            <a:r>
              <a:rPr lang="en-US" altLang="zh-CN" baseline="30000" dirty="0"/>
              <a:t>2</a:t>
            </a:r>
            <a:r>
              <a:rPr lang="en-US" altLang="zh-CN" dirty="0"/>
              <a:t> </a:t>
            </a:r>
            <a:r>
              <a:rPr lang="zh-CN" altLang="en-US" dirty="0"/>
              <a:t>检验。</a:t>
            </a:r>
          </a:p>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10</a:t>
            </a:fld>
            <a:endParaRPr lang="zh-CN" altLang="en-US"/>
          </a:p>
        </p:txBody>
      </p:sp>
    </p:spTree>
    <p:extLst>
      <p:ext uri="{BB962C8B-B14F-4D97-AF65-F5344CB8AC3E}">
        <p14:creationId xmlns:p14="http://schemas.microsoft.com/office/powerpoint/2010/main" val="763780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400" dirty="0"/>
              <a:t>假定一个无限大的随机交配群体，没有自然选择，但有突变，那么基因型频率会如何变化？</a:t>
            </a: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11</a:t>
            </a:fld>
            <a:endParaRPr lang="zh-CN" altLang="en-US"/>
          </a:p>
        </p:txBody>
      </p:sp>
    </p:spTree>
    <p:extLst>
      <p:ext uri="{BB962C8B-B14F-4D97-AF65-F5344CB8AC3E}">
        <p14:creationId xmlns:p14="http://schemas.microsoft.com/office/powerpoint/2010/main" val="320507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对频率很低的隐性个体的选择较无效的原因是大多数隐性等位基因存在于杂合子中，自然选择对它们不起作用。</a:t>
            </a:r>
          </a:p>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16</a:t>
            </a:fld>
            <a:endParaRPr lang="zh-CN" altLang="en-US"/>
          </a:p>
        </p:txBody>
      </p:sp>
    </p:spTree>
    <p:extLst>
      <p:ext uri="{BB962C8B-B14F-4D97-AF65-F5344CB8AC3E}">
        <p14:creationId xmlns:p14="http://schemas.microsoft.com/office/powerpoint/2010/main" val="3067490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有镰状细胞性状的杂合子（</a:t>
            </a:r>
            <a:r>
              <a:rPr lang="en-US" altLang="zh-CN" dirty="0"/>
              <a:t>HBB</a:t>
            </a:r>
            <a:r>
              <a:rPr lang="en-US" altLang="zh-CN" baseline="30000" dirty="0"/>
              <a:t>A</a:t>
            </a:r>
            <a:r>
              <a:rPr lang="en-US" altLang="zh-CN" dirty="0"/>
              <a:t> HBB</a:t>
            </a:r>
            <a:r>
              <a:rPr lang="en-US" altLang="zh-CN" baseline="30000" dirty="0"/>
              <a:t>S</a:t>
            </a:r>
            <a:r>
              <a:rPr lang="en-US" altLang="zh-CN" dirty="0"/>
              <a:t> </a:t>
            </a:r>
            <a:r>
              <a:rPr lang="zh-CN" altLang="en-US" dirty="0"/>
              <a:t>）对恶性疟原虫的抵抗力较强。因为杂合子细胞中有两种血红蛋白（</a:t>
            </a:r>
            <a:r>
              <a:rPr lang="en-US" altLang="zh-CN" dirty="0" err="1"/>
              <a:t>HbA</a:t>
            </a:r>
            <a:r>
              <a:rPr lang="en-US" altLang="zh-CN" dirty="0"/>
              <a:t> </a:t>
            </a:r>
            <a:r>
              <a:rPr lang="zh-CN" altLang="en-US" dirty="0"/>
              <a:t>和 </a:t>
            </a:r>
            <a:r>
              <a:rPr lang="en-US" altLang="zh-CN" dirty="0" err="1"/>
              <a:t>HbS</a:t>
            </a:r>
            <a:r>
              <a:rPr lang="zh-CN" altLang="en-US" dirty="0"/>
              <a:t>），这种组合可能影响疟原虫的营养。此外，杂合子细胞的细胞膜结构可能不利于疟原虫寄生。还有证据表明，杂合女性的生育率也比正常女性高，可能是流产率低的缘故。</a:t>
            </a:r>
          </a:p>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18</a:t>
            </a:fld>
            <a:endParaRPr lang="zh-CN" altLang="en-US"/>
          </a:p>
        </p:txBody>
      </p:sp>
    </p:spTree>
    <p:extLst>
      <p:ext uri="{BB962C8B-B14F-4D97-AF65-F5344CB8AC3E}">
        <p14:creationId xmlns:p14="http://schemas.microsoft.com/office/powerpoint/2010/main" val="389019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t>在随机漂变中，样本中基因频率将随机波动着。它们可能在初始频率的附近摆动， 也可更加偏离原初频率，甚至完全保留下来（</a:t>
            </a:r>
            <a:r>
              <a:rPr lang="en-US" altLang="zh-CN" sz="1200" i="1" dirty="0"/>
              <a:t>p</a:t>
            </a:r>
            <a:r>
              <a:rPr lang="en-US" altLang="zh-CN" sz="1200" dirty="0"/>
              <a:t> = 1</a:t>
            </a:r>
            <a:r>
              <a:rPr lang="zh-CN" altLang="en-US" sz="1200" dirty="0"/>
              <a:t>）或被淘汰（</a:t>
            </a:r>
            <a:r>
              <a:rPr lang="en-US" altLang="zh-CN" sz="1200" i="1" dirty="0"/>
              <a:t>p</a:t>
            </a:r>
            <a:r>
              <a:rPr lang="en-US" altLang="zh-CN" sz="1200" dirty="0"/>
              <a:t> = 0</a:t>
            </a:r>
            <a:r>
              <a:rPr lang="zh-CN" altLang="en-US" sz="1200" dirty="0"/>
              <a:t>）。种群越小，波动性越大。</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fld id="{8C31CDC8-E1E3-4EFD-A43E-3723536F9B50}" type="slidenum">
              <a:rPr lang="zh-CN" altLang="en-US" smtClean="0"/>
              <a:t>24</a:t>
            </a:fld>
            <a:endParaRPr lang="zh-CN" altLang="en-US"/>
          </a:p>
        </p:txBody>
      </p:sp>
    </p:spTree>
    <p:extLst>
      <p:ext uri="{BB962C8B-B14F-4D97-AF65-F5344CB8AC3E}">
        <p14:creationId xmlns:p14="http://schemas.microsoft.com/office/powerpoint/2010/main" val="2751680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5638" y="1211017"/>
            <a:ext cx="10515600"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45973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805196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0591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文本占位符 2">
            <a:extLst>
              <a:ext uri="{FF2B5EF4-FFF2-40B4-BE49-F238E27FC236}">
                <a16:creationId xmlns:a16="http://schemas.microsoft.com/office/drawing/2014/main" id="{E2C5B7A1-44B1-4D62-8157-AFEC4E28C6FA}"/>
              </a:ext>
            </a:extLst>
          </p:cNvPr>
          <p:cNvSpPr>
            <a:spLocks noGrp="1"/>
          </p:cNvSpPr>
          <p:nvPr>
            <p:ph idx="1"/>
          </p:nvPr>
        </p:nvSpPr>
        <p:spPr>
          <a:xfrm>
            <a:off x="565638" y="360485"/>
            <a:ext cx="10515600" cy="5764357"/>
          </a:xfrm>
          <a:prstGeom prst="rect">
            <a:avLst/>
          </a:prstGeom>
        </p:spPr>
        <p:txBody>
          <a:bodyPr vert="horz" lIns="91440" tIns="45720" rIns="91440" bIns="45720" rtlCol="0">
            <a:normAutofit/>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4193131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88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FDB94-F5D9-4E23-87FC-531BEAEEC019}"/>
              </a:ext>
            </a:extLst>
          </p:cNvPr>
          <p:cNvSpPr>
            <a:spLocks noGrp="1"/>
          </p:cNvSpPr>
          <p:nvPr>
            <p:ph type="title"/>
          </p:nvPr>
        </p:nvSpPr>
        <p:spPr>
          <a:xfrm>
            <a:off x="426127" y="365126"/>
            <a:ext cx="11336785" cy="904382"/>
          </a:xfrm>
        </p:spPr>
        <p:txBody>
          <a:bodyPr>
            <a:normAutofit/>
          </a:bodyPr>
          <a:lstStyle>
            <a:lvl1pPr>
              <a:defRPr sz="3600" b="1">
                <a:solidFill>
                  <a:srgbClr val="1207F7"/>
                </a:solidFill>
                <a:latin typeface="黑体" pitchFamily="49" charset="-122"/>
                <a:ea typeface="黑体" pitchFamily="49"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C7B5EE13-5C08-44FE-B565-6B1E6D6A6B65}"/>
              </a:ext>
            </a:extLst>
          </p:cNvPr>
          <p:cNvSpPr>
            <a:spLocks noGrp="1"/>
          </p:cNvSpPr>
          <p:nvPr>
            <p:ph idx="1"/>
          </p:nvPr>
        </p:nvSpPr>
        <p:spPr>
          <a:xfrm>
            <a:off x="426128" y="1420426"/>
            <a:ext cx="11336784" cy="5072447"/>
          </a:xfrm>
        </p:spPr>
        <p:txBody>
          <a:bodyPr>
            <a:normAutofit/>
          </a:bodyPr>
          <a:lstStyle>
            <a:lvl1pPr marL="228600" indent="-228600">
              <a:lnSpc>
                <a:spcPct val="120000"/>
              </a:lnSpc>
              <a:buClr>
                <a:schemeClr val="accent1"/>
              </a:buClr>
              <a:buSzPct val="80000"/>
              <a:buFont typeface="Wingdings" panose="05000000000000000000" pitchFamily="2" charset="2"/>
              <a:buChar char="p"/>
              <a:defRPr sz="2400">
                <a:latin typeface="微软雅黑" panose="020B0503020204020204" pitchFamily="34" charset="-122"/>
                <a:ea typeface="微软雅黑" panose="020B0503020204020204" pitchFamily="34" charset="-122"/>
              </a:defRPr>
            </a:lvl1pPr>
            <a:lvl2pPr marL="685800" indent="-228600">
              <a:lnSpc>
                <a:spcPct val="120000"/>
              </a:lnSpc>
              <a:buClr>
                <a:schemeClr val="accent1"/>
              </a:buClr>
              <a:buSzPct val="80000"/>
              <a:buFont typeface="Wingdings" panose="05000000000000000000" pitchFamily="2" charset="2"/>
              <a:buChar char="p"/>
              <a:defRPr sz="2000">
                <a:latin typeface="微软雅黑" panose="020B0503020204020204" pitchFamily="34" charset="-122"/>
                <a:ea typeface="微软雅黑" panose="020B0503020204020204" pitchFamily="34" charset="-122"/>
              </a:defRPr>
            </a:lvl2pPr>
            <a:lvl3pPr marL="1143000" indent="-228600">
              <a:lnSpc>
                <a:spcPct val="120000"/>
              </a:lnSpc>
              <a:buClr>
                <a:schemeClr val="accent1"/>
              </a:buClr>
              <a:buSzPct val="80000"/>
              <a:buFont typeface="Wingdings" panose="05000000000000000000" pitchFamily="2" charset="2"/>
              <a:buChar char="p"/>
              <a:defRPr sz="1800">
                <a:latin typeface="微软雅黑" panose="020B0503020204020204" pitchFamily="34" charset="-122"/>
                <a:ea typeface="微软雅黑" panose="020B0503020204020204" pitchFamily="34" charset="-122"/>
              </a:defRPr>
            </a:lvl3pPr>
            <a:lvl4pPr marL="1600200" indent="-228600">
              <a:lnSpc>
                <a:spcPct val="120000"/>
              </a:lnSpc>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4pPr>
            <a:lvl5pPr marL="2057400" indent="-228600">
              <a:lnSpc>
                <a:spcPct val="120000"/>
              </a:lnSpc>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629930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449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527290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53720" y="599598"/>
            <a:ext cx="11084560" cy="5658803"/>
          </a:xfrm>
        </p:spPr>
        <p:txBody>
          <a:bodyPr/>
          <a:lstStyle>
            <a:lvl1pPr>
              <a:defRPr sz="3200">
                <a:latin typeface="微软雅黑" panose="020B0503020204020204" pitchFamily="34" charset="-122"/>
                <a:ea typeface="微软雅黑" panose="020B0503020204020204" pitchFamily="34" charset="-122"/>
              </a:defRPr>
            </a:lvl1pPr>
            <a:lvl2pPr>
              <a:defRPr sz="2800">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一级标题</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7731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4140528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29750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1111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947765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993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32732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5019581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85410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84477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26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65638" y="318476"/>
            <a:ext cx="10515600" cy="72512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65638" y="1113448"/>
            <a:ext cx="10515600" cy="501139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3315201304"/>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4" r:id="rId3"/>
    <p:sldLayoutId id="2147483655" r:id="rId4"/>
    <p:sldLayoutId id="2147483660" r:id="rId5"/>
    <p:sldLayoutId id="2147483675" r:id="rId6"/>
    <p:sldLayoutId id="2147483677" r:id="rId7"/>
  </p:sldLayoutIdLst>
  <p:hf hdr="0" ftr="0" dt="0"/>
  <p:txStyles>
    <p:titleStyle>
      <a:lvl1pPr algn="l" defTabSz="914400" rtl="0" eaLnBrk="1" latinLnBrk="0" hangingPunct="1">
        <a:lnSpc>
          <a:spcPct val="90000"/>
        </a:lnSpc>
        <a:spcBef>
          <a:spcPct val="0"/>
        </a:spcBef>
        <a:buNone/>
        <a:defRPr sz="3200" b="1" kern="1200">
          <a:solidFill>
            <a:srgbClr val="1207F7"/>
          </a:solidFill>
          <a:latin typeface="黑体" pitchFamily="49" charset="-122"/>
          <a:ea typeface="黑体" pitchFamily="49" charset="-122"/>
          <a:cs typeface="+mj-cs"/>
        </a:defRPr>
      </a:lvl1pPr>
    </p:titleStyle>
    <p:bodyStyle>
      <a:lvl1pPr marL="457200" indent="-457200" algn="l" defTabSz="914400" rtl="0" eaLnBrk="1" latinLnBrk="0" hangingPunct="1">
        <a:lnSpc>
          <a:spcPct val="90000"/>
        </a:lnSpc>
        <a:spcBef>
          <a:spcPts val="1000"/>
        </a:spcBef>
        <a:buFont typeface="+mj-lt"/>
        <a:buAutoNum type="arabicPeriod"/>
        <a:defRPr sz="2400" b="1" kern="1200">
          <a:solidFill>
            <a:srgbClr val="1207F7"/>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65638" y="318476"/>
            <a:ext cx="10515600" cy="72512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65638" y="1113448"/>
            <a:ext cx="10515600" cy="501139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411153265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3200" b="1" kern="1200">
          <a:solidFill>
            <a:srgbClr val="1207F7"/>
          </a:solidFill>
          <a:latin typeface="黑体" pitchFamily="49" charset="-122"/>
          <a:ea typeface="黑体" pitchFamily="49" charset="-122"/>
          <a:cs typeface="+mj-cs"/>
        </a:defRPr>
      </a:lvl1pPr>
    </p:titleStyle>
    <p:bodyStyle>
      <a:lvl1pPr marL="457200" indent="-457200" algn="l" defTabSz="914400" rtl="0" eaLnBrk="1" latinLnBrk="0" hangingPunct="1">
        <a:lnSpc>
          <a:spcPct val="90000"/>
        </a:lnSpc>
        <a:spcBef>
          <a:spcPts val="1000"/>
        </a:spcBef>
        <a:buFont typeface="+mj-lt"/>
        <a:buAutoNum type="arabicPeriod"/>
        <a:defRPr sz="2400" b="1" kern="1200">
          <a:solidFill>
            <a:srgbClr val="1207F7"/>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E68668C-E989-456D-8173-377CB1C7F961}"/>
              </a:ext>
            </a:extLst>
          </p:cNvPr>
          <p:cNvSpPr txBox="1"/>
          <p:nvPr/>
        </p:nvSpPr>
        <p:spPr>
          <a:xfrm>
            <a:off x="1276609" y="2380629"/>
            <a:ext cx="9945278" cy="1313629"/>
          </a:xfrm>
          <a:prstGeom prst="rect">
            <a:avLst/>
          </a:prstGeom>
          <a:noFill/>
        </p:spPr>
        <p:txBody>
          <a:bodyPr wrap="square" rtlCol="0">
            <a:spAutoFit/>
          </a:bodyPr>
          <a:lstStyle>
            <a:defPPr>
              <a:defRPr lang="zh-CN"/>
            </a:defPPr>
            <a:lvl1pPr algn="ctr">
              <a:lnSpc>
                <a:spcPct val="150000"/>
              </a:lnSpc>
              <a:defRPr sz="8800" b="1" spc="600">
                <a:solidFill>
                  <a:srgbClr val="3A5991"/>
                </a:solidFill>
                <a:latin typeface="Times New Roman" panose="02020603050405020304" pitchFamily="18" charset="0"/>
                <a:ea typeface="微软雅黑" panose="020B0503020204020204" pitchFamily="34" charset="-122"/>
              </a:defRPr>
            </a:lvl1pPr>
          </a:lstStyle>
          <a:p>
            <a:r>
              <a:rPr lang="zh-CN" altLang="en-US" sz="6000" dirty="0">
                <a:solidFill>
                  <a:schemeClr val="tx1"/>
                </a:solidFill>
              </a:rPr>
              <a:t>第十九章 遗传与进化</a:t>
            </a:r>
          </a:p>
        </p:txBody>
      </p:sp>
    </p:spTree>
    <p:extLst>
      <p:ext uri="{BB962C8B-B14F-4D97-AF65-F5344CB8AC3E}">
        <p14:creationId xmlns:p14="http://schemas.microsoft.com/office/powerpoint/2010/main" val="3435538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531F3D-CF19-4D46-8734-6B0B45285102}"/>
              </a:ext>
            </a:extLst>
          </p:cNvPr>
          <p:cNvSpPr>
            <a:spLocks noGrp="1"/>
          </p:cNvSpPr>
          <p:nvPr>
            <p:ph sz="half" idx="1"/>
          </p:nvPr>
        </p:nvSpPr>
        <p:spPr>
          <a:xfrm>
            <a:off x="0" y="1617053"/>
            <a:ext cx="12192000" cy="1491297"/>
          </a:xfrm>
        </p:spPr>
        <p:txBody>
          <a:bodyPr vert="horz" lIns="91440" tIns="45720" rIns="91440" bIns="45720" rtlCol="0">
            <a:normAutofit/>
          </a:bodyPr>
          <a:lstStyle/>
          <a:p>
            <a:pPr marL="0" lvl="1" indent="0">
              <a:lnSpc>
                <a:spcPct val="110000"/>
              </a:lnSpc>
              <a:spcBef>
                <a:spcPts val="1200"/>
              </a:spcBef>
            </a:pPr>
            <a:r>
              <a:rPr lang="zh-CN" altLang="en-US" sz="2400" b="1" dirty="0"/>
              <a:t>案例：不同物种的细胞色素 </a:t>
            </a:r>
            <a:r>
              <a:rPr lang="en-US" altLang="zh-CN" sz="2400" b="1" dirty="0"/>
              <a:t>c </a:t>
            </a:r>
            <a:r>
              <a:rPr lang="zh-CN" altLang="en-US" sz="2400" b="1" dirty="0"/>
              <a:t>的序列比对</a:t>
            </a:r>
            <a:endParaRPr lang="en-US" altLang="zh-CN" sz="2400" dirty="0"/>
          </a:p>
          <a:p>
            <a:pPr marL="0" lvl="1" indent="0">
              <a:lnSpc>
                <a:spcPct val="110000"/>
              </a:lnSpc>
              <a:spcBef>
                <a:spcPts val="1200"/>
              </a:spcBef>
            </a:pPr>
            <a:r>
              <a:rPr lang="zh-CN" altLang="en-US" sz="2400" dirty="0"/>
              <a:t>和人的亲缘关系愈近的生物，细胞色素 </a:t>
            </a:r>
            <a:r>
              <a:rPr lang="en-US" altLang="zh-CN" sz="2400" dirty="0"/>
              <a:t>c </a:t>
            </a:r>
            <a:r>
              <a:rPr lang="zh-CN" altLang="en-US" sz="2400" dirty="0"/>
              <a:t>的氨基酸成分也和人愈相似。</a:t>
            </a:r>
          </a:p>
        </p:txBody>
      </p:sp>
      <p:pic>
        <p:nvPicPr>
          <p:cNvPr id="6" name="图片 5">
            <a:extLst>
              <a:ext uri="{FF2B5EF4-FFF2-40B4-BE49-F238E27FC236}">
                <a16:creationId xmlns:a16="http://schemas.microsoft.com/office/drawing/2014/main" id="{D6F49621-3CD6-4B6F-A229-4513EDAB4957}"/>
              </a:ext>
            </a:extLst>
          </p:cNvPr>
          <p:cNvPicPr>
            <a:picLocks noChangeAspect="1"/>
          </p:cNvPicPr>
          <p:nvPr/>
        </p:nvPicPr>
        <p:blipFill>
          <a:blip r:embed="rId2"/>
          <a:stretch>
            <a:fillRect/>
          </a:stretch>
        </p:blipFill>
        <p:spPr>
          <a:xfrm>
            <a:off x="1142998" y="2567062"/>
            <a:ext cx="10125075" cy="3852788"/>
          </a:xfrm>
          <a:prstGeom prst="rect">
            <a:avLst/>
          </a:prstGeom>
        </p:spPr>
      </p:pic>
      <p:sp>
        <p:nvSpPr>
          <p:cNvPr id="5" name="标题 1">
            <a:extLst>
              <a:ext uri="{FF2B5EF4-FFF2-40B4-BE49-F238E27FC236}">
                <a16:creationId xmlns:a16="http://schemas.microsoft.com/office/drawing/2014/main" id="{9EED7EBE-3136-4AE2-94E6-4F1FA8E4605C}"/>
              </a:ext>
            </a:extLst>
          </p:cNvPr>
          <p:cNvSpPr>
            <a:spLocks noGrp="1"/>
          </p:cNvSpPr>
          <p:nvPr>
            <p:ph type="title"/>
          </p:nvPr>
        </p:nvSpPr>
        <p:spPr>
          <a:xfrm>
            <a:off x="0" y="0"/>
            <a:ext cx="10515600" cy="557432"/>
          </a:xfrm>
        </p:spPr>
        <p:txBody>
          <a:bodyPr/>
          <a:lstStyle/>
          <a:p>
            <a:r>
              <a:rPr lang="zh-CN" altLang="en-US" dirty="0"/>
              <a:t>第一节　进化概述</a:t>
            </a:r>
          </a:p>
        </p:txBody>
      </p:sp>
      <p:sp>
        <p:nvSpPr>
          <p:cNvPr id="7" name="标题 1">
            <a:extLst>
              <a:ext uri="{FF2B5EF4-FFF2-40B4-BE49-F238E27FC236}">
                <a16:creationId xmlns:a16="http://schemas.microsoft.com/office/drawing/2014/main" id="{41DB8446-6E7F-44FF-9876-C46932C98457}"/>
              </a:ext>
            </a:extLst>
          </p:cNvPr>
          <p:cNvSpPr txBox="1">
            <a:spLocks/>
          </p:cNvSpPr>
          <p:nvPr/>
        </p:nvSpPr>
        <p:spPr>
          <a:xfrm>
            <a:off x="100358" y="511875"/>
            <a:ext cx="10515600" cy="725121"/>
          </a:xfrm>
          <a:prstGeom prst="rect">
            <a:avLst/>
          </a:prstGeom>
        </p:spPr>
        <p:txBody>
          <a:bodyPr vert="horz" lIns="91440" tIns="45720" rIns="91440" bIns="45720" rtlCol="0" anchor="ctr">
            <a:normAutofit/>
          </a:bodyPr>
          <a:lstStyle>
            <a:lvl1pPr>
              <a:lnSpc>
                <a:spcPct val="90000"/>
              </a:lnSpc>
              <a:spcBef>
                <a:spcPct val="0"/>
              </a:spcBef>
              <a:buNone/>
              <a:defRPr sz="3200" b="1">
                <a:solidFill>
                  <a:srgbClr val="1207F7"/>
                </a:solidFill>
                <a:latin typeface="黑体" pitchFamily="49" charset="-122"/>
                <a:ea typeface="黑体" pitchFamily="49" charset="-122"/>
                <a:cs typeface="+mj-cs"/>
              </a:defRPr>
            </a:lvl1pPr>
          </a:lstStyle>
          <a:p>
            <a:r>
              <a:rPr lang="zh-CN" altLang="en-US" dirty="0"/>
              <a:t>一、蛋白质进化</a:t>
            </a:r>
          </a:p>
        </p:txBody>
      </p:sp>
      <p:sp>
        <p:nvSpPr>
          <p:cNvPr id="8" name="文本框 7">
            <a:extLst>
              <a:ext uri="{FF2B5EF4-FFF2-40B4-BE49-F238E27FC236}">
                <a16:creationId xmlns:a16="http://schemas.microsoft.com/office/drawing/2014/main" id="{DB42B2EC-A1A2-4595-ABF9-6F05FEFB828C}"/>
              </a:ext>
            </a:extLst>
          </p:cNvPr>
          <p:cNvSpPr txBox="1"/>
          <p:nvPr/>
        </p:nvSpPr>
        <p:spPr>
          <a:xfrm>
            <a:off x="3181350" y="613264"/>
            <a:ext cx="9010650" cy="929786"/>
          </a:xfrm>
          <a:prstGeom prst="rect">
            <a:avLst/>
          </a:prstGeom>
        </p:spPr>
        <p:txBody>
          <a:bodyPr vert="horz" lIns="91440" tIns="45720" rIns="91440" bIns="45720" rtlCol="0">
            <a:noAutofit/>
          </a:bodyPr>
          <a:lstStyle>
            <a:lvl1pPr marL="457200" indent="-457200">
              <a:lnSpc>
                <a:spcPct val="110000"/>
              </a:lnSpc>
              <a:spcBef>
                <a:spcPts val="1000"/>
              </a:spcBef>
              <a:buFont typeface="+mj-lt"/>
              <a:buAutoNum type="arabicPeriod"/>
              <a:defRPr sz="2000" b="1">
                <a:solidFill>
                  <a:srgbClr val="0000FF"/>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sz="2800" dirty="0">
                <a:solidFill>
                  <a:schemeClr val="tx1"/>
                </a:solidFill>
              </a:rPr>
              <a:t>比较各类生物的同一种蛋白质序列，可以看出生物进化过程中遗传物质的变化情况。</a:t>
            </a:r>
          </a:p>
        </p:txBody>
      </p:sp>
    </p:spTree>
    <p:extLst>
      <p:ext uri="{BB962C8B-B14F-4D97-AF65-F5344CB8AC3E}">
        <p14:creationId xmlns:p14="http://schemas.microsoft.com/office/powerpoint/2010/main" val="265403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A069951-99B4-4365-8D35-467E25BAF1A2}"/>
              </a:ext>
            </a:extLst>
          </p:cNvPr>
          <p:cNvSpPr txBox="1"/>
          <p:nvPr/>
        </p:nvSpPr>
        <p:spPr>
          <a:xfrm>
            <a:off x="406433" y="395157"/>
            <a:ext cx="6094428" cy="535531"/>
          </a:xfrm>
          <a:prstGeom prst="rect">
            <a:avLst/>
          </a:prstGeom>
        </p:spPr>
        <p:txBody>
          <a:bodyPr vert="horz" lIns="91440" tIns="45720" rIns="91440" bIns="45720" rtlCol="0" anchor="ctr">
            <a:normAutofit/>
          </a:bodyPr>
          <a:lstStyle>
            <a:lvl1pPr>
              <a:lnSpc>
                <a:spcPct val="90000"/>
              </a:lnSpc>
              <a:spcBef>
                <a:spcPct val="0"/>
              </a:spcBef>
              <a:buNone/>
              <a:defRPr sz="3200" b="1">
                <a:solidFill>
                  <a:srgbClr val="1207F7"/>
                </a:solidFill>
                <a:latin typeface="黑体" pitchFamily="49" charset="-122"/>
                <a:ea typeface="黑体" pitchFamily="49" charset="-122"/>
                <a:cs typeface="+mj-cs"/>
              </a:defRPr>
            </a:lvl1pPr>
          </a:lstStyle>
          <a:p>
            <a:r>
              <a:rPr lang="zh-CN" altLang="en-US" dirty="0"/>
              <a:t>二、 核酸进化</a:t>
            </a:r>
          </a:p>
        </p:txBody>
      </p:sp>
      <p:sp>
        <p:nvSpPr>
          <p:cNvPr id="8" name="文本框 7">
            <a:extLst>
              <a:ext uri="{FF2B5EF4-FFF2-40B4-BE49-F238E27FC236}">
                <a16:creationId xmlns:a16="http://schemas.microsoft.com/office/drawing/2014/main" id="{81B933A9-522B-40D4-95BC-2C03B9848094}"/>
              </a:ext>
            </a:extLst>
          </p:cNvPr>
          <p:cNvSpPr txBox="1"/>
          <p:nvPr/>
        </p:nvSpPr>
        <p:spPr>
          <a:xfrm>
            <a:off x="0" y="1236225"/>
            <a:ext cx="12192000" cy="1435440"/>
          </a:xfrm>
          <a:prstGeom prst="rect">
            <a:avLst/>
          </a:prstGeom>
        </p:spPr>
        <p:txBody>
          <a:bodyPr vert="horz" lIns="91440" tIns="45720" rIns="91440" bIns="45720" rtlCol="0">
            <a:noAutofit/>
          </a:bodyPr>
          <a:lstStyle>
            <a:lvl1pPr marL="457200" indent="-457200">
              <a:lnSpc>
                <a:spcPct val="110000"/>
              </a:lnSpc>
              <a:spcBef>
                <a:spcPts val="1000"/>
              </a:spcBef>
              <a:buFont typeface="+mj-lt"/>
              <a:buAutoNum type="arabicPeriod"/>
              <a:defRPr sz="2000" b="1">
                <a:solidFill>
                  <a:srgbClr val="0000FF"/>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在进化过程中，核酸不仅发生量的变化，还发生质的变化</a:t>
            </a:r>
            <a:r>
              <a:rPr lang="en-US" altLang="zh-CN" dirty="0"/>
              <a:t>(</a:t>
            </a:r>
            <a:r>
              <a:rPr lang="zh-CN" altLang="en-US" dirty="0"/>
              <a:t>核苷酸序列的变化</a:t>
            </a:r>
            <a:r>
              <a:rPr lang="en-US" altLang="zh-CN" dirty="0"/>
              <a:t>)</a:t>
            </a:r>
            <a:r>
              <a:rPr lang="zh-CN" altLang="en-US" dirty="0"/>
              <a:t> 。</a:t>
            </a:r>
            <a:endParaRPr lang="en-US" altLang="zh-CN" dirty="0"/>
          </a:p>
          <a:p>
            <a:pPr lvl="1">
              <a:buNone/>
            </a:pPr>
            <a:r>
              <a:rPr lang="zh-CN" altLang="en-US" dirty="0"/>
              <a:t>要测定两种</a:t>
            </a:r>
            <a:r>
              <a:rPr lang="en-US" altLang="zh-CN" dirty="0"/>
              <a:t>DNA</a:t>
            </a:r>
            <a:r>
              <a:rPr lang="zh-CN" altLang="en-US" dirty="0"/>
              <a:t>的差异，常用分子杂交技术，不同</a:t>
            </a:r>
            <a:r>
              <a:rPr lang="en-US" altLang="zh-CN" dirty="0"/>
              <a:t>DNA</a:t>
            </a:r>
            <a:r>
              <a:rPr lang="zh-CN" altLang="en-US" dirty="0"/>
              <a:t>的同源程度可通过“</a:t>
            </a:r>
            <a:r>
              <a:rPr lang="zh-CN" altLang="en-US" b="1" dirty="0">
                <a:solidFill>
                  <a:srgbClr val="FF0000"/>
                </a:solidFill>
              </a:rPr>
              <a:t>温度稳定性</a:t>
            </a:r>
            <a:r>
              <a:rPr lang="zh-CN" altLang="en-US" dirty="0"/>
              <a:t>”来估计。</a:t>
            </a:r>
            <a:endParaRPr lang="en-US" altLang="zh-CN" dirty="0"/>
          </a:p>
        </p:txBody>
      </p:sp>
    </p:spTree>
    <p:extLst>
      <p:ext uri="{BB962C8B-B14F-4D97-AF65-F5344CB8AC3E}">
        <p14:creationId xmlns:p14="http://schemas.microsoft.com/office/powerpoint/2010/main" val="1607650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1C7F2-8978-4DF5-B47A-D15F4C41AA0A}"/>
              </a:ext>
            </a:extLst>
          </p:cNvPr>
          <p:cNvSpPr>
            <a:spLocks noGrp="1"/>
          </p:cNvSpPr>
          <p:nvPr>
            <p:ph type="title"/>
          </p:nvPr>
        </p:nvSpPr>
        <p:spPr/>
        <p:txBody>
          <a:bodyPr/>
          <a:lstStyle/>
          <a:p>
            <a:r>
              <a:rPr lang="zh-CN" altLang="en-US" dirty="0"/>
              <a:t>四、 分子进化</a:t>
            </a:r>
          </a:p>
        </p:txBody>
      </p:sp>
      <p:sp>
        <p:nvSpPr>
          <p:cNvPr id="6" name="内容占位符 5">
            <a:extLst>
              <a:ext uri="{FF2B5EF4-FFF2-40B4-BE49-F238E27FC236}">
                <a16:creationId xmlns:a16="http://schemas.microsoft.com/office/drawing/2014/main" id="{24052C80-22D1-42B4-9E94-05BB2A8C5203}"/>
              </a:ext>
            </a:extLst>
          </p:cNvPr>
          <p:cNvSpPr>
            <a:spLocks noGrp="1"/>
          </p:cNvSpPr>
          <p:nvPr>
            <p:ph sz="half" idx="1"/>
          </p:nvPr>
        </p:nvSpPr>
        <p:spPr>
          <a:xfrm>
            <a:off x="0" y="1211017"/>
            <a:ext cx="12192000" cy="4965946"/>
          </a:xfrm>
        </p:spPr>
        <p:txBody>
          <a:bodyPr vert="horz" lIns="91440" tIns="45720" rIns="91440" bIns="45720" rtlCol="0">
            <a:normAutofit/>
          </a:bodyPr>
          <a:lstStyle/>
          <a:p>
            <a:pPr marL="0" lvl="1" indent="0">
              <a:lnSpc>
                <a:spcPct val="110000"/>
              </a:lnSpc>
              <a:spcBef>
                <a:spcPts val="1200"/>
              </a:spcBef>
            </a:pPr>
            <a:r>
              <a:rPr lang="zh-CN" altLang="en-US" sz="2400" dirty="0"/>
              <a:t>通过比较不同群体的 </a:t>
            </a:r>
            <a:r>
              <a:rPr lang="en-US" altLang="zh-CN" sz="2400" dirty="0"/>
              <a:t>DNA </a:t>
            </a:r>
            <a:r>
              <a:rPr lang="zh-CN" altLang="en-US" sz="2400" dirty="0"/>
              <a:t>序列（或者氨基酸序列等）可以推断不同群体间的亲缘关系。随着分子生物学技术的发展，进化生物学的研究者们在群体遗传学的理论基础上，利用分子生物学技术对生物间的进化关系进行研究，并建立了一个和遗传学密切相关的新的生物学分支学科，即</a:t>
            </a:r>
            <a:r>
              <a:rPr lang="zh-CN" altLang="en-US" sz="2400" b="1" dirty="0">
                <a:solidFill>
                  <a:srgbClr val="FF0000"/>
                </a:solidFill>
              </a:rPr>
              <a:t>分子进化</a:t>
            </a:r>
            <a:r>
              <a:rPr lang="zh-CN" altLang="en-US" sz="2400" dirty="0"/>
              <a:t>（</a:t>
            </a:r>
            <a:r>
              <a:rPr lang="en-US" altLang="zh-CN" sz="2400" dirty="0"/>
              <a:t>molecular evolution</a:t>
            </a:r>
            <a:r>
              <a:rPr lang="zh-CN" altLang="en-US" sz="2400" dirty="0"/>
              <a:t>）。</a:t>
            </a:r>
            <a:endParaRPr lang="en-US" altLang="zh-CN" sz="2400" dirty="0"/>
          </a:p>
          <a:p>
            <a:pPr marL="0" lvl="1" indent="0">
              <a:lnSpc>
                <a:spcPct val="110000"/>
              </a:lnSpc>
              <a:spcBef>
                <a:spcPts val="1200"/>
              </a:spcBef>
            </a:pPr>
            <a:r>
              <a:rPr lang="zh-CN" altLang="en-US" sz="2400" dirty="0"/>
              <a:t>分子进化包括两个基本依据：①亲缘关系与遗传差异之间存在关系；②多种同源大分子的平均进化速率近似恒定。</a:t>
            </a:r>
          </a:p>
        </p:txBody>
      </p:sp>
    </p:spTree>
    <p:extLst>
      <p:ext uri="{BB962C8B-B14F-4D97-AF65-F5344CB8AC3E}">
        <p14:creationId xmlns:p14="http://schemas.microsoft.com/office/powerpoint/2010/main" val="291927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79535D6-DC73-43D9-A525-727BD1474E00}"/>
              </a:ext>
            </a:extLst>
          </p:cNvPr>
          <p:cNvSpPr>
            <a:spLocks noGrp="1"/>
          </p:cNvSpPr>
          <p:nvPr>
            <p:ph sz="half" idx="1"/>
          </p:nvPr>
        </p:nvSpPr>
        <p:spPr>
          <a:xfrm>
            <a:off x="0" y="497150"/>
            <a:ext cx="12192000" cy="2405847"/>
          </a:xfrm>
        </p:spPr>
        <p:txBody>
          <a:bodyPr vert="horz" lIns="91440" tIns="45720" rIns="91440" bIns="45720" rtlCol="0">
            <a:normAutofit/>
          </a:bodyPr>
          <a:lstStyle/>
          <a:p>
            <a:pPr marL="0" lvl="1" indent="0">
              <a:lnSpc>
                <a:spcPct val="110000"/>
              </a:lnSpc>
              <a:spcBef>
                <a:spcPts val="1200"/>
              </a:spcBef>
            </a:pPr>
            <a:r>
              <a:rPr lang="zh-CN" altLang="en-US" sz="2400" dirty="0"/>
              <a:t>分子进化是通过利用</a:t>
            </a:r>
            <a:r>
              <a:rPr lang="zh-CN" altLang="en-US" sz="2400" b="1" dirty="0">
                <a:solidFill>
                  <a:srgbClr val="FF0000"/>
                </a:solidFill>
              </a:rPr>
              <a:t>系统树</a:t>
            </a:r>
            <a:r>
              <a:rPr lang="zh-CN" altLang="en-US" sz="2400" dirty="0"/>
              <a:t>（</a:t>
            </a:r>
            <a:r>
              <a:rPr lang="en-US" altLang="zh-CN" sz="2400" dirty="0"/>
              <a:t>phylogenetic tree</a:t>
            </a:r>
            <a:r>
              <a:rPr lang="zh-CN" altLang="en-US" sz="2400" dirty="0"/>
              <a:t>）描述生物类群、个体或基因序列之间的进化关系。分支长度和节点位置充分说明了不同生物样本之间的亲缘关系远近。</a:t>
            </a:r>
            <a:endParaRPr lang="en-US" altLang="zh-CN" sz="2400" dirty="0"/>
          </a:p>
        </p:txBody>
      </p:sp>
      <p:pic>
        <p:nvPicPr>
          <p:cNvPr id="5" name="图片 4" descr="19-3">
            <a:extLst>
              <a:ext uri="{FF2B5EF4-FFF2-40B4-BE49-F238E27FC236}">
                <a16:creationId xmlns:a16="http://schemas.microsoft.com/office/drawing/2014/main" id="{D1181584-7A55-4521-B121-7CC1B2D7BE60}"/>
              </a:ext>
            </a:extLst>
          </p:cNvPr>
          <p:cNvPicPr>
            <a:picLocks noGrp="1" noChangeAspect="1"/>
          </p:cNvPicPr>
          <p:nvPr isPhoto="1"/>
        </p:nvPicPr>
        <p:blipFill rotWithShape="1">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r="57725"/>
          <a:stretch/>
        </p:blipFill>
        <p:spPr>
          <a:xfrm>
            <a:off x="304800" y="1774372"/>
            <a:ext cx="5148943" cy="3766456"/>
          </a:xfrm>
          <a:prstGeom prst="rect">
            <a:avLst/>
          </a:prstGeom>
        </p:spPr>
      </p:pic>
      <p:pic>
        <p:nvPicPr>
          <p:cNvPr id="7" name="图片 6" descr="19-3">
            <a:extLst>
              <a:ext uri="{FF2B5EF4-FFF2-40B4-BE49-F238E27FC236}">
                <a16:creationId xmlns:a16="http://schemas.microsoft.com/office/drawing/2014/main" id="{D1181584-7A55-4521-B121-7CC1B2D7BE60}"/>
              </a:ext>
            </a:extLst>
          </p:cNvPr>
          <p:cNvPicPr>
            <a:picLocks noGrp="1" noChangeAspect="1"/>
          </p:cNvPicPr>
          <p:nvPr isPhoto="1"/>
        </p:nvPicPr>
        <p:blipFill rotWithShape="1">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50856"/>
          <a:stretch/>
        </p:blipFill>
        <p:spPr>
          <a:xfrm>
            <a:off x="5786276" y="1643744"/>
            <a:ext cx="5985559" cy="3766456"/>
          </a:xfrm>
          <a:prstGeom prst="rect">
            <a:avLst/>
          </a:prstGeom>
        </p:spPr>
      </p:pic>
    </p:spTree>
    <p:extLst>
      <p:ext uri="{BB962C8B-B14F-4D97-AF65-F5344CB8AC3E}">
        <p14:creationId xmlns:p14="http://schemas.microsoft.com/office/powerpoint/2010/main" val="148205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30251-DE6D-4768-A66F-EB11206563E0}"/>
              </a:ext>
            </a:extLst>
          </p:cNvPr>
          <p:cNvSpPr>
            <a:spLocks noGrp="1"/>
          </p:cNvSpPr>
          <p:nvPr>
            <p:ph type="title"/>
          </p:nvPr>
        </p:nvSpPr>
        <p:spPr>
          <a:xfrm>
            <a:off x="365183" y="0"/>
            <a:ext cx="10515600" cy="725121"/>
          </a:xfrm>
        </p:spPr>
        <p:txBody>
          <a:bodyPr/>
          <a:lstStyle/>
          <a:p>
            <a:r>
              <a:rPr lang="zh-CN" altLang="en-US" dirty="0"/>
              <a:t>第二节 进化理论</a:t>
            </a:r>
          </a:p>
        </p:txBody>
      </p:sp>
      <p:sp>
        <p:nvSpPr>
          <p:cNvPr id="6" name="内容占位符 5">
            <a:extLst>
              <a:ext uri="{FF2B5EF4-FFF2-40B4-BE49-F238E27FC236}">
                <a16:creationId xmlns:a16="http://schemas.microsoft.com/office/drawing/2014/main" id="{F65C43E6-4A9C-4759-AFA5-0E2F29AC35FC}"/>
              </a:ext>
            </a:extLst>
          </p:cNvPr>
          <p:cNvSpPr>
            <a:spLocks noGrp="1"/>
          </p:cNvSpPr>
          <p:nvPr>
            <p:ph sz="half" idx="1"/>
          </p:nvPr>
        </p:nvSpPr>
        <p:spPr>
          <a:xfrm>
            <a:off x="0" y="1525308"/>
            <a:ext cx="9209314" cy="4183569"/>
          </a:xfrm>
        </p:spPr>
        <p:txBody>
          <a:bodyPr vert="horz" lIns="91440" tIns="45720" rIns="91440" bIns="45720" rtlCol="0">
            <a:normAutofit/>
          </a:bodyPr>
          <a:lstStyle/>
          <a:p>
            <a:pPr marL="0" lvl="1" indent="0">
              <a:lnSpc>
                <a:spcPct val="110000"/>
              </a:lnSpc>
              <a:spcBef>
                <a:spcPts val="1200"/>
              </a:spcBef>
            </a:pPr>
            <a:r>
              <a:rPr lang="zh-CN" altLang="en-US" sz="2400" dirty="0"/>
              <a:t>包括人在内的一切物种都是由别的物种演变而来的，生物在不断地同时缓慢地变异，从低等向高等逐级进化。</a:t>
            </a:r>
            <a:endParaRPr lang="en-US" altLang="zh-CN" sz="2400" dirty="0"/>
          </a:p>
          <a:p>
            <a:pPr marL="0" lvl="1" indent="0">
              <a:lnSpc>
                <a:spcPct val="110000"/>
              </a:lnSpc>
              <a:spcBef>
                <a:spcPts val="1200"/>
              </a:spcBef>
            </a:pPr>
            <a:r>
              <a:rPr lang="zh-CN" altLang="en-US" sz="2400" dirty="0"/>
              <a:t>物种（</a:t>
            </a:r>
            <a:r>
              <a:rPr lang="en-US" altLang="zh-CN" sz="2400" dirty="0"/>
              <a:t>species</a:t>
            </a:r>
            <a:r>
              <a:rPr lang="zh-CN" altLang="en-US" sz="2400" dirty="0"/>
              <a:t>）不是恒定不变的类群，而是由祖先种不断进化而来。</a:t>
            </a:r>
            <a:endParaRPr lang="en-US" altLang="zh-CN" sz="2400" dirty="0"/>
          </a:p>
          <a:p>
            <a:pPr marL="0" lvl="1" indent="0">
              <a:lnSpc>
                <a:spcPct val="110000"/>
              </a:lnSpc>
              <a:spcBef>
                <a:spcPts val="1200"/>
              </a:spcBef>
            </a:pPr>
            <a:r>
              <a:rPr lang="zh-CN" altLang="en-US" sz="2400" dirty="0"/>
              <a:t>在分析生物进化的动力时，拉马克提出了来自内、外的两种力量，并认为来自外部的环境作用更大</a:t>
            </a:r>
            <a:r>
              <a:rPr lang="en-US" altLang="zh-CN" sz="2400" dirty="0"/>
              <a:t>——</a:t>
            </a:r>
            <a:r>
              <a:rPr lang="zh-CN" altLang="en-US" sz="2400" b="1" dirty="0"/>
              <a:t>环境变化使生物发生适应性变化</a:t>
            </a:r>
            <a:r>
              <a:rPr lang="zh-CN" altLang="en-US" sz="2400" dirty="0"/>
              <a:t>，而环境的多样性是构成生物多样性的主要原因。</a:t>
            </a:r>
            <a:endParaRPr lang="en-US" altLang="zh-CN" sz="2400" dirty="0"/>
          </a:p>
          <a:p>
            <a:pPr marL="0" lvl="1" indent="0">
              <a:lnSpc>
                <a:spcPct val="110000"/>
              </a:lnSpc>
              <a:spcBef>
                <a:spcPts val="1200"/>
              </a:spcBef>
            </a:pPr>
            <a:r>
              <a:rPr lang="en-US" altLang="zh-CN" sz="2400" dirty="0"/>
              <a:t>1802 </a:t>
            </a:r>
            <a:r>
              <a:rPr lang="zh-CN" altLang="en-US" sz="2400" dirty="0"/>
              <a:t>年提出用</a:t>
            </a:r>
            <a:r>
              <a:rPr lang="zh-CN" altLang="en-US" sz="2400" b="1" dirty="0">
                <a:solidFill>
                  <a:srgbClr val="FF0000"/>
                </a:solidFill>
              </a:rPr>
              <a:t>进废退学说或获得性状遗传学说</a:t>
            </a:r>
            <a:r>
              <a:rPr lang="zh-CN" altLang="en-US" sz="2400" dirty="0"/>
              <a:t>。</a:t>
            </a:r>
          </a:p>
        </p:txBody>
      </p:sp>
      <p:sp>
        <p:nvSpPr>
          <p:cNvPr id="7" name="标题 1">
            <a:extLst>
              <a:ext uri="{FF2B5EF4-FFF2-40B4-BE49-F238E27FC236}">
                <a16:creationId xmlns:a16="http://schemas.microsoft.com/office/drawing/2014/main" id="{07935693-C44C-4F20-9072-D73CFB3E3334}"/>
              </a:ext>
            </a:extLst>
          </p:cNvPr>
          <p:cNvSpPr txBox="1">
            <a:spLocks/>
          </p:cNvSpPr>
          <p:nvPr/>
        </p:nvSpPr>
        <p:spPr>
          <a:xfrm>
            <a:off x="565636" y="792091"/>
            <a:ext cx="5872869" cy="599997"/>
          </a:xfrm>
          <a:prstGeom prst="rect">
            <a:avLst/>
          </a:prstGeom>
        </p:spPr>
        <p:txBody>
          <a:bodyPr vert="horz" lIns="91440" tIns="45720" rIns="91440" bIns="45720" rtlCol="0" anchor="ctr">
            <a:normAutofit fontScale="92500"/>
          </a:bodyPr>
          <a:lstStyle>
            <a:lvl1pPr>
              <a:lnSpc>
                <a:spcPct val="90000"/>
              </a:lnSpc>
              <a:spcBef>
                <a:spcPct val="0"/>
              </a:spcBef>
              <a:buNone/>
              <a:defRPr sz="3200" b="1">
                <a:solidFill>
                  <a:srgbClr val="1207F7"/>
                </a:solidFill>
                <a:latin typeface="黑体" pitchFamily="49" charset="-122"/>
                <a:ea typeface="黑体" pitchFamily="49" charset="-122"/>
                <a:cs typeface="+mj-cs"/>
              </a:defRPr>
            </a:lvl1pPr>
          </a:lstStyle>
          <a:p>
            <a:r>
              <a:rPr lang="zh-CN" altLang="en-US" dirty="0"/>
              <a:t>一、拉马克的获得性状遗传学说</a:t>
            </a:r>
          </a:p>
        </p:txBody>
      </p:sp>
      <p:pic>
        <p:nvPicPr>
          <p:cNvPr id="8" name="图片 7">
            <a:extLst>
              <a:ext uri="{FF2B5EF4-FFF2-40B4-BE49-F238E27FC236}">
                <a16:creationId xmlns:a16="http://schemas.microsoft.com/office/drawing/2014/main" id="{3E802456-91E1-4E42-99AA-9F7D66D15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6630" y="1392088"/>
            <a:ext cx="2226981" cy="2691743"/>
          </a:xfrm>
          <a:prstGeom prst="rect">
            <a:avLst/>
          </a:prstGeom>
        </p:spPr>
      </p:pic>
      <p:sp>
        <p:nvSpPr>
          <p:cNvPr id="9" name="矩形 8">
            <a:extLst>
              <a:ext uri="{FF2B5EF4-FFF2-40B4-BE49-F238E27FC236}">
                <a16:creationId xmlns:a16="http://schemas.microsoft.com/office/drawing/2014/main" id="{27BCABC4-10B4-48D4-9FC3-9EAE08EEBED0}"/>
              </a:ext>
            </a:extLst>
          </p:cNvPr>
          <p:cNvSpPr/>
          <p:nvPr/>
        </p:nvSpPr>
        <p:spPr>
          <a:xfrm>
            <a:off x="8708242" y="4083831"/>
            <a:ext cx="3483758" cy="646331"/>
          </a:xfrm>
          <a:prstGeom prst="rect">
            <a:avLst/>
          </a:prstGeom>
        </p:spPr>
        <p:txBody>
          <a:bodyPr wrap="square">
            <a:spAutoFit/>
          </a:bodyPr>
          <a:lstStyle/>
          <a:p>
            <a:pPr algn="ctr"/>
            <a:r>
              <a:rPr lang="fr-FR" altLang="zh-CN" sz="1200" dirty="0">
                <a:latin typeface="Calibri" panose="020F0502020204030204" pitchFamily="34" charset="0"/>
                <a:cs typeface="Calibri" panose="020F0502020204030204" pitchFamily="34" charset="0"/>
              </a:rPr>
              <a:t>Jean-Baptiste Lamarck</a:t>
            </a:r>
            <a:endParaRPr lang="en-US" altLang="zh-CN" sz="1200" dirty="0">
              <a:latin typeface="Calibri" panose="020F0502020204030204" pitchFamily="34" charset="0"/>
              <a:cs typeface="Calibri" panose="020F0502020204030204" pitchFamily="34" charset="0"/>
            </a:endParaRPr>
          </a:p>
          <a:p>
            <a:pPr algn="ctr"/>
            <a:r>
              <a:rPr lang="en-US" altLang="zh-CN" sz="1200" dirty="0">
                <a:latin typeface="Calibri" panose="020F0502020204030204" pitchFamily="34" charset="0"/>
                <a:cs typeface="Calibri" panose="020F0502020204030204" pitchFamily="34" charset="0"/>
              </a:rPr>
              <a:t>(</a:t>
            </a:r>
            <a:r>
              <a:rPr lang="fr-FR" altLang="zh-CN" sz="1200" dirty="0">
                <a:latin typeface="Calibri" panose="020F0502020204030204" pitchFamily="34" charset="0"/>
                <a:cs typeface="Calibri" panose="020F0502020204030204" pitchFamily="34" charset="0"/>
              </a:rPr>
              <a:t>1744-1829)</a:t>
            </a:r>
          </a:p>
          <a:p>
            <a:pPr algn="ctr"/>
            <a:r>
              <a:rPr lang="en-US" altLang="zh-CN" sz="1200" dirty="0">
                <a:latin typeface="Calibri" panose="020F0502020204030204" pitchFamily="34" charset="0"/>
                <a:cs typeface="Calibri" panose="020F0502020204030204" pitchFamily="34" charset="0"/>
              </a:rPr>
              <a:t>French naturalist</a:t>
            </a:r>
            <a:endParaRPr lang="zh-CN" altLang="en-US" sz="1600" dirty="0"/>
          </a:p>
        </p:txBody>
      </p:sp>
    </p:spTree>
    <p:extLst>
      <p:ext uri="{BB962C8B-B14F-4D97-AF65-F5344CB8AC3E}">
        <p14:creationId xmlns:p14="http://schemas.microsoft.com/office/powerpoint/2010/main" val="3237129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44DD9A1-E3C2-4F47-919B-6B89154EB5F8}"/>
              </a:ext>
            </a:extLst>
          </p:cNvPr>
          <p:cNvSpPr>
            <a:spLocks noGrp="1"/>
          </p:cNvSpPr>
          <p:nvPr>
            <p:ph type="title"/>
          </p:nvPr>
        </p:nvSpPr>
        <p:spPr>
          <a:xfrm>
            <a:off x="304381" y="0"/>
            <a:ext cx="10515600" cy="725121"/>
          </a:xfrm>
        </p:spPr>
        <p:txBody>
          <a:bodyPr/>
          <a:lstStyle/>
          <a:p>
            <a:r>
              <a:rPr lang="zh-CN" altLang="en-US" dirty="0"/>
              <a:t>二、 达尔文的自然选择学说</a:t>
            </a:r>
          </a:p>
        </p:txBody>
      </p:sp>
      <p:pic>
        <p:nvPicPr>
          <p:cNvPr id="6" name="图片 5">
            <a:extLst>
              <a:ext uri="{FF2B5EF4-FFF2-40B4-BE49-F238E27FC236}">
                <a16:creationId xmlns:a16="http://schemas.microsoft.com/office/drawing/2014/main" id="{CF1F4E02-DBB0-457A-BC8A-58893A7CE834}"/>
              </a:ext>
            </a:extLst>
          </p:cNvPr>
          <p:cNvPicPr>
            <a:picLocks noChangeAspect="1"/>
          </p:cNvPicPr>
          <p:nvPr/>
        </p:nvPicPr>
        <p:blipFill>
          <a:blip r:embed="rId2"/>
          <a:stretch>
            <a:fillRect/>
          </a:stretch>
        </p:blipFill>
        <p:spPr>
          <a:xfrm>
            <a:off x="1007436" y="862728"/>
            <a:ext cx="9901295" cy="4667214"/>
          </a:xfrm>
          <a:prstGeom prst="rect">
            <a:avLst/>
          </a:prstGeom>
        </p:spPr>
      </p:pic>
    </p:spTree>
    <p:extLst>
      <p:ext uri="{BB962C8B-B14F-4D97-AF65-F5344CB8AC3E}">
        <p14:creationId xmlns:p14="http://schemas.microsoft.com/office/powerpoint/2010/main" val="165442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492A387-A0F8-4486-9596-690D6F308883}"/>
              </a:ext>
            </a:extLst>
          </p:cNvPr>
          <p:cNvSpPr>
            <a:spLocks noGrp="1"/>
          </p:cNvSpPr>
          <p:nvPr>
            <p:ph type="title"/>
          </p:nvPr>
        </p:nvSpPr>
        <p:spPr>
          <a:xfrm>
            <a:off x="337038" y="78990"/>
            <a:ext cx="10515600" cy="725121"/>
          </a:xfrm>
        </p:spPr>
        <p:txBody>
          <a:bodyPr/>
          <a:lstStyle/>
          <a:p>
            <a:r>
              <a:rPr lang="zh-CN" altLang="en-US" dirty="0"/>
              <a:t>五、 群体中的遗传平衡</a:t>
            </a:r>
          </a:p>
        </p:txBody>
      </p:sp>
      <p:sp>
        <p:nvSpPr>
          <p:cNvPr id="5" name="内容占位符 4">
            <a:extLst>
              <a:ext uri="{FF2B5EF4-FFF2-40B4-BE49-F238E27FC236}">
                <a16:creationId xmlns:a16="http://schemas.microsoft.com/office/drawing/2014/main" id="{7BE82E2A-A962-4DF7-B3E6-BC7432094F1D}"/>
              </a:ext>
            </a:extLst>
          </p:cNvPr>
          <p:cNvSpPr>
            <a:spLocks noGrp="1"/>
          </p:cNvSpPr>
          <p:nvPr>
            <p:ph sz="half" idx="1"/>
          </p:nvPr>
        </p:nvSpPr>
        <p:spPr>
          <a:xfrm>
            <a:off x="0" y="775912"/>
            <a:ext cx="8882755" cy="3077631"/>
          </a:xfrm>
        </p:spPr>
        <p:txBody>
          <a:bodyPr vert="horz" lIns="91440" tIns="45720" rIns="91440" bIns="45720" rtlCol="0">
            <a:normAutofit/>
          </a:bodyPr>
          <a:lstStyle/>
          <a:p>
            <a:pPr marL="0" lvl="1" indent="0">
              <a:lnSpc>
                <a:spcPct val="110000"/>
              </a:lnSpc>
              <a:spcBef>
                <a:spcPts val="1200"/>
              </a:spcBef>
              <a:buNone/>
            </a:pPr>
            <a:r>
              <a:rPr lang="zh-CN" altLang="en-US" sz="2400" dirty="0"/>
              <a:t>哈代和温伯格先后独立证明，如果一个群体符合：</a:t>
            </a:r>
            <a:endParaRPr lang="en-US" altLang="zh-CN" sz="2400" dirty="0"/>
          </a:p>
          <a:p>
            <a:pPr marL="0" lvl="1" indent="0">
              <a:lnSpc>
                <a:spcPct val="110000"/>
              </a:lnSpc>
              <a:spcBef>
                <a:spcPts val="1200"/>
              </a:spcBef>
              <a:buNone/>
            </a:pPr>
            <a:r>
              <a:rPr lang="zh-CN" altLang="en-US" sz="2400" b="1" dirty="0">
                <a:solidFill>
                  <a:srgbClr val="1207F7"/>
                </a:solidFill>
              </a:rPr>
              <a:t>①群体无限大；②随机交配；③没有突变；④没有任何形式的自然选择；⑤没有迁移</a:t>
            </a:r>
            <a:endParaRPr lang="en-US" altLang="zh-CN" sz="2400" b="1" dirty="0">
              <a:solidFill>
                <a:srgbClr val="1207F7"/>
              </a:solidFill>
            </a:endParaRPr>
          </a:p>
          <a:p>
            <a:pPr marL="0" lvl="1" indent="0">
              <a:lnSpc>
                <a:spcPct val="110000"/>
              </a:lnSpc>
              <a:spcBef>
                <a:spcPts val="1200"/>
              </a:spcBef>
              <a:buNone/>
            </a:pPr>
            <a:r>
              <a:rPr lang="zh-CN" altLang="en-US" sz="2400" dirty="0"/>
              <a:t>这些条件，那么群体中各基因型的比例可从一代到另一代维持不变，被称为</a:t>
            </a:r>
            <a:r>
              <a:rPr lang="zh-CN" altLang="en-US" sz="2400" b="1" dirty="0">
                <a:solidFill>
                  <a:srgbClr val="FF0000"/>
                </a:solidFill>
              </a:rPr>
              <a:t>遗传平衡定律</a:t>
            </a:r>
            <a:r>
              <a:rPr lang="zh-CN" altLang="en-US" sz="2400" dirty="0"/>
              <a:t>（</a:t>
            </a:r>
            <a:r>
              <a:rPr lang="en-US" altLang="zh-CN" sz="2400" dirty="0"/>
              <a:t>law of genetic equilibrium</a:t>
            </a:r>
            <a:r>
              <a:rPr lang="zh-CN" altLang="en-US" sz="2400" dirty="0"/>
              <a:t>），又称为</a:t>
            </a:r>
            <a:r>
              <a:rPr lang="zh-CN" altLang="en-US" sz="2400" b="1" dirty="0">
                <a:solidFill>
                  <a:srgbClr val="FF0000"/>
                </a:solidFill>
              </a:rPr>
              <a:t>哈代 </a:t>
            </a:r>
            <a:r>
              <a:rPr lang="en-US" altLang="zh-CN" sz="2400" b="1" dirty="0">
                <a:solidFill>
                  <a:srgbClr val="FF0000"/>
                </a:solidFill>
              </a:rPr>
              <a:t>- </a:t>
            </a:r>
            <a:r>
              <a:rPr lang="zh-CN" altLang="en-US" sz="2400" b="1" dirty="0">
                <a:solidFill>
                  <a:srgbClr val="FF0000"/>
                </a:solidFill>
              </a:rPr>
              <a:t>温伯格定律</a:t>
            </a:r>
            <a:r>
              <a:rPr lang="zh-CN" altLang="en-US" sz="2400" dirty="0"/>
              <a:t>（</a:t>
            </a:r>
            <a:r>
              <a:rPr lang="en-US" altLang="zh-CN" sz="2400" dirty="0"/>
              <a:t>Hardy Weinberg equilibrium</a:t>
            </a:r>
            <a:r>
              <a:rPr lang="zh-CN" altLang="en-US" sz="2400" dirty="0"/>
              <a:t>）。</a:t>
            </a:r>
            <a:endParaRPr lang="en-US" altLang="zh-CN" sz="2400" dirty="0"/>
          </a:p>
        </p:txBody>
      </p:sp>
      <p:pic>
        <p:nvPicPr>
          <p:cNvPr id="6" name="内容占位符 4">
            <a:extLst>
              <a:ext uri="{FF2B5EF4-FFF2-40B4-BE49-F238E27FC236}">
                <a16:creationId xmlns:a16="http://schemas.microsoft.com/office/drawing/2014/main" id="{D8246BB6-4788-4EED-9582-61C6A5D9E9BF}"/>
              </a:ext>
            </a:extLst>
          </p:cNvPr>
          <p:cNvPicPr>
            <a:picLocks noChangeAspect="1"/>
          </p:cNvPicPr>
          <p:nvPr/>
        </p:nvPicPr>
        <p:blipFill rotWithShape="1">
          <a:blip r:embed="rId3">
            <a:extLst>
              <a:ext uri="{28A0092B-C50C-407E-A947-70E740481C1C}">
                <a14:useLocalDpi xmlns:a14="http://schemas.microsoft.com/office/drawing/2010/main" val="0"/>
              </a:ext>
            </a:extLst>
          </a:blip>
          <a:srcRect r="50219"/>
          <a:stretch/>
        </p:blipFill>
        <p:spPr>
          <a:xfrm>
            <a:off x="9405869" y="664456"/>
            <a:ext cx="1587587" cy="2328083"/>
          </a:xfrm>
          <a:prstGeom prst="rect">
            <a:avLst/>
          </a:prstGeom>
        </p:spPr>
      </p:pic>
      <p:pic>
        <p:nvPicPr>
          <p:cNvPr id="7" name="Picture 4">
            <a:extLst>
              <a:ext uri="{FF2B5EF4-FFF2-40B4-BE49-F238E27FC236}">
                <a16:creationId xmlns:a16="http://schemas.microsoft.com/office/drawing/2014/main" id="{01D128C1-0E4C-4632-8CBC-4213352AC0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9936" b="126"/>
          <a:stretch/>
        </p:blipFill>
        <p:spPr bwMode="auto">
          <a:xfrm>
            <a:off x="9405869" y="3599762"/>
            <a:ext cx="1636790" cy="2329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BCB15367-9F94-4C5D-9BD1-EF3B29405889}"/>
              </a:ext>
            </a:extLst>
          </p:cNvPr>
          <p:cNvSpPr txBox="1"/>
          <p:nvPr/>
        </p:nvSpPr>
        <p:spPr>
          <a:xfrm>
            <a:off x="9424738" y="2953431"/>
            <a:ext cx="1635769" cy="646331"/>
          </a:xfrm>
          <a:prstGeom prst="rect">
            <a:avLst/>
          </a:prstGeom>
          <a:noFill/>
        </p:spPr>
        <p:txBody>
          <a:bodyPr wrap="none" rtlCol="0">
            <a:spAutoFit/>
          </a:bodyPr>
          <a:lstStyle/>
          <a:p>
            <a:pPr algn="ctr"/>
            <a:r>
              <a:rPr lang="en-US" altLang="zh-CN" sz="1200" dirty="0"/>
              <a:t>Godfrey Harold Hardy</a:t>
            </a:r>
          </a:p>
          <a:p>
            <a:pPr algn="ctr"/>
            <a:r>
              <a:rPr lang="zh-CN" altLang="en-US" sz="1200" dirty="0"/>
              <a:t>（</a:t>
            </a:r>
            <a:r>
              <a:rPr lang="en-US" altLang="zh-CN" sz="1200" dirty="0"/>
              <a:t>1877-1947</a:t>
            </a:r>
            <a:r>
              <a:rPr lang="zh-CN" altLang="en-US" sz="1200" dirty="0"/>
              <a:t>）</a:t>
            </a:r>
            <a:endParaRPr lang="en-US" altLang="zh-CN" sz="1200" dirty="0"/>
          </a:p>
          <a:p>
            <a:pPr algn="ctr"/>
            <a:r>
              <a:rPr lang="en-US" altLang="zh-CN" sz="1200" dirty="0"/>
              <a:t>English mathematician </a:t>
            </a:r>
            <a:endParaRPr lang="zh-CN" altLang="en-US" sz="1200" dirty="0"/>
          </a:p>
        </p:txBody>
      </p:sp>
      <p:sp>
        <p:nvSpPr>
          <p:cNvPr id="9" name="TextBox 8">
            <a:extLst>
              <a:ext uri="{FF2B5EF4-FFF2-40B4-BE49-F238E27FC236}">
                <a16:creationId xmlns:a16="http://schemas.microsoft.com/office/drawing/2014/main" id="{6E35574C-ABD5-4865-AB59-11E230D15111}"/>
              </a:ext>
            </a:extLst>
          </p:cNvPr>
          <p:cNvSpPr txBox="1"/>
          <p:nvPr/>
        </p:nvSpPr>
        <p:spPr>
          <a:xfrm>
            <a:off x="9131329" y="5891414"/>
            <a:ext cx="2291012" cy="646331"/>
          </a:xfrm>
          <a:prstGeom prst="rect">
            <a:avLst/>
          </a:prstGeom>
          <a:noFill/>
        </p:spPr>
        <p:txBody>
          <a:bodyPr wrap="none" rtlCol="0">
            <a:spAutoFit/>
          </a:bodyPr>
          <a:lstStyle/>
          <a:p>
            <a:pPr algn="ctr"/>
            <a:r>
              <a:rPr lang="en-US" altLang="zh-CN" sz="1200" dirty="0"/>
              <a:t>Wilhelm Weinberg</a:t>
            </a:r>
          </a:p>
          <a:p>
            <a:pPr algn="ctr"/>
            <a:r>
              <a:rPr lang="en-US" altLang="zh-CN" sz="1200" dirty="0"/>
              <a:t>(1862—1937)</a:t>
            </a:r>
          </a:p>
          <a:p>
            <a:pPr algn="ctr"/>
            <a:r>
              <a:rPr lang="en-US" altLang="zh-CN" sz="1200" dirty="0"/>
              <a:t>German obstetrician-gynecologist</a:t>
            </a:r>
            <a:endParaRPr lang="zh-CN" altLang="en-US" sz="1200" dirty="0"/>
          </a:p>
        </p:txBody>
      </p:sp>
      <p:sp>
        <p:nvSpPr>
          <p:cNvPr id="10" name="内容占位符 3">
            <a:extLst>
              <a:ext uri="{FF2B5EF4-FFF2-40B4-BE49-F238E27FC236}">
                <a16:creationId xmlns:a16="http://schemas.microsoft.com/office/drawing/2014/main" id="{7B4A1FD7-E234-406D-B4DE-CA35E7C42F61}"/>
              </a:ext>
            </a:extLst>
          </p:cNvPr>
          <p:cNvSpPr txBox="1">
            <a:spLocks/>
          </p:cNvSpPr>
          <p:nvPr/>
        </p:nvSpPr>
        <p:spPr>
          <a:xfrm>
            <a:off x="0" y="4106161"/>
            <a:ext cx="8882743" cy="1565295"/>
          </a:xfrm>
          <a:prstGeom prst="rect">
            <a:avLst/>
          </a:prstGeom>
        </p:spPr>
        <p:txBody>
          <a:bodyPr vert="horz" lIns="91440" tIns="45720" rIns="91440" bIns="45720" rtlCol="0">
            <a:noAutofit/>
          </a:bodyPr>
          <a:lstStyle>
            <a:lvl1pPr marL="457200" indent="-457200" algn="l" defTabSz="914400" rtl="0" eaLnBrk="1" latinLnBrk="0" hangingPunct="1">
              <a:lnSpc>
                <a:spcPct val="90000"/>
              </a:lnSpc>
              <a:spcBef>
                <a:spcPts val="1000"/>
              </a:spcBef>
              <a:buFont typeface="+mj-lt"/>
              <a:buAutoNum type="arabicPeriod"/>
              <a:defRPr sz="2400" b="1" kern="1200">
                <a:solidFill>
                  <a:srgbClr val="1207F7"/>
                </a:solidFill>
                <a:latin typeface="Times New Roman" panose="02020603050405020304" pitchFamily="18" charset="0"/>
                <a:ea typeface="黑体"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endParaRPr lang="en-US" altLang="zh-CN" b="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088746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84534" y="5138449"/>
            <a:ext cx="4304383" cy="535531"/>
          </a:xfrm>
          <a:prstGeom prst="rect">
            <a:avLst/>
          </a:prstGeom>
        </p:spPr>
        <p:txBody>
          <a:bodyPr vert="horz" lIns="91440" tIns="45720" rIns="91440" bIns="45720" rtlCol="0" anchor="ctr">
            <a:normAutofit/>
          </a:bodyPr>
          <a:lstStyle/>
          <a:p>
            <a:pPr>
              <a:lnSpc>
                <a:spcPct val="90000"/>
              </a:lnSpc>
              <a:spcBef>
                <a:spcPct val="0"/>
              </a:spcBef>
            </a:pPr>
            <a:r>
              <a:rPr lang="zh-CN" altLang="en-US" sz="3200" b="1" dirty="0">
                <a:solidFill>
                  <a:srgbClr val="1207F7"/>
                </a:solidFill>
                <a:latin typeface="黑体" pitchFamily="49" charset="-122"/>
                <a:ea typeface="黑体" pitchFamily="49" charset="-122"/>
                <a:cs typeface="+mj-cs"/>
              </a:rPr>
              <a:t>这个群体是平衡的吗？</a:t>
            </a:r>
            <a:endParaRPr lang="en-US" altLang="zh-CN" sz="3200" b="1" dirty="0">
              <a:solidFill>
                <a:srgbClr val="1207F7"/>
              </a:solidFill>
              <a:latin typeface="黑体" pitchFamily="49" charset="-122"/>
              <a:ea typeface="黑体" pitchFamily="49" charset="-122"/>
              <a:cs typeface="+mj-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6075" y="0"/>
            <a:ext cx="8899153" cy="4708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0787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BACEBED-FA7F-486E-BD6A-47849E806C93}"/>
              </a:ext>
            </a:extLst>
          </p:cNvPr>
          <p:cNvSpPr txBox="1"/>
          <p:nvPr/>
        </p:nvSpPr>
        <p:spPr>
          <a:xfrm>
            <a:off x="0" y="4253817"/>
            <a:ext cx="4802414" cy="1200329"/>
          </a:xfrm>
          <a:prstGeom prst="rect">
            <a:avLst/>
          </a:prstGeom>
          <a:noFill/>
        </p:spPr>
        <p:txBody>
          <a:bodyPr vert="horz" wrap="square" lIns="91440" tIns="45720" rIns="91440" bIns="45720" rtlCol="0">
            <a:spAutoFit/>
          </a:bodyPr>
          <a:lstStyle>
            <a:defPPr>
              <a:defRPr lang="zh-CN"/>
            </a:defPPr>
            <a:lvl1pPr marL="342900" indent="-342900">
              <a:lnSpc>
                <a:spcPct val="150000"/>
              </a:lnSpc>
              <a:spcBef>
                <a:spcPts val="1000"/>
              </a:spcBef>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vl2pPr marL="685800" indent="-228600">
              <a:lnSpc>
                <a:spcPct val="90000"/>
              </a:lnSpc>
              <a:spcBef>
                <a:spcPts val="500"/>
              </a:spcBef>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sz="2400" dirty="0">
                <a:solidFill>
                  <a:srgbClr val="FF0000"/>
                </a:solidFill>
              </a:rPr>
              <a:t>计算得 </a:t>
            </a:r>
            <a:r>
              <a:rPr lang="en-US" altLang="zh-CN" sz="2400" dirty="0">
                <a:solidFill>
                  <a:srgbClr val="FF0000"/>
                </a:solidFill>
              </a:rPr>
              <a:t>χ</a:t>
            </a:r>
            <a:r>
              <a:rPr lang="en-US" altLang="zh-CN" sz="2400" baseline="30000" dirty="0">
                <a:solidFill>
                  <a:srgbClr val="FF0000"/>
                </a:solidFill>
              </a:rPr>
              <a:t>2 </a:t>
            </a:r>
            <a:r>
              <a:rPr lang="en-US" altLang="zh-CN" sz="2400" dirty="0">
                <a:solidFill>
                  <a:srgbClr val="FF0000"/>
                </a:solidFill>
              </a:rPr>
              <a:t>=1.77</a:t>
            </a:r>
            <a:r>
              <a:rPr lang="zh-CN" altLang="en-US" sz="2400" dirty="0">
                <a:solidFill>
                  <a:srgbClr val="FF0000"/>
                </a:solidFill>
              </a:rPr>
              <a:t>，</a:t>
            </a:r>
            <a:r>
              <a:rPr lang="en-US" altLang="zh-CN" sz="2400" dirty="0">
                <a:solidFill>
                  <a:srgbClr val="FF0000"/>
                </a:solidFill>
              </a:rPr>
              <a:t>P</a:t>
            </a:r>
            <a:r>
              <a:rPr lang="zh-CN" altLang="en-US" sz="2400" dirty="0">
                <a:solidFill>
                  <a:srgbClr val="FF0000"/>
                </a:solidFill>
              </a:rPr>
              <a:t>＞</a:t>
            </a:r>
            <a:r>
              <a:rPr lang="en-US" altLang="zh-CN" sz="2400" dirty="0">
                <a:solidFill>
                  <a:srgbClr val="FF0000"/>
                </a:solidFill>
              </a:rPr>
              <a:t>0.10</a:t>
            </a:r>
            <a:r>
              <a:rPr lang="zh-CN" altLang="en-US" sz="2400" dirty="0">
                <a:solidFill>
                  <a:srgbClr val="FF0000"/>
                </a:solidFill>
              </a:rPr>
              <a:t>，表明 </a:t>
            </a:r>
            <a:r>
              <a:rPr lang="en-US" altLang="zh-CN" sz="2400" dirty="0">
                <a:solidFill>
                  <a:srgbClr val="FF0000"/>
                </a:solidFill>
              </a:rPr>
              <a:t>3 </a:t>
            </a:r>
            <a:r>
              <a:rPr lang="zh-CN" altLang="en-US" sz="2400" dirty="0">
                <a:solidFill>
                  <a:srgbClr val="FF0000"/>
                </a:solidFill>
              </a:rPr>
              <a:t>种基因型频率符合遗传平衡定律。</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414" y="2872273"/>
            <a:ext cx="7389586" cy="4066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1561" b="2434"/>
          <a:stretch/>
        </p:blipFill>
        <p:spPr bwMode="auto">
          <a:xfrm>
            <a:off x="0" y="1"/>
            <a:ext cx="6814457" cy="310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521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FE760B3-DCE3-4DD8-9AE1-9207F88185D8}"/>
              </a:ext>
            </a:extLst>
          </p:cNvPr>
          <p:cNvSpPr>
            <a:spLocks noGrp="1"/>
          </p:cNvSpPr>
          <p:nvPr>
            <p:ph type="title"/>
          </p:nvPr>
        </p:nvSpPr>
        <p:spPr>
          <a:xfrm>
            <a:off x="558177" y="100761"/>
            <a:ext cx="10515600" cy="519725"/>
          </a:xfrm>
        </p:spPr>
        <p:txBody>
          <a:bodyPr>
            <a:normAutofit fontScale="90000"/>
          </a:bodyPr>
          <a:lstStyle/>
          <a:p>
            <a:r>
              <a:rPr lang="zh-CN" altLang="en-US" dirty="0"/>
              <a:t>六、 突变与群体的基因频率</a:t>
            </a:r>
          </a:p>
        </p:txBody>
      </p:sp>
      <p:sp>
        <p:nvSpPr>
          <p:cNvPr id="5" name="内容占位符 4">
            <a:extLst>
              <a:ext uri="{FF2B5EF4-FFF2-40B4-BE49-F238E27FC236}">
                <a16:creationId xmlns:a16="http://schemas.microsoft.com/office/drawing/2014/main" id="{24C9B423-AF56-441B-BD71-A2E8AA188EBB}"/>
              </a:ext>
            </a:extLst>
          </p:cNvPr>
          <p:cNvSpPr>
            <a:spLocks noGrp="1"/>
          </p:cNvSpPr>
          <p:nvPr>
            <p:ph sz="half" idx="1"/>
          </p:nvPr>
        </p:nvSpPr>
        <p:spPr>
          <a:xfrm>
            <a:off x="0" y="757108"/>
            <a:ext cx="12192000" cy="3406330"/>
          </a:xfrm>
        </p:spPr>
        <p:txBody>
          <a:bodyPr vert="horz" lIns="91440" tIns="45720" rIns="91440" bIns="45720" rtlCol="0">
            <a:normAutofit/>
          </a:bodyPr>
          <a:lstStyle/>
          <a:p>
            <a:pPr marL="0" lvl="1" indent="0">
              <a:lnSpc>
                <a:spcPct val="110000"/>
              </a:lnSpc>
              <a:spcBef>
                <a:spcPts val="1200"/>
              </a:spcBef>
            </a:pPr>
            <a:r>
              <a:rPr lang="zh-CN" altLang="en-US" sz="2400" dirty="0"/>
              <a:t>假如一群体某一基因座上有 </a:t>
            </a:r>
            <a:r>
              <a:rPr lang="en-US" altLang="zh-CN" sz="2400" dirty="0"/>
              <a:t>A </a:t>
            </a:r>
            <a:r>
              <a:rPr lang="zh-CN" altLang="en-US" sz="2400" dirty="0"/>
              <a:t>和 </a:t>
            </a:r>
            <a:r>
              <a:rPr lang="en-US" altLang="zh-CN" sz="2400" dirty="0"/>
              <a:t>a </a:t>
            </a:r>
            <a:r>
              <a:rPr lang="zh-CN" altLang="en-US" sz="2400" dirty="0"/>
              <a:t>两个等位基因类型。</a:t>
            </a:r>
            <a:r>
              <a:rPr lang="zh-CN" altLang="en-US" sz="2400" b="1" dirty="0"/>
              <a:t>设 </a:t>
            </a:r>
            <a:r>
              <a:rPr lang="en-US" altLang="zh-CN" sz="2400" b="1" dirty="0"/>
              <a:t>a </a:t>
            </a:r>
            <a:r>
              <a:rPr lang="zh-CN" altLang="en-US" sz="2400" b="1" dirty="0"/>
              <a:t>基因的频率为 </a:t>
            </a:r>
            <a:r>
              <a:rPr lang="en-US" altLang="zh-CN" sz="2400" b="1" dirty="0"/>
              <a:t>q</a:t>
            </a:r>
            <a:r>
              <a:rPr lang="zh-CN" altLang="en-US" sz="2400" dirty="0"/>
              <a:t>，则 </a:t>
            </a:r>
            <a:r>
              <a:rPr lang="en-US" altLang="zh-CN" sz="2400" dirty="0"/>
              <a:t>A </a:t>
            </a:r>
            <a:r>
              <a:rPr lang="zh-CN" altLang="en-US" sz="2400" dirty="0"/>
              <a:t>基因的频率为 </a:t>
            </a:r>
            <a:r>
              <a:rPr lang="en-US" altLang="zh-CN" sz="2400" dirty="0"/>
              <a:t>p = 1- q</a:t>
            </a:r>
            <a:r>
              <a:rPr lang="zh-CN" altLang="en-US" sz="2400" dirty="0"/>
              <a:t>。</a:t>
            </a:r>
            <a:r>
              <a:rPr lang="zh-CN" altLang="en-US" sz="2400" b="1" dirty="0"/>
              <a:t>设 </a:t>
            </a:r>
            <a:r>
              <a:rPr lang="en-US" altLang="zh-CN" sz="2400" b="1" dirty="0"/>
              <a:t>A </a:t>
            </a:r>
            <a:r>
              <a:rPr lang="zh-CN" altLang="en-US" sz="2400" b="1" dirty="0"/>
              <a:t>突变为 </a:t>
            </a:r>
            <a:r>
              <a:rPr lang="en-US" altLang="zh-CN" sz="2400" b="1" dirty="0"/>
              <a:t>a </a:t>
            </a:r>
            <a:r>
              <a:rPr lang="zh-CN" altLang="en-US" sz="2400" b="1" dirty="0"/>
              <a:t>的突变率为 </a:t>
            </a:r>
            <a:r>
              <a:rPr lang="en-US" altLang="zh-CN" sz="2400" b="1" dirty="0"/>
              <a:t>u</a:t>
            </a:r>
            <a:r>
              <a:rPr lang="zh-CN" altLang="en-US" sz="2400" b="1" dirty="0"/>
              <a:t>，</a:t>
            </a:r>
            <a:r>
              <a:rPr lang="en-US" altLang="zh-CN" sz="2400" b="1" dirty="0"/>
              <a:t>a </a:t>
            </a:r>
            <a:r>
              <a:rPr lang="zh-CN" altLang="en-US" sz="2400" b="1" dirty="0"/>
              <a:t>回复突变为 </a:t>
            </a:r>
            <a:r>
              <a:rPr lang="en-US" altLang="zh-CN" sz="2400" b="1" dirty="0"/>
              <a:t>A </a:t>
            </a:r>
            <a:r>
              <a:rPr lang="zh-CN" altLang="en-US" sz="2400" b="1" dirty="0"/>
              <a:t>的突变率为 </a:t>
            </a:r>
            <a:r>
              <a:rPr lang="en-US" altLang="zh-CN" sz="2400" b="1" dirty="0"/>
              <a:t>v</a:t>
            </a:r>
            <a:r>
              <a:rPr lang="zh-CN" altLang="en-US" sz="2400" dirty="0"/>
              <a:t>。则每一代中共有</a:t>
            </a:r>
            <a:r>
              <a:rPr lang="en-US" altLang="zh-CN" sz="2400" dirty="0"/>
              <a:t>(1-q)u </a:t>
            </a:r>
            <a:r>
              <a:rPr lang="zh-CN" altLang="en-US" sz="2400" dirty="0"/>
              <a:t>的 </a:t>
            </a:r>
            <a:r>
              <a:rPr lang="en-US" altLang="zh-CN" sz="2400" dirty="0"/>
              <a:t>A </a:t>
            </a:r>
            <a:r>
              <a:rPr lang="zh-CN" altLang="en-US" sz="2400" dirty="0"/>
              <a:t>突变为 </a:t>
            </a:r>
            <a:r>
              <a:rPr lang="en-US" altLang="zh-CN" sz="2400" dirty="0"/>
              <a:t>a</a:t>
            </a:r>
            <a:r>
              <a:rPr lang="zh-CN" altLang="en-US" sz="2400" dirty="0"/>
              <a:t>，有 </a:t>
            </a:r>
            <a:r>
              <a:rPr lang="en-US" altLang="zh-CN" sz="2400" dirty="0"/>
              <a:t>qv </a:t>
            </a:r>
            <a:r>
              <a:rPr lang="zh-CN" altLang="en-US" sz="2400" dirty="0"/>
              <a:t>的 </a:t>
            </a:r>
            <a:r>
              <a:rPr lang="en-US" altLang="zh-CN" sz="2400" dirty="0"/>
              <a:t>a </a:t>
            </a:r>
            <a:r>
              <a:rPr lang="zh-CN" altLang="en-US" sz="2400" dirty="0"/>
              <a:t>突变为 </a:t>
            </a:r>
            <a:r>
              <a:rPr lang="en-US" altLang="zh-CN" sz="2400" dirty="0"/>
              <a:t>A</a:t>
            </a:r>
            <a:r>
              <a:rPr lang="zh-CN" altLang="en-US" sz="2400" dirty="0"/>
              <a:t>。</a:t>
            </a:r>
            <a:endParaRPr lang="en-US" altLang="zh-CN" sz="2400" dirty="0"/>
          </a:p>
          <a:p>
            <a:pPr marL="0" lvl="1" indent="0">
              <a:lnSpc>
                <a:spcPct val="110000"/>
              </a:lnSpc>
              <a:spcBef>
                <a:spcPts val="1200"/>
              </a:spcBef>
              <a:buNone/>
            </a:pPr>
            <a:r>
              <a:rPr lang="zh-CN" altLang="en-US" sz="2400" dirty="0"/>
              <a:t>         若</a:t>
            </a:r>
            <a:r>
              <a:rPr lang="en-US" altLang="zh-CN" sz="2400" dirty="0"/>
              <a:t>(1-q)u</a:t>
            </a:r>
            <a:r>
              <a:rPr lang="zh-CN" altLang="en-US" sz="2400" dirty="0"/>
              <a:t>＞</a:t>
            </a:r>
            <a:r>
              <a:rPr lang="en-US" altLang="zh-CN" sz="2400" dirty="0"/>
              <a:t>qv</a:t>
            </a:r>
            <a:r>
              <a:rPr lang="zh-CN" altLang="en-US" sz="2400" dirty="0"/>
              <a:t>，则 </a:t>
            </a:r>
            <a:r>
              <a:rPr lang="en-US" altLang="zh-CN" sz="2400" dirty="0"/>
              <a:t>a </a:t>
            </a:r>
            <a:r>
              <a:rPr lang="zh-CN" altLang="en-US" sz="2400" dirty="0"/>
              <a:t>的频率增加；</a:t>
            </a:r>
            <a:endParaRPr lang="en-US" altLang="zh-CN" sz="2400" dirty="0"/>
          </a:p>
          <a:p>
            <a:pPr marL="0" lvl="1" indent="0">
              <a:lnSpc>
                <a:spcPct val="110000"/>
              </a:lnSpc>
              <a:spcBef>
                <a:spcPts val="1200"/>
              </a:spcBef>
              <a:buNone/>
            </a:pPr>
            <a:r>
              <a:rPr lang="zh-CN" altLang="en-US" sz="2400" dirty="0"/>
              <a:t>         若</a:t>
            </a:r>
            <a:r>
              <a:rPr lang="en-US" altLang="zh-CN" sz="2400" dirty="0"/>
              <a:t>(1-q)u</a:t>
            </a:r>
            <a:r>
              <a:rPr lang="zh-CN" altLang="en-US" sz="2400" dirty="0"/>
              <a:t>＜</a:t>
            </a:r>
            <a:r>
              <a:rPr lang="en-US" altLang="zh-CN" sz="2400" dirty="0"/>
              <a:t>qv</a:t>
            </a:r>
            <a:r>
              <a:rPr lang="zh-CN" altLang="en-US" sz="2400" dirty="0"/>
              <a:t>，则 </a:t>
            </a:r>
            <a:r>
              <a:rPr lang="en-US" altLang="zh-CN" sz="2400" dirty="0"/>
              <a:t>A </a:t>
            </a:r>
            <a:r>
              <a:rPr lang="zh-CN" altLang="en-US" sz="2400" dirty="0"/>
              <a:t>的频率增加。</a:t>
            </a:r>
            <a:endParaRPr lang="en-US" altLang="zh-CN" sz="2400" dirty="0"/>
          </a:p>
          <a:p>
            <a:pPr marL="0" lvl="1" indent="0">
              <a:lnSpc>
                <a:spcPct val="110000"/>
              </a:lnSpc>
              <a:spcBef>
                <a:spcPts val="1200"/>
              </a:spcBef>
              <a:buNone/>
            </a:pPr>
            <a:r>
              <a:rPr lang="zh-CN" altLang="en-US" sz="2400" dirty="0"/>
              <a:t>         若</a:t>
            </a:r>
            <a:r>
              <a:rPr lang="en-US" altLang="zh-CN" sz="2400" dirty="0"/>
              <a:t>(1-q)u = qv</a:t>
            </a:r>
            <a:r>
              <a:rPr lang="zh-CN" altLang="en-US" sz="2400" dirty="0"/>
              <a:t>，则基因频率 </a:t>
            </a:r>
            <a:r>
              <a:rPr lang="en-US" altLang="zh-CN" sz="2400" dirty="0"/>
              <a:t>q </a:t>
            </a:r>
            <a:r>
              <a:rPr lang="zh-CN" altLang="en-US" sz="2400" dirty="0"/>
              <a:t>保持不变，处于平衡状态。</a:t>
            </a:r>
          </a:p>
        </p:txBody>
      </p:sp>
      <p:sp>
        <p:nvSpPr>
          <p:cNvPr id="7" name="文本框 6">
            <a:extLst>
              <a:ext uri="{FF2B5EF4-FFF2-40B4-BE49-F238E27FC236}">
                <a16:creationId xmlns:a16="http://schemas.microsoft.com/office/drawing/2014/main" id="{121E528E-850B-4B27-9626-B34B0E988686}"/>
              </a:ext>
            </a:extLst>
          </p:cNvPr>
          <p:cNvSpPr txBox="1"/>
          <p:nvPr/>
        </p:nvSpPr>
        <p:spPr>
          <a:xfrm>
            <a:off x="0" y="4163438"/>
            <a:ext cx="12192000" cy="643575"/>
          </a:xfrm>
          <a:prstGeom prst="rect">
            <a:avLst/>
          </a:prstGeom>
        </p:spPr>
        <p:txBody>
          <a:bodyPr vert="horz" lIns="91440" tIns="45720" rIns="91440" bIns="45720" rtlCol="0">
            <a:normAutofit/>
          </a:bodyPr>
          <a:lstStyle>
            <a:lvl1pPr marL="457200" indent="-457200">
              <a:lnSpc>
                <a:spcPct val="110000"/>
              </a:lnSpc>
              <a:spcBef>
                <a:spcPts val="1000"/>
              </a:spcBef>
              <a:buFont typeface="+mj-lt"/>
              <a:buAutoNum type="arabicPeriod"/>
              <a:defRPr sz="2000" b="1">
                <a:solidFill>
                  <a:srgbClr val="0000FF"/>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b="1" dirty="0">
                <a:solidFill>
                  <a:srgbClr val="1207F7"/>
                </a:solidFill>
              </a:rPr>
              <a:t>在平衡时，</a:t>
            </a:r>
            <a:r>
              <a:rPr lang="en-US" altLang="zh-CN" b="1" dirty="0">
                <a:solidFill>
                  <a:srgbClr val="1207F7"/>
                </a:solidFill>
              </a:rPr>
              <a:t> (1-q)u = qv </a:t>
            </a:r>
            <a:r>
              <a:rPr lang="zh-CN" altLang="en-US" b="1" dirty="0">
                <a:solidFill>
                  <a:srgbClr val="1207F7"/>
                </a:solidFill>
              </a:rPr>
              <a:t>，因此平衡时的基因频率完全由突变率 </a:t>
            </a:r>
            <a:r>
              <a:rPr lang="en-US" altLang="zh-CN" b="1" dirty="0">
                <a:solidFill>
                  <a:srgbClr val="1207F7"/>
                </a:solidFill>
              </a:rPr>
              <a:t>u </a:t>
            </a:r>
            <a:r>
              <a:rPr lang="zh-CN" altLang="en-US" b="1" dirty="0">
                <a:solidFill>
                  <a:srgbClr val="1207F7"/>
                </a:solidFill>
              </a:rPr>
              <a:t>和 </a:t>
            </a:r>
            <a:r>
              <a:rPr lang="en-US" altLang="zh-CN" b="1" dirty="0">
                <a:solidFill>
                  <a:srgbClr val="1207F7"/>
                </a:solidFill>
              </a:rPr>
              <a:t>v </a:t>
            </a:r>
            <a:r>
              <a:rPr lang="zh-CN" altLang="en-US" b="1" dirty="0">
                <a:solidFill>
                  <a:srgbClr val="1207F7"/>
                </a:solidFill>
              </a:rPr>
              <a:t>决定。</a:t>
            </a:r>
          </a:p>
        </p:txBody>
      </p:sp>
      <p:pic>
        <p:nvPicPr>
          <p:cNvPr id="9" name="图片 8">
            <a:extLst>
              <a:ext uri="{FF2B5EF4-FFF2-40B4-BE49-F238E27FC236}">
                <a16:creationId xmlns:a16="http://schemas.microsoft.com/office/drawing/2014/main" id="{5C0C89E9-5371-42E6-9D3B-0D98694E5881}"/>
              </a:ext>
            </a:extLst>
          </p:cNvPr>
          <p:cNvPicPr>
            <a:picLocks noChangeAspect="1"/>
          </p:cNvPicPr>
          <p:nvPr/>
        </p:nvPicPr>
        <p:blipFill>
          <a:blip r:embed="rId3"/>
          <a:stretch>
            <a:fillRect/>
          </a:stretch>
        </p:blipFill>
        <p:spPr>
          <a:xfrm>
            <a:off x="3971311" y="4859921"/>
            <a:ext cx="2192783" cy="1240971"/>
          </a:xfrm>
          <a:prstGeom prst="rect">
            <a:avLst/>
          </a:prstGeom>
        </p:spPr>
      </p:pic>
    </p:spTree>
    <p:extLst>
      <p:ext uri="{BB962C8B-B14F-4D97-AF65-F5344CB8AC3E}">
        <p14:creationId xmlns:p14="http://schemas.microsoft.com/office/powerpoint/2010/main" val="273534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121FF3-3F12-413A-AA26-4DE0E308BD5A}"/>
              </a:ext>
            </a:extLst>
          </p:cNvPr>
          <p:cNvSpPr>
            <a:spLocks noGrp="1"/>
          </p:cNvSpPr>
          <p:nvPr>
            <p:ph type="title"/>
          </p:nvPr>
        </p:nvSpPr>
        <p:spPr>
          <a:xfrm>
            <a:off x="271724" y="78991"/>
            <a:ext cx="10515600" cy="725121"/>
          </a:xfrm>
        </p:spPr>
        <p:txBody>
          <a:bodyPr/>
          <a:lstStyle/>
          <a:p>
            <a:r>
              <a:rPr lang="zh-CN" altLang="en-US" dirty="0"/>
              <a:t>七、 选择与群体的基因频率</a:t>
            </a:r>
          </a:p>
        </p:txBody>
      </p:sp>
      <p:pic>
        <p:nvPicPr>
          <p:cNvPr id="8" name="图片 7" descr="19-7">
            <a:extLst>
              <a:ext uri="{FF2B5EF4-FFF2-40B4-BE49-F238E27FC236}">
                <a16:creationId xmlns:a16="http://schemas.microsoft.com/office/drawing/2014/main" id="{866DFB6E-268E-4F07-9F45-475F4378B93F}"/>
              </a:ext>
            </a:extLst>
          </p:cNvPr>
          <p:cNvPicPr>
            <a:picLocks noGrp="1" noChangeAspect="1"/>
          </p:cNvPicPr>
          <p:nvPr isPhoto="1"/>
        </p:nvPicPr>
        <p:blipFill rotWithShape="1">
          <a:blip r:embed="rId2" cstate="print">
            <a:lum/>
            <a:extLst>
              <a:ext uri="{28A0092B-C50C-407E-A947-70E740481C1C}">
                <a14:useLocalDpi xmlns:a14="http://schemas.microsoft.com/office/drawing/2010/main" val="0"/>
              </a:ext>
            </a:extLst>
          </a:blip>
          <a:srcRect r="-23"/>
          <a:stretch/>
        </p:blipFill>
        <p:spPr>
          <a:xfrm>
            <a:off x="710354" y="1117360"/>
            <a:ext cx="10771292" cy="3947175"/>
          </a:xfrm>
          <a:prstGeom prst="rect">
            <a:avLst/>
          </a:prstGeom>
        </p:spPr>
      </p:pic>
      <p:sp>
        <p:nvSpPr>
          <p:cNvPr id="9" name="文本框 8">
            <a:extLst>
              <a:ext uri="{FF2B5EF4-FFF2-40B4-BE49-F238E27FC236}">
                <a16:creationId xmlns:a16="http://schemas.microsoft.com/office/drawing/2014/main" id="{86F554B2-331E-4FFB-8150-2AF4D00970C7}"/>
              </a:ext>
            </a:extLst>
          </p:cNvPr>
          <p:cNvSpPr txBox="1"/>
          <p:nvPr/>
        </p:nvSpPr>
        <p:spPr>
          <a:xfrm>
            <a:off x="3377431" y="5453592"/>
            <a:ext cx="5437138" cy="338554"/>
          </a:xfrm>
          <a:prstGeom prst="rect">
            <a:avLst/>
          </a:prstGeom>
          <a:solidFill>
            <a:srgbClr val="EDEEF2"/>
          </a:solid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600" dirty="0">
                <a:solidFill>
                  <a:srgbClr val="3A5991"/>
                </a:solidFill>
              </a:rPr>
              <a:t>椒花蛾的浅色型和黑色型</a:t>
            </a:r>
          </a:p>
        </p:txBody>
      </p:sp>
    </p:spTree>
    <p:extLst>
      <p:ext uri="{BB962C8B-B14F-4D97-AF65-F5344CB8AC3E}">
        <p14:creationId xmlns:p14="http://schemas.microsoft.com/office/powerpoint/2010/main" val="4008661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E9FA7C91-3AAC-4B12-AA1E-B280543A77C4}"/>
              </a:ext>
            </a:extLst>
          </p:cNvPr>
          <p:cNvSpPr txBox="1">
            <a:spLocks noGrp="1"/>
          </p:cNvSpPr>
          <p:nvPr>
            <p:ph sz="half" idx="1"/>
          </p:nvPr>
        </p:nvSpPr>
        <p:spPr>
          <a:xfrm>
            <a:off x="0" y="1164331"/>
            <a:ext cx="12192000" cy="2502997"/>
          </a:xfrm>
          <a:prstGeom prst="rect">
            <a:avLst/>
          </a:prstGeom>
        </p:spPr>
        <p:txBody>
          <a:bodyPr vert="horz" lIns="91440" tIns="45720" rIns="91440" bIns="45720" rtlCol="0">
            <a:normAutofit/>
          </a:bodyPr>
          <a:lstStyle/>
          <a:p>
            <a:pPr marL="0" lvl="1" indent="0">
              <a:lnSpc>
                <a:spcPct val="110000"/>
              </a:lnSpc>
              <a:spcBef>
                <a:spcPts val="1200"/>
              </a:spcBef>
            </a:pPr>
            <a:r>
              <a:rPr lang="zh-CN" altLang="en-US" sz="2400" dirty="0"/>
              <a:t>为了对自然选择进行定量的研究，可以为各种基因型定出</a:t>
            </a:r>
            <a:r>
              <a:rPr lang="zh-CN" altLang="en-US" sz="2400" b="1" dirty="0">
                <a:solidFill>
                  <a:srgbClr val="FF0000"/>
                </a:solidFill>
              </a:rPr>
              <a:t>适合度</a:t>
            </a:r>
            <a:r>
              <a:rPr lang="zh-CN" altLang="en-US" sz="2400" dirty="0"/>
              <a:t>（</a:t>
            </a:r>
            <a:r>
              <a:rPr lang="en-US" altLang="zh-CN" sz="2400" dirty="0"/>
              <a:t>fitness</a:t>
            </a:r>
            <a:r>
              <a:rPr lang="zh-CN" altLang="en-US" sz="2400" dirty="0"/>
              <a:t>），一般记作 </a:t>
            </a:r>
            <a:r>
              <a:rPr lang="en-US" altLang="zh-CN" sz="2400" b="1" dirty="0">
                <a:solidFill>
                  <a:srgbClr val="FF0000"/>
                </a:solidFill>
              </a:rPr>
              <a:t>W</a:t>
            </a:r>
            <a:r>
              <a:rPr lang="zh-CN" altLang="en-US" sz="2400" dirty="0"/>
              <a:t>，</a:t>
            </a:r>
            <a:r>
              <a:rPr lang="zh-CN" altLang="en-US" sz="2400" b="1" dirty="0"/>
              <a:t>是指携带某一基因型的个体跟其他基因型相比时，能够存活并留下子裔的相对能力</a:t>
            </a:r>
            <a:r>
              <a:rPr lang="zh-CN" altLang="en-US" sz="2400" dirty="0"/>
              <a:t>。一般将适合度最高的基因型定为 </a:t>
            </a:r>
            <a:r>
              <a:rPr lang="en-US" altLang="zh-CN" sz="2400" dirty="0"/>
              <a:t>W = 1</a:t>
            </a:r>
            <a:r>
              <a:rPr lang="zh-CN" altLang="en-US" sz="2400" dirty="0"/>
              <a:t>，其他基因型的 </a:t>
            </a:r>
            <a:r>
              <a:rPr lang="en-US" altLang="zh-CN" sz="2400" dirty="0"/>
              <a:t>W ≤ 1</a:t>
            </a:r>
            <a:r>
              <a:rPr lang="zh-CN" altLang="en-US" sz="2400" dirty="0"/>
              <a:t>。</a:t>
            </a:r>
            <a:endParaRPr lang="en-US" altLang="zh-CN" sz="2400" dirty="0"/>
          </a:p>
          <a:p>
            <a:pPr marL="0" lvl="1" indent="0">
              <a:lnSpc>
                <a:spcPct val="110000"/>
              </a:lnSpc>
              <a:spcBef>
                <a:spcPts val="1200"/>
              </a:spcBef>
            </a:pPr>
            <a:r>
              <a:rPr lang="zh-CN" altLang="en-US" sz="2400" b="1" dirty="0">
                <a:solidFill>
                  <a:srgbClr val="FF0000"/>
                </a:solidFill>
              </a:rPr>
              <a:t>选择系数</a:t>
            </a:r>
            <a:r>
              <a:rPr lang="zh-CN" altLang="en-US" sz="2400" dirty="0"/>
              <a:t>（</a:t>
            </a:r>
            <a:r>
              <a:rPr lang="en-US" altLang="zh-CN" sz="2400" dirty="0"/>
              <a:t>selective coefficient</a:t>
            </a:r>
            <a:r>
              <a:rPr lang="zh-CN" altLang="en-US" sz="2400" dirty="0"/>
              <a:t>）记作 </a:t>
            </a:r>
            <a:r>
              <a:rPr lang="en-US" altLang="zh-CN" sz="2400" b="1" dirty="0">
                <a:solidFill>
                  <a:srgbClr val="FF0000"/>
                </a:solidFill>
              </a:rPr>
              <a:t>s</a:t>
            </a:r>
            <a:r>
              <a:rPr lang="zh-CN" altLang="en-US" sz="2400" dirty="0"/>
              <a:t>。</a:t>
            </a:r>
            <a:r>
              <a:rPr lang="en-US" altLang="zh-CN" sz="2400" b="1" dirty="0"/>
              <a:t>s </a:t>
            </a:r>
            <a:r>
              <a:rPr lang="zh-CN" altLang="en-US" sz="2400" b="1" dirty="0"/>
              <a:t>是在选择作用下降低的适合度</a:t>
            </a:r>
            <a:r>
              <a:rPr lang="zh-CN" altLang="en-US" sz="2400" dirty="0"/>
              <a:t>，</a:t>
            </a:r>
            <a:r>
              <a:rPr lang="zh-CN" altLang="en-US" sz="2400" b="1" dirty="0"/>
              <a:t>即 </a:t>
            </a:r>
            <a:r>
              <a:rPr lang="en-US" altLang="zh-CN" sz="2400" b="1" dirty="0"/>
              <a:t>s = 1-W</a:t>
            </a:r>
            <a:r>
              <a:rPr lang="zh-CN" altLang="en-US" sz="2400" dirty="0"/>
              <a:t>。</a:t>
            </a:r>
            <a:endParaRPr lang="en-US" altLang="zh-CN" sz="2400" dirty="0"/>
          </a:p>
        </p:txBody>
      </p:sp>
      <p:sp>
        <p:nvSpPr>
          <p:cNvPr id="2" name="矩形 1"/>
          <p:cNvSpPr/>
          <p:nvPr/>
        </p:nvSpPr>
        <p:spPr>
          <a:xfrm>
            <a:off x="197222" y="265191"/>
            <a:ext cx="4511171" cy="535531"/>
          </a:xfrm>
          <a:prstGeom prst="rect">
            <a:avLst/>
          </a:prstGeom>
        </p:spPr>
        <p:txBody>
          <a:bodyPr vert="horz" lIns="91440" tIns="45720" rIns="91440" bIns="45720" rtlCol="0" anchor="ctr">
            <a:normAutofit/>
          </a:bodyPr>
          <a:lstStyle/>
          <a:p>
            <a:pPr>
              <a:lnSpc>
                <a:spcPct val="90000"/>
              </a:lnSpc>
              <a:spcBef>
                <a:spcPct val="0"/>
              </a:spcBef>
            </a:pPr>
            <a:r>
              <a:rPr lang="zh-CN" altLang="en-US" sz="3200" b="1" dirty="0">
                <a:solidFill>
                  <a:srgbClr val="1207F7"/>
                </a:solidFill>
                <a:latin typeface="黑体" pitchFamily="49" charset="-122"/>
                <a:ea typeface="黑体" pitchFamily="49" charset="-122"/>
                <a:cs typeface="+mj-cs"/>
              </a:rPr>
              <a:t>（</a:t>
            </a:r>
            <a:r>
              <a:rPr lang="en-US" altLang="zh-CN" sz="3200" b="1" dirty="0">
                <a:solidFill>
                  <a:srgbClr val="1207F7"/>
                </a:solidFill>
                <a:latin typeface="黑体" pitchFamily="49" charset="-122"/>
                <a:ea typeface="黑体" pitchFamily="49" charset="-122"/>
                <a:cs typeface="+mj-cs"/>
              </a:rPr>
              <a:t>1</a:t>
            </a:r>
            <a:r>
              <a:rPr lang="zh-CN" altLang="en-US" sz="3200" b="1" dirty="0">
                <a:solidFill>
                  <a:srgbClr val="1207F7"/>
                </a:solidFill>
                <a:latin typeface="黑体" pitchFamily="49" charset="-122"/>
                <a:ea typeface="黑体" pitchFamily="49" charset="-122"/>
                <a:cs typeface="+mj-cs"/>
              </a:rPr>
              <a:t>）适合度和选择系数</a:t>
            </a:r>
            <a:endParaRPr lang="en-US" altLang="zh-CN" sz="3200" b="1" dirty="0">
              <a:solidFill>
                <a:srgbClr val="1207F7"/>
              </a:solidFill>
              <a:latin typeface="黑体" pitchFamily="49" charset="-122"/>
              <a:ea typeface="黑体" pitchFamily="49" charset="-122"/>
              <a:cs typeface="+mj-cs"/>
            </a:endParaRPr>
          </a:p>
        </p:txBody>
      </p:sp>
    </p:spTree>
    <p:extLst>
      <p:ext uri="{BB962C8B-B14F-4D97-AF65-F5344CB8AC3E}">
        <p14:creationId xmlns:p14="http://schemas.microsoft.com/office/powerpoint/2010/main" val="441737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B0CC464-DA9D-4627-9E17-0D267B233C95}"/>
              </a:ext>
            </a:extLst>
          </p:cNvPr>
          <p:cNvSpPr>
            <a:spLocks noGrp="1"/>
          </p:cNvSpPr>
          <p:nvPr>
            <p:ph type="title"/>
          </p:nvPr>
        </p:nvSpPr>
        <p:spPr>
          <a:xfrm>
            <a:off x="478552" y="0"/>
            <a:ext cx="10515600" cy="587829"/>
          </a:xfrm>
        </p:spPr>
        <p:txBody>
          <a:bodyPr vert="horz" lIns="91440" tIns="45720" rIns="91440" bIns="45720" rtlCol="0" anchor="ctr">
            <a:normAutofit/>
          </a:bodyPr>
          <a:lstStyle/>
          <a:p>
            <a:r>
              <a:rPr lang="zh-CN" altLang="en-US" dirty="0"/>
              <a:t>（</a:t>
            </a:r>
            <a:r>
              <a:rPr lang="en-US" altLang="zh-CN" dirty="0"/>
              <a:t>2</a:t>
            </a:r>
            <a:r>
              <a:rPr lang="zh-CN" altLang="en-US" dirty="0"/>
              <a:t>）选择对隐性纯合子不利　</a:t>
            </a:r>
          </a:p>
        </p:txBody>
      </p:sp>
      <p:sp>
        <p:nvSpPr>
          <p:cNvPr id="5" name="内容占位符 4">
            <a:extLst>
              <a:ext uri="{FF2B5EF4-FFF2-40B4-BE49-F238E27FC236}">
                <a16:creationId xmlns:a16="http://schemas.microsoft.com/office/drawing/2014/main" id="{0BF88E7B-27DF-4EE3-9FD9-7927D8F05A1D}"/>
              </a:ext>
            </a:extLst>
          </p:cNvPr>
          <p:cNvSpPr>
            <a:spLocks noGrp="1"/>
          </p:cNvSpPr>
          <p:nvPr>
            <p:ph sz="half" idx="1"/>
          </p:nvPr>
        </p:nvSpPr>
        <p:spPr>
          <a:xfrm>
            <a:off x="0" y="479981"/>
            <a:ext cx="12192000" cy="1372260"/>
          </a:xfrm>
        </p:spPr>
        <p:txBody>
          <a:bodyPr vert="horz" lIns="91440" tIns="45720" rIns="91440" bIns="45720" rtlCol="0">
            <a:normAutofit/>
          </a:bodyPr>
          <a:lstStyle/>
          <a:p>
            <a:pPr marL="0" lvl="1" indent="0">
              <a:lnSpc>
                <a:spcPct val="110000"/>
              </a:lnSpc>
              <a:spcBef>
                <a:spcPts val="1200"/>
              </a:spcBef>
            </a:pPr>
            <a:r>
              <a:rPr lang="zh-CN" altLang="en-US" sz="2400" dirty="0"/>
              <a:t>假设高等生物的一个群体中某一基因座上有一对基因之差，对应</a:t>
            </a:r>
            <a:r>
              <a:rPr lang="en-US" altLang="zh-CN" sz="2400" dirty="0"/>
              <a:t>3</a:t>
            </a:r>
            <a:r>
              <a:rPr lang="zh-CN" altLang="en-US" sz="2400" dirty="0"/>
              <a:t>种可能的基因型：</a:t>
            </a:r>
            <a:r>
              <a:rPr lang="en-US" altLang="zh-CN" sz="2400" dirty="0"/>
              <a:t>AA</a:t>
            </a:r>
            <a:r>
              <a:rPr lang="zh-CN" altLang="en-US" sz="2400" dirty="0"/>
              <a:t>、</a:t>
            </a:r>
            <a:r>
              <a:rPr lang="en-US" altLang="zh-CN" sz="2400" dirty="0" err="1"/>
              <a:t>Aa</a:t>
            </a:r>
            <a:r>
              <a:rPr lang="zh-CN" altLang="en-US" sz="2400" dirty="0"/>
              <a:t>和</a:t>
            </a:r>
            <a:r>
              <a:rPr lang="en-US" altLang="zh-CN" sz="2400" dirty="0" err="1"/>
              <a:t>aa</a:t>
            </a:r>
            <a:r>
              <a:rPr lang="zh-CN" altLang="en-US" sz="2400" dirty="0"/>
              <a:t>。选择的有效程度也与显性的程度有关。如果显性完全，杂合子 </a:t>
            </a:r>
            <a:r>
              <a:rPr lang="en-US" altLang="zh-CN" sz="2400" dirty="0"/>
              <a:t>Aa </a:t>
            </a:r>
            <a:r>
              <a:rPr lang="zh-CN" altLang="en-US" sz="2400" dirty="0"/>
              <a:t>和纯合子 </a:t>
            </a:r>
            <a:r>
              <a:rPr lang="en-US" altLang="zh-CN" sz="2400" dirty="0"/>
              <a:t>AA </a:t>
            </a:r>
            <a:r>
              <a:rPr lang="zh-CN" altLang="en-US" sz="2400" dirty="0"/>
              <a:t>在表型上一 样，不受选择的作用。</a:t>
            </a:r>
            <a:r>
              <a:rPr lang="zh-CN" altLang="en-US" sz="2400" b="1" dirty="0"/>
              <a:t>而隐性纯合子是有害的，在选择上不利，适合度为</a:t>
            </a:r>
            <a:r>
              <a:rPr lang="en-US" altLang="zh-CN" sz="2400" b="1" dirty="0"/>
              <a:t>1-s</a:t>
            </a:r>
            <a:r>
              <a:rPr lang="zh-CN" altLang="en-US" sz="2400" dirty="0"/>
              <a:t>。</a:t>
            </a:r>
          </a:p>
        </p:txBody>
      </p:sp>
      <p:pic>
        <p:nvPicPr>
          <p:cNvPr id="4" name="图片 3">
            <a:extLst>
              <a:ext uri="{FF2B5EF4-FFF2-40B4-BE49-F238E27FC236}">
                <a16:creationId xmlns:a16="http://schemas.microsoft.com/office/drawing/2014/main" id="{444A8DD5-008B-4FFB-B31D-3B562DA7CE79}"/>
              </a:ext>
            </a:extLst>
          </p:cNvPr>
          <p:cNvPicPr>
            <a:picLocks noChangeAspect="1"/>
          </p:cNvPicPr>
          <p:nvPr/>
        </p:nvPicPr>
        <p:blipFill rotWithShape="1">
          <a:blip r:embed="rId2"/>
          <a:srcRect l="2722" t="12043" r="1821" b="3010"/>
          <a:stretch/>
        </p:blipFill>
        <p:spPr>
          <a:xfrm>
            <a:off x="772885" y="1754270"/>
            <a:ext cx="10526485" cy="4403560"/>
          </a:xfrm>
          <a:prstGeom prst="rect">
            <a:avLst/>
          </a:prstGeom>
        </p:spPr>
      </p:pic>
      <p:sp>
        <p:nvSpPr>
          <p:cNvPr id="11" name="文本框 10">
            <a:extLst>
              <a:ext uri="{FF2B5EF4-FFF2-40B4-BE49-F238E27FC236}">
                <a16:creationId xmlns:a16="http://schemas.microsoft.com/office/drawing/2014/main" id="{FBBA9116-0900-4F2E-99B6-0A87DA56D84D}"/>
              </a:ext>
            </a:extLst>
          </p:cNvPr>
          <p:cNvSpPr txBox="1"/>
          <p:nvPr/>
        </p:nvSpPr>
        <p:spPr>
          <a:xfrm>
            <a:off x="2635802" y="6241004"/>
            <a:ext cx="3375109" cy="400110"/>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2000" b="1" dirty="0">
                <a:latin typeface="Times New Roman" panose="02020603050405020304" pitchFamily="18" charset="0"/>
                <a:cs typeface="Times New Roman" panose="02020603050405020304" pitchFamily="18" charset="0"/>
              </a:rPr>
              <a:t>s </a:t>
            </a:r>
            <a:r>
              <a:rPr lang="zh-CN" altLang="en-US" sz="2000" b="1" dirty="0">
                <a:latin typeface="Times New Roman" panose="02020603050405020304" pitchFamily="18" charset="0"/>
                <a:cs typeface="Times New Roman" panose="02020603050405020304" pitchFamily="18" charset="0"/>
              </a:rPr>
              <a:t>很小时，公式可以近似于</a:t>
            </a:r>
          </a:p>
        </p:txBody>
      </p:sp>
      <p:pic>
        <p:nvPicPr>
          <p:cNvPr id="13" name="图片 12">
            <a:extLst>
              <a:ext uri="{FF2B5EF4-FFF2-40B4-BE49-F238E27FC236}">
                <a16:creationId xmlns:a16="http://schemas.microsoft.com/office/drawing/2014/main" id="{562E73A3-6D87-4329-AA2C-C13AF4F441CD}"/>
              </a:ext>
            </a:extLst>
          </p:cNvPr>
          <p:cNvPicPr>
            <a:picLocks noChangeAspect="1"/>
          </p:cNvPicPr>
          <p:nvPr/>
        </p:nvPicPr>
        <p:blipFill>
          <a:blip r:embed="rId3"/>
          <a:stretch>
            <a:fillRect/>
          </a:stretch>
        </p:blipFill>
        <p:spPr>
          <a:xfrm>
            <a:off x="5825853" y="6172156"/>
            <a:ext cx="2479948" cy="586739"/>
          </a:xfrm>
          <a:prstGeom prst="rect">
            <a:avLst/>
          </a:prstGeom>
        </p:spPr>
      </p:pic>
    </p:spTree>
    <p:extLst>
      <p:ext uri="{BB962C8B-B14F-4D97-AF65-F5344CB8AC3E}">
        <p14:creationId xmlns:p14="http://schemas.microsoft.com/office/powerpoint/2010/main" val="88937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E777C45-B68B-45A7-A999-FB5C7ADE1D02}"/>
              </a:ext>
            </a:extLst>
          </p:cNvPr>
          <p:cNvSpPr>
            <a:spLocks noGrp="1"/>
          </p:cNvSpPr>
          <p:nvPr>
            <p:ph sz="half" idx="1"/>
          </p:nvPr>
        </p:nvSpPr>
        <p:spPr>
          <a:xfrm>
            <a:off x="3908614" y="132646"/>
            <a:ext cx="8283386" cy="1089529"/>
          </a:xfrm>
        </p:spPr>
        <p:txBody>
          <a:bodyPr vert="horz" lIns="91440" tIns="45720" rIns="91440" bIns="45720" rtlCol="0">
            <a:normAutofit/>
          </a:bodyPr>
          <a:lstStyle/>
          <a:p>
            <a:pPr marL="0" indent="0">
              <a:buNone/>
            </a:pPr>
            <a:r>
              <a:rPr lang="zh-CN" altLang="en-US" b="0" dirty="0">
                <a:solidFill>
                  <a:schemeClr val="tx1"/>
                </a:solidFill>
              </a:rPr>
              <a:t>当</a:t>
            </a:r>
            <a:r>
              <a:rPr lang="en-US" altLang="zh-CN" b="0" dirty="0">
                <a:solidFill>
                  <a:schemeClr val="tx1"/>
                </a:solidFill>
              </a:rPr>
              <a:t>q </a:t>
            </a:r>
            <a:r>
              <a:rPr lang="zh-CN" altLang="en-US" b="0" dirty="0">
                <a:solidFill>
                  <a:schemeClr val="tx1"/>
                </a:solidFill>
              </a:rPr>
              <a:t>值较小时，每代等位基因频率的改变是很小的。当 </a:t>
            </a:r>
            <a:r>
              <a:rPr lang="en-US" altLang="zh-CN" b="0" dirty="0">
                <a:solidFill>
                  <a:schemeClr val="tx1"/>
                </a:solidFill>
              </a:rPr>
              <a:t>q</a:t>
            </a:r>
            <a:r>
              <a:rPr lang="zh-CN" altLang="en-US" b="0" dirty="0">
                <a:solidFill>
                  <a:schemeClr val="tx1"/>
                </a:solidFill>
              </a:rPr>
              <a:t>值较大，</a:t>
            </a:r>
            <a:r>
              <a:rPr lang="en-US" altLang="zh-CN" b="0" dirty="0">
                <a:solidFill>
                  <a:schemeClr val="tx1"/>
                </a:solidFill>
              </a:rPr>
              <a:t>q </a:t>
            </a:r>
            <a:r>
              <a:rPr lang="zh-CN" altLang="en-US" b="0" dirty="0">
                <a:solidFill>
                  <a:schemeClr val="tx1"/>
                </a:solidFill>
              </a:rPr>
              <a:t>的改变较大， 而当 </a:t>
            </a:r>
            <a:r>
              <a:rPr lang="en-US" altLang="zh-CN" b="0" dirty="0">
                <a:solidFill>
                  <a:schemeClr val="tx1"/>
                </a:solidFill>
              </a:rPr>
              <a:t>q = 2/3 </a:t>
            </a:r>
            <a:r>
              <a:rPr lang="zh-CN" altLang="en-US" b="0" dirty="0">
                <a:solidFill>
                  <a:schemeClr val="tx1"/>
                </a:solidFill>
              </a:rPr>
              <a:t>时，</a:t>
            </a:r>
            <a:r>
              <a:rPr lang="en-US" altLang="zh-CN" b="0" dirty="0" err="1">
                <a:solidFill>
                  <a:schemeClr val="tx1"/>
                </a:solidFill>
              </a:rPr>
              <a:t>Δq</a:t>
            </a:r>
            <a:r>
              <a:rPr lang="en-US" altLang="zh-CN" b="0" dirty="0">
                <a:solidFill>
                  <a:schemeClr val="tx1"/>
                </a:solidFill>
              </a:rPr>
              <a:t> </a:t>
            </a:r>
            <a:r>
              <a:rPr lang="zh-CN" altLang="en-US" b="0" dirty="0">
                <a:solidFill>
                  <a:schemeClr val="tx1"/>
                </a:solidFill>
              </a:rPr>
              <a:t>达到最大，也就是说，此时自然选择最有效。</a:t>
            </a:r>
          </a:p>
        </p:txBody>
      </p:sp>
      <p:pic>
        <p:nvPicPr>
          <p:cNvPr id="5" name="图片 4">
            <a:extLst>
              <a:ext uri="{FF2B5EF4-FFF2-40B4-BE49-F238E27FC236}">
                <a16:creationId xmlns:a16="http://schemas.microsoft.com/office/drawing/2014/main" id="{F72168DC-3E81-4773-AB9A-82F5647E58BD}"/>
              </a:ext>
            </a:extLst>
          </p:cNvPr>
          <p:cNvPicPr>
            <a:picLocks noChangeAspect="1"/>
          </p:cNvPicPr>
          <p:nvPr/>
        </p:nvPicPr>
        <p:blipFill rotWithShape="1">
          <a:blip r:embed="rId2"/>
          <a:srcRect l="3560" r="4439"/>
          <a:stretch/>
        </p:blipFill>
        <p:spPr>
          <a:xfrm>
            <a:off x="141514" y="147966"/>
            <a:ext cx="3657600" cy="940605"/>
          </a:xfrm>
          <a:prstGeom prst="rect">
            <a:avLst/>
          </a:prstGeom>
        </p:spPr>
      </p:pic>
      <p:sp>
        <p:nvSpPr>
          <p:cNvPr id="7" name="文本框 6">
            <a:extLst>
              <a:ext uri="{FF2B5EF4-FFF2-40B4-BE49-F238E27FC236}">
                <a16:creationId xmlns:a16="http://schemas.microsoft.com/office/drawing/2014/main" id="{F37ECACC-1FCB-4099-98BD-7D428145DDEA}"/>
              </a:ext>
            </a:extLst>
          </p:cNvPr>
          <p:cNvSpPr txBox="1"/>
          <p:nvPr/>
        </p:nvSpPr>
        <p:spPr>
          <a:xfrm>
            <a:off x="0" y="1645095"/>
            <a:ext cx="12192000" cy="2139047"/>
          </a:xfrm>
          <a:prstGeom prst="rect">
            <a:avLst/>
          </a:prstGeom>
        </p:spPr>
        <p:txBody>
          <a:bodyPr vert="horz" lIns="91440" tIns="45720" rIns="91440" bIns="45720" rtlCol="0">
            <a:normAutofit/>
          </a:bodyPr>
          <a:lstStyle>
            <a:lvl1pPr marL="457200" indent="-457200">
              <a:lnSpc>
                <a:spcPct val="90000"/>
              </a:lnSpc>
              <a:spcBef>
                <a:spcPts val="1000"/>
              </a:spcBef>
              <a:buFont typeface="+mj-lt"/>
              <a:buAutoNum type="arabicPeriod"/>
              <a:defRPr sz="2400" b="1">
                <a:solidFill>
                  <a:srgbClr val="1207F7"/>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dirty="0">
                <a:solidFill>
                  <a:schemeClr val="tx1"/>
                </a:solidFill>
              </a:rPr>
              <a:t>假设群体中 </a:t>
            </a:r>
            <a:r>
              <a:rPr lang="en-US" altLang="zh-CN" dirty="0">
                <a:solidFill>
                  <a:schemeClr val="tx1"/>
                </a:solidFill>
              </a:rPr>
              <a:t>a </a:t>
            </a:r>
            <a:r>
              <a:rPr lang="zh-CN" altLang="en-US" dirty="0">
                <a:solidFill>
                  <a:schemeClr val="tx1"/>
                </a:solidFill>
              </a:rPr>
              <a:t>等位基因的初始频率是 </a:t>
            </a:r>
            <a:r>
              <a:rPr lang="en-US" altLang="zh-CN" dirty="0">
                <a:solidFill>
                  <a:schemeClr val="tx1"/>
                </a:solidFill>
              </a:rPr>
              <a:t>q</a:t>
            </a:r>
            <a:r>
              <a:rPr lang="en-US" altLang="zh-CN" baseline="-25000" dirty="0">
                <a:solidFill>
                  <a:schemeClr val="tx1"/>
                </a:solidFill>
              </a:rPr>
              <a:t>0</a:t>
            </a:r>
            <a:r>
              <a:rPr lang="zh-CN" altLang="en-US" dirty="0">
                <a:solidFill>
                  <a:schemeClr val="tx1"/>
                </a:solidFill>
              </a:rPr>
              <a:t>，若进行人工选择，每代完全淘汰 </a:t>
            </a:r>
            <a:r>
              <a:rPr lang="en-US" altLang="zh-CN" dirty="0" err="1">
                <a:solidFill>
                  <a:schemeClr val="tx1"/>
                </a:solidFill>
              </a:rPr>
              <a:t>aa</a:t>
            </a:r>
            <a:r>
              <a:rPr lang="en-US" altLang="zh-CN" dirty="0">
                <a:solidFill>
                  <a:schemeClr val="tx1"/>
                </a:solidFill>
              </a:rPr>
              <a:t> </a:t>
            </a:r>
            <a:r>
              <a:rPr lang="zh-CN" altLang="en-US" dirty="0">
                <a:solidFill>
                  <a:schemeClr val="tx1"/>
                </a:solidFill>
              </a:rPr>
              <a:t>隐性个体，即 </a:t>
            </a:r>
            <a:r>
              <a:rPr lang="en-US" altLang="zh-CN" dirty="0">
                <a:solidFill>
                  <a:schemeClr val="tx1"/>
                </a:solidFill>
              </a:rPr>
              <a:t>s = 1</a:t>
            </a:r>
            <a:r>
              <a:rPr lang="zh-CN" altLang="en-US" dirty="0">
                <a:solidFill>
                  <a:schemeClr val="tx1"/>
                </a:solidFill>
              </a:rPr>
              <a:t>，</a:t>
            </a:r>
            <a:r>
              <a:rPr lang="en-US" altLang="zh-CN" dirty="0">
                <a:solidFill>
                  <a:schemeClr val="tx1"/>
                </a:solidFill>
              </a:rPr>
              <a:t>W = 0</a:t>
            </a:r>
            <a:r>
              <a:rPr lang="zh-CN" altLang="en-US" dirty="0">
                <a:solidFill>
                  <a:schemeClr val="tx1"/>
                </a:solidFill>
              </a:rPr>
              <a:t>。</a:t>
            </a:r>
            <a:endParaRPr lang="en-US" altLang="zh-CN" dirty="0">
              <a:solidFill>
                <a:schemeClr val="tx1"/>
              </a:solidFill>
            </a:endParaRPr>
          </a:p>
          <a:p>
            <a:pPr marL="0" indent="0">
              <a:buNone/>
            </a:pPr>
            <a:r>
              <a:rPr lang="zh-CN" altLang="en-US" dirty="0">
                <a:solidFill>
                  <a:schemeClr val="tx1"/>
                </a:solidFill>
              </a:rPr>
              <a:t>经过一代后，</a:t>
            </a:r>
            <a:r>
              <a:rPr lang="en-US" altLang="zh-CN" dirty="0">
                <a:solidFill>
                  <a:schemeClr val="tx1"/>
                </a:solidFill>
              </a:rPr>
              <a:t>a </a:t>
            </a:r>
            <a:r>
              <a:rPr lang="zh-CN" altLang="en-US" dirty="0">
                <a:solidFill>
                  <a:schemeClr val="tx1"/>
                </a:solidFill>
              </a:rPr>
              <a:t>等位基因的频率</a:t>
            </a:r>
            <a:r>
              <a:rPr lang="en-US" altLang="zh-CN" dirty="0">
                <a:solidFill>
                  <a:schemeClr val="tx1"/>
                </a:solidFill>
              </a:rPr>
              <a:t>q1</a:t>
            </a:r>
            <a:r>
              <a:rPr lang="zh-CN" altLang="en-US" dirty="0">
                <a:solidFill>
                  <a:schemeClr val="tx1"/>
                </a:solidFill>
              </a:rPr>
              <a:t>为：</a:t>
            </a:r>
            <a:endParaRPr lang="en-US" altLang="zh-CN" dirty="0">
              <a:solidFill>
                <a:schemeClr val="tx1"/>
              </a:solidFill>
            </a:endParaRPr>
          </a:p>
          <a:p>
            <a:pPr marL="0" indent="0">
              <a:buNone/>
            </a:pPr>
            <a:endParaRPr lang="en-US" altLang="zh-CN" dirty="0">
              <a:solidFill>
                <a:schemeClr val="tx1"/>
              </a:solidFill>
            </a:endParaRPr>
          </a:p>
          <a:p>
            <a:pPr marL="0" indent="0">
              <a:buNone/>
            </a:pPr>
            <a:r>
              <a:rPr lang="zh-CN" altLang="en-US" dirty="0">
                <a:solidFill>
                  <a:schemeClr val="tx1"/>
                </a:solidFill>
              </a:rPr>
              <a:t>再培养一代，</a:t>
            </a:r>
            <a:r>
              <a:rPr lang="en-US" altLang="zh-CN" dirty="0">
                <a:solidFill>
                  <a:schemeClr val="tx1"/>
                </a:solidFill>
              </a:rPr>
              <a:t> a </a:t>
            </a:r>
            <a:r>
              <a:rPr lang="zh-CN" altLang="en-US" dirty="0">
                <a:solidFill>
                  <a:schemeClr val="tx1"/>
                </a:solidFill>
              </a:rPr>
              <a:t>等位基因的频率是</a:t>
            </a:r>
            <a:r>
              <a:rPr lang="en-US" altLang="zh-CN" dirty="0">
                <a:solidFill>
                  <a:schemeClr val="tx1"/>
                </a:solidFill>
              </a:rPr>
              <a:t>q2</a:t>
            </a:r>
            <a:r>
              <a:rPr lang="zh-CN" altLang="en-US" dirty="0">
                <a:solidFill>
                  <a:schemeClr val="tx1"/>
                </a:solidFill>
              </a:rPr>
              <a:t>为：</a:t>
            </a:r>
            <a:endParaRPr lang="en-US" altLang="zh-CN" dirty="0">
              <a:solidFill>
                <a:schemeClr val="tx1"/>
              </a:solidFill>
            </a:endParaRPr>
          </a:p>
        </p:txBody>
      </p:sp>
      <p:pic>
        <p:nvPicPr>
          <p:cNvPr id="9" name="图片 8">
            <a:extLst>
              <a:ext uri="{FF2B5EF4-FFF2-40B4-BE49-F238E27FC236}">
                <a16:creationId xmlns:a16="http://schemas.microsoft.com/office/drawing/2014/main" id="{9B280FA6-0146-4B02-90FA-684508E22A90}"/>
              </a:ext>
            </a:extLst>
          </p:cNvPr>
          <p:cNvPicPr>
            <a:picLocks noChangeAspect="1"/>
          </p:cNvPicPr>
          <p:nvPr/>
        </p:nvPicPr>
        <p:blipFill rotWithShape="1">
          <a:blip r:embed="rId3"/>
          <a:srcRect b="13710"/>
          <a:stretch/>
        </p:blipFill>
        <p:spPr>
          <a:xfrm>
            <a:off x="5239485" y="2011416"/>
            <a:ext cx="3816335" cy="1003927"/>
          </a:xfrm>
          <a:prstGeom prst="rect">
            <a:avLst/>
          </a:prstGeom>
        </p:spPr>
      </p:pic>
      <p:pic>
        <p:nvPicPr>
          <p:cNvPr id="11" name="图片 10">
            <a:extLst>
              <a:ext uri="{FF2B5EF4-FFF2-40B4-BE49-F238E27FC236}">
                <a16:creationId xmlns:a16="http://schemas.microsoft.com/office/drawing/2014/main" id="{35FE5826-E09C-40E1-8C27-B85A61E22FBC}"/>
              </a:ext>
            </a:extLst>
          </p:cNvPr>
          <p:cNvPicPr>
            <a:picLocks noChangeAspect="1"/>
          </p:cNvPicPr>
          <p:nvPr/>
        </p:nvPicPr>
        <p:blipFill rotWithShape="1">
          <a:blip r:embed="rId4"/>
          <a:srcRect t="15466" b="12536"/>
          <a:stretch/>
        </p:blipFill>
        <p:spPr>
          <a:xfrm>
            <a:off x="5601347" y="3113314"/>
            <a:ext cx="3541558" cy="936172"/>
          </a:xfrm>
          <a:prstGeom prst="rect">
            <a:avLst/>
          </a:prstGeom>
        </p:spPr>
      </p:pic>
      <p:sp>
        <p:nvSpPr>
          <p:cNvPr id="13" name="文本框 12">
            <a:extLst>
              <a:ext uri="{FF2B5EF4-FFF2-40B4-BE49-F238E27FC236}">
                <a16:creationId xmlns:a16="http://schemas.microsoft.com/office/drawing/2014/main" id="{FC6F0348-B9EB-4774-A1DE-765BD6951224}"/>
              </a:ext>
            </a:extLst>
          </p:cNvPr>
          <p:cNvSpPr txBox="1"/>
          <p:nvPr/>
        </p:nvSpPr>
        <p:spPr>
          <a:xfrm>
            <a:off x="514719" y="4708493"/>
            <a:ext cx="1714981" cy="424732"/>
          </a:xfrm>
          <a:prstGeom prst="rect">
            <a:avLst/>
          </a:prstGeom>
        </p:spPr>
        <p:txBody>
          <a:bodyPr vert="horz" lIns="91440" tIns="45720" rIns="91440" bIns="45720" rtlCol="0">
            <a:normAutofit/>
          </a:bodyPr>
          <a:lstStyle>
            <a:defPPr>
              <a:defRPr lang="zh-CN"/>
            </a:defPPr>
            <a:lvl1pPr indent="0">
              <a:lnSpc>
                <a:spcPct val="90000"/>
              </a:lnSpc>
              <a:spcBef>
                <a:spcPts val="1000"/>
              </a:spcBef>
              <a:buFont typeface="+mj-lt"/>
              <a:buNone/>
              <a:defRPr sz="2400" b="1">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以此类推，</a:t>
            </a:r>
          </a:p>
        </p:txBody>
      </p:sp>
      <p:pic>
        <p:nvPicPr>
          <p:cNvPr id="15" name="图片 14">
            <a:extLst>
              <a:ext uri="{FF2B5EF4-FFF2-40B4-BE49-F238E27FC236}">
                <a16:creationId xmlns:a16="http://schemas.microsoft.com/office/drawing/2014/main" id="{C8B151B8-79C2-4F71-B51F-CD4D017C75CD}"/>
              </a:ext>
            </a:extLst>
          </p:cNvPr>
          <p:cNvPicPr>
            <a:picLocks noChangeAspect="1"/>
          </p:cNvPicPr>
          <p:nvPr/>
        </p:nvPicPr>
        <p:blipFill>
          <a:blip r:embed="rId5"/>
          <a:stretch>
            <a:fillRect/>
          </a:stretch>
        </p:blipFill>
        <p:spPr>
          <a:xfrm>
            <a:off x="2153500" y="4432027"/>
            <a:ext cx="4076700" cy="977664"/>
          </a:xfrm>
          <a:prstGeom prst="rect">
            <a:avLst/>
          </a:prstGeom>
        </p:spPr>
      </p:pic>
      <p:sp>
        <p:nvSpPr>
          <p:cNvPr id="17" name="箭头: 右 16">
            <a:extLst>
              <a:ext uri="{FF2B5EF4-FFF2-40B4-BE49-F238E27FC236}">
                <a16:creationId xmlns:a16="http://schemas.microsoft.com/office/drawing/2014/main" id="{E5F86518-5322-41A7-ABB9-6D959F742D5F}"/>
              </a:ext>
            </a:extLst>
          </p:cNvPr>
          <p:cNvSpPr/>
          <p:nvPr/>
        </p:nvSpPr>
        <p:spPr>
          <a:xfrm>
            <a:off x="6506121" y="4650531"/>
            <a:ext cx="475488"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549F16F8-2E48-4E10-88EB-62A3078D38E0}"/>
              </a:ext>
            </a:extLst>
          </p:cNvPr>
          <p:cNvPicPr>
            <a:picLocks noChangeAspect="1"/>
          </p:cNvPicPr>
          <p:nvPr/>
        </p:nvPicPr>
        <p:blipFill rotWithShape="1">
          <a:blip r:embed="rId6"/>
          <a:srcRect r="11238"/>
          <a:stretch/>
        </p:blipFill>
        <p:spPr>
          <a:xfrm>
            <a:off x="7372126" y="4188902"/>
            <a:ext cx="1869557" cy="1151857"/>
          </a:xfrm>
          <a:prstGeom prst="rect">
            <a:avLst/>
          </a:prstGeom>
        </p:spPr>
      </p:pic>
    </p:spTree>
    <p:extLst>
      <p:ext uri="{BB962C8B-B14F-4D97-AF65-F5344CB8AC3E}">
        <p14:creationId xmlns:p14="http://schemas.microsoft.com/office/powerpoint/2010/main" val="1695075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87DC148-479E-4C01-9CC7-D94F0031B124}"/>
              </a:ext>
            </a:extLst>
          </p:cNvPr>
          <p:cNvPicPr>
            <a:picLocks noChangeAspect="1"/>
          </p:cNvPicPr>
          <p:nvPr/>
        </p:nvPicPr>
        <p:blipFill rotWithShape="1">
          <a:blip r:embed="rId3"/>
          <a:srcRect l="1314" r="1862"/>
          <a:stretch/>
        </p:blipFill>
        <p:spPr>
          <a:xfrm>
            <a:off x="0" y="170797"/>
            <a:ext cx="12192000" cy="4637876"/>
          </a:xfrm>
          <a:prstGeom prst="rect">
            <a:avLst/>
          </a:prstGeom>
        </p:spPr>
      </p:pic>
      <p:sp>
        <p:nvSpPr>
          <p:cNvPr id="2" name="矩形 1"/>
          <p:cNvSpPr/>
          <p:nvPr/>
        </p:nvSpPr>
        <p:spPr>
          <a:xfrm>
            <a:off x="0" y="4732473"/>
            <a:ext cx="12192000" cy="1918698"/>
          </a:xfrm>
          <a:prstGeom prst="rect">
            <a:avLst/>
          </a:prstGeom>
        </p:spPr>
        <p:txBody>
          <a:bodyPr vert="horz" lIns="91440" tIns="45720" rIns="91440" bIns="45720" rtlCol="0">
            <a:normAutofit/>
          </a:bodyPr>
          <a:lstStyle/>
          <a:p>
            <a:pPr algn="ctr">
              <a:lnSpc>
                <a:spcPct val="90000"/>
              </a:lnSpc>
              <a:spcBef>
                <a:spcPts val="1000"/>
              </a:spcBef>
              <a:buFont typeface="+mj-lt"/>
              <a:buNone/>
            </a:pP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当</a:t>
            </a:r>
            <a:r>
              <a:rPr lang="en-US" altLang="zh-CN" sz="2400" b="1" dirty="0">
                <a:solidFill>
                  <a:srgbClr val="1207F7"/>
                </a:solidFill>
                <a:latin typeface="Times New Roman" panose="02020603050405020304" pitchFamily="18" charset="0"/>
                <a:ea typeface="黑体" pitchFamily="49" charset="-122"/>
                <a:cs typeface="Times New Roman" panose="02020603050405020304" pitchFamily="18" charset="0"/>
              </a:rPr>
              <a:t>q</a:t>
            </a:r>
            <a:r>
              <a:rPr lang="en-US" altLang="zh-CN" sz="2400" b="1" baseline="-25000" dirty="0">
                <a:solidFill>
                  <a:srgbClr val="1207F7"/>
                </a:solidFill>
                <a:latin typeface="Times New Roman" panose="02020603050405020304" pitchFamily="18" charset="0"/>
                <a:ea typeface="黑体" pitchFamily="49" charset="-122"/>
                <a:cs typeface="Times New Roman" panose="02020603050405020304" pitchFamily="18" charset="0"/>
              </a:rPr>
              <a:t>0</a:t>
            </a: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较大时，</a:t>
            </a:r>
            <a:r>
              <a:rPr lang="en-US" altLang="zh-CN" sz="2400" b="1" dirty="0">
                <a:solidFill>
                  <a:srgbClr val="1207F7"/>
                </a:solidFill>
                <a:latin typeface="Times New Roman" panose="02020603050405020304" pitchFamily="18" charset="0"/>
                <a:ea typeface="黑体" pitchFamily="49" charset="-122"/>
                <a:cs typeface="Times New Roman" panose="02020603050405020304" pitchFamily="18" charset="0"/>
              </a:rPr>
              <a:t>n</a:t>
            </a: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值较小，但当</a:t>
            </a:r>
            <a:r>
              <a:rPr lang="en-US" altLang="zh-CN" sz="2400" b="1" dirty="0">
                <a:solidFill>
                  <a:srgbClr val="1207F7"/>
                </a:solidFill>
                <a:latin typeface="Times New Roman" panose="02020603050405020304" pitchFamily="18" charset="0"/>
                <a:ea typeface="黑体" pitchFamily="49" charset="-122"/>
                <a:cs typeface="Times New Roman" panose="02020603050405020304" pitchFamily="18" charset="0"/>
              </a:rPr>
              <a:t>q</a:t>
            </a:r>
            <a:r>
              <a:rPr lang="en-US" altLang="zh-CN" sz="2400" b="1" baseline="-25000" dirty="0">
                <a:solidFill>
                  <a:srgbClr val="1207F7"/>
                </a:solidFill>
                <a:latin typeface="Times New Roman" panose="02020603050405020304" pitchFamily="18" charset="0"/>
                <a:ea typeface="黑体" pitchFamily="49" charset="-122"/>
                <a:cs typeface="Times New Roman" panose="02020603050405020304" pitchFamily="18" charset="0"/>
              </a:rPr>
              <a:t>0</a:t>
            </a: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很小时，</a:t>
            </a:r>
            <a:r>
              <a:rPr lang="en-US" altLang="zh-CN" sz="2400" b="1" dirty="0">
                <a:solidFill>
                  <a:srgbClr val="1207F7"/>
                </a:solidFill>
                <a:latin typeface="Times New Roman" panose="02020603050405020304" pitchFamily="18" charset="0"/>
                <a:ea typeface="黑体" pitchFamily="49" charset="-122"/>
                <a:cs typeface="Times New Roman" panose="02020603050405020304" pitchFamily="18" charset="0"/>
              </a:rPr>
              <a:t>n</a:t>
            </a: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值则非常大</a:t>
            </a:r>
            <a:endParaRPr lang="en-US" altLang="zh-CN" sz="2400" b="1" dirty="0">
              <a:latin typeface="Times New Roman" panose="02020603050405020304" pitchFamily="18" charset="0"/>
              <a:ea typeface="黑体" pitchFamily="49" charset="-122"/>
              <a:cs typeface="Times New Roman" panose="02020603050405020304" pitchFamily="18" charset="0"/>
            </a:endParaRPr>
          </a:p>
          <a:p>
            <a:pPr>
              <a:lnSpc>
                <a:spcPct val="90000"/>
              </a:lnSpc>
              <a:spcBef>
                <a:spcPts val="1000"/>
              </a:spcBef>
              <a:buFont typeface="+mj-lt"/>
              <a:buNone/>
            </a:pPr>
            <a:r>
              <a:rPr lang="zh-CN" altLang="en-US" sz="2400" b="1" dirty="0">
                <a:latin typeface="Times New Roman" panose="02020603050405020304" pitchFamily="18" charset="0"/>
                <a:ea typeface="黑体" pitchFamily="49" charset="-122"/>
                <a:cs typeface="Times New Roman" panose="02020603050405020304" pitchFamily="18" charset="0"/>
              </a:rPr>
              <a:t>        如等位基因频率从</a:t>
            </a:r>
            <a:r>
              <a:rPr lang="en-US" altLang="zh-CN" sz="2400" b="1" dirty="0">
                <a:latin typeface="Times New Roman" panose="02020603050405020304" pitchFamily="18" charset="0"/>
                <a:ea typeface="黑体" pitchFamily="49" charset="-122"/>
                <a:cs typeface="Times New Roman" panose="02020603050405020304" pitchFamily="18" charset="0"/>
              </a:rPr>
              <a:t>0.99</a:t>
            </a:r>
            <a:r>
              <a:rPr lang="zh-CN" altLang="en-US" sz="2400" b="1" dirty="0">
                <a:latin typeface="Times New Roman" panose="02020603050405020304" pitchFamily="18" charset="0"/>
                <a:ea typeface="黑体" pitchFamily="49" charset="-122"/>
                <a:cs typeface="Times New Roman" panose="02020603050405020304" pitchFamily="18" charset="0"/>
              </a:rPr>
              <a:t>淘汰到</a:t>
            </a:r>
            <a:r>
              <a:rPr lang="en-US" altLang="zh-CN" sz="2400" b="1" dirty="0">
                <a:latin typeface="Times New Roman" panose="02020603050405020304" pitchFamily="18" charset="0"/>
                <a:ea typeface="黑体" pitchFamily="49" charset="-122"/>
                <a:cs typeface="Times New Roman" panose="02020603050405020304" pitchFamily="18" charset="0"/>
              </a:rPr>
              <a:t>0.10</a:t>
            </a:r>
            <a:r>
              <a:rPr lang="zh-CN" altLang="en-US" sz="2400" b="1" dirty="0">
                <a:latin typeface="Times New Roman" panose="02020603050405020304" pitchFamily="18" charset="0"/>
                <a:ea typeface="黑体" pitchFamily="49" charset="-122"/>
                <a:cs typeface="Times New Roman" panose="02020603050405020304" pitchFamily="18" charset="0"/>
              </a:rPr>
              <a:t>是比较快的。但等位基因频率的进一步降低相当缓慢，从</a:t>
            </a:r>
            <a:r>
              <a:rPr lang="en-US" altLang="zh-CN" sz="2400" b="1" dirty="0">
                <a:latin typeface="Times New Roman" panose="02020603050405020304" pitchFamily="18" charset="0"/>
                <a:ea typeface="黑体" pitchFamily="49" charset="-122"/>
                <a:cs typeface="Times New Roman" panose="02020603050405020304" pitchFamily="18" charset="0"/>
              </a:rPr>
              <a:t>0.01</a:t>
            </a:r>
            <a:r>
              <a:rPr lang="zh-CN" altLang="en-US" sz="2400" b="1" dirty="0">
                <a:latin typeface="Times New Roman" panose="02020603050405020304" pitchFamily="18" charset="0"/>
                <a:ea typeface="黑体" pitchFamily="49" charset="-122"/>
                <a:cs typeface="Times New Roman" panose="02020603050405020304" pitchFamily="18" charset="0"/>
              </a:rPr>
              <a:t>降低到</a:t>
            </a:r>
            <a:r>
              <a:rPr lang="en-US" altLang="zh-CN" sz="2400" b="1" dirty="0">
                <a:latin typeface="Times New Roman" panose="02020603050405020304" pitchFamily="18" charset="0"/>
                <a:ea typeface="黑体" pitchFamily="49" charset="-122"/>
                <a:cs typeface="Times New Roman" panose="02020603050405020304" pitchFamily="18" charset="0"/>
              </a:rPr>
              <a:t>0.001</a:t>
            </a:r>
            <a:r>
              <a:rPr lang="zh-CN" altLang="en-US" sz="2400" b="1" dirty="0">
                <a:latin typeface="Times New Roman" panose="02020603050405020304" pitchFamily="18" charset="0"/>
                <a:ea typeface="黑体" pitchFamily="49" charset="-122"/>
                <a:cs typeface="Times New Roman" panose="02020603050405020304" pitchFamily="18" charset="0"/>
              </a:rPr>
              <a:t>，即使在选择系数比较高时，也要经过上千代。</a:t>
            </a:r>
            <a:r>
              <a:rPr lang="zh-CN" altLang="en-US" sz="2400" b="1" dirty="0">
                <a:solidFill>
                  <a:srgbClr val="1207F7"/>
                </a:solidFill>
                <a:latin typeface="Times New Roman" panose="02020603050405020304" pitchFamily="18" charset="0"/>
                <a:ea typeface="黑体" pitchFamily="49" charset="-122"/>
                <a:cs typeface="Times New Roman" panose="02020603050405020304" pitchFamily="18" charset="0"/>
              </a:rPr>
              <a:t>对频率很低的隐性个体的选择较无效的原因可能是什么</a:t>
            </a:r>
            <a:r>
              <a:rPr lang="zh-CN" altLang="en-US" sz="2400" b="1" dirty="0">
                <a:latin typeface="Times New Roman" panose="02020603050405020304" pitchFamily="18" charset="0"/>
                <a:ea typeface="黑体" pitchFamily="49" charset="-122"/>
                <a:cs typeface="Times New Roman" panose="02020603050405020304" pitchFamily="18" charset="0"/>
              </a:rPr>
              <a:t>？</a:t>
            </a:r>
          </a:p>
        </p:txBody>
      </p:sp>
    </p:spTree>
    <p:extLst>
      <p:ext uri="{BB962C8B-B14F-4D97-AF65-F5344CB8AC3E}">
        <p14:creationId xmlns:p14="http://schemas.microsoft.com/office/powerpoint/2010/main" val="183266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C9DF47C-8D01-4119-840C-A2B596AE128D}"/>
              </a:ext>
            </a:extLst>
          </p:cNvPr>
          <p:cNvPicPr>
            <a:picLocks noChangeAspect="1"/>
          </p:cNvPicPr>
          <p:nvPr/>
        </p:nvPicPr>
        <p:blipFill rotWithShape="1">
          <a:blip r:embed="rId2"/>
          <a:srcRect l="1735" t="11757" r="1096" b="2224"/>
          <a:stretch/>
        </p:blipFill>
        <p:spPr>
          <a:xfrm>
            <a:off x="0" y="937549"/>
            <a:ext cx="12192000" cy="4772546"/>
          </a:xfrm>
          <a:prstGeom prst="rect">
            <a:avLst/>
          </a:prstGeom>
        </p:spPr>
      </p:pic>
      <p:sp>
        <p:nvSpPr>
          <p:cNvPr id="5" name="内容占位符 4">
            <a:extLst>
              <a:ext uri="{FF2B5EF4-FFF2-40B4-BE49-F238E27FC236}">
                <a16:creationId xmlns:a16="http://schemas.microsoft.com/office/drawing/2014/main" id="{B12DC606-F0F1-4B54-9859-77624676F6AC}"/>
              </a:ext>
            </a:extLst>
          </p:cNvPr>
          <p:cNvSpPr>
            <a:spLocks noGrp="1"/>
          </p:cNvSpPr>
          <p:nvPr>
            <p:ph sz="half" idx="1"/>
          </p:nvPr>
        </p:nvSpPr>
        <p:spPr>
          <a:xfrm>
            <a:off x="0" y="491369"/>
            <a:ext cx="12464143" cy="550214"/>
          </a:xfrm>
        </p:spPr>
        <p:txBody>
          <a:bodyPr vert="horz" lIns="91440" tIns="45720" rIns="91440" bIns="45720" rtlCol="0">
            <a:normAutofit/>
          </a:bodyPr>
          <a:lstStyle/>
          <a:p>
            <a:pPr marL="0" indent="0">
              <a:buNone/>
            </a:pPr>
            <a:r>
              <a:rPr lang="zh-CN" altLang="en-US" dirty="0">
                <a:solidFill>
                  <a:schemeClr val="tx1"/>
                </a:solidFill>
              </a:rPr>
              <a:t>设显性基因的频率是 </a:t>
            </a:r>
            <a:r>
              <a:rPr lang="en-US" altLang="zh-CN" dirty="0">
                <a:solidFill>
                  <a:schemeClr val="tx1"/>
                </a:solidFill>
              </a:rPr>
              <a:t>p</a:t>
            </a:r>
            <a:r>
              <a:rPr lang="zh-CN" altLang="en-US" dirty="0">
                <a:solidFill>
                  <a:schemeClr val="tx1"/>
                </a:solidFill>
              </a:rPr>
              <a:t>，对显性基因的选择系数是 </a:t>
            </a:r>
            <a:r>
              <a:rPr lang="en-US" altLang="zh-CN" dirty="0">
                <a:solidFill>
                  <a:schemeClr val="tx1"/>
                </a:solidFill>
              </a:rPr>
              <a:t>s</a:t>
            </a:r>
            <a:r>
              <a:rPr lang="zh-CN" altLang="en-US" dirty="0">
                <a:solidFill>
                  <a:schemeClr val="tx1"/>
                </a:solidFill>
              </a:rPr>
              <a:t>，基因频率 </a:t>
            </a:r>
            <a:r>
              <a:rPr lang="en-US" altLang="zh-CN" dirty="0">
                <a:solidFill>
                  <a:schemeClr val="tx1"/>
                </a:solidFill>
              </a:rPr>
              <a:t>p</a:t>
            </a:r>
            <a:r>
              <a:rPr lang="zh-CN" altLang="en-US" dirty="0">
                <a:solidFill>
                  <a:schemeClr val="tx1"/>
                </a:solidFill>
              </a:rPr>
              <a:t>的改变计算如下：</a:t>
            </a:r>
          </a:p>
        </p:txBody>
      </p:sp>
      <p:sp>
        <p:nvSpPr>
          <p:cNvPr id="7" name="文本框 6">
            <a:extLst>
              <a:ext uri="{FF2B5EF4-FFF2-40B4-BE49-F238E27FC236}">
                <a16:creationId xmlns:a16="http://schemas.microsoft.com/office/drawing/2014/main" id="{93AEF66E-8172-495B-913B-FF0D72169F86}"/>
              </a:ext>
            </a:extLst>
          </p:cNvPr>
          <p:cNvSpPr txBox="1"/>
          <p:nvPr/>
        </p:nvSpPr>
        <p:spPr>
          <a:xfrm>
            <a:off x="1839686" y="5723744"/>
            <a:ext cx="9049334" cy="830997"/>
          </a:xfrm>
          <a:prstGeom prst="rect">
            <a:avLst/>
          </a:prstGeom>
          <a:noFill/>
        </p:spPr>
        <p:txBody>
          <a:bodyPr wrap="square">
            <a:spAutoFit/>
          </a:bodyPr>
          <a:lstStyle>
            <a:defPPr>
              <a:defRPr lang="zh-CN"/>
            </a:defPPr>
            <a:lvl1pPr>
              <a:defRPr sz="2000" b="1">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2400" dirty="0">
                <a:solidFill>
                  <a:srgbClr val="FF0000"/>
                </a:solidFill>
              </a:rPr>
              <a:t>如果</a:t>
            </a:r>
            <a:r>
              <a:rPr lang="en-US" altLang="zh-CN" sz="2400" dirty="0">
                <a:solidFill>
                  <a:srgbClr val="FF0000"/>
                </a:solidFill>
              </a:rPr>
              <a:t>s</a:t>
            </a:r>
            <a:r>
              <a:rPr lang="zh-CN" altLang="en-US" sz="2400" dirty="0">
                <a:solidFill>
                  <a:srgbClr val="FF0000"/>
                </a:solidFill>
              </a:rPr>
              <a:t>很小，</a:t>
            </a:r>
            <a:r>
              <a:rPr lang="en-US" altLang="zh-CN" sz="2400" dirty="0" err="1">
                <a:solidFill>
                  <a:srgbClr val="FF0000"/>
                </a:solidFill>
              </a:rPr>
              <a:t>Δp</a:t>
            </a:r>
            <a:r>
              <a:rPr lang="en-US" altLang="zh-CN" sz="2400" dirty="0">
                <a:solidFill>
                  <a:srgbClr val="FF0000"/>
                </a:solidFill>
              </a:rPr>
              <a:t> = -</a:t>
            </a:r>
            <a:r>
              <a:rPr lang="en-US" altLang="zh-CN" sz="2400" dirty="0" err="1">
                <a:solidFill>
                  <a:srgbClr val="FF0000"/>
                </a:solidFill>
              </a:rPr>
              <a:t>sp</a:t>
            </a:r>
            <a:r>
              <a:rPr lang="en-US" altLang="zh-CN" sz="2400" dirty="0">
                <a:solidFill>
                  <a:srgbClr val="FF0000"/>
                </a:solidFill>
              </a:rPr>
              <a:t>(1-p)</a:t>
            </a:r>
            <a:r>
              <a:rPr lang="en-US" altLang="zh-CN" sz="2400" baseline="30000" dirty="0">
                <a:solidFill>
                  <a:srgbClr val="FF0000"/>
                </a:solidFill>
              </a:rPr>
              <a:t>2</a:t>
            </a:r>
            <a:r>
              <a:rPr lang="en-US" altLang="zh-CN" sz="2400" dirty="0">
                <a:solidFill>
                  <a:srgbClr val="FF0000"/>
                </a:solidFill>
              </a:rPr>
              <a:t> = -s(1-q)q</a:t>
            </a:r>
            <a:r>
              <a:rPr lang="en-US" altLang="zh-CN" sz="2400" baseline="30000" dirty="0">
                <a:solidFill>
                  <a:srgbClr val="FF0000"/>
                </a:solidFill>
              </a:rPr>
              <a:t>2</a:t>
            </a:r>
            <a:r>
              <a:rPr lang="en-US" altLang="zh-CN" sz="2400" dirty="0">
                <a:solidFill>
                  <a:srgbClr val="FF0000"/>
                </a:solidFill>
              </a:rPr>
              <a:t> </a:t>
            </a:r>
            <a:r>
              <a:rPr lang="zh-CN" altLang="en-US" sz="2400" dirty="0">
                <a:solidFill>
                  <a:srgbClr val="FF0000"/>
                </a:solidFill>
              </a:rPr>
              <a:t>。</a:t>
            </a:r>
            <a:r>
              <a:rPr lang="en-US" altLang="zh-CN" sz="2400" dirty="0" err="1">
                <a:solidFill>
                  <a:srgbClr val="FF0000"/>
                </a:solidFill>
              </a:rPr>
              <a:t>Δp</a:t>
            </a:r>
            <a:r>
              <a:rPr lang="en-US" altLang="zh-CN" sz="2400" dirty="0">
                <a:solidFill>
                  <a:srgbClr val="FF0000"/>
                </a:solidFill>
              </a:rPr>
              <a:t> </a:t>
            </a:r>
            <a:r>
              <a:rPr lang="zh-CN" altLang="en-US" sz="2400" dirty="0">
                <a:solidFill>
                  <a:srgbClr val="FF0000"/>
                </a:solidFill>
              </a:rPr>
              <a:t>与 </a:t>
            </a:r>
            <a:r>
              <a:rPr lang="en-US" altLang="zh-CN" sz="2400" dirty="0" err="1">
                <a:solidFill>
                  <a:srgbClr val="FF0000"/>
                </a:solidFill>
              </a:rPr>
              <a:t>Δq</a:t>
            </a:r>
            <a:r>
              <a:rPr lang="en-US" altLang="zh-CN" sz="2400" dirty="0">
                <a:solidFill>
                  <a:srgbClr val="FF0000"/>
                </a:solidFill>
              </a:rPr>
              <a:t> </a:t>
            </a:r>
            <a:r>
              <a:rPr lang="zh-CN" altLang="en-US" sz="2400" dirty="0">
                <a:solidFill>
                  <a:srgbClr val="FF0000"/>
                </a:solidFill>
              </a:rPr>
              <a:t>相同。</a:t>
            </a:r>
            <a:endParaRPr lang="en-US" altLang="zh-CN" sz="2400" dirty="0">
              <a:solidFill>
                <a:srgbClr val="FF0000"/>
              </a:solidFill>
            </a:endParaRPr>
          </a:p>
          <a:p>
            <a:r>
              <a:rPr lang="zh-CN" altLang="en-US" sz="2400" dirty="0">
                <a:solidFill>
                  <a:srgbClr val="FF0000"/>
                </a:solidFill>
              </a:rPr>
              <a:t>当</a:t>
            </a:r>
            <a:r>
              <a:rPr lang="en-US" altLang="zh-CN" sz="2400" dirty="0">
                <a:solidFill>
                  <a:srgbClr val="FF0000"/>
                </a:solidFill>
              </a:rPr>
              <a:t>s</a:t>
            </a:r>
            <a:r>
              <a:rPr lang="zh-CN" altLang="en-US" sz="2400" dirty="0">
                <a:solidFill>
                  <a:srgbClr val="FF0000"/>
                </a:solidFill>
              </a:rPr>
              <a:t>很小时，要降低一定的显性等位基因的频率也需要很长的时间。</a:t>
            </a:r>
          </a:p>
        </p:txBody>
      </p:sp>
      <p:sp>
        <p:nvSpPr>
          <p:cNvPr id="2" name="矩形 1"/>
          <p:cNvSpPr/>
          <p:nvPr/>
        </p:nvSpPr>
        <p:spPr>
          <a:xfrm>
            <a:off x="671061" y="391"/>
            <a:ext cx="4923143" cy="535531"/>
          </a:xfrm>
          <a:prstGeom prst="rect">
            <a:avLst/>
          </a:prstGeom>
        </p:spPr>
        <p:txBody>
          <a:bodyPr vert="horz" lIns="91440" tIns="45720" rIns="91440" bIns="45720" rtlCol="0" anchor="ctr">
            <a:normAutofit/>
          </a:bodyPr>
          <a:lstStyle/>
          <a:p>
            <a:pPr>
              <a:lnSpc>
                <a:spcPct val="90000"/>
              </a:lnSpc>
              <a:spcBef>
                <a:spcPct val="0"/>
              </a:spcBef>
            </a:pPr>
            <a:r>
              <a:rPr lang="zh-CN" altLang="en-US" sz="3200" b="1" dirty="0">
                <a:solidFill>
                  <a:srgbClr val="1207F7"/>
                </a:solidFill>
                <a:latin typeface="黑体" pitchFamily="49" charset="-122"/>
                <a:ea typeface="黑体" pitchFamily="49" charset="-122"/>
                <a:cs typeface="+mj-cs"/>
              </a:rPr>
              <a:t>（</a:t>
            </a:r>
            <a:r>
              <a:rPr lang="en-US" altLang="zh-CN" sz="3200" b="1" dirty="0">
                <a:solidFill>
                  <a:srgbClr val="1207F7"/>
                </a:solidFill>
                <a:latin typeface="黑体" pitchFamily="49" charset="-122"/>
                <a:ea typeface="黑体" pitchFamily="49" charset="-122"/>
                <a:cs typeface="+mj-cs"/>
              </a:rPr>
              <a:t>3</a:t>
            </a:r>
            <a:r>
              <a:rPr lang="zh-CN" altLang="en-US" sz="3200" b="1" dirty="0">
                <a:solidFill>
                  <a:srgbClr val="1207F7"/>
                </a:solidFill>
                <a:latin typeface="黑体" pitchFamily="49" charset="-122"/>
                <a:ea typeface="黑体" pitchFamily="49" charset="-122"/>
                <a:cs typeface="+mj-cs"/>
              </a:rPr>
              <a:t>）选择对显性基因不利</a:t>
            </a:r>
            <a:endParaRPr lang="en-US" altLang="zh-CN" sz="3200" b="1" dirty="0">
              <a:solidFill>
                <a:srgbClr val="1207F7"/>
              </a:solidFill>
              <a:latin typeface="黑体" pitchFamily="49" charset="-122"/>
              <a:ea typeface="黑体" pitchFamily="49" charset="-122"/>
              <a:cs typeface="+mj-cs"/>
            </a:endParaRPr>
          </a:p>
        </p:txBody>
      </p:sp>
    </p:spTree>
    <p:extLst>
      <p:ext uri="{BB962C8B-B14F-4D97-AF65-F5344CB8AC3E}">
        <p14:creationId xmlns:p14="http://schemas.microsoft.com/office/powerpoint/2010/main" val="145182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40A9E09-A2F6-402C-8E63-F33276AE0707}"/>
              </a:ext>
            </a:extLst>
          </p:cNvPr>
          <p:cNvSpPr txBox="1">
            <a:spLocks/>
          </p:cNvSpPr>
          <p:nvPr/>
        </p:nvSpPr>
        <p:spPr>
          <a:xfrm>
            <a:off x="0" y="1117898"/>
            <a:ext cx="12192000" cy="2266448"/>
          </a:xfrm>
          <a:prstGeom prst="rect">
            <a:avLst/>
          </a:prstGeom>
        </p:spPr>
        <p:txBody>
          <a:bodyPr vert="horz" lIns="91440" tIns="45720" rIns="91440" bIns="45720" rtlCol="0">
            <a:normAutofit/>
          </a:bodyPr>
          <a:lstStyle>
            <a:lvl1pPr marL="457200" indent="-457200">
              <a:lnSpc>
                <a:spcPct val="110000"/>
              </a:lnSpc>
              <a:spcBef>
                <a:spcPts val="1000"/>
              </a:spcBef>
              <a:buFont typeface="+mj-lt"/>
              <a:buAutoNum type="arabicPeriod"/>
              <a:defRPr sz="2000" b="1">
                <a:solidFill>
                  <a:srgbClr val="0000FF"/>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例如，在非洲的疟疾区，携带镰状细胞贫血突变基因（</a:t>
            </a:r>
            <a:r>
              <a:rPr lang="en-US" altLang="zh-CN" dirty="0"/>
              <a:t>HBB</a:t>
            </a:r>
            <a:r>
              <a:rPr lang="en-US" altLang="zh-CN" baseline="30000" dirty="0"/>
              <a:t>S</a:t>
            </a:r>
            <a:r>
              <a:rPr lang="en-US" altLang="zh-CN" dirty="0"/>
              <a:t> </a:t>
            </a:r>
            <a:r>
              <a:rPr lang="zh-CN" altLang="en-US" dirty="0"/>
              <a:t>）的杂合子的相对生育率远高于隐性患病个体和正常人。美洲的黑人人群中观察不到 </a:t>
            </a:r>
            <a:r>
              <a:rPr lang="en-US" altLang="zh-CN" dirty="0"/>
              <a:t>HBB</a:t>
            </a:r>
            <a:r>
              <a:rPr lang="en-US" altLang="zh-CN" baseline="30000" dirty="0"/>
              <a:t>A</a:t>
            </a:r>
            <a:r>
              <a:rPr lang="en-US" altLang="zh-CN" dirty="0"/>
              <a:t> HBB</a:t>
            </a:r>
            <a:r>
              <a:rPr lang="en-US" altLang="zh-CN" baseline="30000" dirty="0"/>
              <a:t>S</a:t>
            </a:r>
            <a:r>
              <a:rPr lang="en-US" altLang="zh-CN" dirty="0"/>
              <a:t> </a:t>
            </a:r>
            <a:r>
              <a:rPr lang="zh-CN" altLang="en-US" dirty="0"/>
              <a:t>杂合子的相对生育率较正常人高的现象。</a:t>
            </a:r>
            <a:endParaRPr lang="en-US" altLang="zh-CN" dirty="0"/>
          </a:p>
          <a:p>
            <a:pPr lvl="1"/>
            <a:r>
              <a:rPr lang="zh-CN" altLang="en-US" b="1" dirty="0">
                <a:solidFill>
                  <a:srgbClr val="FF0000"/>
                </a:solidFill>
              </a:rPr>
              <a:t>适合度是基因与其生存的环境共同作用的产物</a:t>
            </a:r>
            <a:r>
              <a:rPr lang="zh-CN" altLang="en-US" dirty="0"/>
              <a:t>。</a:t>
            </a:r>
            <a:endParaRPr lang="en-US" altLang="zh-CN" dirty="0"/>
          </a:p>
        </p:txBody>
      </p:sp>
      <p:sp>
        <p:nvSpPr>
          <p:cNvPr id="2" name="矩形 1"/>
          <p:cNvSpPr/>
          <p:nvPr/>
        </p:nvSpPr>
        <p:spPr>
          <a:xfrm>
            <a:off x="480252" y="163286"/>
            <a:ext cx="4511171" cy="535531"/>
          </a:xfrm>
          <a:prstGeom prst="rect">
            <a:avLst/>
          </a:prstGeom>
        </p:spPr>
        <p:txBody>
          <a:bodyPr vert="horz" lIns="91440" tIns="45720" rIns="91440" bIns="45720" rtlCol="0" anchor="ctr">
            <a:normAutofit/>
          </a:bodyPr>
          <a:lstStyle/>
          <a:p>
            <a:pPr>
              <a:lnSpc>
                <a:spcPct val="90000"/>
              </a:lnSpc>
              <a:spcBef>
                <a:spcPct val="0"/>
              </a:spcBef>
            </a:pPr>
            <a:r>
              <a:rPr lang="zh-CN" altLang="en-US" sz="3200" b="1" dirty="0">
                <a:solidFill>
                  <a:srgbClr val="1207F7"/>
                </a:solidFill>
                <a:latin typeface="黑体" pitchFamily="49" charset="-122"/>
                <a:ea typeface="黑体" pitchFamily="49" charset="-122"/>
                <a:cs typeface="+mj-cs"/>
              </a:rPr>
              <a:t>（</a:t>
            </a:r>
            <a:r>
              <a:rPr lang="en-US" altLang="zh-CN" sz="3200" b="1" dirty="0">
                <a:solidFill>
                  <a:srgbClr val="1207F7"/>
                </a:solidFill>
                <a:latin typeface="黑体" pitchFamily="49" charset="-122"/>
                <a:ea typeface="黑体" pitchFamily="49" charset="-122"/>
                <a:cs typeface="+mj-cs"/>
              </a:rPr>
              <a:t>4</a:t>
            </a:r>
            <a:r>
              <a:rPr lang="zh-CN" altLang="en-US" sz="3200" b="1" dirty="0">
                <a:solidFill>
                  <a:srgbClr val="1207F7"/>
                </a:solidFill>
                <a:latin typeface="黑体" pitchFamily="49" charset="-122"/>
                <a:ea typeface="黑体" pitchFamily="49" charset="-122"/>
                <a:cs typeface="+mj-cs"/>
              </a:rPr>
              <a:t>）选择对杂合子有利</a:t>
            </a:r>
            <a:endParaRPr lang="en-US" altLang="zh-CN" sz="3200" b="1" dirty="0">
              <a:solidFill>
                <a:srgbClr val="1207F7"/>
              </a:solidFill>
              <a:latin typeface="黑体" pitchFamily="49" charset="-122"/>
              <a:ea typeface="黑体" pitchFamily="49" charset="-122"/>
              <a:cs typeface="+mj-cs"/>
            </a:endParaRPr>
          </a:p>
        </p:txBody>
      </p:sp>
    </p:spTree>
    <p:extLst>
      <p:ext uri="{BB962C8B-B14F-4D97-AF65-F5344CB8AC3E}">
        <p14:creationId xmlns:p14="http://schemas.microsoft.com/office/powerpoint/2010/main" val="2599135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113714-DDE3-41A3-950E-A90032907E58}"/>
              </a:ext>
            </a:extLst>
          </p:cNvPr>
          <p:cNvSpPr>
            <a:spLocks noGrp="1"/>
          </p:cNvSpPr>
          <p:nvPr>
            <p:ph idx="1"/>
          </p:nvPr>
        </p:nvSpPr>
        <p:spPr>
          <a:xfrm>
            <a:off x="0" y="140002"/>
            <a:ext cx="12192000" cy="491369"/>
          </a:xfrm>
        </p:spPr>
        <p:txBody>
          <a:bodyPr vert="horz" lIns="91440" tIns="45720" rIns="91440" bIns="45720" rtlCol="0">
            <a:noAutofit/>
          </a:bodyPr>
          <a:lstStyle/>
          <a:p>
            <a:pPr marL="0" lvl="1" indent="0">
              <a:lnSpc>
                <a:spcPct val="100000"/>
              </a:lnSpc>
              <a:buNone/>
            </a:pPr>
            <a:r>
              <a:rPr lang="zh-CN" altLang="en-US" sz="2400" b="1" dirty="0">
                <a:ea typeface="黑体" pitchFamily="49" charset="-122"/>
              </a:rPr>
              <a:t>假定</a:t>
            </a:r>
            <a:r>
              <a:rPr lang="en-US" altLang="zh-CN" sz="2400" b="1" dirty="0" err="1">
                <a:ea typeface="黑体" pitchFamily="49" charset="-122"/>
              </a:rPr>
              <a:t>Aa</a:t>
            </a:r>
            <a:r>
              <a:rPr lang="zh-CN" altLang="en-US" sz="2400" b="1" dirty="0">
                <a:ea typeface="黑体" pitchFamily="49" charset="-122"/>
              </a:rPr>
              <a:t>的适合度为</a:t>
            </a:r>
            <a:r>
              <a:rPr lang="en-US" altLang="zh-CN" sz="2400" b="1" dirty="0">
                <a:ea typeface="黑体" pitchFamily="49" charset="-122"/>
              </a:rPr>
              <a:t>1</a:t>
            </a:r>
            <a:r>
              <a:rPr lang="zh-CN" altLang="en-US" sz="2400" b="1" dirty="0">
                <a:ea typeface="黑体" pitchFamily="49" charset="-122"/>
              </a:rPr>
              <a:t>，</a:t>
            </a:r>
            <a:r>
              <a:rPr lang="en-US" altLang="zh-CN" sz="2400" b="1" dirty="0">
                <a:ea typeface="黑体" pitchFamily="49" charset="-122"/>
              </a:rPr>
              <a:t>AA</a:t>
            </a:r>
            <a:r>
              <a:rPr lang="zh-CN" altLang="en-US" sz="2400" b="1" dirty="0">
                <a:ea typeface="黑体" pitchFamily="49" charset="-122"/>
              </a:rPr>
              <a:t>为</a:t>
            </a:r>
            <a:r>
              <a:rPr lang="en-US" altLang="zh-CN" sz="2400" b="1" dirty="0">
                <a:ea typeface="黑体" pitchFamily="49" charset="-122"/>
              </a:rPr>
              <a:t>1-s</a:t>
            </a:r>
            <a:r>
              <a:rPr lang="zh-CN" altLang="en-US" sz="2400" b="1" dirty="0">
                <a:ea typeface="黑体" pitchFamily="49" charset="-122"/>
              </a:rPr>
              <a:t>，</a:t>
            </a:r>
            <a:r>
              <a:rPr lang="en-US" altLang="zh-CN" sz="2400" b="1" dirty="0" err="1">
                <a:ea typeface="黑体" pitchFamily="49" charset="-122"/>
              </a:rPr>
              <a:t>aa</a:t>
            </a:r>
            <a:r>
              <a:rPr lang="zh-CN" altLang="en-US" sz="2400" b="1" dirty="0">
                <a:ea typeface="黑体" pitchFamily="49" charset="-122"/>
              </a:rPr>
              <a:t>为 </a:t>
            </a:r>
            <a:r>
              <a:rPr lang="en-US" altLang="zh-CN" sz="2400" b="1" dirty="0">
                <a:ea typeface="黑体" pitchFamily="49" charset="-122"/>
              </a:rPr>
              <a:t>1-t</a:t>
            </a:r>
            <a:r>
              <a:rPr lang="zh-CN" altLang="en-US" sz="2400" b="1" dirty="0">
                <a:ea typeface="黑体" pitchFamily="49" charset="-122"/>
              </a:rPr>
              <a:t>。 经一代选择后，基因</a:t>
            </a:r>
            <a:r>
              <a:rPr lang="en-US" altLang="zh-CN" sz="2400" b="1" dirty="0">
                <a:ea typeface="黑体" pitchFamily="49" charset="-122"/>
              </a:rPr>
              <a:t>a</a:t>
            </a:r>
            <a:r>
              <a:rPr lang="zh-CN" altLang="en-US" sz="2400" b="1" dirty="0">
                <a:ea typeface="黑体" pitchFamily="49" charset="-122"/>
              </a:rPr>
              <a:t>频率的改变可计算如下：</a:t>
            </a:r>
          </a:p>
        </p:txBody>
      </p:sp>
      <p:pic>
        <p:nvPicPr>
          <p:cNvPr id="6" name="图片 5">
            <a:extLst>
              <a:ext uri="{FF2B5EF4-FFF2-40B4-BE49-F238E27FC236}">
                <a16:creationId xmlns:a16="http://schemas.microsoft.com/office/drawing/2014/main" id="{C137D737-8F75-4EA0-ACB9-6DE431C784BB}"/>
              </a:ext>
            </a:extLst>
          </p:cNvPr>
          <p:cNvPicPr>
            <a:picLocks noChangeAspect="1"/>
          </p:cNvPicPr>
          <p:nvPr/>
        </p:nvPicPr>
        <p:blipFill rotWithShape="1">
          <a:blip r:embed="rId2"/>
          <a:srcRect l="2268" t="14663" r="1549" b="5395"/>
          <a:stretch/>
        </p:blipFill>
        <p:spPr>
          <a:xfrm>
            <a:off x="-14896" y="751113"/>
            <a:ext cx="12206896" cy="4038600"/>
          </a:xfrm>
          <a:prstGeom prst="rect">
            <a:avLst/>
          </a:prstGeom>
        </p:spPr>
      </p:pic>
      <p:sp>
        <p:nvSpPr>
          <p:cNvPr id="8" name="文本框 7">
            <a:extLst>
              <a:ext uri="{FF2B5EF4-FFF2-40B4-BE49-F238E27FC236}">
                <a16:creationId xmlns:a16="http://schemas.microsoft.com/office/drawing/2014/main" id="{293C66AA-94C2-4988-AB38-8541B3AB4D1F}"/>
              </a:ext>
            </a:extLst>
          </p:cNvPr>
          <p:cNvSpPr txBox="1"/>
          <p:nvPr/>
        </p:nvSpPr>
        <p:spPr>
          <a:xfrm>
            <a:off x="-7448" y="4797600"/>
            <a:ext cx="12192000" cy="1089529"/>
          </a:xfrm>
          <a:prstGeom prst="rect">
            <a:avLst/>
          </a:prstGeom>
        </p:spPr>
        <p:txBody>
          <a:bodyPr vert="horz" lIns="91440" tIns="45720" rIns="91440" bIns="45720" rtlCol="0">
            <a:noAutofit/>
          </a:bodyPr>
          <a:lstStyle>
            <a:lvl1pPr marL="457200" indent="-457200">
              <a:lnSpc>
                <a:spcPct val="90000"/>
              </a:lnSpc>
              <a:spcBef>
                <a:spcPts val="1000"/>
              </a:spcBef>
              <a:buFont typeface="+mj-lt"/>
              <a:buAutoNum type="arabicPeriod"/>
              <a:defRPr sz="2400" b="1">
                <a:solidFill>
                  <a:srgbClr val="1207F7"/>
                </a:solidFill>
                <a:latin typeface="Times New Roman" panose="02020603050405020304" pitchFamily="18" charset="0"/>
                <a:ea typeface="黑体" pitchFamily="49" charset="-122"/>
                <a:cs typeface="Times New Roman" panose="02020603050405020304" pitchFamily="18" charset="0"/>
              </a:defRPr>
            </a:lvl1pPr>
            <a:lvl2pPr marL="0" lvl="1" indent="0">
              <a:lnSpc>
                <a:spcPct val="100000"/>
              </a:lnSpc>
              <a:spcBef>
                <a:spcPts val="500"/>
              </a:spcBef>
              <a:buFont typeface="Wingdings" panose="05000000000000000000" pitchFamily="2" charset="2"/>
              <a:buNone/>
              <a:defRPr sz="2400" b="1">
                <a:latin typeface="Times New Roman" panose="02020603050405020304" pitchFamily="18" charset="0"/>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        如果希望基因 </a:t>
            </a:r>
            <a:r>
              <a:rPr lang="en-US" altLang="zh-CN" dirty="0"/>
              <a:t>a</a:t>
            </a:r>
            <a:r>
              <a:rPr lang="zh-CN" altLang="en-US" dirty="0"/>
              <a:t>频率在相继世代中保持不变，即要 </a:t>
            </a:r>
            <a:r>
              <a:rPr lang="en-US" altLang="zh-CN" dirty="0" err="1"/>
              <a:t>Δq</a:t>
            </a:r>
            <a:r>
              <a:rPr lang="en-US" altLang="zh-CN" dirty="0"/>
              <a:t> = 0</a:t>
            </a:r>
            <a:r>
              <a:rPr lang="zh-CN" altLang="en-US" dirty="0"/>
              <a:t>，有 </a:t>
            </a:r>
            <a:r>
              <a:rPr lang="en-US" altLang="zh-CN" dirty="0"/>
              <a:t>3 </a:t>
            </a:r>
            <a:r>
              <a:rPr lang="zh-CN" altLang="en-US" dirty="0"/>
              <a:t>种可能：</a:t>
            </a:r>
            <a:endParaRPr lang="en-US" altLang="zh-CN" dirty="0"/>
          </a:p>
          <a:p>
            <a:pPr lvl="1" algn="ctr"/>
            <a:r>
              <a:rPr lang="en-US" altLang="zh-CN" dirty="0"/>
              <a:t>(1) </a:t>
            </a:r>
            <a:r>
              <a:rPr lang="zh-CN" altLang="en-US" dirty="0"/>
              <a:t> </a:t>
            </a:r>
            <a:r>
              <a:rPr lang="en-US" altLang="zh-CN" dirty="0"/>
              <a:t>p = 0</a:t>
            </a:r>
            <a:r>
              <a:rPr lang="zh-CN" altLang="en-US" dirty="0"/>
              <a:t>，</a:t>
            </a:r>
            <a:r>
              <a:rPr lang="en-US" altLang="zh-CN" dirty="0"/>
              <a:t>(2)</a:t>
            </a:r>
            <a:r>
              <a:rPr lang="zh-CN" altLang="en-US" dirty="0"/>
              <a:t> </a:t>
            </a:r>
            <a:r>
              <a:rPr lang="en-US" altLang="zh-CN" dirty="0"/>
              <a:t>q = 0</a:t>
            </a:r>
            <a:r>
              <a:rPr lang="zh-CN" altLang="en-US" dirty="0"/>
              <a:t>，</a:t>
            </a:r>
            <a:r>
              <a:rPr lang="en-US" altLang="zh-CN" dirty="0"/>
              <a:t>(3)</a:t>
            </a:r>
            <a:r>
              <a:rPr lang="zh-CN" altLang="en-US" dirty="0"/>
              <a:t> </a:t>
            </a:r>
            <a:r>
              <a:rPr lang="en-US" altLang="zh-CN" dirty="0" err="1"/>
              <a:t>ps</a:t>
            </a:r>
            <a:r>
              <a:rPr lang="en-US" altLang="zh-CN" dirty="0"/>
              <a:t> = qt</a:t>
            </a:r>
            <a:r>
              <a:rPr lang="zh-CN" altLang="en-US" dirty="0"/>
              <a:t>。</a:t>
            </a:r>
          </a:p>
        </p:txBody>
      </p:sp>
    </p:spTree>
    <p:extLst>
      <p:ext uri="{BB962C8B-B14F-4D97-AF65-F5344CB8AC3E}">
        <p14:creationId xmlns:p14="http://schemas.microsoft.com/office/powerpoint/2010/main" val="299969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DE85E16-E667-45B9-AC65-635ED842F91C}"/>
              </a:ext>
            </a:extLst>
          </p:cNvPr>
          <p:cNvPicPr>
            <a:picLocks noChangeAspect="1"/>
          </p:cNvPicPr>
          <p:nvPr/>
        </p:nvPicPr>
        <p:blipFill rotWithShape="1">
          <a:blip r:embed="rId2"/>
          <a:srcRect l="2511" t="13617" r="1747" b="5531"/>
          <a:stretch/>
        </p:blipFill>
        <p:spPr>
          <a:xfrm>
            <a:off x="209153" y="1300442"/>
            <a:ext cx="11297047" cy="3878267"/>
          </a:xfrm>
          <a:prstGeom prst="rect">
            <a:avLst/>
          </a:prstGeom>
        </p:spPr>
      </p:pic>
      <p:sp>
        <p:nvSpPr>
          <p:cNvPr id="3" name="内容占位符 2">
            <a:extLst>
              <a:ext uri="{FF2B5EF4-FFF2-40B4-BE49-F238E27FC236}">
                <a16:creationId xmlns:a16="http://schemas.microsoft.com/office/drawing/2014/main" id="{DEEFE797-1F94-42F8-B074-E42E2DC3519E}"/>
              </a:ext>
            </a:extLst>
          </p:cNvPr>
          <p:cNvSpPr>
            <a:spLocks noGrp="1"/>
          </p:cNvSpPr>
          <p:nvPr>
            <p:ph idx="1"/>
          </p:nvPr>
        </p:nvSpPr>
        <p:spPr>
          <a:xfrm>
            <a:off x="0" y="72140"/>
            <a:ext cx="12192000" cy="1300841"/>
          </a:xfrm>
        </p:spPr>
        <p:txBody>
          <a:bodyPr vert="horz" lIns="91440" tIns="45720" rIns="91440" bIns="45720" rtlCol="0">
            <a:normAutofit/>
          </a:bodyPr>
          <a:lstStyle/>
          <a:p>
            <a:pPr marL="0" lvl="1" indent="0">
              <a:lnSpc>
                <a:spcPct val="110000"/>
              </a:lnSpc>
              <a:spcBef>
                <a:spcPts val="1200"/>
              </a:spcBef>
            </a:pPr>
            <a:r>
              <a:rPr lang="zh-CN" altLang="en-US" sz="2400" dirty="0"/>
              <a:t>在赤道非洲的某些群体中，婴儿时期 </a:t>
            </a:r>
            <a:r>
              <a:rPr lang="en-US" altLang="zh-CN" sz="2400" dirty="0"/>
              <a:t>3 </a:t>
            </a:r>
            <a:r>
              <a:rPr lang="zh-CN" altLang="en-US" sz="2400" dirty="0"/>
              <a:t>种基因型 </a:t>
            </a:r>
            <a:r>
              <a:rPr lang="en-US" altLang="zh-CN" sz="2400" dirty="0"/>
              <a:t>HBB</a:t>
            </a:r>
            <a:r>
              <a:rPr lang="en-US" altLang="zh-CN" sz="2400" baseline="30000" dirty="0"/>
              <a:t>A</a:t>
            </a:r>
            <a:r>
              <a:rPr lang="en-US" altLang="zh-CN" sz="2400" dirty="0"/>
              <a:t> </a:t>
            </a:r>
            <a:r>
              <a:rPr lang="en-US" altLang="zh-CN" sz="2400" dirty="0" err="1"/>
              <a:t>HBB</a:t>
            </a:r>
            <a:r>
              <a:rPr lang="en-US" altLang="zh-CN" sz="2400" baseline="30000" dirty="0" err="1"/>
              <a:t>A</a:t>
            </a:r>
            <a:r>
              <a:rPr lang="en-US" altLang="zh-CN" sz="2400" dirty="0"/>
              <a:t> </a:t>
            </a:r>
            <a:r>
              <a:rPr lang="zh-CN" altLang="en-US" sz="2400" dirty="0"/>
              <a:t>、</a:t>
            </a:r>
            <a:r>
              <a:rPr lang="en-US" altLang="zh-CN" sz="2400" dirty="0"/>
              <a:t> HBB</a:t>
            </a:r>
            <a:r>
              <a:rPr lang="en-US" altLang="zh-CN" sz="2400" baseline="30000" dirty="0"/>
              <a:t>A</a:t>
            </a:r>
            <a:r>
              <a:rPr lang="en-US" altLang="zh-CN" sz="2400" dirty="0"/>
              <a:t> HBB</a:t>
            </a:r>
            <a:r>
              <a:rPr lang="en-US" altLang="zh-CN" sz="2400" baseline="30000" dirty="0"/>
              <a:t>S</a:t>
            </a:r>
            <a:r>
              <a:rPr lang="zh-CN" altLang="en-US" sz="2400" dirty="0"/>
              <a:t>和 </a:t>
            </a:r>
            <a:r>
              <a:rPr lang="en-US" altLang="zh-CN" sz="2400" dirty="0"/>
              <a:t>HBB</a:t>
            </a:r>
            <a:r>
              <a:rPr lang="en-US" altLang="zh-CN" sz="2400" baseline="30000" dirty="0"/>
              <a:t>S</a:t>
            </a:r>
            <a:r>
              <a:rPr lang="en-US" altLang="zh-CN" sz="2400" dirty="0"/>
              <a:t> HBB</a:t>
            </a:r>
            <a:r>
              <a:rPr lang="en-US" altLang="zh-CN" sz="2400" baseline="30000" dirty="0"/>
              <a:t>S</a:t>
            </a:r>
            <a:r>
              <a:rPr lang="zh-CN" altLang="en-US" sz="2400" dirty="0"/>
              <a:t>符合遗传平衡时的频率。镰状细胞贫血患者的频率高达 </a:t>
            </a:r>
            <a:r>
              <a:rPr lang="en-US" altLang="zh-CN" sz="2400" dirty="0"/>
              <a:t>4%</a:t>
            </a:r>
            <a:r>
              <a:rPr lang="zh-CN" altLang="en-US" sz="2400" dirty="0"/>
              <a:t>，患者几乎在成年前死亡，即</a:t>
            </a:r>
            <a:r>
              <a:rPr lang="en-US" altLang="zh-CN" sz="2400" dirty="0"/>
              <a:t>1-t = 0</a:t>
            </a:r>
            <a:r>
              <a:rPr lang="zh-CN" altLang="en-US" sz="2400" dirty="0"/>
              <a:t>。</a:t>
            </a:r>
          </a:p>
        </p:txBody>
      </p:sp>
      <p:sp>
        <p:nvSpPr>
          <p:cNvPr id="6" name="文本框 5">
            <a:extLst>
              <a:ext uri="{FF2B5EF4-FFF2-40B4-BE49-F238E27FC236}">
                <a16:creationId xmlns:a16="http://schemas.microsoft.com/office/drawing/2014/main" id="{4232970A-8BFE-4F77-B58D-25EF4A120179}"/>
              </a:ext>
            </a:extLst>
          </p:cNvPr>
          <p:cNvSpPr txBox="1"/>
          <p:nvPr/>
        </p:nvSpPr>
        <p:spPr>
          <a:xfrm>
            <a:off x="31600" y="5178709"/>
            <a:ext cx="6771971" cy="757130"/>
          </a:xfrm>
          <a:prstGeom prst="rect">
            <a:avLst/>
          </a:prstGeom>
        </p:spPr>
        <p:txBody>
          <a:bodyPr vert="horz" lIns="91440" tIns="45720" rIns="91440" bIns="45720" rtlCol="0">
            <a:noAutofit/>
          </a:bodyPr>
          <a:lstStyle>
            <a:lvl1pPr marL="457200" indent="-457200">
              <a:lnSpc>
                <a:spcPct val="90000"/>
              </a:lnSpc>
              <a:spcBef>
                <a:spcPts val="1000"/>
              </a:spcBef>
              <a:buFont typeface="+mj-lt"/>
              <a:buAutoNum type="arabicPeriod"/>
              <a:defRPr sz="2400" b="1">
                <a:solidFill>
                  <a:srgbClr val="1207F7"/>
                </a:solidFill>
                <a:latin typeface="Times New Roman" panose="02020603050405020304" pitchFamily="18" charset="0"/>
                <a:ea typeface="黑体" pitchFamily="49" charset="-122"/>
                <a:cs typeface="Times New Roman" panose="02020603050405020304" pitchFamily="18" charset="0"/>
              </a:defRPr>
            </a:lvl1pPr>
            <a:lvl2pPr marL="0" lvl="1" indent="0">
              <a:lnSpc>
                <a:spcPct val="100000"/>
              </a:lnSpc>
              <a:spcBef>
                <a:spcPts val="500"/>
              </a:spcBef>
              <a:buFont typeface="Wingdings" panose="05000000000000000000" pitchFamily="2" charset="2"/>
              <a:buNone/>
              <a:defRPr sz="2400" b="1">
                <a:latin typeface="Times New Roman" panose="02020603050405020304" pitchFamily="18" charset="0"/>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如果想求出能使群体保持平衡时的 </a:t>
            </a:r>
            <a:r>
              <a:rPr lang="en-US" altLang="zh-CN" dirty="0"/>
              <a:t>s</a:t>
            </a:r>
            <a:r>
              <a:rPr lang="zh-CN" altLang="en-US" dirty="0"/>
              <a:t>值，需满足</a:t>
            </a:r>
          </a:p>
        </p:txBody>
      </p:sp>
      <p:pic>
        <p:nvPicPr>
          <p:cNvPr id="8" name="图片 7">
            <a:extLst>
              <a:ext uri="{FF2B5EF4-FFF2-40B4-BE49-F238E27FC236}">
                <a16:creationId xmlns:a16="http://schemas.microsoft.com/office/drawing/2014/main" id="{334DB80A-725F-4967-B01F-69A9C1FCD06C}"/>
              </a:ext>
            </a:extLst>
          </p:cNvPr>
          <p:cNvPicPr>
            <a:picLocks noChangeAspect="1"/>
          </p:cNvPicPr>
          <p:nvPr/>
        </p:nvPicPr>
        <p:blipFill rotWithShape="1">
          <a:blip r:embed="rId3"/>
          <a:srcRect l="4909"/>
          <a:stretch/>
        </p:blipFill>
        <p:spPr>
          <a:xfrm>
            <a:off x="6419190" y="4895000"/>
            <a:ext cx="5772810" cy="935845"/>
          </a:xfrm>
          <a:prstGeom prst="rect">
            <a:avLst/>
          </a:prstGeom>
        </p:spPr>
      </p:pic>
      <p:sp>
        <p:nvSpPr>
          <p:cNvPr id="10" name="文本框 9">
            <a:extLst>
              <a:ext uri="{FF2B5EF4-FFF2-40B4-BE49-F238E27FC236}">
                <a16:creationId xmlns:a16="http://schemas.microsoft.com/office/drawing/2014/main" id="{C49EF45C-5316-4083-9CC6-9651510E6340}"/>
              </a:ext>
            </a:extLst>
          </p:cNvPr>
          <p:cNvSpPr txBox="1"/>
          <p:nvPr/>
        </p:nvSpPr>
        <p:spPr>
          <a:xfrm>
            <a:off x="3734965" y="5830845"/>
            <a:ext cx="3993892" cy="424732"/>
          </a:xfrm>
          <a:prstGeom prst="rect">
            <a:avLst/>
          </a:prstGeom>
        </p:spPr>
        <p:txBody>
          <a:bodyPr vert="horz" lIns="91440" tIns="45720" rIns="91440" bIns="45720" rtlCol="0">
            <a:noAutofit/>
          </a:bodyPr>
          <a:lstStyle>
            <a:defPPr>
              <a:defRPr lang="zh-CN"/>
            </a:defPPr>
            <a:lvl1pPr marL="457200" indent="-457200">
              <a:lnSpc>
                <a:spcPct val="90000"/>
              </a:lnSpc>
              <a:spcBef>
                <a:spcPts val="1000"/>
              </a:spcBef>
              <a:buFont typeface="+mj-lt"/>
              <a:buAutoNum type="arabicPeriod"/>
              <a:defRPr sz="2400" b="1">
                <a:solidFill>
                  <a:srgbClr val="1207F7"/>
                </a:solidFill>
                <a:latin typeface="Times New Roman" panose="02020603050405020304" pitchFamily="18" charset="0"/>
                <a:ea typeface="黑体" pitchFamily="49" charset="-122"/>
                <a:cs typeface="Times New Roman" panose="02020603050405020304" pitchFamily="18" charset="0"/>
              </a:defRPr>
            </a:lvl1pPr>
            <a:lvl2pPr marL="0" lvl="1" indent="0">
              <a:lnSpc>
                <a:spcPct val="100000"/>
              </a:lnSpc>
              <a:spcBef>
                <a:spcPts val="500"/>
              </a:spcBef>
              <a:buFont typeface="Wingdings" panose="05000000000000000000" pitchFamily="2" charset="2"/>
              <a:buNone/>
              <a:defRPr sz="2400" b="1">
                <a:latin typeface="Times New Roman" panose="02020603050405020304" pitchFamily="18" charset="0"/>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sz="3200" dirty="0">
                <a:solidFill>
                  <a:srgbClr val="FF0000"/>
                </a:solidFill>
              </a:rPr>
              <a:t> </a:t>
            </a:r>
            <a:r>
              <a:rPr lang="en-US" altLang="zh-CN" sz="3200" dirty="0">
                <a:solidFill>
                  <a:srgbClr val="FF0000"/>
                </a:solidFill>
              </a:rPr>
              <a:t>s = qt/p = 0.25</a:t>
            </a:r>
            <a:endParaRPr lang="zh-CN" altLang="en-US" sz="3200" dirty="0">
              <a:solidFill>
                <a:srgbClr val="FF0000"/>
              </a:solidFill>
            </a:endParaRPr>
          </a:p>
        </p:txBody>
      </p:sp>
    </p:spTree>
    <p:extLst>
      <p:ext uri="{BB962C8B-B14F-4D97-AF65-F5344CB8AC3E}">
        <p14:creationId xmlns:p14="http://schemas.microsoft.com/office/powerpoint/2010/main" val="51069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EF7289B-9A31-4EBB-A1FB-CF452E06FDD5}"/>
              </a:ext>
            </a:extLst>
          </p:cNvPr>
          <p:cNvSpPr>
            <a:spLocks noGrp="1"/>
          </p:cNvSpPr>
          <p:nvPr>
            <p:ph idx="1"/>
          </p:nvPr>
        </p:nvSpPr>
        <p:spPr>
          <a:xfrm>
            <a:off x="0" y="804015"/>
            <a:ext cx="12192000" cy="5228197"/>
          </a:xfrm>
        </p:spPr>
        <p:txBody>
          <a:bodyPr vert="horz" lIns="91440" tIns="45720" rIns="91440" bIns="45720" rtlCol="0">
            <a:normAutofit/>
          </a:bodyPr>
          <a:lstStyle/>
          <a:p>
            <a:pPr marL="0" lvl="1" indent="0">
              <a:lnSpc>
                <a:spcPct val="110000"/>
              </a:lnSpc>
              <a:spcBef>
                <a:spcPts val="1200"/>
              </a:spcBef>
            </a:pPr>
            <a:r>
              <a:rPr lang="zh-CN" altLang="en-US" sz="2400" dirty="0"/>
              <a:t>从镰状细胞贫血的例子中可以看到，当自然选择对杂合子有利时，可以出现没有等位基因频率变化的动态平衡，这种特殊情况被称为</a:t>
            </a:r>
            <a:r>
              <a:rPr lang="zh-CN" altLang="en-US" sz="2400" b="1" dirty="0">
                <a:solidFill>
                  <a:srgbClr val="FF0000"/>
                </a:solidFill>
              </a:rPr>
              <a:t>平衡选择</a:t>
            </a:r>
            <a:r>
              <a:rPr lang="zh-CN" altLang="en-US" sz="2400" dirty="0"/>
              <a:t>（</a:t>
            </a:r>
            <a:r>
              <a:rPr lang="en-US" altLang="zh-CN" sz="2400" dirty="0"/>
              <a:t>balancing selection</a:t>
            </a:r>
            <a:r>
              <a:rPr lang="zh-CN" altLang="en-US" sz="2400" dirty="0"/>
              <a:t>）或</a:t>
            </a:r>
            <a:r>
              <a:rPr lang="zh-CN" altLang="en-US" sz="2400" b="1" dirty="0">
                <a:solidFill>
                  <a:srgbClr val="FF0000"/>
                </a:solidFill>
              </a:rPr>
              <a:t>杂合子优势</a:t>
            </a:r>
            <a:r>
              <a:rPr lang="zh-CN" altLang="en-US" sz="2400" dirty="0"/>
              <a:t>（</a:t>
            </a:r>
            <a:r>
              <a:rPr lang="en-US" altLang="zh-CN" sz="2400" dirty="0"/>
              <a:t>heterozygote advantage</a:t>
            </a:r>
            <a:r>
              <a:rPr lang="zh-CN" altLang="en-US" sz="2400" dirty="0"/>
              <a:t>）。</a:t>
            </a:r>
            <a:endParaRPr lang="en-US" altLang="zh-CN" sz="2400" dirty="0"/>
          </a:p>
          <a:p>
            <a:pPr marL="0" lvl="1" indent="0">
              <a:lnSpc>
                <a:spcPct val="110000"/>
              </a:lnSpc>
              <a:spcBef>
                <a:spcPts val="1200"/>
              </a:spcBef>
            </a:pPr>
            <a:r>
              <a:rPr lang="zh-CN" altLang="en-US" sz="2400" dirty="0"/>
              <a:t>这种平衡选择可以将不同的等位基因以一定频率同时在群体中保留下来，不被淘汰。</a:t>
            </a:r>
          </a:p>
        </p:txBody>
      </p:sp>
    </p:spTree>
    <p:extLst>
      <p:ext uri="{BB962C8B-B14F-4D97-AF65-F5344CB8AC3E}">
        <p14:creationId xmlns:p14="http://schemas.microsoft.com/office/powerpoint/2010/main" val="3973006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00DE39E-7829-4A51-811F-25C0579EDDCA}"/>
              </a:ext>
            </a:extLst>
          </p:cNvPr>
          <p:cNvSpPr>
            <a:spLocks noGrp="1"/>
          </p:cNvSpPr>
          <p:nvPr>
            <p:ph type="title"/>
          </p:nvPr>
        </p:nvSpPr>
        <p:spPr>
          <a:xfrm>
            <a:off x="260838" y="21771"/>
            <a:ext cx="10515600" cy="725121"/>
          </a:xfrm>
        </p:spPr>
        <p:txBody>
          <a:bodyPr/>
          <a:lstStyle/>
          <a:p>
            <a:r>
              <a:rPr lang="zh-CN" altLang="en-US" dirty="0"/>
              <a:t>八、 突变和选择共同作用下的群体平衡</a:t>
            </a:r>
          </a:p>
        </p:txBody>
      </p:sp>
      <p:sp>
        <p:nvSpPr>
          <p:cNvPr id="5" name="内容占位符 4">
            <a:extLst>
              <a:ext uri="{FF2B5EF4-FFF2-40B4-BE49-F238E27FC236}">
                <a16:creationId xmlns:a16="http://schemas.microsoft.com/office/drawing/2014/main" id="{02C8B3C7-D377-4DB9-B72F-58FC4C786340}"/>
              </a:ext>
            </a:extLst>
          </p:cNvPr>
          <p:cNvSpPr>
            <a:spLocks noGrp="1"/>
          </p:cNvSpPr>
          <p:nvPr>
            <p:ph sz="half" idx="1"/>
          </p:nvPr>
        </p:nvSpPr>
        <p:spPr>
          <a:xfrm>
            <a:off x="0" y="933279"/>
            <a:ext cx="12192000" cy="2801690"/>
          </a:xfrm>
        </p:spPr>
        <p:txBody>
          <a:bodyPr vert="horz" lIns="91440" tIns="45720" rIns="91440" bIns="45720" rtlCol="0">
            <a:normAutofit/>
          </a:bodyPr>
          <a:lstStyle/>
          <a:p>
            <a:pPr marL="0" lvl="1" indent="0">
              <a:lnSpc>
                <a:spcPct val="110000"/>
              </a:lnSpc>
              <a:spcBef>
                <a:spcPts val="1200"/>
              </a:spcBef>
            </a:pPr>
            <a:r>
              <a:rPr lang="zh-CN" altLang="en-US" sz="2400" dirty="0"/>
              <a:t>在真实自然界，突变和选择都在起作用，所以等位基因频率往往同时受到这两个因素的影响。</a:t>
            </a:r>
            <a:endParaRPr lang="en-US" altLang="zh-CN" sz="2400" dirty="0"/>
          </a:p>
          <a:p>
            <a:pPr marL="0" lvl="1" indent="0">
              <a:lnSpc>
                <a:spcPct val="110000"/>
              </a:lnSpc>
              <a:spcBef>
                <a:spcPts val="1200"/>
              </a:spcBef>
            </a:pPr>
            <a:r>
              <a:rPr lang="zh-CN" altLang="en-US" sz="2400" dirty="0"/>
              <a:t>假设隐性纯合子在选择上不利，隐性基因 </a:t>
            </a:r>
            <a:r>
              <a:rPr lang="en-US" altLang="zh-CN" sz="2400" dirty="0"/>
              <a:t>a </a:t>
            </a:r>
            <a:r>
              <a:rPr lang="zh-CN" altLang="en-US" sz="2400" dirty="0"/>
              <a:t>的频率 </a:t>
            </a:r>
            <a:r>
              <a:rPr lang="en-US" altLang="zh-CN" sz="2400" dirty="0"/>
              <a:t>q </a:t>
            </a:r>
            <a:r>
              <a:rPr lang="zh-CN" altLang="en-US" sz="2400" dirty="0"/>
              <a:t>每代减少 </a:t>
            </a:r>
            <a:r>
              <a:rPr lang="en-US" altLang="zh-CN" sz="2400" dirty="0"/>
              <a:t>sq</a:t>
            </a:r>
            <a:r>
              <a:rPr lang="en-US" altLang="zh-CN" sz="2400" baseline="30000" dirty="0"/>
              <a:t>2</a:t>
            </a:r>
            <a:r>
              <a:rPr lang="en-US" altLang="zh-CN" sz="2400" dirty="0"/>
              <a:t>(1-q)</a:t>
            </a:r>
            <a:r>
              <a:rPr lang="zh-CN" altLang="en-US" sz="2400" dirty="0"/>
              <a:t>， 而新产生的隐性突变基因的频率等于 </a:t>
            </a:r>
            <a:r>
              <a:rPr lang="en-US" altLang="zh-CN" sz="2400" dirty="0"/>
              <a:t>(1-q)u</a:t>
            </a:r>
            <a:r>
              <a:rPr lang="zh-CN" altLang="en-US" sz="2400" dirty="0"/>
              <a:t>。在平衡时，突变所产生的隐性基因数应该与选择所淘汰的数目相等。</a:t>
            </a:r>
            <a:endParaRPr lang="en-US" altLang="zh-CN" sz="2400" dirty="0"/>
          </a:p>
          <a:p>
            <a:pPr>
              <a:lnSpc>
                <a:spcPct val="110000"/>
              </a:lnSpc>
            </a:pPr>
            <a:endParaRPr lang="zh-CN" altLang="en-US" sz="2000" dirty="0">
              <a:solidFill>
                <a:srgbClr val="0000FF"/>
              </a:solidFill>
            </a:endParaRPr>
          </a:p>
        </p:txBody>
      </p:sp>
      <p:pic>
        <p:nvPicPr>
          <p:cNvPr id="7" name="图片 6">
            <a:extLst>
              <a:ext uri="{FF2B5EF4-FFF2-40B4-BE49-F238E27FC236}">
                <a16:creationId xmlns:a16="http://schemas.microsoft.com/office/drawing/2014/main" id="{2C168FF0-4D97-4343-80FE-E0F6CFFA21C2}"/>
              </a:ext>
            </a:extLst>
          </p:cNvPr>
          <p:cNvPicPr>
            <a:picLocks noChangeAspect="1"/>
          </p:cNvPicPr>
          <p:nvPr/>
        </p:nvPicPr>
        <p:blipFill>
          <a:blip r:embed="rId2"/>
          <a:stretch>
            <a:fillRect/>
          </a:stretch>
        </p:blipFill>
        <p:spPr>
          <a:xfrm>
            <a:off x="303787" y="3255998"/>
            <a:ext cx="4235471" cy="2700599"/>
          </a:xfrm>
          <a:prstGeom prst="rect">
            <a:avLst/>
          </a:prstGeom>
        </p:spPr>
      </p:pic>
      <p:sp>
        <p:nvSpPr>
          <p:cNvPr id="9" name="文本框 8">
            <a:extLst>
              <a:ext uri="{FF2B5EF4-FFF2-40B4-BE49-F238E27FC236}">
                <a16:creationId xmlns:a16="http://schemas.microsoft.com/office/drawing/2014/main" id="{13C752E9-F8D6-4F9D-8B7E-D7EE70B89FF6}"/>
              </a:ext>
            </a:extLst>
          </p:cNvPr>
          <p:cNvSpPr txBox="1"/>
          <p:nvPr/>
        </p:nvSpPr>
        <p:spPr>
          <a:xfrm>
            <a:off x="5099931" y="3522306"/>
            <a:ext cx="7092069" cy="1202094"/>
          </a:xfrm>
          <a:prstGeom prst="rect">
            <a:avLst/>
          </a:prstGeom>
        </p:spPr>
        <p:txBody>
          <a:bodyPr vert="horz" lIns="91440" tIns="45720" rIns="91440" bIns="45720" rtlCol="0">
            <a:normAutofit/>
          </a:bodyPr>
          <a:lstStyle>
            <a:lvl1pPr marL="457200" indent="-457200">
              <a:lnSpc>
                <a:spcPct val="90000"/>
              </a:lnSpc>
              <a:spcBef>
                <a:spcPts val="1000"/>
              </a:spcBef>
              <a:buFont typeface="+mj-lt"/>
              <a:buAutoNum type="arabicPeriod"/>
              <a:defRPr sz="2400" b="1">
                <a:solidFill>
                  <a:srgbClr val="1207F7"/>
                </a:solidFill>
                <a:latin typeface="Times New Roman" panose="02020603050405020304" pitchFamily="18" charset="0"/>
                <a:ea typeface="黑体" pitchFamily="49" charset="-122"/>
                <a:cs typeface="Times New Roman" panose="02020603050405020304" pitchFamily="18" charset="0"/>
              </a:defRPr>
            </a:lvl1pPr>
            <a:lvl2pPr marL="0" lvl="1" indent="0">
              <a:lnSpc>
                <a:spcPct val="110000"/>
              </a:lnSpc>
              <a:spcBef>
                <a:spcPts val="12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dirty="0">
                <a:solidFill>
                  <a:schemeClr val="tx1"/>
                </a:solidFill>
              </a:rPr>
              <a:t>例题：人类中全色盲是常染色体隐性遗传，大约 </a:t>
            </a:r>
            <a:r>
              <a:rPr lang="en-US" altLang="zh-CN" dirty="0">
                <a:solidFill>
                  <a:schemeClr val="tx1"/>
                </a:solidFill>
              </a:rPr>
              <a:t>8 </a:t>
            </a:r>
            <a:r>
              <a:rPr lang="zh-CN" altLang="en-US" dirty="0">
                <a:solidFill>
                  <a:schemeClr val="tx1"/>
                </a:solidFill>
              </a:rPr>
              <a:t>万人中有 </a:t>
            </a:r>
            <a:r>
              <a:rPr lang="en-US" altLang="zh-CN" dirty="0">
                <a:solidFill>
                  <a:schemeClr val="tx1"/>
                </a:solidFill>
              </a:rPr>
              <a:t>1 </a:t>
            </a:r>
            <a:r>
              <a:rPr lang="zh-CN" altLang="en-US" dirty="0">
                <a:solidFill>
                  <a:schemeClr val="tx1"/>
                </a:solidFill>
              </a:rPr>
              <a:t>个是纯合子。他们的平均子女数约为正常人的一半，则基因突变率为？</a:t>
            </a:r>
          </a:p>
        </p:txBody>
      </p:sp>
      <p:sp>
        <p:nvSpPr>
          <p:cNvPr id="4" name="矩形 3"/>
          <p:cNvSpPr/>
          <p:nvPr/>
        </p:nvSpPr>
        <p:spPr>
          <a:xfrm>
            <a:off x="5991118" y="4724791"/>
            <a:ext cx="4764446" cy="954107"/>
          </a:xfrm>
          <a:prstGeom prst="rect">
            <a:avLst/>
          </a:prstGeom>
        </p:spPr>
        <p:txBody>
          <a:bodyPr wrap="none">
            <a:spAutoFit/>
          </a:bodyPr>
          <a:lstStyle/>
          <a:p>
            <a:r>
              <a:rPr lang="en-US" altLang="zh-CN" sz="2800" b="1" dirty="0">
                <a:solidFill>
                  <a:srgbClr val="FF0000"/>
                </a:solidFill>
              </a:rPr>
              <a:t>q</a:t>
            </a:r>
            <a:r>
              <a:rPr lang="en-US" altLang="zh-CN" sz="2800" b="1" baseline="30000" dirty="0">
                <a:solidFill>
                  <a:srgbClr val="FF0000"/>
                </a:solidFill>
              </a:rPr>
              <a:t>2</a:t>
            </a:r>
            <a:r>
              <a:rPr lang="en-US" altLang="zh-CN" sz="2800" b="1" dirty="0">
                <a:solidFill>
                  <a:srgbClr val="FF0000"/>
                </a:solidFill>
              </a:rPr>
              <a:t> = 1/80000</a:t>
            </a:r>
            <a:r>
              <a:rPr lang="zh-CN" altLang="en-US" sz="2800" b="1" dirty="0">
                <a:solidFill>
                  <a:srgbClr val="FF0000"/>
                </a:solidFill>
              </a:rPr>
              <a:t>，</a:t>
            </a:r>
            <a:r>
              <a:rPr lang="en-US" altLang="zh-CN" sz="2800" b="1" dirty="0">
                <a:solidFill>
                  <a:srgbClr val="FF0000"/>
                </a:solidFill>
              </a:rPr>
              <a:t>s = 0.5</a:t>
            </a:r>
          </a:p>
          <a:p>
            <a:r>
              <a:rPr lang="zh-CN" altLang="en-US" sz="2800" b="1" dirty="0">
                <a:solidFill>
                  <a:srgbClr val="FF0000"/>
                </a:solidFill>
              </a:rPr>
              <a:t>则 </a:t>
            </a:r>
            <a:r>
              <a:rPr lang="en-US" altLang="zh-CN" sz="2800" b="1" dirty="0">
                <a:solidFill>
                  <a:srgbClr val="FF0000"/>
                </a:solidFill>
              </a:rPr>
              <a:t>u = 0.5×1/80000 = 6×10</a:t>
            </a:r>
            <a:r>
              <a:rPr lang="en-US" altLang="zh-CN" sz="2800" b="1" baseline="30000" dirty="0">
                <a:solidFill>
                  <a:srgbClr val="FF0000"/>
                </a:solidFill>
              </a:rPr>
              <a:t>-6</a:t>
            </a:r>
            <a:r>
              <a:rPr lang="zh-CN" altLang="en-US" sz="2800" b="1" dirty="0">
                <a:solidFill>
                  <a:srgbClr val="FF0000"/>
                </a:solidFill>
              </a:rPr>
              <a:t> </a:t>
            </a:r>
          </a:p>
        </p:txBody>
      </p:sp>
    </p:spTree>
    <p:extLst>
      <p:ext uri="{BB962C8B-B14F-4D97-AF65-F5344CB8AC3E}">
        <p14:creationId xmlns:p14="http://schemas.microsoft.com/office/powerpoint/2010/main" val="14329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780DF9-4977-46AC-A94F-BE21491A35D3}"/>
              </a:ext>
            </a:extLst>
          </p:cNvPr>
          <p:cNvSpPr>
            <a:spLocks noGrp="1"/>
          </p:cNvSpPr>
          <p:nvPr>
            <p:ph type="title"/>
          </p:nvPr>
        </p:nvSpPr>
        <p:spPr>
          <a:xfrm>
            <a:off x="500323" y="0"/>
            <a:ext cx="10515600" cy="702456"/>
          </a:xfrm>
        </p:spPr>
        <p:txBody>
          <a:bodyPr/>
          <a:lstStyle/>
          <a:p>
            <a:r>
              <a:rPr lang="zh-CN" altLang="en-US" dirty="0"/>
              <a:t>九、 遗传漂变</a:t>
            </a:r>
          </a:p>
        </p:txBody>
      </p:sp>
      <p:sp>
        <p:nvSpPr>
          <p:cNvPr id="3" name="内容占位符 2">
            <a:extLst>
              <a:ext uri="{FF2B5EF4-FFF2-40B4-BE49-F238E27FC236}">
                <a16:creationId xmlns:a16="http://schemas.microsoft.com/office/drawing/2014/main" id="{B09A92C2-F630-4488-ACCE-951784660F8D}"/>
              </a:ext>
            </a:extLst>
          </p:cNvPr>
          <p:cNvSpPr>
            <a:spLocks noGrp="1"/>
          </p:cNvSpPr>
          <p:nvPr>
            <p:ph sz="half" idx="1"/>
          </p:nvPr>
        </p:nvSpPr>
        <p:spPr>
          <a:xfrm>
            <a:off x="0" y="756502"/>
            <a:ext cx="12191999" cy="5521911"/>
          </a:xfrm>
        </p:spPr>
        <p:txBody>
          <a:bodyPr vert="horz" lIns="91440" tIns="45720" rIns="91440" bIns="45720" rtlCol="0">
            <a:normAutofit/>
          </a:bodyPr>
          <a:lstStyle/>
          <a:p>
            <a:pPr marL="0" lvl="1" indent="0">
              <a:lnSpc>
                <a:spcPct val="110000"/>
              </a:lnSpc>
              <a:spcBef>
                <a:spcPts val="1200"/>
              </a:spcBef>
            </a:pPr>
            <a:r>
              <a:rPr lang="zh-CN" altLang="en-US" sz="2400" dirty="0"/>
              <a:t>遗传平衡定律还有一个重要的前提条件是群体无限大。这是因为在大群体里，不同基因型个体所生育的后裔数可以有变动，但对基因频率不会有明显影响。可是在小群体里，这种波动会对基因频率产生相当大的影响。</a:t>
            </a:r>
            <a:endParaRPr lang="en-US" altLang="zh-CN" sz="2400" dirty="0"/>
          </a:p>
          <a:p>
            <a:pPr marL="0" lvl="1" indent="0">
              <a:lnSpc>
                <a:spcPct val="110000"/>
              </a:lnSpc>
              <a:spcBef>
                <a:spcPts val="1200"/>
              </a:spcBef>
            </a:pPr>
            <a:r>
              <a:rPr lang="zh-CN" altLang="en-US" sz="2400" dirty="0"/>
              <a:t>如果群体很小，由于机会的关系， 甚至也有可能使不利的基因保留下来，而有利的基因被淘汰掉。像这样，由群体较小和偶然事件而造成的基因频率的随机波动，称为</a:t>
            </a:r>
            <a:r>
              <a:rPr lang="zh-CN" altLang="en-US" sz="2400" b="1" dirty="0">
                <a:solidFill>
                  <a:srgbClr val="FF0000"/>
                </a:solidFill>
              </a:rPr>
              <a:t>随机遗传漂变</a:t>
            </a:r>
            <a:r>
              <a:rPr lang="zh-CN" altLang="en-US" sz="2400" dirty="0"/>
              <a:t>（</a:t>
            </a:r>
            <a:r>
              <a:rPr lang="en-US" altLang="zh-CN" sz="2400" dirty="0"/>
              <a:t>random genetic drift</a:t>
            </a:r>
            <a:r>
              <a:rPr lang="zh-CN" altLang="en-US" sz="2400" dirty="0"/>
              <a:t>），或简称</a:t>
            </a:r>
            <a:r>
              <a:rPr lang="zh-CN" altLang="en-US" sz="2400" b="1" dirty="0">
                <a:solidFill>
                  <a:srgbClr val="FF0000"/>
                </a:solidFill>
              </a:rPr>
              <a:t>遗传漂变</a:t>
            </a:r>
            <a:r>
              <a:rPr lang="zh-CN" altLang="en-US" sz="2400" dirty="0"/>
              <a:t>。</a:t>
            </a:r>
            <a:endParaRPr lang="en-US" altLang="zh-CN" sz="2400" dirty="0"/>
          </a:p>
          <a:p>
            <a:pPr marL="0" lvl="1" indent="0">
              <a:lnSpc>
                <a:spcPct val="110000"/>
              </a:lnSpc>
              <a:spcBef>
                <a:spcPts val="1200"/>
              </a:spcBef>
            </a:pPr>
            <a:r>
              <a:rPr lang="zh-CN" altLang="en-US" sz="2400" dirty="0"/>
              <a:t>遗传漂变对基因的弃留不同于选择，只取决于群体的大小和生殖时的机遇。</a:t>
            </a:r>
            <a:endParaRPr lang="en-US" altLang="zh-CN" sz="2400" dirty="0"/>
          </a:p>
          <a:p>
            <a:pPr marL="0" lvl="1" indent="0">
              <a:lnSpc>
                <a:spcPct val="110000"/>
              </a:lnSpc>
              <a:spcBef>
                <a:spcPts val="1200"/>
              </a:spcBef>
            </a:pPr>
            <a:r>
              <a:rPr lang="zh-CN" altLang="en-US" sz="2400" dirty="0"/>
              <a:t>案例：北美印第安人的血型分布，东卡罗林群岛的 </a:t>
            </a:r>
            <a:r>
              <a:rPr lang="en-US" altLang="zh-CN" sz="2400" dirty="0" err="1"/>
              <a:t>Pingelap</a:t>
            </a:r>
            <a:r>
              <a:rPr lang="en-US" altLang="zh-CN" sz="2400" dirty="0"/>
              <a:t> </a:t>
            </a:r>
            <a:r>
              <a:rPr lang="zh-CN" altLang="en-US" sz="2400" dirty="0"/>
              <a:t>人的先天失明</a:t>
            </a:r>
          </a:p>
        </p:txBody>
      </p:sp>
    </p:spTree>
    <p:extLst>
      <p:ext uri="{BB962C8B-B14F-4D97-AF65-F5344CB8AC3E}">
        <p14:creationId xmlns:p14="http://schemas.microsoft.com/office/powerpoint/2010/main" val="2113070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6464A5D-8741-40D5-B09B-0AEEAE9E5C14}"/>
              </a:ext>
            </a:extLst>
          </p:cNvPr>
          <p:cNvSpPr>
            <a:spLocks noGrp="1"/>
          </p:cNvSpPr>
          <p:nvPr>
            <p:ph sz="half" idx="1"/>
          </p:nvPr>
        </p:nvSpPr>
        <p:spPr>
          <a:xfrm>
            <a:off x="0" y="237356"/>
            <a:ext cx="12192000" cy="1772873"/>
          </a:xfrm>
        </p:spPr>
        <p:txBody>
          <a:bodyPr vert="horz" lIns="91440" tIns="45720" rIns="91440" bIns="45720" rtlCol="0">
            <a:normAutofit lnSpcReduction="10000"/>
          </a:bodyPr>
          <a:lstStyle/>
          <a:p>
            <a:pPr marL="0" lvl="1" indent="0">
              <a:lnSpc>
                <a:spcPct val="110000"/>
              </a:lnSpc>
              <a:spcBef>
                <a:spcPts val="1200"/>
              </a:spcBef>
            </a:pPr>
            <a:r>
              <a:rPr lang="zh-CN" altLang="en-US" sz="2400" dirty="0"/>
              <a:t>遗传漂变的方向无法预测，但漂变的范围却可预言。</a:t>
            </a:r>
            <a:endParaRPr lang="en-US" altLang="zh-CN" sz="2400" dirty="0"/>
          </a:p>
          <a:p>
            <a:pPr marL="0" lvl="1" indent="0">
              <a:lnSpc>
                <a:spcPct val="110000"/>
              </a:lnSpc>
              <a:spcBef>
                <a:spcPts val="1200"/>
              </a:spcBef>
            </a:pPr>
            <a:r>
              <a:rPr lang="zh-CN" altLang="en-US" sz="2400" dirty="0"/>
              <a:t>假设有一群体，在生育年龄时群体大小为 </a:t>
            </a:r>
            <a:r>
              <a:rPr lang="en-US" altLang="zh-CN" sz="2400" dirty="0"/>
              <a:t>N</a:t>
            </a:r>
            <a:r>
              <a:rPr lang="zh-CN" altLang="en-US" sz="2400" dirty="0"/>
              <a:t>，那么就常染色体上某一基因座而言，共有 </a:t>
            </a:r>
            <a:r>
              <a:rPr lang="en-US" altLang="zh-CN" sz="2400" dirty="0"/>
              <a:t>2N </a:t>
            </a:r>
            <a:r>
              <a:rPr lang="zh-CN" altLang="en-US" sz="2400" dirty="0"/>
              <a:t>个等位基因。假定这一基因座上的一对等位基因为 </a:t>
            </a:r>
            <a:r>
              <a:rPr lang="en-US" altLang="zh-CN" sz="2400" dirty="0"/>
              <a:t>A </a:t>
            </a:r>
            <a:r>
              <a:rPr lang="zh-CN" altLang="en-US" sz="2400" dirty="0"/>
              <a:t>和 </a:t>
            </a:r>
            <a:r>
              <a:rPr lang="en-US" altLang="zh-CN" sz="2400" dirty="0"/>
              <a:t>a</a:t>
            </a:r>
            <a:r>
              <a:rPr lang="zh-CN" altLang="en-US" sz="2400" dirty="0"/>
              <a:t>，其等位基因频率为 </a:t>
            </a:r>
            <a:r>
              <a:rPr lang="en-US" altLang="zh-CN" sz="2400" dirty="0"/>
              <a:t>p </a:t>
            </a:r>
            <a:r>
              <a:rPr lang="zh-CN" altLang="en-US" sz="2400" dirty="0"/>
              <a:t>和 </a:t>
            </a:r>
            <a:r>
              <a:rPr lang="en-US" altLang="zh-CN" sz="2400" dirty="0"/>
              <a:t>q</a:t>
            </a:r>
            <a:r>
              <a:rPr lang="zh-CN" altLang="en-US" sz="2400" dirty="0"/>
              <a:t>，那么由孟德尔遗传的二项式分布的性质，等位基因频率改变的方差可用</a:t>
            </a:r>
            <a:r>
              <a:rPr lang="en-US" altLang="zh-CN" sz="2400" i="1" dirty="0"/>
              <a:t>s</a:t>
            </a:r>
            <a:r>
              <a:rPr lang="en-US" altLang="zh-CN" sz="2400" i="1" baseline="30000" dirty="0"/>
              <a:t>2</a:t>
            </a:r>
            <a:r>
              <a:rPr lang="en-US" altLang="zh-CN" sz="2400" dirty="0"/>
              <a:t> = </a:t>
            </a:r>
            <a:r>
              <a:rPr lang="en-US" altLang="zh-CN" sz="2400" dirty="0" err="1"/>
              <a:t>pq</a:t>
            </a:r>
            <a:r>
              <a:rPr lang="en-US" altLang="zh-CN" sz="2400" dirty="0"/>
              <a:t>/2N</a:t>
            </a:r>
            <a:r>
              <a:rPr lang="zh-CN" altLang="en-US" sz="2400" dirty="0"/>
              <a:t>表示。</a:t>
            </a:r>
            <a:endParaRPr lang="en-US" altLang="zh-CN" sz="2400" dirty="0"/>
          </a:p>
        </p:txBody>
      </p:sp>
      <p:pic>
        <p:nvPicPr>
          <p:cNvPr id="6" name="图片 5">
            <a:extLst>
              <a:ext uri="{FF2B5EF4-FFF2-40B4-BE49-F238E27FC236}">
                <a16:creationId xmlns:a16="http://schemas.microsoft.com/office/drawing/2014/main" id="{8FDCB51B-3096-49E9-94C5-3BD999B07F8C}"/>
              </a:ext>
            </a:extLst>
          </p:cNvPr>
          <p:cNvPicPr>
            <a:picLocks noChangeAspect="1"/>
          </p:cNvPicPr>
          <p:nvPr/>
        </p:nvPicPr>
        <p:blipFill>
          <a:blip r:embed="rId3"/>
          <a:stretch>
            <a:fillRect/>
          </a:stretch>
        </p:blipFill>
        <p:spPr>
          <a:xfrm>
            <a:off x="5373448" y="2577392"/>
            <a:ext cx="6808934" cy="2604760"/>
          </a:xfrm>
          <a:prstGeom prst="rect">
            <a:avLst/>
          </a:prstGeom>
        </p:spPr>
      </p:pic>
      <p:sp>
        <p:nvSpPr>
          <p:cNvPr id="9" name="文本框 8">
            <a:extLst>
              <a:ext uri="{FF2B5EF4-FFF2-40B4-BE49-F238E27FC236}">
                <a16:creationId xmlns:a16="http://schemas.microsoft.com/office/drawing/2014/main" id="{E0BD3E3D-F4EC-452C-B0EC-667A8B092F75}"/>
              </a:ext>
            </a:extLst>
          </p:cNvPr>
          <p:cNvSpPr txBox="1"/>
          <p:nvPr/>
        </p:nvSpPr>
        <p:spPr>
          <a:xfrm>
            <a:off x="7053048" y="5490808"/>
            <a:ext cx="4173383" cy="338554"/>
          </a:xfrm>
          <a:prstGeom prst="rect">
            <a:avLst/>
          </a:prstGeom>
          <a:solidFill>
            <a:srgbClr val="EDEEF2"/>
          </a:solidFill>
        </p:spPr>
        <p:txBody>
          <a:bodyPr wrap="square">
            <a:spAutoFit/>
          </a:bodyPr>
          <a:lstStyle>
            <a:defPPr>
              <a:defRPr lang="zh-CN"/>
            </a:defPPr>
            <a:lvl1pPr algn="ctr">
              <a:defRPr sz="16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不同种群大小的群体的随机遗传漂变模拟图</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37554"/>
            <a:ext cx="5373448" cy="304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410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D6967-1536-4DF8-B5DE-B93E097ACC01}"/>
              </a:ext>
            </a:extLst>
          </p:cNvPr>
          <p:cNvSpPr>
            <a:spLocks noGrp="1"/>
          </p:cNvSpPr>
          <p:nvPr>
            <p:ph type="title"/>
          </p:nvPr>
        </p:nvSpPr>
        <p:spPr>
          <a:xfrm>
            <a:off x="435010" y="0"/>
            <a:ext cx="10515600" cy="725121"/>
          </a:xfrm>
        </p:spPr>
        <p:txBody>
          <a:bodyPr/>
          <a:lstStyle/>
          <a:p>
            <a:r>
              <a:rPr lang="zh-CN" altLang="en-US" dirty="0"/>
              <a:t>十一、 定向选择与不定向变异</a:t>
            </a:r>
          </a:p>
        </p:txBody>
      </p:sp>
      <p:sp>
        <p:nvSpPr>
          <p:cNvPr id="3" name="内容占位符 2">
            <a:extLst>
              <a:ext uri="{FF2B5EF4-FFF2-40B4-BE49-F238E27FC236}">
                <a16:creationId xmlns:a16="http://schemas.microsoft.com/office/drawing/2014/main" id="{A1D21420-D7A9-4806-978F-947B7E84CC9F}"/>
              </a:ext>
            </a:extLst>
          </p:cNvPr>
          <p:cNvSpPr>
            <a:spLocks noGrp="1"/>
          </p:cNvSpPr>
          <p:nvPr>
            <p:ph sz="half" idx="1"/>
          </p:nvPr>
        </p:nvSpPr>
        <p:spPr>
          <a:xfrm>
            <a:off x="0" y="676773"/>
            <a:ext cx="12192000" cy="4395969"/>
          </a:xfrm>
        </p:spPr>
        <p:txBody>
          <a:bodyPr vert="horz" lIns="91440" tIns="45720" rIns="91440" bIns="45720" rtlCol="0">
            <a:normAutofit/>
          </a:bodyPr>
          <a:lstStyle/>
          <a:p>
            <a:pPr marL="0" lvl="1" indent="0">
              <a:lnSpc>
                <a:spcPct val="110000"/>
              </a:lnSpc>
              <a:spcBef>
                <a:spcPts val="1200"/>
              </a:spcBef>
            </a:pPr>
            <a:r>
              <a:rPr lang="zh-CN" altLang="en-US" sz="2400" dirty="0"/>
              <a:t>自然选择的作用，就是利用个体中所发生的不定向变异，造成群体的遗传结构的定向变异。</a:t>
            </a:r>
            <a:endParaRPr lang="en-US" altLang="zh-CN" sz="2400" dirty="0"/>
          </a:p>
          <a:p>
            <a:pPr marL="0" lvl="1" indent="0">
              <a:lnSpc>
                <a:spcPct val="110000"/>
              </a:lnSpc>
              <a:spcBef>
                <a:spcPts val="1200"/>
              </a:spcBef>
            </a:pPr>
            <a:r>
              <a:rPr lang="zh-CN" altLang="en-US" sz="2400" b="1" dirty="0">
                <a:solidFill>
                  <a:srgbClr val="1207F7"/>
                </a:solidFill>
              </a:rPr>
              <a:t>问题</a:t>
            </a:r>
            <a:r>
              <a:rPr lang="zh-CN" altLang="en-US" sz="2400" dirty="0"/>
              <a:t>：害虫或病菌对药剂产生的抵抗力，是由于选择的结果还是接触药剂后的定向变异？</a:t>
            </a:r>
            <a:endParaRPr lang="en-US" altLang="zh-CN" sz="2400" dirty="0"/>
          </a:p>
          <a:p>
            <a:pPr marL="0" lvl="1" indent="0">
              <a:lnSpc>
                <a:spcPct val="110000"/>
              </a:lnSpc>
              <a:spcBef>
                <a:spcPts val="1200"/>
              </a:spcBef>
            </a:pPr>
            <a:r>
              <a:rPr lang="zh-CN" altLang="en-US" sz="2400" b="1" dirty="0">
                <a:solidFill>
                  <a:srgbClr val="1207F7"/>
                </a:solidFill>
              </a:rPr>
              <a:t>实验</a:t>
            </a:r>
            <a:r>
              <a:rPr lang="zh-CN" altLang="en-US" sz="2400" dirty="0"/>
              <a:t>：把普通果蝇分成两组，第一组，让果蝇自由交配，产生后代，每一代都用</a:t>
            </a:r>
            <a:r>
              <a:rPr lang="en-US" altLang="zh-CN" sz="2400" dirty="0"/>
              <a:t>DDT</a:t>
            </a:r>
            <a:r>
              <a:rPr lang="zh-CN" altLang="en-US" sz="2400" dirty="0"/>
              <a:t>处理，且剂量逐渐增加；第二组，做单对果蝇杂交，繁育出多个不同品系，每个家系，一半用</a:t>
            </a:r>
            <a:r>
              <a:rPr lang="en-US" altLang="zh-CN" sz="2400" dirty="0"/>
              <a:t>DDT</a:t>
            </a:r>
            <a:r>
              <a:rPr lang="zh-CN" altLang="en-US" sz="2400" dirty="0"/>
              <a:t>处理，一半不处理，处理组的抵抗力结果选择不处理组的去留（舍弃抵抗力弱的，保留强的），每一代都如此操作。</a:t>
            </a:r>
            <a:endParaRPr lang="en-US" altLang="zh-CN" sz="2400" dirty="0"/>
          </a:p>
          <a:p>
            <a:pPr marL="0" lvl="1" indent="0">
              <a:lnSpc>
                <a:spcPct val="110000"/>
              </a:lnSpc>
              <a:spcBef>
                <a:spcPts val="1200"/>
              </a:spcBef>
            </a:pPr>
            <a:r>
              <a:rPr lang="zh-CN" altLang="en-US" sz="2400" b="1" dirty="0">
                <a:solidFill>
                  <a:srgbClr val="1207F7"/>
                </a:solidFill>
              </a:rPr>
              <a:t>结论</a:t>
            </a:r>
            <a:r>
              <a:rPr lang="zh-CN" altLang="en-US" sz="2400" dirty="0"/>
              <a:t>：第一组（接触药物组）和第二组（不接触药物组）都能有效筛选出有抵抗力的果蝇，说明药物只发挥选择作用。</a:t>
            </a:r>
          </a:p>
        </p:txBody>
      </p:sp>
    </p:spTree>
    <p:extLst>
      <p:ext uri="{BB962C8B-B14F-4D97-AF65-F5344CB8AC3E}">
        <p14:creationId xmlns:p14="http://schemas.microsoft.com/office/powerpoint/2010/main" val="294940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016D3-8CB9-4B60-BA9C-3B17AEAB591C}"/>
              </a:ext>
            </a:extLst>
          </p:cNvPr>
          <p:cNvSpPr>
            <a:spLocks noGrp="1"/>
          </p:cNvSpPr>
          <p:nvPr>
            <p:ph type="title"/>
          </p:nvPr>
        </p:nvSpPr>
        <p:spPr>
          <a:xfrm>
            <a:off x="424124" y="1"/>
            <a:ext cx="10515600" cy="533400"/>
          </a:xfrm>
        </p:spPr>
        <p:txBody>
          <a:bodyPr/>
          <a:lstStyle/>
          <a:p>
            <a:r>
              <a:rPr lang="zh-CN" altLang="en-US" dirty="0"/>
              <a:t>第三节　新种形成</a:t>
            </a:r>
          </a:p>
        </p:txBody>
      </p:sp>
      <p:sp>
        <p:nvSpPr>
          <p:cNvPr id="5" name="内容占位符 4">
            <a:extLst>
              <a:ext uri="{FF2B5EF4-FFF2-40B4-BE49-F238E27FC236}">
                <a16:creationId xmlns:a16="http://schemas.microsoft.com/office/drawing/2014/main" id="{C947E1D2-A1AF-4028-BDCD-8CDF2492238E}"/>
              </a:ext>
            </a:extLst>
          </p:cNvPr>
          <p:cNvSpPr>
            <a:spLocks noGrp="1"/>
          </p:cNvSpPr>
          <p:nvPr>
            <p:ph sz="half" idx="1"/>
          </p:nvPr>
        </p:nvSpPr>
        <p:spPr>
          <a:xfrm>
            <a:off x="0" y="1494364"/>
            <a:ext cx="12192000" cy="1956408"/>
          </a:xfrm>
        </p:spPr>
        <p:txBody>
          <a:bodyPr vert="horz" lIns="91440" tIns="45720" rIns="91440" bIns="45720" rtlCol="0">
            <a:normAutofit/>
          </a:bodyPr>
          <a:lstStyle/>
          <a:p>
            <a:pPr marL="0" lvl="1" indent="0">
              <a:lnSpc>
                <a:spcPct val="110000"/>
              </a:lnSpc>
              <a:spcBef>
                <a:spcPts val="1200"/>
              </a:spcBef>
            </a:pPr>
            <a:r>
              <a:rPr lang="zh-CN" altLang="en-US" sz="2400" dirty="0"/>
              <a:t>在自然界中，不同的种在遗传上不连续，即它们在野外一般不能相互交配，即使偶尔交配，也不产生后代，或者虽产生后代但后代有一定程度的不育，或者很衰弱，很稀少，两个种无法通过杂交打破 “不连续性”，存在</a:t>
            </a:r>
            <a:r>
              <a:rPr lang="zh-CN" altLang="en-US" sz="2400" b="1" dirty="0"/>
              <a:t>隔离屏障</a:t>
            </a:r>
            <a:r>
              <a:rPr lang="zh-CN" altLang="en-US" sz="2400" dirty="0"/>
              <a:t>（</a:t>
            </a:r>
            <a:r>
              <a:rPr lang="en-US" altLang="zh-CN" sz="2400" dirty="0"/>
              <a:t>isolation barrier</a:t>
            </a:r>
            <a:r>
              <a:rPr lang="zh-CN" altLang="en-US" sz="2400" dirty="0"/>
              <a:t>）或</a:t>
            </a:r>
            <a:r>
              <a:rPr lang="zh-CN" altLang="en-US" sz="2400" b="1" dirty="0"/>
              <a:t>隔离机制</a:t>
            </a:r>
            <a:r>
              <a:rPr lang="zh-CN" altLang="en-US" sz="2400" dirty="0"/>
              <a:t>（</a:t>
            </a:r>
            <a:r>
              <a:rPr lang="en-US" altLang="zh-CN" sz="2400" dirty="0"/>
              <a:t>isolation mechanism</a:t>
            </a:r>
            <a:r>
              <a:rPr lang="zh-CN" altLang="en-US" sz="2400" dirty="0"/>
              <a:t>）。</a:t>
            </a:r>
            <a:endParaRPr lang="en-US" altLang="zh-CN" sz="2400" dirty="0"/>
          </a:p>
        </p:txBody>
      </p:sp>
      <p:sp>
        <p:nvSpPr>
          <p:cNvPr id="6" name="标题 1">
            <a:extLst>
              <a:ext uri="{FF2B5EF4-FFF2-40B4-BE49-F238E27FC236}">
                <a16:creationId xmlns:a16="http://schemas.microsoft.com/office/drawing/2014/main" id="{8B5E9AA6-D7EB-4BAB-9CC3-5ED5EB6971BA}"/>
              </a:ext>
            </a:extLst>
          </p:cNvPr>
          <p:cNvSpPr txBox="1">
            <a:spLocks/>
          </p:cNvSpPr>
          <p:nvPr/>
        </p:nvSpPr>
        <p:spPr>
          <a:xfrm>
            <a:off x="565638" y="671892"/>
            <a:ext cx="10515600" cy="528557"/>
          </a:xfrm>
          <a:prstGeom prst="rect">
            <a:avLst/>
          </a:prstGeom>
        </p:spPr>
        <p:txBody>
          <a:bodyPr vert="horz" lIns="91440" tIns="45720" rIns="91440" bIns="45720" rtlCol="0" anchor="ctr">
            <a:normAutofit lnSpcReduction="10000"/>
          </a:bodyPr>
          <a:lstStyle>
            <a:lvl1pPr>
              <a:lnSpc>
                <a:spcPct val="90000"/>
              </a:lnSpc>
              <a:spcBef>
                <a:spcPct val="0"/>
              </a:spcBef>
              <a:buNone/>
              <a:defRPr sz="3200" b="1">
                <a:solidFill>
                  <a:srgbClr val="1207F7"/>
                </a:solidFill>
                <a:latin typeface="黑体" pitchFamily="49" charset="-122"/>
                <a:ea typeface="黑体" pitchFamily="49" charset="-122"/>
                <a:cs typeface="+mj-cs"/>
              </a:defRPr>
            </a:lvl1pPr>
          </a:lstStyle>
          <a:p>
            <a:r>
              <a:rPr lang="zh-CN" altLang="en-US" dirty="0"/>
              <a:t>一、 物种的定义</a:t>
            </a:r>
          </a:p>
        </p:txBody>
      </p:sp>
    </p:spTree>
    <p:extLst>
      <p:ext uri="{BB962C8B-B14F-4D97-AF65-F5344CB8AC3E}">
        <p14:creationId xmlns:p14="http://schemas.microsoft.com/office/powerpoint/2010/main" val="3754957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EFA459-6A75-42C9-A77D-28A9C1225FD6}"/>
              </a:ext>
            </a:extLst>
          </p:cNvPr>
          <p:cNvSpPr>
            <a:spLocks noGrp="1"/>
          </p:cNvSpPr>
          <p:nvPr>
            <p:ph type="title"/>
          </p:nvPr>
        </p:nvSpPr>
        <p:spPr>
          <a:xfrm>
            <a:off x="478552" y="0"/>
            <a:ext cx="10515600" cy="725121"/>
          </a:xfrm>
        </p:spPr>
        <p:txBody>
          <a:bodyPr/>
          <a:lstStyle/>
          <a:p>
            <a:r>
              <a:rPr lang="zh-CN" altLang="en-US" dirty="0"/>
              <a:t>二、 隔离的几种方式</a:t>
            </a:r>
          </a:p>
        </p:txBody>
      </p:sp>
      <p:sp>
        <p:nvSpPr>
          <p:cNvPr id="3" name="内容占位符 2">
            <a:extLst>
              <a:ext uri="{FF2B5EF4-FFF2-40B4-BE49-F238E27FC236}">
                <a16:creationId xmlns:a16="http://schemas.microsoft.com/office/drawing/2014/main" id="{520B3A78-17AE-44D6-A865-DF0E70C01EDD}"/>
              </a:ext>
            </a:extLst>
          </p:cNvPr>
          <p:cNvSpPr>
            <a:spLocks noGrp="1"/>
          </p:cNvSpPr>
          <p:nvPr>
            <p:ph sz="half" idx="1"/>
          </p:nvPr>
        </p:nvSpPr>
        <p:spPr>
          <a:xfrm>
            <a:off x="0" y="982417"/>
            <a:ext cx="12192000" cy="4965946"/>
          </a:xfrm>
        </p:spPr>
        <p:txBody>
          <a:bodyPr vert="horz" lIns="91440" tIns="45720" rIns="91440" bIns="45720" rtlCol="0">
            <a:normAutofit/>
          </a:bodyPr>
          <a:lstStyle/>
          <a:p>
            <a:pPr marL="0" lvl="1" indent="0">
              <a:lnSpc>
                <a:spcPct val="110000"/>
              </a:lnSpc>
              <a:spcBef>
                <a:spcPts val="1200"/>
              </a:spcBef>
            </a:pPr>
            <a:r>
              <a:rPr lang="zh-CN" altLang="en-US" sz="2400" dirty="0"/>
              <a:t>（</a:t>
            </a:r>
            <a:r>
              <a:rPr lang="en-US" altLang="zh-CN" sz="2400" dirty="0"/>
              <a:t>1</a:t>
            </a:r>
            <a:r>
              <a:rPr lang="zh-CN" altLang="en-US" sz="2400" dirty="0"/>
              <a:t>）</a:t>
            </a:r>
            <a:r>
              <a:rPr lang="zh-CN" altLang="en-US" sz="2400" b="1" dirty="0">
                <a:solidFill>
                  <a:srgbClr val="FF0000"/>
                </a:solidFill>
              </a:rPr>
              <a:t>地理隔离</a:t>
            </a:r>
            <a:r>
              <a:rPr lang="zh-CN" altLang="en-US" sz="2400" dirty="0"/>
              <a:t>（</a:t>
            </a:r>
            <a:r>
              <a:rPr lang="en-US" altLang="zh-CN" sz="2400" dirty="0"/>
              <a:t>geographically isolation</a:t>
            </a:r>
            <a:r>
              <a:rPr lang="zh-CN" altLang="en-US" sz="2400" dirty="0"/>
              <a:t>）　地理隔离是两个群体占据着不连续的分布区，空间上的隔离阻止着两个群体间个体的交配，因而阻止基因交流。</a:t>
            </a:r>
            <a:endParaRPr lang="en-US" altLang="zh-CN" sz="2400" dirty="0"/>
          </a:p>
          <a:p>
            <a:pPr marL="0" lvl="1" indent="0">
              <a:lnSpc>
                <a:spcPct val="110000"/>
              </a:lnSpc>
              <a:spcBef>
                <a:spcPts val="1200"/>
              </a:spcBef>
            </a:pPr>
            <a:r>
              <a:rPr lang="zh-CN" altLang="fr-FR" sz="2400" dirty="0"/>
              <a:t>（</a:t>
            </a:r>
            <a:r>
              <a:rPr lang="fr-FR" altLang="zh-CN" sz="2400" dirty="0"/>
              <a:t>2</a:t>
            </a:r>
            <a:r>
              <a:rPr lang="zh-CN" altLang="fr-FR" sz="2400" dirty="0"/>
              <a:t>）</a:t>
            </a:r>
            <a:r>
              <a:rPr lang="zh-CN" altLang="fr-FR" sz="2400" b="1" dirty="0">
                <a:solidFill>
                  <a:srgbClr val="FF0000"/>
                </a:solidFill>
              </a:rPr>
              <a:t>生殖隔离</a:t>
            </a:r>
            <a:r>
              <a:rPr lang="zh-CN" altLang="fr-FR" sz="2400" dirty="0"/>
              <a:t>（</a:t>
            </a:r>
            <a:r>
              <a:rPr lang="fr-FR" altLang="zh-CN" sz="2400" dirty="0"/>
              <a:t>reproductive isolation</a:t>
            </a:r>
            <a:r>
              <a:rPr lang="zh-CN" altLang="fr-FR" sz="2400" dirty="0"/>
              <a:t>）　</a:t>
            </a:r>
            <a:r>
              <a:rPr lang="zh-CN" altLang="en-US" sz="2400" dirty="0"/>
              <a:t>生殖隔离有好几种机制，根据发生作用的时间是在杂种合子形成以前还是在杂种合子形成 以后，分为两大类：</a:t>
            </a:r>
            <a:r>
              <a:rPr lang="zh-CN" altLang="en-US" sz="2400" b="1" dirty="0"/>
              <a:t>一类是受精前生殖隔离</a:t>
            </a:r>
            <a:r>
              <a:rPr lang="zh-CN" altLang="en-US" sz="2400" dirty="0"/>
              <a:t>，另一类是</a:t>
            </a:r>
            <a:r>
              <a:rPr lang="zh-CN" altLang="en-US" sz="2400" b="1" dirty="0"/>
              <a:t>受精后生殖隔离</a:t>
            </a:r>
            <a:r>
              <a:rPr lang="zh-CN" altLang="en-US" sz="2400" dirty="0"/>
              <a:t>。受精前生殖隔离又可分为</a:t>
            </a:r>
            <a:r>
              <a:rPr lang="zh-CN" altLang="en-US" sz="2400" b="1" dirty="0"/>
              <a:t>季节隔离</a:t>
            </a:r>
            <a:r>
              <a:rPr lang="zh-CN" altLang="en-US" sz="2400" dirty="0"/>
              <a:t>、</a:t>
            </a:r>
            <a:r>
              <a:rPr lang="zh-CN" altLang="en-US" sz="2400" b="1" dirty="0"/>
              <a:t>心理隔离</a:t>
            </a:r>
            <a:r>
              <a:rPr lang="zh-CN" altLang="en-US" sz="2400" dirty="0"/>
              <a:t>和</a:t>
            </a:r>
            <a:r>
              <a:rPr lang="zh-CN" altLang="en-US" sz="2400" b="1" dirty="0"/>
              <a:t>受精隔离</a:t>
            </a:r>
            <a:r>
              <a:rPr lang="zh-CN" altLang="en-US" sz="2400" dirty="0"/>
              <a:t>等。受精后生殖隔离指的是在 </a:t>
            </a:r>
            <a:r>
              <a:rPr lang="en-US" altLang="zh-CN" sz="2400" dirty="0"/>
              <a:t>F1 </a:t>
            </a:r>
            <a:r>
              <a:rPr lang="zh-CN" altLang="en-US" sz="2400" dirty="0"/>
              <a:t>合子形成以后起作用的种间隔离机制，使 </a:t>
            </a:r>
            <a:r>
              <a:rPr lang="en-US" altLang="zh-CN" sz="2400" dirty="0"/>
              <a:t>F1 </a:t>
            </a:r>
            <a:r>
              <a:rPr lang="zh-CN" altLang="en-US" sz="2400" dirty="0"/>
              <a:t>合子不能生存，或不能发育到性成熟阶段，或使 </a:t>
            </a:r>
            <a:r>
              <a:rPr lang="en-US" altLang="zh-CN" sz="2400" dirty="0"/>
              <a:t>F1 </a:t>
            </a:r>
            <a:r>
              <a:rPr lang="zh-CN" altLang="en-US" sz="2400" dirty="0"/>
              <a:t>杂种不育，或使 </a:t>
            </a:r>
            <a:r>
              <a:rPr lang="en-US" altLang="zh-CN" sz="2400" dirty="0"/>
              <a:t>F2 </a:t>
            </a:r>
            <a:r>
              <a:rPr lang="zh-CN" altLang="en-US" sz="2400" dirty="0"/>
              <a:t>以后各代中带有杂种基因组合的个体不能生存， 或不能生育，总之是影响种间杂种后代的个体发育过程。</a:t>
            </a:r>
            <a:endParaRPr lang="en-US" altLang="zh-CN" sz="2400" dirty="0"/>
          </a:p>
          <a:p>
            <a:pPr marL="0" lvl="1" indent="0">
              <a:lnSpc>
                <a:spcPct val="110000"/>
              </a:lnSpc>
              <a:spcBef>
                <a:spcPts val="1200"/>
              </a:spcBef>
            </a:pPr>
            <a:r>
              <a:rPr lang="zh-CN" altLang="en-US" sz="2400" dirty="0"/>
              <a:t>在新种形成过程中，一般先有地理隔离，使不同群体不能相互交配，不能交流基因，这样在各个隔离的群体中可独立发生各种遗传变异。在自然选择下，这些变异逐渐累积起来，出现了生殖隔离，就完成了新种形成过程中的飞跃。</a:t>
            </a:r>
          </a:p>
        </p:txBody>
      </p:sp>
    </p:spTree>
    <p:extLst>
      <p:ext uri="{BB962C8B-B14F-4D97-AF65-F5344CB8AC3E}">
        <p14:creationId xmlns:p14="http://schemas.microsoft.com/office/powerpoint/2010/main" val="3510879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830B6-9838-4426-9E14-0D3AD01B0E25}"/>
              </a:ext>
            </a:extLst>
          </p:cNvPr>
          <p:cNvSpPr>
            <a:spLocks noGrp="1"/>
          </p:cNvSpPr>
          <p:nvPr>
            <p:ph type="title"/>
          </p:nvPr>
        </p:nvSpPr>
        <p:spPr>
          <a:xfrm>
            <a:off x="217296" y="1"/>
            <a:ext cx="10515600" cy="620486"/>
          </a:xfrm>
        </p:spPr>
        <p:txBody>
          <a:bodyPr/>
          <a:lstStyle/>
          <a:p>
            <a:r>
              <a:rPr lang="zh-CN" altLang="en-US" dirty="0"/>
              <a:t>三、 新种形成的两种形式</a:t>
            </a:r>
          </a:p>
        </p:txBody>
      </p:sp>
      <p:sp>
        <p:nvSpPr>
          <p:cNvPr id="3" name="内容占位符 2">
            <a:extLst>
              <a:ext uri="{FF2B5EF4-FFF2-40B4-BE49-F238E27FC236}">
                <a16:creationId xmlns:a16="http://schemas.microsoft.com/office/drawing/2014/main" id="{5352C42B-64BE-4173-9F03-42B46BB988FE}"/>
              </a:ext>
            </a:extLst>
          </p:cNvPr>
          <p:cNvSpPr>
            <a:spLocks noGrp="1"/>
          </p:cNvSpPr>
          <p:nvPr>
            <p:ph sz="half" idx="1"/>
          </p:nvPr>
        </p:nvSpPr>
        <p:spPr>
          <a:xfrm>
            <a:off x="0" y="731878"/>
            <a:ext cx="12192000" cy="5406502"/>
          </a:xfrm>
        </p:spPr>
        <p:txBody>
          <a:bodyPr vert="horz" lIns="91440" tIns="45720" rIns="91440" bIns="45720" rtlCol="0">
            <a:normAutofit fontScale="92500" lnSpcReduction="10000"/>
          </a:bodyPr>
          <a:lstStyle/>
          <a:p>
            <a:pPr marL="0" lvl="1" indent="0">
              <a:lnSpc>
                <a:spcPct val="110000"/>
              </a:lnSpc>
              <a:spcBef>
                <a:spcPts val="1200"/>
              </a:spcBef>
            </a:pPr>
            <a:r>
              <a:rPr lang="zh-CN" altLang="en-US" sz="2400" dirty="0"/>
              <a:t>（</a:t>
            </a:r>
            <a:r>
              <a:rPr lang="en-US" altLang="zh-CN" sz="2400" dirty="0"/>
              <a:t>1</a:t>
            </a:r>
            <a:r>
              <a:rPr lang="zh-CN" altLang="en-US" sz="2400" dirty="0"/>
              <a:t>）</a:t>
            </a:r>
            <a:r>
              <a:rPr lang="zh-CN" altLang="en-US" sz="2400" b="1" dirty="0">
                <a:solidFill>
                  <a:srgbClr val="FF0000"/>
                </a:solidFill>
              </a:rPr>
              <a:t>渐变式新种形式</a:t>
            </a:r>
            <a:r>
              <a:rPr lang="zh-CN" altLang="en-US" sz="2400" dirty="0"/>
              <a:t>　这是常见的一种新种形成方式，通过突变、选择和隔离等过程，从一个种先形成若干地理族或亚种，然后建立起一套生殖隔离机制，从而形成新种。这种形式中，遗传隔离机制是逐渐形成的，是通过许多微小的变化（单个突变， 每一代的自然选择）的积累才逐渐完成最后的巨大质变的。例如：棉属的不同种和亚种。</a:t>
            </a:r>
            <a:endParaRPr lang="en-US" altLang="zh-CN" sz="2400" dirty="0"/>
          </a:p>
          <a:p>
            <a:pPr marL="0" lvl="1" indent="0">
              <a:lnSpc>
                <a:spcPct val="110000"/>
              </a:lnSpc>
              <a:spcBef>
                <a:spcPts val="1200"/>
              </a:spcBef>
            </a:pPr>
            <a:endParaRPr lang="en-US" altLang="zh-CN" sz="2400" dirty="0"/>
          </a:p>
          <a:p>
            <a:pPr marL="0" lvl="1" indent="0">
              <a:lnSpc>
                <a:spcPct val="110000"/>
              </a:lnSpc>
              <a:spcBef>
                <a:spcPts val="1200"/>
              </a:spcBef>
            </a:pPr>
            <a:endParaRPr lang="en-US" altLang="zh-CN" sz="2400" dirty="0"/>
          </a:p>
          <a:p>
            <a:pPr marL="0" lvl="1" indent="0">
              <a:lnSpc>
                <a:spcPct val="110000"/>
              </a:lnSpc>
              <a:spcBef>
                <a:spcPts val="1200"/>
              </a:spcBef>
            </a:pPr>
            <a:endParaRPr lang="en-US" altLang="zh-CN" sz="2400" dirty="0"/>
          </a:p>
          <a:p>
            <a:pPr marL="0" lvl="1" indent="0">
              <a:lnSpc>
                <a:spcPct val="110000"/>
              </a:lnSpc>
              <a:spcBef>
                <a:spcPts val="1200"/>
              </a:spcBef>
            </a:pPr>
            <a:endParaRPr lang="en-US" altLang="zh-CN" sz="2400" dirty="0"/>
          </a:p>
          <a:p>
            <a:pPr marL="0" lvl="1" indent="0">
              <a:lnSpc>
                <a:spcPct val="110000"/>
              </a:lnSpc>
              <a:spcBef>
                <a:spcPts val="1200"/>
              </a:spcBef>
            </a:pPr>
            <a:endParaRPr lang="en-US" altLang="zh-CN" sz="2400" dirty="0"/>
          </a:p>
          <a:p>
            <a:pPr marL="0" lvl="1" indent="0">
              <a:lnSpc>
                <a:spcPct val="110000"/>
              </a:lnSpc>
              <a:spcBef>
                <a:spcPts val="1200"/>
              </a:spcBef>
            </a:pPr>
            <a:r>
              <a:rPr lang="zh-CN" altLang="en-US" sz="2400" dirty="0"/>
              <a:t>（</a:t>
            </a:r>
            <a:r>
              <a:rPr lang="en-US" altLang="zh-CN" sz="2400" dirty="0"/>
              <a:t>2</a:t>
            </a:r>
            <a:r>
              <a:rPr lang="zh-CN" altLang="en-US" sz="2400" dirty="0"/>
              <a:t>）</a:t>
            </a:r>
            <a:r>
              <a:rPr lang="zh-CN" altLang="en-US" sz="2400" b="1" dirty="0">
                <a:solidFill>
                  <a:srgbClr val="FF0000"/>
                </a:solidFill>
              </a:rPr>
              <a:t>爆发式新种形式</a:t>
            </a:r>
            <a:r>
              <a:rPr lang="zh-CN" altLang="en-US" sz="2400" dirty="0"/>
              <a:t>　主要见之于植物界，就是远缘杂种通过染色体加倍后形成新种。例如普通小麦、胜利油菜、烟草、马铃薯等都是异源多倍体。</a:t>
            </a:r>
            <a:endParaRPr lang="en-US" altLang="zh-CN" sz="2400" dirty="0"/>
          </a:p>
          <a:p>
            <a:pPr marL="0" lvl="1" indent="0">
              <a:lnSpc>
                <a:spcPct val="110000"/>
              </a:lnSpc>
              <a:spcBef>
                <a:spcPts val="1200"/>
              </a:spcBef>
            </a:pPr>
            <a:r>
              <a:rPr lang="zh-CN" altLang="en-US" sz="2400" dirty="0"/>
              <a:t>物种形成的方式极为多样，各类生物在细节上也有所不同，可见生物界的多样性。</a:t>
            </a:r>
            <a:endParaRPr lang="en-US" altLang="zh-CN" sz="2400" dirty="0"/>
          </a:p>
        </p:txBody>
      </p:sp>
      <p:pic>
        <p:nvPicPr>
          <p:cNvPr id="6" name="图片 5">
            <a:extLst>
              <a:ext uri="{FF2B5EF4-FFF2-40B4-BE49-F238E27FC236}">
                <a16:creationId xmlns:a16="http://schemas.microsoft.com/office/drawing/2014/main" id="{6CD0C8AC-C9F1-46A4-BCAD-795003A08309}"/>
              </a:ext>
            </a:extLst>
          </p:cNvPr>
          <p:cNvPicPr>
            <a:picLocks noChangeAspect="1"/>
          </p:cNvPicPr>
          <p:nvPr/>
        </p:nvPicPr>
        <p:blipFill>
          <a:blip r:embed="rId2"/>
          <a:stretch>
            <a:fillRect/>
          </a:stretch>
        </p:blipFill>
        <p:spPr>
          <a:xfrm>
            <a:off x="1443222" y="2395706"/>
            <a:ext cx="6102797" cy="2267823"/>
          </a:xfrm>
          <a:prstGeom prst="rect">
            <a:avLst/>
          </a:prstGeom>
        </p:spPr>
      </p:pic>
      <p:sp>
        <p:nvSpPr>
          <p:cNvPr id="7" name="文本框 6">
            <a:extLst>
              <a:ext uri="{FF2B5EF4-FFF2-40B4-BE49-F238E27FC236}">
                <a16:creationId xmlns:a16="http://schemas.microsoft.com/office/drawing/2014/main" id="{E99F54DB-0AE9-4B7F-9320-7ACE0114A70A}"/>
              </a:ext>
            </a:extLst>
          </p:cNvPr>
          <p:cNvSpPr txBox="1"/>
          <p:nvPr/>
        </p:nvSpPr>
        <p:spPr>
          <a:xfrm>
            <a:off x="7546020" y="3955958"/>
            <a:ext cx="3923114" cy="338554"/>
          </a:xfrm>
          <a:prstGeom prst="rect">
            <a:avLst/>
          </a:prstGeom>
          <a:solidFill>
            <a:srgbClr val="EDEEF2"/>
          </a:solidFill>
        </p:spPr>
        <p:txBody>
          <a:bodyPr wrap="square">
            <a:spAutoFit/>
          </a:bodyPr>
          <a:lstStyle>
            <a:defPPr>
              <a:defRPr lang="zh-CN"/>
            </a:defPPr>
            <a:lvl1pPr algn="ctr">
              <a:defRPr sz="16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algn="l"/>
            <a:r>
              <a:rPr lang="zh-CN" altLang="en-US" dirty="0"/>
              <a:t>渐变式新种形成的模型之一</a:t>
            </a:r>
          </a:p>
        </p:txBody>
      </p:sp>
    </p:spTree>
    <p:extLst>
      <p:ext uri="{BB962C8B-B14F-4D97-AF65-F5344CB8AC3E}">
        <p14:creationId xmlns:p14="http://schemas.microsoft.com/office/powerpoint/2010/main" val="5294361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TotalTime>
  <Words>2727</Words>
  <Application>Microsoft Office PowerPoint</Application>
  <PresentationFormat>宽屏</PresentationFormat>
  <Paragraphs>123</Paragraphs>
  <Slides>28</Slides>
  <Notes>9</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28</vt:i4>
      </vt:variant>
    </vt:vector>
  </HeadingPairs>
  <TitlesOfParts>
    <vt:vector size="36" baseType="lpstr">
      <vt:lpstr>黑体</vt:lpstr>
      <vt:lpstr>微软雅黑</vt:lpstr>
      <vt:lpstr>Arial</vt:lpstr>
      <vt:lpstr>Calibri</vt:lpstr>
      <vt:lpstr>Times New Roman</vt:lpstr>
      <vt:lpstr>Wingdings</vt:lpstr>
      <vt:lpstr>Office 主题</vt:lpstr>
      <vt:lpstr>1_Office 主题</vt:lpstr>
      <vt:lpstr>PowerPoint 演示文稿</vt:lpstr>
      <vt:lpstr>第一节　进化概述</vt:lpstr>
      <vt:lpstr>PowerPoint 演示文稿</vt:lpstr>
      <vt:lpstr>四、 分子进化</vt:lpstr>
      <vt:lpstr>PowerPoint 演示文稿</vt:lpstr>
      <vt:lpstr>第二节 进化理论</vt:lpstr>
      <vt:lpstr>二、 达尔文的自然选择学说</vt:lpstr>
      <vt:lpstr>五、 群体中的遗传平衡</vt:lpstr>
      <vt:lpstr>PowerPoint 演示文稿</vt:lpstr>
      <vt:lpstr>PowerPoint 演示文稿</vt:lpstr>
      <vt:lpstr>六、 突变与群体的基因频率</vt:lpstr>
      <vt:lpstr>七、 选择与群体的基因频率</vt:lpstr>
      <vt:lpstr>PowerPoint 演示文稿</vt:lpstr>
      <vt:lpstr>（2）选择对隐性纯合子不利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八、 突变和选择共同作用下的群体平衡</vt:lpstr>
      <vt:lpstr>九、 遗传漂变</vt:lpstr>
      <vt:lpstr>PowerPoint 演示文稿</vt:lpstr>
      <vt:lpstr>十一、 定向选择与不定向变异</vt:lpstr>
      <vt:lpstr>第三节　新种形成</vt:lpstr>
      <vt:lpstr>二、 隔离的几种方式</vt:lpstr>
      <vt:lpstr>三、 新种形成的两种形式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zhaojy@hep.com.cn</dc:creator>
  <cp:lastModifiedBy>Yijie Lee</cp:lastModifiedBy>
  <cp:revision>155</cp:revision>
  <dcterms:created xsi:type="dcterms:W3CDTF">2020-09-25T05:42:09Z</dcterms:created>
  <dcterms:modified xsi:type="dcterms:W3CDTF">2024-01-09T08:56:01Z</dcterms:modified>
</cp:coreProperties>
</file>