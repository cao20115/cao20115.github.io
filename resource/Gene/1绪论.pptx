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750" r:id="rId2"/>
    <p:sldId id="311" r:id="rId3"/>
    <p:sldId id="274" r:id="rId4"/>
    <p:sldId id="299" r:id="rId5"/>
    <p:sldId id="271" r:id="rId6"/>
    <p:sldId id="267" r:id="rId7"/>
    <p:sldId id="280" r:id="rId8"/>
    <p:sldId id="281" r:id="rId9"/>
    <p:sldId id="282" r:id="rId10"/>
    <p:sldId id="284" r:id="rId11"/>
    <p:sldId id="306" r:id="rId12"/>
    <p:sldId id="285" r:id="rId13"/>
    <p:sldId id="289" r:id="rId14"/>
    <p:sldId id="4360" r:id="rId15"/>
    <p:sldId id="286" r:id="rId16"/>
    <p:sldId id="4361" r:id="rId17"/>
    <p:sldId id="4270" r:id="rId18"/>
    <p:sldId id="436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D7A2B-7198-461B-AF96-39FE88CE00A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A2461-1BE0-48AA-9ADC-8EF541ABFC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20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A2461-1BE0-48AA-9ADC-8EF541ABFC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94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8351" y="234950"/>
            <a:ext cx="10085916" cy="679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63134" y="1212850"/>
            <a:ext cx="5278967" cy="5168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45301" y="1212850"/>
            <a:ext cx="5278967" cy="5168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3860800" y="6399213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C59C7C4-AC46-4CD3-BD8F-04C38550A297}" type="slidenum">
              <a:rPr lang="en-US" altLang="zh-CN"/>
              <a:t>‹#›</a:t>
            </a:fld>
            <a:r>
              <a:rPr lang="en-US" altLang="zh-CN"/>
              <a:t>/25</a:t>
            </a: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E37FE-3E38-4B8C-9B07-4AEAE0D77CE0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A0D99-322D-4BF6-8572-2F8B74AB3D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1641770" y="217114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</a:rPr>
              <a:t>遗传学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2B3A342-5233-3F1E-B62A-BBF1514AA8A9}"/>
              </a:ext>
            </a:extLst>
          </p:cNvPr>
          <p:cNvSpPr txBox="1"/>
          <p:nvPr/>
        </p:nvSpPr>
        <p:spPr>
          <a:xfrm>
            <a:off x="5225820" y="3947895"/>
            <a:ext cx="241101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/>
              <a:t>2023.6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68751" y="496465"/>
            <a:ext cx="7564437" cy="1747838"/>
          </a:xfrm>
        </p:spPr>
        <p:txBody>
          <a:bodyPr/>
          <a:lstStyle/>
          <a:p>
            <a:r>
              <a:rPr lang="zh-CN" altLang="en-US" sz="5400" b="1" dirty="0"/>
              <a:t>第一章   绪论</a:t>
            </a:r>
            <a:br>
              <a:rPr lang="zh-CN" altLang="en-US" sz="5400" b="1" dirty="0"/>
            </a:br>
            <a:endParaRPr lang="en-US" altLang="zh-CN" sz="5400" b="1" dirty="0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3623" y="2089320"/>
            <a:ext cx="8070850" cy="3809203"/>
          </a:xfrm>
        </p:spPr>
        <p:txBody>
          <a:bodyPr/>
          <a:lstStyle/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zh-CN" altLang="en-US" sz="3600" noProof="1">
                <a:solidFill>
                  <a:srgbClr val="1911B5"/>
                </a:solidFill>
                <a:ea typeface="文鼎书宋" pitchFamily="49" charset="-122"/>
              </a:rPr>
              <a:t>一、遗传</a:t>
            </a:r>
            <a:r>
              <a:rPr lang="en-US" altLang="en-US" sz="3600" dirty="0">
                <a:solidFill>
                  <a:srgbClr val="1911B5"/>
                </a:solidFill>
                <a:ea typeface="文鼎书宋" pitchFamily="49" charset="-122"/>
              </a:rPr>
              <a:t>学</a:t>
            </a:r>
            <a:r>
              <a:rPr lang="zh-CN" altLang="en-US" sz="3600" noProof="1">
                <a:solidFill>
                  <a:srgbClr val="1911B5"/>
                </a:solidFill>
                <a:ea typeface="文鼎书宋" pitchFamily="49" charset="-122"/>
              </a:rPr>
              <a:t>研究的对象和任务</a:t>
            </a:r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zh-CN" altLang="en-US" sz="3600" noProof="1">
                <a:solidFill>
                  <a:srgbClr val="1911B5"/>
                </a:solidFill>
                <a:ea typeface="文鼎书宋" pitchFamily="49" charset="-122"/>
              </a:rPr>
              <a:t>二、遗传学</a:t>
            </a:r>
            <a:r>
              <a:rPr lang="en-US" altLang="en-US" sz="3600" dirty="0">
                <a:solidFill>
                  <a:srgbClr val="1911B5"/>
                </a:solidFill>
                <a:ea typeface="文鼎书宋" pitchFamily="49" charset="-122"/>
              </a:rPr>
              <a:t>的</a:t>
            </a:r>
            <a:r>
              <a:rPr lang="zh-CN" altLang="en-US" sz="3600" noProof="1">
                <a:solidFill>
                  <a:srgbClr val="1911B5"/>
                </a:solidFill>
                <a:ea typeface="文鼎书宋" pitchFamily="49" charset="-122"/>
              </a:rPr>
              <a:t>发展简史</a:t>
            </a:r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endParaRPr lang="en-US" altLang="en-US" dirty="0">
              <a:ea typeface="文鼎书宋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autoUpdateAnimBg="0"/>
      <p:bldP spid="149507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8" name="Rectangle 14"/>
          <p:cNvSpPr>
            <a:spLocks noGrp="1" noChangeArrowheads="1"/>
          </p:cNvSpPr>
          <p:nvPr>
            <p:ph type="title"/>
          </p:nvPr>
        </p:nvSpPr>
        <p:spPr>
          <a:xfrm>
            <a:off x="406400" y="-195792"/>
            <a:ext cx="10515600" cy="1325563"/>
          </a:xfrm>
        </p:spPr>
        <p:txBody>
          <a:bodyPr/>
          <a:lstStyle/>
          <a:p>
            <a:r>
              <a:rPr lang="zh-CN" altLang="en-US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一、遗传学的研究对象和任务</a:t>
            </a:r>
          </a:p>
        </p:txBody>
      </p:sp>
      <p:sp>
        <p:nvSpPr>
          <p:cNvPr id="52239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1603375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遗传学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(Genetics)</a:t>
            </a:r>
            <a:r>
              <a:rPr lang="zh-CN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是研究</a:t>
            </a:r>
            <a:r>
              <a:rPr lang="zh-CN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生物遗传和变异</a:t>
            </a:r>
            <a:r>
              <a:rPr lang="zh-CN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的科学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遗传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与变异是生物界最普通、最基本的两个特征</a:t>
            </a:r>
            <a:b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14"/>
          <p:cNvSpPr txBox="1">
            <a:spLocks noChangeArrowheads="1"/>
          </p:cNvSpPr>
          <p:nvPr/>
        </p:nvSpPr>
        <p:spPr>
          <a:xfrm>
            <a:off x="838200" y="7000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noProof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 b="1" noProof="1">
                <a:latin typeface="黑体" panose="02010609060101010101" pitchFamily="49" charset="-122"/>
                <a:ea typeface="黑体" panose="02010609060101010101" pitchFamily="49" charset="-122"/>
              </a:rPr>
              <a:t>遗传学的研究对象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8" grpId="0" autoUpdateAnimBg="0"/>
      <p:bldP spid="52239" grpId="0" build="p" autoUpdateAnimBg="0" advAuto="0"/>
      <p:bldP spid="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" y="2622236"/>
            <a:ext cx="11976098" cy="4375463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    遗传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与变异是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一对矛盾对立统一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的两个方面</a:t>
            </a:r>
            <a:b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相对的、保守的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，而</a:t>
            </a:r>
            <a:r>
              <a:rPr lang="zh-CN" altLang="en-US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变异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绝对的、发展的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b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800" b="1">
                <a:latin typeface="宋体" panose="02010600030101010101" pitchFamily="2" charset="-122"/>
              </a:rPr>
              <a:t>没有</a:t>
            </a:r>
            <a:r>
              <a:rPr lang="zh-CN" altLang="en-US" sz="2800" b="1" dirty="0">
                <a:latin typeface="宋体" panose="02010600030101010101" pitchFamily="2" charset="-122"/>
              </a:rPr>
              <a:t>变异生物界就失去了进化的材料（源泉），遗传就成了简单的重复；没有遗传，变异就无法积累，变异就失去了意义，生物也就无法进化和发展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FC3E57-70F4-D9A8-D345-7DA4BFD70689}"/>
              </a:ext>
            </a:extLst>
          </p:cNvPr>
          <p:cNvSpPr txBox="1"/>
          <p:nvPr/>
        </p:nvSpPr>
        <p:spPr>
          <a:xfrm>
            <a:off x="1" y="207152"/>
            <a:ext cx="11836398" cy="24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40000"/>
              </a:lnSpc>
              <a:buNone/>
            </a:pPr>
            <a:r>
              <a:rPr lang="zh-CN" altLang="en-US" sz="2800" b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遗传</a:t>
            </a:r>
            <a:r>
              <a:rPr lang="en-US" altLang="zh-CN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(heredity)</a:t>
            </a:r>
            <a:r>
              <a:rPr lang="zh-CN" altLang="en-US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指生物亲代与子代</a:t>
            </a:r>
            <a:r>
              <a:rPr lang="zh-CN" altLang="en-US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相似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的现象，即生物在世代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传递过程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中可以保持物种和生物个体各种特性不变；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zh-CN" altLang="en-US" sz="2800" b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变异</a:t>
            </a:r>
            <a:r>
              <a:rPr lang="en-US" altLang="zh-CN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(variation)</a:t>
            </a:r>
            <a:r>
              <a:rPr lang="zh-CN" altLang="en-US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指生物在亲代与子代之间，以及在子代与子代之间表现出一定</a:t>
            </a:r>
            <a:r>
              <a:rPr lang="zh-CN" altLang="en-US" sz="28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差异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的现象。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Rectangle 6"/>
          <p:cNvSpPr>
            <a:spLocks noGrp="1" noChangeArrowheads="1"/>
          </p:cNvSpPr>
          <p:nvPr>
            <p:ph type="title"/>
          </p:nvPr>
        </p:nvSpPr>
        <p:spPr>
          <a:xfrm>
            <a:off x="668867" y="-9166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noProof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000" b="1" noProof="1">
                <a:latin typeface="黑体" panose="02010609060101010101" pitchFamily="49" charset="-122"/>
                <a:ea typeface="黑体" panose="02010609060101010101" pitchFamily="49" charset="-122"/>
              </a:rPr>
              <a:t>遗传学的任务</a:t>
            </a: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68867" y="1233895"/>
            <a:ext cx="11272201" cy="49371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遗传与变异现象</a:t>
            </a:r>
            <a:r>
              <a:rPr lang="en-US" altLang="en-US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基本规律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阐明生物遗传、变异现象及其</a:t>
            </a:r>
            <a:r>
              <a:rPr lang="en-US"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表现</a:t>
            </a: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规律</a:t>
            </a: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b="1" dirty="0" err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遗传的本质与内在规律</a:t>
            </a:r>
            <a:endParaRPr lang="en-US" altLang="en-US" b="1" dirty="0">
              <a:solidFill>
                <a:srgbClr val="1911B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探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索</a:t>
            </a: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遗传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变异的原因及其物质基础(遗传的本质)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揭示遗传变异的内在规律</a:t>
            </a:r>
            <a:endParaRPr lang="en-US" altLang="en-US" b="1" noProof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指导生物遗传改良工作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在上述工作基础上</a:t>
            </a: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指导动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植物和微生物遗传改良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育种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noProof="1">
                <a:latin typeface="黑体" panose="02010609060101010101" pitchFamily="49" charset="-122"/>
                <a:ea typeface="黑体" panose="02010609060101010101" pitchFamily="49" charset="-122"/>
              </a:rPr>
              <a:t>实践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utoUpdateAnimBg="0"/>
      <p:bldP spid="49159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>
          <a:xfrm>
            <a:off x="438150" y="-5397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二、遗传学</a:t>
            </a:r>
            <a:r>
              <a:rPr lang="en-US" altLang="en-US" sz="40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4000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发展简史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65079" y="1271588"/>
            <a:ext cx="9788771" cy="35274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200" b="1" noProof="1"/>
              <a:t>(一) 近代遗传学的奠基</a:t>
            </a:r>
          </a:p>
          <a:p>
            <a:pPr marL="457200" lvl="1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sz="2800" b="1" noProof="1"/>
              <a:t>  拉马克</a:t>
            </a:r>
            <a:r>
              <a:rPr lang="en-US" altLang="en-US" sz="2800" b="1" dirty="0"/>
              <a:t>：</a:t>
            </a:r>
            <a:r>
              <a:rPr lang="en-US" altLang="en-US" sz="2800" b="1" dirty="0" err="1"/>
              <a:t>器官</a:t>
            </a:r>
            <a:r>
              <a:rPr lang="zh-CN" altLang="en-US" sz="2800" b="1" noProof="1"/>
              <a:t>用进废退</a:t>
            </a:r>
            <a:r>
              <a:rPr lang="en-US" altLang="en-US" sz="2800" b="1" dirty="0"/>
              <a:t>与</a:t>
            </a:r>
            <a:r>
              <a:rPr lang="zh-CN" altLang="en-US" sz="2800" b="1" noProof="1"/>
              <a:t>获得性状遗传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2800" b="1" noProof="1"/>
              <a:t>  达尔文</a:t>
            </a:r>
            <a:r>
              <a:rPr lang="en-US" altLang="en-US" sz="2800" b="1" dirty="0"/>
              <a:t>：</a:t>
            </a:r>
            <a:r>
              <a:rPr lang="zh-CN" altLang="en-US" sz="2800" b="1" noProof="1"/>
              <a:t>泛生假说</a:t>
            </a:r>
            <a:endParaRPr lang="zh-CN" altLang="en-US" sz="2800" b="1" noProof="1">
              <a:hlinkClick r:id="rId2" action="ppaction://hlinksldjump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2800" b="1" noProof="1"/>
              <a:t>  魏斯曼</a:t>
            </a:r>
            <a:r>
              <a:rPr lang="en-US" altLang="en-US" sz="2800" b="1" dirty="0"/>
              <a:t>：</a:t>
            </a:r>
            <a:r>
              <a:rPr lang="zh-CN" altLang="en-US" sz="2800" b="1" noProof="1"/>
              <a:t>种质连续论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2800" b="1" noProof="1"/>
              <a:t>  高尔顿</a:t>
            </a:r>
            <a:r>
              <a:rPr lang="en-US" altLang="en-US" sz="2800" b="1" dirty="0"/>
              <a:t>：</a:t>
            </a:r>
            <a:r>
              <a:rPr lang="zh-CN" altLang="en-US" sz="2800" b="1" noProof="1"/>
              <a:t>融合遗传假说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sz="2800" b="1" noProof="1"/>
              <a:t>  孟德尔</a:t>
            </a:r>
            <a:r>
              <a:rPr lang="en-US" altLang="en-US" sz="2800" b="1" dirty="0"/>
              <a:t>：</a:t>
            </a:r>
            <a:r>
              <a:rPr lang="zh-CN" altLang="en-US" sz="2800" b="1" noProof="1">
                <a:solidFill>
                  <a:srgbClr val="FF0000"/>
                </a:solidFill>
              </a:rPr>
              <a:t>遗传因子假说</a:t>
            </a:r>
          </a:p>
          <a:p>
            <a:pPr marL="0" indent="0">
              <a:buNone/>
            </a:pPr>
            <a:endParaRPr lang="en-US" altLang="zh-CN" sz="3200" b="1" noProof="1"/>
          </a:p>
          <a:p>
            <a:pPr marL="0" indent="0">
              <a:buNone/>
            </a:pPr>
            <a:r>
              <a:rPr lang="zh-CN" altLang="en-US" sz="3200" b="1" noProof="1"/>
              <a:t>(二) 遗传学的建立和发展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7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8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8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utoUpdateAnimBg="0"/>
      <p:bldP spid="37893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1" name="Rectangle 13"/>
          <p:cNvSpPr>
            <a:spLocks noGrp="1" noChangeArrowheads="1"/>
          </p:cNvSpPr>
          <p:nvPr>
            <p:ph type="title"/>
          </p:nvPr>
        </p:nvSpPr>
        <p:spPr>
          <a:xfrm>
            <a:off x="773928" y="381000"/>
            <a:ext cx="10694171" cy="679450"/>
          </a:xfrm>
        </p:spPr>
        <p:txBody>
          <a:bodyPr>
            <a:noAutofit/>
          </a:bodyPr>
          <a:lstStyle/>
          <a:p>
            <a:r>
              <a:rPr lang="zh-CN" altLang="en-US" sz="3600" b="1" noProof="1">
                <a:latin typeface="黑体" panose="02010609060101010101" pitchFamily="49" charset="-122"/>
                <a:ea typeface="黑体" panose="02010609060101010101" pitchFamily="49" charset="-122"/>
              </a:rPr>
              <a:t>达尔文</a:t>
            </a:r>
            <a:r>
              <a:rPr lang="en-US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600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泛生假说</a:t>
            </a:r>
            <a:r>
              <a:rPr lang="en-US" altLang="en-US" sz="36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(hypothesis of </a:t>
            </a:r>
            <a:r>
              <a:rPr lang="en-US" altLang="en-US" sz="3600" b="1" dirty="0" err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pangensis</a:t>
            </a:r>
            <a:r>
              <a:rPr lang="en-US" altLang="en-US" sz="3600" b="1" dirty="0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en-US" sz="3600" b="1" noProof="1">
              <a:solidFill>
                <a:srgbClr val="1911B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62" name="Rectangle 14"/>
          <p:cNvSpPr>
            <a:spLocks noGrp="1" noChangeArrowheads="1"/>
          </p:cNvSpPr>
          <p:nvPr>
            <p:ph type="body" sz="half" idx="1"/>
          </p:nvPr>
        </p:nvSpPr>
        <p:spPr>
          <a:xfrm>
            <a:off x="490008" y="1122892"/>
            <a:ext cx="11126259" cy="51689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tx2"/>
              </a:buClr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关于遗传、变异的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泛生假说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b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各种器官都存在微小的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泛生粒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它们能分裂、生殖，并能在体内流动，最后汇集到生殖器官里，形成生殖细胞，当受精卵发育成成体时，各种泛生粒又进入到各器官发生作用，从而表现出遗传现象。如果亲代的泛生粒发生改变，子代则表现变异。 </a:t>
            </a:r>
          </a:p>
          <a:p>
            <a:pPr marL="0" indent="0">
              <a:lnSpc>
                <a:spcPct val="150000"/>
              </a:lnSpc>
              <a:buClr>
                <a:schemeClr val="tx2"/>
              </a:buClr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达尔文也承认获得性遗传的一些观点。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1" grpId="0" autoUpdateAnimBg="0"/>
      <p:bldP spid="78862" grpId="0" build="p" bldLvl="2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2" name="Rectangle 6"/>
          <p:cNvSpPr>
            <a:spLocks noGrp="1" noChangeArrowheads="1"/>
          </p:cNvSpPr>
          <p:nvPr>
            <p:ph type="title"/>
          </p:nvPr>
        </p:nvSpPr>
        <p:spPr>
          <a:xfrm>
            <a:off x="475192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noProof="1">
                <a:latin typeface="黑体" panose="02010609060101010101" pitchFamily="49" charset="-122"/>
                <a:ea typeface="黑体" panose="02010609060101010101" pitchFamily="49" charset="-122"/>
              </a:rPr>
              <a:t>魏斯曼</a:t>
            </a:r>
            <a:r>
              <a:rPr lang="en-US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600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种质连续论</a:t>
            </a:r>
          </a:p>
        </p:txBody>
      </p:sp>
      <p:sp>
        <p:nvSpPr>
          <p:cNvPr id="8090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884767" y="1089024"/>
            <a:ext cx="10515600" cy="49942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1911B5"/>
                </a:solidFill>
              </a:rPr>
              <a:t>新达尔文主义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sz="3000" b="1" dirty="0"/>
              <a:t>在生物进化方面支持达尔文的选择理论，但在遗传上否定获得性状遗传，魏斯曼是其首创者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noProof="1">
                <a:solidFill>
                  <a:srgbClr val="1911B5"/>
                </a:solidFill>
              </a:rPr>
              <a:t>种质连续论</a:t>
            </a:r>
            <a:r>
              <a:rPr lang="en-US" altLang="en-US" b="1" dirty="0">
                <a:solidFill>
                  <a:srgbClr val="1911B5"/>
                </a:solidFill>
              </a:rPr>
              <a:t>(theory of continuity of germplasm)</a:t>
            </a:r>
            <a:endParaRPr lang="en-US" altLang="zh-CN" b="1" dirty="0">
              <a:solidFill>
                <a:srgbClr val="1911B5"/>
              </a:solidFill>
            </a:endParaRPr>
          </a:p>
          <a:p>
            <a:pPr marL="457200" lvl="1" indent="0">
              <a:lnSpc>
                <a:spcPct val="115000"/>
              </a:lnSpc>
              <a:buNone/>
            </a:pPr>
            <a:r>
              <a:rPr lang="zh-CN" altLang="en-US" sz="3000" b="1" dirty="0"/>
              <a:t>多细胞生物由</a:t>
            </a:r>
            <a:r>
              <a:rPr lang="zh-CN" altLang="en-US" sz="3000" b="1" dirty="0">
                <a:solidFill>
                  <a:srgbClr val="FF0000"/>
                </a:solidFill>
              </a:rPr>
              <a:t>种质</a:t>
            </a:r>
            <a:r>
              <a:rPr lang="zh-CN" altLang="en-US" sz="3000" b="1" dirty="0"/>
              <a:t>和</a:t>
            </a:r>
            <a:r>
              <a:rPr lang="zh-CN" altLang="en-US" sz="3000" b="1" dirty="0">
                <a:solidFill>
                  <a:srgbClr val="FF0000"/>
                </a:solidFill>
              </a:rPr>
              <a:t>体质</a:t>
            </a:r>
            <a:r>
              <a:rPr lang="zh-CN" altLang="en-US" sz="3000" b="1" dirty="0"/>
              <a:t>组成：种质指生殖细胞，负责生殖和遗传；体质指体细胞，负责营养活动。</a:t>
            </a:r>
          </a:p>
          <a:p>
            <a:pPr marL="457200" lvl="1" indent="0">
              <a:lnSpc>
                <a:spcPct val="115000"/>
              </a:lnSpc>
              <a:buNone/>
            </a:pPr>
            <a:r>
              <a:rPr lang="zh-CN" altLang="en-US" sz="3000" b="1" dirty="0"/>
              <a:t>种质是“潜在的”，世代相传，不受体质和环境影响，所以获得性状不能遗传；</a:t>
            </a:r>
            <a:br>
              <a:rPr lang="zh-CN" altLang="en-US" sz="3000" b="1" dirty="0"/>
            </a:br>
            <a:r>
              <a:rPr lang="zh-CN" altLang="en-US" sz="3000" b="1" dirty="0"/>
              <a:t>体质由种质产生，是“被表达的”，不能遗传；</a:t>
            </a:r>
          </a:p>
          <a:p>
            <a:pPr marL="457200" lvl="1" indent="0">
              <a:lnSpc>
                <a:spcPct val="115000"/>
              </a:lnSpc>
              <a:buNone/>
            </a:pPr>
            <a:r>
              <a:rPr lang="zh-CN" altLang="en-US" sz="3000" b="1" dirty="0">
                <a:solidFill>
                  <a:srgbClr val="FF0000"/>
                </a:solidFill>
              </a:rPr>
              <a:t>种质在世代间连续，遗传是由具有一定化学成分和一定分子性质的物质</a:t>
            </a:r>
            <a:r>
              <a:rPr lang="en-US" altLang="zh-CN" sz="3000" b="1" dirty="0">
                <a:solidFill>
                  <a:srgbClr val="FF0000"/>
                </a:solidFill>
              </a:rPr>
              <a:t>(</a:t>
            </a:r>
            <a:r>
              <a:rPr lang="zh-CN" altLang="en-US" sz="3000" b="1" dirty="0">
                <a:solidFill>
                  <a:srgbClr val="FF0000"/>
                </a:solidFill>
              </a:rPr>
              <a:t>种质</a:t>
            </a:r>
            <a:r>
              <a:rPr lang="en-US" altLang="zh-CN" sz="3000" b="1" dirty="0">
                <a:solidFill>
                  <a:srgbClr val="FF0000"/>
                </a:solidFill>
              </a:rPr>
              <a:t>)</a:t>
            </a:r>
            <a:r>
              <a:rPr lang="zh-CN" altLang="en-US" sz="3000" b="1" dirty="0">
                <a:solidFill>
                  <a:srgbClr val="FF0000"/>
                </a:solidFill>
              </a:rPr>
              <a:t>在世代间传递实现的</a:t>
            </a:r>
            <a:r>
              <a:rPr lang="zh-CN" altLang="en-US" sz="3000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9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9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0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9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9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 autoUpdateAnimBg="0"/>
      <p:bldP spid="80903" grpId="0" build="p" bldLvl="2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6" name="Rectangle 6"/>
          <p:cNvSpPr>
            <a:spLocks noGrp="1" noChangeArrowheads="1"/>
          </p:cNvSpPr>
          <p:nvPr>
            <p:ph type="title"/>
          </p:nvPr>
        </p:nvSpPr>
        <p:spPr>
          <a:xfrm>
            <a:off x="542925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noProof="1">
                <a:latin typeface="黑体" panose="02010609060101010101" pitchFamily="49" charset="-122"/>
                <a:ea typeface="黑体" panose="02010609060101010101" pitchFamily="49" charset="-122"/>
              </a:rPr>
              <a:t>高尔顿</a:t>
            </a:r>
            <a:r>
              <a:rPr lang="en-US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600" b="1" noProof="1">
                <a:solidFill>
                  <a:srgbClr val="1911B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融合遗传假说</a:t>
            </a:r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133475" y="1145528"/>
            <a:ext cx="10515600" cy="49276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zh-CN" altLang="en-US" b="1" dirty="0"/>
              <a:t>融合遗传认为：</a:t>
            </a:r>
            <a:br>
              <a:rPr lang="zh-CN" altLang="en-US" b="1" dirty="0"/>
            </a:br>
            <a:r>
              <a:rPr lang="zh-CN" altLang="en-US" b="1" dirty="0"/>
              <a:t>双亲的遗传成分在子代中发生</a:t>
            </a:r>
            <a:r>
              <a:rPr lang="zh-CN" altLang="en-US" b="1" dirty="0">
                <a:solidFill>
                  <a:srgbClr val="FF0000"/>
                </a:solidFill>
              </a:rPr>
              <a:t>融合</a:t>
            </a:r>
            <a:r>
              <a:rPr lang="zh-CN" altLang="en-US" b="1" dirty="0"/>
              <a:t>，而后表现。</a:t>
            </a:r>
            <a:endParaRPr lang="en-US" altLang="zh-CN" b="1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b="1" dirty="0"/>
              <a:t>其根据是：子女的许多特性均表现为双亲的中间类型。因此高尔顿及其学生毕尔生致力于用</a:t>
            </a:r>
            <a:r>
              <a:rPr lang="zh-CN" altLang="en-US" b="1" dirty="0">
                <a:solidFill>
                  <a:srgbClr val="FF0000"/>
                </a:solidFill>
              </a:rPr>
              <a:t>数学和统计学方法</a:t>
            </a:r>
            <a:r>
              <a:rPr lang="zh-CN" altLang="en-US" b="1" dirty="0"/>
              <a:t>研究亲代与子代间性状表现的关系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b="1" dirty="0"/>
              <a:t>虽然融合遗传的基本观点并不正确，但是在这一基础上所创建的一系列生物数学分析方法，却为</a:t>
            </a:r>
            <a:r>
              <a:rPr lang="zh-CN" altLang="en-US" b="1" dirty="0">
                <a:solidFill>
                  <a:srgbClr val="FF0000"/>
                </a:solidFill>
              </a:rPr>
              <a:t>数量遗传、群体遗传</a:t>
            </a:r>
            <a:r>
              <a:rPr lang="zh-CN" altLang="en-US" b="1" dirty="0"/>
              <a:t>的产生和发展奠定了基础</a:t>
            </a:r>
            <a:endParaRPr lang="zh-CN" altLang="en-US" b="1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19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1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 autoUpdateAnimBg="0"/>
      <p:bldP spid="81927" grpId="0" build="p" bldLvl="2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4" name="Rectangle 6"/>
          <p:cNvSpPr>
            <a:spLocks noGrp="1" noChangeArrowheads="1"/>
          </p:cNvSpPr>
          <p:nvPr>
            <p:ph type="title"/>
          </p:nvPr>
        </p:nvSpPr>
        <p:spPr>
          <a:xfrm>
            <a:off x="787401" y="920213"/>
            <a:ext cx="10085916" cy="679450"/>
          </a:xfrm>
        </p:spPr>
        <p:txBody>
          <a:bodyPr>
            <a:normAutofit/>
          </a:bodyPr>
          <a:lstStyle/>
          <a:p>
            <a:r>
              <a:rPr lang="zh-CN" altLang="en-US" sz="3200" b="1" noProof="1">
                <a:latin typeface="黑体" panose="02010609060101010101" pitchFamily="49" charset="-122"/>
                <a:ea typeface="黑体" panose="02010609060101010101" pitchFamily="49" charset="-122"/>
              </a:rPr>
              <a:t>1.初创时期(1900-1910)</a:t>
            </a:r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171574" y="1469488"/>
            <a:ext cx="9188451" cy="5168900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b="1" noProof="1"/>
              <a:t>(1)</a:t>
            </a:r>
            <a:r>
              <a:rPr lang="en-US" altLang="en-US" b="1" noProof="1"/>
              <a:t>1900</a:t>
            </a:r>
            <a:r>
              <a:rPr lang="zh-CN" altLang="en-US" b="1" noProof="1"/>
              <a:t>年， 狄·弗里斯 </a:t>
            </a:r>
            <a:r>
              <a:rPr lang="en-US" altLang="en-US" b="1" dirty="0"/>
              <a:t>、</a:t>
            </a:r>
            <a:r>
              <a:rPr lang="zh-CN" altLang="en-US" b="1" noProof="1"/>
              <a:t>柴马克和柯伦斯分别重新发现孟德尔规律，是遗传学学科建立的标志。1906</a:t>
            </a:r>
            <a:r>
              <a:rPr lang="en-US" altLang="en-US" b="1" dirty="0"/>
              <a:t> </a:t>
            </a:r>
            <a:r>
              <a:rPr lang="zh-CN" altLang="en-US" b="1" noProof="1"/>
              <a:t>年</a:t>
            </a:r>
            <a:r>
              <a:rPr lang="en-US" altLang="en-US" b="1" dirty="0"/>
              <a:t>，</a:t>
            </a:r>
            <a:r>
              <a:rPr lang="zh-CN" altLang="en-US" b="1" noProof="1"/>
              <a:t>贝特生提出以</a:t>
            </a:r>
            <a:r>
              <a:rPr lang="en-US" altLang="zh-CN" b="1" noProof="1">
                <a:solidFill>
                  <a:srgbClr val="FF0000"/>
                </a:solidFill>
              </a:rPr>
              <a:t>Genetics</a:t>
            </a:r>
            <a:r>
              <a:rPr lang="zh-CN" altLang="en-US" b="1" noProof="1"/>
              <a:t>作为该学科的学科名</a:t>
            </a:r>
          </a:p>
        </p:txBody>
      </p:sp>
      <p:pic>
        <p:nvPicPr>
          <p:cNvPr id="83977" name="Picture 9" descr="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1574" y="3152238"/>
            <a:ext cx="7785100" cy="3317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657226" y="273882"/>
            <a:ext cx="6000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noProof="1"/>
              <a:t>(二) 遗传学的建立和发展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utoUpdateAnimBg="0"/>
      <p:bldP spid="83975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8098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noProof="1">
                <a:latin typeface="黑体" panose="02010609060101010101" pitchFamily="49" charset="-122"/>
                <a:ea typeface="黑体" panose="02010609060101010101" pitchFamily="49" charset="-122"/>
              </a:rPr>
              <a:t>1.初创时期(1900-1910)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358900"/>
            <a:ext cx="10515600" cy="435133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b="1" noProof="1"/>
              <a:t>(2)</a:t>
            </a:r>
            <a:r>
              <a:rPr lang="en-US" altLang="en-US" b="1" noProof="1"/>
              <a:t>1901-1903</a:t>
            </a:r>
            <a:r>
              <a:rPr lang="zh-CN" altLang="en-US" b="1" noProof="1"/>
              <a:t>年，狄·弗里斯发表“突变学说”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b="1" noProof="1"/>
              <a:t>(3)</a:t>
            </a:r>
            <a:r>
              <a:rPr lang="en-US" altLang="en-US" b="1" noProof="1"/>
              <a:t>1903</a:t>
            </a:r>
            <a:r>
              <a:rPr lang="zh-CN" altLang="en-US" b="1" noProof="1"/>
              <a:t>年，</a:t>
            </a:r>
            <a:r>
              <a:rPr lang="en-US" altLang="zh-CN" b="1" noProof="1"/>
              <a:t>Sutton</a:t>
            </a:r>
            <a:r>
              <a:rPr lang="zh-CN" altLang="en-US" b="1" dirty="0"/>
              <a:t>和</a:t>
            </a:r>
            <a:r>
              <a:rPr lang="en-US" altLang="zh-CN" b="1" noProof="1"/>
              <a:t>Boveri</a:t>
            </a:r>
            <a:r>
              <a:rPr lang="zh-CN" altLang="en-US" b="1" noProof="1"/>
              <a:t>分别提出染色体遗传理论，认为</a:t>
            </a:r>
            <a:r>
              <a:rPr lang="en-US" altLang="en-US" b="1" dirty="0"/>
              <a:t>：</a:t>
            </a:r>
            <a:r>
              <a:rPr lang="zh-CN" altLang="en-US" b="1" noProof="1">
                <a:solidFill>
                  <a:srgbClr val="FF0000"/>
                </a:solidFill>
              </a:rPr>
              <a:t>遗传因子位于细胞核内染色体上</a:t>
            </a:r>
            <a:r>
              <a:rPr lang="zh-CN" altLang="en-US" b="1" noProof="1"/>
              <a:t>，从而将孟德尔遗传规律与细胞学研究结合起来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b="1" noProof="1"/>
              <a:t>(4)</a:t>
            </a:r>
            <a:r>
              <a:rPr lang="en-US" altLang="en-US" b="1" noProof="1"/>
              <a:t>1909</a:t>
            </a:r>
            <a:r>
              <a:rPr lang="zh-CN" altLang="en-US" b="1" noProof="1"/>
              <a:t>年，约翰生发表“纯系学说”，</a:t>
            </a:r>
            <a:r>
              <a:rPr lang="en-US" altLang="en-US" b="1" dirty="0"/>
              <a:t>并</a:t>
            </a:r>
            <a:r>
              <a:rPr lang="zh-CN" altLang="en-US" b="1" noProof="1"/>
              <a:t>提出“</a:t>
            </a:r>
            <a:r>
              <a:rPr lang="en-US" altLang="zh-CN" b="1" noProof="1">
                <a:solidFill>
                  <a:srgbClr val="FF0000"/>
                </a:solidFill>
              </a:rPr>
              <a:t>gene</a:t>
            </a:r>
            <a:r>
              <a:rPr lang="en-US" altLang="zh-CN" b="1" noProof="1"/>
              <a:t>”</a:t>
            </a:r>
            <a:r>
              <a:rPr lang="zh-CN" altLang="en-US" b="1" noProof="1"/>
              <a:t>的概念</a:t>
            </a:r>
            <a:r>
              <a:rPr lang="en-US" altLang="en-US" b="1" dirty="0"/>
              <a:t>，</a:t>
            </a:r>
            <a:r>
              <a:rPr lang="zh-CN" altLang="en-US" b="1" noProof="1"/>
              <a:t>以代替孟德尔所谓的“遗传因子”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b="1" noProof="1"/>
              <a:t>(5)</a:t>
            </a:r>
            <a:r>
              <a:rPr lang="en-US" altLang="en-US" b="1" noProof="1"/>
              <a:t>1908</a:t>
            </a:r>
            <a:r>
              <a:rPr lang="zh-CN" altLang="en-US" b="1" noProof="1"/>
              <a:t>年，哈德和温伯格分别推导出</a:t>
            </a:r>
            <a:r>
              <a:rPr lang="zh-CN" altLang="en-US" b="1" noProof="1">
                <a:solidFill>
                  <a:srgbClr val="FF0000"/>
                </a:solidFill>
              </a:rPr>
              <a:t>群体遗传平衡定律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autoUpdateAnimBg="0"/>
      <p:bldP spid="140291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8" name="Rectangle 6"/>
          <p:cNvSpPr>
            <a:spLocks noGrp="1" noChangeArrowheads="1"/>
          </p:cNvSpPr>
          <p:nvPr>
            <p:ph type="title"/>
          </p:nvPr>
        </p:nvSpPr>
        <p:spPr>
          <a:xfrm>
            <a:off x="838200" y="60325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noProof="1">
                <a:latin typeface="黑体" panose="02010609060101010101" pitchFamily="49" charset="-122"/>
                <a:ea typeface="黑体" panose="02010609060101010101" pitchFamily="49" charset="-122"/>
              </a:rPr>
              <a:t>2.全面发展时期(1910-1952)</a:t>
            </a:r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162050" y="1654175"/>
            <a:ext cx="10515600" cy="435133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b="1" dirty="0" err="1"/>
              <a:t>形成了近代遗传学的主要内容与研究领域，也是本课程的主要内容</a:t>
            </a:r>
            <a:r>
              <a:rPr lang="en-US" altLang="zh-CN" b="1" dirty="0"/>
              <a:t> 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en-US" sz="2800" b="1" noProof="1"/>
              <a:t>(1) </a:t>
            </a:r>
            <a:r>
              <a:rPr lang="zh-CN" altLang="en-US" sz="2800" b="1" noProof="1"/>
              <a:t>细胞遗传学</a:t>
            </a:r>
            <a:r>
              <a:rPr lang="en-US" altLang="en-US" sz="2800" b="1" dirty="0"/>
              <a:t>/</a:t>
            </a:r>
            <a:r>
              <a:rPr lang="en-US" altLang="en-US" sz="2800" b="1" dirty="0" err="1"/>
              <a:t>经典遗传学</a:t>
            </a:r>
            <a:r>
              <a:rPr lang="en-US" altLang="en-US" sz="2800" b="1" noProof="1"/>
              <a:t>(1910-1940)</a:t>
            </a:r>
            <a:br>
              <a:rPr lang="en-US" altLang="en-US" sz="2800" b="1" dirty="0"/>
            </a:br>
            <a:r>
              <a:rPr lang="en-US" altLang="en-US" sz="2800" b="1" dirty="0"/>
              <a:t>     1910</a:t>
            </a:r>
            <a:r>
              <a:rPr lang="zh-CN" altLang="en-US" sz="2800" b="1" dirty="0"/>
              <a:t>年</a:t>
            </a:r>
            <a:r>
              <a:rPr lang="en-US" altLang="en-US" sz="2800" b="1" dirty="0"/>
              <a:t>，摩尔根等：性状连锁遗传规律</a:t>
            </a:r>
            <a:endParaRPr lang="en-US" altLang="en-US" sz="2800" b="1" noProof="1"/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en-US" sz="2800" b="1" noProof="1"/>
              <a:t>(2)</a:t>
            </a:r>
            <a:r>
              <a:rPr lang="en-US" altLang="en-US" sz="2800" b="1" dirty="0" err="1"/>
              <a:t>数量遗传学与群体</a:t>
            </a:r>
            <a:r>
              <a:rPr lang="zh-CN" altLang="en-US" sz="2800" b="1" noProof="1"/>
              <a:t>遗传学</a:t>
            </a:r>
            <a:r>
              <a:rPr lang="en-US" altLang="en-US" sz="2800" b="1" dirty="0" err="1"/>
              <a:t>基础</a:t>
            </a:r>
            <a:r>
              <a:rPr lang="en-US" altLang="en-US" sz="2800" b="1" noProof="1"/>
              <a:t> (1920-)</a:t>
            </a:r>
            <a:br>
              <a:rPr lang="en-US" altLang="en-US" sz="2800" b="1" dirty="0"/>
            </a:br>
            <a:r>
              <a:rPr lang="en-US" altLang="en-US" sz="2800" b="1" dirty="0"/>
              <a:t>    </a:t>
            </a:r>
            <a:r>
              <a:rPr lang="en-US" altLang="en-US" sz="2800" b="1" dirty="0" err="1"/>
              <a:t>费希尔等：数理统计方法在遗传分析中的应用</a:t>
            </a:r>
            <a:endParaRPr lang="en-US" altLang="en-US" sz="2800" b="1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 autoUpdateAnimBg="0"/>
      <p:bldP spid="84999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noProof="1">
                <a:latin typeface="黑体" panose="02010609060101010101" pitchFamily="49" charset="-122"/>
                <a:ea typeface="黑体" panose="02010609060101010101" pitchFamily="49" charset="-122"/>
              </a:rPr>
              <a:t>2.全面发展时期(1910-1952)</a:t>
            </a:r>
          </a:p>
        </p:txBody>
      </p:sp>
      <p:sp>
        <p:nvSpPr>
          <p:cNvPr id="1095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23900" y="1425575"/>
            <a:ext cx="10515600" cy="4351338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30000"/>
              </a:lnSpc>
              <a:buNone/>
            </a:pPr>
            <a:r>
              <a:rPr lang="zh-CN" altLang="en-US" sz="2800" b="1" noProof="1"/>
              <a:t>(3)微生物遗传学及生化遗传学 (1940-1953)</a:t>
            </a:r>
            <a:br>
              <a:rPr lang="en-US" altLang="en-US" sz="2800" b="1" dirty="0"/>
            </a:br>
            <a:r>
              <a:rPr lang="en-US" altLang="en-US" sz="2800" b="1" dirty="0"/>
              <a:t>1941</a:t>
            </a:r>
            <a:r>
              <a:rPr lang="zh-CN" altLang="en-US" sz="2800" b="1" dirty="0"/>
              <a:t>年</a:t>
            </a:r>
            <a:r>
              <a:rPr lang="en-US" altLang="en-US" sz="2800" b="1" dirty="0"/>
              <a:t>，</a:t>
            </a:r>
            <a:r>
              <a:rPr lang="en-US" altLang="en-US" sz="2800" b="1" dirty="0" err="1"/>
              <a:t>比德尔</a:t>
            </a:r>
            <a:r>
              <a:rPr lang="zh-CN" altLang="en-US" sz="2800" b="1" dirty="0"/>
              <a:t>和塔特姆</a:t>
            </a:r>
            <a:r>
              <a:rPr lang="en-US" altLang="en-US" sz="2800" b="1" dirty="0" err="1"/>
              <a:t>等：一个基因一个酶</a:t>
            </a:r>
            <a:br>
              <a:rPr lang="en-US" altLang="en-US" sz="2800" b="1" dirty="0"/>
            </a:br>
            <a:r>
              <a:rPr lang="en-US" altLang="en-US" sz="2800" b="1" dirty="0"/>
              <a:t>1944</a:t>
            </a:r>
            <a:r>
              <a:rPr lang="zh-CN" altLang="en-US" sz="2800" b="1" dirty="0"/>
              <a:t>年</a:t>
            </a:r>
            <a:r>
              <a:rPr lang="en-US" altLang="en-US" sz="2800" b="1" dirty="0"/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O.Avery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2800" b="1" dirty="0"/>
              <a:t>：肺炎双球菌转化</a:t>
            </a:r>
            <a:br>
              <a:rPr lang="en-US" altLang="en-US" sz="2800" b="1" dirty="0"/>
            </a:br>
            <a:r>
              <a:rPr lang="en-US" altLang="en-US" sz="2800" b="1" dirty="0"/>
              <a:t>1952</a:t>
            </a:r>
            <a:r>
              <a:rPr lang="zh-CN" altLang="en-US" sz="2800" b="1" dirty="0"/>
              <a:t>年</a:t>
            </a:r>
            <a:r>
              <a:rPr lang="en-US" altLang="en-US" sz="2800" b="1" dirty="0"/>
              <a:t>，赫尔歇和蔡斯：噬菌体重组</a:t>
            </a:r>
            <a:endParaRPr lang="en-US" altLang="en-US" sz="2800" b="1" noProof="1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en-US" sz="2800" b="1" noProof="1"/>
              <a:t>(</a:t>
            </a:r>
            <a:r>
              <a:rPr lang="en-US" altLang="en-US" sz="2800" b="1" dirty="0"/>
              <a:t>4</a:t>
            </a:r>
            <a:r>
              <a:rPr lang="en-US" altLang="en-US" sz="2800" b="1" noProof="1"/>
              <a:t>) </a:t>
            </a:r>
            <a:r>
              <a:rPr lang="zh-CN" altLang="zh-CN" sz="2800" b="1" dirty="0"/>
              <a:t>其</a:t>
            </a:r>
            <a:r>
              <a:rPr lang="en-US" altLang="zh-CN" sz="2800" b="1" dirty="0" err="1"/>
              <a:t>它研究方向</a:t>
            </a:r>
            <a:br>
              <a:rPr lang="en-US" altLang="zh-CN" sz="2800" b="1" dirty="0"/>
            </a:br>
            <a:r>
              <a:rPr lang="en-US" altLang="en-US" sz="2800" b="1" dirty="0"/>
              <a:t>1927</a:t>
            </a:r>
            <a:r>
              <a:rPr lang="zh-CN" altLang="en-US" sz="2800" b="1" dirty="0"/>
              <a:t>年</a:t>
            </a:r>
            <a:r>
              <a:rPr lang="en-US" altLang="en-US" sz="2800" b="1" dirty="0"/>
              <a:t>，穆勒等：人工诱变</a:t>
            </a:r>
            <a:br>
              <a:rPr lang="en-US" altLang="en-US" sz="2800" b="1" dirty="0"/>
            </a:br>
            <a:r>
              <a:rPr lang="en-US" altLang="en-US" sz="2800" b="1" dirty="0"/>
              <a:t>1937</a:t>
            </a:r>
            <a:r>
              <a:rPr lang="zh-CN" altLang="en-US" sz="2800" b="1" dirty="0"/>
              <a:t>年</a:t>
            </a:r>
            <a:r>
              <a:rPr lang="en-US" altLang="en-US" sz="2800" b="1" dirty="0"/>
              <a:t>，布莱克斯里等：植物多倍体诱导</a:t>
            </a:r>
            <a:r>
              <a:rPr lang="en-US" altLang="zh-CN" sz="2800" b="1" dirty="0"/>
              <a:t> </a:t>
            </a:r>
            <a:br>
              <a:rPr lang="en-US" altLang="zh-CN" sz="2800" b="1" dirty="0"/>
            </a:br>
            <a:r>
              <a:rPr lang="en-US" altLang="zh-CN" sz="2800" b="1" dirty="0" err="1"/>
              <a:t>杂种优势的遗传理论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0" grpId="0" autoUpdateAnimBg="0"/>
      <p:bldP spid="109571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90575" y="781050"/>
            <a:ext cx="9810750" cy="5114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1928</a:t>
            </a:r>
            <a:r>
              <a:rPr lang="zh-CN" altLang="en-US" b="1" dirty="0">
                <a:latin typeface="宋体" panose="02010600030101010101" pitchFamily="2" charset="-122"/>
              </a:rPr>
              <a:t>年</a:t>
            </a:r>
            <a:r>
              <a:rPr lang="zh-CN" altLang="en-US" b="1" dirty="0"/>
              <a:t>，</a:t>
            </a:r>
            <a:r>
              <a:rPr lang="en-US" altLang="zh-CN" b="1" dirty="0" err="1">
                <a:latin typeface="宋体" panose="02010600030101010101" pitchFamily="2" charset="-122"/>
              </a:rPr>
              <a:t>F.Griffith</a:t>
            </a:r>
            <a:r>
              <a:rPr lang="zh-CN" altLang="en-US" b="1" dirty="0">
                <a:latin typeface="宋体" panose="02010600030101010101" pitchFamily="2" charset="-122"/>
              </a:rPr>
              <a:t>发现肺炎双球菌的转化现象。</a:t>
            </a:r>
          </a:p>
          <a:p>
            <a:pPr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1941</a:t>
            </a:r>
            <a:r>
              <a:rPr lang="zh-CN" altLang="en-US" b="1" dirty="0">
                <a:latin typeface="宋体" panose="02010600030101010101" pitchFamily="2" charset="-122"/>
              </a:rPr>
              <a:t>年</a:t>
            </a:r>
            <a:r>
              <a:rPr lang="zh-CN" altLang="en-US" b="1" dirty="0"/>
              <a:t>，</a:t>
            </a:r>
            <a:r>
              <a:rPr lang="en-US" altLang="zh-CN" b="1" dirty="0" err="1">
                <a:latin typeface="宋体" panose="02010600030101010101" pitchFamily="2" charset="-122"/>
              </a:rPr>
              <a:t>G.W.Beadle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 err="1">
                <a:latin typeface="宋体" panose="02010600030101010101" pitchFamily="2" charset="-122"/>
              </a:rPr>
              <a:t>E.Tatum</a:t>
            </a:r>
            <a:r>
              <a:rPr lang="zh-CN" altLang="en-US" b="1" dirty="0">
                <a:latin typeface="宋体" panose="02010600030101010101" pitchFamily="2" charset="-122"/>
              </a:rPr>
              <a:t>提出了</a:t>
            </a:r>
            <a:r>
              <a:rPr lang="zh-CN" altLang="en-US" b="1" dirty="0"/>
              <a:t>“</a:t>
            </a:r>
            <a:r>
              <a:rPr lang="zh-CN" altLang="en-US" b="1" dirty="0">
                <a:latin typeface="宋体" panose="02010600030101010101" pitchFamily="2" charset="-122"/>
              </a:rPr>
              <a:t>一基因一酶</a:t>
            </a:r>
            <a:r>
              <a:rPr lang="zh-CN" altLang="en-US" b="1" dirty="0"/>
              <a:t>”</a:t>
            </a:r>
            <a:r>
              <a:rPr lang="zh-CN" altLang="en-US" b="1" dirty="0">
                <a:latin typeface="宋体" panose="02010600030101010101" pitchFamily="2" charset="-122"/>
              </a:rPr>
              <a:t>学说，发展了微生物遗传学和生化遗传学。</a:t>
            </a:r>
          </a:p>
          <a:p>
            <a:pPr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1944</a:t>
            </a:r>
            <a:r>
              <a:rPr lang="zh-CN" altLang="en-US" b="1" dirty="0">
                <a:latin typeface="宋体" panose="02010600030101010101" pitchFamily="2" charset="-122"/>
              </a:rPr>
              <a:t>年</a:t>
            </a:r>
            <a:r>
              <a:rPr lang="zh-CN" altLang="en-US" b="1" dirty="0"/>
              <a:t>，</a:t>
            </a:r>
            <a:r>
              <a:rPr lang="en-US" altLang="zh-CN" b="1" dirty="0" err="1">
                <a:latin typeface="宋体" panose="02010600030101010101" pitchFamily="2" charset="-122"/>
              </a:rPr>
              <a:t>O.Avery</a:t>
            </a:r>
            <a:r>
              <a:rPr lang="zh-CN" altLang="en-US" b="1" dirty="0">
                <a:latin typeface="宋体" panose="02010600030101010101" pitchFamily="2" charset="-122"/>
              </a:rPr>
              <a:t>等人通过肺炎双球菌转化试验，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首次直接证明了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DNA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是真正的遗传物质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</a:p>
          <a:p>
            <a:pPr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1953</a:t>
            </a:r>
            <a:r>
              <a:rPr lang="zh-CN" altLang="en-US" b="1" dirty="0">
                <a:latin typeface="宋体" panose="02010600030101010101" pitchFamily="2" charset="-122"/>
              </a:rPr>
              <a:t>年</a:t>
            </a:r>
            <a:r>
              <a:rPr lang="zh-CN" altLang="en-US" b="1" dirty="0"/>
              <a:t>，</a:t>
            </a:r>
            <a:r>
              <a:rPr lang="en-US" altLang="zh-CN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J.D.Watson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F.Crick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通过</a:t>
            </a:r>
            <a:r>
              <a:rPr lang="en-US" altLang="zh-CN" b="1" dirty="0">
                <a:latin typeface="宋体" panose="02010600030101010101" pitchFamily="2" charset="-122"/>
              </a:rPr>
              <a:t>X</a:t>
            </a:r>
            <a:r>
              <a:rPr lang="zh-CN" altLang="en-US" b="1" dirty="0">
                <a:latin typeface="宋体" panose="02010600030101010101" pitchFamily="2" charset="-122"/>
              </a:rPr>
              <a:t>射线衍射分析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</a:rPr>
              <a:t>提出了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DNA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分子双螺旋结构模型</a:t>
            </a:r>
            <a:r>
              <a:rPr lang="zh-CN" altLang="en-US" b="1" dirty="0">
                <a:latin typeface="宋体" panose="02010600030101010101" pitchFamily="2" charset="-122"/>
              </a:rPr>
              <a:t>，开创了分子遗传学这一新的学科领域，被喻为遗传学发展史上的一个里程碑。</a:t>
            </a:r>
          </a:p>
          <a:p>
            <a:pPr>
              <a:lnSpc>
                <a:spcPct val="110000"/>
              </a:lnSpc>
              <a:buClr>
                <a:schemeClr val="tx2"/>
              </a:buCl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1961</a:t>
            </a:r>
            <a:r>
              <a:rPr lang="zh-CN" altLang="en-US" b="1" dirty="0">
                <a:latin typeface="宋体" panose="02010600030101010101" pitchFamily="2" charset="-122"/>
              </a:rPr>
              <a:t>年</a:t>
            </a:r>
            <a:r>
              <a:rPr lang="zh-CN" altLang="en-US" b="1" dirty="0"/>
              <a:t>，</a:t>
            </a:r>
            <a:r>
              <a:rPr lang="en-US" altLang="zh-CN" b="1" dirty="0" err="1">
                <a:latin typeface="宋体" panose="02010600030101010101" pitchFamily="2" charset="-122"/>
              </a:rPr>
              <a:t>F.Jacob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 err="1">
                <a:latin typeface="宋体" panose="02010600030101010101" pitchFamily="2" charset="-122"/>
              </a:rPr>
              <a:t>J.Monod</a:t>
            </a:r>
            <a:r>
              <a:rPr lang="zh-CN" altLang="en-US" b="1" dirty="0">
                <a:latin typeface="宋体" panose="02010600030101010101" pitchFamily="2" charset="-122"/>
              </a:rPr>
              <a:t>提出调节基因表达的操纵子模型。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3" name="Rectangle 7"/>
          <p:cNvSpPr>
            <a:spLocks noGrp="1" noChangeArrowheads="1"/>
          </p:cNvSpPr>
          <p:nvPr>
            <p:ph type="title"/>
          </p:nvPr>
        </p:nvSpPr>
        <p:spPr>
          <a:xfrm>
            <a:off x="914401" y="292100"/>
            <a:ext cx="10085916" cy="679450"/>
          </a:xfrm>
        </p:spPr>
        <p:txBody>
          <a:bodyPr>
            <a:normAutofit/>
          </a:bodyPr>
          <a:lstStyle/>
          <a:p>
            <a:r>
              <a:rPr lang="zh-CN" altLang="en-US" sz="3200" b="1" noProof="1">
                <a:latin typeface="黑体" panose="02010609060101010101" pitchFamily="49" charset="-122"/>
                <a:ea typeface="黑体" panose="02010609060101010101" pitchFamily="49" charset="-122"/>
              </a:rPr>
              <a:t>3.  分子遗传学时期(1953-)</a:t>
            </a:r>
          </a:p>
        </p:txBody>
      </p:sp>
      <p:sp>
        <p:nvSpPr>
          <p:cNvPr id="86024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201209" y="1089025"/>
            <a:ext cx="5486670" cy="4567237"/>
          </a:xfrm>
          <a:ln>
            <a:solidFill>
              <a:schemeClr val="tx2"/>
            </a:solidFill>
            <a:miter lim="800000"/>
          </a:ln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1953</a:t>
            </a:r>
            <a:r>
              <a:rPr lang="zh-CN" altLang="en-US" b="1" dirty="0"/>
              <a:t>年</a:t>
            </a:r>
            <a:r>
              <a:rPr lang="en-US" altLang="zh-CN" b="1" dirty="0"/>
              <a:t>Watson</a:t>
            </a:r>
            <a:r>
              <a:rPr lang="zh-CN" altLang="en-US" b="1" dirty="0"/>
              <a:t>和 </a:t>
            </a:r>
            <a:r>
              <a:rPr lang="en-US" altLang="zh-CN" b="1" dirty="0"/>
              <a:t>Crick</a:t>
            </a:r>
            <a:r>
              <a:rPr lang="zh-CN" altLang="en-US" b="1" dirty="0"/>
              <a:t>提出</a:t>
            </a:r>
            <a:r>
              <a:rPr lang="en-US" altLang="zh-CN" b="1" dirty="0">
                <a:solidFill>
                  <a:srgbClr val="FF0000"/>
                </a:solidFill>
              </a:rPr>
              <a:t>DNA</a:t>
            </a:r>
            <a:r>
              <a:rPr lang="zh-CN" altLang="en-US" b="1" dirty="0">
                <a:solidFill>
                  <a:srgbClr val="FF0000"/>
                </a:solidFill>
              </a:rPr>
              <a:t>分子双螺旋</a:t>
            </a:r>
            <a:r>
              <a:rPr lang="en-US" altLang="zh-CN" b="1" dirty="0">
                <a:solidFill>
                  <a:srgbClr val="FF0000"/>
                </a:solidFill>
              </a:rPr>
              <a:t>(double helix)</a:t>
            </a:r>
            <a:r>
              <a:rPr lang="zh-CN" altLang="en-US" b="1" dirty="0">
                <a:solidFill>
                  <a:srgbClr val="FF0000"/>
                </a:solidFill>
              </a:rPr>
              <a:t>模型</a:t>
            </a:r>
            <a:r>
              <a:rPr lang="zh-CN" altLang="en-US" b="1" dirty="0"/>
              <a:t>，是</a:t>
            </a:r>
            <a:r>
              <a:rPr lang="zh-CN" altLang="en-US" b="1" dirty="0">
                <a:solidFill>
                  <a:srgbClr val="1911B5"/>
                </a:solidFill>
              </a:rPr>
              <a:t>分子遗传学</a:t>
            </a:r>
            <a:r>
              <a:rPr lang="zh-CN" altLang="en-US" b="1" dirty="0"/>
              <a:t>及以之为核心的</a:t>
            </a:r>
            <a:r>
              <a:rPr lang="zh-CN" altLang="en-US" b="1" dirty="0">
                <a:solidFill>
                  <a:srgbClr val="1911B5"/>
                </a:solidFill>
              </a:rPr>
              <a:t>分子生物学</a:t>
            </a:r>
            <a:r>
              <a:rPr lang="zh-CN" altLang="en-US" b="1" dirty="0"/>
              <a:t>建立的标志；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20</a:t>
            </a:r>
            <a:r>
              <a:rPr lang="zh-CN" altLang="en-US" b="1" dirty="0"/>
              <a:t>世纪</a:t>
            </a:r>
            <a:r>
              <a:rPr lang="en-US" altLang="zh-CN" b="1" dirty="0"/>
              <a:t>70</a:t>
            </a:r>
            <a:r>
              <a:rPr lang="zh-CN" altLang="en-US" b="1" dirty="0"/>
              <a:t>年代以来，分子遗传学、分子生物学及其实验技术得到飞速发展。</a:t>
            </a:r>
          </a:p>
        </p:txBody>
      </p:sp>
      <p:pic>
        <p:nvPicPr>
          <p:cNvPr id="86031" name="Picture 15" descr="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9125" y="1089025"/>
            <a:ext cx="3111500" cy="4567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60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86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3" grpId="0" autoUpdateAnimBg="0"/>
      <p:bldP spid="86024" grpId="0" build="p" animBg="1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87397" y="967563"/>
            <a:ext cx="11593477" cy="37851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  20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世纪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年代，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蛋白质和核酸的人工合成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遗传“中心法则 ”的确立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三联体密码的确定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调节基因作用原理的发现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传递细菌对抗生素抗性的质粒的发现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等，已使遗传学的发展走在了生物科学的前面。 </a:t>
            </a:r>
          </a:p>
          <a:p>
            <a:pPr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  20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世纪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70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年代，随着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限制性内切酶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和一系列核酸酶的发现和提纯，使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重组得以实现，能进行基因的人工分离和合成，开始建立遗传工程这一新的研究领域。</a:t>
            </a:r>
          </a:p>
          <a:p>
            <a:pPr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  20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世纪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80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年代，随着基因工程技术的不断成熟和应用，从而使人类在定向改造生物方面跨进到一个新的阶段。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6630" name="Text Box 6"/>
          <p:cNvSpPr txBox="1">
            <a:spLocks noChangeArrowheads="1"/>
          </p:cNvSpPr>
          <p:nvPr/>
        </p:nvSpPr>
        <p:spPr bwMode="auto">
          <a:xfrm>
            <a:off x="484404" y="131476"/>
            <a:ext cx="806450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遗传学的历史发展的几个要点：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426631" name="Text Box 7"/>
          <p:cNvSpPr txBox="1">
            <a:spLocks noChangeArrowheads="1"/>
          </p:cNvSpPr>
          <p:nvPr/>
        </p:nvSpPr>
        <p:spPr bwMode="auto">
          <a:xfrm>
            <a:off x="974941" y="829995"/>
            <a:ext cx="9302751" cy="52629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、最早进行豌豆杂交试验的是：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、最早提出进化学说的是：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、发现人类共有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对染色体的是：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、遗传学诞生年：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、表观遗传学：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未发生基因组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DNA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序列的改变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，基因功能也可发生的可遗传的改变。如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DNA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的甲基化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RNA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干扰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组蛋白修饰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等。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6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、正向遗传学：从表型变异到基因型变异的研究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7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、反向遗传学：从基因型变异到表型变异的研究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426632" name="Text Box 8"/>
          <p:cNvSpPr txBox="1">
            <a:spLocks noChangeArrowheads="1"/>
          </p:cNvSpPr>
          <p:nvPr/>
        </p:nvSpPr>
        <p:spPr bwMode="auto">
          <a:xfrm>
            <a:off x="7685305" y="829994"/>
            <a:ext cx="223202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德国的奈特</a:t>
            </a:r>
          </a:p>
        </p:txBody>
      </p:sp>
      <p:sp>
        <p:nvSpPr>
          <p:cNvPr id="6426633" name="Text Box 9"/>
          <p:cNvSpPr txBox="1">
            <a:spLocks noChangeArrowheads="1"/>
          </p:cNvSpPr>
          <p:nvPr/>
        </p:nvSpPr>
        <p:spPr bwMode="auto">
          <a:xfrm>
            <a:off x="7180479" y="1461819"/>
            <a:ext cx="273685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法国的拉马克</a:t>
            </a:r>
          </a:p>
        </p:txBody>
      </p:sp>
      <p:sp>
        <p:nvSpPr>
          <p:cNvPr id="6426634" name="Text Box 10"/>
          <p:cNvSpPr txBox="1">
            <a:spLocks noChangeArrowheads="1"/>
          </p:cNvSpPr>
          <p:nvPr/>
        </p:nvSpPr>
        <p:spPr bwMode="auto">
          <a:xfrm>
            <a:off x="7685304" y="2093643"/>
            <a:ext cx="223202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蒋有兴</a:t>
            </a:r>
          </a:p>
        </p:txBody>
      </p:sp>
      <p:sp>
        <p:nvSpPr>
          <p:cNvPr id="6426635" name="Text Box 11"/>
          <p:cNvSpPr txBox="1">
            <a:spLocks noChangeArrowheads="1"/>
          </p:cNvSpPr>
          <p:nvPr/>
        </p:nvSpPr>
        <p:spPr bwMode="auto">
          <a:xfrm>
            <a:off x="3505417" y="2790704"/>
            <a:ext cx="223202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sym typeface="+mn-ea"/>
              </a:rPr>
              <a:t>1900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26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26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6632" grpId="0"/>
      <p:bldP spid="6426633" grpId="0"/>
      <p:bldP spid="6426634" grpId="0"/>
      <p:bldP spid="64266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D472348-09A1-EA39-84AE-6C86FAFFC7FD}"/>
              </a:ext>
            </a:extLst>
          </p:cNvPr>
          <p:cNvSpPr txBox="1">
            <a:spLocks/>
          </p:cNvSpPr>
          <p:nvPr/>
        </p:nvSpPr>
        <p:spPr>
          <a:xfrm>
            <a:off x="0" y="169913"/>
            <a:ext cx="11444530" cy="1956599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．（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年全国联赛）为达到研究基因功能的目的，有两种策略，一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是正  </a:t>
            </a:r>
            <a:endParaRPr lang="en-US" altLang="zh-CN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向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遗传学，一是反向遗传学。属于反向遗传学的有 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．化学诱变因素 	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．基因敲除 		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．反义核酸技术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．人工核酸酶技术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C161BB5-EF60-9E8D-D5C4-05E3FF933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273" y="642716"/>
            <a:ext cx="114001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BCD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3ED7A69-16BC-8FBB-EF87-D80BF5277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95" y="2833844"/>
            <a:ext cx="11720210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    人工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核酸酶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(EN)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技术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是利用设计并构建的核酸内切酶与靶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DNA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序列特异性结合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形成双链断裂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(DSB),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启动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DNA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修复通路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进行基因组定点改造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sym typeface="+mn-ea"/>
              </a:rPr>
              <a:t>目前已成功应用于多种细胞和生物体。 </a:t>
            </a:r>
          </a:p>
        </p:txBody>
      </p:sp>
    </p:spTree>
    <p:extLst>
      <p:ext uri="{BB962C8B-B14F-4D97-AF65-F5344CB8AC3E}">
        <p14:creationId xmlns:p14="http://schemas.microsoft.com/office/powerpoint/2010/main" val="10190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1421</Words>
  <Application>Microsoft Office PowerPoint</Application>
  <PresentationFormat>宽屏</PresentationFormat>
  <Paragraphs>87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黑体</vt:lpstr>
      <vt:lpstr>宋体</vt:lpstr>
      <vt:lpstr>文鼎书宋</vt:lpstr>
      <vt:lpstr>Arial</vt:lpstr>
      <vt:lpstr>Office 主题​​</vt:lpstr>
      <vt:lpstr>PowerPoint 演示文稿</vt:lpstr>
      <vt:lpstr>第一章   绪论 </vt:lpstr>
      <vt:lpstr>一、遗传学的研究对象和任务</vt:lpstr>
      <vt:lpstr>PowerPoint 演示文稿</vt:lpstr>
      <vt:lpstr>2.遗传学的任务</vt:lpstr>
      <vt:lpstr>二、遗传学的发展简史</vt:lpstr>
      <vt:lpstr>达尔文：泛生假说(hypothesis of pangensis)</vt:lpstr>
      <vt:lpstr>魏斯曼：种质连续论</vt:lpstr>
      <vt:lpstr>高尔顿：融合遗传假说</vt:lpstr>
      <vt:lpstr>1.初创时期(1900-1910)</vt:lpstr>
      <vt:lpstr>1.初创时期(1900-1910)</vt:lpstr>
      <vt:lpstr>2.全面发展时期(1910-1952)</vt:lpstr>
      <vt:lpstr>2.全面发展时期(1910-1952)</vt:lpstr>
      <vt:lpstr>PowerPoint 演示文稿</vt:lpstr>
      <vt:lpstr>3.  分子遗传学时期(1953-)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 </dc:creator>
  <cp:lastModifiedBy>Yijie Lee</cp:lastModifiedBy>
  <cp:revision>44</cp:revision>
  <dcterms:created xsi:type="dcterms:W3CDTF">2019-09-20T08:02:00Z</dcterms:created>
  <dcterms:modified xsi:type="dcterms:W3CDTF">2024-01-09T08:49:44Z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