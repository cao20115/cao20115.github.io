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5" r:id="rId1"/>
  </p:sldMasterIdLst>
  <p:sldIdLst>
    <p:sldId id="389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265" r:id="rId10"/>
    <p:sldId id="268" r:id="rId11"/>
    <p:sldId id="387" r:id="rId12"/>
    <p:sldId id="388" r:id="rId13"/>
    <p:sldId id="287" r:id="rId14"/>
    <p:sldId id="288" r:id="rId15"/>
    <p:sldId id="269" r:id="rId16"/>
    <p:sldId id="271" r:id="rId17"/>
    <p:sldId id="292" r:id="rId18"/>
    <p:sldId id="272" r:id="rId19"/>
    <p:sldId id="391" r:id="rId20"/>
    <p:sldId id="393" r:id="rId21"/>
    <p:sldId id="367" r:id="rId22"/>
    <p:sldId id="273" r:id="rId23"/>
    <p:sldId id="274" r:id="rId24"/>
    <p:sldId id="368" r:id="rId25"/>
    <p:sldId id="275" r:id="rId26"/>
    <p:sldId id="340" r:id="rId27"/>
    <p:sldId id="341" r:id="rId28"/>
    <p:sldId id="276" r:id="rId29"/>
    <p:sldId id="336" r:id="rId30"/>
    <p:sldId id="396" r:id="rId31"/>
    <p:sldId id="277" r:id="rId32"/>
    <p:sldId id="296" r:id="rId33"/>
    <p:sldId id="369" r:id="rId34"/>
    <p:sldId id="278" r:id="rId35"/>
    <p:sldId id="294" r:id="rId36"/>
    <p:sldId id="397" r:id="rId37"/>
    <p:sldId id="295" r:id="rId38"/>
    <p:sldId id="297" r:id="rId39"/>
    <p:sldId id="279" r:id="rId40"/>
    <p:sldId id="280" r:id="rId41"/>
    <p:sldId id="390" r:id="rId42"/>
    <p:sldId id="282" r:id="rId43"/>
    <p:sldId id="281" r:id="rId44"/>
    <p:sldId id="323" r:id="rId45"/>
    <p:sldId id="371" r:id="rId46"/>
    <p:sldId id="286" r:id="rId47"/>
    <p:sldId id="306" r:id="rId48"/>
    <p:sldId id="300" r:id="rId49"/>
    <p:sldId id="305" r:id="rId50"/>
    <p:sldId id="370" r:id="rId51"/>
    <p:sldId id="289" r:id="rId52"/>
    <p:sldId id="310" r:id="rId53"/>
    <p:sldId id="290" r:id="rId54"/>
    <p:sldId id="284" r:id="rId55"/>
    <p:sldId id="302" r:id="rId56"/>
    <p:sldId id="303" r:id="rId57"/>
    <p:sldId id="291" r:id="rId58"/>
    <p:sldId id="293" r:id="rId59"/>
    <p:sldId id="304" r:id="rId60"/>
    <p:sldId id="372" r:id="rId61"/>
    <p:sldId id="327" r:id="rId62"/>
    <p:sldId id="307" r:id="rId63"/>
    <p:sldId id="308" r:id="rId64"/>
    <p:sldId id="309" r:id="rId65"/>
    <p:sldId id="328" r:id="rId66"/>
    <p:sldId id="373" r:id="rId67"/>
    <p:sldId id="322" r:id="rId68"/>
    <p:sldId id="313" r:id="rId69"/>
    <p:sldId id="314" r:id="rId70"/>
    <p:sldId id="342" r:id="rId71"/>
    <p:sldId id="343" r:id="rId72"/>
    <p:sldId id="345" r:id="rId73"/>
    <p:sldId id="315" r:id="rId74"/>
    <p:sldId id="374" r:id="rId75"/>
    <p:sldId id="316" r:id="rId76"/>
    <p:sldId id="395" r:id="rId77"/>
    <p:sldId id="317" r:id="rId78"/>
    <p:sldId id="329" r:id="rId79"/>
    <p:sldId id="334" r:id="rId80"/>
    <p:sldId id="333" r:id="rId81"/>
    <p:sldId id="330" r:id="rId82"/>
    <p:sldId id="331" r:id="rId83"/>
    <p:sldId id="338" r:id="rId84"/>
    <p:sldId id="318" r:id="rId85"/>
    <p:sldId id="319" r:id="rId86"/>
    <p:sldId id="375" r:id="rId87"/>
    <p:sldId id="320" r:id="rId88"/>
    <p:sldId id="321" r:id="rId89"/>
    <p:sldId id="376" r:id="rId90"/>
    <p:sldId id="299" r:id="rId91"/>
    <p:sldId id="324" r:id="rId92"/>
    <p:sldId id="326" r:id="rId93"/>
    <p:sldId id="325" r:id="rId94"/>
    <p:sldId id="332" r:id="rId95"/>
    <p:sldId id="335" r:id="rId96"/>
    <p:sldId id="377" r:id="rId97"/>
    <p:sldId id="339" r:id="rId98"/>
    <p:sldId id="353" r:id="rId99"/>
    <p:sldId id="346" r:id="rId100"/>
    <p:sldId id="348" r:id="rId101"/>
    <p:sldId id="358" r:id="rId102"/>
    <p:sldId id="349" r:id="rId103"/>
    <p:sldId id="359" r:id="rId104"/>
    <p:sldId id="350" r:id="rId105"/>
    <p:sldId id="364" r:id="rId106"/>
    <p:sldId id="352" r:id="rId107"/>
    <p:sldId id="365" r:id="rId108"/>
    <p:sldId id="379" r:id="rId109"/>
    <p:sldId id="354" r:id="rId110"/>
    <p:sldId id="355" r:id="rId111"/>
    <p:sldId id="356" r:id="rId112"/>
    <p:sldId id="357" r:id="rId113"/>
    <p:sldId id="360" r:id="rId114"/>
    <p:sldId id="378" r:id="rId115"/>
    <p:sldId id="362" r:id="rId116"/>
    <p:sldId id="363" r:id="rId1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CC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77"/>
    <p:restoredTop sz="90929"/>
  </p:normalViewPr>
  <p:slideViewPr>
    <p:cSldViewPr showGuides="1">
      <p:cViewPr varScale="1">
        <p:scale>
          <a:sx n="80" d="100"/>
          <a:sy n="80" d="100"/>
        </p:scale>
        <p:origin x="144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2025/12/13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7635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452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51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88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677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52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63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26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090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440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7185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0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052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jpe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标题 160769"/>
          <p:cNvSpPr>
            <a:spLocks noGrp="1"/>
          </p:cNvSpPr>
          <p:nvPr>
            <p:ph type="ctrTitle"/>
          </p:nvPr>
        </p:nvSpPr>
        <p:spPr>
          <a:xfrm>
            <a:off x="3429000" y="0"/>
            <a:ext cx="7239000" cy="2116138"/>
          </a:xfrm>
        </p:spPr>
        <p:txBody>
          <a:bodyPr anchor="ctr" anchorCtr="0"/>
          <a:lstStyle/>
          <a:p>
            <a:r>
              <a:rPr lang="zh-CN" altLang="en-US" sz="54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第二章 植物的系统分类</a:t>
            </a:r>
            <a:endParaRPr lang="zh-CN" altLang="en-US" sz="5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2" name="文本框 160771"/>
          <p:cNvSpPr txBox="1"/>
          <p:nvPr/>
        </p:nvSpPr>
        <p:spPr>
          <a:xfrm>
            <a:off x="3733800" y="2057403"/>
            <a:ext cx="6934200" cy="42259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en-US" altLang="zh-CN" sz="4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</a:rPr>
              <a:t>低等植物的系统分类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zh-CN" altLang="en-US" sz="4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</a:rPr>
              <a:t>高等植物的系统分类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zh-CN" altLang="en-US" sz="4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标题 15155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>
                <a:solidFill>
                  <a:schemeClr val="tx1"/>
                </a:solidFill>
              </a:rPr>
              <a:t>                    </a:t>
            </a:r>
            <a:r>
              <a:rPr lang="zh-CN" altLang="en-US" dirty="0">
                <a:solidFill>
                  <a:schemeClr val="tx1"/>
                </a:solidFill>
              </a:rPr>
              <a:t>前言</a:t>
            </a:r>
          </a:p>
        </p:txBody>
      </p:sp>
      <p:sp>
        <p:nvSpPr>
          <p:cNvPr id="151556" name="文本框 151555"/>
          <p:cNvSpPr txBox="1"/>
          <p:nvPr/>
        </p:nvSpPr>
        <p:spPr>
          <a:xfrm>
            <a:off x="3124200" y="1752600"/>
            <a:ext cx="75438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7" name="文本框 151556"/>
          <p:cNvSpPr txBox="1"/>
          <p:nvPr/>
        </p:nvSpPr>
        <p:spPr>
          <a:xfrm>
            <a:off x="2971800" y="1524003"/>
            <a:ext cx="7696200" cy="60372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植物是生物界的重要组成部分，对它们进行分类是非常有必要的。据调查，现在生存在地球上的植物大约有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万种以上。要对数目如此众多，彼此又千差万别的植物进行研究，第一步必须先根据它们的自然性质，由粗到细，由表及里地进行分门别类，否则便无从入手。人类经过漫长时间的研究和认识，将植物分为若干类群。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 152577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sz="3600" b="1" dirty="0"/>
              <a:t>一、植物分类的基本单位和阶层系统</a:t>
            </a:r>
          </a:p>
        </p:txBody>
      </p:sp>
      <p:sp>
        <p:nvSpPr>
          <p:cNvPr id="152580" name="文本框 152579"/>
          <p:cNvSpPr txBox="1"/>
          <p:nvPr/>
        </p:nvSpPr>
        <p:spPr>
          <a:xfrm>
            <a:off x="3048000" y="1676400"/>
            <a:ext cx="7620000" cy="41910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植物分类的单位：主要分为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门、纲、目、科、属、种。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其中种是最基本的分类单位。有时在各个阶层下加入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亚门、亚纲、亚目、亚科、亚属、亚种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等。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具有相同的形态学、生理学特征和有一定自然分布区的种群。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（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）具有相对稳定性，可代代遗传，但又不是固定不变的，即遗传与变异。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（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）同一个种内的个体具有相同的遗传性状，彼此间可以交配产生后代。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标题 15360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772400" cy="1206500"/>
          </a:xfrm>
        </p:spPr>
        <p:txBody>
          <a:bodyPr anchor="ctr" anchorCtr="0"/>
          <a:lstStyle/>
          <a:p>
            <a:r>
              <a:rPr lang="zh-CN" altLang="en-US" sz="3600" dirty="0"/>
              <a:t>思考：</a:t>
            </a:r>
          </a:p>
        </p:txBody>
      </p:sp>
      <p:sp>
        <p:nvSpPr>
          <p:cNvPr id="153604" name="文本框 153603"/>
          <p:cNvSpPr txBox="1"/>
          <p:nvPr/>
        </p:nvSpPr>
        <p:spPr>
          <a:xfrm>
            <a:off x="3048000" y="1752603"/>
            <a:ext cx="7620000" cy="11906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不同种间的个体能进行交配产生后代吗？请举例说明。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5" name="文本框 153604"/>
          <p:cNvSpPr txBox="1"/>
          <p:nvPr/>
        </p:nvSpPr>
        <p:spPr>
          <a:xfrm>
            <a:off x="2971800" y="3352800"/>
            <a:ext cx="7696200" cy="28717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答： 一般条件下，不同种间的个体不能交配，即使交配也不能产生有生育能力的后代，即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生殖隔离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文本框 154627"/>
          <p:cNvSpPr txBox="1"/>
          <p:nvPr/>
        </p:nvSpPr>
        <p:spPr>
          <a:xfrm>
            <a:off x="2971800" y="762000"/>
            <a:ext cx="7696200" cy="58118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物种的分类单位也称阶层，从种到门，每个分类单位就是一个分类等级或分类阶层。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将各个分类阶层按照高低和从属关系按顺序排列起来，即为植物分类的阶层系统。每一种植物在这个分类系统中都有明确的分类地位。如：水杉，隶属于水杉属，杉科，松柏纲，裸子植物门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水稻，属于稻属，禾本科，禾本目，单子叶植物纲，被子植物门。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5564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二、植物命名法</a:t>
            </a:r>
          </a:p>
        </p:txBody>
      </p:sp>
      <p:sp>
        <p:nvSpPr>
          <p:cNvPr id="155652" name="文本框 155651"/>
          <p:cNvSpPr txBox="1"/>
          <p:nvPr/>
        </p:nvSpPr>
        <p:spPr>
          <a:xfrm>
            <a:off x="3048000" y="1752600"/>
            <a:ext cx="7620000" cy="47323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现行的植物命名法都是采用双命名法。它是由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瑞典植物学家林奈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创立的。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完整的学名：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属名</a:t>
            </a:r>
            <a:r>
              <a:rPr lang="en-US" altLang="zh-CN" sz="32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种加词</a:t>
            </a:r>
            <a:r>
              <a:rPr lang="en-US" altLang="zh-CN" sz="32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命名人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）属名：一般采用拉丁文的名词，若用其他文字或专有名词，也必须使其拉丁化，亦即使词尾转化成在拉丁文语法上的单数，第一格（主格）。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书写时第一个字母一律大写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</a:p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文本框 156675"/>
          <p:cNvSpPr txBox="1"/>
          <p:nvPr/>
        </p:nvSpPr>
        <p:spPr>
          <a:xfrm>
            <a:off x="2895600" y="609600"/>
            <a:ext cx="77724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7" name="文本框 156676"/>
          <p:cNvSpPr txBox="1"/>
          <p:nvPr/>
        </p:nvSpPr>
        <p:spPr>
          <a:xfrm>
            <a:off x="2895600" y="457200"/>
            <a:ext cx="77724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9" name="文本框 156678"/>
          <p:cNvSpPr txBox="1"/>
          <p:nvPr/>
        </p:nvSpPr>
        <p:spPr>
          <a:xfrm>
            <a:off x="2895600" y="609603"/>
            <a:ext cx="7772400" cy="73564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种加词：种加词大多为形容词，少数为名词的所有格或为同位名词。种加词其来源不拘，可以来源于植物的特征、原产地等等，但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不可重复属名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命名人：植物学名最后附加命名者之名，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一般采用缩写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例：小球藻的名称为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Chlorella  vulgarism  Bee.  ,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第一个拉丁字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Chlorella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为属名， 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vulgarism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为种加词， 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Bee.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为命名人</a:t>
            </a:r>
            <a:r>
              <a:rPr lang="en-US" altLang="zh-CN" sz="3200" err="1">
                <a:latin typeface="Times New Roman" panose="02020603050405020304" pitchFamily="18" charset="0"/>
                <a:ea typeface="宋体" panose="02010600030101010101" pitchFamily="2" charset="-122"/>
              </a:rPr>
              <a:t>Beijerinck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的缩写。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标题 15769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三、植物界的基本类群</a:t>
            </a:r>
            <a:endParaRPr lang="zh-CN" altLang="en-US"/>
          </a:p>
        </p:txBody>
      </p:sp>
      <p:sp>
        <p:nvSpPr>
          <p:cNvPr id="157700" name="文本框 157699"/>
          <p:cNvSpPr txBox="1"/>
          <p:nvPr/>
        </p:nvSpPr>
        <p:spPr>
          <a:xfrm>
            <a:off x="2895600" y="1676403"/>
            <a:ext cx="7772400" cy="55165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就整个植物界而言，人们通常将其分为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个门，它们是：裸藻门、绿藻门、轮藻门、金藻门、甲藻门、褐藻门、红藻门、蓝藻门、细菌门、粘菌门、真菌门、地衣门、苔藓植物门、蕨类植物门、裸子植物门和被子植物门。裸子植物门和被子植物门合称种子植物（显花植物）。其余的称为孢子植物（隐花植物）。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文本占位符 14338"/>
          <p:cNvSpPr>
            <a:spLocks noGrp="1"/>
          </p:cNvSpPr>
          <p:nvPr>
            <p:ph idx="1"/>
          </p:nvPr>
        </p:nvSpPr>
        <p:spPr>
          <a:xfrm>
            <a:off x="2895600" y="457200"/>
            <a:ext cx="7772400" cy="5638800"/>
          </a:xfrm>
        </p:spPr>
        <p:txBody>
          <a:bodyPr/>
          <a:lstStyle/>
          <a:p>
            <a:pPr>
              <a:buNone/>
            </a:pPr>
            <a:endParaRPr dirty="0"/>
          </a:p>
        </p:txBody>
      </p:sp>
      <p:graphicFrame>
        <p:nvGraphicFramePr>
          <p:cNvPr id="14340" name="对象 14339"/>
          <p:cNvGraphicFramePr/>
          <p:nvPr/>
        </p:nvGraphicFramePr>
        <p:xfrm>
          <a:off x="1524000" y="-457200"/>
          <a:ext cx="9677400" cy="731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86400" imgH="5257800" progId="Word.Document.8">
                  <p:embed/>
                </p:oleObj>
              </mc:Choice>
              <mc:Fallback>
                <p:oleObj r:id="rId2" imgW="5486400" imgH="525780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-457200"/>
                        <a:ext cx="9677400" cy="7315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7409"/>
          <p:cNvSpPr txBox="1"/>
          <p:nvPr/>
        </p:nvSpPr>
        <p:spPr>
          <a:xfrm>
            <a:off x="3048000" y="911225"/>
            <a:ext cx="7239000" cy="55215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种子植物：以</a:t>
            </a:r>
            <a:r>
              <a:rPr lang="zh-CN" altLang="en-US" sz="36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种子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进行繁殖的植物。</a:t>
            </a:r>
          </a:p>
          <a:p>
            <a:pPr>
              <a:spcBef>
                <a:spcPct val="500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孢子植物：以</a:t>
            </a:r>
            <a:r>
              <a:rPr lang="zh-CN" altLang="en-US" sz="36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孢子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进行繁殖的植物。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显花植物：在繁殖过程中具有</a:t>
            </a:r>
            <a:r>
              <a:rPr lang="zh-CN" altLang="en-US" sz="36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开花结实现象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的植物。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隐花植物：在繁殖过程中不出现开花结实现象的植物。</a:t>
            </a:r>
          </a:p>
          <a:p>
            <a:pPr>
              <a:spcBef>
                <a:spcPct val="50000"/>
              </a:spcBef>
            </a:pPr>
            <a:endParaRPr lang="zh-CN" altLang="en-US" sz="3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文本框 158723"/>
          <p:cNvSpPr txBox="1"/>
          <p:nvPr/>
        </p:nvSpPr>
        <p:spPr>
          <a:xfrm>
            <a:off x="2819400" y="685803"/>
            <a:ext cx="7848600" cy="5235279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藻类植物（绿色低等植物）：植物体结构简单，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无根、茎、叶分化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（这种植物体称为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叶状体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），大多数水生，属于自养植物。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菌类植物（非绿色低等植物）：其形态特征与藻类相似，但不具光合作用色素，大多营寄生或腐生生活，是异养植物。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地衣门：藻类和菌类的共生体。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低等植物（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原植体植物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或无胚植物）：藻类植物、菌类植物和地衣门植物的总称。</a:t>
            </a:r>
          </a:p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文本框 159747"/>
          <p:cNvSpPr txBox="1"/>
          <p:nvPr/>
        </p:nvSpPr>
        <p:spPr>
          <a:xfrm>
            <a:off x="2971800" y="838203"/>
            <a:ext cx="7696200" cy="47291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高等植物（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茎叶体植物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或有胚植物）：包括苔藓植物门、蕨类植物门、裸子植物门和被子植物门；前两者的雌性生殖器官均以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颈卵器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的形式出现，在裸子植物中，也有颈卵器退化的痕迹，因此，这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类植物又合称为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颈卵器植物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。后三者又属于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维管植物。 </a:t>
            </a:r>
          </a:p>
          <a:p>
            <a:pPr>
              <a:spcBef>
                <a:spcPct val="50000"/>
              </a:spcBef>
            </a:pPr>
            <a:endParaRPr lang="zh-CN" altLang="en-US" b="1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4198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四、植物检索表</a:t>
            </a:r>
          </a:p>
        </p:txBody>
      </p:sp>
      <p:sp>
        <p:nvSpPr>
          <p:cNvPr id="41988" name="文本框 41987"/>
          <p:cNvSpPr txBox="1"/>
          <p:nvPr/>
        </p:nvSpPr>
        <p:spPr>
          <a:xfrm>
            <a:off x="3276600" y="2133603"/>
            <a:ext cx="6858000" cy="3622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检索表是植物分类中极为常用的工具，在表中罗列出相对的两组形态特征，加以比较找出两者的区别即可找到其所在位置。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文本框 43011"/>
          <p:cNvSpPr txBox="1"/>
          <p:nvPr/>
        </p:nvSpPr>
        <p:spPr>
          <a:xfrm>
            <a:off x="2819400" y="461966"/>
            <a:ext cx="7543800" cy="449533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植物检索表示例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植物无根、茎、叶的分化，无维管束，雌性生殖器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为单细胞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极少数例外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，合子不形成胚，直接萌发为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……………………………………(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一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低等植物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  2.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植物体不为菌、藻共生体。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    3.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植物体有色素，能进行光合作用，生活方式为自养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……………………… ……… ……… … 1.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藻类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      4.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植物体的细胞无真正的核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……………(1)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蓝藻门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      4.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植物体的细胞有真正的核。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sz="4800" dirty="0"/>
              <a:t>    </a:t>
            </a:r>
            <a:r>
              <a:rPr lang="zh-CN" altLang="en-US" sz="4800" dirty="0"/>
              <a:t>藻类植物</a:t>
            </a:r>
            <a:endParaRPr lang="zh-CN" altLang="en-US" sz="4800"/>
          </a:p>
        </p:txBody>
      </p:sp>
      <p:sp>
        <p:nvSpPr>
          <p:cNvPr id="18436" name="文本框 18435"/>
          <p:cNvSpPr txBox="1"/>
          <p:nvPr/>
        </p:nvSpPr>
        <p:spPr>
          <a:xfrm>
            <a:off x="3124200" y="2173288"/>
            <a:ext cx="7162800" cy="2452466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600">
                <a:latin typeface="Times New Roman" panose="02020603050405020304" pitchFamily="18" charset="0"/>
                <a:ea typeface="宋体" panose="02010600030101010101" pitchFamily="2" charset="-122"/>
              </a:rPr>
              <a:t>原核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藻类（主要包括</a:t>
            </a:r>
            <a:r>
              <a:rPr lang="zh-CN" altLang="en-US" sz="36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蓝藻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36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原绿藻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真核藻类（包括裸藻、硅藻、绿藻、红藻和褐藻等）</a:t>
            </a:r>
            <a:endParaRPr lang="zh-CN" altLang="en-US" sz="3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252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原核藻类的主要特征比较</a:t>
            </a:r>
            <a:endParaRPr lang="zh-CN" altLang="en-US"/>
          </a:p>
        </p:txBody>
      </p:sp>
      <p:graphicFrame>
        <p:nvGraphicFramePr>
          <p:cNvPr id="22568" name="表格 22567"/>
          <p:cNvGraphicFramePr/>
          <p:nvPr/>
        </p:nvGraphicFramePr>
        <p:xfrm>
          <a:off x="2743200" y="1600203"/>
          <a:ext cx="7772400" cy="4271645"/>
        </p:xfrm>
        <a:graphic>
          <a:graphicData uri="http://schemas.openxmlformats.org/drawingml/2006/table">
            <a:tbl>
              <a:tblPr/>
              <a:tblGrid>
                <a:gridCol w="1426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门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主要特征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所含</a:t>
                      </a:r>
                      <a:r>
                        <a:rPr lang="zh-CN" altLang="en-US" sz="2400" dirty="0"/>
                        <a:t>色素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代表种类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经济价值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原</a:t>
                      </a:r>
                      <a:r>
                        <a:rPr lang="zh-CN" altLang="en-US" sz="2400" dirty="0"/>
                        <a:t>绿藻门</a:t>
                      </a: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单细胞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叶绿素</a:t>
                      </a:r>
                      <a:r>
                        <a:rPr lang="en-US" altLang="zh-CN" sz="2400"/>
                        <a:t>a,b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原</a:t>
                      </a:r>
                      <a:r>
                        <a:rPr lang="zh-CN" altLang="en-US" sz="2400" dirty="0"/>
                        <a:t>藻类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14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蓝藻门</a:t>
                      </a: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单细胞，非丝状群体、丝状群体等多种类型，不具鞭毛，</a:t>
                      </a:r>
                      <a:r>
                        <a:rPr lang="en-US" altLang="zh-CN" sz="2400" err="1"/>
                        <a:t>cellwall</a:t>
                      </a:r>
                      <a:r>
                        <a:rPr lang="zh-CN" altLang="en-US" sz="2400"/>
                        <a:t>为肽葡聚糖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叶绿素，</a:t>
                      </a:r>
                      <a:r>
                        <a:rPr lang="en-US" altLang="zh-CN" sz="2400"/>
                        <a:t>α</a:t>
                      </a:r>
                      <a:r>
                        <a:rPr lang="zh-CN" altLang="en-US" sz="2400"/>
                        <a:t>、</a:t>
                      </a:r>
                      <a:r>
                        <a:rPr lang="en-US" altLang="zh-CN" sz="2400"/>
                        <a:t>β</a:t>
                      </a:r>
                      <a:r>
                        <a:rPr lang="zh-CN" altLang="en-US" sz="2400" dirty="0"/>
                        <a:t>胡萝卜素和几种叶黄素、藻胆素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念珠藻、发菜、项圈藻、鱼腥藻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Char char="¨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食用（发菜）、固氮（多有异形胞）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文本框 47107"/>
          <p:cNvSpPr txBox="1"/>
          <p:nvPr/>
        </p:nvSpPr>
        <p:spPr>
          <a:xfrm>
            <a:off x="3048000" y="1828800"/>
            <a:ext cx="76200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0" name="标题 47109"/>
          <p:cNvSpPr>
            <a:spLocks noGrp="1"/>
          </p:cNvSpPr>
          <p:nvPr>
            <p:ph type="title"/>
          </p:nvPr>
        </p:nvSpPr>
        <p:spPr>
          <a:xfrm>
            <a:off x="3287395" y="620395"/>
            <a:ext cx="6715760" cy="1206500"/>
          </a:xfrm>
        </p:spPr>
        <p:txBody>
          <a:bodyPr anchor="ctr" anchorCtr="0"/>
          <a:lstStyle/>
          <a:p>
            <a:r>
              <a:rPr lang="en-US" altLang="zh-CN" b="1" dirty="0">
                <a:solidFill>
                  <a:schemeClr val="tx1"/>
                </a:solidFill>
              </a:rPr>
              <a:t>     </a:t>
            </a:r>
            <a:r>
              <a:rPr lang="zh-CN" altLang="en-US" b="1" dirty="0">
                <a:solidFill>
                  <a:schemeClr val="tx1"/>
                </a:solidFill>
                <a:ea typeface="_x000B__x000C_"/>
              </a:rPr>
              <a:t>原绿藻</a:t>
            </a:r>
          </a:p>
        </p:txBody>
      </p:sp>
      <p:sp>
        <p:nvSpPr>
          <p:cNvPr id="47112" name="文本框 47111"/>
          <p:cNvSpPr txBox="1"/>
          <p:nvPr/>
        </p:nvSpPr>
        <p:spPr>
          <a:xfrm>
            <a:off x="3216275" y="1844675"/>
            <a:ext cx="7200900" cy="44259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附生在海鞘类动物上。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色素成分有叶绿素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与高等植物一样）、类胡萝卜素、叶黄素（与高等植物及蓝藻相同），但不含藻胆素（与蓝藻不同），故另立一门。 有人主张叶绿体来自远古的类似原绿藻的生物。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蓝藻门</a:t>
            </a:r>
            <a:br>
              <a:rPr lang="zh-CN" altLang="en-US" dirty="0"/>
            </a:br>
            <a:r>
              <a:rPr lang="zh-CN" altLang="en-US" sz="3200" dirty="0"/>
              <a:t>（一）形态和构造</a:t>
            </a:r>
            <a:endParaRPr lang="zh-CN" altLang="en-US" sz="3200"/>
          </a:p>
        </p:txBody>
      </p:sp>
      <p:sp>
        <p:nvSpPr>
          <p:cNvPr id="23556" name="文本框 23555"/>
          <p:cNvSpPr txBox="1"/>
          <p:nvPr/>
        </p:nvSpPr>
        <p:spPr>
          <a:xfrm>
            <a:off x="3200400" y="2133600"/>
            <a:ext cx="67818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文本框 23556"/>
          <p:cNvSpPr txBox="1"/>
          <p:nvPr/>
        </p:nvSpPr>
        <p:spPr>
          <a:xfrm>
            <a:off x="2895600" y="1905000"/>
            <a:ext cx="74676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8" name="文本框 23557"/>
          <p:cNvSpPr txBox="1"/>
          <p:nvPr/>
        </p:nvSpPr>
        <p:spPr>
          <a:xfrm>
            <a:off x="2743200" y="1371600"/>
            <a:ext cx="7772400" cy="4701540"/>
          </a:xfrm>
          <a:prstGeom prst="rect">
            <a:avLst/>
          </a:prstGeom>
          <a:noFill/>
          <a:ln w="12700">
            <a:noFill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蓝藻细胞无组蛋白，不形成染色体；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DNA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以细纤丝状存在，无核膜和核仁结构，但有核的功能。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无载色体及其他细胞器。</a:t>
            </a:r>
            <a:r>
              <a:rPr lang="en-US" altLang="zh-CN" sz="2800" err="1">
                <a:latin typeface="Times New Roman" panose="02020603050405020304" pitchFamily="18" charset="0"/>
                <a:ea typeface="宋体" panose="02010600030101010101" pitchFamily="2" charset="-122"/>
              </a:rPr>
              <a:t>Cellwall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的成分为肽葡聚糖。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光合作用产物为蓝藻淀粉和蓝藻颗粒体。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蓝藻植物体有单细胞的、群体的和丝状体的。有些蓝藻的藻丝上含有特殊细胞，叫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异形胞。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异形胞是由营养细胞形成的，一般比营养细胞大，在光学显微镜下观察，细胞是中空的。</a:t>
            </a:r>
          </a:p>
          <a:p>
            <a:pPr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8" name="图片 162817" descr="l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0"/>
            <a:ext cx="89154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图片 164865" descr="蓝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867" name="文本框 164866"/>
          <p:cNvSpPr txBox="1"/>
          <p:nvPr/>
        </p:nvSpPr>
        <p:spPr>
          <a:xfrm>
            <a:off x="4953000" y="0"/>
            <a:ext cx="20574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4400" b="1" dirty="0">
                <a:solidFill>
                  <a:srgbClr val="FF3300"/>
                </a:solidFill>
                <a:latin typeface="华文行楷" pitchFamily="2" charset="-122"/>
                <a:ea typeface="华文行楷" pitchFamily="2" charset="-122"/>
              </a:rPr>
              <a:t>颤藻</a:t>
            </a:r>
          </a:p>
        </p:txBody>
      </p:sp>
      <p:sp>
        <p:nvSpPr>
          <p:cNvPr id="164868" name="直接连接符 164867"/>
          <p:cNvSpPr/>
          <p:nvPr/>
        </p:nvSpPr>
        <p:spPr>
          <a:xfrm flipH="1">
            <a:off x="4343400" y="4724400"/>
            <a:ext cx="91440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869" name="文本框 164868"/>
          <p:cNvSpPr txBox="1"/>
          <p:nvPr/>
        </p:nvSpPr>
        <p:spPr>
          <a:xfrm>
            <a:off x="3048000" y="6216650"/>
            <a:ext cx="1752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3600" b="1" dirty="0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异形胞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矩形 138242"/>
          <p:cNvSpPr/>
          <p:nvPr/>
        </p:nvSpPr>
        <p:spPr>
          <a:xfrm>
            <a:off x="3762375" y="2124075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8242" name="图片 138241" descr="http://zhenyuan.sdedu.net/RESOURCE/CZ/CZSW/SWTS/ZWX2/H15013T1.jpg"/>
          <p:cNvPicPr>
            <a:picLocks noChangeAspect="1"/>
          </p:cNvPicPr>
          <p:nvPr/>
        </p:nvPicPr>
        <p:blipFill>
          <a:blip r:embed="rId2" r:link="rId3"/>
          <a:srcRect t="365" b="365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5601"/>
          <p:cNvSpPr>
            <a:spLocks noGrp="1"/>
          </p:cNvSpPr>
          <p:nvPr>
            <p:ph type="title"/>
          </p:nvPr>
        </p:nvSpPr>
        <p:spPr>
          <a:xfrm>
            <a:off x="26670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（二）繁殖</a:t>
            </a:r>
            <a:endParaRPr lang="zh-CN" altLang="en-US"/>
          </a:p>
        </p:txBody>
      </p:sp>
      <p:sp>
        <p:nvSpPr>
          <p:cNvPr id="25604" name="文本框 25603"/>
          <p:cNvSpPr txBox="1"/>
          <p:nvPr/>
        </p:nvSpPr>
        <p:spPr>
          <a:xfrm>
            <a:off x="2895600" y="1447800"/>
            <a:ext cx="7772400" cy="4578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蓝藻以细胞直接分裂的方法繁殖。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单细胞类型：细胞分裂后，子细胞立即分离。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群体类型：细胞分裂后，子细胞不分离，而形成多细胞的大群体，群体破裂，形成多个小群体。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丝状体类型：以形成藻殖段的方法繁殖。每个藻殖段发育成一个丝状体；或者是产生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厚壁孢子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，进行无性生殖。厚壁孢子是由于普通营养细胞的体积增大，营养物质的积蓄和</a:t>
            </a:r>
            <a:r>
              <a:rPr lang="en-US" altLang="zh-CN" sz="2800" err="1">
                <a:latin typeface="Times New Roman" panose="02020603050405020304" pitchFamily="18" charset="0"/>
                <a:ea typeface="宋体" panose="02010600030101010101" pitchFamily="2" charset="-122"/>
              </a:rPr>
              <a:t>cellwall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的增厚形成的。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（三）代表植物</a:t>
            </a:r>
          </a:p>
        </p:txBody>
      </p:sp>
      <p:sp>
        <p:nvSpPr>
          <p:cNvPr id="26628" name="文本框 26627"/>
          <p:cNvSpPr txBox="1"/>
          <p:nvPr/>
        </p:nvSpPr>
        <p:spPr>
          <a:xfrm>
            <a:off x="3276600" y="1981200"/>
            <a:ext cx="6400800" cy="22113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45000"/>
              </a:lnSpc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18" charset="0"/>
                <a:ea typeface="宋体" panose="02010600030101010101" pitchFamily="2" charset="-122"/>
              </a:rPr>
              <a:t>颤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藻、念珠藻、地木耳、发菜（都以藻殖段繁殖） 、鱼腥藻等。其中念珠藻和鱼腥藻都能固定游离氮。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矩形 139266"/>
          <p:cNvSpPr/>
          <p:nvPr/>
        </p:nvSpPr>
        <p:spPr>
          <a:xfrm>
            <a:off x="5067300" y="2109788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9266" name="图片 139265" descr="http://zhenyuan.sdedu.net/RESOURCE/CZ/CZSW/SWTS/ZWX2/H15016T2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2764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真核藻类</a:t>
            </a:r>
            <a:br>
              <a:rPr lang="zh-CN" altLang="en-US" dirty="0"/>
            </a:br>
            <a:r>
              <a:rPr lang="zh-CN" altLang="en-US" sz="3200" dirty="0"/>
              <a:t>一、裸</a:t>
            </a:r>
            <a:r>
              <a:rPr lang="zh-CN" altLang="en-US" sz="3200"/>
              <a:t>藻门</a:t>
            </a:r>
          </a:p>
        </p:txBody>
      </p:sp>
      <p:sp>
        <p:nvSpPr>
          <p:cNvPr id="27652" name="文本框 27651"/>
          <p:cNvSpPr txBox="1"/>
          <p:nvPr/>
        </p:nvSpPr>
        <p:spPr>
          <a:xfrm>
            <a:off x="2895600" y="1752600"/>
            <a:ext cx="7772400" cy="51498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（一）形态和构造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大部分（胶柄藻属或柄裸藻属除外）都是无细胞壁，有鞭毛（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茸鞭型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：电子显微镜下鞭毛鞘上有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列螺旋排列的鞭茸；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9+2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条轴丝），多为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1-2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条，能自由游动的单细胞植物。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有许多载色体，其内含有叶绿素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β-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胡萝卜素和三种叶黄素，同化产物包含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裸藻淀粉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（裸藻的特有产物）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3" name="图片 104452" descr="M5185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25400"/>
            <a:ext cx="9144000" cy="688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图片 105473" descr="M518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本框 29697"/>
          <p:cNvSpPr txBox="1"/>
          <p:nvPr/>
        </p:nvSpPr>
        <p:spPr>
          <a:xfrm>
            <a:off x="3048000" y="1219200"/>
            <a:ext cx="73152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文本框 29698"/>
          <p:cNvSpPr txBox="1"/>
          <p:nvPr/>
        </p:nvSpPr>
        <p:spPr>
          <a:xfrm>
            <a:off x="2895600" y="609600"/>
            <a:ext cx="71628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（二）繁殖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0" name="文本框 29699"/>
          <p:cNvSpPr txBox="1"/>
          <p:nvPr/>
        </p:nvSpPr>
        <p:spPr>
          <a:xfrm>
            <a:off x="2895600" y="1600200"/>
            <a:ext cx="6934200" cy="44831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裸藻以细胞纵裂的方式进行繁殖。在恶劣的环境下细胞停止运动，分泌一层厚壁，变成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胞囊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，渡过恶劣环境。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（三）代表植物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  眼虫藻、裸藻。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2" name="图片 99331" descr="Dsc00004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88" y="115888"/>
            <a:ext cx="8610600" cy="662781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  <p:sp>
        <p:nvSpPr>
          <p:cNvPr id="99331" name="文本框 99330"/>
          <p:cNvSpPr txBox="1"/>
          <p:nvPr/>
        </p:nvSpPr>
        <p:spPr>
          <a:xfrm>
            <a:off x="6023931" y="620395"/>
            <a:ext cx="3012363" cy="4007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  <a:ea typeface="_x000B__x000C_"/>
              </a:rPr>
              <a:t>Characters </a:t>
            </a:r>
            <a:r>
              <a:rPr lang="zh-CN" altLang="en-US" b="1" dirty="0">
                <a:solidFill>
                  <a:srgbClr val="FF0066"/>
                </a:solidFill>
                <a:latin typeface="宋体" panose="02010600030101010101" pitchFamily="2" charset="-122"/>
                <a:ea typeface="_x000B__x000C_"/>
              </a:rPr>
              <a:t>主要特征</a:t>
            </a:r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      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裸藻门又叫眼虫藻门，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绝大多数种类都无细胞壁，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有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1-2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根鞭毛，能自由游动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的单细胞植物。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       有绿色和无色两种类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型。绿色种类有载色体，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含叶绿素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a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和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b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等，与高等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植物接近。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        贮藏物质是裸藻淀粉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及油。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       以细胞纵裂的方式进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行繁殖，有性生殖尚不能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确定。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标题 16896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二、硅藻门</a:t>
            </a:r>
          </a:p>
        </p:txBody>
      </p:sp>
      <p:pic>
        <p:nvPicPr>
          <p:cNvPr id="168963" name="文本占位符 168962" descr="M518521B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3876" y="3259445"/>
            <a:ext cx="2144248" cy="1483698"/>
          </a:xfrm>
          <a:ln w="9525"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文本框 30723"/>
          <p:cNvSpPr txBox="1"/>
          <p:nvPr/>
        </p:nvSpPr>
        <p:spPr>
          <a:xfrm>
            <a:off x="2855916" y="333378"/>
            <a:ext cx="7667625" cy="58594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（一）形态和构造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植物体单细胞，可以连接成丝状体或其他形状的群体。细胞壁由两个套合的半片组成，外面的半片为上壳，里面的半片为下壳；上壳和下壳套合的地方，很象一条环形的带，称做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环带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。仅精子具鞭毛，为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茸鞭型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9+0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），没有中央轴丝，这种构造是硅藻特有的。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载色体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1-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多数，小盘状或片状，内含叶绿素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β-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胡萝卜素和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α-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胡萝卜素以及叶黄素，同化产物为金藻昆布糖和油。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凡有运动能力的硅藻都有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条或两条脊缝，运动的原因可能是原生质环转流动所致。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6" name="图片 51205" descr="M518521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8001000" cy="601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矩形 140290"/>
          <p:cNvSpPr/>
          <p:nvPr/>
        </p:nvSpPr>
        <p:spPr>
          <a:xfrm>
            <a:off x="4881563" y="2190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0290" name="图片 140289" descr="http://zhenyuan.sdedu.net/RESOURCE/CZ/CZSW/SWTS/ZWX2/H15034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框 31745"/>
          <p:cNvSpPr txBox="1"/>
          <p:nvPr/>
        </p:nvSpPr>
        <p:spPr>
          <a:xfrm>
            <a:off x="3200400" y="990600"/>
            <a:ext cx="6705600" cy="1892826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（二）繁殖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硅藻以细胞分裂进行繁殖。在繁殖过程中，产生一种特殊的细胞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复大孢子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它是硅藻特有的繁殖细胞。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（三）代表植物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羽纹硅藻、小环藻、披针桥穹藻、直链藻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9" name="文本框 49158"/>
          <p:cNvSpPr txBox="1"/>
          <p:nvPr/>
        </p:nvSpPr>
        <p:spPr>
          <a:xfrm>
            <a:off x="1763713" y="173038"/>
            <a:ext cx="300082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dirty="0">
                <a:latin typeface="宋体" panose="02010600030101010101" pitchFamily="2" charset="-122"/>
                <a:ea typeface="_x000B__x000C_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9157" name="图片 49156" descr="M51852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8001000" cy="556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034" name="图片 300033" descr="未命名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011238"/>
            <a:ext cx="8915400" cy="5391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035" name="文本框 300034"/>
          <p:cNvSpPr txBox="1"/>
          <p:nvPr/>
        </p:nvSpPr>
        <p:spPr>
          <a:xfrm>
            <a:off x="4914900" y="381000"/>
            <a:ext cx="2362200" cy="3693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硅藻细胞的分裂</a:t>
            </a:r>
          </a:p>
        </p:txBody>
      </p:sp>
      <p:sp>
        <p:nvSpPr>
          <p:cNvPr id="300036" name="文本框 300035"/>
          <p:cNvSpPr txBox="1"/>
          <p:nvPr/>
        </p:nvSpPr>
        <p:spPr>
          <a:xfrm>
            <a:off x="5410200" y="1752603"/>
            <a:ext cx="3429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00037" name="文本框 300036"/>
          <p:cNvSpPr txBox="1"/>
          <p:nvPr/>
        </p:nvSpPr>
        <p:spPr>
          <a:xfrm>
            <a:off x="4038600" y="303212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00038" name="文本框 300037"/>
          <p:cNvSpPr txBox="1"/>
          <p:nvPr/>
        </p:nvSpPr>
        <p:spPr>
          <a:xfrm>
            <a:off x="2514600" y="4419603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00039" name="文本框 300038"/>
          <p:cNvSpPr txBox="1"/>
          <p:nvPr/>
        </p:nvSpPr>
        <p:spPr>
          <a:xfrm>
            <a:off x="6629400" y="3230566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300040" name="文本框 300039"/>
          <p:cNvSpPr txBox="1"/>
          <p:nvPr/>
        </p:nvSpPr>
        <p:spPr>
          <a:xfrm>
            <a:off x="8763000" y="4876803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300041" name="文本框 300040"/>
          <p:cNvSpPr txBox="1"/>
          <p:nvPr/>
        </p:nvSpPr>
        <p:spPr>
          <a:xfrm>
            <a:off x="6705600" y="4648203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300042" name="文本框 300041"/>
          <p:cNvSpPr txBox="1"/>
          <p:nvPr/>
        </p:nvSpPr>
        <p:spPr>
          <a:xfrm>
            <a:off x="4876800" y="4724403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300044" name="五角星 300043"/>
          <p:cNvSpPr/>
          <p:nvPr/>
        </p:nvSpPr>
        <p:spPr>
          <a:xfrm>
            <a:off x="3505200" y="6096000"/>
            <a:ext cx="228600" cy="228600"/>
          </a:xfrm>
          <a:prstGeom prst="star5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50177" descr="M51852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8001000" cy="601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8" name="图片 52227" descr="硅藻－30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79248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6" name="文本框 52225"/>
          <p:cNvSpPr txBox="1"/>
          <p:nvPr/>
        </p:nvSpPr>
        <p:spPr>
          <a:xfrm>
            <a:off x="7010400" y="3352800"/>
            <a:ext cx="3028950" cy="57943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各种各样的硅藻</a:t>
            </a:r>
            <a:endParaRPr lang="zh-CN" altLang="en-US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32769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三、绿藻门</a:t>
            </a:r>
            <a:endParaRPr lang="zh-CN" altLang="en-US"/>
          </a:p>
        </p:txBody>
      </p:sp>
      <p:sp>
        <p:nvSpPr>
          <p:cNvPr id="32772" name="文本框 32771"/>
          <p:cNvSpPr txBox="1"/>
          <p:nvPr/>
        </p:nvSpPr>
        <p:spPr>
          <a:xfrm>
            <a:off x="3048000" y="1219200"/>
            <a:ext cx="7620000" cy="49387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（一）形态和构造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植物体的形态多种多样，有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单细胞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群体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丝状体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叶状体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。少数单细胞和群体类型的营养细胞前端有鞭毛，终生能运动；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绝大多数绿藻的营养体不能运动，只在繁殖时形成的游动孢子和配子有鞭毛，能运动。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细胞壁分两层，内层主要成分为纤维素，外层为果胶质。具有两条或四条顶生等长鞭毛（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尾鞭形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：鞭毛鞘上没有羽状鞭茸结构；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9+2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条轴丝）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33793"/>
          <p:cNvSpPr txBox="1"/>
          <p:nvPr/>
        </p:nvSpPr>
        <p:spPr>
          <a:xfrm>
            <a:off x="3124200" y="685803"/>
            <a:ext cx="7315200" cy="4765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有与高等植物叶绿体结构相似的载色体，在电子显微镜下观察，有双层膜包围，部分载色体含有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DNA</a:t>
            </a:r>
            <a:r>
              <a:rPr lang="zh-CN" altLang="en-US" sz="32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载色体所含的色素和高等植物相同，主要色素有叶绿素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32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32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α-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胡萝卜素、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β-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胡萝卜素以及一些叶黄素；同化产物为淀粉，其组成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与高等植物的淀粉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相似，也是由直链淀粉和支链淀粉组成。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文本框 161793"/>
          <p:cNvSpPr txBox="1"/>
          <p:nvPr/>
        </p:nvSpPr>
        <p:spPr>
          <a:xfrm>
            <a:off x="3048000" y="533400"/>
            <a:ext cx="7620000" cy="59436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（二）繁殖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群体、丝状体以细胞分裂来增加细胞的数目。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产生游动孢子或静孢子（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似亲孢子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）进行繁殖。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有性生殖（包括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同配生殖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异配生殖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卵式生殖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）：两个生殖细胞结合形成合子，合子直接萌发成新个体，或经减数分裂形成孢子，并发育成新个体。</a:t>
            </a:r>
          </a:p>
          <a:p>
            <a:pPr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35841"/>
          <p:cNvSpPr txBox="1"/>
          <p:nvPr/>
        </p:nvSpPr>
        <p:spPr>
          <a:xfrm>
            <a:off x="3124200" y="228600"/>
            <a:ext cx="7543800" cy="614527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同配生殖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：在形状、结构、大小和运动能力等方面完全相同的两个配子结合的生殖方式。如：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衣藻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异配生殖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：在形状和结构上相同，但大小和运动能力不同，大而运动能力迟缓的为雌配子，小而运动能力强的为雄配子，这两种配子结合的生殖方式。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如：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空球藻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卵式生殖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：形状、结构和大小都不相同的配，大而无鞭毛不能运动的为卵，小而有鞭毛能运动的为精子，精卵结合的生殖方式。如：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团藻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框 34817"/>
          <p:cNvSpPr txBox="1"/>
          <p:nvPr/>
        </p:nvSpPr>
        <p:spPr>
          <a:xfrm>
            <a:off x="3124200" y="822325"/>
            <a:ext cx="7162800" cy="5213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（三）代表植物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衣藻、水绵、石莼、团藻、小球藻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（四）几种重要绿藻的生殖及生活史</a:t>
            </a:r>
          </a:p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衣藻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衣藻经常在夜间进行无性生殖。多代无性生殖后，再进行有性生殖，多数种的有性生殖为同配生殖。</a:t>
            </a:r>
          </a:p>
          <a:p>
            <a:pPr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图片 84993" descr="M5185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79248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4233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衣藻属的生活史</a:t>
            </a:r>
            <a:endParaRPr lang="zh-CN" altLang="en-US"/>
          </a:p>
        </p:txBody>
      </p:sp>
      <p:sp>
        <p:nvSpPr>
          <p:cNvPr id="142342" name="矩形 142341"/>
          <p:cNvSpPr/>
          <p:nvPr/>
        </p:nvSpPr>
        <p:spPr>
          <a:xfrm>
            <a:off x="4467225" y="227171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2341" name="图片 142340" descr="http://zhenyuan.sdedu.net/RESOURCE/CZ/CZSW/SWTS/ZWX2/H15041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40961"/>
          <p:cNvSpPr txBox="1"/>
          <p:nvPr/>
        </p:nvSpPr>
        <p:spPr>
          <a:xfrm>
            <a:off x="2895600" y="260350"/>
            <a:ext cx="7772400" cy="7162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水绵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水绵属是接合藻目。植物体有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列细胞构成的不分枝的丝状体 ，细胞圆柱形。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水绵属的有性生殖多发生在春季或秋季。采用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接合生殖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的方式进行繁殖。生殖时两条丝状体平行靠近，在两细胞相对的一侧相互发生突起，突起渐伸长而接触，于是接触的壁消失，连接成管，称为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接合管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接合生殖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：两个没有鞭毛能变形的配子结合，称为接合生殖。</a:t>
            </a:r>
          </a:p>
          <a:p>
            <a:pPr>
              <a:spcBef>
                <a:spcPct val="50000"/>
              </a:spcBef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65537" descr="M5185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图片 59393" descr="M518527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8001000" cy="662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6" name="图片 64515" descr="Dsc0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4572000" cy="563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5" name="图片 64514" descr="Dsc00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338" y="0"/>
            <a:ext cx="4284662" cy="5638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4131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水绵属的生活史</a:t>
            </a:r>
          </a:p>
        </p:txBody>
      </p:sp>
      <p:sp>
        <p:nvSpPr>
          <p:cNvPr id="141317" name="矩形 141316"/>
          <p:cNvSpPr/>
          <p:nvPr/>
        </p:nvSpPr>
        <p:spPr>
          <a:xfrm>
            <a:off x="3914775" y="139541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1316" name="图片 141315" descr="http://zhenyuan.sdedu.net/RESOURCE/CZ/CZSW/SWTS/ZWX2/H15048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文本框 44033"/>
          <p:cNvSpPr txBox="1"/>
          <p:nvPr/>
        </p:nvSpPr>
        <p:spPr>
          <a:xfrm>
            <a:off x="2895600" y="685800"/>
            <a:ext cx="7772400" cy="54991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石莼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石莼属是石莼目中常见的植物。植物体是大形的多细胞片状体，由两层细胞构成。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石莼属有两种植物体，即孢子体和配子体。石莼属的生活史包括了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配子体世代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（有性世代）和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孢子体世代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（无性世代），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出现了世代交替的现象。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5" name="图片 69634" descr="石莼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"/>
            <a:ext cx="5257800" cy="6767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4" name="图片 69633" descr="Dsc0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"/>
            <a:ext cx="3657600" cy="6767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4505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石莼属的生活史</a:t>
            </a:r>
            <a:endParaRPr lang="zh-CN" altLang="en-US"/>
          </a:p>
        </p:txBody>
      </p:sp>
      <p:sp>
        <p:nvSpPr>
          <p:cNvPr id="45061" name="矩形 45060"/>
          <p:cNvSpPr/>
          <p:nvPr/>
        </p:nvSpPr>
        <p:spPr>
          <a:xfrm>
            <a:off x="3876675" y="20240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5060" name="图片 45059" descr="http://zhenyuan.sdedu.net/RESOURCE/CZ/CZSW/SWTS/ZWX2/H15045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框 38913"/>
          <p:cNvSpPr txBox="1"/>
          <p:nvPr/>
        </p:nvSpPr>
        <p:spPr>
          <a:xfrm>
            <a:off x="2819400" y="334966"/>
            <a:ext cx="7848600" cy="61880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团藻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植物体是由数百至数上万个细胞，排列成一层空心球体，球内充满胶质和水。细胞的形态和衣藻相同。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群体后端有些细胞失去鞭毛，比普通营养细胞大十倍或十倍以上，称此为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生殖胞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无性生殖由生殖胞进行多次纵裂，形成皿状体，然后由皿状体进一步分化。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有性生殖为</a:t>
            </a: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卵式生殖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图片 61441" descr="M5185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89535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62465" descr="M518526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89535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6081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四、红藻门</a:t>
            </a:r>
            <a:endParaRPr lang="zh-CN" altLang="en-US"/>
          </a:p>
        </p:txBody>
      </p:sp>
      <p:sp>
        <p:nvSpPr>
          <p:cNvPr id="46084" name="文本框 46083"/>
          <p:cNvSpPr txBox="1"/>
          <p:nvPr/>
        </p:nvSpPr>
        <p:spPr>
          <a:xfrm>
            <a:off x="3048000" y="1219200"/>
            <a:ext cx="7391400" cy="49387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（一）形态和构造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植物体多数是多细胞的，少数为单细胞。藻体有简单的丝状体，也有形成假薄壁组织的叶状体或枝状体。细胞壁分为两层，内层为纤维素质的，外层是果胶质的。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不具鞭毛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载色体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至多数，颗粒状。含有叶绿素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β-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胡萝卜素和叶黄素类，还有不溶于脂肪而溶于水的藻红素和藻蓝素。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藻体多呈红色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。（藻红素占优势）。同化产物为红藻淀粉和红藻糖。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48129"/>
          <p:cNvSpPr txBox="1"/>
          <p:nvPr/>
        </p:nvSpPr>
        <p:spPr>
          <a:xfrm>
            <a:off x="2971800" y="914400"/>
            <a:ext cx="73914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1" name="文本框 48130"/>
          <p:cNvSpPr txBox="1"/>
          <p:nvPr/>
        </p:nvSpPr>
        <p:spPr>
          <a:xfrm>
            <a:off x="2895600" y="304803"/>
            <a:ext cx="7467600" cy="56245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（二）繁殖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红藻生活史中不产生孢子，无性生殖是以多种无鞭毛的静孢子进行，有的产生单孢子，如紫菜；有的产生四分孢子，如多管藻。</a:t>
            </a: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红藻有性生殖器官为精子囊，雌性生殖器官为果胞。有些果胞受精后，不经过减数分裂，发育成果孢子体，又称囊果。果孢子体是二倍的，寄生于配子体上。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文本框 63489"/>
          <p:cNvSpPr txBox="1"/>
          <p:nvPr/>
        </p:nvSpPr>
        <p:spPr>
          <a:xfrm>
            <a:off x="2743200" y="228600"/>
            <a:ext cx="7620000" cy="78483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（三）代表植物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紫菜、串珠藻、珊瑚藻、仙菜、松节藻、石花菜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4" name="文本框 63493"/>
          <p:cNvSpPr txBox="1"/>
          <p:nvPr/>
        </p:nvSpPr>
        <p:spPr>
          <a:xfrm>
            <a:off x="7351716" y="1316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3501" name="组合 63500"/>
          <p:cNvGrpSpPr/>
          <p:nvPr/>
        </p:nvGrpSpPr>
        <p:grpSpPr>
          <a:xfrm>
            <a:off x="2109788" y="1295400"/>
            <a:ext cx="7092950" cy="3659188"/>
            <a:chOff x="369" y="816"/>
            <a:chExt cx="4468" cy="2305"/>
          </a:xfrm>
        </p:grpSpPr>
        <p:pic>
          <p:nvPicPr>
            <p:cNvPr id="63492" name="图片 63491" descr="Dsc0000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" y="816"/>
              <a:ext cx="3072" cy="23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495" name="文本框 63494"/>
            <p:cNvSpPr txBox="1"/>
            <p:nvPr/>
          </p:nvSpPr>
          <p:spPr>
            <a:xfrm>
              <a:off x="3671" y="862"/>
              <a:ext cx="1166" cy="44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40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40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_x000B__x000C_"/>
                </a:rPr>
                <a:t>珊瑚菜</a:t>
              </a:r>
              <a:endParaRPr lang="zh-CN" altLang="en-US" sz="4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9" name="直接连接符 63498"/>
            <p:cNvSpPr/>
            <p:nvPr/>
          </p:nvSpPr>
          <p:spPr>
            <a:xfrm flipV="1">
              <a:off x="3312" y="1056"/>
              <a:ext cx="528" cy="14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03" name="组合 63502"/>
          <p:cNvGrpSpPr/>
          <p:nvPr/>
        </p:nvGrpSpPr>
        <p:grpSpPr>
          <a:xfrm>
            <a:off x="2033588" y="3276600"/>
            <a:ext cx="8634412" cy="4198938"/>
            <a:chOff x="321" y="2064"/>
            <a:chExt cx="5439" cy="2645"/>
          </a:xfrm>
        </p:grpSpPr>
        <p:pic>
          <p:nvPicPr>
            <p:cNvPr id="63493" name="图片 63492" descr="Dsc0000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3" y="2064"/>
              <a:ext cx="3567" cy="264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496" name="文本框 63495"/>
            <p:cNvSpPr txBox="1"/>
            <p:nvPr/>
          </p:nvSpPr>
          <p:spPr>
            <a:xfrm>
              <a:off x="321" y="3442"/>
              <a:ext cx="1728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chemeClr val="bg1"/>
                  </a:solidFill>
                  <a:latin typeface="Times New Roman" panose="02020603050405020304" pitchFamily="18" charset="0"/>
                  <a:ea typeface="_x000B__x000C_"/>
                </a:rPr>
                <a:t> </a:t>
              </a:r>
              <a:r>
                <a:rPr lang="zh-CN" alt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_x000B__x000C_"/>
                </a:rPr>
                <a:t>串珠藻 </a:t>
              </a:r>
              <a:endParaRPr lang="zh-CN" altLang="en-US" sz="3200" dirty="0">
                <a:latin typeface="Times New Roman" panose="02020603050405020304" pitchFamily="18" charset="0"/>
                <a:ea typeface="_x000B__x000C_"/>
              </a:endParaRPr>
            </a:p>
            <a:p>
              <a:r>
                <a:rPr lang="zh-CN" alt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_x000B__x000C_"/>
                </a:rPr>
                <a:t>串珠藻的果孢 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7" name="直接连接符 63496"/>
            <p:cNvSpPr/>
            <p:nvPr/>
          </p:nvSpPr>
          <p:spPr>
            <a:xfrm flipV="1">
              <a:off x="1248" y="3168"/>
              <a:ext cx="1392" cy="48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8" name="直接连接符 63497"/>
            <p:cNvSpPr/>
            <p:nvPr/>
          </p:nvSpPr>
          <p:spPr>
            <a:xfrm flipV="1">
              <a:off x="1968" y="3216"/>
              <a:ext cx="3120" cy="76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14336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紫菜属的生活史</a:t>
            </a:r>
            <a:endParaRPr lang="zh-CN" altLang="en-US"/>
          </a:p>
        </p:txBody>
      </p:sp>
      <p:pic>
        <p:nvPicPr>
          <p:cNvPr id="143364" name="图片 143363" descr="M518522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"/>
            <a:ext cx="9144000" cy="6848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图片 89089" descr="M5185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79248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66561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五、褐藻门</a:t>
            </a:r>
            <a:endParaRPr lang="zh-CN" altLang="en-US"/>
          </a:p>
        </p:txBody>
      </p:sp>
      <p:sp>
        <p:nvSpPr>
          <p:cNvPr id="66565" name="文本框 66564"/>
          <p:cNvSpPr txBox="1"/>
          <p:nvPr/>
        </p:nvSpPr>
        <p:spPr>
          <a:xfrm>
            <a:off x="2743200" y="1143000"/>
            <a:ext cx="7924800" cy="5047536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（一）形态与构造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植物体是多细胞的，基本可以分为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大类：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分枝的丝状体；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分枝的丝状体互相紧密结合，形成假薄壁组织；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有组织分化的植物体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细胞壁两层，内层为纤维素，外层是藻胶组成的。细胞壁内含有褐藻糖胶。精子和游动的孢子一般具两条不等长的侧生孢子，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较长的为茸鞭型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短的为尾鞭型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文本框 67585"/>
          <p:cNvSpPr txBox="1"/>
          <p:nvPr/>
        </p:nvSpPr>
        <p:spPr>
          <a:xfrm>
            <a:off x="3124200" y="509591"/>
            <a:ext cx="7162800" cy="58388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载色体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至多数，粒状或小盘状。载色体含有叶绿素和、胡萝卜素和叶黄素。叶黄素中含墨角藻黄素，含量最大，使藻体呈褐色。同化产物为褐藻淀粉和甘露醇。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（二）繁殖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营养繁殖：主要以断裂的方法进行，断裂的方式是藻体纵裂成几个部分，每个部分发育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个新的植物体。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框 68609"/>
          <p:cNvSpPr txBox="1"/>
          <p:nvPr/>
        </p:nvSpPr>
        <p:spPr>
          <a:xfrm>
            <a:off x="3124200" y="1066800"/>
            <a:ext cx="6934200" cy="42370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孢子生殖：产生游动孢子和静孢子进行繁殖。</a:t>
            </a:r>
          </a:p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有性生殖：配子的结合包括同配、异配和卵式生殖。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（三）代表植物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海带、鹿角菜、裙带菜、马尾藻、黑顶藻、网地藻等。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90113" descr="M518523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4438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海带属的生活史</a:t>
            </a:r>
            <a:endParaRPr lang="zh-CN" altLang="en-US"/>
          </a:p>
        </p:txBody>
      </p:sp>
      <p:sp>
        <p:nvSpPr>
          <p:cNvPr id="144389" name="矩形 144388"/>
          <p:cNvSpPr/>
          <p:nvPr/>
        </p:nvSpPr>
        <p:spPr>
          <a:xfrm>
            <a:off x="4176713" y="15430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4388" name="图片 144387" descr="http://zhenyuan.sdedu.net/RESOURCE/CZ/CZSW/SWTS/ZWX2/H15061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1" name="图片 83970" descr="Dsc00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360366"/>
            <a:ext cx="8281988" cy="5437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70" name="文本框 83969"/>
          <p:cNvSpPr txBox="1"/>
          <p:nvPr/>
        </p:nvSpPr>
        <p:spPr>
          <a:xfrm>
            <a:off x="2244728" y="6040438"/>
            <a:ext cx="7954963" cy="3693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褐藻的海底固着生长                            墨角藻的叶片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   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7270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/>
              <a:t>  </a:t>
            </a:r>
            <a:r>
              <a:rPr lang="zh-CN" altLang="en-US" dirty="0"/>
              <a:t>藻类植物的小结</a:t>
            </a:r>
            <a:endParaRPr lang="zh-CN" altLang="en-US"/>
          </a:p>
        </p:txBody>
      </p:sp>
      <p:sp>
        <p:nvSpPr>
          <p:cNvPr id="72709" name="文本框 72708"/>
          <p:cNvSpPr txBox="1"/>
          <p:nvPr/>
        </p:nvSpPr>
        <p:spPr>
          <a:xfrm>
            <a:off x="2971800" y="1600203"/>
            <a:ext cx="7696200" cy="51355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★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细胞的演化：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地球上最早出现的藻类是原核藻类，大约在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35-33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亿年前。据分析，最早出现的真核藻类是红藻，大约在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15-14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年前；其次是含叶绿素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的真核藻类；最后是含叶绿素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的真核藻类。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★植物体演化：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由单细胞逐渐向群体及多细胞，由简单到复杂，由自由游动到不游动，以营固着生活的规律进行。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sz="280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文本框 73729"/>
          <p:cNvSpPr txBox="1"/>
          <p:nvPr/>
        </p:nvSpPr>
        <p:spPr>
          <a:xfrm>
            <a:off x="3276600" y="1031878"/>
            <a:ext cx="6781800" cy="47926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★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繁殖和生活史的演化：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繁殖：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营养繁殖（一些蓝藻和部分单细胞）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无性生殖（其余的蓝藻）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有性生殖（大部分真核藻类）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有性生殖：同配生殖（衣藻）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异配生殖（空球藻）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卵式生殖（团藻）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生活史：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藻类一生所经历的生长、发育、生殖和产生出新一代个体的全过程。</a:t>
            </a:r>
          </a:p>
          <a:p>
            <a:pPr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9" name="图片 106498" descr="M5185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"/>
            <a:ext cx="9144000" cy="6799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8" name="图片 107527" descr="M518517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4572000" cy="426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532" name="图片 107531" descr="M518517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572000" cy="426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533" name="图片 107532" descr="M518517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4267200"/>
            <a:ext cx="4648200" cy="2971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7" name="图片 110596" descr="M518517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4572000" cy="3367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8" name="图片 110597" descr="M518517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"/>
            <a:ext cx="4572000" cy="3362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9" name="图片 110598" descr="M518517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429000"/>
            <a:ext cx="4572000" cy="3429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600" name="图片 110599" descr="M518517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4572000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文本框 74753"/>
          <p:cNvSpPr txBox="1"/>
          <p:nvPr/>
        </p:nvSpPr>
        <p:spPr>
          <a:xfrm>
            <a:off x="2895600" y="685800"/>
            <a:ext cx="7772400" cy="49149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按照减数分裂发生的时间，分为三类：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▲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减数分裂发生在合子萌发时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合子减数分裂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：只存在单倍体；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▲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减数分裂发生在配子囊形成配子时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配子减数分裂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：只存在二倍体；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▲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出现世代交替，即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种植物体，单倍体和二倍体交替现象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孢子减数分裂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标题 14540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藻类生活史图解</a:t>
            </a:r>
            <a:endParaRPr lang="zh-CN" altLang="en-US"/>
          </a:p>
        </p:txBody>
      </p:sp>
      <p:sp>
        <p:nvSpPr>
          <p:cNvPr id="145413" name="矩形 145412"/>
          <p:cNvSpPr/>
          <p:nvPr/>
        </p:nvSpPr>
        <p:spPr>
          <a:xfrm>
            <a:off x="3919538" y="23812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5412" name="图片 145411" descr="http://zhenyuan.sdedu.net/RESOURCE/CZ/CZSW/SWTS/ZWX2/H15066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文本框 75777"/>
          <p:cNvSpPr txBox="1"/>
          <p:nvPr/>
        </p:nvSpPr>
        <p:spPr>
          <a:xfrm>
            <a:off x="2971800" y="539750"/>
            <a:ext cx="7391400" cy="57785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几个概念：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无性世代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：从合子开始到减数分裂发生；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有性世代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：由孢子开始一直到配子形成；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世代交替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：有性世代和无性世代的交替；包括同形世代交替和异形世代交替。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同形世代交替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：在藻类生活史中，孢子体和配子体植物在形态构造上相同；如：石莼；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异形世代交替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：由两种在外部形态和内部构造上不同的植物体旧交替。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16793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b="1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_x000B__x000C_"/>
              </a:rPr>
              <a:t>绿藻门是高等植物的祖先</a:t>
            </a:r>
          </a:p>
        </p:txBody>
      </p:sp>
      <p:sp>
        <p:nvSpPr>
          <p:cNvPr id="167940" name="文本框 167939"/>
          <p:cNvSpPr txBox="1"/>
          <p:nvPr/>
        </p:nvSpPr>
        <p:spPr>
          <a:xfrm>
            <a:off x="2889253" y="1700216"/>
            <a:ext cx="7599363" cy="440848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其理由是：   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（</a:t>
            </a: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）细胞壁的成分： 纤维素和果果胶质；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（</a:t>
            </a: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）色素种类：叶绿素</a:t>
            </a:r>
            <a:r>
              <a:rPr lang="en-US" altLang="zh-CN" sz="280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、 </a:t>
            </a:r>
            <a:r>
              <a:rPr lang="en-US" altLang="zh-CN" sz="280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类胡萝卜素；       （</a:t>
            </a:r>
            <a:r>
              <a:rPr lang="en-US" altLang="zh-CN" sz="280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）光含产物：淀粉；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（</a:t>
            </a:r>
            <a:r>
              <a:rPr lang="en-US" altLang="zh-CN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）鞭毛类型：运动细胞具顶生、等长双鞭毛          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这四方面特点均与高等植物完全一致。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76801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藻类植物在国民经济中的意义</a:t>
            </a:r>
            <a:endParaRPr lang="zh-CN" altLang="en-US"/>
          </a:p>
        </p:txBody>
      </p:sp>
      <p:sp>
        <p:nvSpPr>
          <p:cNvPr id="76804" name="文本框 76803"/>
          <p:cNvSpPr txBox="1"/>
          <p:nvPr/>
        </p:nvSpPr>
        <p:spPr>
          <a:xfrm>
            <a:off x="2895600" y="1143000"/>
            <a:ext cx="7772400" cy="54356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食用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发菜、海泡菜、水绵、石莼、海带、鹿角菜等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在农业上的应用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作肥料；固氮（念珠藻、鱼腥藻）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在医药上的运用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从褐藻中提取的碘可治疗和预防甲状腺肿；鹧鸪菜有驱除蛔虫的作用。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探矿的指示物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陕西某些煤矿就是古代藻形成的，称为“藻煤”。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图片 92161" descr="M5185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图片 97281" descr="M518531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9" name="图片 96258" descr="M51853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图片 93185" descr="M518531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94209" descr="M518531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图片 101377" descr="M518531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7782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sz="6600" dirty="0"/>
              <a:t>   </a:t>
            </a:r>
            <a:r>
              <a:rPr lang="zh-CN" altLang="en-US" sz="6600" dirty="0"/>
              <a:t>菌类</a:t>
            </a:r>
            <a:endParaRPr lang="zh-CN" altLang="en-US" sz="6600"/>
          </a:p>
        </p:txBody>
      </p:sp>
      <p:sp>
        <p:nvSpPr>
          <p:cNvPr id="77828" name="文本框 77827"/>
          <p:cNvSpPr txBox="1"/>
          <p:nvPr/>
        </p:nvSpPr>
        <p:spPr>
          <a:xfrm>
            <a:off x="3276600" y="2209803"/>
            <a:ext cx="4648200" cy="280076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   ■</a:t>
            </a:r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细      菌</a:t>
            </a:r>
          </a:p>
          <a:p>
            <a:pPr>
              <a:spcBef>
                <a:spcPct val="50000"/>
              </a:spcBef>
            </a:pPr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■</a:t>
            </a:r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粘      菌</a:t>
            </a:r>
          </a:p>
          <a:p>
            <a:pPr>
              <a:spcBef>
                <a:spcPct val="50000"/>
              </a:spcBef>
            </a:pPr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■</a:t>
            </a:r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</a:rPr>
              <a:t>真      菌</a:t>
            </a:r>
            <a:endParaRPr lang="zh-CN" altLang="en-US" sz="4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7884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细菌</a:t>
            </a:r>
            <a:endParaRPr lang="zh-CN" altLang="en-US"/>
          </a:p>
        </p:txBody>
      </p:sp>
      <p:sp>
        <p:nvSpPr>
          <p:cNvPr id="78852" name="文本框 78851"/>
          <p:cNvSpPr txBox="1"/>
          <p:nvPr/>
        </p:nvSpPr>
        <p:spPr>
          <a:xfrm>
            <a:off x="2895600" y="1752600"/>
            <a:ext cx="7772400" cy="4622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（一）形态和构造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原核生物；绝大多数细菌不含叶绿素，是异养生物；细胞的构造和一般植物细胞相似，包括细胞壁、细胞膜、细胞质、核质和内含物，有的细菌还含有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荚膜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芽孢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鞭毛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DNA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在细胞质中为单个环状染色体，称为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拟核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；在细菌中常能发现小的、染色体外的环状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DNA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片断，称为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质粒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矩形 146434"/>
          <p:cNvSpPr/>
          <p:nvPr/>
        </p:nvSpPr>
        <p:spPr>
          <a:xfrm>
            <a:off x="4648200" y="25336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6434" name="图片 146433" descr="http://zhenyuan.sdedu.net/RESOURCE/CZ/CZSW/SWTS/ZWX2/H15072T2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文本框 79873"/>
          <p:cNvSpPr txBox="1"/>
          <p:nvPr/>
        </p:nvSpPr>
        <p:spPr>
          <a:xfrm>
            <a:off x="3048000" y="685800"/>
            <a:ext cx="7315200" cy="47688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荚膜：多数细菌在一定条件下，细胞壁周围包被着的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层粘性的薄膜；具有保护作用。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芽孢：为了渡过不良环境产生的，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并不是繁殖的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鞭毛：外原生质突出的长丝，结构坚硬不能屈伸，但能旋转，许多细菌都靠鞭毛游动。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细菌朝向或离开化学物质的运动称为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趋化性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文本框 80897"/>
          <p:cNvSpPr txBox="1"/>
          <p:nvPr/>
        </p:nvSpPr>
        <p:spPr>
          <a:xfrm>
            <a:off x="2895600" y="496891"/>
            <a:ext cx="7772400" cy="58626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（二）细菌的分类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根据细胞壁的结构，分为革兰氏阳性细菌（对青霉素敏感）和革兰氏阴性细菌（对链霉素敏感）；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革兰氏染色法：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1884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年，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革兰姆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克里斯琴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发现。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用染料（如结晶紫）染色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加碘液媒染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酒精漂洗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用较浅的碳酸复红复染。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革兰氏阳性菌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蓝紫色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革兰氏阴性菌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粉红色或淡紫色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按照形态分为球菌、杆菌和螺旋菌。</a:t>
            </a:r>
          </a:p>
          <a:p>
            <a:pPr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矩形 147458"/>
          <p:cNvSpPr/>
          <p:nvPr/>
        </p:nvSpPr>
        <p:spPr>
          <a:xfrm>
            <a:off x="4738688" y="223361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7458" name="图片 147457" descr="http://zhenyuan.sdedu.net/RESOURCE/CZ/CZSW/SWTS/ZWX2/H15072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0" name="文本框 58379"/>
          <p:cNvSpPr txBox="1"/>
          <p:nvPr/>
        </p:nvSpPr>
        <p:spPr>
          <a:xfrm>
            <a:off x="3124200" y="304800"/>
            <a:ext cx="7543800" cy="57785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三）细菌与环境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细菌主要进行无性生殖，除少数种类外，分裂生殖是细菌唯一的繁殖方法。在适宜的条件下，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20-30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分钟分裂一次。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细菌存在于各种环境中，在碳、氮和硫的生物地球化学循环中起着重要作用。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固氮：与豆科植物共生的根瘤菌；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发酵：如酸乳酪、醋；产生毒素危害人体。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释放抗生素：如放线菌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文本框 86017"/>
          <p:cNvSpPr txBox="1"/>
          <p:nvPr/>
        </p:nvSpPr>
        <p:spPr>
          <a:xfrm>
            <a:off x="2895600" y="685800"/>
            <a:ext cx="75438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19" name="文本框 86018"/>
          <p:cNvSpPr txBox="1"/>
          <p:nvPr/>
        </p:nvSpPr>
        <p:spPr>
          <a:xfrm>
            <a:off x="3352800" y="914403"/>
            <a:ext cx="6553200" cy="41370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附：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放线菌是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大类丝状菌，菌丝体分为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营养菌丝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气生菌丝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。营养菌丝深入土中，吸收基质的营养；气生菌丝多呈弯曲状，伸展于空气中，到了繁殖时期，其顶端产生分生孢子。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88065"/>
          <p:cNvSpPr>
            <a:spLocks noGrp="1"/>
          </p:cNvSpPr>
          <p:nvPr>
            <p:ph type="title"/>
          </p:nvPr>
        </p:nvSpPr>
        <p:spPr>
          <a:xfrm>
            <a:off x="2895600" y="304800"/>
            <a:ext cx="7772400" cy="1206500"/>
          </a:xfrm>
        </p:spPr>
        <p:txBody>
          <a:bodyPr anchor="ctr" anchorCtr="0"/>
          <a:lstStyle/>
          <a:p>
            <a:r>
              <a:rPr lang="en-US" altLang="zh-CN" dirty="0"/>
              <a:t>   </a:t>
            </a:r>
            <a:r>
              <a:rPr lang="zh-CN" altLang="en-US" dirty="0"/>
              <a:t>粘菌</a:t>
            </a:r>
            <a:r>
              <a:rPr lang="en-US" altLang="zh-CN"/>
              <a:t>(</a:t>
            </a:r>
            <a:r>
              <a:rPr lang="zh-CN" altLang="en-US" dirty="0"/>
              <a:t>真核菌类</a:t>
            </a:r>
            <a:r>
              <a:rPr lang="en-US" altLang="zh-CN"/>
              <a:t>)</a:t>
            </a:r>
          </a:p>
        </p:txBody>
      </p:sp>
      <p:sp>
        <p:nvSpPr>
          <p:cNvPr id="88068" name="文本框 88067"/>
          <p:cNvSpPr txBox="1"/>
          <p:nvPr/>
        </p:nvSpPr>
        <p:spPr>
          <a:xfrm>
            <a:off x="3200400" y="1371600"/>
            <a:ext cx="7162800" cy="4324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（一）形态和构造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粘菌是介于动物和真菌之间的生物。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★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粘菌在生长期或营养期为裸露的无细胞壁多核的原生质团，称变形体，其营养体构造、运动或摄食方式与原生动物中的变形虫相似；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★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在繁殖时期产生具纤维质细胞壁的孢子，又具有真菌的性状。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文本框 87041"/>
          <p:cNvSpPr txBox="1"/>
          <p:nvPr/>
        </p:nvSpPr>
        <p:spPr>
          <a:xfrm>
            <a:off x="2819400" y="228603"/>
            <a:ext cx="7848600" cy="13112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（二）代表植物</a:t>
            </a:r>
          </a:p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 发网菌、芸薹根肿菌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4" name="矩形 87043"/>
          <p:cNvSpPr/>
          <p:nvPr/>
        </p:nvSpPr>
        <p:spPr>
          <a:xfrm>
            <a:off x="4614863" y="23050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7043" name="图片 87042" descr="http://zhenyuan.sdedu.net/RESOURCE/CZ/CZSW/SWTS/ZWX2/H15076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95233"/>
          <p:cNvSpPr>
            <a:spLocks noGrp="1"/>
          </p:cNvSpPr>
          <p:nvPr>
            <p:ph type="title"/>
          </p:nvPr>
        </p:nvSpPr>
        <p:spPr>
          <a:xfrm>
            <a:off x="2895600" y="38100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真菌（真核菌类）</a:t>
            </a:r>
            <a:endParaRPr lang="zh-CN" altLang="en-US"/>
          </a:p>
        </p:txBody>
      </p:sp>
      <p:sp>
        <p:nvSpPr>
          <p:cNvPr id="95236" name="文本框 95235"/>
          <p:cNvSpPr txBox="1"/>
          <p:nvPr/>
        </p:nvSpPr>
        <p:spPr>
          <a:xfrm>
            <a:off x="2971800" y="1676403"/>
            <a:ext cx="7696200" cy="35972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一、通性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（一）真菌的特征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细胞既不含叶绿素，也没有质体，是典型的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异养生物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（寄生和腐生）。贮存的养分主要是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肝糖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；除少数例外，都有明显的细胞壁，通常不能运动，以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的方式进行繁殖；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文本框 98305"/>
          <p:cNvSpPr txBox="1"/>
          <p:nvPr/>
        </p:nvSpPr>
        <p:spPr>
          <a:xfrm>
            <a:off x="2971800" y="685803"/>
            <a:ext cx="7696200" cy="65262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（二）真菌的营养体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绝大多数真菌的营养体由纤细的菌丝组成的菌丝体（除少数原始种类为单细胞类型）。菌丝分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无隔菌丝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有隔菌丝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；低等真菌的菌丝一般无隔，内含多个细胞核；高等真菌的菌丝有隔，形成多细胞的菌丝，每个细胞内一个核，也有两个或多个核。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矩形 148482"/>
          <p:cNvSpPr/>
          <p:nvPr/>
        </p:nvSpPr>
        <p:spPr>
          <a:xfrm>
            <a:off x="5005388" y="257651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8482" name="图片 148481" descr="http://zhenyuan.sdedu.net/RESOURCE/CZ/CZSW/SWTS/ZWX2/H15077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框 103425"/>
          <p:cNvSpPr txBox="1"/>
          <p:nvPr/>
        </p:nvSpPr>
        <p:spPr>
          <a:xfrm>
            <a:off x="2971800" y="381000"/>
            <a:ext cx="7696200" cy="55641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（三）真菌的繁殖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包括营养繁殖、无性生殖和有性生殖三种。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营养繁殖：产生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芽生孢子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厚壁孢子（休眠孢子）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节孢子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无性生殖：产生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游动孢子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孢囊孢子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分生孢子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有性生殖：低等的真菌为配子结合，有同配与异配之别，和绿藻相似。产生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担孢子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子囊孢子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4" name="图片 122883" descr="Dsc00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738" y="3"/>
            <a:ext cx="9085262" cy="657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3" name="文本框 122882"/>
          <p:cNvSpPr txBox="1"/>
          <p:nvPr/>
        </p:nvSpPr>
        <p:spPr>
          <a:xfrm>
            <a:off x="3768728" y="990600"/>
            <a:ext cx="1800493" cy="3693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_x000B__x000C_"/>
              </a:rPr>
              <a:t>酵母菌出芽生殖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14689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二、真菌门的主要类群</a:t>
            </a:r>
            <a:endParaRPr lang="zh-CN" altLang="en-US"/>
          </a:p>
        </p:txBody>
      </p:sp>
      <p:sp>
        <p:nvSpPr>
          <p:cNvPr id="114692" name="文本框 114691"/>
          <p:cNvSpPr txBox="1"/>
          <p:nvPr/>
        </p:nvSpPr>
        <p:spPr>
          <a:xfrm>
            <a:off x="2819400" y="1600203"/>
            <a:ext cx="7848600" cy="50022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（一）鞭毛菌亚门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特征：菌丝无横隔，多核；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无性繁殖时产生单鞭毛或双鞭毛的游动孢子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，有性生殖时产生卵孢子或休眠孢子，包括同配、异配和卵式生殖。大多数水生、两栖生，少数陆生、腐生、寄生。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代表种类：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水霉属的水霉（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双游现象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）、霜霉属的霜霉（十字花科的主要病菌）。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文本框 116737"/>
          <p:cNvSpPr txBox="1"/>
          <p:nvPr/>
        </p:nvSpPr>
        <p:spPr>
          <a:xfrm>
            <a:off x="2971800" y="838200"/>
            <a:ext cx="7162800" cy="36933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39" name="文本框 116738"/>
          <p:cNvSpPr txBox="1"/>
          <p:nvPr/>
        </p:nvSpPr>
        <p:spPr>
          <a:xfrm>
            <a:off x="2819400" y="914400"/>
            <a:ext cx="7848600" cy="54991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（二）接合菌亚们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特征：本亚门菌类明显地由水生发展到陆生，由游动孢子发展到静孢子或分生孢子。营养体多为无隔多核的菌丝。腐生、兼性寄生、寄生或专性寄生。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代表种类：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根霉属的面包霉（葡枝根霉或黑根霉）、毛霉属的毛霉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6" name="图片 128005" descr="Dsc00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文本框 117761"/>
          <p:cNvSpPr txBox="1"/>
          <p:nvPr/>
        </p:nvSpPr>
        <p:spPr>
          <a:xfrm>
            <a:off x="3124200" y="381000"/>
            <a:ext cx="7239000" cy="63325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（三）子囊菌亚门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特征：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绝大多数是多细胞有机体，菌丝有隔；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无性繁殖时，单细胞的种类出芽生殖，多细胞的种类产生分生孢子；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有性生殖时，合子在子囊内减数分裂，产生子囊孢子；既不产生游动孢子，也不产生游动配子，具陆生植物的特征；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④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单细胞的种类，子囊裸露，不形成子实体，多细胞种类形成子实体，子囊包于子实体（又称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子囊果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）内。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4" name="文本框 130053"/>
          <p:cNvSpPr txBox="1"/>
          <p:nvPr/>
        </p:nvSpPr>
        <p:spPr>
          <a:xfrm>
            <a:off x="2971800" y="292100"/>
            <a:ext cx="7696200" cy="2952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子囊菌的子囊果形态有３种类型： 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     子囊盘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: 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呈盘形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，多腐生或粪生。 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     闭囊壳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：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寄生高等植物 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，为球形的子囊果，无孔口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。 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_x000B__x000C_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     子囊壳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：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_x000B__x000C_"/>
              </a:rPr>
              <a:t>多腐生，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为瓶形的子囊果，顶端有开孔。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0053" name="图片 130052" descr="担子果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3060700"/>
            <a:ext cx="4953000" cy="3506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052" name="直接连接符 130051"/>
          <p:cNvSpPr/>
          <p:nvPr/>
        </p:nvSpPr>
        <p:spPr>
          <a:xfrm>
            <a:off x="3886200" y="1066800"/>
            <a:ext cx="5372100" cy="21971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051" name="直接连接符 130050"/>
          <p:cNvSpPr/>
          <p:nvPr/>
        </p:nvSpPr>
        <p:spPr>
          <a:xfrm>
            <a:off x="3886200" y="2057400"/>
            <a:ext cx="1714500" cy="19685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050" name="直接连接符 130049"/>
          <p:cNvSpPr/>
          <p:nvPr/>
        </p:nvSpPr>
        <p:spPr>
          <a:xfrm>
            <a:off x="4343400" y="1600200"/>
            <a:ext cx="3009900" cy="19685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文本框 118785"/>
          <p:cNvSpPr txBox="1"/>
          <p:nvPr/>
        </p:nvSpPr>
        <p:spPr>
          <a:xfrm>
            <a:off x="2743200" y="228600"/>
            <a:ext cx="6934200" cy="20145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（二）代表种类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酵母属的酵母菌、赤霉属的赤霉、麦角菌属的麦角菌、青霉属的青霉、虫草属（药用）、盘菌属、曲霉等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8787" name="图片 118786" descr="Dsc000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38403"/>
            <a:ext cx="5105400" cy="4086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788" name="图片 118787" descr="Dsc00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514600"/>
            <a:ext cx="7086600" cy="434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8790" name="文本框 118789"/>
          <p:cNvSpPr txBox="1"/>
          <p:nvPr/>
        </p:nvSpPr>
        <p:spPr>
          <a:xfrm>
            <a:off x="1524000" y="4722816"/>
            <a:ext cx="1708150" cy="7016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_x000B__x000C_"/>
              </a:rPr>
              <a:t>青霉菌</a:t>
            </a:r>
            <a:endParaRPr lang="zh-CN" altLang="en-US" sz="40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91" name="文本框 118790"/>
          <p:cNvSpPr txBox="1"/>
          <p:nvPr/>
        </p:nvSpPr>
        <p:spPr>
          <a:xfrm>
            <a:off x="7624766" y="5668966"/>
            <a:ext cx="1209675" cy="7016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40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曲霉</a:t>
            </a:r>
            <a:endParaRPr lang="zh-CN" altLang="en-US" sz="40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4" name="图片 135173" descr="Dsc0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2" name="文本框 135171"/>
          <p:cNvSpPr txBox="1"/>
          <p:nvPr/>
        </p:nvSpPr>
        <p:spPr>
          <a:xfrm>
            <a:off x="2041528" y="2873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7" name="文本框 135176"/>
          <p:cNvSpPr txBox="1"/>
          <p:nvPr/>
        </p:nvSpPr>
        <p:spPr>
          <a:xfrm>
            <a:off x="6705600" y="4495800"/>
            <a:ext cx="2971800" cy="1098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66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盘菌</a:t>
            </a:r>
            <a:endParaRPr lang="zh-CN" altLang="en-US" sz="66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文本框 121857"/>
          <p:cNvSpPr txBox="1"/>
          <p:nvPr/>
        </p:nvSpPr>
        <p:spPr>
          <a:xfrm>
            <a:off x="2819400" y="498475"/>
            <a:ext cx="7848600" cy="58610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（四）担子菌亚门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特征：高等真菌，陆生 ，专性寄生或专性腐生；菌丝有隔，菌丝体包括初生、次生（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双核菌丝体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）和三生菌丝体，次生和三生菌丝体有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锁状联合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担孢子、典型的双核菌丝体以及锁状联合是本亚门的明显特征。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无性生殖有芽殖、分生孢子、粉孢子和厚壁孢子等；有性生殖产生的担孢子是单倍的。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代表种类：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黑粉菌（禾本科和莎草科植物的寄生菌）、锈菌、、银耳、木耳、蘑菇、香菇、灵芝等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5" name="图片 136194" descr="1-1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5" y="0"/>
            <a:ext cx="9177337" cy="6858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6194" name="文本框 136193"/>
          <p:cNvSpPr txBox="1"/>
          <p:nvPr/>
        </p:nvSpPr>
        <p:spPr>
          <a:xfrm>
            <a:off x="2646366" y="3810000"/>
            <a:ext cx="6899275" cy="833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zh-CN" altLang="en-US" sz="4800" dirty="0">
                <a:solidFill>
                  <a:schemeClr val="accent2"/>
                </a:solidFill>
                <a:latin typeface="Times New Roman" panose="02020603050405020304" pitchFamily="18" charset="0"/>
                <a:ea typeface="_x000B__x000C_"/>
              </a:rPr>
              <a:t>双核菌丝锁状联合状分裂</a:t>
            </a:r>
            <a:endParaRPr lang="zh-CN" altLang="en-US" sz="48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标题 15052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蘑菇生活史</a:t>
            </a:r>
            <a:endParaRPr lang="zh-CN" altLang="en-US"/>
          </a:p>
        </p:txBody>
      </p:sp>
      <p:pic>
        <p:nvPicPr>
          <p:cNvPr id="150532" name="图片 150531" descr="Dsc000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图片 123905" descr="Dsc0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586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907" name="文本框 123906"/>
          <p:cNvSpPr txBox="1"/>
          <p:nvPr/>
        </p:nvSpPr>
        <p:spPr>
          <a:xfrm>
            <a:off x="8216903" y="6035678"/>
            <a:ext cx="1903085" cy="646331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_x000B__x000C_"/>
              </a:rPr>
              <a:t>Living mushroom </a:t>
            </a:r>
          </a:p>
          <a:p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_x000B__x000C_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_x000B__x000C_"/>
              </a:rPr>
              <a:t>香菇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5" name="文本框 124934"/>
          <p:cNvSpPr txBox="1"/>
          <p:nvPr/>
        </p:nvSpPr>
        <p:spPr>
          <a:xfrm>
            <a:off x="2819400" y="307975"/>
            <a:ext cx="7335838" cy="5695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15000"/>
              </a:lnSpc>
            </a:pPr>
            <a:endParaRPr lang="en-US" altLang="zh-CN" sz="32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营养繁殖：</a:t>
            </a: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菌丝断裂、细胞分裂，形成营养性繁殖细胞</a:t>
            </a:r>
            <a:r>
              <a:rPr lang="en-US" altLang="zh-CN" sz="3200" b="1" dirty="0">
                <a:latin typeface="宋体" panose="02010600030101010101" pitchFamily="2" charset="-122"/>
                <a:ea typeface="_x000B__x000C_"/>
              </a:rPr>
              <a:t>:</a:t>
            </a:r>
          </a:p>
          <a:p>
            <a:pPr eaLnBrk="0" hangingPunct="0">
              <a:lnSpc>
                <a:spcPct val="115000"/>
              </a:lnSpc>
            </a:pPr>
            <a:r>
              <a:rPr lang="en-US" altLang="zh-CN" sz="3200" b="1">
                <a:latin typeface="宋体" panose="02010600030101010101" pitchFamily="2" charset="-122"/>
                <a:ea typeface="_x000B__x000C_"/>
              </a:rPr>
              <a:t>   ①</a:t>
            </a: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芽生孢子</a:t>
            </a:r>
            <a:r>
              <a:rPr lang="zh-CN" altLang="en-US" sz="3200" b="1">
                <a:latin typeface="宋体" panose="02010600030101010101" pitchFamily="2" charset="-122"/>
                <a:ea typeface="_x000B__x000C_"/>
              </a:rPr>
              <a:t>（</a:t>
            </a:r>
            <a:r>
              <a:rPr lang="en-US" altLang="zh-CN" sz="3200" b="1" err="1">
                <a:latin typeface="宋体" panose="02010600030101010101" pitchFamily="2" charset="-122"/>
                <a:ea typeface="_x000B__x000C_"/>
              </a:rPr>
              <a:t>blastospore</a:t>
            </a:r>
            <a:r>
              <a:rPr lang="zh-CN" altLang="en-US" sz="3200" b="1">
                <a:latin typeface="宋体" panose="02010600030101010101" pitchFamily="2" charset="-122"/>
                <a:ea typeface="_x000B__x000C_"/>
              </a:rPr>
              <a:t>）， </a:t>
            </a:r>
            <a:endParaRPr lang="zh-CN" altLang="en-US" sz="32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>
                <a:latin typeface="宋体" panose="02010600030101010101" pitchFamily="2" charset="-122"/>
                <a:ea typeface="_x000B__x000C_"/>
              </a:rPr>
              <a:t>     </a:t>
            </a: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营养细胞出芽形成。 </a:t>
            </a:r>
            <a:endParaRPr lang="zh-CN" altLang="en-US" sz="32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   </a:t>
            </a:r>
            <a:r>
              <a:rPr lang="en-US" altLang="zh-CN" sz="3200" b="1" dirty="0">
                <a:latin typeface="宋体" panose="02010600030101010101" pitchFamily="2" charset="-122"/>
                <a:ea typeface="_x000B__x000C_"/>
              </a:rPr>
              <a:t>②</a:t>
            </a: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厚壁孢子（</a:t>
            </a:r>
            <a:r>
              <a:rPr lang="en-US" altLang="zh-CN" sz="3200" b="1" err="1">
                <a:latin typeface="宋体" panose="02010600030101010101" pitchFamily="2" charset="-122"/>
                <a:ea typeface="_x000B__x000C_"/>
              </a:rPr>
              <a:t>chlamydospore</a:t>
            </a:r>
            <a:r>
              <a:rPr lang="zh-CN" altLang="en-US" sz="3200" b="1">
                <a:latin typeface="宋体" panose="02010600030101010101" pitchFamily="2" charset="-122"/>
                <a:ea typeface="_x000B__x000C_"/>
              </a:rPr>
              <a:t>）， </a:t>
            </a:r>
            <a:endParaRPr lang="zh-CN" altLang="en-US" sz="32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>
                <a:latin typeface="宋体" panose="02010600030101010101" pitchFamily="2" charset="-122"/>
                <a:ea typeface="_x000B__x000C_"/>
              </a:rPr>
              <a:t>     </a:t>
            </a: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菌丝细胞膨大，原生质 </a:t>
            </a:r>
            <a:endParaRPr lang="zh-CN" altLang="en-US" sz="32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     浓缩形成，壁厚，可休眠。 </a:t>
            </a:r>
            <a:endParaRPr lang="zh-CN" altLang="en-US" sz="32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   </a:t>
            </a:r>
            <a:r>
              <a:rPr lang="en-US" altLang="zh-CN" sz="3200" b="1" dirty="0">
                <a:latin typeface="宋体" panose="02010600030101010101" pitchFamily="2" charset="-122"/>
                <a:ea typeface="_x000B__x000C_"/>
              </a:rPr>
              <a:t>③</a:t>
            </a: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节孢子（</a:t>
            </a:r>
            <a:r>
              <a:rPr lang="en-US" altLang="zh-CN" sz="3200" b="1" err="1">
                <a:latin typeface="宋体" panose="02010600030101010101" pitchFamily="2" charset="-122"/>
                <a:ea typeface="_x000B__x000C_"/>
              </a:rPr>
              <a:t>arthrospore</a:t>
            </a:r>
            <a:r>
              <a:rPr lang="zh-CN" altLang="en-US" sz="3200" b="1">
                <a:latin typeface="宋体" panose="02010600030101010101" pitchFamily="2" charset="-122"/>
                <a:ea typeface="_x000B__x000C_"/>
              </a:rPr>
              <a:t>）， </a:t>
            </a:r>
            <a:endParaRPr lang="zh-CN" altLang="en-US" sz="32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115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_x000B__x000C_"/>
              </a:rPr>
              <a:t>由菌丝细胞的依次断裂形成。    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4934" name="图片 124933" descr="j-6-12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3" y="2171700"/>
            <a:ext cx="4329113" cy="441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933" name="图片 124932" descr="Dsc00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66700"/>
            <a:ext cx="2819400" cy="1957388"/>
          </a:xfrm>
          <a:prstGeom prst="rect">
            <a:avLst/>
          </a:prstGeom>
          <a:noFill/>
          <a:ln w="9525" cap="flat" cmpd="sng">
            <a:solidFill>
              <a:srgbClr val="FFFF66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24932" name="直接连接符 124931"/>
          <p:cNvSpPr/>
          <p:nvPr/>
        </p:nvSpPr>
        <p:spPr>
          <a:xfrm>
            <a:off x="5486400" y="2362200"/>
            <a:ext cx="1371600" cy="2286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31" name="直接连接符 124930"/>
          <p:cNvSpPr/>
          <p:nvPr/>
        </p:nvSpPr>
        <p:spPr>
          <a:xfrm>
            <a:off x="5105400" y="3429000"/>
            <a:ext cx="2794000" cy="2667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30" name="直接连接符 124929"/>
          <p:cNvSpPr/>
          <p:nvPr/>
        </p:nvSpPr>
        <p:spPr>
          <a:xfrm flipV="1">
            <a:off x="4343400" y="1485900"/>
            <a:ext cx="2794000" cy="36957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9" name="矩形 125958"/>
          <p:cNvSpPr/>
          <p:nvPr/>
        </p:nvSpPr>
        <p:spPr>
          <a:xfrm>
            <a:off x="2971800" y="693741"/>
            <a:ext cx="7696200" cy="547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_x000B__x000C_"/>
              </a:rPr>
              <a:t>2) </a:t>
            </a:r>
            <a:r>
              <a:rPr lang="en-US" altLang="zh-CN" sz="2800" b="1">
                <a:latin typeface="宋体" panose="02010600030101010101" pitchFamily="2" charset="-122"/>
                <a:ea typeface="_x000B__x000C_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_x000B__x000C_"/>
              </a:rPr>
              <a:t>sexual reproduction</a:t>
            </a:r>
            <a:r>
              <a:rPr lang="zh-CN" altLang="en-US" sz="2800" b="1">
                <a:latin typeface="宋体" panose="02010600030101010101" pitchFamily="2" charset="-122"/>
                <a:ea typeface="_x000B__x000C_"/>
              </a:rPr>
              <a:t>：</a:t>
            </a: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细胞质、核分裂，形成新的细胞。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_x000B__x000C_"/>
              </a:rPr>
              <a:t>①</a:t>
            </a: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游动孢子（</a:t>
            </a:r>
            <a:r>
              <a:rPr lang="en-US" altLang="zh-CN" sz="2800" b="1">
                <a:latin typeface="宋体" panose="02010600030101010101" pitchFamily="2" charset="-122"/>
                <a:ea typeface="_x000B__x000C_"/>
              </a:rPr>
              <a:t>zoospore</a:t>
            </a:r>
            <a:r>
              <a:rPr lang="zh-CN" altLang="en-US" sz="2800" b="1">
                <a:latin typeface="宋体" panose="02010600030101010101" pitchFamily="2" charset="-122"/>
                <a:ea typeface="_x000B__x000C_"/>
              </a:rPr>
              <a:t>）， </a:t>
            </a:r>
            <a:endParaRPr lang="zh-CN" altLang="en-US" sz="28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在游动孢子囊（</a:t>
            </a:r>
            <a:r>
              <a:rPr lang="en-US" altLang="zh-CN" sz="2800" b="1">
                <a:latin typeface="宋体" panose="02010600030101010101" pitchFamily="2" charset="-122"/>
                <a:ea typeface="_x000B__x000C_"/>
              </a:rPr>
              <a:t>zoosporangium</a:t>
            </a:r>
            <a:r>
              <a:rPr lang="zh-CN" altLang="en-US" sz="2800" b="1">
                <a:latin typeface="宋体" panose="02010600030101010101" pitchFamily="2" charset="-122"/>
                <a:ea typeface="_x000B__x000C_"/>
              </a:rPr>
              <a:t>） </a:t>
            </a:r>
            <a:endParaRPr lang="zh-CN" altLang="en-US" sz="28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中形成，细胞无壁，具鞭毛，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借水传播。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_x000B__x000C_"/>
              </a:rPr>
              <a:t>②</a:t>
            </a: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孢囊孢子（</a:t>
            </a:r>
            <a:r>
              <a:rPr lang="en-US" altLang="zh-CN" sz="2800" b="1" err="1">
                <a:latin typeface="宋体" panose="02010600030101010101" pitchFamily="2" charset="-122"/>
                <a:ea typeface="_x000B__x000C_"/>
              </a:rPr>
              <a:t>sporangiospore</a:t>
            </a:r>
            <a:r>
              <a:rPr lang="zh-CN" altLang="en-US" sz="2800" b="1">
                <a:latin typeface="宋体" panose="02010600030101010101" pitchFamily="2" charset="-122"/>
                <a:ea typeface="_x000B__x000C_"/>
              </a:rPr>
              <a:t>） </a:t>
            </a:r>
            <a:endParaRPr lang="zh-CN" altLang="en-US" sz="28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在孢子囊（</a:t>
            </a:r>
            <a:r>
              <a:rPr lang="en-US" altLang="zh-CN" sz="2800" b="1">
                <a:latin typeface="宋体" panose="02010600030101010101" pitchFamily="2" charset="-122"/>
                <a:ea typeface="_x000B__x000C_"/>
              </a:rPr>
              <a:t>sporangium</a:t>
            </a:r>
            <a:r>
              <a:rPr lang="zh-CN" altLang="en-US" sz="2800" b="1">
                <a:latin typeface="宋体" panose="02010600030101010101" pitchFamily="2" charset="-122"/>
                <a:ea typeface="_x000B__x000C_"/>
              </a:rPr>
              <a:t>） </a:t>
            </a:r>
            <a:endParaRPr lang="zh-CN" altLang="en-US" sz="28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内形成的不动孢子，借气流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传播。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_x000B__x000C_"/>
              </a:rPr>
              <a:t>③</a:t>
            </a: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分生孢子（</a:t>
            </a:r>
            <a:r>
              <a:rPr lang="en-US" altLang="zh-CN" sz="2800" b="1" err="1">
                <a:latin typeface="宋体" panose="02010600030101010101" pitchFamily="2" charset="-122"/>
                <a:ea typeface="_x000B__x000C_"/>
              </a:rPr>
              <a:t>conidiospore</a:t>
            </a:r>
            <a:r>
              <a:rPr lang="zh-CN" altLang="en-US" sz="2800" b="1">
                <a:latin typeface="宋体" panose="02010600030101010101" pitchFamily="2" charset="-122"/>
                <a:ea typeface="_x000B__x000C_"/>
              </a:rPr>
              <a:t>） </a:t>
            </a:r>
            <a:endParaRPr lang="zh-CN" altLang="en-US" sz="280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分生孢子囊梗顶端或侧面产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生的静孢子，借气流或动物 </a:t>
            </a:r>
            <a:endParaRPr lang="zh-CN" altLang="en-US" sz="2800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_x000B__x000C_"/>
              </a:rPr>
              <a:t>传播。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5958" name="图片 125957" descr="j-6-12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941" y="1322388"/>
            <a:ext cx="3508375" cy="502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5957" name="矩形 125956"/>
          <p:cNvSpPr/>
          <p:nvPr/>
        </p:nvSpPr>
        <p:spPr>
          <a:xfrm>
            <a:off x="6738938" y="1246188"/>
            <a:ext cx="1600200" cy="510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56" name="直接连接符 125955"/>
          <p:cNvSpPr/>
          <p:nvPr/>
        </p:nvSpPr>
        <p:spPr>
          <a:xfrm>
            <a:off x="5715000" y="1752600"/>
            <a:ext cx="3386138" cy="103188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55" name="直接连接符 125954"/>
          <p:cNvSpPr/>
          <p:nvPr/>
        </p:nvSpPr>
        <p:spPr>
          <a:xfrm>
            <a:off x="5486400" y="3048000"/>
            <a:ext cx="3233738" cy="26988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54" name="直接连接符 125953"/>
          <p:cNvSpPr/>
          <p:nvPr/>
        </p:nvSpPr>
        <p:spPr>
          <a:xfrm>
            <a:off x="5486400" y="4800600"/>
            <a:ext cx="3005138" cy="103188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4" name="文本框 126983"/>
          <p:cNvSpPr txBox="1"/>
          <p:nvPr/>
        </p:nvSpPr>
        <p:spPr>
          <a:xfrm>
            <a:off x="2971800" y="-22225"/>
            <a:ext cx="7696200" cy="2031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dirty="0">
                <a:latin typeface="宋体" panose="02010600030101010101" pitchFamily="2" charset="-122"/>
                <a:ea typeface="_x000B__x000C_"/>
              </a:rPr>
              <a:t>  </a:t>
            </a:r>
            <a:r>
              <a:rPr lang="en-US" altLang="zh-CN" b="1" dirty="0">
                <a:latin typeface="宋体" panose="02010600030101010101" pitchFamily="2" charset="-122"/>
                <a:ea typeface="_x000B__x000C_"/>
              </a:rPr>
              <a:t>3)</a:t>
            </a:r>
            <a:r>
              <a:rPr lang="en-US" altLang="zh-CN" dirty="0">
                <a:latin typeface="宋体" panose="02010600030101010101" pitchFamily="2" charset="-122"/>
                <a:ea typeface="_x000B__x000C_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</a:t>
            </a:r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：有性结合产生的孢子称有性孢子。 </a:t>
            </a:r>
            <a:endParaRPr lang="zh-CN" altLang="en-US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    </a:t>
            </a:r>
            <a:r>
              <a:rPr lang="en-US" altLang="zh-CN" b="1" dirty="0">
                <a:latin typeface="宋体" panose="02010600030101010101" pitchFamily="2" charset="-122"/>
                <a:ea typeface="_x000B__x000C_"/>
              </a:rPr>
              <a:t>①</a:t>
            </a:r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休眠孢子，低等真菌同配和异配产生的合子。 </a:t>
            </a:r>
            <a:endParaRPr lang="zh-CN" altLang="en-US" dirty="0"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    </a:t>
            </a:r>
            <a:r>
              <a:rPr lang="en-US" altLang="zh-CN" b="1" dirty="0">
                <a:latin typeface="宋体" panose="02010600030101010101" pitchFamily="2" charset="-122"/>
                <a:ea typeface="_x000B__x000C_"/>
              </a:rPr>
              <a:t>②</a:t>
            </a:r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接合孢子，接合菌同形配子或配子囊接合后产生的厚壁 休眠孢子。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e.g.bl</a:t>
            </a:r>
            <a:r>
              <a:rPr lang="en-US" altLang="zh-CN" b="1">
                <a:latin typeface="宋体" panose="02010600030101010101" pitchFamily="2" charset="-122"/>
                <a:ea typeface="_x000B__x000C_"/>
              </a:rPr>
              <a:t>ack mold) </a:t>
            </a:r>
            <a:endParaRPr lang="en-US" altLang="zh-CN"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en-US" altLang="zh-CN" b="1">
                <a:latin typeface="宋体" panose="02010600030101010101" pitchFamily="2" charset="-122"/>
                <a:ea typeface="_x000B__x000C_"/>
              </a:rPr>
              <a:t>    ③</a:t>
            </a:r>
            <a:r>
              <a:rPr lang="zh-CN" altLang="en-US" b="1" dirty="0">
                <a:latin typeface="宋体" panose="02010600030101010101" pitchFamily="2" charset="-122"/>
                <a:ea typeface="_x000B__x000C_"/>
              </a:rPr>
              <a:t>子囊孢子，子囊菌在子囊内产生的孢子。</a:t>
            </a:r>
            <a:r>
              <a:rPr lang="en-US" altLang="zh-CN" b="1">
                <a:latin typeface="宋体" panose="02010600030101010101" pitchFamily="2" charset="-122"/>
                <a:ea typeface="_x000B__x000C_"/>
              </a:rPr>
              <a:t>e.g. ergot </a:t>
            </a:r>
            <a:endParaRPr lang="en-US" altLang="zh-CN"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r>
              <a:rPr lang="en-US" altLang="zh-CN" b="1">
                <a:latin typeface="Times New Roman" panose="02020603050405020304" pitchFamily="18" charset="0"/>
                <a:ea typeface="_x000B__x000C_"/>
              </a:rPr>
              <a:t>        ④</a:t>
            </a:r>
            <a:r>
              <a:rPr lang="zh-CN" altLang="en-US" b="1" dirty="0">
                <a:latin typeface="Times New Roman" panose="02020603050405020304" pitchFamily="18" charset="0"/>
                <a:ea typeface="_x000B__x000C_"/>
              </a:rPr>
              <a:t>担孢子，担子菌在担子上形成的孢子  </a:t>
            </a:r>
            <a:r>
              <a:rPr lang="en-US" altLang="zh-CN" b="1">
                <a:latin typeface="Times New Roman" panose="02020603050405020304" pitchFamily="18" charset="0"/>
                <a:ea typeface="_x000B__x000C_"/>
              </a:rPr>
              <a:t>e.g. mushroom </a:t>
            </a:r>
            <a:endParaRPr lang="en-US" altLang="zh-CN">
              <a:latin typeface="Times New Roman" panose="02020603050405020304" pitchFamily="18" charset="0"/>
              <a:ea typeface="_x000B__x000C_"/>
            </a:endParaRPr>
          </a:p>
          <a:p>
            <a:pPr eaLnBrk="0" hangingPunct="0"/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6983" name="图片 126982" descr="Dsc0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355978"/>
            <a:ext cx="4914900" cy="3279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982" name="图片 126981" descr="Dsc000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127375"/>
            <a:ext cx="3505200" cy="3430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981" name="图片 126980" descr="Dsc000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570163"/>
            <a:ext cx="3424238" cy="429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80" name="直接连接符 126979"/>
          <p:cNvSpPr/>
          <p:nvPr/>
        </p:nvSpPr>
        <p:spPr>
          <a:xfrm flipH="1">
            <a:off x="3124200" y="1143000"/>
            <a:ext cx="990600" cy="28956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979" name="直接连接符 126978"/>
          <p:cNvSpPr/>
          <p:nvPr/>
        </p:nvSpPr>
        <p:spPr>
          <a:xfrm>
            <a:off x="4267200" y="1752603"/>
            <a:ext cx="4953000" cy="2593975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978" name="直接连接符 126977"/>
          <p:cNvSpPr/>
          <p:nvPr/>
        </p:nvSpPr>
        <p:spPr>
          <a:xfrm>
            <a:off x="4419600" y="2590800"/>
            <a:ext cx="1371600" cy="8382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31073"/>
          <p:cNvSpPr>
            <a:spLocks noGrp="1"/>
          </p:cNvSpPr>
          <p:nvPr>
            <p:ph type="title"/>
          </p:nvPr>
        </p:nvSpPr>
        <p:spPr>
          <a:xfrm>
            <a:off x="2895600" y="0"/>
            <a:ext cx="7772400" cy="1206500"/>
          </a:xfrm>
        </p:spPr>
        <p:txBody>
          <a:bodyPr anchor="ctr" anchorCtr="0"/>
          <a:lstStyle/>
          <a:p>
            <a:r>
              <a:rPr lang="zh-CN" altLang="en-US" dirty="0"/>
              <a:t>地衣类</a:t>
            </a:r>
            <a:endParaRPr lang="zh-CN" altLang="en-US"/>
          </a:p>
        </p:txBody>
      </p:sp>
      <p:sp>
        <p:nvSpPr>
          <p:cNvPr id="131076" name="文本框 131075"/>
          <p:cNvSpPr txBox="1"/>
          <p:nvPr/>
        </p:nvSpPr>
        <p:spPr>
          <a:xfrm>
            <a:off x="3048000" y="1009650"/>
            <a:ext cx="7620000" cy="5740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一、通性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真菌类和藻类形成的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共生体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。真菌为藻类提供水分、无机盐和二氧化碳，藻类为真菌提供营养物质。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二、形态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壳状、叶状、枝状。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三、构造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叶状地衣分为上皮层、藻胞层、髓层和下皮层。藻胞层是在上皮层之下由藻类细胞聚集成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层。有明显藻胞层的为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异层地衣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，无明显藻胞层的为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同层地衣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85000"/>
              </a:lnSpc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矩形 149506"/>
          <p:cNvSpPr/>
          <p:nvPr/>
        </p:nvSpPr>
        <p:spPr>
          <a:xfrm>
            <a:off x="5148263" y="22145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9506" name="图片 149505" descr="http://zhenyuan.sdedu.net/RESOURCE/CZ/CZSW/SWTS/ZWX2/H15107T1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文本框 133121"/>
          <p:cNvSpPr txBox="1"/>
          <p:nvPr/>
        </p:nvSpPr>
        <p:spPr>
          <a:xfrm>
            <a:off x="3048000" y="539753"/>
            <a:ext cx="7391400" cy="57372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四、繁殖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营养繁殖：主要是地衣体的断裂，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个地衣体分裂为数个裂片，每个裂片均可发育为新个体。粉芽、珊瑚芽和碎裂片等，都是用于繁殖的构造。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无性生殖：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藻类和真菌分别进行繁殖，真菌产生分生孢子。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文本框 134145"/>
          <p:cNvSpPr txBox="1"/>
          <p:nvPr/>
        </p:nvSpPr>
        <p:spPr>
          <a:xfrm>
            <a:off x="2971800" y="1143003"/>
            <a:ext cx="7696200" cy="41116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有性生殖：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只在共生的真菌（主要为子囊菌和担子菌）中进行，产生子囊孢子或担孢子。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五、代表种类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松萝属、石蕊属、地茶属。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5092</Words>
  <Application>Microsoft Office PowerPoint</Application>
  <PresentationFormat>宽屏</PresentationFormat>
  <Paragraphs>338</Paragraphs>
  <Slides>116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116</vt:i4>
      </vt:variant>
    </vt:vector>
  </HeadingPairs>
  <TitlesOfParts>
    <vt:vector size="128" baseType="lpstr">
      <vt:lpstr>_x005f_x000B__x005f_x000C_</vt:lpstr>
      <vt:lpstr>华文行楷</vt:lpstr>
      <vt:lpstr>隶书</vt:lpstr>
      <vt:lpstr>宋体</vt:lpstr>
      <vt:lpstr>Aptos</vt:lpstr>
      <vt:lpstr>Aptos Display</vt:lpstr>
      <vt:lpstr>Arial</vt:lpstr>
      <vt:lpstr>Symbol</vt:lpstr>
      <vt:lpstr>Tahoma</vt:lpstr>
      <vt:lpstr>Times New Roman</vt:lpstr>
      <vt:lpstr>Office Theme</vt:lpstr>
      <vt:lpstr>Microsoft Word 97 - 2003 Document</vt:lpstr>
      <vt:lpstr>第二章 植物的系统分类</vt:lpstr>
      <vt:lpstr>                    前言</vt:lpstr>
      <vt:lpstr>一、植物分类的基本单位和阶层系统</vt:lpstr>
      <vt:lpstr>思考：</vt:lpstr>
      <vt:lpstr>PowerPoint 演示文稿</vt:lpstr>
      <vt:lpstr>二、植物命名法</vt:lpstr>
      <vt:lpstr>PowerPoint 演示文稿</vt:lpstr>
      <vt:lpstr>三、植物界的基本类群</vt:lpstr>
      <vt:lpstr>PowerPoint 演示文稿</vt:lpstr>
      <vt:lpstr>PowerPoint 演示文稿</vt:lpstr>
      <vt:lpstr>PowerPoint 演示文稿</vt:lpstr>
      <vt:lpstr>PowerPoint 演示文稿</vt:lpstr>
      <vt:lpstr>四、植物检索表</vt:lpstr>
      <vt:lpstr>PowerPoint 演示文稿</vt:lpstr>
      <vt:lpstr>    藻类植物</vt:lpstr>
      <vt:lpstr>原核藻类的主要特征比较</vt:lpstr>
      <vt:lpstr>     原绿藻</vt:lpstr>
      <vt:lpstr>蓝藻门 （一）形态和构造</vt:lpstr>
      <vt:lpstr>PowerPoint 演示文稿</vt:lpstr>
      <vt:lpstr>PowerPoint 演示文稿</vt:lpstr>
      <vt:lpstr>PowerPoint 演示文稿</vt:lpstr>
      <vt:lpstr>（二）繁殖</vt:lpstr>
      <vt:lpstr>（三）代表植物</vt:lpstr>
      <vt:lpstr>PowerPoint 演示文稿</vt:lpstr>
      <vt:lpstr>真核藻类 一、裸藻门</vt:lpstr>
      <vt:lpstr>PowerPoint 演示文稿</vt:lpstr>
      <vt:lpstr>PowerPoint 演示文稿</vt:lpstr>
      <vt:lpstr>PowerPoint 演示文稿</vt:lpstr>
      <vt:lpstr>PowerPoint 演示文稿</vt:lpstr>
      <vt:lpstr>二、硅藻门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三、绿藻门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衣藻属的生活史</vt:lpstr>
      <vt:lpstr>PowerPoint 演示文稿</vt:lpstr>
      <vt:lpstr>PowerPoint 演示文稿</vt:lpstr>
      <vt:lpstr>PowerPoint 演示文稿</vt:lpstr>
      <vt:lpstr>PowerPoint 演示文稿</vt:lpstr>
      <vt:lpstr>水绵属的生活史</vt:lpstr>
      <vt:lpstr>PowerPoint 演示文稿</vt:lpstr>
      <vt:lpstr>PowerPoint 演示文稿</vt:lpstr>
      <vt:lpstr>石莼属的生活史</vt:lpstr>
      <vt:lpstr>PowerPoint 演示文稿</vt:lpstr>
      <vt:lpstr>PowerPoint 演示文稿</vt:lpstr>
      <vt:lpstr>PowerPoint 演示文稿</vt:lpstr>
      <vt:lpstr>四、红藻门</vt:lpstr>
      <vt:lpstr>PowerPoint 演示文稿</vt:lpstr>
      <vt:lpstr>PowerPoint 演示文稿</vt:lpstr>
      <vt:lpstr>紫菜属的生活史</vt:lpstr>
      <vt:lpstr>PowerPoint 演示文稿</vt:lpstr>
      <vt:lpstr>五、褐藻门</vt:lpstr>
      <vt:lpstr>PowerPoint 演示文稿</vt:lpstr>
      <vt:lpstr>PowerPoint 演示文稿</vt:lpstr>
      <vt:lpstr>PowerPoint 演示文稿</vt:lpstr>
      <vt:lpstr>海带属的生活史</vt:lpstr>
      <vt:lpstr>PowerPoint 演示文稿</vt:lpstr>
      <vt:lpstr>  藻类植物的小结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藻类生活史图解</vt:lpstr>
      <vt:lpstr>PowerPoint 演示文稿</vt:lpstr>
      <vt:lpstr>绿藻门是高等植物的祖先</vt:lpstr>
      <vt:lpstr>藻类植物在国民经济中的意义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菌类</vt:lpstr>
      <vt:lpstr>细菌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粘菌(真核菌类)</vt:lpstr>
      <vt:lpstr>PowerPoint 演示文稿</vt:lpstr>
      <vt:lpstr>真菌（真核菌类）</vt:lpstr>
      <vt:lpstr>PowerPoint 演示文稿</vt:lpstr>
      <vt:lpstr>PowerPoint 演示文稿</vt:lpstr>
      <vt:lpstr>PowerPoint 演示文稿</vt:lpstr>
      <vt:lpstr>PowerPoint 演示文稿</vt:lpstr>
      <vt:lpstr>二、真菌门的主要类群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蘑菇生活史</vt:lpstr>
      <vt:lpstr>PowerPoint 演示文稿</vt:lpstr>
      <vt:lpstr>PowerPoint 演示文稿</vt:lpstr>
      <vt:lpstr>PowerPoint 演示文稿</vt:lpstr>
      <vt:lpstr>PowerPoint 演示文稿</vt:lpstr>
      <vt:lpstr>地衣类</vt:lpstr>
      <vt:lpstr>PowerPoint 演示文稿</vt:lpstr>
      <vt:lpstr>PowerPoint 演示文稿</vt:lpstr>
      <vt:lpstr>PowerPoint 演示文稿</vt:lpstr>
    </vt:vector>
  </TitlesOfParts>
  <Company>shuxue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植物的系统分类</dc:title>
  <dc:creator>xbx</dc:creator>
  <cp:lastModifiedBy>俊琦 曹</cp:lastModifiedBy>
  <cp:revision>203</cp:revision>
  <dcterms:created xsi:type="dcterms:W3CDTF">2005-07-19T01:56:00Z</dcterms:created>
  <dcterms:modified xsi:type="dcterms:W3CDTF">2025-12-13T10:59:29Z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EE395192DB124405A95A712F9BD7FBD9_13</vt:lpwstr>
  </property>
  <property fmtid="{D5CDD505-2E9C-101B-9397-08002B2CF9AE}" pid="3" name="KSOProductBuildVer">
    <vt:lpwstr>2052-12.1.0.24034</vt:lpwstr>
  </property>
</Properties>
</file>