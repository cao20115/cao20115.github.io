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9.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10.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1.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12.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13.xml" ContentType="application/vnd.openxmlformats-officedocument.theme+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4.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theme/theme15.xml" ContentType="application/vnd.openxmlformats-officedocument.theme+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16.xml" ContentType="application/vnd.openxmlformats-officedocument.theme+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theme/theme17.xml" ContentType="application/vnd.openxmlformats-officedocument.theme+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theme/theme18.xml" ContentType="application/vnd.openxmlformats-officedocument.theme+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theme/theme19.xml" ContentType="application/vnd.openxmlformats-officedocument.theme+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20.xml" ContentType="application/vnd.openxmlformats-officedocument.theme+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21.xml" ContentType="application/vnd.openxmlformats-officedocument.theme+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theme/theme22.xml" ContentType="application/vnd.openxmlformats-officedocument.theme+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theme/theme23.xml" ContentType="application/vnd.openxmlformats-officedocument.theme+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theme/theme24.xml" ContentType="application/vnd.openxmlformats-officedocument.theme+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theme/theme25.xml" ContentType="application/vnd.openxmlformats-officedocument.theme+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6.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68" r:id="rId9"/>
    <p:sldMasterId id="2147483780" r:id="rId10"/>
    <p:sldMasterId id="2147483792" r:id="rId11"/>
    <p:sldMasterId id="2147483804" r:id="rId12"/>
    <p:sldMasterId id="2147483816" r:id="rId13"/>
    <p:sldMasterId id="2147483828" r:id="rId14"/>
    <p:sldMasterId id="2147483840" r:id="rId15"/>
    <p:sldMasterId id="2147483852" r:id="rId16"/>
    <p:sldMasterId id="2147483864" r:id="rId17"/>
    <p:sldMasterId id="2147483876" r:id="rId18"/>
    <p:sldMasterId id="2147483888" r:id="rId19"/>
    <p:sldMasterId id="2147483900" r:id="rId20"/>
    <p:sldMasterId id="2147483912" r:id="rId21"/>
    <p:sldMasterId id="2147483924" r:id="rId22"/>
    <p:sldMasterId id="2147483936" r:id="rId23"/>
    <p:sldMasterId id="2147483948" r:id="rId24"/>
    <p:sldMasterId id="2147483960" r:id="rId25"/>
    <p:sldMasterId id="2147483972" r:id="rId26"/>
    <p:sldMasterId id="2147483984" r:id="rId27"/>
  </p:sldMasterIdLst>
  <p:notesMasterIdLst>
    <p:notesMasterId r:id="rId209"/>
  </p:notesMasterIdLst>
  <p:handoutMasterIdLst>
    <p:handoutMasterId r:id="rId210"/>
  </p:handoutMasterIdLst>
  <p:sldIdLst>
    <p:sldId id="969" r:id="rId28"/>
    <p:sldId id="970" r:id="rId29"/>
    <p:sldId id="1096" r:id="rId30"/>
    <p:sldId id="1097" r:id="rId31"/>
    <p:sldId id="1098" r:id="rId32"/>
    <p:sldId id="1260" r:id="rId33"/>
    <p:sldId id="1100" r:id="rId34"/>
    <p:sldId id="1108" r:id="rId35"/>
    <p:sldId id="1561" r:id="rId36"/>
    <p:sldId id="1109" r:id="rId37"/>
    <p:sldId id="1111" r:id="rId38"/>
    <p:sldId id="1112" r:id="rId39"/>
    <p:sldId id="1113" r:id="rId40"/>
    <p:sldId id="1114" r:id="rId41"/>
    <p:sldId id="1119" r:id="rId42"/>
    <p:sldId id="1120" r:id="rId43"/>
    <p:sldId id="1121" r:id="rId44"/>
    <p:sldId id="1565" r:id="rId45"/>
    <p:sldId id="1129" r:id="rId46"/>
    <p:sldId id="1122" r:id="rId47"/>
    <p:sldId id="1562" r:id="rId48"/>
    <p:sldId id="1563" r:id="rId49"/>
    <p:sldId id="1564" r:id="rId50"/>
    <p:sldId id="1132" r:id="rId51"/>
    <p:sldId id="1133" r:id="rId52"/>
    <p:sldId id="1566" r:id="rId53"/>
    <p:sldId id="443" r:id="rId54"/>
    <p:sldId id="444" r:id="rId55"/>
    <p:sldId id="445" r:id="rId56"/>
    <p:sldId id="1404" r:id="rId57"/>
    <p:sldId id="1405" r:id="rId58"/>
    <p:sldId id="446" r:id="rId59"/>
    <p:sldId id="447" r:id="rId60"/>
    <p:sldId id="448" r:id="rId61"/>
    <p:sldId id="449" r:id="rId62"/>
    <p:sldId id="450" r:id="rId63"/>
    <p:sldId id="451" r:id="rId64"/>
    <p:sldId id="453" r:id="rId65"/>
    <p:sldId id="454" r:id="rId66"/>
    <p:sldId id="452" r:id="rId67"/>
    <p:sldId id="456" r:id="rId68"/>
    <p:sldId id="457" r:id="rId69"/>
    <p:sldId id="458" r:id="rId70"/>
    <p:sldId id="459" r:id="rId71"/>
    <p:sldId id="460" r:id="rId72"/>
    <p:sldId id="462" r:id="rId73"/>
    <p:sldId id="463" r:id="rId74"/>
    <p:sldId id="464" r:id="rId75"/>
    <p:sldId id="465" r:id="rId76"/>
    <p:sldId id="466" r:id="rId77"/>
    <p:sldId id="467" r:id="rId78"/>
    <p:sldId id="468" r:id="rId79"/>
    <p:sldId id="469" r:id="rId80"/>
    <p:sldId id="470" r:id="rId81"/>
    <p:sldId id="471" r:id="rId82"/>
    <p:sldId id="1567" r:id="rId83"/>
    <p:sldId id="474" r:id="rId84"/>
    <p:sldId id="475" r:id="rId85"/>
    <p:sldId id="476" r:id="rId86"/>
    <p:sldId id="478" r:id="rId87"/>
    <p:sldId id="261" r:id="rId88"/>
    <p:sldId id="260" r:id="rId89"/>
    <p:sldId id="480" r:id="rId90"/>
    <p:sldId id="481" r:id="rId91"/>
    <p:sldId id="482" r:id="rId92"/>
    <p:sldId id="483" r:id="rId93"/>
    <p:sldId id="484" r:id="rId94"/>
    <p:sldId id="1406" r:id="rId95"/>
    <p:sldId id="485" r:id="rId96"/>
    <p:sldId id="486" r:id="rId97"/>
    <p:sldId id="488" r:id="rId98"/>
    <p:sldId id="490" r:id="rId99"/>
    <p:sldId id="262" r:id="rId100"/>
    <p:sldId id="264" r:id="rId101"/>
    <p:sldId id="491" r:id="rId102"/>
    <p:sldId id="493" r:id="rId103"/>
    <p:sldId id="494" r:id="rId104"/>
    <p:sldId id="495" r:id="rId105"/>
    <p:sldId id="496" r:id="rId106"/>
    <p:sldId id="1568" r:id="rId107"/>
    <p:sldId id="535" r:id="rId108"/>
    <p:sldId id="536" r:id="rId109"/>
    <p:sldId id="544" r:id="rId110"/>
    <p:sldId id="546" r:id="rId111"/>
    <p:sldId id="1413" r:id="rId112"/>
    <p:sldId id="1412" r:id="rId113"/>
    <p:sldId id="1411" r:id="rId114"/>
    <p:sldId id="1408" r:id="rId115"/>
    <p:sldId id="893" r:id="rId116"/>
    <p:sldId id="551" r:id="rId117"/>
    <p:sldId id="552" r:id="rId118"/>
    <p:sldId id="553" r:id="rId119"/>
    <p:sldId id="554" r:id="rId120"/>
    <p:sldId id="555" r:id="rId121"/>
    <p:sldId id="556" r:id="rId122"/>
    <p:sldId id="557" r:id="rId123"/>
    <p:sldId id="559" r:id="rId124"/>
    <p:sldId id="560" r:id="rId125"/>
    <p:sldId id="561" r:id="rId126"/>
    <p:sldId id="562" r:id="rId127"/>
    <p:sldId id="563" r:id="rId128"/>
    <p:sldId id="892" r:id="rId129"/>
    <p:sldId id="574" r:id="rId130"/>
    <p:sldId id="575" r:id="rId131"/>
    <p:sldId id="576" r:id="rId132"/>
    <p:sldId id="578" r:id="rId133"/>
    <p:sldId id="579" r:id="rId134"/>
    <p:sldId id="580" r:id="rId135"/>
    <p:sldId id="581" r:id="rId136"/>
    <p:sldId id="1534" r:id="rId137"/>
    <p:sldId id="1535" r:id="rId138"/>
    <p:sldId id="897" r:id="rId139"/>
    <p:sldId id="610" r:id="rId140"/>
    <p:sldId id="611" r:id="rId141"/>
    <p:sldId id="612" r:id="rId142"/>
    <p:sldId id="613" r:id="rId143"/>
    <p:sldId id="614" r:id="rId144"/>
    <p:sldId id="615" r:id="rId145"/>
    <p:sldId id="616" r:id="rId146"/>
    <p:sldId id="617" r:id="rId147"/>
    <p:sldId id="619" r:id="rId148"/>
    <p:sldId id="621" r:id="rId149"/>
    <p:sldId id="898" r:id="rId150"/>
    <p:sldId id="634" r:id="rId151"/>
    <p:sldId id="635" r:id="rId152"/>
    <p:sldId id="636" r:id="rId153"/>
    <p:sldId id="637" r:id="rId154"/>
    <p:sldId id="638" r:id="rId155"/>
    <p:sldId id="645" r:id="rId156"/>
    <p:sldId id="646" r:id="rId157"/>
    <p:sldId id="650" r:id="rId158"/>
    <p:sldId id="651" r:id="rId159"/>
    <p:sldId id="655" r:id="rId160"/>
    <p:sldId id="656" r:id="rId161"/>
    <p:sldId id="657" r:id="rId162"/>
    <p:sldId id="1536" r:id="rId163"/>
    <p:sldId id="1537" r:id="rId164"/>
    <p:sldId id="1538" r:id="rId165"/>
    <p:sldId id="1539" r:id="rId166"/>
    <p:sldId id="1540" r:id="rId167"/>
    <p:sldId id="1543" r:id="rId168"/>
    <p:sldId id="1541" r:id="rId169"/>
    <p:sldId id="691" r:id="rId170"/>
    <p:sldId id="692" r:id="rId171"/>
    <p:sldId id="1548" r:id="rId172"/>
    <p:sldId id="693" r:id="rId173"/>
    <p:sldId id="694" r:id="rId174"/>
    <p:sldId id="695" r:id="rId175"/>
    <p:sldId id="697" r:id="rId176"/>
    <p:sldId id="1551" r:id="rId177"/>
    <p:sldId id="1552" r:id="rId178"/>
    <p:sldId id="701" r:id="rId179"/>
    <p:sldId id="704" r:id="rId180"/>
    <p:sldId id="705" r:id="rId181"/>
    <p:sldId id="1550" r:id="rId182"/>
    <p:sldId id="1560" r:id="rId183"/>
    <p:sldId id="1554" r:id="rId184"/>
    <p:sldId id="1555" r:id="rId185"/>
    <p:sldId id="1556" r:id="rId186"/>
    <p:sldId id="759" r:id="rId187"/>
    <p:sldId id="760" r:id="rId188"/>
    <p:sldId id="761" r:id="rId189"/>
    <p:sldId id="763" r:id="rId190"/>
    <p:sldId id="764" r:id="rId191"/>
    <p:sldId id="765" r:id="rId192"/>
    <p:sldId id="766" r:id="rId193"/>
    <p:sldId id="768" r:id="rId194"/>
    <p:sldId id="769" r:id="rId195"/>
    <p:sldId id="771" r:id="rId196"/>
    <p:sldId id="772" r:id="rId197"/>
    <p:sldId id="774" r:id="rId198"/>
    <p:sldId id="775" r:id="rId199"/>
    <p:sldId id="776" r:id="rId200"/>
    <p:sldId id="777" r:id="rId201"/>
    <p:sldId id="782" r:id="rId202"/>
    <p:sldId id="267" r:id="rId203"/>
    <p:sldId id="268" r:id="rId204"/>
    <p:sldId id="270" r:id="rId205"/>
    <p:sldId id="271" r:id="rId206"/>
    <p:sldId id="273" r:id="rId207"/>
    <p:sldId id="272" r:id="rId20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9pPr>
  </p:defaultTextStyle>
  <p:extLst>
    <p:ext uri="{EFAFB233-063F-42B5-8137-9DF3F51BA10A}">
      <p15:sldGuideLst xmlns:p15="http://schemas.microsoft.com/office/powerpoint/2012/main">
        <p15:guide id="1" orient="horz" pos="217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FF"/>
    <a:srgbClr val="FFFFFF"/>
    <a:srgbClr val="FFFF00"/>
    <a:srgbClr val="FF00FF"/>
    <a:srgbClr val="FFE9E9"/>
    <a:srgbClr val="3333FF"/>
    <a:srgbClr val="0000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43511-5378-41B4-9DED-E4939AF96C61}" v="90" dt="2025-11-07T14:52:51.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546" autoAdjust="0"/>
    <p:restoredTop sz="90928"/>
  </p:normalViewPr>
  <p:slideViewPr>
    <p:cSldViewPr showGuides="1">
      <p:cViewPr>
        <p:scale>
          <a:sx n="33" d="100"/>
          <a:sy n="33" d="100"/>
        </p:scale>
        <p:origin x="708" y="1340"/>
      </p:cViewPr>
      <p:guideLst>
        <p:guide orient="horz" pos="2177"/>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048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90.xml"/><Relationship Id="rId21" Type="http://schemas.openxmlformats.org/officeDocument/2006/relationships/slideMaster" Target="slideMasters/slideMaster21.xml"/><Relationship Id="rId42" Type="http://schemas.openxmlformats.org/officeDocument/2006/relationships/slide" Target="slides/slide15.xml"/><Relationship Id="rId63" Type="http://schemas.openxmlformats.org/officeDocument/2006/relationships/slide" Target="slides/slide36.xml"/><Relationship Id="rId84" Type="http://schemas.openxmlformats.org/officeDocument/2006/relationships/slide" Target="slides/slide57.xml"/><Relationship Id="rId138" Type="http://schemas.openxmlformats.org/officeDocument/2006/relationships/slide" Target="slides/slide111.xml"/><Relationship Id="rId159" Type="http://schemas.openxmlformats.org/officeDocument/2006/relationships/slide" Target="slides/slide132.xml"/><Relationship Id="rId170" Type="http://schemas.openxmlformats.org/officeDocument/2006/relationships/slide" Target="slides/slide143.xml"/><Relationship Id="rId191" Type="http://schemas.openxmlformats.org/officeDocument/2006/relationships/slide" Target="slides/slide164.xml"/><Relationship Id="rId205" Type="http://schemas.openxmlformats.org/officeDocument/2006/relationships/slide" Target="slides/slide178.xml"/><Relationship Id="rId107" Type="http://schemas.openxmlformats.org/officeDocument/2006/relationships/slide" Target="slides/slide80.xml"/><Relationship Id="rId11" Type="http://schemas.openxmlformats.org/officeDocument/2006/relationships/slideMaster" Target="slideMasters/slideMaster11.xml"/><Relationship Id="rId32" Type="http://schemas.openxmlformats.org/officeDocument/2006/relationships/slide" Target="slides/slide5.xml"/><Relationship Id="rId53" Type="http://schemas.openxmlformats.org/officeDocument/2006/relationships/slide" Target="slides/slide26.xml"/><Relationship Id="rId74" Type="http://schemas.openxmlformats.org/officeDocument/2006/relationships/slide" Target="slides/slide47.xml"/><Relationship Id="rId128" Type="http://schemas.openxmlformats.org/officeDocument/2006/relationships/slide" Target="slides/slide101.xml"/><Relationship Id="rId149" Type="http://schemas.openxmlformats.org/officeDocument/2006/relationships/slide" Target="slides/slide122.xml"/><Relationship Id="rId5" Type="http://schemas.openxmlformats.org/officeDocument/2006/relationships/slideMaster" Target="slideMasters/slideMaster5.xml"/><Relationship Id="rId95" Type="http://schemas.openxmlformats.org/officeDocument/2006/relationships/slide" Target="slides/slide68.xml"/><Relationship Id="rId160" Type="http://schemas.openxmlformats.org/officeDocument/2006/relationships/slide" Target="slides/slide133.xml"/><Relationship Id="rId181" Type="http://schemas.openxmlformats.org/officeDocument/2006/relationships/slide" Target="slides/slide154.xml"/><Relationship Id="rId216" Type="http://schemas.microsoft.com/office/2015/10/relationships/revisionInfo" Target="revisionInfo.xml"/><Relationship Id="rId22" Type="http://schemas.openxmlformats.org/officeDocument/2006/relationships/slideMaster" Target="slideMasters/slideMaster22.xml"/><Relationship Id="rId43" Type="http://schemas.openxmlformats.org/officeDocument/2006/relationships/slide" Target="slides/slide16.xml"/><Relationship Id="rId64" Type="http://schemas.openxmlformats.org/officeDocument/2006/relationships/slide" Target="slides/slide37.xml"/><Relationship Id="rId118" Type="http://schemas.openxmlformats.org/officeDocument/2006/relationships/slide" Target="slides/slide91.xml"/><Relationship Id="rId139" Type="http://schemas.openxmlformats.org/officeDocument/2006/relationships/slide" Target="slides/slide112.xml"/><Relationship Id="rId85" Type="http://schemas.openxmlformats.org/officeDocument/2006/relationships/slide" Target="slides/slide58.xml"/><Relationship Id="rId150" Type="http://schemas.openxmlformats.org/officeDocument/2006/relationships/slide" Target="slides/slide123.xml"/><Relationship Id="rId171" Type="http://schemas.openxmlformats.org/officeDocument/2006/relationships/slide" Target="slides/slide144.xml"/><Relationship Id="rId192" Type="http://schemas.openxmlformats.org/officeDocument/2006/relationships/slide" Target="slides/slide165.xml"/><Relationship Id="rId206" Type="http://schemas.openxmlformats.org/officeDocument/2006/relationships/slide" Target="slides/slide179.xml"/><Relationship Id="rId12" Type="http://schemas.openxmlformats.org/officeDocument/2006/relationships/slideMaster" Target="slideMasters/slideMaster12.xml"/><Relationship Id="rId33" Type="http://schemas.openxmlformats.org/officeDocument/2006/relationships/slide" Target="slides/slide6.xml"/><Relationship Id="rId108" Type="http://schemas.openxmlformats.org/officeDocument/2006/relationships/slide" Target="slides/slide81.xml"/><Relationship Id="rId129" Type="http://schemas.openxmlformats.org/officeDocument/2006/relationships/slide" Target="slides/slide102.xml"/><Relationship Id="rId54" Type="http://schemas.openxmlformats.org/officeDocument/2006/relationships/slide" Target="slides/slide27.xml"/><Relationship Id="rId75" Type="http://schemas.openxmlformats.org/officeDocument/2006/relationships/slide" Target="slides/slide48.xml"/><Relationship Id="rId96" Type="http://schemas.openxmlformats.org/officeDocument/2006/relationships/slide" Target="slides/slide69.xml"/><Relationship Id="rId140" Type="http://schemas.openxmlformats.org/officeDocument/2006/relationships/slide" Target="slides/slide113.xml"/><Relationship Id="rId161" Type="http://schemas.openxmlformats.org/officeDocument/2006/relationships/slide" Target="slides/slide134.xml"/><Relationship Id="rId182" Type="http://schemas.openxmlformats.org/officeDocument/2006/relationships/slide" Target="slides/slide155.xml"/><Relationship Id="rId6" Type="http://schemas.openxmlformats.org/officeDocument/2006/relationships/slideMaster" Target="slideMasters/slideMaster6.xml"/><Relationship Id="rId23" Type="http://schemas.openxmlformats.org/officeDocument/2006/relationships/slideMaster" Target="slideMasters/slideMaster23.xml"/><Relationship Id="rId119" Type="http://schemas.openxmlformats.org/officeDocument/2006/relationships/slide" Target="slides/slide92.xml"/><Relationship Id="rId44" Type="http://schemas.openxmlformats.org/officeDocument/2006/relationships/slide" Target="slides/slide17.xml"/><Relationship Id="rId65" Type="http://schemas.openxmlformats.org/officeDocument/2006/relationships/slide" Target="slides/slide38.xml"/><Relationship Id="rId86" Type="http://schemas.openxmlformats.org/officeDocument/2006/relationships/slide" Target="slides/slide59.xml"/><Relationship Id="rId130" Type="http://schemas.openxmlformats.org/officeDocument/2006/relationships/slide" Target="slides/slide103.xml"/><Relationship Id="rId151" Type="http://schemas.openxmlformats.org/officeDocument/2006/relationships/slide" Target="slides/slide124.xml"/><Relationship Id="rId172" Type="http://schemas.openxmlformats.org/officeDocument/2006/relationships/slide" Target="slides/slide145.xml"/><Relationship Id="rId193" Type="http://schemas.openxmlformats.org/officeDocument/2006/relationships/slide" Target="slides/slide166.xml"/><Relationship Id="rId207" Type="http://schemas.openxmlformats.org/officeDocument/2006/relationships/slide" Target="slides/slide180.xml"/><Relationship Id="rId13" Type="http://schemas.openxmlformats.org/officeDocument/2006/relationships/slideMaster" Target="slideMasters/slideMaster13.xml"/><Relationship Id="rId109" Type="http://schemas.openxmlformats.org/officeDocument/2006/relationships/slide" Target="slides/slide82.xml"/><Relationship Id="rId34" Type="http://schemas.openxmlformats.org/officeDocument/2006/relationships/slide" Target="slides/slide7.xml"/><Relationship Id="rId55" Type="http://schemas.openxmlformats.org/officeDocument/2006/relationships/slide" Target="slides/slide28.xml"/><Relationship Id="rId76" Type="http://schemas.openxmlformats.org/officeDocument/2006/relationships/slide" Target="slides/slide49.xml"/><Relationship Id="rId97" Type="http://schemas.openxmlformats.org/officeDocument/2006/relationships/slide" Target="slides/slide70.xml"/><Relationship Id="rId120" Type="http://schemas.openxmlformats.org/officeDocument/2006/relationships/slide" Target="slides/slide93.xml"/><Relationship Id="rId141" Type="http://schemas.openxmlformats.org/officeDocument/2006/relationships/slide" Target="slides/slide114.xml"/><Relationship Id="rId7" Type="http://schemas.openxmlformats.org/officeDocument/2006/relationships/slideMaster" Target="slideMasters/slideMaster7.xml"/><Relationship Id="rId162" Type="http://schemas.openxmlformats.org/officeDocument/2006/relationships/slide" Target="slides/slide135.xml"/><Relationship Id="rId183" Type="http://schemas.openxmlformats.org/officeDocument/2006/relationships/slide" Target="slides/slide156.xml"/><Relationship Id="rId24" Type="http://schemas.openxmlformats.org/officeDocument/2006/relationships/slideMaster" Target="slideMasters/slideMaster24.xml"/><Relationship Id="rId45" Type="http://schemas.openxmlformats.org/officeDocument/2006/relationships/slide" Target="slides/slide18.xml"/><Relationship Id="rId66" Type="http://schemas.openxmlformats.org/officeDocument/2006/relationships/slide" Target="slides/slide39.xml"/><Relationship Id="rId87" Type="http://schemas.openxmlformats.org/officeDocument/2006/relationships/slide" Target="slides/slide60.xml"/><Relationship Id="rId110" Type="http://schemas.openxmlformats.org/officeDocument/2006/relationships/slide" Target="slides/slide83.xml"/><Relationship Id="rId131" Type="http://schemas.openxmlformats.org/officeDocument/2006/relationships/slide" Target="slides/slide104.xml"/><Relationship Id="rId152" Type="http://schemas.openxmlformats.org/officeDocument/2006/relationships/slide" Target="slides/slide125.xml"/><Relationship Id="rId173" Type="http://schemas.openxmlformats.org/officeDocument/2006/relationships/slide" Target="slides/slide146.xml"/><Relationship Id="rId194" Type="http://schemas.openxmlformats.org/officeDocument/2006/relationships/slide" Target="slides/slide167.xml"/><Relationship Id="rId208" Type="http://schemas.openxmlformats.org/officeDocument/2006/relationships/slide" Target="slides/slide18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3.xml"/><Relationship Id="rId35" Type="http://schemas.openxmlformats.org/officeDocument/2006/relationships/slide" Target="slides/slide8.xml"/><Relationship Id="rId56" Type="http://schemas.openxmlformats.org/officeDocument/2006/relationships/slide" Target="slides/slide29.xml"/><Relationship Id="rId77" Type="http://schemas.openxmlformats.org/officeDocument/2006/relationships/slide" Target="slides/slide50.xml"/><Relationship Id="rId100" Type="http://schemas.openxmlformats.org/officeDocument/2006/relationships/slide" Target="slides/slide73.xml"/><Relationship Id="rId105" Type="http://schemas.openxmlformats.org/officeDocument/2006/relationships/slide" Target="slides/slide78.xml"/><Relationship Id="rId126" Type="http://schemas.openxmlformats.org/officeDocument/2006/relationships/slide" Target="slides/slide99.xml"/><Relationship Id="rId147" Type="http://schemas.openxmlformats.org/officeDocument/2006/relationships/slide" Target="slides/slide120.xml"/><Relationship Id="rId168" Type="http://schemas.openxmlformats.org/officeDocument/2006/relationships/slide" Target="slides/slide141.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93" Type="http://schemas.openxmlformats.org/officeDocument/2006/relationships/slide" Target="slides/slide66.xml"/><Relationship Id="rId98" Type="http://schemas.openxmlformats.org/officeDocument/2006/relationships/slide" Target="slides/slide71.xml"/><Relationship Id="rId121" Type="http://schemas.openxmlformats.org/officeDocument/2006/relationships/slide" Target="slides/slide94.xml"/><Relationship Id="rId142" Type="http://schemas.openxmlformats.org/officeDocument/2006/relationships/slide" Target="slides/slide115.xml"/><Relationship Id="rId163" Type="http://schemas.openxmlformats.org/officeDocument/2006/relationships/slide" Target="slides/slide136.xml"/><Relationship Id="rId184" Type="http://schemas.openxmlformats.org/officeDocument/2006/relationships/slide" Target="slides/slide157.xml"/><Relationship Id="rId189" Type="http://schemas.openxmlformats.org/officeDocument/2006/relationships/slide" Target="slides/slide162.xml"/><Relationship Id="rId3" Type="http://schemas.openxmlformats.org/officeDocument/2006/relationships/slideMaster" Target="slideMasters/slideMaster3.xml"/><Relationship Id="rId214" Type="http://schemas.openxmlformats.org/officeDocument/2006/relationships/tableStyles" Target="tableStyles.xml"/><Relationship Id="rId25" Type="http://schemas.openxmlformats.org/officeDocument/2006/relationships/slideMaster" Target="slideMasters/slideMaster25.xml"/><Relationship Id="rId46" Type="http://schemas.openxmlformats.org/officeDocument/2006/relationships/slide" Target="slides/slide19.xml"/><Relationship Id="rId67" Type="http://schemas.openxmlformats.org/officeDocument/2006/relationships/slide" Target="slides/slide40.xml"/><Relationship Id="rId116" Type="http://schemas.openxmlformats.org/officeDocument/2006/relationships/slide" Target="slides/slide89.xml"/><Relationship Id="rId137" Type="http://schemas.openxmlformats.org/officeDocument/2006/relationships/slide" Target="slides/slide110.xml"/><Relationship Id="rId158" Type="http://schemas.openxmlformats.org/officeDocument/2006/relationships/slide" Target="slides/slide131.xml"/><Relationship Id="rId20" Type="http://schemas.openxmlformats.org/officeDocument/2006/relationships/slideMaster" Target="slideMasters/slideMaster20.xml"/><Relationship Id="rId41" Type="http://schemas.openxmlformats.org/officeDocument/2006/relationships/slide" Target="slides/slide14.xml"/><Relationship Id="rId62" Type="http://schemas.openxmlformats.org/officeDocument/2006/relationships/slide" Target="slides/slide35.xml"/><Relationship Id="rId83" Type="http://schemas.openxmlformats.org/officeDocument/2006/relationships/slide" Target="slides/slide56.xml"/><Relationship Id="rId88" Type="http://schemas.openxmlformats.org/officeDocument/2006/relationships/slide" Target="slides/slide61.xml"/><Relationship Id="rId111" Type="http://schemas.openxmlformats.org/officeDocument/2006/relationships/slide" Target="slides/slide84.xml"/><Relationship Id="rId132" Type="http://schemas.openxmlformats.org/officeDocument/2006/relationships/slide" Target="slides/slide105.xml"/><Relationship Id="rId153" Type="http://schemas.openxmlformats.org/officeDocument/2006/relationships/slide" Target="slides/slide126.xml"/><Relationship Id="rId174" Type="http://schemas.openxmlformats.org/officeDocument/2006/relationships/slide" Target="slides/slide147.xml"/><Relationship Id="rId179" Type="http://schemas.openxmlformats.org/officeDocument/2006/relationships/slide" Target="slides/slide152.xml"/><Relationship Id="rId195" Type="http://schemas.openxmlformats.org/officeDocument/2006/relationships/slide" Target="slides/slide168.xml"/><Relationship Id="rId209" Type="http://schemas.openxmlformats.org/officeDocument/2006/relationships/notesMaster" Target="notesMasters/notesMaster1.xml"/><Relationship Id="rId190" Type="http://schemas.openxmlformats.org/officeDocument/2006/relationships/slide" Target="slides/slide163.xml"/><Relationship Id="rId204" Type="http://schemas.openxmlformats.org/officeDocument/2006/relationships/slide" Target="slides/slide177.xml"/><Relationship Id="rId15" Type="http://schemas.openxmlformats.org/officeDocument/2006/relationships/slideMaster" Target="slideMasters/slideMaster15.xml"/><Relationship Id="rId36" Type="http://schemas.openxmlformats.org/officeDocument/2006/relationships/slide" Target="slides/slide9.xml"/><Relationship Id="rId57" Type="http://schemas.openxmlformats.org/officeDocument/2006/relationships/slide" Target="slides/slide30.xml"/><Relationship Id="rId106" Type="http://schemas.openxmlformats.org/officeDocument/2006/relationships/slide" Target="slides/slide79.xml"/><Relationship Id="rId127" Type="http://schemas.openxmlformats.org/officeDocument/2006/relationships/slide" Target="slides/slide100.xml"/><Relationship Id="rId10" Type="http://schemas.openxmlformats.org/officeDocument/2006/relationships/slideMaster" Target="slideMasters/slideMaster10.xml"/><Relationship Id="rId31" Type="http://schemas.openxmlformats.org/officeDocument/2006/relationships/slide" Target="slides/slide4.xml"/><Relationship Id="rId52" Type="http://schemas.openxmlformats.org/officeDocument/2006/relationships/slide" Target="slides/slide25.xml"/><Relationship Id="rId73" Type="http://schemas.openxmlformats.org/officeDocument/2006/relationships/slide" Target="slides/slide46.xml"/><Relationship Id="rId78" Type="http://schemas.openxmlformats.org/officeDocument/2006/relationships/slide" Target="slides/slide51.xml"/><Relationship Id="rId94" Type="http://schemas.openxmlformats.org/officeDocument/2006/relationships/slide" Target="slides/slide67.xml"/><Relationship Id="rId99" Type="http://schemas.openxmlformats.org/officeDocument/2006/relationships/slide" Target="slides/slide72.xml"/><Relationship Id="rId101" Type="http://schemas.openxmlformats.org/officeDocument/2006/relationships/slide" Target="slides/slide74.xml"/><Relationship Id="rId122" Type="http://schemas.openxmlformats.org/officeDocument/2006/relationships/slide" Target="slides/slide95.xml"/><Relationship Id="rId143" Type="http://schemas.openxmlformats.org/officeDocument/2006/relationships/slide" Target="slides/slide116.xml"/><Relationship Id="rId148" Type="http://schemas.openxmlformats.org/officeDocument/2006/relationships/slide" Target="slides/slide121.xml"/><Relationship Id="rId164" Type="http://schemas.openxmlformats.org/officeDocument/2006/relationships/slide" Target="slides/slide137.xml"/><Relationship Id="rId169" Type="http://schemas.openxmlformats.org/officeDocument/2006/relationships/slide" Target="slides/slide142.xml"/><Relationship Id="rId185" Type="http://schemas.openxmlformats.org/officeDocument/2006/relationships/slide" Target="slides/slide158.xml"/><Relationship Id="rId4" Type="http://schemas.openxmlformats.org/officeDocument/2006/relationships/slideMaster" Target="slideMasters/slideMaster4.xml"/><Relationship Id="rId9" Type="http://schemas.openxmlformats.org/officeDocument/2006/relationships/slideMaster" Target="slideMasters/slideMaster9.xml"/><Relationship Id="rId180" Type="http://schemas.openxmlformats.org/officeDocument/2006/relationships/slide" Target="slides/slide153.xml"/><Relationship Id="rId210" Type="http://schemas.openxmlformats.org/officeDocument/2006/relationships/handoutMaster" Target="handoutMasters/handoutMaster1.xml"/><Relationship Id="rId215" Type="http://schemas.microsoft.com/office/2016/11/relationships/changesInfo" Target="changesInfos/changesInfo1.xml"/><Relationship Id="rId26" Type="http://schemas.openxmlformats.org/officeDocument/2006/relationships/slideMaster" Target="slideMasters/slideMaster26.xml"/><Relationship Id="rId47" Type="http://schemas.openxmlformats.org/officeDocument/2006/relationships/slide" Target="slides/slide20.xml"/><Relationship Id="rId68" Type="http://schemas.openxmlformats.org/officeDocument/2006/relationships/slide" Target="slides/slide41.xml"/><Relationship Id="rId89" Type="http://schemas.openxmlformats.org/officeDocument/2006/relationships/slide" Target="slides/slide62.xml"/><Relationship Id="rId112" Type="http://schemas.openxmlformats.org/officeDocument/2006/relationships/slide" Target="slides/slide85.xml"/><Relationship Id="rId133" Type="http://schemas.openxmlformats.org/officeDocument/2006/relationships/slide" Target="slides/slide106.xml"/><Relationship Id="rId154" Type="http://schemas.openxmlformats.org/officeDocument/2006/relationships/slide" Target="slides/slide127.xml"/><Relationship Id="rId175" Type="http://schemas.openxmlformats.org/officeDocument/2006/relationships/slide" Target="slides/slide148.xml"/><Relationship Id="rId196" Type="http://schemas.openxmlformats.org/officeDocument/2006/relationships/slide" Target="slides/slide169.xml"/><Relationship Id="rId200" Type="http://schemas.openxmlformats.org/officeDocument/2006/relationships/slide" Target="slides/slide173.xml"/><Relationship Id="rId16" Type="http://schemas.openxmlformats.org/officeDocument/2006/relationships/slideMaster" Target="slideMasters/slideMaster16.xml"/><Relationship Id="rId37" Type="http://schemas.openxmlformats.org/officeDocument/2006/relationships/slide" Target="slides/slide10.xml"/><Relationship Id="rId58" Type="http://schemas.openxmlformats.org/officeDocument/2006/relationships/slide" Target="slides/slide31.xml"/><Relationship Id="rId79" Type="http://schemas.openxmlformats.org/officeDocument/2006/relationships/slide" Target="slides/slide52.xml"/><Relationship Id="rId102" Type="http://schemas.openxmlformats.org/officeDocument/2006/relationships/slide" Target="slides/slide75.xml"/><Relationship Id="rId123" Type="http://schemas.openxmlformats.org/officeDocument/2006/relationships/slide" Target="slides/slide96.xml"/><Relationship Id="rId144" Type="http://schemas.openxmlformats.org/officeDocument/2006/relationships/slide" Target="slides/slide117.xml"/><Relationship Id="rId90" Type="http://schemas.openxmlformats.org/officeDocument/2006/relationships/slide" Target="slides/slide63.xml"/><Relationship Id="rId165" Type="http://schemas.openxmlformats.org/officeDocument/2006/relationships/slide" Target="slides/slide138.xml"/><Relationship Id="rId186" Type="http://schemas.openxmlformats.org/officeDocument/2006/relationships/slide" Target="slides/slide159.xml"/><Relationship Id="rId211" Type="http://schemas.openxmlformats.org/officeDocument/2006/relationships/presProps" Target="presProps.xml"/><Relationship Id="rId27" Type="http://schemas.openxmlformats.org/officeDocument/2006/relationships/slideMaster" Target="slideMasters/slideMaster27.xml"/><Relationship Id="rId48" Type="http://schemas.openxmlformats.org/officeDocument/2006/relationships/slide" Target="slides/slide21.xml"/><Relationship Id="rId69" Type="http://schemas.openxmlformats.org/officeDocument/2006/relationships/slide" Target="slides/slide42.xml"/><Relationship Id="rId113" Type="http://schemas.openxmlformats.org/officeDocument/2006/relationships/slide" Target="slides/slide86.xml"/><Relationship Id="rId134" Type="http://schemas.openxmlformats.org/officeDocument/2006/relationships/slide" Target="slides/slide107.xml"/><Relationship Id="rId80" Type="http://schemas.openxmlformats.org/officeDocument/2006/relationships/slide" Target="slides/slide53.xml"/><Relationship Id="rId155" Type="http://schemas.openxmlformats.org/officeDocument/2006/relationships/slide" Target="slides/slide128.xml"/><Relationship Id="rId176" Type="http://schemas.openxmlformats.org/officeDocument/2006/relationships/slide" Target="slides/slide149.xml"/><Relationship Id="rId197" Type="http://schemas.openxmlformats.org/officeDocument/2006/relationships/slide" Target="slides/slide170.xml"/><Relationship Id="rId201" Type="http://schemas.openxmlformats.org/officeDocument/2006/relationships/slide" Target="slides/slide174.xml"/><Relationship Id="rId17" Type="http://schemas.openxmlformats.org/officeDocument/2006/relationships/slideMaster" Target="slideMasters/slideMaster17.xml"/><Relationship Id="rId38" Type="http://schemas.openxmlformats.org/officeDocument/2006/relationships/slide" Target="slides/slide11.xml"/><Relationship Id="rId59" Type="http://schemas.openxmlformats.org/officeDocument/2006/relationships/slide" Target="slides/slide32.xml"/><Relationship Id="rId103" Type="http://schemas.openxmlformats.org/officeDocument/2006/relationships/slide" Target="slides/slide76.xml"/><Relationship Id="rId124" Type="http://schemas.openxmlformats.org/officeDocument/2006/relationships/slide" Target="slides/slide97.xml"/><Relationship Id="rId70" Type="http://schemas.openxmlformats.org/officeDocument/2006/relationships/slide" Target="slides/slide43.xml"/><Relationship Id="rId91" Type="http://schemas.openxmlformats.org/officeDocument/2006/relationships/slide" Target="slides/slide64.xml"/><Relationship Id="rId145" Type="http://schemas.openxmlformats.org/officeDocument/2006/relationships/slide" Target="slides/slide118.xml"/><Relationship Id="rId166" Type="http://schemas.openxmlformats.org/officeDocument/2006/relationships/slide" Target="slides/slide139.xml"/><Relationship Id="rId187" Type="http://schemas.openxmlformats.org/officeDocument/2006/relationships/slide" Target="slides/slide160.xml"/><Relationship Id="rId1" Type="http://schemas.openxmlformats.org/officeDocument/2006/relationships/slideMaster" Target="slideMasters/slideMaster1.xml"/><Relationship Id="rId212" Type="http://schemas.openxmlformats.org/officeDocument/2006/relationships/viewProps" Target="viewProps.xml"/><Relationship Id="rId28" Type="http://schemas.openxmlformats.org/officeDocument/2006/relationships/slide" Target="slides/slide1.xml"/><Relationship Id="rId49" Type="http://schemas.openxmlformats.org/officeDocument/2006/relationships/slide" Target="slides/slide22.xml"/><Relationship Id="rId114" Type="http://schemas.openxmlformats.org/officeDocument/2006/relationships/slide" Target="slides/slide87.xml"/><Relationship Id="rId60" Type="http://schemas.openxmlformats.org/officeDocument/2006/relationships/slide" Target="slides/slide33.xml"/><Relationship Id="rId81" Type="http://schemas.openxmlformats.org/officeDocument/2006/relationships/slide" Target="slides/slide54.xml"/><Relationship Id="rId135" Type="http://schemas.openxmlformats.org/officeDocument/2006/relationships/slide" Target="slides/slide108.xml"/><Relationship Id="rId156" Type="http://schemas.openxmlformats.org/officeDocument/2006/relationships/slide" Target="slides/slide129.xml"/><Relationship Id="rId177" Type="http://schemas.openxmlformats.org/officeDocument/2006/relationships/slide" Target="slides/slide150.xml"/><Relationship Id="rId198" Type="http://schemas.openxmlformats.org/officeDocument/2006/relationships/slide" Target="slides/slide171.xml"/><Relationship Id="rId202" Type="http://schemas.openxmlformats.org/officeDocument/2006/relationships/slide" Target="slides/slide175.xml"/><Relationship Id="rId18" Type="http://schemas.openxmlformats.org/officeDocument/2006/relationships/slideMaster" Target="slideMasters/slideMaster18.xml"/><Relationship Id="rId39" Type="http://schemas.openxmlformats.org/officeDocument/2006/relationships/slide" Target="slides/slide12.xml"/><Relationship Id="rId50" Type="http://schemas.openxmlformats.org/officeDocument/2006/relationships/slide" Target="slides/slide23.xml"/><Relationship Id="rId104" Type="http://schemas.openxmlformats.org/officeDocument/2006/relationships/slide" Target="slides/slide77.xml"/><Relationship Id="rId125" Type="http://schemas.openxmlformats.org/officeDocument/2006/relationships/slide" Target="slides/slide98.xml"/><Relationship Id="rId146" Type="http://schemas.openxmlformats.org/officeDocument/2006/relationships/slide" Target="slides/slide119.xml"/><Relationship Id="rId167" Type="http://schemas.openxmlformats.org/officeDocument/2006/relationships/slide" Target="slides/slide140.xml"/><Relationship Id="rId188" Type="http://schemas.openxmlformats.org/officeDocument/2006/relationships/slide" Target="slides/slide161.xml"/><Relationship Id="rId71" Type="http://schemas.openxmlformats.org/officeDocument/2006/relationships/slide" Target="slides/slide44.xml"/><Relationship Id="rId92" Type="http://schemas.openxmlformats.org/officeDocument/2006/relationships/slide" Target="slides/slide65.xml"/><Relationship Id="rId213"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xml"/><Relationship Id="rId40" Type="http://schemas.openxmlformats.org/officeDocument/2006/relationships/slide" Target="slides/slide13.xml"/><Relationship Id="rId115" Type="http://schemas.openxmlformats.org/officeDocument/2006/relationships/slide" Target="slides/slide88.xml"/><Relationship Id="rId136" Type="http://schemas.openxmlformats.org/officeDocument/2006/relationships/slide" Target="slides/slide109.xml"/><Relationship Id="rId157" Type="http://schemas.openxmlformats.org/officeDocument/2006/relationships/slide" Target="slides/slide130.xml"/><Relationship Id="rId178" Type="http://schemas.openxmlformats.org/officeDocument/2006/relationships/slide" Target="slides/slide151.xml"/><Relationship Id="rId61" Type="http://schemas.openxmlformats.org/officeDocument/2006/relationships/slide" Target="slides/slide34.xml"/><Relationship Id="rId82" Type="http://schemas.openxmlformats.org/officeDocument/2006/relationships/slide" Target="slides/slide55.xml"/><Relationship Id="rId199" Type="http://schemas.openxmlformats.org/officeDocument/2006/relationships/slide" Target="slides/slide172.xml"/><Relationship Id="rId203" Type="http://schemas.openxmlformats.org/officeDocument/2006/relationships/slide" Target="slides/slide1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邦 肖" userId="38982054f6b45302" providerId="LiveId" clId="{9A653B7E-0A35-4AD6-836A-29BD773B1C26}"/>
    <pc:docChg chg="undo custSel addSld delSld modSld sldOrd delMainMaster">
      <pc:chgData name="邦 肖" userId="38982054f6b45302" providerId="LiveId" clId="{9A653B7E-0A35-4AD6-836A-29BD773B1C26}" dt="2025-11-07T14:56:17.644" v="639" actId="478"/>
      <pc:docMkLst>
        <pc:docMk/>
      </pc:docMkLst>
      <pc:sldChg chg="add del modTransition">
        <pc:chgData name="邦 肖" userId="38982054f6b45302" providerId="LiveId" clId="{9A653B7E-0A35-4AD6-836A-29BD773B1C26}" dt="2025-11-07T14:40:38.578" v="573"/>
        <pc:sldMkLst>
          <pc:docMk/>
          <pc:sldMk cId="0" sldId="260"/>
        </pc:sldMkLst>
      </pc:sldChg>
      <pc:sldChg chg="delSp add mod ord">
        <pc:chgData name="邦 肖" userId="38982054f6b45302" providerId="LiveId" clId="{9A653B7E-0A35-4AD6-836A-29BD773B1C26}" dt="2025-11-07T14:40:30.331" v="572" actId="478"/>
        <pc:sldMkLst>
          <pc:docMk/>
          <pc:sldMk cId="0" sldId="261"/>
        </pc:sldMkLst>
        <pc:spChg chg="del">
          <ac:chgData name="邦 肖" userId="38982054f6b45302" providerId="LiveId" clId="{9A653B7E-0A35-4AD6-836A-29BD773B1C26}" dt="2025-11-07T14:40:30.331" v="572" actId="478"/>
          <ac:spMkLst>
            <pc:docMk/>
            <pc:sldMk cId="0" sldId="261"/>
            <ac:spMk id="2" creationId="{00000000-0000-0000-0000-000000000000}"/>
          </ac:spMkLst>
        </pc:spChg>
      </pc:sldChg>
      <pc:sldChg chg="addSp delSp modSp add del mod setBg">
        <pc:chgData name="邦 肖" userId="38982054f6b45302" providerId="LiveId" clId="{9A653B7E-0A35-4AD6-836A-29BD773B1C26}" dt="2025-11-07T14:50:23.158" v="634" actId="1076"/>
        <pc:sldMkLst>
          <pc:docMk/>
          <pc:sldMk cId="0" sldId="262"/>
        </pc:sldMkLst>
        <pc:spChg chg="add del">
          <ac:chgData name="邦 肖" userId="38982054f6b45302" providerId="LiveId" clId="{9A653B7E-0A35-4AD6-836A-29BD773B1C26}" dt="2025-11-07T14:48:42.801" v="619" actId="478"/>
          <ac:spMkLst>
            <pc:docMk/>
            <pc:sldMk cId="0" sldId="262"/>
            <ac:spMk id="3" creationId="{00000000-0000-0000-0000-000000000000}"/>
          </ac:spMkLst>
        </pc:spChg>
        <pc:spChg chg="mod ord">
          <ac:chgData name="邦 肖" userId="38982054f6b45302" providerId="LiveId" clId="{9A653B7E-0A35-4AD6-836A-29BD773B1C26}" dt="2025-11-07T14:50:23.158" v="634" actId="1076"/>
          <ac:spMkLst>
            <pc:docMk/>
            <pc:sldMk cId="0" sldId="262"/>
            <ac:spMk id="4" creationId="{00000000-0000-0000-0000-000000000000}"/>
          </ac:spMkLst>
        </pc:spChg>
        <pc:spChg chg="mod">
          <ac:chgData name="邦 肖" userId="38982054f6b45302" providerId="LiveId" clId="{9A653B7E-0A35-4AD6-836A-29BD773B1C26}" dt="2025-11-07T14:49:38.336" v="627" actId="1076"/>
          <ac:spMkLst>
            <pc:docMk/>
            <pc:sldMk cId="0" sldId="262"/>
            <ac:spMk id="5" creationId="{00000000-0000-0000-0000-000000000000}"/>
          </ac:spMkLst>
        </pc:spChg>
        <pc:spChg chg="mod">
          <ac:chgData name="邦 肖" userId="38982054f6b45302" providerId="LiveId" clId="{9A653B7E-0A35-4AD6-836A-29BD773B1C26}" dt="2025-11-07T14:49:38.336" v="627" actId="1076"/>
          <ac:spMkLst>
            <pc:docMk/>
            <pc:sldMk cId="0" sldId="262"/>
            <ac:spMk id="10" creationId="{00000000-0000-0000-0000-000000000000}"/>
          </ac:spMkLst>
        </pc:spChg>
        <pc:spChg chg="mod">
          <ac:chgData name="邦 肖" userId="38982054f6b45302" providerId="LiveId" clId="{9A653B7E-0A35-4AD6-836A-29BD773B1C26}" dt="2025-11-07T14:49:38.336" v="627" actId="1076"/>
          <ac:spMkLst>
            <pc:docMk/>
            <pc:sldMk cId="0" sldId="262"/>
            <ac:spMk id="11" creationId="{00000000-0000-0000-0000-000000000000}"/>
          </ac:spMkLst>
        </pc:spChg>
        <pc:spChg chg="mod">
          <ac:chgData name="邦 肖" userId="38982054f6b45302" providerId="LiveId" clId="{9A653B7E-0A35-4AD6-836A-29BD773B1C26}" dt="2025-11-07T14:49:38.336" v="627" actId="1076"/>
          <ac:spMkLst>
            <pc:docMk/>
            <pc:sldMk cId="0" sldId="262"/>
            <ac:spMk id="12" creationId="{00000000-0000-0000-0000-000000000000}"/>
          </ac:spMkLst>
        </pc:spChg>
        <pc:spChg chg="mod">
          <ac:chgData name="邦 肖" userId="38982054f6b45302" providerId="LiveId" clId="{9A653B7E-0A35-4AD6-836A-29BD773B1C26}" dt="2025-11-07T14:49:38.336" v="627" actId="1076"/>
          <ac:spMkLst>
            <pc:docMk/>
            <pc:sldMk cId="0" sldId="262"/>
            <ac:spMk id="13" creationId="{00000000-0000-0000-0000-000000000000}"/>
          </ac:spMkLst>
        </pc:spChg>
        <pc:spChg chg="mod">
          <ac:chgData name="邦 肖" userId="38982054f6b45302" providerId="LiveId" clId="{9A653B7E-0A35-4AD6-836A-29BD773B1C26}" dt="2025-11-07T14:49:38.336" v="627" actId="1076"/>
          <ac:spMkLst>
            <pc:docMk/>
            <pc:sldMk cId="0" sldId="262"/>
            <ac:spMk id="17" creationId="{00000000-0000-0000-0000-000000000000}"/>
          </ac:spMkLst>
        </pc:spChg>
        <pc:spChg chg="mod">
          <ac:chgData name="邦 肖" userId="38982054f6b45302" providerId="LiveId" clId="{9A653B7E-0A35-4AD6-836A-29BD773B1C26}" dt="2025-11-07T14:49:38.336" v="627" actId="1076"/>
          <ac:spMkLst>
            <pc:docMk/>
            <pc:sldMk cId="0" sldId="262"/>
            <ac:spMk id="18" creationId="{00000000-0000-0000-0000-000000000000}"/>
          </ac:spMkLst>
        </pc:spChg>
        <pc:spChg chg="mod">
          <ac:chgData name="邦 肖" userId="38982054f6b45302" providerId="LiveId" clId="{9A653B7E-0A35-4AD6-836A-29BD773B1C26}" dt="2025-11-07T14:49:38.336" v="627" actId="1076"/>
          <ac:spMkLst>
            <pc:docMk/>
            <pc:sldMk cId="0" sldId="262"/>
            <ac:spMk id="19" creationId="{00000000-0000-0000-0000-000000000000}"/>
          </ac:spMkLst>
        </pc:spChg>
        <pc:spChg chg="mod">
          <ac:chgData name="邦 肖" userId="38982054f6b45302" providerId="LiveId" clId="{9A653B7E-0A35-4AD6-836A-29BD773B1C26}" dt="2025-11-07T14:49:38.336" v="627" actId="1076"/>
          <ac:spMkLst>
            <pc:docMk/>
            <pc:sldMk cId="0" sldId="262"/>
            <ac:spMk id="20" creationId="{00000000-0000-0000-0000-000000000000}"/>
          </ac:spMkLst>
        </pc:spChg>
        <pc:spChg chg="mod">
          <ac:chgData name="邦 肖" userId="38982054f6b45302" providerId="LiveId" clId="{9A653B7E-0A35-4AD6-836A-29BD773B1C26}" dt="2025-11-07T14:49:38.336" v="627" actId="1076"/>
          <ac:spMkLst>
            <pc:docMk/>
            <pc:sldMk cId="0" sldId="262"/>
            <ac:spMk id="21" creationId="{00000000-0000-0000-0000-000000000000}"/>
          </ac:spMkLst>
        </pc:spChg>
        <pc:spChg chg="add mod">
          <ac:chgData name="邦 肖" userId="38982054f6b45302" providerId="LiveId" clId="{9A653B7E-0A35-4AD6-836A-29BD773B1C26}" dt="2025-11-07T14:49:59.325" v="630" actId="207"/>
          <ac:spMkLst>
            <pc:docMk/>
            <pc:sldMk cId="0" sldId="262"/>
            <ac:spMk id="22" creationId="{9E9F7B6F-E64D-07AC-9135-F41D5F71A207}"/>
          </ac:spMkLst>
        </pc:spChg>
      </pc:sldChg>
      <pc:sldChg chg="delSp modSp add del mod modTransition">
        <pc:chgData name="邦 肖" userId="38982054f6b45302" providerId="LiveId" clId="{9A653B7E-0A35-4AD6-836A-29BD773B1C26}" dt="2025-11-07T14:50:30.148" v="635" actId="113"/>
        <pc:sldMkLst>
          <pc:docMk/>
          <pc:sldMk cId="0" sldId="264"/>
        </pc:sldMkLst>
        <pc:spChg chg="del mod">
          <ac:chgData name="邦 肖" userId="38982054f6b45302" providerId="LiveId" clId="{9A653B7E-0A35-4AD6-836A-29BD773B1C26}" dt="2025-11-07T14:48:35.946" v="617" actId="478"/>
          <ac:spMkLst>
            <pc:docMk/>
            <pc:sldMk cId="0" sldId="264"/>
            <ac:spMk id="2" creationId="{00000000-0000-0000-0000-000000000000}"/>
          </ac:spMkLst>
        </pc:spChg>
        <pc:spChg chg="mod">
          <ac:chgData name="邦 肖" userId="38982054f6b45302" providerId="LiveId" clId="{9A653B7E-0A35-4AD6-836A-29BD773B1C26}" dt="2025-11-07T14:50:30.148" v="635" actId="113"/>
          <ac:spMkLst>
            <pc:docMk/>
            <pc:sldMk cId="0" sldId="264"/>
            <ac:spMk id="16" creationId="{00000000-0000-0000-0000-000000000000}"/>
          </ac:spMkLst>
        </pc:spChg>
      </pc:sldChg>
      <pc:sldChg chg="modSp mod">
        <pc:chgData name="邦 肖" userId="38982054f6b45302" providerId="LiveId" clId="{9A653B7E-0A35-4AD6-836A-29BD773B1C26}" dt="2025-11-07T14:17:37.827" v="522" actId="1076"/>
        <pc:sldMkLst>
          <pc:docMk/>
          <pc:sldMk cId="0" sldId="465"/>
        </pc:sldMkLst>
        <pc:picChg chg="mod">
          <ac:chgData name="邦 肖" userId="38982054f6b45302" providerId="LiveId" clId="{9A653B7E-0A35-4AD6-836A-29BD773B1C26}" dt="2025-11-07T14:17:37.827" v="522" actId="1076"/>
          <ac:picMkLst>
            <pc:docMk/>
            <pc:sldMk cId="0" sldId="465"/>
            <ac:picMk id="4" creationId="{00000000-0000-0000-0000-000000000000}"/>
          </ac:picMkLst>
        </pc:picChg>
      </pc:sldChg>
      <pc:sldChg chg="addSp modSp mod modAnim">
        <pc:chgData name="邦 肖" userId="38982054f6b45302" providerId="LiveId" clId="{9A653B7E-0A35-4AD6-836A-29BD773B1C26}" dt="2025-11-07T14:37:50.054" v="566"/>
        <pc:sldMkLst>
          <pc:docMk/>
          <pc:sldMk cId="0" sldId="474"/>
        </pc:sldMkLst>
        <pc:spChg chg="add mod">
          <ac:chgData name="邦 肖" userId="38982054f6b45302" providerId="LiveId" clId="{9A653B7E-0A35-4AD6-836A-29BD773B1C26}" dt="2025-11-07T14:34:38.388" v="558"/>
          <ac:spMkLst>
            <pc:docMk/>
            <pc:sldMk cId="0" sldId="474"/>
            <ac:spMk id="4" creationId="{BED2DE7B-CBDA-B5D2-6CA1-FE6CA9AB6212}"/>
          </ac:spMkLst>
        </pc:spChg>
        <pc:spChg chg="add mod">
          <ac:chgData name="邦 肖" userId="38982054f6b45302" providerId="LiveId" clId="{9A653B7E-0A35-4AD6-836A-29BD773B1C26}" dt="2025-11-07T14:34:38.388" v="558"/>
          <ac:spMkLst>
            <pc:docMk/>
            <pc:sldMk cId="0" sldId="474"/>
            <ac:spMk id="6" creationId="{6C020F37-A374-E602-F385-5201B7F3D3A4}"/>
          </ac:spMkLst>
        </pc:spChg>
        <pc:spChg chg="add mod">
          <ac:chgData name="邦 肖" userId="38982054f6b45302" providerId="LiveId" clId="{9A653B7E-0A35-4AD6-836A-29BD773B1C26}" dt="2025-11-07T14:34:38.388" v="558"/>
          <ac:spMkLst>
            <pc:docMk/>
            <pc:sldMk cId="0" sldId="474"/>
            <ac:spMk id="7" creationId="{EFAE018C-4C41-4559-E86D-202EFA9D34EE}"/>
          </ac:spMkLst>
        </pc:spChg>
        <pc:spChg chg="add mod">
          <ac:chgData name="邦 肖" userId="38982054f6b45302" providerId="LiveId" clId="{9A653B7E-0A35-4AD6-836A-29BD773B1C26}" dt="2025-11-07T14:34:38.388" v="558"/>
          <ac:spMkLst>
            <pc:docMk/>
            <pc:sldMk cId="0" sldId="474"/>
            <ac:spMk id="8" creationId="{6CFE3E7A-47F1-9E33-2449-917C1F376563}"/>
          </ac:spMkLst>
        </pc:spChg>
        <pc:spChg chg="add mod">
          <ac:chgData name="邦 肖" userId="38982054f6b45302" providerId="LiveId" clId="{9A653B7E-0A35-4AD6-836A-29BD773B1C26}" dt="2025-11-07T14:34:38.388" v="558"/>
          <ac:spMkLst>
            <pc:docMk/>
            <pc:sldMk cId="0" sldId="474"/>
            <ac:spMk id="9" creationId="{6B506C91-7380-20D1-50F6-87FBE8A72456}"/>
          </ac:spMkLst>
        </pc:spChg>
        <pc:spChg chg="add mod">
          <ac:chgData name="邦 肖" userId="38982054f6b45302" providerId="LiveId" clId="{9A653B7E-0A35-4AD6-836A-29BD773B1C26}" dt="2025-11-07T14:34:38.388" v="558"/>
          <ac:spMkLst>
            <pc:docMk/>
            <pc:sldMk cId="0" sldId="474"/>
            <ac:spMk id="11" creationId="{1897475B-7282-5F1A-3254-37575793F1C6}"/>
          </ac:spMkLst>
        </pc:spChg>
        <pc:spChg chg="mod">
          <ac:chgData name="邦 肖" userId="38982054f6b45302" providerId="LiveId" clId="{9A653B7E-0A35-4AD6-836A-29BD773B1C26}" dt="2025-11-07T14:34:56.144" v="559"/>
          <ac:spMkLst>
            <pc:docMk/>
            <pc:sldMk cId="0" sldId="474"/>
            <ac:spMk id="15" creationId="{D74A3C1D-81E9-95F0-BF7B-80768C20307A}"/>
          </ac:spMkLst>
        </pc:spChg>
        <pc:spChg chg="mod">
          <ac:chgData name="邦 肖" userId="38982054f6b45302" providerId="LiveId" clId="{9A653B7E-0A35-4AD6-836A-29BD773B1C26}" dt="2025-11-07T14:34:56.144" v="559"/>
          <ac:spMkLst>
            <pc:docMk/>
            <pc:sldMk cId="0" sldId="474"/>
            <ac:spMk id="16" creationId="{27C0C77A-90A3-87F9-AB2A-C5B2907B41BF}"/>
          </ac:spMkLst>
        </pc:spChg>
        <pc:spChg chg="mod">
          <ac:chgData name="邦 肖" userId="38982054f6b45302" providerId="LiveId" clId="{9A653B7E-0A35-4AD6-836A-29BD773B1C26}" dt="2025-11-07T14:34:56.144" v="559"/>
          <ac:spMkLst>
            <pc:docMk/>
            <pc:sldMk cId="0" sldId="474"/>
            <ac:spMk id="17" creationId="{BA7FA903-B1C7-A94F-C84C-41FDA2EC4ABC}"/>
          </ac:spMkLst>
        </pc:spChg>
        <pc:spChg chg="mod">
          <ac:chgData name="邦 肖" userId="38982054f6b45302" providerId="LiveId" clId="{9A653B7E-0A35-4AD6-836A-29BD773B1C26}" dt="2025-11-07T14:34:56.144" v="559"/>
          <ac:spMkLst>
            <pc:docMk/>
            <pc:sldMk cId="0" sldId="474"/>
            <ac:spMk id="18" creationId="{08FA41D1-10CC-8D3C-D36B-284C922A94D7}"/>
          </ac:spMkLst>
        </pc:spChg>
        <pc:spChg chg="add mod">
          <ac:chgData name="邦 肖" userId="38982054f6b45302" providerId="LiveId" clId="{9A653B7E-0A35-4AD6-836A-29BD773B1C26}" dt="2025-11-07T14:37:20.143" v="562" actId="1076"/>
          <ac:spMkLst>
            <pc:docMk/>
            <pc:sldMk cId="0" sldId="474"/>
            <ac:spMk id="19" creationId="{121049D8-6D77-5A13-9449-79B02673A93E}"/>
          </ac:spMkLst>
        </pc:spChg>
        <pc:grpChg chg="add mod">
          <ac:chgData name="邦 肖" userId="38982054f6b45302" providerId="LiveId" clId="{9A653B7E-0A35-4AD6-836A-29BD773B1C26}" dt="2025-11-07T14:34:38.388" v="558"/>
          <ac:grpSpMkLst>
            <pc:docMk/>
            <pc:sldMk cId="0" sldId="474"/>
            <ac:grpSpMk id="2" creationId="{DDC879D0-C381-CB6A-2699-573F587D0B98}"/>
          </ac:grpSpMkLst>
        </pc:grpChg>
        <pc:grpChg chg="add mod">
          <ac:chgData name="邦 肖" userId="38982054f6b45302" providerId="LiveId" clId="{9A653B7E-0A35-4AD6-836A-29BD773B1C26}" dt="2025-11-07T14:34:38.388" v="558"/>
          <ac:grpSpMkLst>
            <pc:docMk/>
            <pc:sldMk cId="0" sldId="474"/>
            <ac:grpSpMk id="3" creationId="{8F075052-0EB1-5721-750A-5E0E989579D1}"/>
          </ac:grpSpMkLst>
        </pc:grpChg>
        <pc:grpChg chg="add mod">
          <ac:chgData name="邦 肖" userId="38982054f6b45302" providerId="LiveId" clId="{9A653B7E-0A35-4AD6-836A-29BD773B1C26}" dt="2025-11-07T14:37:27.366" v="564" actId="1076"/>
          <ac:grpSpMkLst>
            <pc:docMk/>
            <pc:sldMk cId="0" sldId="474"/>
            <ac:grpSpMk id="13" creationId="{C1C43030-95C5-C315-FC5B-08122CB5289F}"/>
          </ac:grpSpMkLst>
        </pc:grpChg>
        <pc:picChg chg="add mod">
          <ac:chgData name="邦 肖" userId="38982054f6b45302" providerId="LiveId" clId="{9A653B7E-0A35-4AD6-836A-29BD773B1C26}" dt="2025-11-07T14:34:38.388" v="558"/>
          <ac:picMkLst>
            <pc:docMk/>
            <pc:sldMk cId="0" sldId="474"/>
            <ac:picMk id="5" creationId="{F594406D-9768-9154-3070-894372362C85}"/>
          </ac:picMkLst>
        </pc:picChg>
        <pc:picChg chg="add mod">
          <ac:chgData name="邦 肖" userId="38982054f6b45302" providerId="LiveId" clId="{9A653B7E-0A35-4AD6-836A-29BD773B1C26}" dt="2025-11-07T14:34:38.388" v="558"/>
          <ac:picMkLst>
            <pc:docMk/>
            <pc:sldMk cId="0" sldId="474"/>
            <ac:picMk id="10" creationId="{A43E25CB-7A21-9507-6EA5-42172D41C019}"/>
          </ac:picMkLst>
        </pc:picChg>
        <pc:picChg chg="add mod">
          <ac:chgData name="邦 肖" userId="38982054f6b45302" providerId="LiveId" clId="{9A653B7E-0A35-4AD6-836A-29BD773B1C26}" dt="2025-11-07T14:37:32.582" v="565" actId="1076"/>
          <ac:picMkLst>
            <pc:docMk/>
            <pc:sldMk cId="0" sldId="474"/>
            <ac:picMk id="12" creationId="{7385D080-B097-6264-1FBE-737CDA872856}"/>
          </ac:picMkLst>
        </pc:picChg>
        <pc:picChg chg="mod">
          <ac:chgData name="邦 肖" userId="38982054f6b45302" providerId="LiveId" clId="{9A653B7E-0A35-4AD6-836A-29BD773B1C26}" dt="2025-11-07T14:34:56.144" v="559"/>
          <ac:picMkLst>
            <pc:docMk/>
            <pc:sldMk cId="0" sldId="474"/>
            <ac:picMk id="14" creationId="{A0097676-5AAD-E2D1-2A45-4E30FF3B57F4}"/>
          </ac:picMkLst>
        </pc:picChg>
        <pc:picChg chg="mod">
          <ac:chgData name="邦 肖" userId="38982054f6b45302" providerId="LiveId" clId="{9A653B7E-0A35-4AD6-836A-29BD773B1C26}" dt="2025-11-07T14:37:11.505" v="561" actId="1076"/>
          <ac:picMkLst>
            <pc:docMk/>
            <pc:sldMk cId="0" sldId="474"/>
            <ac:picMk id="243718" creationId="{00000000-0000-0000-0000-000000000000}"/>
          </ac:picMkLst>
        </pc:picChg>
      </pc:sldChg>
      <pc:sldChg chg="modSp mod">
        <pc:chgData name="邦 肖" userId="38982054f6b45302" providerId="LiveId" clId="{9A653B7E-0A35-4AD6-836A-29BD773B1C26}" dt="2025-11-07T14:46:11.933" v="579" actId="1076"/>
        <pc:sldMkLst>
          <pc:docMk/>
          <pc:sldMk cId="0" sldId="488"/>
        </pc:sldMkLst>
        <pc:picChg chg="mod">
          <ac:chgData name="邦 肖" userId="38982054f6b45302" providerId="LiveId" clId="{9A653B7E-0A35-4AD6-836A-29BD773B1C26}" dt="2025-11-07T14:46:11.933" v="579" actId="1076"/>
          <ac:picMkLst>
            <pc:docMk/>
            <pc:sldMk cId="0" sldId="488"/>
            <ac:picMk id="258054" creationId="{00000000-0000-0000-0000-000000000000}"/>
          </ac:picMkLst>
        </pc:picChg>
      </pc:sldChg>
      <pc:sldChg chg="delSp modSp mod delAnim">
        <pc:chgData name="邦 肖" userId="38982054f6b45302" providerId="LiveId" clId="{9A653B7E-0A35-4AD6-836A-29BD773B1C26}" dt="2025-11-07T14:52:43.966" v="637" actId="478"/>
        <pc:sldMkLst>
          <pc:docMk/>
          <pc:sldMk cId="0" sldId="495"/>
        </pc:sldMkLst>
        <pc:picChg chg="del mod">
          <ac:chgData name="邦 肖" userId="38982054f6b45302" providerId="LiveId" clId="{9A653B7E-0A35-4AD6-836A-29BD773B1C26}" dt="2025-11-07T14:52:43.966" v="637" actId="478"/>
          <ac:picMkLst>
            <pc:docMk/>
            <pc:sldMk cId="0" sldId="495"/>
            <ac:picMk id="265224" creationId="{00000000-0000-0000-0000-000000000000}"/>
          </ac:picMkLst>
        </pc:picChg>
      </pc:sldChg>
      <pc:sldChg chg="addSp delSp modSp mod">
        <pc:chgData name="邦 肖" userId="38982054f6b45302" providerId="LiveId" clId="{9A653B7E-0A35-4AD6-836A-29BD773B1C26}" dt="2025-11-07T11:55:35.731" v="82" actId="20577"/>
        <pc:sldMkLst>
          <pc:docMk/>
          <pc:sldMk cId="0" sldId="1096"/>
        </pc:sldMkLst>
        <pc:spChg chg="add del mod">
          <ac:chgData name="邦 肖" userId="38982054f6b45302" providerId="LiveId" clId="{9A653B7E-0A35-4AD6-836A-29BD773B1C26}" dt="2025-11-07T11:34:01.474" v="7" actId="478"/>
          <ac:spMkLst>
            <pc:docMk/>
            <pc:sldMk cId="0" sldId="1096"/>
            <ac:spMk id="4" creationId="{C15A53D6-4304-02EE-F962-6F2AD6ED38C6}"/>
          </ac:spMkLst>
        </pc:spChg>
        <pc:graphicFrameChg chg="add del mod modGraphic">
          <ac:chgData name="邦 肖" userId="38982054f6b45302" providerId="LiveId" clId="{9A653B7E-0A35-4AD6-836A-29BD773B1C26}" dt="2025-11-07T11:55:35.731" v="82" actId="20577"/>
          <ac:graphicFrameMkLst>
            <pc:docMk/>
            <pc:sldMk cId="0" sldId="1096"/>
            <ac:graphicFrameMk id="2" creationId="{9A2DF1CF-9594-9C3C-80AA-D259C3FA391E}"/>
          </ac:graphicFrameMkLst>
        </pc:graphicFrameChg>
        <pc:picChg chg="del mod">
          <ac:chgData name="邦 肖" userId="38982054f6b45302" providerId="LiveId" clId="{9A653B7E-0A35-4AD6-836A-29BD773B1C26}" dt="2025-11-07T11:33:53.266" v="5" actId="478"/>
          <ac:picMkLst>
            <pc:docMk/>
            <pc:sldMk cId="0" sldId="1096"/>
            <ac:picMk id="398338" creationId="{00000000-0000-0000-0000-000000000000}"/>
          </ac:picMkLst>
        </pc:picChg>
      </pc:sldChg>
      <pc:sldChg chg="addSp delSp modSp mod">
        <pc:chgData name="邦 肖" userId="38982054f6b45302" providerId="LiveId" clId="{9A653B7E-0A35-4AD6-836A-29BD773B1C26}" dt="2025-11-07T12:04:59.734" v="87" actId="27614"/>
        <pc:sldMkLst>
          <pc:docMk/>
          <pc:sldMk cId="0" sldId="1097"/>
        </pc:sldMkLst>
        <pc:spChg chg="add del mod">
          <ac:chgData name="邦 肖" userId="38982054f6b45302" providerId="LiveId" clId="{9A653B7E-0A35-4AD6-836A-29BD773B1C26}" dt="2025-11-07T12:02:57.855" v="84" actId="478"/>
          <ac:spMkLst>
            <pc:docMk/>
            <pc:sldMk cId="0" sldId="1097"/>
            <ac:spMk id="3" creationId="{42D64053-0D67-DC18-D413-1FB3CA4B6226}"/>
          </ac:spMkLst>
        </pc:spChg>
        <pc:spChg chg="del">
          <ac:chgData name="邦 肖" userId="38982054f6b45302" providerId="LiveId" clId="{9A653B7E-0A35-4AD6-836A-29BD773B1C26}" dt="2025-11-07T12:02:57.855" v="84" actId="478"/>
          <ac:spMkLst>
            <pc:docMk/>
            <pc:sldMk cId="0" sldId="1097"/>
            <ac:spMk id="399361" creationId="{00000000-0000-0000-0000-000000000000}"/>
          </ac:spMkLst>
        </pc:spChg>
        <pc:picChg chg="add mod">
          <ac:chgData name="邦 肖" userId="38982054f6b45302" providerId="LiveId" clId="{9A653B7E-0A35-4AD6-836A-29BD773B1C26}" dt="2025-11-07T12:04:59.734" v="87" actId="27614"/>
          <ac:picMkLst>
            <pc:docMk/>
            <pc:sldMk cId="0" sldId="1097"/>
            <ac:picMk id="5" creationId="{015CB241-648D-5220-730C-C7569435E99E}"/>
          </ac:picMkLst>
        </pc:picChg>
        <pc:picChg chg="del">
          <ac:chgData name="邦 肖" userId="38982054f6b45302" providerId="LiveId" clId="{9A653B7E-0A35-4AD6-836A-29BD773B1C26}" dt="2025-11-07T12:02:51.835" v="83" actId="478"/>
          <ac:picMkLst>
            <pc:docMk/>
            <pc:sldMk cId="0" sldId="1097"/>
            <ac:picMk id="399362" creationId="{00000000-0000-0000-0000-000000000000}"/>
          </ac:picMkLst>
        </pc:picChg>
      </pc:sldChg>
      <pc:sldChg chg="addSp delSp modSp mod">
        <pc:chgData name="邦 肖" userId="38982054f6b45302" providerId="LiveId" clId="{9A653B7E-0A35-4AD6-836A-29BD773B1C26}" dt="2025-11-07T12:05:10.041" v="91" actId="962"/>
        <pc:sldMkLst>
          <pc:docMk/>
          <pc:sldMk cId="0" sldId="1098"/>
        </pc:sldMkLst>
        <pc:spChg chg="add del mod">
          <ac:chgData name="邦 肖" userId="38982054f6b45302" providerId="LiveId" clId="{9A653B7E-0A35-4AD6-836A-29BD773B1C26}" dt="2025-11-07T12:05:02.153" v="88" actId="478"/>
          <ac:spMkLst>
            <pc:docMk/>
            <pc:sldMk cId="0" sldId="1098"/>
            <ac:spMk id="3" creationId="{C5672191-17C5-8F0F-7AD7-5CC0AACDEF12}"/>
          </ac:spMkLst>
        </pc:spChg>
        <pc:spChg chg="del">
          <ac:chgData name="邦 肖" userId="38982054f6b45302" providerId="LiveId" clId="{9A653B7E-0A35-4AD6-836A-29BD773B1C26}" dt="2025-11-07T12:05:02.153" v="88" actId="478"/>
          <ac:spMkLst>
            <pc:docMk/>
            <pc:sldMk cId="0" sldId="1098"/>
            <ac:spMk id="400385" creationId="{00000000-0000-0000-0000-000000000000}"/>
          </ac:spMkLst>
        </pc:spChg>
        <pc:picChg chg="add mod">
          <ac:chgData name="邦 肖" userId="38982054f6b45302" providerId="LiveId" clId="{9A653B7E-0A35-4AD6-836A-29BD773B1C26}" dt="2025-11-07T12:05:10.041" v="91" actId="962"/>
          <ac:picMkLst>
            <pc:docMk/>
            <pc:sldMk cId="0" sldId="1098"/>
            <ac:picMk id="5" creationId="{598DF29F-92A6-14D8-189A-293156D53768}"/>
          </ac:picMkLst>
        </pc:picChg>
        <pc:picChg chg="del">
          <ac:chgData name="邦 肖" userId="38982054f6b45302" providerId="LiveId" clId="{9A653B7E-0A35-4AD6-836A-29BD773B1C26}" dt="2025-11-07T12:04:59.641" v="86" actId="478"/>
          <ac:picMkLst>
            <pc:docMk/>
            <pc:sldMk cId="0" sldId="1098"/>
            <ac:picMk id="400386" creationId="{00000000-0000-0000-0000-000000000000}"/>
          </ac:picMkLst>
        </pc:picChg>
      </pc:sldChg>
      <pc:sldChg chg="addSp delSp modSp mod">
        <pc:chgData name="邦 肖" userId="38982054f6b45302" providerId="LiveId" clId="{9A653B7E-0A35-4AD6-836A-29BD773B1C26}" dt="2025-11-07T13:41:18.806" v="497" actId="207"/>
        <pc:sldMkLst>
          <pc:docMk/>
          <pc:sldMk cId="0" sldId="1100"/>
        </pc:sldMkLst>
        <pc:spChg chg="add del mod">
          <ac:chgData name="邦 肖" userId="38982054f6b45302" providerId="LiveId" clId="{9A653B7E-0A35-4AD6-836A-29BD773B1C26}" dt="2025-11-07T12:09:51.852" v="102" actId="478"/>
          <ac:spMkLst>
            <pc:docMk/>
            <pc:sldMk cId="0" sldId="1100"/>
            <ac:spMk id="3" creationId="{223D685D-330E-52D1-14B2-806EDDA28D96}"/>
          </ac:spMkLst>
        </pc:spChg>
        <pc:spChg chg="mod">
          <ac:chgData name="邦 肖" userId="38982054f6b45302" providerId="LiveId" clId="{9A653B7E-0A35-4AD6-836A-29BD773B1C26}" dt="2025-11-07T13:41:18.806" v="497" actId="207"/>
          <ac:spMkLst>
            <pc:docMk/>
            <pc:sldMk cId="0" sldId="1100"/>
            <ac:spMk id="402433" creationId="{00000000-0000-0000-0000-000000000000}"/>
          </ac:spMkLst>
        </pc:spChg>
        <pc:picChg chg="add mod">
          <ac:chgData name="邦 肖" userId="38982054f6b45302" providerId="LiveId" clId="{9A653B7E-0A35-4AD6-836A-29BD773B1C26}" dt="2025-11-07T12:10:01.702" v="107" actId="1076"/>
          <ac:picMkLst>
            <pc:docMk/>
            <pc:sldMk cId="0" sldId="1100"/>
            <ac:picMk id="5" creationId="{6480800E-4A30-AE4C-6A10-C1B57408DD06}"/>
          </ac:picMkLst>
        </pc:picChg>
        <pc:picChg chg="del mod">
          <ac:chgData name="邦 肖" userId="38982054f6b45302" providerId="LiveId" clId="{9A653B7E-0A35-4AD6-836A-29BD773B1C26}" dt="2025-11-07T12:09:48.898" v="101" actId="478"/>
          <ac:picMkLst>
            <pc:docMk/>
            <pc:sldMk cId="0" sldId="1100"/>
            <ac:picMk id="402434" creationId="{00000000-0000-0000-0000-000000000000}"/>
          </ac:picMkLst>
        </pc:picChg>
      </pc:sldChg>
      <pc:sldChg chg="addSp delSp modSp mod">
        <pc:chgData name="邦 肖" userId="38982054f6b45302" providerId="LiveId" clId="{9A653B7E-0A35-4AD6-836A-29BD773B1C26}" dt="2025-11-07T13:36:07.701" v="495" actId="1076"/>
        <pc:sldMkLst>
          <pc:docMk/>
          <pc:sldMk cId="0" sldId="1109"/>
        </pc:sldMkLst>
        <pc:spChg chg="add mod">
          <ac:chgData name="邦 肖" userId="38982054f6b45302" providerId="LiveId" clId="{9A653B7E-0A35-4AD6-836A-29BD773B1C26}" dt="2025-11-07T12:28:59.513" v="212" actId="1076"/>
          <ac:spMkLst>
            <pc:docMk/>
            <pc:sldMk cId="0" sldId="1109"/>
            <ac:spMk id="2" creationId="{B8AE2231-A06C-C3FE-70AA-8668A5185546}"/>
          </ac:spMkLst>
        </pc:spChg>
        <pc:spChg chg="add del mod">
          <ac:chgData name="邦 肖" userId="38982054f6b45302" providerId="LiveId" clId="{9A653B7E-0A35-4AD6-836A-29BD773B1C26}" dt="2025-11-07T12:28:51.107" v="209" actId="478"/>
          <ac:spMkLst>
            <pc:docMk/>
            <pc:sldMk cId="0" sldId="1109"/>
            <ac:spMk id="4" creationId="{46D244C8-04AF-4F03-7209-06ECE80310A6}"/>
          </ac:spMkLst>
        </pc:spChg>
        <pc:spChg chg="add del mod">
          <ac:chgData name="邦 肖" userId="38982054f6b45302" providerId="LiveId" clId="{9A653B7E-0A35-4AD6-836A-29BD773B1C26}" dt="2025-11-07T13:35:39.189" v="486" actId="478"/>
          <ac:spMkLst>
            <pc:docMk/>
            <pc:sldMk cId="0" sldId="1109"/>
            <ac:spMk id="8" creationId="{46A1CFC0-9434-F3E7-ADAF-9E3209091FB7}"/>
          </ac:spMkLst>
        </pc:spChg>
        <pc:spChg chg="add del mod">
          <ac:chgData name="邦 肖" userId="38982054f6b45302" providerId="LiveId" clId="{9A653B7E-0A35-4AD6-836A-29BD773B1C26}" dt="2025-11-07T12:28:51.107" v="209" actId="478"/>
          <ac:spMkLst>
            <pc:docMk/>
            <pc:sldMk cId="0" sldId="1109"/>
            <ac:spMk id="404481" creationId="{00000000-0000-0000-0000-000000000000}"/>
          </ac:spMkLst>
        </pc:spChg>
        <pc:picChg chg="add mod modCrop">
          <ac:chgData name="邦 肖" userId="38982054f6b45302" providerId="LiveId" clId="{9A653B7E-0A35-4AD6-836A-29BD773B1C26}" dt="2025-11-07T13:35:55.997" v="491" actId="1076"/>
          <ac:picMkLst>
            <pc:docMk/>
            <pc:sldMk cId="0" sldId="1109"/>
            <ac:picMk id="5" creationId="{00000000-0000-0000-0000-000000000000}"/>
          </ac:picMkLst>
        </pc:picChg>
        <pc:picChg chg="del mod modCrop">
          <ac:chgData name="邦 肖" userId="38982054f6b45302" providerId="LiveId" clId="{9A653B7E-0A35-4AD6-836A-29BD773B1C26}" dt="2025-11-07T12:28:48.125" v="208" actId="478"/>
          <ac:picMkLst>
            <pc:docMk/>
            <pc:sldMk cId="0" sldId="1109"/>
            <ac:picMk id="404482" creationId="{00000000-0000-0000-0000-000000000000}"/>
          </ac:picMkLst>
        </pc:picChg>
        <pc:picChg chg="add mod">
          <ac:chgData name="邦 肖" userId="38982054f6b45302" providerId="LiveId" clId="{9A653B7E-0A35-4AD6-836A-29BD773B1C26}" dt="2025-11-07T12:17:50.334" v="129"/>
          <ac:picMkLst>
            <pc:docMk/>
            <pc:sldMk cId="0" sldId="1109"/>
            <ac:picMk id="405506" creationId="{00000000-0000-0000-0000-000000000000}"/>
          </ac:picMkLst>
        </pc:picChg>
        <pc:picChg chg="add mod">
          <ac:chgData name="邦 肖" userId="38982054f6b45302" providerId="LiveId" clId="{9A653B7E-0A35-4AD6-836A-29BD773B1C26}" dt="2025-11-07T13:36:07.701" v="495" actId="1076"/>
          <ac:picMkLst>
            <pc:docMk/>
            <pc:sldMk cId="0" sldId="1109"/>
            <ac:picMk id="406530" creationId="{00000000-0000-0000-0000-000000000000}"/>
          </ac:picMkLst>
        </pc:picChg>
        <pc:cxnChg chg="add del">
          <ac:chgData name="邦 肖" userId="38982054f6b45302" providerId="LiveId" clId="{9A653B7E-0A35-4AD6-836A-29BD773B1C26}" dt="2025-11-07T13:24:25.780" v="467" actId="11529"/>
          <ac:cxnSpMkLst>
            <pc:docMk/>
            <pc:sldMk cId="0" sldId="1109"/>
            <ac:cxnSpMk id="7" creationId="{7DAC824B-FF7C-C799-18F0-25781F1281BC}"/>
          </ac:cxnSpMkLst>
        </pc:cxnChg>
      </pc:sldChg>
      <pc:sldChg chg="addSp delSp modSp del mod">
        <pc:chgData name="邦 肖" userId="38982054f6b45302" providerId="LiveId" clId="{9A653B7E-0A35-4AD6-836A-29BD773B1C26}" dt="2025-11-07T12:29:13.831" v="220" actId="47"/>
        <pc:sldMkLst>
          <pc:docMk/>
          <pc:sldMk cId="0" sldId="1110"/>
        </pc:sldMkLst>
        <pc:spChg chg="add del mod">
          <ac:chgData name="邦 肖" userId="38982054f6b45302" providerId="LiveId" clId="{9A653B7E-0A35-4AD6-836A-29BD773B1C26}" dt="2025-11-07T12:17:51.927" v="131" actId="21"/>
          <ac:spMkLst>
            <pc:docMk/>
            <pc:sldMk cId="0" sldId="1110"/>
            <ac:spMk id="3" creationId="{51B0804E-7E50-2B18-FCE0-5D919EDE03E6}"/>
          </ac:spMkLst>
        </pc:spChg>
        <pc:spChg chg="add mod">
          <ac:chgData name="邦 肖" userId="38982054f6b45302" providerId="LiveId" clId="{9A653B7E-0A35-4AD6-836A-29BD773B1C26}" dt="2025-11-07T12:29:04.725" v="213" actId="21"/>
          <ac:spMkLst>
            <pc:docMk/>
            <pc:sldMk cId="0" sldId="1110"/>
            <ac:spMk id="5" creationId="{AD66C0E5-5A37-F92E-52B3-B46830B70779}"/>
          </ac:spMkLst>
        </pc:spChg>
        <pc:picChg chg="add del">
          <ac:chgData name="邦 肖" userId="38982054f6b45302" providerId="LiveId" clId="{9A653B7E-0A35-4AD6-836A-29BD773B1C26}" dt="2025-11-07T12:29:04.725" v="213" actId="21"/>
          <ac:picMkLst>
            <pc:docMk/>
            <pc:sldMk cId="0" sldId="1110"/>
            <ac:picMk id="405506" creationId="{00000000-0000-0000-0000-000000000000}"/>
          </ac:picMkLst>
        </pc:picChg>
      </pc:sldChg>
      <pc:sldChg chg="delSp modSp mod">
        <pc:chgData name="邦 肖" userId="38982054f6b45302" providerId="LiveId" clId="{9A653B7E-0A35-4AD6-836A-29BD773B1C26}" dt="2025-11-07T12:29:21.895" v="223" actId="1076"/>
        <pc:sldMkLst>
          <pc:docMk/>
          <pc:sldMk cId="0" sldId="1111"/>
        </pc:sldMkLst>
        <pc:spChg chg="del">
          <ac:chgData name="邦 肖" userId="38982054f6b45302" providerId="LiveId" clId="{9A653B7E-0A35-4AD6-836A-29BD773B1C26}" dt="2025-11-07T12:29:18.105" v="221" actId="478"/>
          <ac:spMkLst>
            <pc:docMk/>
            <pc:sldMk cId="0" sldId="1111"/>
            <ac:spMk id="407553" creationId="{00000000-0000-0000-0000-000000000000}"/>
          </ac:spMkLst>
        </pc:spChg>
        <pc:picChg chg="mod">
          <ac:chgData name="邦 肖" userId="38982054f6b45302" providerId="LiveId" clId="{9A653B7E-0A35-4AD6-836A-29BD773B1C26}" dt="2025-11-07T12:29:21.895" v="223" actId="1076"/>
          <ac:picMkLst>
            <pc:docMk/>
            <pc:sldMk cId="0" sldId="1111"/>
            <ac:picMk id="407554" creationId="{00000000-0000-0000-0000-000000000000}"/>
          </ac:picMkLst>
        </pc:picChg>
      </pc:sldChg>
      <pc:sldChg chg="addSp delSp modSp mod">
        <pc:chgData name="邦 肖" userId="38982054f6b45302" providerId="LiveId" clId="{9A653B7E-0A35-4AD6-836A-29BD773B1C26}" dt="2025-11-07T12:44:22.979" v="267" actId="207"/>
        <pc:sldMkLst>
          <pc:docMk/>
          <pc:sldMk cId="0" sldId="1113"/>
        </pc:sldMkLst>
        <pc:spChg chg="add mod">
          <ac:chgData name="邦 肖" userId="38982054f6b45302" providerId="LiveId" clId="{9A653B7E-0A35-4AD6-836A-29BD773B1C26}" dt="2025-11-07T12:44:22.979" v="267" actId="207"/>
          <ac:spMkLst>
            <pc:docMk/>
            <pc:sldMk cId="0" sldId="1113"/>
            <ac:spMk id="2" creationId="{E40F4DC1-57E2-B493-FC6C-5EEC59D3A0C1}"/>
          </ac:spMkLst>
        </pc:spChg>
        <pc:spChg chg="add del mod">
          <ac:chgData name="邦 肖" userId="38982054f6b45302" providerId="LiveId" clId="{9A653B7E-0A35-4AD6-836A-29BD773B1C26}" dt="2025-11-07T12:42:53.380" v="244" actId="478"/>
          <ac:spMkLst>
            <pc:docMk/>
            <pc:sldMk cId="0" sldId="1113"/>
            <ac:spMk id="4" creationId="{3FB284D0-2A89-CECB-CA70-5822B81F5523}"/>
          </ac:spMkLst>
        </pc:spChg>
        <pc:spChg chg="del mod topLvl">
          <ac:chgData name="邦 肖" userId="38982054f6b45302" providerId="LiveId" clId="{9A653B7E-0A35-4AD6-836A-29BD773B1C26}" dt="2025-11-07T12:43:19.975" v="250" actId="478"/>
          <ac:spMkLst>
            <pc:docMk/>
            <pc:sldMk cId="0" sldId="1113"/>
            <ac:spMk id="7" creationId="{1052F8BD-C5B7-A876-DC21-EFFA1A7B83E8}"/>
          </ac:spMkLst>
        </pc:spChg>
        <pc:spChg chg="add mod">
          <ac:chgData name="邦 肖" userId="38982054f6b45302" providerId="LiveId" clId="{9A653B7E-0A35-4AD6-836A-29BD773B1C26}" dt="2025-11-07T12:44:01.717" v="265" actId="14100"/>
          <ac:spMkLst>
            <pc:docMk/>
            <pc:sldMk cId="0" sldId="1113"/>
            <ac:spMk id="8" creationId="{9D68A49A-B53B-4D98-9812-C4C1961E0EB9}"/>
          </ac:spMkLst>
        </pc:spChg>
        <pc:spChg chg="del">
          <ac:chgData name="邦 肖" userId="38982054f6b45302" providerId="LiveId" clId="{9A653B7E-0A35-4AD6-836A-29BD773B1C26}" dt="2025-11-07T12:38:49.110" v="224" actId="478"/>
          <ac:spMkLst>
            <pc:docMk/>
            <pc:sldMk cId="0" sldId="1113"/>
            <ac:spMk id="409601" creationId="{00000000-0000-0000-0000-000000000000}"/>
          </ac:spMkLst>
        </pc:spChg>
        <pc:grpChg chg="add del mod">
          <ac:chgData name="邦 肖" userId="38982054f6b45302" providerId="LiveId" clId="{9A653B7E-0A35-4AD6-836A-29BD773B1C26}" dt="2025-11-07T12:43:19.975" v="250" actId="478"/>
          <ac:grpSpMkLst>
            <pc:docMk/>
            <pc:sldMk cId="0" sldId="1113"/>
            <ac:grpSpMk id="5" creationId="{30214ACA-DC38-7DDC-F457-06D04F273BF7}"/>
          </ac:grpSpMkLst>
        </pc:grpChg>
        <pc:picChg chg="mod topLvl">
          <ac:chgData name="邦 肖" userId="38982054f6b45302" providerId="LiveId" clId="{9A653B7E-0A35-4AD6-836A-29BD773B1C26}" dt="2025-11-07T12:43:39.149" v="260" actId="1076"/>
          <ac:picMkLst>
            <pc:docMk/>
            <pc:sldMk cId="0" sldId="1113"/>
            <ac:picMk id="6" creationId="{B94A18D2-CCAA-31C7-B15F-04F8C5EE5C53}"/>
          </ac:picMkLst>
        </pc:picChg>
        <pc:picChg chg="del mod">
          <ac:chgData name="邦 肖" userId="38982054f6b45302" providerId="LiveId" clId="{9A653B7E-0A35-4AD6-836A-29BD773B1C26}" dt="2025-11-07T12:42:48.661" v="243" actId="478"/>
          <ac:picMkLst>
            <pc:docMk/>
            <pc:sldMk cId="0" sldId="1113"/>
            <ac:picMk id="409602" creationId="{00000000-0000-0000-0000-000000000000}"/>
          </ac:picMkLst>
        </pc:picChg>
      </pc:sldChg>
      <pc:sldChg chg="delSp mod">
        <pc:chgData name="邦 肖" userId="38982054f6b45302" providerId="LiveId" clId="{9A653B7E-0A35-4AD6-836A-29BD773B1C26}" dt="2025-11-07T12:47:01.763" v="273" actId="478"/>
        <pc:sldMkLst>
          <pc:docMk/>
          <pc:sldMk cId="0" sldId="1114"/>
        </pc:sldMkLst>
        <pc:spChg chg="del">
          <ac:chgData name="邦 肖" userId="38982054f6b45302" providerId="LiveId" clId="{9A653B7E-0A35-4AD6-836A-29BD773B1C26}" dt="2025-11-07T12:47:01.763" v="273" actId="478"/>
          <ac:spMkLst>
            <pc:docMk/>
            <pc:sldMk cId="0" sldId="1114"/>
            <ac:spMk id="410625" creationId="{00000000-0000-0000-0000-000000000000}"/>
          </ac:spMkLst>
        </pc:spChg>
      </pc:sldChg>
      <pc:sldChg chg="addSp delSp modSp mod">
        <pc:chgData name="邦 肖" userId="38982054f6b45302" providerId="LiveId" clId="{9A653B7E-0A35-4AD6-836A-29BD773B1C26}" dt="2025-11-07T12:45:09.863" v="272" actId="1076"/>
        <pc:sldMkLst>
          <pc:docMk/>
          <pc:sldMk cId="0" sldId="1119"/>
        </pc:sldMkLst>
        <pc:spChg chg="add mod">
          <ac:chgData name="邦 肖" userId="38982054f6b45302" providerId="LiveId" clId="{9A653B7E-0A35-4AD6-836A-29BD773B1C26}" dt="2025-11-07T12:45:09.863" v="272" actId="1076"/>
          <ac:spMkLst>
            <pc:docMk/>
            <pc:sldMk cId="0" sldId="1119"/>
            <ac:spMk id="2" creationId="{A1453674-B5F0-8728-53C2-067A9C0178E5}"/>
          </ac:spMkLst>
        </pc:spChg>
        <pc:spChg chg="del">
          <ac:chgData name="邦 肖" userId="38982054f6b45302" providerId="LiveId" clId="{9A653B7E-0A35-4AD6-836A-29BD773B1C26}" dt="2025-11-07T12:44:56.489" v="268" actId="478"/>
          <ac:spMkLst>
            <pc:docMk/>
            <pc:sldMk cId="0" sldId="1119"/>
            <ac:spMk id="411649" creationId="{00000000-0000-0000-0000-000000000000}"/>
          </ac:spMkLst>
        </pc:spChg>
        <pc:picChg chg="mod">
          <ac:chgData name="邦 肖" userId="38982054f6b45302" providerId="LiveId" clId="{9A653B7E-0A35-4AD6-836A-29BD773B1C26}" dt="2025-11-07T12:44:58.591" v="269" actId="1076"/>
          <ac:picMkLst>
            <pc:docMk/>
            <pc:sldMk cId="0" sldId="1119"/>
            <ac:picMk id="411650" creationId="{00000000-0000-0000-0000-000000000000}"/>
          </ac:picMkLst>
        </pc:picChg>
      </pc:sldChg>
      <pc:sldChg chg="addSp delSp modSp mod">
        <pc:chgData name="邦 肖" userId="38982054f6b45302" providerId="LiveId" clId="{9A653B7E-0A35-4AD6-836A-29BD773B1C26}" dt="2025-11-07T13:41:49.880" v="500" actId="21"/>
        <pc:sldMkLst>
          <pc:docMk/>
          <pc:sldMk cId="0" sldId="1121"/>
        </pc:sldMkLst>
        <pc:spChg chg="add mod">
          <ac:chgData name="邦 肖" userId="38982054f6b45302" providerId="LiveId" clId="{9A653B7E-0A35-4AD6-836A-29BD773B1C26}" dt="2025-11-07T12:50:41.963" v="311" actId="20577"/>
          <ac:spMkLst>
            <pc:docMk/>
            <pc:sldMk cId="0" sldId="1121"/>
            <ac:spMk id="2" creationId="{50FBAD90-F02A-CBA7-06FD-8940EEFCA684}"/>
          </ac:spMkLst>
        </pc:spChg>
        <pc:spChg chg="add del mod">
          <ac:chgData name="邦 肖" userId="38982054f6b45302" providerId="LiveId" clId="{9A653B7E-0A35-4AD6-836A-29BD773B1C26}" dt="2025-11-07T12:47:55.254" v="282" actId="478"/>
          <ac:spMkLst>
            <pc:docMk/>
            <pc:sldMk cId="0" sldId="1121"/>
            <ac:spMk id="4" creationId="{740DC30A-A3FF-4EAA-94AD-FFE30617E7D4}"/>
          </ac:spMkLst>
        </pc:spChg>
        <pc:spChg chg="add del mod">
          <ac:chgData name="邦 肖" userId="38982054f6b45302" providerId="LiveId" clId="{9A653B7E-0A35-4AD6-836A-29BD773B1C26}" dt="2025-11-07T12:59:15.603" v="326" actId="478"/>
          <ac:spMkLst>
            <pc:docMk/>
            <pc:sldMk cId="0" sldId="1121"/>
            <ac:spMk id="6" creationId="{EEB72D83-38BF-040B-615A-952528055097}"/>
          </ac:spMkLst>
        </pc:spChg>
        <pc:spChg chg="add del mod">
          <ac:chgData name="邦 肖" userId="38982054f6b45302" providerId="LiveId" clId="{9A653B7E-0A35-4AD6-836A-29BD773B1C26}" dt="2025-11-07T12:59:15.603" v="326" actId="478"/>
          <ac:spMkLst>
            <pc:docMk/>
            <pc:sldMk cId="0" sldId="1121"/>
            <ac:spMk id="7" creationId="{99975886-11AD-1582-AE87-8F77411BC4C1}"/>
          </ac:spMkLst>
        </pc:spChg>
        <pc:spChg chg="add del mod">
          <ac:chgData name="邦 肖" userId="38982054f6b45302" providerId="LiveId" clId="{9A653B7E-0A35-4AD6-836A-29BD773B1C26}" dt="2025-11-07T12:59:15.603" v="326" actId="478"/>
          <ac:spMkLst>
            <pc:docMk/>
            <pc:sldMk cId="0" sldId="1121"/>
            <ac:spMk id="10" creationId="{FCAF2D9E-B434-4A63-ED66-E12BA031DEEA}"/>
          </ac:spMkLst>
        </pc:spChg>
        <pc:spChg chg="add del mod">
          <ac:chgData name="邦 肖" userId="38982054f6b45302" providerId="LiveId" clId="{9A653B7E-0A35-4AD6-836A-29BD773B1C26}" dt="2025-11-07T12:59:15.603" v="326" actId="478"/>
          <ac:spMkLst>
            <pc:docMk/>
            <pc:sldMk cId="0" sldId="1121"/>
            <ac:spMk id="11" creationId="{A1A9A9C3-9533-790B-38EA-67CCAD9C00FA}"/>
          </ac:spMkLst>
        </pc:spChg>
        <pc:spChg chg="add del mod">
          <ac:chgData name="邦 肖" userId="38982054f6b45302" providerId="LiveId" clId="{9A653B7E-0A35-4AD6-836A-29BD773B1C26}" dt="2025-11-07T12:59:15.603" v="326" actId="478"/>
          <ac:spMkLst>
            <pc:docMk/>
            <pc:sldMk cId="0" sldId="1121"/>
            <ac:spMk id="12" creationId="{D1F7D876-2331-6F20-59F7-B72F2BDFC41C}"/>
          </ac:spMkLst>
        </pc:spChg>
        <pc:spChg chg="add del mod">
          <ac:chgData name="邦 肖" userId="38982054f6b45302" providerId="LiveId" clId="{9A653B7E-0A35-4AD6-836A-29BD773B1C26}" dt="2025-11-07T12:59:15.603" v="326" actId="478"/>
          <ac:spMkLst>
            <pc:docMk/>
            <pc:sldMk cId="0" sldId="1121"/>
            <ac:spMk id="13" creationId="{242383AD-1F24-846E-6AD4-3A7DD30236E2}"/>
          </ac:spMkLst>
        </pc:spChg>
        <pc:spChg chg="add del mod">
          <ac:chgData name="邦 肖" userId="38982054f6b45302" providerId="LiveId" clId="{9A653B7E-0A35-4AD6-836A-29BD773B1C26}" dt="2025-11-07T12:49:08.515" v="289" actId="478"/>
          <ac:spMkLst>
            <pc:docMk/>
            <pc:sldMk cId="0" sldId="1121"/>
            <ac:spMk id="14" creationId="{B7D42655-BFAF-332E-5825-2681E2DAE4A5}"/>
          </ac:spMkLst>
        </pc:spChg>
        <pc:spChg chg="add mod">
          <ac:chgData name="邦 肖" userId="38982054f6b45302" providerId="LiveId" clId="{9A653B7E-0A35-4AD6-836A-29BD773B1C26}" dt="2025-11-07T12:48:57.140" v="284"/>
          <ac:spMkLst>
            <pc:docMk/>
            <pc:sldMk cId="0" sldId="1121"/>
            <ac:spMk id="16" creationId="{F2332395-417B-3A08-E12A-D8A39E938B21}"/>
          </ac:spMkLst>
        </pc:spChg>
        <pc:spChg chg="add del mod">
          <ac:chgData name="邦 肖" userId="38982054f6b45302" providerId="LiveId" clId="{9A653B7E-0A35-4AD6-836A-29BD773B1C26}" dt="2025-11-07T12:59:15.603" v="326" actId="478"/>
          <ac:spMkLst>
            <pc:docMk/>
            <pc:sldMk cId="0" sldId="1121"/>
            <ac:spMk id="17" creationId="{1C31A1BD-2585-654C-A1CA-D956CE70D837}"/>
          </ac:spMkLst>
        </pc:spChg>
        <pc:spChg chg="del">
          <ac:chgData name="邦 肖" userId="38982054f6b45302" providerId="LiveId" clId="{9A653B7E-0A35-4AD6-836A-29BD773B1C26}" dt="2025-11-07T12:47:55.254" v="282" actId="478"/>
          <ac:spMkLst>
            <pc:docMk/>
            <pc:sldMk cId="0" sldId="1121"/>
            <ac:spMk id="413697" creationId="{00000000-0000-0000-0000-000000000000}"/>
          </ac:spMkLst>
        </pc:spChg>
        <pc:grpChg chg="del mod">
          <ac:chgData name="邦 肖" userId="38982054f6b45302" providerId="LiveId" clId="{9A653B7E-0A35-4AD6-836A-29BD773B1C26}" dt="2025-11-07T12:59:15.603" v="326" actId="478"/>
          <ac:grpSpMkLst>
            <pc:docMk/>
            <pc:sldMk cId="0" sldId="1121"/>
            <ac:grpSpMk id="5" creationId="{72BA9A09-92A6-A522-AB49-259C18BD4131}"/>
          </ac:grpSpMkLst>
        </pc:grpChg>
        <pc:picChg chg="add del mod">
          <ac:chgData name="邦 肖" userId="38982054f6b45302" providerId="LiveId" clId="{9A653B7E-0A35-4AD6-836A-29BD773B1C26}" dt="2025-11-07T13:41:49.880" v="500" actId="21"/>
          <ac:picMkLst>
            <pc:docMk/>
            <pc:sldMk cId="0" sldId="1121"/>
            <ac:picMk id="3" creationId="{B406DB2B-2B1A-6E93-256C-D2CC7EAC89A3}"/>
          </ac:picMkLst>
        </pc:picChg>
        <pc:picChg chg="add del mod">
          <ac:chgData name="邦 肖" userId="38982054f6b45302" providerId="LiveId" clId="{9A653B7E-0A35-4AD6-836A-29BD773B1C26}" dt="2025-11-07T12:59:15.603" v="326" actId="478"/>
          <ac:picMkLst>
            <pc:docMk/>
            <pc:sldMk cId="0" sldId="1121"/>
            <ac:picMk id="8" creationId="{309D295D-E8A2-9E33-E85F-20EB806C9D1A}"/>
          </ac:picMkLst>
        </pc:picChg>
        <pc:picChg chg="del mod">
          <ac:chgData name="邦 肖" userId="38982054f6b45302" providerId="LiveId" clId="{9A653B7E-0A35-4AD6-836A-29BD773B1C26}" dt="2025-11-07T12:59:15.603" v="326" actId="478"/>
          <ac:picMkLst>
            <pc:docMk/>
            <pc:sldMk cId="0" sldId="1121"/>
            <ac:picMk id="9" creationId="{6E86CA9B-4611-4C33-7918-AB8890D2CA6E}"/>
          </ac:picMkLst>
        </pc:picChg>
        <pc:picChg chg="add mod">
          <ac:chgData name="邦 肖" userId="38982054f6b45302" providerId="LiveId" clId="{9A653B7E-0A35-4AD6-836A-29BD773B1C26}" dt="2025-11-07T12:48:57.140" v="284"/>
          <ac:picMkLst>
            <pc:docMk/>
            <pc:sldMk cId="0" sldId="1121"/>
            <ac:picMk id="15" creationId="{127BC4CA-E105-BB3B-FFC7-FF5221638044}"/>
          </ac:picMkLst>
        </pc:picChg>
        <pc:picChg chg="del">
          <ac:chgData name="邦 肖" userId="38982054f6b45302" providerId="LiveId" clId="{9A653B7E-0A35-4AD6-836A-29BD773B1C26}" dt="2025-11-07T12:47:53" v="281" actId="478"/>
          <ac:picMkLst>
            <pc:docMk/>
            <pc:sldMk cId="0" sldId="1121"/>
            <ac:picMk id="413698" creationId="{00000000-0000-0000-0000-000000000000}"/>
          </ac:picMkLst>
        </pc:picChg>
      </pc:sldChg>
      <pc:sldChg chg="addSp delSp modSp mod">
        <pc:chgData name="邦 肖" userId="38982054f6b45302" providerId="LiveId" clId="{9A653B7E-0A35-4AD6-836A-29BD773B1C26}" dt="2025-11-07T12:59:59.576" v="332" actId="478"/>
        <pc:sldMkLst>
          <pc:docMk/>
          <pc:sldMk cId="0" sldId="1122"/>
        </pc:sldMkLst>
        <pc:spChg chg="add del mod">
          <ac:chgData name="邦 肖" userId="38982054f6b45302" providerId="LiveId" clId="{9A653B7E-0A35-4AD6-836A-29BD773B1C26}" dt="2025-11-07T12:50:46.794" v="313" actId="478"/>
          <ac:spMkLst>
            <pc:docMk/>
            <pc:sldMk cId="0" sldId="1122"/>
            <ac:spMk id="3" creationId="{553EF932-CB2D-E028-34E6-CC83A51AB7A6}"/>
          </ac:spMkLst>
        </pc:spChg>
        <pc:spChg chg="mod">
          <ac:chgData name="邦 肖" userId="38982054f6b45302" providerId="LiveId" clId="{9A653B7E-0A35-4AD6-836A-29BD773B1C26}" dt="2025-11-07T12:50:52.385" v="316"/>
          <ac:spMkLst>
            <pc:docMk/>
            <pc:sldMk cId="0" sldId="1122"/>
            <ac:spMk id="6" creationId="{F0B9B134-7A11-A966-FF10-283A10C1B8DA}"/>
          </ac:spMkLst>
        </pc:spChg>
        <pc:spChg chg="add mod">
          <ac:chgData name="邦 肖" userId="38982054f6b45302" providerId="LiveId" clId="{9A653B7E-0A35-4AD6-836A-29BD773B1C26}" dt="2025-11-07T12:58:54.005" v="325" actId="1076"/>
          <ac:spMkLst>
            <pc:docMk/>
            <pc:sldMk cId="0" sldId="1122"/>
            <ac:spMk id="7" creationId="{828F88A9-65A6-BB21-4627-EDD935CE0419}"/>
          </ac:spMkLst>
        </pc:spChg>
        <pc:spChg chg="add mod">
          <ac:chgData name="邦 肖" userId="38982054f6b45302" providerId="LiveId" clId="{9A653B7E-0A35-4AD6-836A-29BD773B1C26}" dt="2025-11-07T12:58:54.005" v="325" actId="1076"/>
          <ac:spMkLst>
            <pc:docMk/>
            <pc:sldMk cId="0" sldId="1122"/>
            <ac:spMk id="8" creationId="{2E4AE765-FB81-E82C-E0B8-4C1F05F7F2B4}"/>
          </ac:spMkLst>
        </pc:spChg>
        <pc:spChg chg="add mod">
          <ac:chgData name="邦 肖" userId="38982054f6b45302" providerId="LiveId" clId="{9A653B7E-0A35-4AD6-836A-29BD773B1C26}" dt="2025-11-07T12:58:54.005" v="325" actId="1076"/>
          <ac:spMkLst>
            <pc:docMk/>
            <pc:sldMk cId="0" sldId="1122"/>
            <ac:spMk id="11" creationId="{FFA55370-99E7-773D-6197-CFE7290E8353}"/>
          </ac:spMkLst>
        </pc:spChg>
        <pc:spChg chg="add mod">
          <ac:chgData name="邦 肖" userId="38982054f6b45302" providerId="LiveId" clId="{9A653B7E-0A35-4AD6-836A-29BD773B1C26}" dt="2025-11-07T12:58:54.005" v="325" actId="1076"/>
          <ac:spMkLst>
            <pc:docMk/>
            <pc:sldMk cId="0" sldId="1122"/>
            <ac:spMk id="12" creationId="{564E2A65-6C80-7B34-01C6-E9A7F374AC59}"/>
          </ac:spMkLst>
        </pc:spChg>
        <pc:spChg chg="add mod">
          <ac:chgData name="邦 肖" userId="38982054f6b45302" providerId="LiveId" clId="{9A653B7E-0A35-4AD6-836A-29BD773B1C26}" dt="2025-11-07T12:58:54.005" v="325" actId="1076"/>
          <ac:spMkLst>
            <pc:docMk/>
            <pc:sldMk cId="0" sldId="1122"/>
            <ac:spMk id="13" creationId="{969ACB48-1165-EE20-A6D7-B9BE5A52A2DA}"/>
          </ac:spMkLst>
        </pc:spChg>
        <pc:spChg chg="add mod">
          <ac:chgData name="邦 肖" userId="38982054f6b45302" providerId="LiveId" clId="{9A653B7E-0A35-4AD6-836A-29BD773B1C26}" dt="2025-11-07T12:58:54.005" v="325" actId="1076"/>
          <ac:spMkLst>
            <pc:docMk/>
            <pc:sldMk cId="0" sldId="1122"/>
            <ac:spMk id="14" creationId="{58454A84-0DDF-56A0-1EC6-3F77C2FAB898}"/>
          </ac:spMkLst>
        </pc:spChg>
        <pc:spChg chg="add mod">
          <ac:chgData name="邦 肖" userId="38982054f6b45302" providerId="LiveId" clId="{9A653B7E-0A35-4AD6-836A-29BD773B1C26}" dt="2025-11-07T12:58:54.005" v="325" actId="1076"/>
          <ac:spMkLst>
            <pc:docMk/>
            <pc:sldMk cId="0" sldId="1122"/>
            <ac:spMk id="15" creationId="{92F1D8C7-B188-F3BF-E296-63008741BAA0}"/>
          </ac:spMkLst>
        </pc:spChg>
        <pc:spChg chg="add del mod">
          <ac:chgData name="邦 肖" userId="38982054f6b45302" providerId="LiveId" clId="{9A653B7E-0A35-4AD6-836A-29BD773B1C26}" dt="2025-11-07T12:57:48.630" v="324" actId="478"/>
          <ac:spMkLst>
            <pc:docMk/>
            <pc:sldMk cId="0" sldId="1122"/>
            <ac:spMk id="18" creationId="{4E365C82-FB0A-11EC-FDB5-BAF9B9109743}"/>
          </ac:spMkLst>
        </pc:spChg>
        <pc:spChg chg="add del mod">
          <ac:chgData name="邦 肖" userId="38982054f6b45302" providerId="LiveId" clId="{9A653B7E-0A35-4AD6-836A-29BD773B1C26}" dt="2025-11-07T12:59:59.576" v="332" actId="478"/>
          <ac:spMkLst>
            <pc:docMk/>
            <pc:sldMk cId="0" sldId="1122"/>
            <ac:spMk id="20" creationId="{E53D8E72-06D8-6298-8C75-1B31D4E50950}"/>
          </ac:spMkLst>
        </pc:spChg>
        <pc:spChg chg="del">
          <ac:chgData name="邦 肖" userId="38982054f6b45302" providerId="LiveId" clId="{9A653B7E-0A35-4AD6-836A-29BD773B1C26}" dt="2025-11-07T12:50:46.794" v="313" actId="478"/>
          <ac:spMkLst>
            <pc:docMk/>
            <pc:sldMk cId="0" sldId="1122"/>
            <ac:spMk id="414721" creationId="{00000000-0000-0000-0000-000000000000}"/>
          </ac:spMkLst>
        </pc:spChg>
        <pc:grpChg chg="mod">
          <ac:chgData name="邦 肖" userId="38982054f6b45302" providerId="LiveId" clId="{9A653B7E-0A35-4AD6-836A-29BD773B1C26}" dt="2025-11-07T12:58:54.005" v="325" actId="1076"/>
          <ac:grpSpMkLst>
            <pc:docMk/>
            <pc:sldMk cId="0" sldId="1122"/>
            <ac:grpSpMk id="4" creationId="{4E23466F-3B02-D5A8-2AFF-35D6B925404B}"/>
          </ac:grpSpMkLst>
        </pc:grpChg>
        <pc:picChg chg="mod">
          <ac:chgData name="邦 肖" userId="38982054f6b45302" providerId="LiveId" clId="{9A653B7E-0A35-4AD6-836A-29BD773B1C26}" dt="2025-11-07T12:50:52.385" v="316"/>
          <ac:picMkLst>
            <pc:docMk/>
            <pc:sldMk cId="0" sldId="1122"/>
            <ac:picMk id="5" creationId="{B0AB6B0E-69B5-5F3C-61D6-B9905BFCC96B}"/>
          </ac:picMkLst>
        </pc:picChg>
        <pc:picChg chg="add mod">
          <ac:chgData name="邦 肖" userId="38982054f6b45302" providerId="LiveId" clId="{9A653B7E-0A35-4AD6-836A-29BD773B1C26}" dt="2025-11-07T12:58:54.005" v="325" actId="1076"/>
          <ac:picMkLst>
            <pc:docMk/>
            <pc:sldMk cId="0" sldId="1122"/>
            <ac:picMk id="9" creationId="{7CBB3D5C-6CB4-6C5B-6787-45331FBECF22}"/>
          </ac:picMkLst>
        </pc:picChg>
        <pc:picChg chg="mod">
          <ac:chgData name="邦 肖" userId="38982054f6b45302" providerId="LiveId" clId="{9A653B7E-0A35-4AD6-836A-29BD773B1C26}" dt="2025-11-07T12:58:54.005" v="325" actId="1076"/>
          <ac:picMkLst>
            <pc:docMk/>
            <pc:sldMk cId="0" sldId="1122"/>
            <ac:picMk id="10" creationId="{90DA13FC-F748-504E-3E76-E02E203E3D63}"/>
          </ac:picMkLst>
        </pc:picChg>
        <pc:picChg chg="add del mod">
          <ac:chgData name="邦 肖" userId="38982054f6b45302" providerId="LiveId" clId="{9A653B7E-0A35-4AD6-836A-29BD773B1C26}" dt="2025-11-07T12:57:46.667" v="323" actId="478"/>
          <ac:picMkLst>
            <pc:docMk/>
            <pc:sldMk cId="0" sldId="1122"/>
            <ac:picMk id="16" creationId="{E9E7F18A-1141-F3A1-13D8-E127F374888D}"/>
          </ac:picMkLst>
        </pc:picChg>
        <pc:picChg chg="del">
          <ac:chgData name="邦 肖" userId="38982054f6b45302" providerId="LiveId" clId="{9A653B7E-0A35-4AD6-836A-29BD773B1C26}" dt="2025-11-07T12:50:45.580" v="312" actId="478"/>
          <ac:picMkLst>
            <pc:docMk/>
            <pc:sldMk cId="0" sldId="1122"/>
            <ac:picMk id="414722" creationId="{00000000-0000-0000-0000-000000000000}"/>
          </ac:picMkLst>
        </pc:picChg>
      </pc:sldChg>
      <pc:sldChg chg="delSp mod ord">
        <pc:chgData name="邦 肖" userId="38982054f6b45302" providerId="LiveId" clId="{9A653B7E-0A35-4AD6-836A-29BD773B1C26}" dt="2025-11-07T13:06:05.590" v="363" actId="478"/>
        <pc:sldMkLst>
          <pc:docMk/>
          <pc:sldMk cId="0" sldId="1129"/>
        </pc:sldMkLst>
        <pc:spChg chg="del">
          <ac:chgData name="邦 肖" userId="38982054f6b45302" providerId="LiveId" clId="{9A653B7E-0A35-4AD6-836A-29BD773B1C26}" dt="2025-11-07T13:06:05.590" v="363" actId="478"/>
          <ac:spMkLst>
            <pc:docMk/>
            <pc:sldMk cId="0" sldId="1129"/>
            <ac:spMk id="415745" creationId="{00000000-0000-0000-0000-000000000000}"/>
          </ac:spMkLst>
        </pc:spChg>
      </pc:sldChg>
      <pc:sldChg chg="delSp del mod">
        <pc:chgData name="邦 肖" userId="38982054f6b45302" providerId="LiveId" clId="{9A653B7E-0A35-4AD6-836A-29BD773B1C26}" dt="2025-11-07T13:11:38.805" v="404" actId="47"/>
        <pc:sldMkLst>
          <pc:docMk/>
          <pc:sldMk cId="0" sldId="1130"/>
        </pc:sldMkLst>
        <pc:spChg chg="del">
          <ac:chgData name="邦 肖" userId="38982054f6b45302" providerId="LiveId" clId="{9A653B7E-0A35-4AD6-836A-29BD773B1C26}" dt="2025-11-07T13:04:35.243" v="360" actId="478"/>
          <ac:spMkLst>
            <pc:docMk/>
            <pc:sldMk cId="0" sldId="1130"/>
            <ac:spMk id="416769" creationId="{00000000-0000-0000-0000-000000000000}"/>
          </ac:spMkLst>
        </pc:spChg>
      </pc:sldChg>
      <pc:sldChg chg="del">
        <pc:chgData name="邦 肖" userId="38982054f6b45302" providerId="LiveId" clId="{9A653B7E-0A35-4AD6-836A-29BD773B1C26}" dt="2025-11-07T13:12:00.582" v="405" actId="47"/>
        <pc:sldMkLst>
          <pc:docMk/>
          <pc:sldMk cId="0" sldId="1131"/>
        </pc:sldMkLst>
      </pc:sldChg>
      <pc:sldChg chg="delSp mod">
        <pc:chgData name="邦 肖" userId="38982054f6b45302" providerId="LiveId" clId="{9A653B7E-0A35-4AD6-836A-29BD773B1C26}" dt="2025-11-07T13:16:15.551" v="464" actId="478"/>
        <pc:sldMkLst>
          <pc:docMk/>
          <pc:sldMk cId="0" sldId="1132"/>
        </pc:sldMkLst>
        <pc:spChg chg="del">
          <ac:chgData name="邦 肖" userId="38982054f6b45302" providerId="LiveId" clId="{9A653B7E-0A35-4AD6-836A-29BD773B1C26}" dt="2025-11-07T13:16:15.551" v="464" actId="478"/>
          <ac:spMkLst>
            <pc:docMk/>
            <pc:sldMk cId="0" sldId="1132"/>
            <ac:spMk id="418817" creationId="{00000000-0000-0000-0000-000000000000}"/>
          </ac:spMkLst>
        </pc:spChg>
      </pc:sldChg>
      <pc:sldChg chg="delSp mod">
        <pc:chgData name="邦 肖" userId="38982054f6b45302" providerId="LiveId" clId="{9A653B7E-0A35-4AD6-836A-29BD773B1C26}" dt="2025-11-07T13:16:56.056" v="465" actId="478"/>
        <pc:sldMkLst>
          <pc:docMk/>
          <pc:sldMk cId="0" sldId="1133"/>
        </pc:sldMkLst>
        <pc:spChg chg="del">
          <ac:chgData name="邦 肖" userId="38982054f6b45302" providerId="LiveId" clId="{9A653B7E-0A35-4AD6-836A-29BD773B1C26}" dt="2025-11-07T13:16:56.056" v="465" actId="478"/>
          <ac:spMkLst>
            <pc:docMk/>
            <pc:sldMk cId="0" sldId="1133"/>
            <ac:spMk id="419841" creationId="{00000000-0000-0000-0000-000000000000}"/>
          </ac:spMkLst>
        </pc:spChg>
      </pc:sldChg>
      <pc:sldChg chg="addSp delSp modSp add del mod ord">
        <pc:chgData name="邦 肖" userId="38982054f6b45302" providerId="LiveId" clId="{9A653B7E-0A35-4AD6-836A-29BD773B1C26}" dt="2025-11-07T13:36:09.861" v="496" actId="47"/>
        <pc:sldMkLst>
          <pc:docMk/>
          <pc:sldMk cId="0" sldId="1259"/>
        </pc:sldMkLst>
        <pc:spChg chg="add del mod">
          <ac:chgData name="邦 肖" userId="38982054f6b45302" providerId="LiveId" clId="{9A653B7E-0A35-4AD6-836A-29BD773B1C26}" dt="2025-11-07T13:34:39.977" v="485" actId="478"/>
          <ac:spMkLst>
            <pc:docMk/>
            <pc:sldMk cId="0" sldId="1259"/>
            <ac:spMk id="2" creationId="{DA5A64A7-7AAB-7144-FC8B-4E6FA061174E}"/>
          </ac:spMkLst>
        </pc:spChg>
        <pc:picChg chg="del">
          <ac:chgData name="邦 肖" userId="38982054f6b45302" providerId="LiveId" clId="{9A653B7E-0A35-4AD6-836A-29BD773B1C26}" dt="2025-11-07T13:35:59.207" v="492" actId="21"/>
          <ac:picMkLst>
            <pc:docMk/>
            <pc:sldMk cId="0" sldId="1259"/>
            <ac:picMk id="406530" creationId="{00000000-0000-0000-0000-000000000000}"/>
          </ac:picMkLst>
        </pc:picChg>
      </pc:sldChg>
      <pc:sldChg chg="modSp mod">
        <pc:chgData name="邦 肖" userId="38982054f6b45302" providerId="LiveId" clId="{9A653B7E-0A35-4AD6-836A-29BD773B1C26}" dt="2025-11-07T12:16:10.718" v="113" actId="207"/>
        <pc:sldMkLst>
          <pc:docMk/>
          <pc:sldMk cId="0" sldId="1260"/>
        </pc:sldMkLst>
        <pc:spChg chg="mod">
          <ac:chgData name="邦 肖" userId="38982054f6b45302" providerId="LiveId" clId="{9A653B7E-0A35-4AD6-836A-29BD773B1C26}" dt="2025-11-07T12:16:10.718" v="113" actId="207"/>
          <ac:spMkLst>
            <pc:docMk/>
            <pc:sldMk cId="0" sldId="1260"/>
            <ac:spMk id="401409" creationId="{00000000-0000-0000-0000-000000000000}"/>
          </ac:spMkLst>
        </pc:spChg>
        <pc:spChg chg="mod">
          <ac:chgData name="邦 肖" userId="38982054f6b45302" providerId="LiveId" clId="{9A653B7E-0A35-4AD6-836A-29BD773B1C26}" dt="2025-11-07T12:08:40.715" v="97" actId="20577"/>
          <ac:spMkLst>
            <pc:docMk/>
            <pc:sldMk cId="0" sldId="1260"/>
            <ac:spMk id="401410" creationId="{00000000-0000-0000-0000-000000000000}"/>
          </ac:spMkLst>
        </pc:spChg>
      </pc:sldChg>
      <pc:sldChg chg="addSp modSp">
        <pc:chgData name="邦 肖" userId="38982054f6b45302" providerId="LiveId" clId="{9A653B7E-0A35-4AD6-836A-29BD773B1C26}" dt="2025-11-07T13:50:20.026" v="508"/>
        <pc:sldMkLst>
          <pc:docMk/>
          <pc:sldMk cId="0" sldId="1404"/>
        </pc:sldMkLst>
        <pc:spChg chg="add mod">
          <ac:chgData name="邦 肖" userId="38982054f6b45302" providerId="LiveId" clId="{9A653B7E-0A35-4AD6-836A-29BD773B1C26}" dt="2025-11-07T13:50:20.026" v="508"/>
          <ac:spMkLst>
            <pc:docMk/>
            <pc:sldMk cId="0" sldId="1404"/>
            <ac:spMk id="2" creationId="{D7447DD0-BE62-601C-3B97-4616EB5AF2A9}"/>
          </ac:spMkLst>
        </pc:spChg>
        <pc:spChg chg="add mod">
          <ac:chgData name="邦 肖" userId="38982054f6b45302" providerId="LiveId" clId="{9A653B7E-0A35-4AD6-836A-29BD773B1C26}" dt="2025-11-07T13:50:20.026" v="508"/>
          <ac:spMkLst>
            <pc:docMk/>
            <pc:sldMk cId="0" sldId="1404"/>
            <ac:spMk id="3" creationId="{35C73815-553C-44F8-8652-217E90C0CBD6}"/>
          </ac:spMkLst>
        </pc:spChg>
        <pc:spChg chg="add mod">
          <ac:chgData name="邦 肖" userId="38982054f6b45302" providerId="LiveId" clId="{9A653B7E-0A35-4AD6-836A-29BD773B1C26}" dt="2025-11-07T13:50:20.026" v="508"/>
          <ac:spMkLst>
            <pc:docMk/>
            <pc:sldMk cId="0" sldId="1404"/>
            <ac:spMk id="4" creationId="{2F91754B-E4C9-71EC-C8AB-77F5C485BD0A}"/>
          </ac:spMkLst>
        </pc:spChg>
        <pc:spChg chg="add mod">
          <ac:chgData name="邦 肖" userId="38982054f6b45302" providerId="LiveId" clId="{9A653B7E-0A35-4AD6-836A-29BD773B1C26}" dt="2025-11-07T13:50:20.026" v="508"/>
          <ac:spMkLst>
            <pc:docMk/>
            <pc:sldMk cId="0" sldId="1404"/>
            <ac:spMk id="5" creationId="{C4A61E76-6D89-ED0B-1439-D5C82FDA2E9E}"/>
          </ac:spMkLst>
        </pc:spChg>
        <pc:picChg chg="add mod">
          <ac:chgData name="邦 肖" userId="38982054f6b45302" providerId="LiveId" clId="{9A653B7E-0A35-4AD6-836A-29BD773B1C26}" dt="2025-11-07T13:50:20.026" v="508"/>
          <ac:picMkLst>
            <pc:docMk/>
            <pc:sldMk cId="0" sldId="1404"/>
            <ac:picMk id="6" creationId="{0D3CAECF-F71D-84C4-0581-9B7AF2712B38}"/>
          </ac:picMkLst>
        </pc:picChg>
        <pc:picChg chg="add mod">
          <ac:chgData name="邦 肖" userId="38982054f6b45302" providerId="LiveId" clId="{9A653B7E-0A35-4AD6-836A-29BD773B1C26}" dt="2025-11-07T13:50:20.026" v="508"/>
          <ac:picMkLst>
            <pc:docMk/>
            <pc:sldMk cId="0" sldId="1404"/>
            <ac:picMk id="7" creationId="{DEA4E182-9316-839D-656E-A4E83BCFC358}"/>
          </ac:picMkLst>
        </pc:picChg>
      </pc:sldChg>
      <pc:sldChg chg="addSp delSp modSp new mod">
        <pc:chgData name="邦 肖" userId="38982054f6b45302" providerId="LiveId" clId="{9A653B7E-0A35-4AD6-836A-29BD773B1C26}" dt="2025-11-07T12:16:43.572" v="120" actId="1076"/>
        <pc:sldMkLst>
          <pc:docMk/>
          <pc:sldMk cId="3633346064" sldId="1561"/>
        </pc:sldMkLst>
        <pc:spChg chg="del">
          <ac:chgData name="邦 肖" userId="38982054f6b45302" providerId="LiveId" clId="{9A653B7E-0A35-4AD6-836A-29BD773B1C26}" dt="2025-11-07T12:15:54.673" v="110" actId="478"/>
          <ac:spMkLst>
            <pc:docMk/>
            <pc:sldMk cId="3633346064" sldId="1561"/>
            <ac:spMk id="2" creationId="{95A40BC8-8F9E-85C0-0F75-FF0E10867EBD}"/>
          </ac:spMkLst>
        </pc:spChg>
        <pc:spChg chg="del">
          <ac:chgData name="邦 肖" userId="38982054f6b45302" providerId="LiveId" clId="{9A653B7E-0A35-4AD6-836A-29BD773B1C26}" dt="2025-11-07T12:15:54.673" v="110" actId="478"/>
          <ac:spMkLst>
            <pc:docMk/>
            <pc:sldMk cId="3633346064" sldId="1561"/>
            <ac:spMk id="3" creationId="{DFB5F0F9-567D-6870-BC85-CB93B8084145}"/>
          </ac:spMkLst>
        </pc:spChg>
        <pc:spChg chg="del">
          <ac:chgData name="邦 肖" userId="38982054f6b45302" providerId="LiveId" clId="{9A653B7E-0A35-4AD6-836A-29BD773B1C26}" dt="2025-11-07T12:15:52.195" v="109" actId="478"/>
          <ac:spMkLst>
            <pc:docMk/>
            <pc:sldMk cId="3633346064" sldId="1561"/>
            <ac:spMk id="4" creationId="{999EBD43-4BB6-A615-F951-983092740BF8}"/>
          </ac:spMkLst>
        </pc:spChg>
        <pc:spChg chg="mod">
          <ac:chgData name="邦 肖" userId="38982054f6b45302" providerId="LiveId" clId="{9A653B7E-0A35-4AD6-836A-29BD773B1C26}" dt="2025-11-07T12:15:55.882" v="111"/>
          <ac:spMkLst>
            <pc:docMk/>
            <pc:sldMk cId="3633346064" sldId="1561"/>
            <ac:spMk id="9" creationId="{208D4468-59E3-21D1-9009-C0331CE45B0C}"/>
          </ac:spMkLst>
        </pc:spChg>
        <pc:spChg chg="mod">
          <ac:chgData name="邦 肖" userId="38982054f6b45302" providerId="LiveId" clId="{9A653B7E-0A35-4AD6-836A-29BD773B1C26}" dt="2025-11-07T12:15:55.882" v="111"/>
          <ac:spMkLst>
            <pc:docMk/>
            <pc:sldMk cId="3633346064" sldId="1561"/>
            <ac:spMk id="10" creationId="{08901193-2F13-14E0-112A-FCBA6DC0A9A3}"/>
          </ac:spMkLst>
        </pc:spChg>
        <pc:spChg chg="mod">
          <ac:chgData name="邦 肖" userId="38982054f6b45302" providerId="LiveId" clId="{9A653B7E-0A35-4AD6-836A-29BD773B1C26}" dt="2025-11-07T12:15:55.882" v="111"/>
          <ac:spMkLst>
            <pc:docMk/>
            <pc:sldMk cId="3633346064" sldId="1561"/>
            <ac:spMk id="11" creationId="{CE3A709F-0B05-AB36-5E99-1C464BFA788A}"/>
          </ac:spMkLst>
        </pc:spChg>
        <pc:spChg chg="add mod">
          <ac:chgData name="邦 肖" userId="38982054f6b45302" providerId="LiveId" clId="{9A653B7E-0A35-4AD6-836A-29BD773B1C26}" dt="2025-11-07T12:16:43.572" v="120" actId="1076"/>
          <ac:spMkLst>
            <pc:docMk/>
            <pc:sldMk cId="3633346064" sldId="1561"/>
            <ac:spMk id="12" creationId="{C6AA6A87-163E-84A4-3755-576B9ADA38F2}"/>
          </ac:spMkLst>
        </pc:spChg>
        <pc:spChg chg="add mod">
          <ac:chgData name="邦 肖" userId="38982054f6b45302" providerId="LiveId" clId="{9A653B7E-0A35-4AD6-836A-29BD773B1C26}" dt="2025-11-07T12:16:25.423" v="115" actId="1076"/>
          <ac:spMkLst>
            <pc:docMk/>
            <pc:sldMk cId="3633346064" sldId="1561"/>
            <ac:spMk id="13" creationId="{4E407F4A-C096-7C44-806A-1F06CDF392CC}"/>
          </ac:spMkLst>
        </pc:spChg>
        <pc:grpChg chg="add mod">
          <ac:chgData name="邦 肖" userId="38982054f6b45302" providerId="LiveId" clId="{9A653B7E-0A35-4AD6-836A-29BD773B1C26}" dt="2025-11-07T12:15:58.045" v="112" actId="1076"/>
          <ac:grpSpMkLst>
            <pc:docMk/>
            <pc:sldMk cId="3633346064" sldId="1561"/>
            <ac:grpSpMk id="5" creationId="{19F0290D-A297-0F8D-EA78-B9C202AA1D36}"/>
          </ac:grpSpMkLst>
        </pc:grpChg>
        <pc:picChg chg="mod">
          <ac:chgData name="邦 肖" userId="38982054f6b45302" providerId="LiveId" clId="{9A653B7E-0A35-4AD6-836A-29BD773B1C26}" dt="2025-11-07T12:15:55.882" v="111"/>
          <ac:picMkLst>
            <pc:docMk/>
            <pc:sldMk cId="3633346064" sldId="1561"/>
            <ac:picMk id="6" creationId="{F3E498EC-26AC-50B5-C018-6A39F0108A82}"/>
          </ac:picMkLst>
        </pc:picChg>
        <pc:picChg chg="mod">
          <ac:chgData name="邦 肖" userId="38982054f6b45302" providerId="LiveId" clId="{9A653B7E-0A35-4AD6-836A-29BD773B1C26}" dt="2025-11-07T12:15:55.882" v="111"/>
          <ac:picMkLst>
            <pc:docMk/>
            <pc:sldMk cId="3633346064" sldId="1561"/>
            <ac:picMk id="7" creationId="{142E3951-926C-983D-DDE8-91F49F38CC03}"/>
          </ac:picMkLst>
        </pc:picChg>
        <pc:picChg chg="mod">
          <ac:chgData name="邦 肖" userId="38982054f6b45302" providerId="LiveId" clId="{9A653B7E-0A35-4AD6-836A-29BD773B1C26}" dt="2025-11-07T12:15:55.882" v="111"/>
          <ac:picMkLst>
            <pc:docMk/>
            <pc:sldMk cId="3633346064" sldId="1561"/>
            <ac:picMk id="8" creationId="{27CD3A8B-5DE6-0D64-2512-398425EAD5CC}"/>
          </ac:picMkLst>
        </pc:picChg>
      </pc:sldChg>
      <pc:sldChg chg="addSp delSp modSp new mod">
        <pc:chgData name="邦 肖" userId="38982054f6b45302" providerId="LiveId" clId="{9A653B7E-0A35-4AD6-836A-29BD773B1C26}" dt="2025-11-07T13:01:40.928" v="344" actId="478"/>
        <pc:sldMkLst>
          <pc:docMk/>
          <pc:sldMk cId="1166297353" sldId="1562"/>
        </pc:sldMkLst>
        <pc:spChg chg="del">
          <ac:chgData name="邦 肖" userId="38982054f6b45302" providerId="LiveId" clId="{9A653B7E-0A35-4AD6-836A-29BD773B1C26}" dt="2025-11-07T12:59:39.840" v="331" actId="478"/>
          <ac:spMkLst>
            <pc:docMk/>
            <pc:sldMk cId="1166297353" sldId="1562"/>
            <ac:spMk id="2" creationId="{256506A5-D7EB-193E-25B0-E017F62EB194}"/>
          </ac:spMkLst>
        </pc:spChg>
        <pc:spChg chg="del">
          <ac:chgData name="邦 肖" userId="38982054f6b45302" providerId="LiveId" clId="{9A653B7E-0A35-4AD6-836A-29BD773B1C26}" dt="2025-11-07T12:59:39.840" v="331" actId="478"/>
          <ac:spMkLst>
            <pc:docMk/>
            <pc:sldMk cId="1166297353" sldId="1562"/>
            <ac:spMk id="3" creationId="{1EEADBAF-275A-CB74-DE4D-D88AA58FFDF7}"/>
          </ac:spMkLst>
        </pc:spChg>
        <pc:spChg chg="del">
          <ac:chgData name="邦 肖" userId="38982054f6b45302" providerId="LiveId" clId="{9A653B7E-0A35-4AD6-836A-29BD773B1C26}" dt="2025-11-07T12:59:39.840" v="331" actId="478"/>
          <ac:spMkLst>
            <pc:docMk/>
            <pc:sldMk cId="1166297353" sldId="1562"/>
            <ac:spMk id="4" creationId="{75B75443-2C17-6B2E-2DC3-8F785024A4B0}"/>
          </ac:spMkLst>
        </pc:spChg>
        <pc:spChg chg="add del mod">
          <ac:chgData name="邦 肖" userId="38982054f6b45302" providerId="LiveId" clId="{9A653B7E-0A35-4AD6-836A-29BD773B1C26}" dt="2025-11-07T13:01:20.813" v="340" actId="478"/>
          <ac:spMkLst>
            <pc:docMk/>
            <pc:sldMk cId="1166297353" sldId="1562"/>
            <ac:spMk id="5" creationId="{DE683A8F-E359-963A-4BC7-F916C57169EA}"/>
          </ac:spMkLst>
        </pc:spChg>
        <pc:spChg chg="add del mod">
          <ac:chgData name="邦 肖" userId="38982054f6b45302" providerId="LiveId" clId="{9A653B7E-0A35-4AD6-836A-29BD773B1C26}" dt="2025-11-07T13:01:20.813" v="340" actId="478"/>
          <ac:spMkLst>
            <pc:docMk/>
            <pc:sldMk cId="1166297353" sldId="1562"/>
            <ac:spMk id="6" creationId="{78718BC0-AD23-4F46-4190-B1AF478D1B5A}"/>
          </ac:spMkLst>
        </pc:spChg>
        <pc:spChg chg="del">
          <ac:chgData name="邦 肖" userId="38982054f6b45302" providerId="LiveId" clId="{9A653B7E-0A35-4AD6-836A-29BD773B1C26}" dt="2025-11-07T13:01:20.813" v="340" actId="478"/>
          <ac:spMkLst>
            <pc:docMk/>
            <pc:sldMk cId="1166297353" sldId="1562"/>
            <ac:spMk id="8" creationId="{27A57456-44F0-1907-FAB4-FB149CC2D890}"/>
          </ac:spMkLst>
        </pc:spChg>
        <pc:spChg chg="add del mod">
          <ac:chgData name="邦 肖" userId="38982054f6b45302" providerId="LiveId" clId="{9A653B7E-0A35-4AD6-836A-29BD773B1C26}" dt="2025-11-07T13:01:20.813" v="340" actId="478"/>
          <ac:spMkLst>
            <pc:docMk/>
            <pc:sldMk cId="1166297353" sldId="1562"/>
            <ac:spMk id="10" creationId="{36D1F5A5-34DD-112F-4726-5957CEE590A2}"/>
          </ac:spMkLst>
        </pc:spChg>
        <pc:spChg chg="add del mod">
          <ac:chgData name="邦 肖" userId="38982054f6b45302" providerId="LiveId" clId="{9A653B7E-0A35-4AD6-836A-29BD773B1C26}" dt="2025-11-07T13:01:20.813" v="340" actId="478"/>
          <ac:spMkLst>
            <pc:docMk/>
            <pc:sldMk cId="1166297353" sldId="1562"/>
            <ac:spMk id="11" creationId="{8C3EC5E6-3102-0B61-C20A-126F3ECB1CF6}"/>
          </ac:spMkLst>
        </pc:spChg>
        <pc:spChg chg="add del mod">
          <ac:chgData name="邦 肖" userId="38982054f6b45302" providerId="LiveId" clId="{9A653B7E-0A35-4AD6-836A-29BD773B1C26}" dt="2025-11-07T13:01:20.813" v="340" actId="478"/>
          <ac:spMkLst>
            <pc:docMk/>
            <pc:sldMk cId="1166297353" sldId="1562"/>
            <ac:spMk id="12" creationId="{CC9573A8-587C-908D-05A7-6969C0C1EC3F}"/>
          </ac:spMkLst>
        </pc:spChg>
        <pc:spChg chg="add del mod">
          <ac:chgData name="邦 肖" userId="38982054f6b45302" providerId="LiveId" clId="{9A653B7E-0A35-4AD6-836A-29BD773B1C26}" dt="2025-11-07T13:01:20.813" v="340" actId="478"/>
          <ac:spMkLst>
            <pc:docMk/>
            <pc:sldMk cId="1166297353" sldId="1562"/>
            <ac:spMk id="13" creationId="{07C3AD4B-543E-02A8-2808-610F2E030B0F}"/>
          </ac:spMkLst>
        </pc:spChg>
        <pc:spChg chg="add del mod">
          <ac:chgData name="邦 肖" userId="38982054f6b45302" providerId="LiveId" clId="{9A653B7E-0A35-4AD6-836A-29BD773B1C26}" dt="2025-11-07T13:01:20.813" v="340" actId="478"/>
          <ac:spMkLst>
            <pc:docMk/>
            <pc:sldMk cId="1166297353" sldId="1562"/>
            <ac:spMk id="14" creationId="{0D65C07B-03C5-6A9A-2FBD-4196D7F26A32}"/>
          </ac:spMkLst>
        </pc:spChg>
        <pc:spChg chg="add del mod">
          <ac:chgData name="邦 肖" userId="38982054f6b45302" providerId="LiveId" clId="{9A653B7E-0A35-4AD6-836A-29BD773B1C26}" dt="2025-11-07T13:01:20.813" v="340" actId="478"/>
          <ac:spMkLst>
            <pc:docMk/>
            <pc:sldMk cId="1166297353" sldId="1562"/>
            <ac:spMk id="15" creationId="{5722548E-ED27-4B39-345B-DDA64B40EB2A}"/>
          </ac:spMkLst>
        </pc:spChg>
        <pc:spChg chg="add del mod topLvl">
          <ac:chgData name="邦 肖" userId="38982054f6b45302" providerId="LiveId" clId="{9A653B7E-0A35-4AD6-836A-29BD773B1C26}" dt="2025-11-07T13:01:20.813" v="340" actId="478"/>
          <ac:spMkLst>
            <pc:docMk/>
            <pc:sldMk cId="1166297353" sldId="1562"/>
            <ac:spMk id="19" creationId="{085DC0D9-1758-A8A5-F509-800F0E6241D8}"/>
          </ac:spMkLst>
        </pc:spChg>
        <pc:spChg chg="mod topLvl">
          <ac:chgData name="邦 肖" userId="38982054f6b45302" providerId="LiveId" clId="{9A653B7E-0A35-4AD6-836A-29BD773B1C26}" dt="2025-11-07T13:00:55.547" v="334" actId="165"/>
          <ac:spMkLst>
            <pc:docMk/>
            <pc:sldMk cId="1166297353" sldId="1562"/>
            <ac:spMk id="20" creationId="{DB7F2AAF-DC42-541C-6625-34BA479B56E8}"/>
          </ac:spMkLst>
        </pc:spChg>
        <pc:spChg chg="add mod">
          <ac:chgData name="邦 肖" userId="38982054f6b45302" providerId="LiveId" clId="{9A653B7E-0A35-4AD6-836A-29BD773B1C26}" dt="2025-11-07T13:00:38.519" v="333"/>
          <ac:spMkLst>
            <pc:docMk/>
            <pc:sldMk cId="1166297353" sldId="1562"/>
            <ac:spMk id="23" creationId="{982E3441-3B10-F7CA-330D-0D8C71FDE051}"/>
          </ac:spMkLst>
        </pc:spChg>
        <pc:spChg chg="add mod">
          <ac:chgData name="邦 肖" userId="38982054f6b45302" providerId="LiveId" clId="{9A653B7E-0A35-4AD6-836A-29BD773B1C26}" dt="2025-11-07T13:01:25.320" v="341"/>
          <ac:spMkLst>
            <pc:docMk/>
            <pc:sldMk cId="1166297353" sldId="1562"/>
            <ac:spMk id="25" creationId="{E99A9986-36FE-F514-155D-1A291A42991E}"/>
          </ac:spMkLst>
        </pc:spChg>
        <pc:spChg chg="del">
          <ac:chgData name="邦 肖" userId="38982054f6b45302" providerId="LiveId" clId="{9A653B7E-0A35-4AD6-836A-29BD773B1C26}" dt="2025-11-07T13:01:28.672" v="342" actId="478"/>
          <ac:spMkLst>
            <pc:docMk/>
            <pc:sldMk cId="1166297353" sldId="1562"/>
            <ac:spMk id="26" creationId="{CE3A5A12-EC94-9414-2D17-EE4FF236B947}"/>
          </ac:spMkLst>
        </pc:spChg>
        <pc:spChg chg="mod">
          <ac:chgData name="邦 肖" userId="38982054f6b45302" providerId="LiveId" clId="{9A653B7E-0A35-4AD6-836A-29BD773B1C26}" dt="2025-11-07T13:01:37.239" v="343" actId="207"/>
          <ac:spMkLst>
            <pc:docMk/>
            <pc:sldMk cId="1166297353" sldId="1562"/>
            <ac:spMk id="30" creationId="{FA4B5326-A627-2DED-5558-C8472FCE0506}"/>
          </ac:spMkLst>
        </pc:spChg>
        <pc:spChg chg="add mod">
          <ac:chgData name="邦 肖" userId="38982054f6b45302" providerId="LiveId" clId="{9A653B7E-0A35-4AD6-836A-29BD773B1C26}" dt="2025-11-07T13:01:25.320" v="341"/>
          <ac:spMkLst>
            <pc:docMk/>
            <pc:sldMk cId="1166297353" sldId="1562"/>
            <ac:spMk id="32" creationId="{BC9B49E3-DC25-370E-EEDA-038FD7002A30}"/>
          </ac:spMkLst>
        </pc:spChg>
        <pc:spChg chg="add mod">
          <ac:chgData name="邦 肖" userId="38982054f6b45302" providerId="LiveId" clId="{9A653B7E-0A35-4AD6-836A-29BD773B1C26}" dt="2025-11-07T13:01:25.320" v="341"/>
          <ac:spMkLst>
            <pc:docMk/>
            <pc:sldMk cId="1166297353" sldId="1562"/>
            <ac:spMk id="33" creationId="{54A75965-9A06-196E-B828-D48279E241D2}"/>
          </ac:spMkLst>
        </pc:spChg>
        <pc:spChg chg="add mod">
          <ac:chgData name="邦 肖" userId="38982054f6b45302" providerId="LiveId" clId="{9A653B7E-0A35-4AD6-836A-29BD773B1C26}" dt="2025-11-07T13:01:25.320" v="341"/>
          <ac:spMkLst>
            <pc:docMk/>
            <pc:sldMk cId="1166297353" sldId="1562"/>
            <ac:spMk id="34" creationId="{8C247116-F89F-7171-E3E0-7383064595BB}"/>
          </ac:spMkLst>
        </pc:spChg>
        <pc:spChg chg="add mod">
          <ac:chgData name="邦 肖" userId="38982054f6b45302" providerId="LiveId" clId="{9A653B7E-0A35-4AD6-836A-29BD773B1C26}" dt="2025-11-07T13:01:25.320" v="341"/>
          <ac:spMkLst>
            <pc:docMk/>
            <pc:sldMk cId="1166297353" sldId="1562"/>
            <ac:spMk id="35" creationId="{E1B151BE-76A0-0747-D38F-91DF4A133BDD}"/>
          </ac:spMkLst>
        </pc:spChg>
        <pc:spChg chg="add mod">
          <ac:chgData name="邦 肖" userId="38982054f6b45302" providerId="LiveId" clId="{9A653B7E-0A35-4AD6-836A-29BD773B1C26}" dt="2025-11-07T13:01:25.320" v="341"/>
          <ac:spMkLst>
            <pc:docMk/>
            <pc:sldMk cId="1166297353" sldId="1562"/>
            <ac:spMk id="36" creationId="{6C90E532-02BB-CF4B-018E-630CEF298F8C}"/>
          </ac:spMkLst>
        </pc:spChg>
        <pc:spChg chg="add mod">
          <ac:chgData name="邦 肖" userId="38982054f6b45302" providerId="LiveId" clId="{9A653B7E-0A35-4AD6-836A-29BD773B1C26}" dt="2025-11-07T13:01:25.320" v="341"/>
          <ac:spMkLst>
            <pc:docMk/>
            <pc:sldMk cId="1166297353" sldId="1562"/>
            <ac:spMk id="43" creationId="{529EAC81-31FB-10E9-8B15-880AAACBA9D8}"/>
          </ac:spMkLst>
        </pc:spChg>
        <pc:spChg chg="add mod topLvl">
          <ac:chgData name="邦 肖" userId="38982054f6b45302" providerId="LiveId" clId="{9A653B7E-0A35-4AD6-836A-29BD773B1C26}" dt="2025-11-07T13:01:40.928" v="344" actId="478"/>
          <ac:spMkLst>
            <pc:docMk/>
            <pc:sldMk cId="1166297353" sldId="1562"/>
            <ac:spMk id="44" creationId="{66AA3524-BA3D-28A0-4D1D-BFD91E436B72}"/>
          </ac:spMkLst>
        </pc:spChg>
        <pc:spChg chg="add del mod topLvl">
          <ac:chgData name="邦 肖" userId="38982054f6b45302" providerId="LiveId" clId="{9A653B7E-0A35-4AD6-836A-29BD773B1C26}" dt="2025-11-07T13:01:40.928" v="344" actId="478"/>
          <ac:spMkLst>
            <pc:docMk/>
            <pc:sldMk cId="1166297353" sldId="1562"/>
            <ac:spMk id="45" creationId="{2FD61D12-AD8A-CCA6-7445-19076FC792C6}"/>
          </ac:spMkLst>
        </pc:spChg>
        <pc:spChg chg="add mod">
          <ac:chgData name="邦 肖" userId="38982054f6b45302" providerId="LiveId" clId="{9A653B7E-0A35-4AD6-836A-29BD773B1C26}" dt="2025-11-07T13:01:25.320" v="341"/>
          <ac:spMkLst>
            <pc:docMk/>
            <pc:sldMk cId="1166297353" sldId="1562"/>
            <ac:spMk id="48" creationId="{5C46B3A1-3A8F-5000-F9B8-CE03ED2D8854}"/>
          </ac:spMkLst>
        </pc:spChg>
        <pc:grpChg chg="del">
          <ac:chgData name="邦 肖" userId="38982054f6b45302" providerId="LiveId" clId="{9A653B7E-0A35-4AD6-836A-29BD773B1C26}" dt="2025-11-07T13:00:55.547" v="334" actId="165"/>
          <ac:grpSpMkLst>
            <pc:docMk/>
            <pc:sldMk cId="1166297353" sldId="1562"/>
            <ac:grpSpMk id="9" creationId="{9E907691-C942-779F-640D-EC791D7A9C25}"/>
          </ac:grpSpMkLst>
        </pc:grpChg>
        <pc:grpChg chg="del">
          <ac:chgData name="邦 肖" userId="38982054f6b45302" providerId="LiveId" clId="{9A653B7E-0A35-4AD6-836A-29BD773B1C26}" dt="2025-11-07T13:01:40.928" v="344" actId="478"/>
          <ac:grpSpMkLst>
            <pc:docMk/>
            <pc:sldMk cId="1166297353" sldId="1562"/>
            <ac:grpSpMk id="29" creationId="{D6405137-A5D2-587F-2211-587EE1ED173A}"/>
          </ac:grpSpMkLst>
        </pc:grpChg>
        <pc:picChg chg="add mod">
          <ac:chgData name="邦 肖" userId="38982054f6b45302" providerId="LiveId" clId="{9A653B7E-0A35-4AD6-836A-29BD773B1C26}" dt="2025-11-07T13:01:19.004" v="339"/>
          <ac:picMkLst>
            <pc:docMk/>
            <pc:sldMk cId="1166297353" sldId="1562"/>
            <ac:picMk id="24" creationId="{B5098CA7-46C8-6528-901D-CB20C4FF4745}"/>
          </ac:picMkLst>
        </pc:picChg>
      </pc:sldChg>
      <pc:sldChg chg="addSp delSp modSp new mod">
        <pc:chgData name="邦 肖" userId="38982054f6b45302" providerId="LiveId" clId="{9A653B7E-0A35-4AD6-836A-29BD773B1C26}" dt="2025-11-07T13:03:09.588" v="355" actId="1076"/>
        <pc:sldMkLst>
          <pc:docMk/>
          <pc:sldMk cId="3286900657" sldId="1563"/>
        </pc:sldMkLst>
        <pc:spChg chg="del">
          <ac:chgData name="邦 肖" userId="38982054f6b45302" providerId="LiveId" clId="{9A653B7E-0A35-4AD6-836A-29BD773B1C26}" dt="2025-11-07T13:02:03.086" v="346" actId="478"/>
          <ac:spMkLst>
            <pc:docMk/>
            <pc:sldMk cId="3286900657" sldId="1563"/>
            <ac:spMk id="2" creationId="{576507A0-0D0A-58D3-897B-FE278923155B}"/>
          </ac:spMkLst>
        </pc:spChg>
        <pc:spChg chg="del">
          <ac:chgData name="邦 肖" userId="38982054f6b45302" providerId="LiveId" clId="{9A653B7E-0A35-4AD6-836A-29BD773B1C26}" dt="2025-11-07T13:02:03.086" v="346" actId="478"/>
          <ac:spMkLst>
            <pc:docMk/>
            <pc:sldMk cId="3286900657" sldId="1563"/>
            <ac:spMk id="3" creationId="{F5757F5C-567D-851D-465D-B4A92E330A80}"/>
          </ac:spMkLst>
        </pc:spChg>
        <pc:spChg chg="del">
          <ac:chgData name="邦 肖" userId="38982054f6b45302" providerId="LiveId" clId="{9A653B7E-0A35-4AD6-836A-29BD773B1C26}" dt="2025-11-07T13:02:03.086" v="346" actId="478"/>
          <ac:spMkLst>
            <pc:docMk/>
            <pc:sldMk cId="3286900657" sldId="1563"/>
            <ac:spMk id="4" creationId="{7EAC29EA-6404-FA5F-F178-0AE2DCBBDCAC}"/>
          </ac:spMkLst>
        </pc:spChg>
        <pc:spChg chg="add del mod">
          <ac:chgData name="邦 肖" userId="38982054f6b45302" providerId="LiveId" clId="{9A653B7E-0A35-4AD6-836A-29BD773B1C26}" dt="2025-11-07T13:02:51.890" v="352" actId="478"/>
          <ac:spMkLst>
            <pc:docMk/>
            <pc:sldMk cId="3286900657" sldId="1563"/>
            <ac:spMk id="5" creationId="{9B3B30C8-DDA8-8830-EE18-896B9EBAD581}"/>
          </ac:spMkLst>
        </pc:spChg>
        <pc:spChg chg="add mod">
          <ac:chgData name="邦 肖" userId="38982054f6b45302" providerId="LiveId" clId="{9A653B7E-0A35-4AD6-836A-29BD773B1C26}" dt="2025-11-07T13:02:45.307" v="351" actId="207"/>
          <ac:spMkLst>
            <pc:docMk/>
            <pc:sldMk cId="3286900657" sldId="1563"/>
            <ac:spMk id="7" creationId="{67568DA8-5833-FEEB-56A7-5E075E85D656}"/>
          </ac:spMkLst>
        </pc:spChg>
        <pc:spChg chg="add mod">
          <ac:chgData name="邦 肖" userId="38982054f6b45302" providerId="LiveId" clId="{9A653B7E-0A35-4AD6-836A-29BD773B1C26}" dt="2025-11-07T13:02:03.991" v="347"/>
          <ac:spMkLst>
            <pc:docMk/>
            <pc:sldMk cId="3286900657" sldId="1563"/>
            <ac:spMk id="8" creationId="{EFDEA8B2-FFCD-BFA7-CBD3-F9F0AD7DB4C9}"/>
          </ac:spMkLst>
        </pc:spChg>
        <pc:spChg chg="add mod">
          <ac:chgData name="邦 肖" userId="38982054f6b45302" providerId="LiveId" clId="{9A653B7E-0A35-4AD6-836A-29BD773B1C26}" dt="2025-11-07T13:02:03.991" v="347"/>
          <ac:spMkLst>
            <pc:docMk/>
            <pc:sldMk cId="3286900657" sldId="1563"/>
            <ac:spMk id="9" creationId="{55977F44-5CFA-CCE8-9E58-4E5C23866C5D}"/>
          </ac:spMkLst>
        </pc:spChg>
        <pc:spChg chg="add mod">
          <ac:chgData name="邦 肖" userId="38982054f6b45302" providerId="LiveId" clId="{9A653B7E-0A35-4AD6-836A-29BD773B1C26}" dt="2025-11-07T13:03:04.596" v="354" actId="207"/>
          <ac:spMkLst>
            <pc:docMk/>
            <pc:sldMk cId="3286900657" sldId="1563"/>
            <ac:spMk id="11" creationId="{F2A76154-95CC-C6EF-875E-09EE3F393924}"/>
          </ac:spMkLst>
        </pc:spChg>
        <pc:spChg chg="add mod">
          <ac:chgData name="邦 肖" userId="38982054f6b45302" providerId="LiveId" clId="{9A653B7E-0A35-4AD6-836A-29BD773B1C26}" dt="2025-11-07T13:03:09.588" v="355" actId="1076"/>
          <ac:spMkLst>
            <pc:docMk/>
            <pc:sldMk cId="3286900657" sldId="1563"/>
            <ac:spMk id="12" creationId="{3CF1190A-89B2-F51F-F75E-D7070CDC0423}"/>
          </ac:spMkLst>
        </pc:spChg>
        <pc:spChg chg="add mod">
          <ac:chgData name="邦 肖" userId="38982054f6b45302" providerId="LiveId" clId="{9A653B7E-0A35-4AD6-836A-29BD773B1C26}" dt="2025-11-07T13:02:03.991" v="347"/>
          <ac:spMkLst>
            <pc:docMk/>
            <pc:sldMk cId="3286900657" sldId="1563"/>
            <ac:spMk id="13" creationId="{8EFF0D1F-AA9F-798E-3133-679CBB852162}"/>
          </ac:spMkLst>
        </pc:spChg>
        <pc:spChg chg="add mod">
          <ac:chgData name="邦 肖" userId="38982054f6b45302" providerId="LiveId" clId="{9A653B7E-0A35-4AD6-836A-29BD773B1C26}" dt="2025-11-07T13:02:03.991" v="347"/>
          <ac:spMkLst>
            <pc:docMk/>
            <pc:sldMk cId="3286900657" sldId="1563"/>
            <ac:spMk id="14" creationId="{4C4A7E9C-A794-0A16-76A6-058DC30C1C53}"/>
          </ac:spMkLst>
        </pc:spChg>
        <pc:spChg chg="add mod">
          <ac:chgData name="邦 肖" userId="38982054f6b45302" providerId="LiveId" clId="{9A653B7E-0A35-4AD6-836A-29BD773B1C26}" dt="2025-11-07T13:02:03.991" v="347"/>
          <ac:spMkLst>
            <pc:docMk/>
            <pc:sldMk cId="3286900657" sldId="1563"/>
            <ac:spMk id="15" creationId="{FE72F6DC-1CF2-2849-0239-F36B335D208F}"/>
          </ac:spMkLst>
        </pc:spChg>
        <pc:spChg chg="add mod">
          <ac:chgData name="邦 肖" userId="38982054f6b45302" providerId="LiveId" clId="{9A653B7E-0A35-4AD6-836A-29BD773B1C26}" dt="2025-11-07T13:02:03.991" v="347"/>
          <ac:spMkLst>
            <pc:docMk/>
            <pc:sldMk cId="3286900657" sldId="1563"/>
            <ac:spMk id="16" creationId="{F17CA32A-1DC4-FC55-B592-6EF8FD78D202}"/>
          </ac:spMkLst>
        </pc:spChg>
      </pc:sldChg>
      <pc:sldChg chg="addSp delSp modSp new mod">
        <pc:chgData name="邦 肖" userId="38982054f6b45302" providerId="LiveId" clId="{9A653B7E-0A35-4AD6-836A-29BD773B1C26}" dt="2025-11-07T13:15:54.498" v="463" actId="1035"/>
        <pc:sldMkLst>
          <pc:docMk/>
          <pc:sldMk cId="75584884" sldId="1564"/>
        </pc:sldMkLst>
        <pc:spChg chg="del">
          <ac:chgData name="邦 肖" userId="38982054f6b45302" providerId="LiveId" clId="{9A653B7E-0A35-4AD6-836A-29BD773B1C26}" dt="2025-11-07T13:03:23.156" v="357" actId="478"/>
          <ac:spMkLst>
            <pc:docMk/>
            <pc:sldMk cId="75584884" sldId="1564"/>
            <ac:spMk id="2" creationId="{3C1BF87C-311C-5E9B-D84D-2E30574FC5AF}"/>
          </ac:spMkLst>
        </pc:spChg>
        <pc:spChg chg="del">
          <ac:chgData name="邦 肖" userId="38982054f6b45302" providerId="LiveId" clId="{9A653B7E-0A35-4AD6-836A-29BD773B1C26}" dt="2025-11-07T13:03:23.156" v="357" actId="478"/>
          <ac:spMkLst>
            <pc:docMk/>
            <pc:sldMk cId="75584884" sldId="1564"/>
            <ac:spMk id="3" creationId="{C90C7FBA-B82F-B277-02AC-4CF23DE031F2}"/>
          </ac:spMkLst>
        </pc:spChg>
        <pc:spChg chg="del">
          <ac:chgData name="邦 肖" userId="38982054f6b45302" providerId="LiveId" clId="{9A653B7E-0A35-4AD6-836A-29BD773B1C26}" dt="2025-11-07T13:03:23.156" v="357" actId="478"/>
          <ac:spMkLst>
            <pc:docMk/>
            <pc:sldMk cId="75584884" sldId="1564"/>
            <ac:spMk id="4" creationId="{9F828A7D-C3D8-1117-FBB6-F29DEE25A62C}"/>
          </ac:spMkLst>
        </pc:spChg>
        <pc:spChg chg="add del mod">
          <ac:chgData name="邦 肖" userId="38982054f6b45302" providerId="LiveId" clId="{9A653B7E-0A35-4AD6-836A-29BD773B1C26}" dt="2025-11-07T13:03:37.353" v="359" actId="478"/>
          <ac:spMkLst>
            <pc:docMk/>
            <pc:sldMk cId="75584884" sldId="1564"/>
            <ac:spMk id="5" creationId="{96FDE018-323E-B6CE-5D97-FCD36E95DA29}"/>
          </ac:spMkLst>
        </pc:spChg>
        <pc:spChg chg="mod">
          <ac:chgData name="邦 肖" userId="38982054f6b45302" providerId="LiveId" clId="{9A653B7E-0A35-4AD6-836A-29BD773B1C26}" dt="2025-11-07T13:15:33.243" v="452" actId="1035"/>
          <ac:spMkLst>
            <pc:docMk/>
            <pc:sldMk cId="75584884" sldId="1564"/>
            <ac:spMk id="7" creationId="{FB9DA405-66C4-97DA-7C0D-0F4D9CC7CA1D}"/>
          </ac:spMkLst>
        </pc:spChg>
        <pc:spChg chg="add del mod">
          <ac:chgData name="邦 肖" userId="38982054f6b45302" providerId="LiveId" clId="{9A653B7E-0A35-4AD6-836A-29BD773B1C26}" dt="2025-11-07T13:11:18.894" v="402"/>
          <ac:spMkLst>
            <pc:docMk/>
            <pc:sldMk cId="75584884" sldId="1564"/>
            <ac:spMk id="8" creationId="{D4A162F5-E7CE-EBA2-195D-6E9DE82D38F1}"/>
          </ac:spMkLst>
        </pc:spChg>
        <pc:spChg chg="mod">
          <ac:chgData name="邦 肖" userId="38982054f6b45302" providerId="LiveId" clId="{9A653B7E-0A35-4AD6-836A-29BD773B1C26}" dt="2025-11-07T13:15:33.243" v="452" actId="1035"/>
          <ac:spMkLst>
            <pc:docMk/>
            <pc:sldMk cId="75584884" sldId="1564"/>
            <ac:spMk id="9" creationId="{AC822E99-3811-BF49-8B1A-0D6FFB0CF2CA}"/>
          </ac:spMkLst>
        </pc:spChg>
        <pc:spChg chg="mod">
          <ac:chgData name="邦 肖" userId="38982054f6b45302" providerId="LiveId" clId="{9A653B7E-0A35-4AD6-836A-29BD773B1C26}" dt="2025-11-07T13:15:05.861" v="441" actId="1076"/>
          <ac:spMkLst>
            <pc:docMk/>
            <pc:sldMk cId="75584884" sldId="1564"/>
            <ac:spMk id="10" creationId="{14ACDF59-7F4C-017F-7B04-E25EB0A1F40E}"/>
          </ac:spMkLst>
        </pc:spChg>
        <pc:spChg chg="add mod">
          <ac:chgData name="邦 肖" userId="38982054f6b45302" providerId="LiveId" clId="{9A653B7E-0A35-4AD6-836A-29BD773B1C26}" dt="2025-11-07T13:15:33.243" v="452" actId="1035"/>
          <ac:spMkLst>
            <pc:docMk/>
            <pc:sldMk cId="75584884" sldId="1564"/>
            <ac:spMk id="11" creationId="{51B66B58-34DA-92A9-D2A4-3DAA8B560DCA}"/>
          </ac:spMkLst>
        </pc:spChg>
        <pc:spChg chg="mod">
          <ac:chgData name="邦 肖" userId="38982054f6b45302" providerId="LiveId" clId="{9A653B7E-0A35-4AD6-836A-29BD773B1C26}" dt="2025-11-07T13:15:33.243" v="452" actId="1035"/>
          <ac:spMkLst>
            <pc:docMk/>
            <pc:sldMk cId="75584884" sldId="1564"/>
            <ac:spMk id="13" creationId="{1811D958-3F0C-2867-D159-5B56A889A997}"/>
          </ac:spMkLst>
        </pc:spChg>
        <pc:spChg chg="add mod">
          <ac:chgData name="邦 肖" userId="38982054f6b45302" providerId="LiveId" clId="{9A653B7E-0A35-4AD6-836A-29BD773B1C26}" dt="2025-11-07T13:15:33.243" v="452" actId="1035"/>
          <ac:spMkLst>
            <pc:docMk/>
            <pc:sldMk cId="75584884" sldId="1564"/>
            <ac:spMk id="14" creationId="{2548BC3A-EDE7-8182-6CDF-CB99E9D1ACD3}"/>
          </ac:spMkLst>
        </pc:spChg>
        <pc:spChg chg="mod">
          <ac:chgData name="邦 肖" userId="38982054f6b45302" providerId="LiveId" clId="{9A653B7E-0A35-4AD6-836A-29BD773B1C26}" dt="2025-11-07T13:15:05.861" v="441" actId="1076"/>
          <ac:spMkLst>
            <pc:docMk/>
            <pc:sldMk cId="75584884" sldId="1564"/>
            <ac:spMk id="16" creationId="{99A3234B-B807-2BC4-70F7-3225543242BA}"/>
          </ac:spMkLst>
        </pc:spChg>
        <pc:spChg chg="add del mod">
          <ac:chgData name="邦 肖" userId="38982054f6b45302" providerId="LiveId" clId="{9A653B7E-0A35-4AD6-836A-29BD773B1C26}" dt="2025-11-07T13:14:14.555" v="428" actId="478"/>
          <ac:spMkLst>
            <pc:docMk/>
            <pc:sldMk cId="75584884" sldId="1564"/>
            <ac:spMk id="17" creationId="{1CFDE471-1EBD-52E2-CECC-44AEC786134C}"/>
          </ac:spMkLst>
        </pc:spChg>
        <pc:spChg chg="add mod">
          <ac:chgData name="邦 肖" userId="38982054f6b45302" providerId="LiveId" clId="{9A653B7E-0A35-4AD6-836A-29BD773B1C26}" dt="2025-11-07T13:10:50.546" v="389" actId="1076"/>
          <ac:spMkLst>
            <pc:docMk/>
            <pc:sldMk cId="75584884" sldId="1564"/>
            <ac:spMk id="18" creationId="{2D57F448-6330-8660-6AE4-BE1B39228E20}"/>
          </ac:spMkLst>
        </pc:spChg>
        <pc:spChg chg="add mod">
          <ac:chgData name="邦 肖" userId="38982054f6b45302" providerId="LiveId" clId="{9A653B7E-0A35-4AD6-836A-29BD773B1C26}" dt="2025-11-07T13:14:25.965" v="429" actId="164"/>
          <ac:spMkLst>
            <pc:docMk/>
            <pc:sldMk cId="75584884" sldId="1564"/>
            <ac:spMk id="20" creationId="{F6322E65-9CE6-02B1-194C-45FB26FD5601}"/>
          </ac:spMkLst>
        </pc:spChg>
        <pc:spChg chg="mod topLvl">
          <ac:chgData name="邦 肖" userId="38982054f6b45302" providerId="LiveId" clId="{9A653B7E-0A35-4AD6-836A-29BD773B1C26}" dt="2025-11-07T13:15:33.243" v="452" actId="1035"/>
          <ac:spMkLst>
            <pc:docMk/>
            <pc:sldMk cId="75584884" sldId="1564"/>
            <ac:spMk id="22" creationId="{8E2E88A0-A54D-D362-F073-44CDCF4C1DE5}"/>
          </ac:spMkLst>
        </pc:spChg>
        <pc:spChg chg="add mod">
          <ac:chgData name="邦 肖" userId="38982054f6b45302" providerId="LiveId" clId="{9A653B7E-0A35-4AD6-836A-29BD773B1C26}" dt="2025-11-07T13:03:35.306" v="358"/>
          <ac:spMkLst>
            <pc:docMk/>
            <pc:sldMk cId="75584884" sldId="1564"/>
            <ac:spMk id="25" creationId="{4EBA63A9-26B5-9332-D722-889990FC61EB}"/>
          </ac:spMkLst>
        </pc:spChg>
        <pc:spChg chg="add mod topLvl">
          <ac:chgData name="邦 肖" userId="38982054f6b45302" providerId="LiveId" clId="{9A653B7E-0A35-4AD6-836A-29BD773B1C26}" dt="2025-11-07T13:15:33.243" v="452" actId="1035"/>
          <ac:spMkLst>
            <pc:docMk/>
            <pc:sldMk cId="75584884" sldId="1564"/>
            <ac:spMk id="30" creationId="{5A947174-9C2E-391E-BD7C-F2925302F544}"/>
          </ac:spMkLst>
        </pc:spChg>
        <pc:spChg chg="add mod topLvl">
          <ac:chgData name="邦 肖" userId="38982054f6b45302" providerId="LiveId" clId="{9A653B7E-0A35-4AD6-836A-29BD773B1C26}" dt="2025-11-07T13:15:05.861" v="441" actId="1076"/>
          <ac:spMkLst>
            <pc:docMk/>
            <pc:sldMk cId="75584884" sldId="1564"/>
            <ac:spMk id="31" creationId="{80C27FF3-CED1-7054-7AB8-37157DB1B7D7}"/>
          </ac:spMkLst>
        </pc:spChg>
        <pc:spChg chg="mod topLvl">
          <ac:chgData name="邦 肖" userId="38982054f6b45302" providerId="LiveId" clId="{9A653B7E-0A35-4AD6-836A-29BD773B1C26}" dt="2025-11-07T13:15:33.243" v="452" actId="1035"/>
          <ac:spMkLst>
            <pc:docMk/>
            <pc:sldMk cId="75584884" sldId="1564"/>
            <ac:spMk id="32" creationId="{29C8FB93-60C3-3FA0-51EB-6646DC1C138F}"/>
          </ac:spMkLst>
        </pc:spChg>
        <pc:spChg chg="mod topLvl">
          <ac:chgData name="邦 肖" userId="38982054f6b45302" providerId="LiveId" clId="{9A653B7E-0A35-4AD6-836A-29BD773B1C26}" dt="2025-11-07T13:15:33.243" v="452" actId="1035"/>
          <ac:spMkLst>
            <pc:docMk/>
            <pc:sldMk cId="75584884" sldId="1564"/>
            <ac:spMk id="33" creationId="{60B1A6E8-19A7-435A-C066-1CCAE0922E97}"/>
          </ac:spMkLst>
        </pc:spChg>
        <pc:spChg chg="add mod">
          <ac:chgData name="邦 肖" userId="38982054f6b45302" providerId="LiveId" clId="{9A653B7E-0A35-4AD6-836A-29BD773B1C26}" dt="2025-11-07T13:08:39.558" v="374" actId="207"/>
          <ac:spMkLst>
            <pc:docMk/>
            <pc:sldMk cId="75584884" sldId="1564"/>
            <ac:spMk id="35" creationId="{9625903C-F4C1-9D35-9ED7-0B18A0EA1DA5}"/>
          </ac:spMkLst>
        </pc:spChg>
        <pc:spChg chg="add mod">
          <ac:chgData name="邦 肖" userId="38982054f6b45302" providerId="LiveId" clId="{9A653B7E-0A35-4AD6-836A-29BD773B1C26}" dt="2025-11-07T13:15:54.498" v="463" actId="1035"/>
          <ac:spMkLst>
            <pc:docMk/>
            <pc:sldMk cId="75584884" sldId="1564"/>
            <ac:spMk id="37" creationId="{8732422A-843F-9399-52AA-823356412DE5}"/>
          </ac:spMkLst>
        </pc:spChg>
        <pc:spChg chg="add del mod">
          <ac:chgData name="邦 肖" userId="38982054f6b45302" providerId="LiveId" clId="{9A653B7E-0A35-4AD6-836A-29BD773B1C26}" dt="2025-11-07T13:10:44.206" v="386" actId="22"/>
          <ac:spMkLst>
            <pc:docMk/>
            <pc:sldMk cId="75584884" sldId="1564"/>
            <ac:spMk id="39" creationId="{E4239C53-AD83-7AB2-2B38-A16F31A56E38}"/>
          </ac:spMkLst>
        </pc:spChg>
        <pc:spChg chg="add mod">
          <ac:chgData name="邦 肖" userId="38982054f6b45302" providerId="LiveId" clId="{9A653B7E-0A35-4AD6-836A-29BD773B1C26}" dt="2025-11-07T13:15:54.498" v="463" actId="1035"/>
          <ac:spMkLst>
            <pc:docMk/>
            <pc:sldMk cId="75584884" sldId="1564"/>
            <ac:spMk id="41" creationId="{D7621238-C874-F984-67B3-7AAB8AF69EC5}"/>
          </ac:spMkLst>
        </pc:spChg>
        <pc:spChg chg="add mod">
          <ac:chgData name="邦 肖" userId="38982054f6b45302" providerId="LiveId" clId="{9A653B7E-0A35-4AD6-836A-29BD773B1C26}" dt="2025-11-07T13:11:12.285" v="397" actId="571"/>
          <ac:spMkLst>
            <pc:docMk/>
            <pc:sldMk cId="75584884" sldId="1564"/>
            <ac:spMk id="42" creationId="{35267924-E4CA-0028-CECE-3FB8E10C80F8}"/>
          </ac:spMkLst>
        </pc:spChg>
        <pc:grpChg chg="add del mod">
          <ac:chgData name="邦 肖" userId="38982054f6b45302" providerId="LiveId" clId="{9A653B7E-0A35-4AD6-836A-29BD773B1C26}" dt="2025-11-07T13:14:58.651" v="440" actId="165"/>
          <ac:grpSpMkLst>
            <pc:docMk/>
            <pc:sldMk cId="75584884" sldId="1564"/>
            <ac:grpSpMk id="6" creationId="{EA12CC55-B692-15C8-2488-F3211D14BC82}"/>
          </ac:grpSpMkLst>
        </pc:grpChg>
        <pc:grpChg chg="mod">
          <ac:chgData name="邦 肖" userId="38982054f6b45302" providerId="LiveId" clId="{9A653B7E-0A35-4AD6-836A-29BD773B1C26}" dt="2025-11-07T13:14:54.628" v="439" actId="1076"/>
          <ac:grpSpMkLst>
            <pc:docMk/>
            <pc:sldMk cId="75584884" sldId="1564"/>
            <ac:grpSpMk id="12" creationId="{3226954D-78D7-84C7-9298-7C313614D0A6}"/>
          </ac:grpSpMkLst>
        </pc:grpChg>
        <pc:grpChg chg="del mod">
          <ac:chgData name="邦 肖" userId="38982054f6b45302" providerId="LiveId" clId="{9A653B7E-0A35-4AD6-836A-29BD773B1C26}" dt="2025-11-07T13:12:34.145" v="408" actId="165"/>
          <ac:grpSpMkLst>
            <pc:docMk/>
            <pc:sldMk cId="75584884" sldId="1564"/>
            <ac:grpSpMk id="15" creationId="{8A1770A0-9CF7-C71A-5B0F-1FA037DE9644}"/>
          </ac:grpSpMkLst>
        </pc:grpChg>
        <pc:grpChg chg="add mod">
          <ac:chgData name="邦 肖" userId="38982054f6b45302" providerId="LiveId" clId="{9A653B7E-0A35-4AD6-836A-29BD773B1C26}" dt="2025-11-07T13:12:46.175" v="412" actId="164"/>
          <ac:grpSpMkLst>
            <pc:docMk/>
            <pc:sldMk cId="75584884" sldId="1564"/>
            <ac:grpSpMk id="43" creationId="{3BBBB466-41E0-4875-3683-ED9C3D2F2AE4}"/>
          </ac:grpSpMkLst>
        </pc:grpChg>
        <pc:grpChg chg="add mod">
          <ac:chgData name="邦 肖" userId="38982054f6b45302" providerId="LiveId" clId="{9A653B7E-0A35-4AD6-836A-29BD773B1C26}" dt="2025-11-07T13:15:47.316" v="460" actId="1035"/>
          <ac:grpSpMkLst>
            <pc:docMk/>
            <pc:sldMk cId="75584884" sldId="1564"/>
            <ac:grpSpMk id="44" creationId="{89D90BFB-5FF6-8524-2BF8-1301D4A90BB7}"/>
          </ac:grpSpMkLst>
        </pc:grpChg>
        <pc:picChg chg="mod topLvl">
          <ac:chgData name="邦 肖" userId="38982054f6b45302" providerId="LiveId" clId="{9A653B7E-0A35-4AD6-836A-29BD773B1C26}" dt="2025-11-07T13:14:25.965" v="429" actId="164"/>
          <ac:picMkLst>
            <pc:docMk/>
            <pc:sldMk cId="75584884" sldId="1564"/>
            <ac:picMk id="21" creationId="{F445EA90-F174-BC99-595B-D08214E88334}"/>
          </ac:picMkLst>
        </pc:picChg>
        <pc:picChg chg="mod topLvl">
          <ac:chgData name="邦 肖" userId="38982054f6b45302" providerId="LiveId" clId="{9A653B7E-0A35-4AD6-836A-29BD773B1C26}" dt="2025-11-07T13:14:58.651" v="440" actId="165"/>
          <ac:picMkLst>
            <pc:docMk/>
            <pc:sldMk cId="75584884" sldId="1564"/>
            <ac:picMk id="26" creationId="{8CF34407-3245-4286-0904-CFEE0FF32AA4}"/>
          </ac:picMkLst>
        </pc:picChg>
        <pc:picChg chg="mod topLvl">
          <ac:chgData name="邦 肖" userId="38982054f6b45302" providerId="LiveId" clId="{9A653B7E-0A35-4AD6-836A-29BD773B1C26}" dt="2025-11-07T13:14:58.651" v="440" actId="165"/>
          <ac:picMkLst>
            <pc:docMk/>
            <pc:sldMk cId="75584884" sldId="1564"/>
            <ac:picMk id="27" creationId="{3D07FB51-0B88-3BDA-D2B2-1EF640ECD8E2}"/>
          </ac:picMkLst>
        </pc:picChg>
        <pc:picChg chg="mod topLvl">
          <ac:chgData name="邦 肖" userId="38982054f6b45302" providerId="LiveId" clId="{9A653B7E-0A35-4AD6-836A-29BD773B1C26}" dt="2025-11-07T13:14:58.651" v="440" actId="165"/>
          <ac:picMkLst>
            <pc:docMk/>
            <pc:sldMk cId="75584884" sldId="1564"/>
            <ac:picMk id="28" creationId="{20652A26-BE17-61AF-A775-03EA00443CA7}"/>
          </ac:picMkLst>
        </pc:picChg>
        <pc:picChg chg="mod topLvl">
          <ac:chgData name="邦 肖" userId="38982054f6b45302" providerId="LiveId" clId="{9A653B7E-0A35-4AD6-836A-29BD773B1C26}" dt="2025-11-07T13:14:58.651" v="440" actId="165"/>
          <ac:picMkLst>
            <pc:docMk/>
            <pc:sldMk cId="75584884" sldId="1564"/>
            <ac:picMk id="29" creationId="{10E6CA60-5DEA-6BCB-E38D-D3BF0DA3D36F}"/>
          </ac:picMkLst>
        </pc:picChg>
      </pc:sldChg>
      <pc:sldChg chg="addSp delSp modSp new mod">
        <pc:chgData name="邦 肖" userId="38982054f6b45302" providerId="LiveId" clId="{9A653B7E-0A35-4AD6-836A-29BD773B1C26}" dt="2025-11-07T13:42:34.511" v="507" actId="1076"/>
        <pc:sldMkLst>
          <pc:docMk/>
          <pc:sldMk cId="3580214661" sldId="1565"/>
        </pc:sldMkLst>
        <pc:spChg chg="del">
          <ac:chgData name="邦 肖" userId="38982054f6b45302" providerId="LiveId" clId="{9A653B7E-0A35-4AD6-836A-29BD773B1C26}" dt="2025-11-07T13:42:00.932" v="502" actId="478"/>
          <ac:spMkLst>
            <pc:docMk/>
            <pc:sldMk cId="3580214661" sldId="1565"/>
            <ac:spMk id="2" creationId="{ED050818-FCC7-90EC-5517-638A2FBD8798}"/>
          </ac:spMkLst>
        </pc:spChg>
        <pc:spChg chg="del">
          <ac:chgData name="邦 肖" userId="38982054f6b45302" providerId="LiveId" clId="{9A653B7E-0A35-4AD6-836A-29BD773B1C26}" dt="2025-11-07T13:42:00.932" v="502" actId="478"/>
          <ac:spMkLst>
            <pc:docMk/>
            <pc:sldMk cId="3580214661" sldId="1565"/>
            <ac:spMk id="3" creationId="{7E8AEFC0-82A8-3C3C-4B86-97F7D061F09C}"/>
          </ac:spMkLst>
        </pc:spChg>
        <pc:spChg chg="del">
          <ac:chgData name="邦 肖" userId="38982054f6b45302" providerId="LiveId" clId="{9A653B7E-0A35-4AD6-836A-29BD773B1C26}" dt="2025-11-07T13:41:53.160" v="501" actId="478"/>
          <ac:spMkLst>
            <pc:docMk/>
            <pc:sldMk cId="3580214661" sldId="1565"/>
            <ac:spMk id="4" creationId="{4A5E535D-1A6E-8E77-F198-3E512B5DBB8C}"/>
          </ac:spMkLst>
        </pc:spChg>
        <pc:spChg chg="add mod">
          <ac:chgData name="邦 肖" userId="38982054f6b45302" providerId="LiveId" clId="{9A653B7E-0A35-4AD6-836A-29BD773B1C26}" dt="2025-11-07T13:42:20.551" v="506" actId="113"/>
          <ac:spMkLst>
            <pc:docMk/>
            <pc:sldMk cId="3580214661" sldId="1565"/>
            <ac:spMk id="7" creationId="{E2C70D0D-D1D8-1D31-B04D-115A3983C1FF}"/>
          </ac:spMkLst>
        </pc:spChg>
        <pc:picChg chg="add mod">
          <ac:chgData name="邦 肖" userId="38982054f6b45302" providerId="LiveId" clId="{9A653B7E-0A35-4AD6-836A-29BD773B1C26}" dt="2025-11-07T13:42:34.511" v="507" actId="1076"/>
          <ac:picMkLst>
            <pc:docMk/>
            <pc:sldMk cId="3580214661" sldId="1565"/>
            <ac:picMk id="5" creationId="{B406DB2B-2B1A-6E93-256C-D2CC7EAC89A3}"/>
          </ac:picMkLst>
        </pc:picChg>
      </pc:sldChg>
      <pc:sldChg chg="addSp delSp modSp new mod ord">
        <pc:chgData name="邦 肖" userId="38982054f6b45302" providerId="LiveId" clId="{9A653B7E-0A35-4AD6-836A-29BD773B1C26}" dt="2025-11-07T13:52:21.393" v="518"/>
        <pc:sldMkLst>
          <pc:docMk/>
          <pc:sldMk cId="2024596574" sldId="1566"/>
        </pc:sldMkLst>
        <pc:spChg chg="del">
          <ac:chgData name="邦 肖" userId="38982054f6b45302" providerId="LiveId" clId="{9A653B7E-0A35-4AD6-836A-29BD773B1C26}" dt="2025-11-07T13:50:26.163" v="510" actId="478"/>
          <ac:spMkLst>
            <pc:docMk/>
            <pc:sldMk cId="2024596574" sldId="1566"/>
            <ac:spMk id="2" creationId="{2C78E1B6-D3FA-FFC4-0FE8-211A607E6882}"/>
          </ac:spMkLst>
        </pc:spChg>
        <pc:spChg chg="del">
          <ac:chgData name="邦 肖" userId="38982054f6b45302" providerId="LiveId" clId="{9A653B7E-0A35-4AD6-836A-29BD773B1C26}" dt="2025-11-07T13:50:26.163" v="510" actId="478"/>
          <ac:spMkLst>
            <pc:docMk/>
            <pc:sldMk cId="2024596574" sldId="1566"/>
            <ac:spMk id="3" creationId="{47CBB38E-661D-9E76-49A9-809613E664AF}"/>
          </ac:spMkLst>
        </pc:spChg>
        <pc:spChg chg="del">
          <ac:chgData name="邦 肖" userId="38982054f6b45302" providerId="LiveId" clId="{9A653B7E-0A35-4AD6-836A-29BD773B1C26}" dt="2025-11-07T13:50:26.163" v="510" actId="478"/>
          <ac:spMkLst>
            <pc:docMk/>
            <pc:sldMk cId="2024596574" sldId="1566"/>
            <ac:spMk id="4" creationId="{FC4BDF2B-4730-0BC2-6302-905E97929EBA}"/>
          </ac:spMkLst>
        </pc:spChg>
        <pc:spChg chg="add mod">
          <ac:chgData name="邦 肖" userId="38982054f6b45302" providerId="LiveId" clId="{9A653B7E-0A35-4AD6-836A-29BD773B1C26}" dt="2025-11-07T13:51:21.994" v="513" actId="113"/>
          <ac:spMkLst>
            <pc:docMk/>
            <pc:sldMk cId="2024596574" sldId="1566"/>
            <ac:spMk id="5" creationId="{9462A904-C8FA-C11B-4102-8EF162A73C13}"/>
          </ac:spMkLst>
        </pc:spChg>
        <pc:spChg chg="add mod">
          <ac:chgData name="邦 肖" userId="38982054f6b45302" providerId="LiveId" clId="{9A653B7E-0A35-4AD6-836A-29BD773B1C26}" dt="2025-11-07T13:50:41.546" v="512" actId="2711"/>
          <ac:spMkLst>
            <pc:docMk/>
            <pc:sldMk cId="2024596574" sldId="1566"/>
            <ac:spMk id="6" creationId="{B111898A-0798-D986-8A31-260DDCF10090}"/>
          </ac:spMkLst>
        </pc:spChg>
        <pc:spChg chg="add mod">
          <ac:chgData name="邦 肖" userId="38982054f6b45302" providerId="LiveId" clId="{9A653B7E-0A35-4AD6-836A-29BD773B1C26}" dt="2025-11-07T13:50:41.546" v="512" actId="2711"/>
          <ac:spMkLst>
            <pc:docMk/>
            <pc:sldMk cId="2024596574" sldId="1566"/>
            <ac:spMk id="7" creationId="{5972631C-9579-79C1-AE4E-0E50885130E1}"/>
          </ac:spMkLst>
        </pc:spChg>
        <pc:spChg chg="add mod">
          <ac:chgData name="邦 肖" userId="38982054f6b45302" providerId="LiveId" clId="{9A653B7E-0A35-4AD6-836A-29BD773B1C26}" dt="2025-11-07T13:51:32.400" v="514" actId="14100"/>
          <ac:spMkLst>
            <pc:docMk/>
            <pc:sldMk cId="2024596574" sldId="1566"/>
            <ac:spMk id="8" creationId="{015FC4CE-3CE5-3D45-5F03-6BECBE5641F8}"/>
          </ac:spMkLst>
        </pc:spChg>
        <pc:picChg chg="add mod">
          <ac:chgData name="邦 肖" userId="38982054f6b45302" providerId="LiveId" clId="{9A653B7E-0A35-4AD6-836A-29BD773B1C26}" dt="2025-11-07T13:50:27.150" v="511"/>
          <ac:picMkLst>
            <pc:docMk/>
            <pc:sldMk cId="2024596574" sldId="1566"/>
            <ac:picMk id="9" creationId="{08EDA6AD-7852-4B7D-F52B-F8B0A2ABA0B3}"/>
          </ac:picMkLst>
        </pc:picChg>
        <pc:picChg chg="add mod">
          <ac:chgData name="邦 肖" userId="38982054f6b45302" providerId="LiveId" clId="{9A653B7E-0A35-4AD6-836A-29BD773B1C26}" dt="2025-11-07T13:50:27.150" v="511"/>
          <ac:picMkLst>
            <pc:docMk/>
            <pc:sldMk cId="2024596574" sldId="1566"/>
            <ac:picMk id="10" creationId="{CB286C90-976B-4C42-F3D8-6549E1E2595F}"/>
          </ac:picMkLst>
        </pc:picChg>
      </pc:sldChg>
      <pc:sldChg chg="addSp delSp modSp new mod">
        <pc:chgData name="邦 肖" userId="38982054f6b45302" providerId="LiveId" clId="{9A653B7E-0A35-4AD6-836A-29BD773B1C26}" dt="2025-11-07T14:32:04.089" v="556" actId="1076"/>
        <pc:sldMkLst>
          <pc:docMk/>
          <pc:sldMk cId="713157712" sldId="1567"/>
        </pc:sldMkLst>
        <pc:spChg chg="del">
          <ac:chgData name="邦 肖" userId="38982054f6b45302" providerId="LiveId" clId="{9A653B7E-0A35-4AD6-836A-29BD773B1C26}" dt="2025-11-07T14:30:17.932" v="524" actId="478"/>
          <ac:spMkLst>
            <pc:docMk/>
            <pc:sldMk cId="713157712" sldId="1567"/>
            <ac:spMk id="2" creationId="{068BA31F-E52C-6801-CBFF-B58F5DA0B064}"/>
          </ac:spMkLst>
        </pc:spChg>
        <pc:spChg chg="del">
          <ac:chgData name="邦 肖" userId="38982054f6b45302" providerId="LiveId" clId="{9A653B7E-0A35-4AD6-836A-29BD773B1C26}" dt="2025-11-07T14:30:17.932" v="524" actId="478"/>
          <ac:spMkLst>
            <pc:docMk/>
            <pc:sldMk cId="713157712" sldId="1567"/>
            <ac:spMk id="3" creationId="{311D9635-010E-5868-7F23-9EDC2515A83B}"/>
          </ac:spMkLst>
        </pc:spChg>
        <pc:spChg chg="del">
          <ac:chgData name="邦 肖" userId="38982054f6b45302" providerId="LiveId" clId="{9A653B7E-0A35-4AD6-836A-29BD773B1C26}" dt="2025-11-07T14:30:17.932" v="524" actId="478"/>
          <ac:spMkLst>
            <pc:docMk/>
            <pc:sldMk cId="713157712" sldId="1567"/>
            <ac:spMk id="4" creationId="{32D4AC3A-A2E2-0274-FF3C-9AEEB5104D34}"/>
          </ac:spMkLst>
        </pc:spChg>
        <pc:spChg chg="add mod">
          <ac:chgData name="邦 肖" userId="38982054f6b45302" providerId="LiveId" clId="{9A653B7E-0A35-4AD6-836A-29BD773B1C26}" dt="2025-11-07T14:31:09.085" v="535" actId="1035"/>
          <ac:spMkLst>
            <pc:docMk/>
            <pc:sldMk cId="713157712" sldId="1567"/>
            <ac:spMk id="6" creationId="{2A36DC78-BD7A-A0AA-E669-809122E685D6}"/>
          </ac:spMkLst>
        </pc:spChg>
        <pc:spChg chg="add mod">
          <ac:chgData name="邦 肖" userId="38982054f6b45302" providerId="LiveId" clId="{9A653B7E-0A35-4AD6-836A-29BD773B1C26}" dt="2025-11-07T14:31:09.085" v="535" actId="1035"/>
          <ac:spMkLst>
            <pc:docMk/>
            <pc:sldMk cId="713157712" sldId="1567"/>
            <ac:spMk id="7" creationId="{21706F09-A607-CEDB-42B2-9F643CF22491}"/>
          </ac:spMkLst>
        </pc:spChg>
        <pc:spChg chg="add mod">
          <ac:chgData name="邦 肖" userId="38982054f6b45302" providerId="LiveId" clId="{9A653B7E-0A35-4AD6-836A-29BD773B1C26}" dt="2025-11-07T14:31:52.789" v="552" actId="14100"/>
          <ac:spMkLst>
            <pc:docMk/>
            <pc:sldMk cId="713157712" sldId="1567"/>
            <ac:spMk id="9" creationId="{C21FAC2E-B1FF-361D-7E7C-776B033B93FB}"/>
          </ac:spMkLst>
        </pc:spChg>
        <pc:spChg chg="add mod">
          <ac:chgData name="邦 肖" userId="38982054f6b45302" providerId="LiveId" clId="{9A653B7E-0A35-4AD6-836A-29BD773B1C26}" dt="2025-11-07T14:30:18.178" v="525"/>
          <ac:spMkLst>
            <pc:docMk/>
            <pc:sldMk cId="713157712" sldId="1567"/>
            <ac:spMk id="10" creationId="{CE136DA8-F7AA-5256-1ED6-0985B971A6F4}"/>
          </ac:spMkLst>
        </pc:spChg>
        <pc:spChg chg="add mod">
          <ac:chgData name="邦 肖" userId="38982054f6b45302" providerId="LiveId" clId="{9A653B7E-0A35-4AD6-836A-29BD773B1C26}" dt="2025-11-07T14:32:04.089" v="556" actId="1076"/>
          <ac:spMkLst>
            <pc:docMk/>
            <pc:sldMk cId="713157712" sldId="1567"/>
            <ac:spMk id="15" creationId="{35B5B8CB-C619-033C-78CA-EBD76CC7A191}"/>
          </ac:spMkLst>
        </pc:spChg>
        <pc:spChg chg="add mod">
          <ac:chgData name="邦 肖" userId="38982054f6b45302" providerId="LiveId" clId="{9A653B7E-0A35-4AD6-836A-29BD773B1C26}" dt="2025-11-07T14:31:58.970" v="553" actId="1076"/>
          <ac:spMkLst>
            <pc:docMk/>
            <pc:sldMk cId="713157712" sldId="1567"/>
            <ac:spMk id="16" creationId="{43B30224-D530-65C7-02A4-BB3FE6D37DC5}"/>
          </ac:spMkLst>
        </pc:spChg>
        <pc:grpChg chg="add mod">
          <ac:chgData name="邦 肖" userId="38982054f6b45302" providerId="LiveId" clId="{9A653B7E-0A35-4AD6-836A-29BD773B1C26}" dt="2025-11-07T14:31:09.085" v="535" actId="1035"/>
          <ac:grpSpMkLst>
            <pc:docMk/>
            <pc:sldMk cId="713157712" sldId="1567"/>
            <ac:grpSpMk id="5" creationId="{3B028E60-6CF8-BFA9-9B94-72B87B4D5D33}"/>
          </ac:grpSpMkLst>
        </pc:grpChg>
        <pc:grpChg chg="add mod">
          <ac:chgData name="邦 肖" userId="38982054f6b45302" providerId="LiveId" clId="{9A653B7E-0A35-4AD6-836A-29BD773B1C26}" dt="2025-11-07T14:31:09.085" v="535" actId="1035"/>
          <ac:grpSpMkLst>
            <pc:docMk/>
            <pc:sldMk cId="713157712" sldId="1567"/>
            <ac:grpSpMk id="8" creationId="{1AFDE9DC-42A8-9B58-47D6-1BDC2762301C}"/>
          </ac:grpSpMkLst>
        </pc:grpChg>
        <pc:picChg chg="add mod">
          <ac:chgData name="邦 肖" userId="38982054f6b45302" providerId="LiveId" clId="{9A653B7E-0A35-4AD6-836A-29BD773B1C26}" dt="2025-11-07T14:30:18.178" v="525"/>
          <ac:picMkLst>
            <pc:docMk/>
            <pc:sldMk cId="713157712" sldId="1567"/>
            <ac:picMk id="11" creationId="{BAC18F1F-0D2C-6B14-E9A2-2CCED6129A5C}"/>
          </ac:picMkLst>
        </pc:picChg>
        <pc:picChg chg="add mod">
          <ac:chgData name="邦 肖" userId="38982054f6b45302" providerId="LiveId" clId="{9A653B7E-0A35-4AD6-836A-29BD773B1C26}" dt="2025-11-07T14:30:18.178" v="525"/>
          <ac:picMkLst>
            <pc:docMk/>
            <pc:sldMk cId="713157712" sldId="1567"/>
            <ac:picMk id="12" creationId="{F5103C19-0CE3-FF57-E34C-AFEA77DDF8DF}"/>
          </ac:picMkLst>
        </pc:picChg>
        <pc:picChg chg="add mod">
          <ac:chgData name="邦 肖" userId="38982054f6b45302" providerId="LiveId" clId="{9A653B7E-0A35-4AD6-836A-29BD773B1C26}" dt="2025-11-07T14:30:18.178" v="525"/>
          <ac:picMkLst>
            <pc:docMk/>
            <pc:sldMk cId="713157712" sldId="1567"/>
            <ac:picMk id="13" creationId="{790563F1-EFFF-1525-0169-EF74479B5E6F}"/>
          </ac:picMkLst>
        </pc:picChg>
        <pc:picChg chg="add mod">
          <ac:chgData name="邦 肖" userId="38982054f6b45302" providerId="LiveId" clId="{9A653B7E-0A35-4AD6-836A-29BD773B1C26}" dt="2025-11-07T14:32:01.495" v="555" actId="1076"/>
          <ac:picMkLst>
            <pc:docMk/>
            <pc:sldMk cId="713157712" sldId="1567"/>
            <ac:picMk id="14" creationId="{8C47FF8B-EC78-2C42-0C79-1DF38F0D2A67}"/>
          </ac:picMkLst>
        </pc:picChg>
      </pc:sldChg>
      <pc:sldChg chg="delSp add mod modTransition">
        <pc:chgData name="邦 肖" userId="38982054f6b45302" providerId="LiveId" clId="{9A653B7E-0A35-4AD6-836A-29BD773B1C26}" dt="2025-11-07T14:56:17.644" v="639" actId="478"/>
        <pc:sldMkLst>
          <pc:docMk/>
          <pc:sldMk cId="0" sldId="1568"/>
        </pc:sldMkLst>
        <pc:spChg chg="del">
          <ac:chgData name="邦 肖" userId="38982054f6b45302" providerId="LiveId" clId="{9A653B7E-0A35-4AD6-836A-29BD773B1C26}" dt="2025-11-07T14:56:17.644" v="639" actId="478"/>
          <ac:spMkLst>
            <pc:docMk/>
            <pc:sldMk cId="0" sldId="1568"/>
            <ac:spMk id="3" creationId="{00000000-0000-0000-0000-000000000000}"/>
          </ac:spMkLst>
        </pc:spChg>
        <pc:spChg chg="del">
          <ac:chgData name="邦 肖" userId="38982054f6b45302" providerId="LiveId" clId="{9A653B7E-0A35-4AD6-836A-29BD773B1C26}" dt="2025-11-07T14:56:17.644" v="639" actId="478"/>
          <ac:spMkLst>
            <pc:docMk/>
            <pc:sldMk cId="0" sldId="1568"/>
            <ac:spMk id="14" creationId="{00000000-0000-0000-0000-000000000000}"/>
          </ac:spMkLst>
        </pc:spChg>
      </pc:sldChg>
      <pc:sldChg chg="addSp delSp modSp new del mod">
        <pc:chgData name="邦 肖" userId="38982054f6b45302" providerId="LiveId" clId="{9A653B7E-0A35-4AD6-836A-29BD773B1C26}" dt="2025-11-07T14:48:19.261" v="611" actId="47"/>
        <pc:sldMkLst>
          <pc:docMk/>
          <pc:sldMk cId="504783884" sldId="1568"/>
        </pc:sldMkLst>
        <pc:spChg chg="del">
          <ac:chgData name="邦 肖" userId="38982054f6b45302" providerId="LiveId" clId="{9A653B7E-0A35-4AD6-836A-29BD773B1C26}" dt="2025-11-07T14:47:22.595" v="595" actId="478"/>
          <ac:spMkLst>
            <pc:docMk/>
            <pc:sldMk cId="504783884" sldId="1568"/>
            <ac:spMk id="2" creationId="{A8118F57-84E5-414B-8A2F-A33CA828F354}"/>
          </ac:spMkLst>
        </pc:spChg>
        <pc:spChg chg="del">
          <ac:chgData name="邦 肖" userId="38982054f6b45302" providerId="LiveId" clId="{9A653B7E-0A35-4AD6-836A-29BD773B1C26}" dt="2025-11-07T14:47:22.595" v="595" actId="478"/>
          <ac:spMkLst>
            <pc:docMk/>
            <pc:sldMk cId="504783884" sldId="1568"/>
            <ac:spMk id="3" creationId="{BFCEE03C-05CE-1FF9-9334-E8C58E75BEE4}"/>
          </ac:spMkLst>
        </pc:spChg>
        <pc:spChg chg="del">
          <ac:chgData name="邦 肖" userId="38982054f6b45302" providerId="LiveId" clId="{9A653B7E-0A35-4AD6-836A-29BD773B1C26}" dt="2025-11-07T14:47:22.595" v="595" actId="478"/>
          <ac:spMkLst>
            <pc:docMk/>
            <pc:sldMk cId="504783884" sldId="1568"/>
            <ac:spMk id="4" creationId="{8DA504A5-4D1A-60AA-DB95-A4A13AA34970}"/>
          </ac:spMkLst>
        </pc:spChg>
        <pc:spChg chg="add mod">
          <ac:chgData name="邦 肖" userId="38982054f6b45302" providerId="LiveId" clId="{9A653B7E-0A35-4AD6-836A-29BD773B1C26}" dt="2025-11-07T14:47:51.506" v="607"/>
          <ac:spMkLst>
            <pc:docMk/>
            <pc:sldMk cId="504783884" sldId="1568"/>
            <ac:spMk id="5" creationId="{116CC247-1AFC-17FF-C396-04CCDBE730EE}"/>
          </ac:spMkLst>
        </pc:spChg>
        <pc:spChg chg="add del mod">
          <ac:chgData name="邦 肖" userId="38982054f6b45302" providerId="LiveId" clId="{9A653B7E-0A35-4AD6-836A-29BD773B1C26}" dt="2025-11-07T14:47:50.592" v="605" actId="1076"/>
          <ac:spMkLst>
            <pc:docMk/>
            <pc:sldMk cId="504783884" sldId="1568"/>
            <ac:spMk id="6" creationId="{41C69545-C9B6-4ECB-F54D-70D576E0BFC6}"/>
          </ac:spMkLst>
        </pc:spChg>
        <pc:spChg chg="mod">
          <ac:chgData name="邦 肖" userId="38982054f6b45302" providerId="LiveId" clId="{9A653B7E-0A35-4AD6-836A-29BD773B1C26}" dt="2025-11-07T14:47:49.890" v="603" actId="207"/>
          <ac:spMkLst>
            <pc:docMk/>
            <pc:sldMk cId="504783884" sldId="1568"/>
            <ac:spMk id="7" creationId="{F8A7353A-11ED-9870-20DD-EC9FD967A908}"/>
          </ac:spMkLst>
        </pc:spChg>
        <pc:spChg chg="add mod">
          <ac:chgData name="邦 肖" userId="38982054f6b45302" providerId="LiveId" clId="{9A653B7E-0A35-4AD6-836A-29BD773B1C26}" dt="2025-11-07T14:47:27.764" v="596"/>
          <ac:spMkLst>
            <pc:docMk/>
            <pc:sldMk cId="504783884" sldId="1568"/>
            <ac:spMk id="8" creationId="{14B12A66-1427-93AB-AEB3-E00C616EEA06}"/>
          </ac:spMkLst>
        </pc:spChg>
        <pc:spChg chg="mod">
          <ac:chgData name="邦 肖" userId="38982054f6b45302" providerId="LiveId" clId="{9A653B7E-0A35-4AD6-836A-29BD773B1C26}" dt="2025-11-07T14:47:27.764" v="596"/>
          <ac:spMkLst>
            <pc:docMk/>
            <pc:sldMk cId="504783884" sldId="1568"/>
            <ac:spMk id="11" creationId="{97F86288-97BF-377D-49A5-FDFA910BDB93}"/>
          </ac:spMkLst>
        </pc:spChg>
        <pc:spChg chg="mod">
          <ac:chgData name="邦 肖" userId="38982054f6b45302" providerId="LiveId" clId="{9A653B7E-0A35-4AD6-836A-29BD773B1C26}" dt="2025-11-07T14:47:27.764" v="596"/>
          <ac:spMkLst>
            <pc:docMk/>
            <pc:sldMk cId="504783884" sldId="1568"/>
            <ac:spMk id="12" creationId="{2DD4BBFE-4F15-E162-EE0B-D831ACB01401}"/>
          </ac:spMkLst>
        </pc:spChg>
        <pc:spChg chg="add mod">
          <ac:chgData name="邦 肖" userId="38982054f6b45302" providerId="LiveId" clId="{9A653B7E-0A35-4AD6-836A-29BD773B1C26}" dt="2025-11-07T14:47:27.764" v="596"/>
          <ac:spMkLst>
            <pc:docMk/>
            <pc:sldMk cId="504783884" sldId="1568"/>
            <ac:spMk id="13" creationId="{7EB0A512-BF0F-AAA7-17A6-DC67F7F25B91}"/>
          </ac:spMkLst>
        </pc:spChg>
        <pc:spChg chg="add mod">
          <ac:chgData name="邦 肖" userId="38982054f6b45302" providerId="LiveId" clId="{9A653B7E-0A35-4AD6-836A-29BD773B1C26}" dt="2025-11-07T14:47:27.764" v="596"/>
          <ac:spMkLst>
            <pc:docMk/>
            <pc:sldMk cId="504783884" sldId="1568"/>
            <ac:spMk id="14" creationId="{F8B7249D-0AB7-7E62-A866-33B6732826E1}"/>
          </ac:spMkLst>
        </pc:spChg>
        <pc:spChg chg="mod">
          <ac:chgData name="邦 肖" userId="38982054f6b45302" providerId="LiveId" clId="{9A653B7E-0A35-4AD6-836A-29BD773B1C26}" dt="2025-11-07T14:47:27.764" v="596"/>
          <ac:spMkLst>
            <pc:docMk/>
            <pc:sldMk cId="504783884" sldId="1568"/>
            <ac:spMk id="19" creationId="{5E53C565-FD0C-94B8-3244-0FDF30BEBCC9}"/>
          </ac:spMkLst>
        </pc:spChg>
        <pc:spChg chg="add del">
          <ac:chgData name="邦 肖" userId="38982054f6b45302" providerId="LiveId" clId="{9A653B7E-0A35-4AD6-836A-29BD773B1C26}" dt="2025-11-07T14:47:50.969" v="606" actId="478"/>
          <ac:spMkLst>
            <pc:docMk/>
            <pc:sldMk cId="504783884" sldId="1568"/>
            <ac:spMk id="21" creationId="{7A776F4B-A791-32CE-949E-1A64FA724277}"/>
          </ac:spMkLst>
        </pc:spChg>
        <pc:spChg chg="add mod">
          <ac:chgData name="邦 肖" userId="38982054f6b45302" providerId="LiveId" clId="{9A653B7E-0A35-4AD6-836A-29BD773B1C26}" dt="2025-11-07T14:47:27.764" v="596"/>
          <ac:spMkLst>
            <pc:docMk/>
            <pc:sldMk cId="504783884" sldId="1568"/>
            <ac:spMk id="22" creationId="{35E12770-322A-3EB2-4DBF-F0825E54D099}"/>
          </ac:spMkLst>
        </pc:spChg>
        <pc:spChg chg="add mod">
          <ac:chgData name="邦 肖" userId="38982054f6b45302" providerId="LiveId" clId="{9A653B7E-0A35-4AD6-836A-29BD773B1C26}" dt="2025-11-07T14:47:27.764" v="596"/>
          <ac:spMkLst>
            <pc:docMk/>
            <pc:sldMk cId="504783884" sldId="1568"/>
            <ac:spMk id="23" creationId="{22AEDE93-6BBA-A750-88F4-FCE63AF7FD7C}"/>
          </ac:spMkLst>
        </pc:spChg>
        <pc:spChg chg="mod">
          <ac:chgData name="邦 肖" userId="38982054f6b45302" providerId="LiveId" clId="{9A653B7E-0A35-4AD6-836A-29BD773B1C26}" dt="2025-11-07T14:48:03.210" v="609"/>
          <ac:spMkLst>
            <pc:docMk/>
            <pc:sldMk cId="504783884" sldId="1568"/>
            <ac:spMk id="25" creationId="{CF71DA31-CCB2-C712-1ADA-936F290F0447}"/>
          </ac:spMkLst>
        </pc:spChg>
        <pc:spChg chg="add mod">
          <ac:chgData name="邦 肖" userId="38982054f6b45302" providerId="LiveId" clId="{9A653B7E-0A35-4AD6-836A-29BD773B1C26}" dt="2025-11-07T14:47:57.996" v="608"/>
          <ac:spMkLst>
            <pc:docMk/>
            <pc:sldMk cId="504783884" sldId="1568"/>
            <ac:spMk id="26" creationId="{40E162ED-0953-8B0A-3B51-0D902DCDA39E}"/>
          </ac:spMkLst>
        </pc:spChg>
        <pc:spChg chg="add mod">
          <ac:chgData name="邦 肖" userId="38982054f6b45302" providerId="LiveId" clId="{9A653B7E-0A35-4AD6-836A-29BD773B1C26}" dt="2025-11-07T14:47:57.996" v="608"/>
          <ac:spMkLst>
            <pc:docMk/>
            <pc:sldMk cId="504783884" sldId="1568"/>
            <ac:spMk id="28" creationId="{000BA2AC-D7F2-4655-D6C3-B2AD1608E191}"/>
          </ac:spMkLst>
        </pc:spChg>
        <pc:spChg chg="add mod">
          <ac:chgData name="邦 肖" userId="38982054f6b45302" providerId="LiveId" clId="{9A653B7E-0A35-4AD6-836A-29BD773B1C26}" dt="2025-11-07T14:47:57.996" v="608"/>
          <ac:spMkLst>
            <pc:docMk/>
            <pc:sldMk cId="504783884" sldId="1568"/>
            <ac:spMk id="29" creationId="{F9113B3F-BA86-5C97-D761-BAAB9E447DAB}"/>
          </ac:spMkLst>
        </pc:spChg>
        <pc:spChg chg="mod">
          <ac:chgData name="邦 肖" userId="38982054f6b45302" providerId="LiveId" clId="{9A653B7E-0A35-4AD6-836A-29BD773B1C26}" dt="2025-11-07T14:47:57.996" v="608"/>
          <ac:spMkLst>
            <pc:docMk/>
            <pc:sldMk cId="504783884" sldId="1568"/>
            <ac:spMk id="31" creationId="{3412AC51-6BDD-317A-95FC-3D366B7DFB6D}"/>
          </ac:spMkLst>
        </pc:spChg>
        <pc:spChg chg="add mod">
          <ac:chgData name="邦 肖" userId="38982054f6b45302" providerId="LiveId" clId="{9A653B7E-0A35-4AD6-836A-29BD773B1C26}" dt="2025-11-07T14:47:57.996" v="608"/>
          <ac:spMkLst>
            <pc:docMk/>
            <pc:sldMk cId="504783884" sldId="1568"/>
            <ac:spMk id="34" creationId="{157BCF66-6903-3049-BF3F-4277E9F010AC}"/>
          </ac:spMkLst>
        </pc:spChg>
        <pc:spChg chg="add mod">
          <ac:chgData name="邦 肖" userId="38982054f6b45302" providerId="LiveId" clId="{9A653B7E-0A35-4AD6-836A-29BD773B1C26}" dt="2025-11-07T14:47:57.996" v="608"/>
          <ac:spMkLst>
            <pc:docMk/>
            <pc:sldMk cId="504783884" sldId="1568"/>
            <ac:spMk id="35" creationId="{8D78E9C7-204D-A6E4-A810-349A25B786CD}"/>
          </ac:spMkLst>
        </pc:spChg>
        <pc:spChg chg="mod">
          <ac:chgData name="邦 肖" userId="38982054f6b45302" providerId="LiveId" clId="{9A653B7E-0A35-4AD6-836A-29BD773B1C26}" dt="2025-11-07T14:47:57.996" v="608"/>
          <ac:spMkLst>
            <pc:docMk/>
            <pc:sldMk cId="504783884" sldId="1568"/>
            <ac:spMk id="38" creationId="{B1D97E24-BC00-A8D1-900C-F27ACBF27CCB}"/>
          </ac:spMkLst>
        </pc:spChg>
        <pc:spChg chg="add mod">
          <ac:chgData name="邦 肖" userId="38982054f6b45302" providerId="LiveId" clId="{9A653B7E-0A35-4AD6-836A-29BD773B1C26}" dt="2025-11-07T14:47:57.996" v="608"/>
          <ac:spMkLst>
            <pc:docMk/>
            <pc:sldMk cId="504783884" sldId="1568"/>
            <ac:spMk id="42" creationId="{567D19C3-DA13-BA1E-70C0-1CAD7FC6EE55}"/>
          </ac:spMkLst>
        </pc:spChg>
        <pc:spChg chg="add mod">
          <ac:chgData name="邦 肖" userId="38982054f6b45302" providerId="LiveId" clId="{9A653B7E-0A35-4AD6-836A-29BD773B1C26}" dt="2025-11-07T14:47:57.996" v="608"/>
          <ac:spMkLst>
            <pc:docMk/>
            <pc:sldMk cId="504783884" sldId="1568"/>
            <ac:spMk id="43" creationId="{613A9B18-F198-FBC3-E344-6F60C64FDCA9}"/>
          </ac:spMkLst>
        </pc:spChg>
        <pc:spChg chg="add mod">
          <ac:chgData name="邦 肖" userId="38982054f6b45302" providerId="LiveId" clId="{9A653B7E-0A35-4AD6-836A-29BD773B1C26}" dt="2025-11-07T14:47:57.996" v="608"/>
          <ac:spMkLst>
            <pc:docMk/>
            <pc:sldMk cId="504783884" sldId="1568"/>
            <ac:spMk id="44" creationId="{E62F83F0-92B3-1FFA-69AE-4CA78CA227C3}"/>
          </ac:spMkLst>
        </pc:spChg>
      </pc:sldChg>
      <pc:sldChg chg="add del">
        <pc:chgData name="邦 肖" userId="38982054f6b45302" providerId="LiveId" clId="{9A653B7E-0A35-4AD6-836A-29BD773B1C26}" dt="2025-11-07T14:46:35.952" v="581"/>
        <pc:sldMkLst>
          <pc:docMk/>
          <pc:sldMk cId="3340280763" sldId="1568"/>
        </pc:sldMkLst>
      </pc:sldChg>
      <pc:sldChg chg="delSp new del mod">
        <pc:chgData name="邦 肖" userId="38982054f6b45302" providerId="LiveId" clId="{9A653B7E-0A35-4AD6-836A-29BD773B1C26}" dt="2025-11-07T14:48:21.062" v="612" actId="47"/>
        <pc:sldMkLst>
          <pc:docMk/>
          <pc:sldMk cId="3508182852" sldId="1569"/>
        </pc:sldMkLst>
        <pc:spChg chg="del">
          <ac:chgData name="邦 肖" userId="38982054f6b45302" providerId="LiveId" clId="{9A653B7E-0A35-4AD6-836A-29BD773B1C26}" dt="2025-11-07T14:47:19.433" v="594" actId="478"/>
          <ac:spMkLst>
            <pc:docMk/>
            <pc:sldMk cId="3508182852" sldId="1569"/>
            <ac:spMk id="2" creationId="{6F0135B1-25A8-76EE-1C8F-FBD656908ED4}"/>
          </ac:spMkLst>
        </pc:spChg>
        <pc:spChg chg="del">
          <ac:chgData name="邦 肖" userId="38982054f6b45302" providerId="LiveId" clId="{9A653B7E-0A35-4AD6-836A-29BD773B1C26}" dt="2025-11-07T14:47:19.433" v="594" actId="478"/>
          <ac:spMkLst>
            <pc:docMk/>
            <pc:sldMk cId="3508182852" sldId="1569"/>
            <ac:spMk id="3" creationId="{4AAFE3A8-93C0-87A3-309C-843C378249EF}"/>
          </ac:spMkLst>
        </pc:spChg>
        <pc:spChg chg="del">
          <ac:chgData name="邦 肖" userId="38982054f6b45302" providerId="LiveId" clId="{9A653B7E-0A35-4AD6-836A-29BD773B1C26}" dt="2025-11-07T14:47:19.433" v="594" actId="478"/>
          <ac:spMkLst>
            <pc:docMk/>
            <pc:sldMk cId="3508182852" sldId="1569"/>
            <ac:spMk id="4" creationId="{4A396581-6DBD-B564-D371-E692C10B5DDB}"/>
          </ac:spMkLst>
        </pc:spChg>
      </pc:sldChg>
      <pc:sldMasterChg chg="del delSldLayout">
        <pc:chgData name="邦 肖" userId="38982054f6b45302" providerId="LiveId" clId="{9A653B7E-0A35-4AD6-836A-29BD773B1C26}" dt="2025-11-07T13:11:38.805" v="404" actId="47"/>
        <pc:sldMasterMkLst>
          <pc:docMk/>
          <pc:sldMasterMk cId="0" sldId="2147483744"/>
        </pc:sldMasterMkLst>
        <pc:sldLayoutChg chg="del">
          <pc:chgData name="邦 肖" userId="38982054f6b45302" providerId="LiveId" clId="{9A653B7E-0A35-4AD6-836A-29BD773B1C26}" dt="2025-11-07T13:11:38.805" v="404" actId="47"/>
          <pc:sldLayoutMkLst>
            <pc:docMk/>
            <pc:sldMasterMk cId="0" sldId="2147483744"/>
            <pc:sldLayoutMk cId="0" sldId="2147483745"/>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46"/>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47"/>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48"/>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49"/>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50"/>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51"/>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52"/>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53"/>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54"/>
          </pc:sldLayoutMkLst>
        </pc:sldLayoutChg>
        <pc:sldLayoutChg chg="del">
          <pc:chgData name="邦 肖" userId="38982054f6b45302" providerId="LiveId" clId="{9A653B7E-0A35-4AD6-836A-29BD773B1C26}" dt="2025-11-07T13:11:38.805" v="404" actId="47"/>
          <pc:sldLayoutMkLst>
            <pc:docMk/>
            <pc:sldMasterMk cId="0" sldId="2147483744"/>
            <pc:sldLayoutMk cId="0" sldId="2147483755"/>
          </pc:sldLayoutMkLst>
        </pc:sldLayoutChg>
      </pc:sldMasterChg>
      <pc:sldMasterChg chg="del delSldLayout">
        <pc:chgData name="邦 肖" userId="38982054f6b45302" providerId="LiveId" clId="{9A653B7E-0A35-4AD6-836A-29BD773B1C26}" dt="2025-11-07T13:12:00.582" v="405" actId="47"/>
        <pc:sldMasterMkLst>
          <pc:docMk/>
          <pc:sldMasterMk cId="0" sldId="2147483756"/>
        </pc:sldMasterMkLst>
        <pc:sldLayoutChg chg="del">
          <pc:chgData name="邦 肖" userId="38982054f6b45302" providerId="LiveId" clId="{9A653B7E-0A35-4AD6-836A-29BD773B1C26}" dt="2025-11-07T13:12:00.582" v="405" actId="47"/>
          <pc:sldLayoutMkLst>
            <pc:docMk/>
            <pc:sldMasterMk cId="0" sldId="2147483756"/>
            <pc:sldLayoutMk cId="0" sldId="2147483757"/>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58"/>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59"/>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0"/>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1"/>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2"/>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3"/>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4"/>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5"/>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6"/>
          </pc:sldLayoutMkLst>
        </pc:sldLayoutChg>
        <pc:sldLayoutChg chg="del">
          <pc:chgData name="邦 肖" userId="38982054f6b45302" providerId="LiveId" clId="{9A653B7E-0A35-4AD6-836A-29BD773B1C26}" dt="2025-11-07T13:12:00.582" v="405" actId="47"/>
          <pc:sldLayoutMkLst>
            <pc:docMk/>
            <pc:sldMasterMk cId="0" sldId="2147483756"/>
            <pc:sldLayoutMk cId="0" sldId="214748376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277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Tx/>
              <a:buNone/>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2771" name="Rectangle 3"/>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Tx/>
              <a:buNone/>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2772" name="Rectangle 4"/>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buFontTx/>
              <a:buNone/>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2773" name="Rectangle 5"/>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DCAC1F-8490-4E4B-AE74-9EEA3B60A146}" type="slidenum">
              <a:rPr kumimoji="0" lang="en-US" altLang="zh-CN" sz="1200" b="0" i="0" u="none" strike="noStrike" kern="1200" cap="none" spc="0" normalizeH="0" baseline="0" noProof="1">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Tx/>
              <a:buNone/>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187"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Tx/>
              <a:buNone/>
              <a:defRPr kumimoji="1"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526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3189"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93190"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buFontTx/>
              <a:buNone/>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191"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28FBEC4-A39D-48F0-AD6C-F1D6E34619AA}"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8.jpg"/><Relationship Id="rId4"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3794" name="Group 1026"/>
          <p:cNvGrpSpPr/>
          <p:nvPr/>
        </p:nvGrpSpPr>
        <p:grpSpPr>
          <a:xfrm>
            <a:off x="0" y="2438400"/>
            <a:ext cx="9009063" cy="1052513"/>
            <a:chOff x="0" y="1536"/>
            <a:chExt cx="5675" cy="663"/>
          </a:xfrm>
        </p:grpSpPr>
        <p:grpSp>
          <p:nvGrpSpPr>
            <p:cNvPr id="33795"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3798"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3"/>
            <a:ext cx="1619249" cy="509587"/>
          </a:xfrm>
          <a:prstGeom prst="rect">
            <a:avLst/>
          </a:prstGeom>
        </p:spPr>
      </p:pic>
      <p:pic>
        <p:nvPicPr>
          <p:cNvPr id="17" name="bg object 17"/>
          <p:cNvPicPr/>
          <p:nvPr/>
        </p:nvPicPr>
        <p:blipFill>
          <a:blip r:embed="rId3" cstate="print"/>
          <a:stretch>
            <a:fillRect/>
          </a:stretch>
        </p:blipFill>
        <p:spPr>
          <a:xfrm>
            <a:off x="0" y="2891630"/>
            <a:ext cx="4895786" cy="3962400"/>
          </a:xfrm>
          <a:prstGeom prst="rect">
            <a:avLst/>
          </a:prstGeom>
        </p:spPr>
      </p:pic>
      <p:pic>
        <p:nvPicPr>
          <p:cNvPr id="18" name="bg object 18"/>
          <p:cNvPicPr/>
          <p:nvPr/>
        </p:nvPicPr>
        <p:blipFill>
          <a:blip r:embed="rId4" cstate="print"/>
          <a:stretch>
            <a:fillRect/>
          </a:stretch>
        </p:blipFill>
        <p:spPr>
          <a:xfrm>
            <a:off x="0" y="0"/>
            <a:ext cx="4895850" cy="3101975"/>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54608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3"/>
            <a:ext cx="1619249" cy="509587"/>
          </a:xfrm>
          <a:prstGeom prst="rect">
            <a:avLst/>
          </a:prstGeom>
        </p:spPr>
      </p:pic>
      <p:pic>
        <p:nvPicPr>
          <p:cNvPr id="17" name="bg object 17"/>
          <p:cNvPicPr/>
          <p:nvPr/>
        </p:nvPicPr>
        <p:blipFill>
          <a:blip r:embed="rId3" cstate="print"/>
          <a:stretch>
            <a:fillRect/>
          </a:stretch>
        </p:blipFill>
        <p:spPr>
          <a:xfrm>
            <a:off x="5399532" y="836675"/>
            <a:ext cx="3204845" cy="2406776"/>
          </a:xfrm>
          <a:prstGeom prst="rect">
            <a:avLst/>
          </a:prstGeom>
        </p:spPr>
      </p:pic>
      <p:pic>
        <p:nvPicPr>
          <p:cNvPr id="18" name="bg object 18"/>
          <p:cNvPicPr/>
          <p:nvPr/>
        </p:nvPicPr>
        <p:blipFill>
          <a:blip r:embed="rId4" cstate="print"/>
          <a:stretch>
            <a:fillRect/>
          </a:stretch>
        </p:blipFill>
        <p:spPr>
          <a:xfrm>
            <a:off x="5331205" y="3541953"/>
            <a:ext cx="3527425" cy="2841625"/>
          </a:xfrm>
          <a:prstGeom prst="rect">
            <a:avLst/>
          </a:prstGeom>
        </p:spPr>
      </p:pic>
      <p:pic>
        <p:nvPicPr>
          <p:cNvPr id="19" name="bg object 19"/>
          <p:cNvPicPr/>
          <p:nvPr/>
        </p:nvPicPr>
        <p:blipFill>
          <a:blip r:embed="rId5" cstate="print"/>
          <a:stretch>
            <a:fillRect/>
          </a:stretch>
        </p:blipFill>
        <p:spPr>
          <a:xfrm>
            <a:off x="3534790" y="1355725"/>
            <a:ext cx="1733168" cy="3636772"/>
          </a:xfrm>
          <a:prstGeom prst="rect">
            <a:avLst/>
          </a:prstGeom>
        </p:spPr>
      </p:pic>
      <p:sp>
        <p:nvSpPr>
          <p:cNvPr id="2" name="Holder 2"/>
          <p:cNvSpPr>
            <a:spLocks noGrp="1"/>
          </p:cNvSpPr>
          <p:nvPr>
            <p:ph type="title"/>
          </p:nvPr>
        </p:nvSpPr>
        <p:spPr/>
        <p:txBody>
          <a:bodyPr lIns="0" tIns="0" rIns="0" bIns="0"/>
          <a:lstStyle>
            <a:lvl1pPr>
              <a:defRPr sz="3600" b="1" i="0">
                <a:solidFill>
                  <a:schemeClr val="tx1"/>
                </a:solidFill>
                <a:latin typeface="Microsoft JhengHei"/>
                <a:cs typeface="Microsoft JhengHei"/>
              </a:defRPr>
            </a:lvl1pPr>
          </a:lstStyle>
          <a:p>
            <a:endParaRPr/>
          </a:p>
        </p:txBody>
      </p:sp>
      <p:sp>
        <p:nvSpPr>
          <p:cNvPr id="3" name="Holder 3"/>
          <p:cNvSpPr>
            <a:spLocks noGrp="1"/>
          </p:cNvSpPr>
          <p:nvPr>
            <p:ph sz="half" idx="2"/>
          </p:nvPr>
        </p:nvSpPr>
        <p:spPr>
          <a:xfrm>
            <a:off x="78739" y="1098042"/>
            <a:ext cx="3419475" cy="4419600"/>
          </a:xfrm>
          <a:prstGeom prst="rect">
            <a:avLst/>
          </a:prstGeom>
        </p:spPr>
        <p:txBody>
          <a:bodyPr wrap="square" lIns="0" tIns="0" rIns="0" bIns="0">
            <a:spAutoFit/>
          </a:bodyPr>
          <a:lstStyle>
            <a:lvl1pPr>
              <a:defRPr sz="2800" b="1" i="0">
                <a:solidFill>
                  <a:schemeClr val="tx1"/>
                </a:solidFill>
                <a:latin typeface="Microsoft JhengHei"/>
                <a:cs typeface="Microsoft JhengHei"/>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90976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45058" name="Group 1026"/>
          <p:cNvGrpSpPr/>
          <p:nvPr/>
        </p:nvGrpSpPr>
        <p:grpSpPr>
          <a:xfrm>
            <a:off x="0" y="2438400"/>
            <a:ext cx="9009063" cy="1052513"/>
            <a:chOff x="0" y="1536"/>
            <a:chExt cx="5675" cy="663"/>
          </a:xfrm>
        </p:grpSpPr>
        <p:grpSp>
          <p:nvGrpSpPr>
            <p:cNvPr id="4505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4506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56322" name="Group 1026"/>
          <p:cNvGrpSpPr/>
          <p:nvPr/>
        </p:nvGrpSpPr>
        <p:grpSpPr>
          <a:xfrm>
            <a:off x="0" y="2438400"/>
            <a:ext cx="9009063" cy="1052513"/>
            <a:chOff x="0" y="1536"/>
            <a:chExt cx="5675" cy="663"/>
          </a:xfrm>
        </p:grpSpPr>
        <p:grpSp>
          <p:nvGrpSpPr>
            <p:cNvPr id="56323"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56326"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67586" name="Group 1026"/>
          <p:cNvGrpSpPr/>
          <p:nvPr/>
        </p:nvGrpSpPr>
        <p:grpSpPr>
          <a:xfrm>
            <a:off x="0" y="2438400"/>
            <a:ext cx="9009063" cy="1052513"/>
            <a:chOff x="0" y="1536"/>
            <a:chExt cx="5675" cy="663"/>
          </a:xfrm>
        </p:grpSpPr>
        <p:grpSp>
          <p:nvGrpSpPr>
            <p:cNvPr id="67587"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67590"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78850" name="Group 1026"/>
          <p:cNvGrpSpPr/>
          <p:nvPr/>
        </p:nvGrpSpPr>
        <p:grpSpPr>
          <a:xfrm>
            <a:off x="0" y="2438400"/>
            <a:ext cx="9009063" cy="1052513"/>
            <a:chOff x="0" y="1536"/>
            <a:chExt cx="5675" cy="663"/>
          </a:xfrm>
        </p:grpSpPr>
        <p:grpSp>
          <p:nvGrpSpPr>
            <p:cNvPr id="78851"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78854"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90114" name="Group 1026"/>
          <p:cNvGrpSpPr/>
          <p:nvPr/>
        </p:nvGrpSpPr>
        <p:grpSpPr>
          <a:xfrm>
            <a:off x="0" y="2438400"/>
            <a:ext cx="9009063" cy="1052513"/>
            <a:chOff x="0" y="1536"/>
            <a:chExt cx="5675" cy="663"/>
          </a:xfrm>
        </p:grpSpPr>
        <p:grpSp>
          <p:nvGrpSpPr>
            <p:cNvPr id="90115"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90118"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01378" name="Group 1026"/>
          <p:cNvGrpSpPr/>
          <p:nvPr/>
        </p:nvGrpSpPr>
        <p:grpSpPr>
          <a:xfrm>
            <a:off x="0" y="2438400"/>
            <a:ext cx="9009063" cy="1052513"/>
            <a:chOff x="0" y="1536"/>
            <a:chExt cx="5675" cy="663"/>
          </a:xfrm>
        </p:grpSpPr>
        <p:grpSp>
          <p:nvGrpSpPr>
            <p:cNvPr id="10137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0138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12642" name="Group 1026"/>
          <p:cNvGrpSpPr/>
          <p:nvPr/>
        </p:nvGrpSpPr>
        <p:grpSpPr>
          <a:xfrm>
            <a:off x="0" y="2438400"/>
            <a:ext cx="9009063" cy="1052513"/>
            <a:chOff x="0" y="1536"/>
            <a:chExt cx="5675" cy="663"/>
          </a:xfrm>
        </p:grpSpPr>
        <p:grpSp>
          <p:nvGrpSpPr>
            <p:cNvPr id="112643"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12646"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46434" name="Group 1026"/>
          <p:cNvGrpSpPr/>
          <p:nvPr/>
        </p:nvGrpSpPr>
        <p:grpSpPr>
          <a:xfrm>
            <a:off x="0" y="2438400"/>
            <a:ext cx="9009063" cy="1052513"/>
            <a:chOff x="0" y="1536"/>
            <a:chExt cx="5675" cy="663"/>
          </a:xfrm>
        </p:grpSpPr>
        <p:grpSp>
          <p:nvGrpSpPr>
            <p:cNvPr id="146435"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46438"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57698" name="Group 1026"/>
          <p:cNvGrpSpPr/>
          <p:nvPr/>
        </p:nvGrpSpPr>
        <p:grpSpPr>
          <a:xfrm>
            <a:off x="0" y="2438400"/>
            <a:ext cx="9009063" cy="1052513"/>
            <a:chOff x="0" y="1536"/>
            <a:chExt cx="5675" cy="663"/>
          </a:xfrm>
        </p:grpSpPr>
        <p:grpSp>
          <p:nvGrpSpPr>
            <p:cNvPr id="15769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5770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68962" name="Group 1026"/>
          <p:cNvGrpSpPr/>
          <p:nvPr/>
        </p:nvGrpSpPr>
        <p:grpSpPr>
          <a:xfrm>
            <a:off x="0" y="2438400"/>
            <a:ext cx="9009063" cy="1052513"/>
            <a:chOff x="0" y="1536"/>
            <a:chExt cx="5675" cy="663"/>
          </a:xfrm>
        </p:grpSpPr>
        <p:grpSp>
          <p:nvGrpSpPr>
            <p:cNvPr id="168963"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68966"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80226" name="Group 1026"/>
          <p:cNvGrpSpPr/>
          <p:nvPr/>
        </p:nvGrpSpPr>
        <p:grpSpPr>
          <a:xfrm>
            <a:off x="0" y="2438400"/>
            <a:ext cx="9009063" cy="1052513"/>
            <a:chOff x="0" y="1536"/>
            <a:chExt cx="5675" cy="663"/>
          </a:xfrm>
        </p:grpSpPr>
        <p:grpSp>
          <p:nvGrpSpPr>
            <p:cNvPr id="180227"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80230"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91490" name="Group 1026"/>
          <p:cNvGrpSpPr/>
          <p:nvPr/>
        </p:nvGrpSpPr>
        <p:grpSpPr>
          <a:xfrm>
            <a:off x="0" y="2438400"/>
            <a:ext cx="9009063" cy="1052513"/>
            <a:chOff x="0" y="1536"/>
            <a:chExt cx="5675" cy="663"/>
          </a:xfrm>
        </p:grpSpPr>
        <p:grpSp>
          <p:nvGrpSpPr>
            <p:cNvPr id="191491"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191494"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2754" name="Group 1026"/>
          <p:cNvGrpSpPr/>
          <p:nvPr/>
        </p:nvGrpSpPr>
        <p:grpSpPr>
          <a:xfrm>
            <a:off x="0" y="2438400"/>
            <a:ext cx="9009063" cy="1052513"/>
            <a:chOff x="0" y="1536"/>
            <a:chExt cx="5675" cy="663"/>
          </a:xfrm>
        </p:grpSpPr>
        <p:grpSp>
          <p:nvGrpSpPr>
            <p:cNvPr id="202755"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202758"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14018" name="Group 1026"/>
          <p:cNvGrpSpPr/>
          <p:nvPr/>
        </p:nvGrpSpPr>
        <p:grpSpPr>
          <a:xfrm>
            <a:off x="0" y="2438400"/>
            <a:ext cx="9009063" cy="1052513"/>
            <a:chOff x="0" y="1536"/>
            <a:chExt cx="5675" cy="663"/>
          </a:xfrm>
        </p:grpSpPr>
        <p:grpSp>
          <p:nvGrpSpPr>
            <p:cNvPr id="21401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21402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25282" name="Group 1026"/>
          <p:cNvGrpSpPr/>
          <p:nvPr/>
        </p:nvGrpSpPr>
        <p:grpSpPr>
          <a:xfrm>
            <a:off x="0" y="2438400"/>
            <a:ext cx="9009063" cy="1052513"/>
            <a:chOff x="0" y="1536"/>
            <a:chExt cx="5675" cy="663"/>
          </a:xfrm>
        </p:grpSpPr>
        <p:grpSp>
          <p:nvGrpSpPr>
            <p:cNvPr id="225283"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225286"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36546" name="Group 1026"/>
          <p:cNvGrpSpPr/>
          <p:nvPr/>
        </p:nvGrpSpPr>
        <p:grpSpPr>
          <a:xfrm>
            <a:off x="0" y="2438400"/>
            <a:ext cx="9009063" cy="1052513"/>
            <a:chOff x="0" y="1536"/>
            <a:chExt cx="5675" cy="663"/>
          </a:xfrm>
        </p:grpSpPr>
        <p:grpSp>
          <p:nvGrpSpPr>
            <p:cNvPr id="236547"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236550"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47810" name="Group 1026"/>
          <p:cNvGrpSpPr/>
          <p:nvPr/>
        </p:nvGrpSpPr>
        <p:grpSpPr>
          <a:xfrm>
            <a:off x="0" y="2438400"/>
            <a:ext cx="9009063" cy="1052513"/>
            <a:chOff x="0" y="1536"/>
            <a:chExt cx="5675" cy="663"/>
          </a:xfrm>
        </p:grpSpPr>
        <p:grpSp>
          <p:nvGrpSpPr>
            <p:cNvPr id="247811"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247814"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70338" name="Group 1026"/>
          <p:cNvGrpSpPr/>
          <p:nvPr/>
        </p:nvGrpSpPr>
        <p:grpSpPr>
          <a:xfrm>
            <a:off x="0" y="2438400"/>
            <a:ext cx="9009063" cy="1052513"/>
            <a:chOff x="0" y="1536"/>
            <a:chExt cx="5675" cy="663"/>
          </a:xfrm>
        </p:grpSpPr>
        <p:grpSp>
          <p:nvGrpSpPr>
            <p:cNvPr id="27033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27034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04130" name="Group 1026"/>
          <p:cNvGrpSpPr/>
          <p:nvPr/>
        </p:nvGrpSpPr>
        <p:grpSpPr>
          <a:xfrm>
            <a:off x="0" y="2438400"/>
            <a:ext cx="9009063" cy="1052513"/>
            <a:chOff x="0" y="1536"/>
            <a:chExt cx="5675" cy="663"/>
          </a:xfrm>
        </p:grpSpPr>
        <p:grpSp>
          <p:nvGrpSpPr>
            <p:cNvPr id="304131"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04134"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15394" name="Group 1026"/>
          <p:cNvGrpSpPr/>
          <p:nvPr/>
        </p:nvGrpSpPr>
        <p:grpSpPr>
          <a:xfrm>
            <a:off x="0" y="2438400"/>
            <a:ext cx="9009063" cy="1052513"/>
            <a:chOff x="0" y="1536"/>
            <a:chExt cx="5675" cy="663"/>
          </a:xfrm>
        </p:grpSpPr>
        <p:grpSp>
          <p:nvGrpSpPr>
            <p:cNvPr id="315395"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15398"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26658" name="Group 1026"/>
          <p:cNvGrpSpPr/>
          <p:nvPr/>
        </p:nvGrpSpPr>
        <p:grpSpPr>
          <a:xfrm>
            <a:off x="0" y="2438400"/>
            <a:ext cx="9009063" cy="1052513"/>
            <a:chOff x="0" y="1536"/>
            <a:chExt cx="5675" cy="663"/>
          </a:xfrm>
        </p:grpSpPr>
        <p:grpSp>
          <p:nvGrpSpPr>
            <p:cNvPr id="32665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2666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37922" name="Group 1026"/>
          <p:cNvGrpSpPr/>
          <p:nvPr/>
        </p:nvGrpSpPr>
        <p:grpSpPr>
          <a:xfrm>
            <a:off x="0" y="2438400"/>
            <a:ext cx="9009063" cy="1052513"/>
            <a:chOff x="0" y="1536"/>
            <a:chExt cx="5675" cy="663"/>
          </a:xfrm>
        </p:grpSpPr>
        <p:grpSp>
          <p:nvGrpSpPr>
            <p:cNvPr id="337923"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37926"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49186" name="Group 1026"/>
          <p:cNvGrpSpPr/>
          <p:nvPr/>
        </p:nvGrpSpPr>
        <p:grpSpPr>
          <a:xfrm>
            <a:off x="0" y="2438400"/>
            <a:ext cx="9009063" cy="1052513"/>
            <a:chOff x="0" y="1536"/>
            <a:chExt cx="5675" cy="663"/>
          </a:xfrm>
        </p:grpSpPr>
        <p:grpSp>
          <p:nvGrpSpPr>
            <p:cNvPr id="349187"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49190"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60450" name="Group 1026"/>
          <p:cNvGrpSpPr/>
          <p:nvPr/>
        </p:nvGrpSpPr>
        <p:grpSpPr>
          <a:xfrm>
            <a:off x="0" y="2438400"/>
            <a:ext cx="9009063" cy="1052513"/>
            <a:chOff x="0" y="1536"/>
            <a:chExt cx="5675" cy="663"/>
          </a:xfrm>
        </p:grpSpPr>
        <p:grpSp>
          <p:nvGrpSpPr>
            <p:cNvPr id="360451"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60454"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71714" name="Group 1026"/>
          <p:cNvGrpSpPr/>
          <p:nvPr/>
        </p:nvGrpSpPr>
        <p:grpSpPr>
          <a:xfrm>
            <a:off x="0" y="2438400"/>
            <a:ext cx="9009063" cy="1052513"/>
            <a:chOff x="0" y="1536"/>
            <a:chExt cx="5675" cy="663"/>
          </a:xfrm>
        </p:grpSpPr>
        <p:grpSp>
          <p:nvGrpSpPr>
            <p:cNvPr id="371715"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71718"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82978" name="Group 1026"/>
          <p:cNvGrpSpPr/>
          <p:nvPr/>
        </p:nvGrpSpPr>
        <p:grpSpPr>
          <a:xfrm>
            <a:off x="0" y="2438400"/>
            <a:ext cx="9009063" cy="1052513"/>
            <a:chOff x="0" y="1536"/>
            <a:chExt cx="5675" cy="663"/>
          </a:xfrm>
        </p:grpSpPr>
        <p:grpSp>
          <p:nvGrpSpPr>
            <p:cNvPr id="382979" name="Group 1027"/>
            <p:cNvGrpSpPr/>
            <p:nvPr/>
          </p:nvGrpSpPr>
          <p:grpSpPr>
            <a:xfrm>
              <a:off x="183" y="1604"/>
              <a:ext cx="448" cy="299"/>
              <a:chOff x="720" y="336"/>
              <a:chExt cx="624" cy="432"/>
            </a:xfrm>
          </p:grpSpPr>
          <p:sp>
            <p:nvSpPr>
              <p:cNvPr id="21" name="Rectangle 1028"/>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2"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grpSp>
          <p:nvGrpSpPr>
            <p:cNvPr id="382982" name="Group 1030"/>
            <p:cNvGrpSpPr/>
            <p:nvPr/>
          </p:nvGrpSpPr>
          <p:grpSpPr>
            <a:xfrm>
              <a:off x="261" y="1870"/>
              <a:ext cx="465" cy="299"/>
              <a:chOff x="912" y="2640"/>
              <a:chExt cx="672" cy="432"/>
            </a:xfrm>
          </p:grpSpPr>
          <p:sp>
            <p:nvSpPr>
              <p:cNvPr id="19" name="Rectangle 1031"/>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0"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16"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7" name="Rectangle 1034"/>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8"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grpSp>
      <p:sp>
        <p:nvSpPr>
          <p:cNvPr id="23" name="AutoShape 1042">
            <a:hlinkClick r:id="" action="ppaction://hlinkshowjump?jump=lastslideviewed" highlightClick="1"/>
          </p:cNvPr>
          <p:cNvSpPr>
            <a:spLocks noChangeArrowheads="1"/>
          </p:cNvSpPr>
          <p:nvPr/>
        </p:nvSpPr>
        <p:spPr bwMode="auto">
          <a:xfrm>
            <a:off x="7051675" y="6619875"/>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4" name="AutoShape 1043">
            <a:hlinkClick r:id="" action="ppaction://hlinkshowjump?jump=previousslide" highlightClick="1"/>
          </p:cNvPr>
          <p:cNvSpPr>
            <a:spLocks noChangeArrowheads="1"/>
          </p:cNvSpPr>
          <p:nvPr/>
        </p:nvSpPr>
        <p:spPr bwMode="auto">
          <a:xfrm>
            <a:off x="6764338" y="6619875"/>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5" name="AutoShape 1044">
            <a:hlinkClick r:id="" action="ppaction://noaction" highlightClick="1"/>
          </p:cNvPr>
          <p:cNvSpPr>
            <a:spLocks noChangeArrowheads="1"/>
          </p:cNvSpPr>
          <p:nvPr/>
        </p:nvSpPr>
        <p:spPr bwMode="auto">
          <a:xfrm>
            <a:off x="6477000" y="6619875"/>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6" name="AutoShape 1045">
            <a:hlinkClick r:id="" action="ppaction://hlinkshowjump?jump=lastslide" highlightClick="1"/>
          </p:cNvPr>
          <p:cNvSpPr>
            <a:spLocks noChangeArrowheads="1"/>
          </p:cNvSpPr>
          <p:nvPr/>
        </p:nvSpPr>
        <p:spPr bwMode="auto">
          <a:xfrm>
            <a:off x="7339013" y="6619875"/>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27" name="AutoShape 1046">
            <a:hlinkClick r:id="" action="ppaction://hlinkshowjump?jump=lastslide" highlightClick="1"/>
          </p:cNvPr>
          <p:cNvSpPr>
            <a:spLocks noChangeArrowheads="1"/>
          </p:cNvSpPr>
          <p:nvPr/>
        </p:nvSpPr>
        <p:spPr bwMode="auto">
          <a:xfrm>
            <a:off x="7620000" y="6619875"/>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670732" name="Rectangle 1036"/>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a:t>单击此处编辑母版标题样式</a:t>
            </a:r>
          </a:p>
        </p:txBody>
      </p:sp>
      <p:sp>
        <p:nvSpPr>
          <p:cNvPr id="670733"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a:t>单击此处编辑母版副标题样式</a:t>
            </a:r>
          </a:p>
        </p:txBody>
      </p:sp>
      <p:sp>
        <p:nvSpPr>
          <p:cNvPr id="28" name="Rectangle 1038"/>
          <p:cNvSpPr>
            <a:spLocks noGrp="1" noChangeArrowheads="1"/>
          </p:cNvSpPr>
          <p:nvPr>
            <p:ph type="dt" sz="half" idx="2"/>
          </p:nvPr>
        </p:nvSpPr>
        <p:spPr bwMode="auto">
          <a:xfrm>
            <a:off x="0" y="6629400"/>
            <a:ext cx="3124200" cy="228600"/>
          </a:xfrm>
          <a:prstGeom prst="rect">
            <a:avLst/>
          </a:prstGeom>
          <a:noFill/>
          <a:ln>
            <a:noFill/>
          </a:ln>
          <a:effectLst/>
        </p:spPr>
        <p:txBody>
          <a:bodyPr vert="horz" wrap="square" lIns="91440" tIns="45720" rIns="91440" bIns="45720" numCol="1" anchor="b" anchorCtr="0" compatLnSpc="1"/>
          <a:lstStyle>
            <a:lvl1pPr>
              <a:lnSpc>
                <a:spcPct val="30000"/>
              </a:lnSpc>
              <a:defRPr/>
            </a:lvl1pPr>
          </a:lstStyle>
          <a:p>
            <a:pPr marL="0" marR="0" lvl="0" indent="0" algn="l" defTabSz="914400" rtl="0" eaLnBrk="1" fontAlgn="base" latinLnBrk="0" hangingPunct="1">
              <a:lnSpc>
                <a:spcPct val="30000"/>
              </a:lnSpc>
              <a:spcBef>
                <a:spcPct val="0"/>
              </a:spcBef>
              <a:spcAft>
                <a:spcPct val="0"/>
              </a:spcAft>
              <a:buClrTx/>
              <a:buSzTx/>
              <a:buFontTx/>
              <a:buNone/>
              <a:defRPr/>
            </a:pPr>
            <a:fld id="{1357E62F-95F8-42A7-922D-44CE280E804F}"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29" name="Rectangle 1039"/>
          <p:cNvSpPr>
            <a:spLocks noGrp="1" noChangeArrowheads="1"/>
          </p:cNvSpPr>
          <p:nvPr>
            <p:ph type="ftr" sz="quarter" idx="3"/>
          </p:nvPr>
        </p:nvSpPr>
        <p:spPr bwMode="auto">
          <a:xfrm>
            <a:off x="3810000" y="6629400"/>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30" name="Rectangle 1040"/>
          <p:cNvSpPr>
            <a:spLocks noGrp="1" noChangeArrowheads="1"/>
          </p:cNvSpPr>
          <p:nvPr>
            <p:ph type="sldNum" sz="quarter" idx="4"/>
          </p:nvPr>
        </p:nvSpPr>
        <p:spPr bwMode="auto">
          <a:xfrm>
            <a:off x="7239000" y="6629400"/>
            <a:ext cx="1905000" cy="209550"/>
          </a:xfrm>
          <a:prstGeom prst="rect">
            <a:avLst/>
          </a:prstGeom>
          <a:noFill/>
          <a:ln>
            <a:noFill/>
          </a:ln>
          <a:effectLst/>
        </p:spPr>
        <p:txBody>
          <a:bodyPr vert="horz" wrap="square" lIns="91440" tIns="45720" rIns="91440" bIns="45720" numCol="1" anchor="b" anchorCtr="0" compatLnSpc="1"/>
          <a:lstStyle>
            <a:lvl1pPr>
              <a:lnSpc>
                <a:spcPct val="20000"/>
              </a:lnSpc>
              <a:defRPr>
                <a:solidFill>
                  <a:srgbClr val="0000FF"/>
                </a:solidFill>
              </a:defRPr>
            </a:lvl1pPr>
          </a:lstStyle>
          <a:p>
            <a:pPr marL="0" marR="0" lvl="0" indent="0" algn="r" defTabSz="914400" rtl="0" eaLnBrk="1" fontAlgn="base" latinLnBrk="0" hangingPunct="1">
              <a:lnSpc>
                <a:spcPct val="20000"/>
              </a:lnSpc>
              <a:spcBef>
                <a:spcPct val="0"/>
              </a:spcBef>
              <a:spcAft>
                <a:spcPct val="0"/>
              </a:spcAft>
              <a:buClrTx/>
              <a:buSzTx/>
              <a:buFont typeface="Arial" panose="020B0604020202020204" pitchFamily="34" charset="0"/>
              <a:buNone/>
              <a:defRPr/>
            </a:pPr>
            <a:fld id="{5B80B3B3-2E04-4D1D-A191-C74FFF2C1511}" type="slidenum">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0000FF"/>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99884-B1B3-462A-9081-26E4EFA486E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53FC4BB2-D3F8-4AD6-82D4-49BE493ECDDF}"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5BE90EC-BC03-46EA-A23F-C3225FC14AAD}"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456CA6B0-D5ED-42FF-BEC8-CB44DEE5A715}"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95400"/>
            <a:ext cx="4495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A21B8793-9789-4F38-8BE3-FD59F012F453}"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D1F3F78D-3DC3-4ABB-9161-1A0822E78EFE}"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BC14EDA9-AE8B-4B3E-92CE-C4A16D6069B0}"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1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1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9028E87-6933-4653-9902-480265F553C3}"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1BEBAEB-9358-4676-B95F-FD1C4871E55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7AD1F02A-3D8C-435F-89AD-7EEF168D3B1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01024F8E-F88A-4733-9FF9-DB4FDBCE509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48A80A3-3CA1-416D-86CF-A69B33D985BA}"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79B88EE0-30D1-4DB9-ABB7-98DFDFEB012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3A3ED516-C41A-4D18-9761-7CFCA120E6A7}"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rgbClr val="0000FF"/>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3" name="Rectangle 22"/>
          <p:cNvSpPr>
            <a:spLocks noGrp="1" noChangeArrowheads="1"/>
          </p:cNvSpPr>
          <p:nvPr>
            <p:ph type="dt" sz="half" idx="1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46F1B8EF-224B-44D6-935C-E60DE3EEB1CE}"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BAD60BB0-DFCB-4D56-90A0-062B3297AD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103C0E3E-76DC-4F19-B5F4-1DB198D4C7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0506C75C-5F0B-47B9-9A07-84733A8004F4}"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76200"/>
            <a:ext cx="2286000" cy="64008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76200"/>
            <a:ext cx="6705600" cy="6400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3"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
              </a:lnSpc>
              <a:spcBef>
                <a:spcPct val="0"/>
              </a:spcBef>
              <a:spcAft>
                <a:spcPct val="0"/>
              </a:spcAft>
              <a:buClrTx/>
              <a:buSzTx/>
              <a:buFontTx/>
              <a:buNone/>
              <a:defRPr/>
            </a:pPr>
            <a:fld id="{6C14455B-42E4-4AF8-AABD-23B4E4C3B11C}"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14"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15"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EB7C68EB-23EC-46E5-9393-B09902FB2CE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image" Target="../media/image1.pn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1.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pn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image" Target="../media/image1.png"/><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theme" Target="../theme/theme8.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image" Target="../media/image1.png"/><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theme" Target="../theme/theme9.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image" Target="../media/image1.png"/><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theme" Target="../theme/theme10.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image" Target="../media/image1.png"/><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theme" Target="../theme/theme11.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image" Target="../media/image1.png"/><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theme" Target="../theme/theme12.xml"/><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0" Type="http://schemas.openxmlformats.org/officeDocument/2006/relationships/slideLayout" Target="../slideLayouts/slideLayout133.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image" Target="../media/image1.png"/><Relationship Id="rId3" Type="http://schemas.openxmlformats.org/officeDocument/2006/relationships/slideLayout" Target="../slideLayouts/slideLayout137.xml"/><Relationship Id="rId7" Type="http://schemas.openxmlformats.org/officeDocument/2006/relationships/slideLayout" Target="../slideLayouts/slideLayout141.xml"/><Relationship Id="rId12" Type="http://schemas.openxmlformats.org/officeDocument/2006/relationships/theme" Target="../theme/theme13.xml"/><Relationship Id="rId2" Type="http://schemas.openxmlformats.org/officeDocument/2006/relationships/slideLayout" Target="../slideLayouts/slideLayout136.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0" Type="http://schemas.openxmlformats.org/officeDocument/2006/relationships/slideLayout" Target="../slideLayouts/slideLayout144.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image" Target="../media/image2.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3.xml"/><Relationship Id="rId13" Type="http://schemas.openxmlformats.org/officeDocument/2006/relationships/image" Target="../media/image1.png"/><Relationship Id="rId3" Type="http://schemas.openxmlformats.org/officeDocument/2006/relationships/slideLayout" Target="../slideLayouts/slideLayout148.xml"/><Relationship Id="rId7" Type="http://schemas.openxmlformats.org/officeDocument/2006/relationships/slideLayout" Target="../slideLayouts/slideLayout152.xml"/><Relationship Id="rId12" Type="http://schemas.openxmlformats.org/officeDocument/2006/relationships/theme" Target="../theme/theme14.xml"/><Relationship Id="rId2" Type="http://schemas.openxmlformats.org/officeDocument/2006/relationships/slideLayout" Target="../slideLayouts/slideLayout147.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5" Type="http://schemas.openxmlformats.org/officeDocument/2006/relationships/slideLayout" Target="../slideLayouts/slideLayout150.xml"/><Relationship Id="rId10" Type="http://schemas.openxmlformats.org/officeDocument/2006/relationships/slideLayout" Target="../slideLayouts/slideLayout155.xml"/><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image" Target="../media/image2.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image" Target="../media/image1.png"/><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theme" Target="../theme/theme15.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image" Target="../media/image2.png"/></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5.xml"/><Relationship Id="rId13" Type="http://schemas.openxmlformats.org/officeDocument/2006/relationships/image" Target="../media/image1.png"/><Relationship Id="rId3" Type="http://schemas.openxmlformats.org/officeDocument/2006/relationships/slideLayout" Target="../slideLayouts/slideLayout170.xml"/><Relationship Id="rId7" Type="http://schemas.openxmlformats.org/officeDocument/2006/relationships/slideLayout" Target="../slideLayouts/slideLayout174.xml"/><Relationship Id="rId12" Type="http://schemas.openxmlformats.org/officeDocument/2006/relationships/theme" Target="../theme/theme16.xml"/><Relationship Id="rId2" Type="http://schemas.openxmlformats.org/officeDocument/2006/relationships/slideLayout" Target="../slideLayouts/slideLayout169.x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1" Type="http://schemas.openxmlformats.org/officeDocument/2006/relationships/slideLayout" Target="../slideLayouts/slideLayout178.xml"/><Relationship Id="rId5" Type="http://schemas.openxmlformats.org/officeDocument/2006/relationships/slideLayout" Target="../slideLayouts/slideLayout172.xml"/><Relationship Id="rId10" Type="http://schemas.openxmlformats.org/officeDocument/2006/relationships/slideLayout" Target="../slideLayouts/slideLayout177.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14" Type="http://schemas.openxmlformats.org/officeDocument/2006/relationships/image" Target="../media/image2.pn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6.xml"/><Relationship Id="rId13" Type="http://schemas.openxmlformats.org/officeDocument/2006/relationships/image" Target="../media/image1.png"/><Relationship Id="rId3" Type="http://schemas.openxmlformats.org/officeDocument/2006/relationships/slideLayout" Target="../slideLayouts/slideLayout181.xml"/><Relationship Id="rId7" Type="http://schemas.openxmlformats.org/officeDocument/2006/relationships/slideLayout" Target="../slideLayouts/slideLayout185.xml"/><Relationship Id="rId12" Type="http://schemas.openxmlformats.org/officeDocument/2006/relationships/theme" Target="../theme/theme17.xml"/><Relationship Id="rId2" Type="http://schemas.openxmlformats.org/officeDocument/2006/relationships/slideLayout" Target="../slideLayouts/slideLayout180.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1" Type="http://schemas.openxmlformats.org/officeDocument/2006/relationships/slideLayout" Target="../slideLayouts/slideLayout189.xml"/><Relationship Id="rId5" Type="http://schemas.openxmlformats.org/officeDocument/2006/relationships/slideLayout" Target="../slideLayouts/slideLayout183.xml"/><Relationship Id="rId10" Type="http://schemas.openxmlformats.org/officeDocument/2006/relationships/slideLayout" Target="../slideLayouts/slideLayout188.xml"/><Relationship Id="rId4" Type="http://schemas.openxmlformats.org/officeDocument/2006/relationships/slideLayout" Target="../slideLayouts/slideLayout182.xml"/><Relationship Id="rId9" Type="http://schemas.openxmlformats.org/officeDocument/2006/relationships/slideLayout" Target="../slideLayouts/slideLayout187.xml"/><Relationship Id="rId14" Type="http://schemas.openxmlformats.org/officeDocument/2006/relationships/image" Target="../media/image2.png"/></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97.xml"/><Relationship Id="rId13" Type="http://schemas.openxmlformats.org/officeDocument/2006/relationships/image" Target="../media/image1.png"/><Relationship Id="rId3" Type="http://schemas.openxmlformats.org/officeDocument/2006/relationships/slideLayout" Target="../slideLayouts/slideLayout192.xml"/><Relationship Id="rId7" Type="http://schemas.openxmlformats.org/officeDocument/2006/relationships/slideLayout" Target="../slideLayouts/slideLayout196.xml"/><Relationship Id="rId12" Type="http://schemas.openxmlformats.org/officeDocument/2006/relationships/theme" Target="../theme/theme18.xml"/><Relationship Id="rId2" Type="http://schemas.openxmlformats.org/officeDocument/2006/relationships/slideLayout" Target="../slideLayouts/slideLayout191.xml"/><Relationship Id="rId1" Type="http://schemas.openxmlformats.org/officeDocument/2006/relationships/slideLayout" Target="../slideLayouts/slideLayout190.xml"/><Relationship Id="rId6" Type="http://schemas.openxmlformats.org/officeDocument/2006/relationships/slideLayout" Target="../slideLayouts/slideLayout195.xml"/><Relationship Id="rId11" Type="http://schemas.openxmlformats.org/officeDocument/2006/relationships/slideLayout" Target="../slideLayouts/slideLayout200.xml"/><Relationship Id="rId5" Type="http://schemas.openxmlformats.org/officeDocument/2006/relationships/slideLayout" Target="../slideLayouts/slideLayout194.xml"/><Relationship Id="rId10" Type="http://schemas.openxmlformats.org/officeDocument/2006/relationships/slideLayout" Target="../slideLayouts/slideLayout199.xml"/><Relationship Id="rId4" Type="http://schemas.openxmlformats.org/officeDocument/2006/relationships/slideLayout" Target="../slideLayouts/slideLayout193.xml"/><Relationship Id="rId9" Type="http://schemas.openxmlformats.org/officeDocument/2006/relationships/slideLayout" Target="../slideLayouts/slideLayout198.xml"/><Relationship Id="rId14" Type="http://schemas.openxmlformats.org/officeDocument/2006/relationships/image" Target="../media/image2.png"/></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08.xml"/><Relationship Id="rId13" Type="http://schemas.openxmlformats.org/officeDocument/2006/relationships/image" Target="../media/image1.png"/><Relationship Id="rId3" Type="http://schemas.openxmlformats.org/officeDocument/2006/relationships/slideLayout" Target="../slideLayouts/slideLayout203.xml"/><Relationship Id="rId7" Type="http://schemas.openxmlformats.org/officeDocument/2006/relationships/slideLayout" Target="../slideLayouts/slideLayout207.xml"/><Relationship Id="rId12" Type="http://schemas.openxmlformats.org/officeDocument/2006/relationships/theme" Target="../theme/theme19.xml"/><Relationship Id="rId2" Type="http://schemas.openxmlformats.org/officeDocument/2006/relationships/slideLayout" Target="../slideLayouts/slideLayout202.xml"/><Relationship Id="rId1" Type="http://schemas.openxmlformats.org/officeDocument/2006/relationships/slideLayout" Target="../slideLayouts/slideLayout201.xml"/><Relationship Id="rId6" Type="http://schemas.openxmlformats.org/officeDocument/2006/relationships/slideLayout" Target="../slideLayouts/slideLayout206.xml"/><Relationship Id="rId11" Type="http://schemas.openxmlformats.org/officeDocument/2006/relationships/slideLayout" Target="../slideLayouts/slideLayout211.xml"/><Relationship Id="rId5" Type="http://schemas.openxmlformats.org/officeDocument/2006/relationships/slideLayout" Target="../slideLayouts/slideLayout205.xml"/><Relationship Id="rId10" Type="http://schemas.openxmlformats.org/officeDocument/2006/relationships/slideLayout" Target="../slideLayouts/slideLayout210.xml"/><Relationship Id="rId4" Type="http://schemas.openxmlformats.org/officeDocument/2006/relationships/slideLayout" Target="../slideLayouts/slideLayout204.xml"/><Relationship Id="rId9" Type="http://schemas.openxmlformats.org/officeDocument/2006/relationships/slideLayout" Target="../slideLayouts/slideLayout209.xml"/><Relationship Id="rId14" Type="http://schemas.openxmlformats.org/officeDocument/2006/relationships/image" Target="../media/image2.png"/></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19.xml"/><Relationship Id="rId13" Type="http://schemas.openxmlformats.org/officeDocument/2006/relationships/image" Target="../media/image1.png"/><Relationship Id="rId3" Type="http://schemas.openxmlformats.org/officeDocument/2006/relationships/slideLayout" Target="../slideLayouts/slideLayout214.xml"/><Relationship Id="rId7" Type="http://schemas.openxmlformats.org/officeDocument/2006/relationships/slideLayout" Target="../slideLayouts/slideLayout218.xml"/><Relationship Id="rId12" Type="http://schemas.openxmlformats.org/officeDocument/2006/relationships/theme" Target="../theme/theme20.xml"/><Relationship Id="rId2" Type="http://schemas.openxmlformats.org/officeDocument/2006/relationships/slideLayout" Target="../slideLayouts/slideLayout213.xml"/><Relationship Id="rId1" Type="http://schemas.openxmlformats.org/officeDocument/2006/relationships/slideLayout" Target="../slideLayouts/slideLayout212.xml"/><Relationship Id="rId6" Type="http://schemas.openxmlformats.org/officeDocument/2006/relationships/slideLayout" Target="../slideLayouts/slideLayout217.xml"/><Relationship Id="rId11" Type="http://schemas.openxmlformats.org/officeDocument/2006/relationships/slideLayout" Target="../slideLayouts/slideLayout222.xml"/><Relationship Id="rId5" Type="http://schemas.openxmlformats.org/officeDocument/2006/relationships/slideLayout" Target="../slideLayouts/slideLayout216.xml"/><Relationship Id="rId10" Type="http://schemas.openxmlformats.org/officeDocument/2006/relationships/slideLayout" Target="../slideLayouts/slideLayout221.xml"/><Relationship Id="rId4" Type="http://schemas.openxmlformats.org/officeDocument/2006/relationships/slideLayout" Target="../slideLayouts/slideLayout215.xml"/><Relationship Id="rId9" Type="http://schemas.openxmlformats.org/officeDocument/2006/relationships/slideLayout" Target="../slideLayouts/slideLayout220.xml"/><Relationship Id="rId1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30.xml"/><Relationship Id="rId13" Type="http://schemas.openxmlformats.org/officeDocument/2006/relationships/image" Target="../media/image1.png"/><Relationship Id="rId3" Type="http://schemas.openxmlformats.org/officeDocument/2006/relationships/slideLayout" Target="../slideLayouts/slideLayout225.xml"/><Relationship Id="rId7" Type="http://schemas.openxmlformats.org/officeDocument/2006/relationships/slideLayout" Target="../slideLayouts/slideLayout229.xml"/><Relationship Id="rId12" Type="http://schemas.openxmlformats.org/officeDocument/2006/relationships/theme" Target="../theme/theme21.xml"/><Relationship Id="rId2" Type="http://schemas.openxmlformats.org/officeDocument/2006/relationships/slideLayout" Target="../slideLayouts/slideLayout224.xml"/><Relationship Id="rId1" Type="http://schemas.openxmlformats.org/officeDocument/2006/relationships/slideLayout" Target="../slideLayouts/slideLayout223.xml"/><Relationship Id="rId6" Type="http://schemas.openxmlformats.org/officeDocument/2006/relationships/slideLayout" Target="../slideLayouts/slideLayout228.xml"/><Relationship Id="rId11" Type="http://schemas.openxmlformats.org/officeDocument/2006/relationships/slideLayout" Target="../slideLayouts/slideLayout233.xml"/><Relationship Id="rId5" Type="http://schemas.openxmlformats.org/officeDocument/2006/relationships/slideLayout" Target="../slideLayouts/slideLayout227.xml"/><Relationship Id="rId10" Type="http://schemas.openxmlformats.org/officeDocument/2006/relationships/slideLayout" Target="../slideLayouts/slideLayout232.xml"/><Relationship Id="rId4" Type="http://schemas.openxmlformats.org/officeDocument/2006/relationships/slideLayout" Target="../slideLayouts/slideLayout226.xml"/><Relationship Id="rId9" Type="http://schemas.openxmlformats.org/officeDocument/2006/relationships/slideLayout" Target="../slideLayouts/slideLayout231.xml"/><Relationship Id="rId14" Type="http://schemas.openxmlformats.org/officeDocument/2006/relationships/image" Target="../media/image2.png"/></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41.xml"/><Relationship Id="rId13" Type="http://schemas.openxmlformats.org/officeDocument/2006/relationships/image" Target="../media/image1.png"/><Relationship Id="rId3" Type="http://schemas.openxmlformats.org/officeDocument/2006/relationships/slideLayout" Target="../slideLayouts/slideLayout236.xml"/><Relationship Id="rId7" Type="http://schemas.openxmlformats.org/officeDocument/2006/relationships/slideLayout" Target="../slideLayouts/slideLayout240.xml"/><Relationship Id="rId12" Type="http://schemas.openxmlformats.org/officeDocument/2006/relationships/theme" Target="../theme/theme22.xml"/><Relationship Id="rId2" Type="http://schemas.openxmlformats.org/officeDocument/2006/relationships/slideLayout" Target="../slideLayouts/slideLayout235.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11" Type="http://schemas.openxmlformats.org/officeDocument/2006/relationships/slideLayout" Target="../slideLayouts/slideLayout244.xml"/><Relationship Id="rId5" Type="http://schemas.openxmlformats.org/officeDocument/2006/relationships/slideLayout" Target="../slideLayouts/slideLayout238.xml"/><Relationship Id="rId10" Type="http://schemas.openxmlformats.org/officeDocument/2006/relationships/slideLayout" Target="../slideLayouts/slideLayout243.xml"/><Relationship Id="rId4" Type="http://schemas.openxmlformats.org/officeDocument/2006/relationships/slideLayout" Target="../slideLayouts/slideLayout237.xml"/><Relationship Id="rId9" Type="http://schemas.openxmlformats.org/officeDocument/2006/relationships/slideLayout" Target="../slideLayouts/slideLayout242.xml"/><Relationship Id="rId14" Type="http://schemas.openxmlformats.org/officeDocument/2006/relationships/image" Target="../media/image2.png"/></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52.xml"/><Relationship Id="rId13" Type="http://schemas.openxmlformats.org/officeDocument/2006/relationships/image" Target="../media/image1.png"/><Relationship Id="rId3" Type="http://schemas.openxmlformats.org/officeDocument/2006/relationships/slideLayout" Target="../slideLayouts/slideLayout247.xml"/><Relationship Id="rId7" Type="http://schemas.openxmlformats.org/officeDocument/2006/relationships/slideLayout" Target="../slideLayouts/slideLayout251.xml"/><Relationship Id="rId12" Type="http://schemas.openxmlformats.org/officeDocument/2006/relationships/theme" Target="../theme/theme23.xml"/><Relationship Id="rId2" Type="http://schemas.openxmlformats.org/officeDocument/2006/relationships/slideLayout" Target="../slideLayouts/slideLayout246.xml"/><Relationship Id="rId1" Type="http://schemas.openxmlformats.org/officeDocument/2006/relationships/slideLayout" Target="../slideLayouts/slideLayout245.xml"/><Relationship Id="rId6" Type="http://schemas.openxmlformats.org/officeDocument/2006/relationships/slideLayout" Target="../slideLayouts/slideLayout250.xml"/><Relationship Id="rId11" Type="http://schemas.openxmlformats.org/officeDocument/2006/relationships/slideLayout" Target="../slideLayouts/slideLayout255.xml"/><Relationship Id="rId5" Type="http://schemas.openxmlformats.org/officeDocument/2006/relationships/slideLayout" Target="../slideLayouts/slideLayout249.xml"/><Relationship Id="rId10" Type="http://schemas.openxmlformats.org/officeDocument/2006/relationships/slideLayout" Target="../slideLayouts/slideLayout254.xml"/><Relationship Id="rId4" Type="http://schemas.openxmlformats.org/officeDocument/2006/relationships/slideLayout" Target="../slideLayouts/slideLayout248.xml"/><Relationship Id="rId9" Type="http://schemas.openxmlformats.org/officeDocument/2006/relationships/slideLayout" Target="../slideLayouts/slideLayout253.xml"/><Relationship Id="rId14" Type="http://schemas.openxmlformats.org/officeDocument/2006/relationships/image" Target="../media/image2.png"/></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63.xml"/><Relationship Id="rId13" Type="http://schemas.openxmlformats.org/officeDocument/2006/relationships/image" Target="../media/image1.png"/><Relationship Id="rId3" Type="http://schemas.openxmlformats.org/officeDocument/2006/relationships/slideLayout" Target="../slideLayouts/slideLayout258.xml"/><Relationship Id="rId7" Type="http://schemas.openxmlformats.org/officeDocument/2006/relationships/slideLayout" Target="../slideLayouts/slideLayout262.xml"/><Relationship Id="rId12" Type="http://schemas.openxmlformats.org/officeDocument/2006/relationships/theme" Target="../theme/theme24.xml"/><Relationship Id="rId2" Type="http://schemas.openxmlformats.org/officeDocument/2006/relationships/slideLayout" Target="../slideLayouts/slideLayout257.xml"/><Relationship Id="rId1" Type="http://schemas.openxmlformats.org/officeDocument/2006/relationships/slideLayout" Target="../slideLayouts/slideLayout256.xml"/><Relationship Id="rId6" Type="http://schemas.openxmlformats.org/officeDocument/2006/relationships/slideLayout" Target="../slideLayouts/slideLayout261.xml"/><Relationship Id="rId11" Type="http://schemas.openxmlformats.org/officeDocument/2006/relationships/slideLayout" Target="../slideLayouts/slideLayout266.xml"/><Relationship Id="rId5" Type="http://schemas.openxmlformats.org/officeDocument/2006/relationships/slideLayout" Target="../slideLayouts/slideLayout260.xml"/><Relationship Id="rId10" Type="http://schemas.openxmlformats.org/officeDocument/2006/relationships/slideLayout" Target="../slideLayouts/slideLayout265.xml"/><Relationship Id="rId4" Type="http://schemas.openxmlformats.org/officeDocument/2006/relationships/slideLayout" Target="../slideLayouts/slideLayout259.xml"/><Relationship Id="rId9" Type="http://schemas.openxmlformats.org/officeDocument/2006/relationships/slideLayout" Target="../slideLayouts/slideLayout264.xml"/><Relationship Id="rId14" Type="http://schemas.openxmlformats.org/officeDocument/2006/relationships/image" Target="../media/image2.png"/></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74.xml"/><Relationship Id="rId13" Type="http://schemas.openxmlformats.org/officeDocument/2006/relationships/image" Target="../media/image1.png"/><Relationship Id="rId3" Type="http://schemas.openxmlformats.org/officeDocument/2006/relationships/slideLayout" Target="../slideLayouts/slideLayout269.xml"/><Relationship Id="rId7" Type="http://schemas.openxmlformats.org/officeDocument/2006/relationships/slideLayout" Target="../slideLayouts/slideLayout273.xml"/><Relationship Id="rId12" Type="http://schemas.openxmlformats.org/officeDocument/2006/relationships/theme" Target="../theme/theme25.xml"/><Relationship Id="rId2" Type="http://schemas.openxmlformats.org/officeDocument/2006/relationships/slideLayout" Target="../slideLayouts/slideLayout268.xml"/><Relationship Id="rId1" Type="http://schemas.openxmlformats.org/officeDocument/2006/relationships/slideLayout" Target="../slideLayouts/slideLayout267.xml"/><Relationship Id="rId6" Type="http://schemas.openxmlformats.org/officeDocument/2006/relationships/slideLayout" Target="../slideLayouts/slideLayout272.xml"/><Relationship Id="rId11" Type="http://schemas.openxmlformats.org/officeDocument/2006/relationships/slideLayout" Target="../slideLayouts/slideLayout277.xml"/><Relationship Id="rId5" Type="http://schemas.openxmlformats.org/officeDocument/2006/relationships/slideLayout" Target="../slideLayouts/slideLayout271.xml"/><Relationship Id="rId10" Type="http://schemas.openxmlformats.org/officeDocument/2006/relationships/slideLayout" Target="../slideLayouts/slideLayout276.xml"/><Relationship Id="rId4" Type="http://schemas.openxmlformats.org/officeDocument/2006/relationships/slideLayout" Target="../slideLayouts/slideLayout270.xml"/><Relationship Id="rId9" Type="http://schemas.openxmlformats.org/officeDocument/2006/relationships/slideLayout" Target="../slideLayouts/slideLayout275.xml"/><Relationship Id="rId14" Type="http://schemas.openxmlformats.org/officeDocument/2006/relationships/image" Target="../media/image2.png"/></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285.xml"/><Relationship Id="rId13" Type="http://schemas.openxmlformats.org/officeDocument/2006/relationships/image" Target="../media/image1.png"/><Relationship Id="rId3" Type="http://schemas.openxmlformats.org/officeDocument/2006/relationships/slideLayout" Target="../slideLayouts/slideLayout280.xml"/><Relationship Id="rId7" Type="http://schemas.openxmlformats.org/officeDocument/2006/relationships/slideLayout" Target="../slideLayouts/slideLayout284.xml"/><Relationship Id="rId12" Type="http://schemas.openxmlformats.org/officeDocument/2006/relationships/theme" Target="../theme/theme26.xml"/><Relationship Id="rId2" Type="http://schemas.openxmlformats.org/officeDocument/2006/relationships/slideLayout" Target="../slideLayouts/slideLayout279.xml"/><Relationship Id="rId1" Type="http://schemas.openxmlformats.org/officeDocument/2006/relationships/slideLayout" Target="../slideLayouts/slideLayout278.xml"/><Relationship Id="rId6" Type="http://schemas.openxmlformats.org/officeDocument/2006/relationships/slideLayout" Target="../slideLayouts/slideLayout283.xml"/><Relationship Id="rId11" Type="http://schemas.openxmlformats.org/officeDocument/2006/relationships/slideLayout" Target="../slideLayouts/slideLayout288.xml"/><Relationship Id="rId5" Type="http://schemas.openxmlformats.org/officeDocument/2006/relationships/slideLayout" Target="../slideLayouts/slideLayout282.xml"/><Relationship Id="rId10" Type="http://schemas.openxmlformats.org/officeDocument/2006/relationships/slideLayout" Target="../slideLayouts/slideLayout287.xml"/><Relationship Id="rId4" Type="http://schemas.openxmlformats.org/officeDocument/2006/relationships/slideLayout" Target="../slideLayouts/slideLayout281.xml"/><Relationship Id="rId9" Type="http://schemas.openxmlformats.org/officeDocument/2006/relationships/slideLayout" Target="../slideLayouts/slideLayout286.xml"/><Relationship Id="rId14" Type="http://schemas.openxmlformats.org/officeDocument/2006/relationships/image" Target="../media/image2.png"/></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image" Target="../media/image1.png"/><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theme" Target="../theme/theme27.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028"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996" r:id="rId12"/>
    <p:sldLayoutId id="2147483997" r:id="rId13"/>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5"/>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6"/>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05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5"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3076"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099"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4100"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3"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5124"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147"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6148"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17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717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195"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8196"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267"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1268"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229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229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315"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3316"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339"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4340"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363"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5364"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387"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6388"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741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741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435"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8436"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459"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19460"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483"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0484"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253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253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5603"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5604"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6627"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6628"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5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765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8675"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8676"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9699"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29700"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23"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30724"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1747"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31748"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38100" y="1219200"/>
            <a:ext cx="9067800" cy="74613"/>
          </a:xfrm>
          <a:prstGeom prst="rect">
            <a:avLst/>
          </a:prstGeom>
          <a:solidFill>
            <a:srgbClr val="FF3300"/>
          </a:solidFill>
          <a:ln w="38100">
            <a:solidFill>
              <a:srgbClr val="FFFF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2771" name="Rectangle 9"/>
          <p:cNvSpPr>
            <a:spLocks noGrp="1"/>
          </p:cNvSpPr>
          <p:nvPr>
            <p:ph type="title"/>
          </p:nvPr>
        </p:nvSpPr>
        <p:spPr>
          <a:xfrm>
            <a:off x="0" y="76200"/>
            <a:ext cx="9144000" cy="1143000"/>
          </a:xfrm>
          <a:prstGeom prst="rect">
            <a:avLst/>
          </a:prstGeom>
          <a:noFill/>
          <a:ln w="9525">
            <a:noFill/>
          </a:ln>
        </p:spPr>
        <p:txBody>
          <a:bodyPr anchor="b" anchorCtr="0"/>
          <a:lstStyle/>
          <a:p>
            <a:pPr lvl="0"/>
            <a:r>
              <a:rPr lang="zh-CN" altLang="en-US" dirty="0"/>
              <a:t>单击此处编辑母版标题样式</a:t>
            </a:r>
          </a:p>
        </p:txBody>
      </p:sp>
      <p:sp>
        <p:nvSpPr>
          <p:cNvPr id="32772" name="Rectangle 10"/>
          <p:cNvSpPr>
            <a:spLocks noGrp="1"/>
          </p:cNvSpPr>
          <p:nvPr>
            <p:ph type="body"/>
          </p:nvPr>
        </p:nvSpPr>
        <p:spPr>
          <a:xfrm>
            <a:off x="0" y="1295400"/>
            <a:ext cx="9144000" cy="51816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p:txBody>
      </p:sp>
      <p:sp>
        <p:nvSpPr>
          <p:cNvPr id="669718" name="Rectangle 22"/>
          <p:cNvSpPr>
            <a:spLocks noGrp="1" noChangeArrowheads="1"/>
          </p:cNvSpPr>
          <p:nvPr>
            <p:ph type="dt" sz="half" idx="2"/>
          </p:nvPr>
        </p:nvSpPr>
        <p:spPr bwMode="auto">
          <a:xfrm>
            <a:off x="0" y="6619875"/>
            <a:ext cx="3124200" cy="228600"/>
          </a:xfrm>
          <a:prstGeom prst="rect">
            <a:avLst/>
          </a:prstGeom>
          <a:noFill/>
          <a:ln>
            <a:noFill/>
          </a:ln>
          <a:effectLst/>
        </p:spPr>
        <p:txBody>
          <a:bodyPr vert="horz" wrap="square" lIns="91440" tIns="45720" rIns="91440" bIns="45720" numCol="1" anchor="b" anchorCtr="0" compatLnSpc="1"/>
          <a:lstStyle>
            <a:lvl1pPr eaLnBrk="1" hangingPunct="1">
              <a:lnSpc>
                <a:spcPct val="10000"/>
              </a:lnSpc>
              <a:buFontTx/>
              <a:buNone/>
              <a:defRPr kumimoji="0" sz="2000">
                <a:solidFill>
                  <a:srgbClr val="FF0000"/>
                </a:solidFill>
                <a:latin typeface="+mn-ea"/>
              </a:defRPr>
            </a:lvl1pPr>
          </a:lstStyle>
          <a:p>
            <a:pPr marL="0" marR="0" lvl="0" indent="0" algn="l" defTabSz="914400" rtl="0" eaLnBrk="1" fontAlgn="base" latinLnBrk="0" hangingPunct="1">
              <a:lnSpc>
                <a:spcPct val="10000"/>
              </a:lnSpc>
              <a:spcBef>
                <a:spcPct val="0"/>
              </a:spcBef>
              <a:spcAft>
                <a:spcPct val="0"/>
              </a:spcAft>
              <a:buClrTx/>
              <a:buSzTx/>
              <a:buFontTx/>
              <a:buNone/>
              <a:defRPr/>
            </a:pPr>
            <a:fld id="{CD673F49-5535-400B-814B-A9B58BC8C55B}"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669719" name="Rectangle 23"/>
          <p:cNvSpPr>
            <a:spLocks noGrp="1" noChangeArrowheads="1"/>
          </p:cNvSpPr>
          <p:nvPr>
            <p:ph type="ftr" sz="quarter" idx="3"/>
          </p:nvPr>
        </p:nvSpPr>
        <p:spPr bwMode="auto">
          <a:xfrm>
            <a:off x="3276600" y="6619875"/>
            <a:ext cx="2743200" cy="228600"/>
          </a:xfrm>
          <a:prstGeom prst="rect">
            <a:avLst/>
          </a:prstGeom>
          <a:noFill/>
          <a:ln>
            <a:noFill/>
          </a:ln>
          <a:effectLst/>
        </p:spPr>
        <p:txBody>
          <a:bodyPr vert="horz" wrap="square" lIns="91440" tIns="45720" rIns="91440" bIns="45720" numCol="1" anchor="b" anchorCtr="0" compatLnSpc="1"/>
          <a:lstStyle>
            <a:lvl1pPr algn="ctr" eaLnBrk="1" hangingPunct="1">
              <a:lnSpc>
                <a:spcPct val="10000"/>
              </a:lnSpc>
              <a:buFontTx/>
              <a:buNone/>
              <a:defRPr kumimoji="0" sz="2000">
                <a:solidFill>
                  <a:srgbClr val="3333FF"/>
                </a:solidFill>
                <a:latin typeface="+mn-ea"/>
              </a:defRPr>
            </a:lvl1pPr>
          </a:lstStyle>
          <a:p>
            <a:pPr marL="0" marR="0" lvl="0" indent="0" algn="ctr" defTabSz="914400" rtl="0" eaLnBrk="1" fontAlgn="base" latinLnBrk="0" hangingPunct="1">
              <a:lnSpc>
                <a:spcPct val="1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3333FF"/>
                </a:solidFill>
                <a:effectLst/>
                <a:uLnTx/>
                <a:uFillTx/>
                <a:latin typeface="+mn-ea"/>
                <a:ea typeface="华文新魏" panose="02010800040101010101" pitchFamily="2" charset="-122"/>
                <a:cs typeface="+mn-cs"/>
              </a:rPr>
              <a:t>东乡一中  李瑞坚</a:t>
            </a:r>
          </a:p>
        </p:txBody>
      </p:sp>
      <p:sp>
        <p:nvSpPr>
          <p:cNvPr id="669720" name="Rectangle 24"/>
          <p:cNvSpPr>
            <a:spLocks noGrp="1" noChangeArrowheads="1"/>
          </p:cNvSpPr>
          <p:nvPr>
            <p:ph type="sldNum" sz="quarter" idx="4"/>
          </p:nvPr>
        </p:nvSpPr>
        <p:spPr bwMode="auto">
          <a:xfrm>
            <a:off x="7239000" y="6648450"/>
            <a:ext cx="1905000" cy="209550"/>
          </a:xfrm>
          <a:prstGeom prst="rect">
            <a:avLst/>
          </a:prstGeom>
          <a:noFill/>
          <a:ln>
            <a:noFill/>
          </a:ln>
          <a:effectLst/>
        </p:spPr>
        <p:txBody>
          <a:bodyPr vert="horz" wrap="square" lIns="91440" tIns="45720" rIns="91440" bIns="45720" numCol="1" anchor="b" anchorCtr="0" compatLnSpc="1"/>
          <a:lstStyle>
            <a:lvl1pPr algn="r" eaLnBrk="1" hangingPunct="1">
              <a:lnSpc>
                <a:spcPct val="10000"/>
              </a:lnSpc>
              <a:buFont typeface="Arial" panose="020B0604020202020204" pitchFamily="34" charset="0"/>
              <a:buNone/>
              <a:defRPr sz="2000" noProof="1">
                <a:solidFill>
                  <a:srgbClr val="FF0000"/>
                </a:solidFill>
                <a:latin typeface="华文新魏" panose="02010800040101010101" pitchFamily="2" charset="-122"/>
              </a:defRPr>
            </a:lvl1pPr>
          </a:lstStyle>
          <a:p>
            <a:pPr marL="0" marR="0" lvl="0" indent="0" algn="r" defTabSz="914400" rtl="0" eaLnBrk="1" fontAlgn="base" latinLnBrk="0" hangingPunct="1">
              <a:lnSpc>
                <a:spcPct val="10000"/>
              </a:lnSpc>
              <a:spcBef>
                <a:spcPct val="0"/>
              </a:spcBef>
              <a:spcAft>
                <a:spcPct val="0"/>
              </a:spcAft>
              <a:buClrTx/>
              <a:buSzTx/>
              <a:buFont typeface="Arial" panose="020B0604020202020204" pitchFamily="34" charset="0"/>
              <a:buNone/>
              <a:defRPr/>
            </a:pPr>
            <a:fld id="{F751FE59-1339-4621-9DB5-3A52A81E57C9}" type="slidenum">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a:t>
            </a:fld>
            <a:r>
              <a:rPr kumimoji="0" lang="en-US" altLang="zh-CN" sz="2000" b="0" i="0" u="none" strike="noStrike" kern="1200" cap="none" spc="0" normalizeH="0" baseline="0" noProof="1">
                <a:ln>
                  <a:noFill/>
                </a:ln>
                <a:solidFill>
                  <a:srgbClr val="FF0000"/>
                </a:solidFill>
                <a:effectLst/>
                <a:uLnTx/>
                <a:uFillTx/>
                <a:latin typeface="华文新魏" panose="02010800040101010101" pitchFamily="2" charset="-122"/>
                <a:ea typeface="华文新魏" panose="02010800040101010101" pitchFamily="2" charset="-122"/>
                <a:cs typeface="+mn-cs"/>
              </a:rPr>
              <a:t>/172</a:t>
            </a:r>
          </a:p>
        </p:txBody>
      </p:sp>
      <p:sp>
        <p:nvSpPr>
          <p:cNvPr id="1032" name="AutoShape 25">
            <a:hlinkClick r:id="" action="ppaction://hlinkshowjump?jump=lastslideviewed" highlightClick="1"/>
          </p:cNvPr>
          <p:cNvSpPr>
            <a:spLocks noChangeArrowheads="1"/>
          </p:cNvSpPr>
          <p:nvPr/>
        </p:nvSpPr>
        <p:spPr bwMode="auto">
          <a:xfrm>
            <a:off x="7051675" y="6610350"/>
            <a:ext cx="228600" cy="209550"/>
          </a:xfrm>
          <a:prstGeom prst="actionButtonReturn">
            <a:avLst/>
          </a:prstGeom>
          <a:solidFill>
            <a:srgbClr val="FF3300"/>
          </a:solidFill>
          <a:ln w="9525">
            <a:solidFill>
              <a:srgbClr val="FF99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3" name="AutoShape 26">
            <a:hlinkClick r:id="" action="ppaction://hlinkshowjump?jump=previousslide" highlightClick="1"/>
          </p:cNvPr>
          <p:cNvSpPr>
            <a:spLocks noChangeArrowheads="1"/>
          </p:cNvSpPr>
          <p:nvPr/>
        </p:nvSpPr>
        <p:spPr bwMode="auto">
          <a:xfrm>
            <a:off x="6764338" y="6610350"/>
            <a:ext cx="228600" cy="228600"/>
          </a:xfrm>
          <a:prstGeom prst="actionButtonBackPrevious">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4" name="AutoShape 27">
            <a:hlinkClick r:id="" action="ppaction://hlinkshowjump?jump=firstslide" highlightClick="1"/>
          </p:cNvPr>
          <p:cNvSpPr>
            <a:spLocks noChangeArrowheads="1"/>
          </p:cNvSpPr>
          <p:nvPr/>
        </p:nvSpPr>
        <p:spPr bwMode="auto">
          <a:xfrm>
            <a:off x="6477000" y="6610350"/>
            <a:ext cx="228600" cy="228600"/>
          </a:xfrm>
          <a:prstGeom prst="actionButtonBeginning">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5" name="AutoShape 28">
            <a:hlinkClick r:id="" action="ppaction://hlinkshowjump?jump=endshow" highlightClick="1"/>
          </p:cNvPr>
          <p:cNvSpPr>
            <a:spLocks noChangeArrowheads="1"/>
          </p:cNvSpPr>
          <p:nvPr/>
        </p:nvSpPr>
        <p:spPr bwMode="auto">
          <a:xfrm>
            <a:off x="7339013" y="6610350"/>
            <a:ext cx="228600" cy="228600"/>
          </a:xfrm>
          <a:prstGeom prst="actionButtonEnd">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
        <p:nvSpPr>
          <p:cNvPr id="1036" name="AutoShape 30">
            <a:hlinkClick r:id="" action="ppaction://hlinkshowjump?jump=lastslide" highlightClick="1"/>
          </p:cNvPr>
          <p:cNvSpPr>
            <a:spLocks noChangeArrowheads="1"/>
          </p:cNvSpPr>
          <p:nvPr/>
        </p:nvSpPr>
        <p:spPr bwMode="auto">
          <a:xfrm>
            <a:off x="7620000" y="6610350"/>
            <a:ext cx="228600" cy="228600"/>
          </a:xfrm>
          <a:prstGeom prst="actionButtonHelp">
            <a:avLst/>
          </a:prstGeom>
          <a:solidFill>
            <a:srgbClr val="FFFF00"/>
          </a:solidFill>
          <a:ln w="9525">
            <a:solidFill>
              <a:srgbClr val="FF3300"/>
            </a:solidFill>
            <a:miter lim="800000"/>
          </a:ln>
          <a:effectLst/>
        </p:spPr>
        <p:txBody>
          <a:bodyPr wrap="none" anchor="ctr"/>
          <a:lstStyle>
            <a:lvl1pPr eaLnBrk="0" hangingPunct="0">
              <a:defRPr kumimoji="1" sz="2400">
                <a:solidFill>
                  <a:schemeClr val="tx1"/>
                </a:solidFill>
                <a:latin typeface="Tahoma" panose="020B0604030504040204" pitchFamily="34" charset="0"/>
                <a:ea typeface="华文新魏" panose="02010800040101010101" pitchFamily="2" charset="-122"/>
              </a:defRPr>
            </a:lvl1pPr>
            <a:lvl2pPr marL="742950" indent="-285750" eaLnBrk="0" hangingPunct="0">
              <a:defRPr kumimoji="1" sz="2400">
                <a:solidFill>
                  <a:schemeClr val="tx1"/>
                </a:solidFill>
                <a:latin typeface="Tahoma" panose="020B0604030504040204" pitchFamily="34" charset="0"/>
                <a:ea typeface="华文新魏" panose="02010800040101010101" pitchFamily="2" charset="-122"/>
              </a:defRPr>
            </a:lvl2pPr>
            <a:lvl3pPr marL="1143000" indent="-228600" eaLnBrk="0" hangingPunct="0">
              <a:defRPr kumimoji="1" sz="2400">
                <a:solidFill>
                  <a:schemeClr val="tx1"/>
                </a:solidFill>
                <a:latin typeface="Tahoma" panose="020B0604030504040204" pitchFamily="34" charset="0"/>
                <a:ea typeface="华文新魏" panose="02010800040101010101" pitchFamily="2" charset="-122"/>
              </a:defRPr>
            </a:lvl3pPr>
            <a:lvl4pPr marL="1600200" indent="-228600" eaLnBrk="0" hangingPunct="0">
              <a:defRPr kumimoji="1" sz="2400">
                <a:solidFill>
                  <a:schemeClr val="tx1"/>
                </a:solidFill>
                <a:latin typeface="Tahoma" panose="020B0604030504040204" pitchFamily="34" charset="0"/>
                <a:ea typeface="华文新魏" panose="02010800040101010101" pitchFamily="2" charset="-122"/>
              </a:defRPr>
            </a:lvl4pPr>
            <a:lvl5pPr marL="2057400" indent="-228600" eaLnBrk="0" hangingPunct="0">
              <a:defRPr kumimoji="1" sz="2400">
                <a:solidFill>
                  <a:schemeClr val="tx1"/>
                </a:solidFill>
                <a:latin typeface="Tahoma" panose="020B0604030504040204" pitchFamily="34" charset="0"/>
                <a:ea typeface="华文新魏" panose="020108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hf sldNum="0" hdr="0" ftr="0"/>
  <p:txStyles>
    <p:titleStyle>
      <a:lvl1pPr algn="l" rtl="0" eaLnBrk="0" fontAlgn="base" hangingPunct="0">
        <a:spcBef>
          <a:spcPct val="0"/>
        </a:spcBef>
        <a:spcAft>
          <a:spcPct val="0"/>
        </a:spcAft>
        <a:defRPr sz="3200">
          <a:solidFill>
            <a:srgbClr val="FF3300"/>
          </a:solidFill>
          <a:latin typeface="+mj-lt"/>
          <a:ea typeface="+mj-ea"/>
          <a:cs typeface="+mj-cs"/>
        </a:defRPr>
      </a:lvl1pPr>
      <a:lvl2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2pPr>
      <a:lvl3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3pPr>
      <a:lvl4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4pPr>
      <a:lvl5pPr algn="l" rtl="0" eaLnBrk="0" fontAlgn="base" hangingPunct="0">
        <a:spcBef>
          <a:spcPct val="0"/>
        </a:spcBef>
        <a:spcAft>
          <a:spcPct val="0"/>
        </a:spcAft>
        <a:defRPr sz="3200">
          <a:solidFill>
            <a:srgbClr val="FF3300"/>
          </a:solidFill>
          <a:latin typeface="Tahoma" panose="020B0604030504040204" pitchFamily="34" charset="0"/>
          <a:ea typeface="华文新魏" panose="02010800040101010101" pitchFamily="2" charset="-122"/>
        </a:defRPr>
      </a:lvl5pPr>
      <a:lvl6pPr marL="4572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6pPr>
      <a:lvl7pPr marL="9144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7pPr>
      <a:lvl8pPr marL="13716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8pPr>
      <a:lvl9pPr marL="1828800" algn="l" rtl="0" fontAlgn="base">
        <a:spcBef>
          <a:spcPct val="0"/>
        </a:spcBef>
        <a:spcAft>
          <a:spcPct val="0"/>
        </a:spcAft>
        <a:defRPr kumimoji="1" sz="3200">
          <a:solidFill>
            <a:srgbClr val="FF3300"/>
          </a:solidFill>
          <a:latin typeface="Tahoma" panose="020B060403050404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1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1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6.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0.xml"/><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jpg"/><Relationship Id="rId1" Type="http://schemas.openxmlformats.org/officeDocument/2006/relationships/slideLayout" Target="../slideLayouts/slideLayout70.xml"/><Relationship Id="rId6" Type="http://schemas.openxmlformats.org/officeDocument/2006/relationships/image" Target="../media/image33.png"/><Relationship Id="rId5" Type="http://schemas.openxmlformats.org/officeDocument/2006/relationships/image" Target="../media/image32.jpg"/><Relationship Id="rId4" Type="http://schemas.openxmlformats.org/officeDocument/2006/relationships/image" Target="../media/image31.jpg"/></Relationships>
</file>

<file path=ppt/slides/_rels/slide2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70.xml"/></Relationships>
</file>

<file path=ppt/slides/_rels/slide23.xml.rels><?xml version="1.0" encoding="UTF-8" standalone="yes"?>
<Relationships xmlns="http://schemas.openxmlformats.org/package/2006/relationships"><Relationship Id="rId8" Type="http://schemas.openxmlformats.org/officeDocument/2006/relationships/image" Target="../media/image43.jpg"/><Relationship Id="rId3" Type="http://schemas.openxmlformats.org/officeDocument/2006/relationships/image" Target="../media/image38.jpg"/><Relationship Id="rId7" Type="http://schemas.openxmlformats.org/officeDocument/2006/relationships/image" Target="../media/image42.jpg"/><Relationship Id="rId2" Type="http://schemas.openxmlformats.org/officeDocument/2006/relationships/image" Target="../media/image37.jpg"/><Relationship Id="rId1" Type="http://schemas.openxmlformats.org/officeDocument/2006/relationships/slideLayout" Target="../slideLayouts/slideLayout70.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2.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3.xml"/></Relationships>
</file>

<file path=ppt/slides/_rels/slide2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slide" Target="slide64.xml"/><Relationship Id="rId18" Type="http://schemas.openxmlformats.org/officeDocument/2006/relationships/slide" Target="slide63.xml"/><Relationship Id="rId3" Type="http://schemas.openxmlformats.org/officeDocument/2006/relationships/slide" Target="slide32.xml"/><Relationship Id="rId21" Type="http://schemas.openxmlformats.org/officeDocument/2006/relationships/slide" Target="slide65.xml"/><Relationship Id="rId7" Type="http://schemas.openxmlformats.org/officeDocument/2006/relationships/slide" Target="slide37.xml"/><Relationship Id="rId12" Type="http://schemas.openxmlformats.org/officeDocument/2006/relationships/slide" Target="slide57.xml"/><Relationship Id="rId17" Type="http://schemas.openxmlformats.org/officeDocument/2006/relationships/slide" Target="slide60.xml"/><Relationship Id="rId2" Type="http://schemas.openxmlformats.org/officeDocument/2006/relationships/slide" Target="slide29.xml"/><Relationship Id="rId16" Type="http://schemas.openxmlformats.org/officeDocument/2006/relationships/slide" Target="slide55.xml"/><Relationship Id="rId20" Type="http://schemas.openxmlformats.org/officeDocument/2006/relationships/slide" Target="slide78.xml"/><Relationship Id="rId1" Type="http://schemas.openxmlformats.org/officeDocument/2006/relationships/slideLayout" Target="../slideLayouts/slideLayout1.xml"/><Relationship Id="rId6" Type="http://schemas.openxmlformats.org/officeDocument/2006/relationships/slide" Target="slide34.xml"/><Relationship Id="rId11" Type="http://schemas.openxmlformats.org/officeDocument/2006/relationships/slide" Target="slide51.xml"/><Relationship Id="rId5" Type="http://schemas.openxmlformats.org/officeDocument/2006/relationships/slide" Target="slide33.xml"/><Relationship Id="rId15" Type="http://schemas.openxmlformats.org/officeDocument/2006/relationships/slide" Target="slide46.xml"/><Relationship Id="rId10" Type="http://schemas.openxmlformats.org/officeDocument/2006/relationships/slide" Target="slide42.xml"/><Relationship Id="rId19" Type="http://schemas.openxmlformats.org/officeDocument/2006/relationships/slide" Target="slide76.xml"/><Relationship Id="rId4" Type="http://schemas.openxmlformats.org/officeDocument/2006/relationships/slide" Target="slide35.xml"/><Relationship Id="rId9" Type="http://schemas.openxmlformats.org/officeDocument/2006/relationships/slide" Target="slide41.xml"/><Relationship Id="rId14" Type="http://schemas.openxmlformats.org/officeDocument/2006/relationships/slide" Target="slide75.xml"/><Relationship Id="rId22" Type="http://schemas.openxmlformats.org/officeDocument/2006/relationships/slide" Target="slide7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5.jpeg"/><Relationship Id="rId4" Type="http://schemas.openxmlformats.org/officeDocument/2006/relationships/image" Target="../media/image54.jpeg"/></Relationships>
</file>

<file path=ppt/slides/_rels/slide4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2.xml"/><Relationship Id="rId5" Type="http://schemas.openxmlformats.org/officeDocument/2006/relationships/image" Target="../media/image64.jpg"/><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jpg"/></Relationships>
</file>

<file path=ppt/slides/_rels/slide5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image" Target="../media/image69.jpeg"/><Relationship Id="rId1" Type="http://schemas.openxmlformats.org/officeDocument/2006/relationships/slideLayout" Target="../slideLayouts/slideLayout2.xml"/><Relationship Id="rId5" Type="http://schemas.openxmlformats.org/officeDocument/2006/relationships/slide" Target="slide60.xml"/><Relationship Id="rId4" Type="http://schemas.openxmlformats.org/officeDocument/2006/relationships/slide" Target="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12.xml"/><Relationship Id="rId5" Type="http://schemas.openxmlformats.org/officeDocument/2006/relationships/image" Target="../media/image73.jpg"/><Relationship Id="rId4" Type="http://schemas.openxmlformats.org/officeDocument/2006/relationships/image" Target="../media/image72.jpg"/></Relationships>
</file>

<file path=ppt/slides/_rels/slide62.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jpg"/><Relationship Id="rId1" Type="http://schemas.openxmlformats.org/officeDocument/2006/relationships/slideLayout" Target="../slideLayouts/slideLayout2.xml"/><Relationship Id="rId5" Type="http://schemas.openxmlformats.org/officeDocument/2006/relationships/image" Target="../media/image77.jpg"/><Relationship Id="rId4" Type="http://schemas.openxmlformats.org/officeDocument/2006/relationships/image" Target="../media/image76.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6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image" Target="../media/image78.jpeg"/></Relationships>
</file>

<file path=ppt/slides/_rels/slide6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2.xml"/><Relationship Id="rId4" Type="http://schemas.openxmlformats.org/officeDocument/2006/relationships/image" Target="../media/image83.jpeg"/></Relationships>
</file>

<file path=ppt/slides/_rels/slide6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image" Target="../media/image85.jpeg"/><Relationship Id="rId1" Type="http://schemas.openxmlformats.org/officeDocument/2006/relationships/slideLayout" Target="../slideLayouts/slideLayout2.xml"/><Relationship Id="rId4" Type="http://schemas.openxmlformats.org/officeDocument/2006/relationships/slide" Target="slide71.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6.jpeg"/><Relationship Id="rId4" Type="http://schemas.openxmlformats.org/officeDocument/2006/relationships/slide" Target="slide69.xml"/></Relationships>
</file>

<file path=ppt/slides/_rels/slide7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image" Target="../media/image90.jpg"/><Relationship Id="rId1" Type="http://schemas.openxmlformats.org/officeDocument/2006/relationships/slideLayout" Target="../slideLayouts/slideLayout2.xml"/><Relationship Id="rId6" Type="http://schemas.openxmlformats.org/officeDocument/2006/relationships/image" Target="../media/image94.jpg"/><Relationship Id="rId5" Type="http://schemas.openxmlformats.org/officeDocument/2006/relationships/image" Target="../media/image93.jpg"/><Relationship Id="rId4" Type="http://schemas.openxmlformats.org/officeDocument/2006/relationships/image" Target="../media/image92.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47.xml"/></Relationships>
</file>

<file path=ppt/slides/_rels/slide8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6.xml"/></Relationships>
</file>

<file path=ppt/slides/_rels/slide8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25.xml"/></Relationships>
</file>

<file path=ppt/slides/_rels/slide8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14.xml"/></Relationships>
</file>

<file path=ppt/slides/_rels/slide89.xml.rels><?xml version="1.0" encoding="UTF-8" standalone="yes"?>
<Relationships xmlns="http://schemas.openxmlformats.org/package/2006/relationships"><Relationship Id="rId3" Type="http://schemas.openxmlformats.org/officeDocument/2006/relationships/slide" Target="slide92.xml"/><Relationship Id="rId2" Type="http://schemas.openxmlformats.org/officeDocument/2006/relationships/slide" Target="slide91.xml"/><Relationship Id="rId1" Type="http://schemas.openxmlformats.org/officeDocument/2006/relationships/slideLayout" Target="../slideLayouts/slideLayout2.xml"/><Relationship Id="rId6" Type="http://schemas.openxmlformats.org/officeDocument/2006/relationships/slide" Target="slide98.xml"/><Relationship Id="rId5" Type="http://schemas.openxmlformats.org/officeDocument/2006/relationships/slide" Target="slide101.xml"/><Relationship Id="rId4" Type="http://schemas.openxmlformats.org/officeDocument/2006/relationships/slide" Target="slide9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2.jpeg"/><Relationship Id="rId4" Type="http://schemas.openxmlformats.org/officeDocument/2006/relationships/image" Target="../media/image101.jpeg"/></Relationships>
</file>

<file path=ppt/slides/_rels/slide94.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slide" Target="slide100.xml"/><Relationship Id="rId3" Type="http://schemas.openxmlformats.org/officeDocument/2006/relationships/slide" Target="slide93.xml"/><Relationship Id="rId7" Type="http://schemas.openxmlformats.org/officeDocument/2006/relationships/audio" Target="../media/audio1.wav"/><Relationship Id="rId2" Type="http://schemas.openxmlformats.org/officeDocument/2006/relationships/image" Target="../media/image104.jpeg"/><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99.xml"/><Relationship Id="rId4" Type="http://schemas.openxmlformats.org/officeDocument/2006/relationships/slide" Target="slide97.xml"/><Relationship Id="rId9" Type="http://schemas.openxmlformats.org/officeDocument/2006/relationships/slide" Target="slide98.xml"/></Relationships>
</file>

<file path=ppt/slides/_rels/slide9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image" Target="../media/image105.jpeg"/><Relationship Id="rId1" Type="http://schemas.openxmlformats.org/officeDocument/2006/relationships/slideLayout" Target="../slideLayouts/slideLayout7.xml"/><Relationship Id="rId4" Type="http://schemas.openxmlformats.org/officeDocument/2006/relationships/slide" Target="slide104.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2" Type="http://schemas.openxmlformats.org/officeDocument/2006/relationships/slide" Target="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 Target="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 Target="slide9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slide" Target="slide105.xml"/><Relationship Id="rId7" Type="http://schemas.openxmlformats.org/officeDocument/2006/relationships/slide" Target="slide109.xml"/><Relationship Id="rId2"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7.xml"/><Relationship Id="rId4"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2.xml.rels><?xml version="1.0" encoding="UTF-8" standalone="yes"?>
<Relationships xmlns="http://schemas.openxmlformats.org/package/2006/relationships"><Relationship Id="rId3" Type="http://schemas.openxmlformats.org/officeDocument/2006/relationships/slide" Target="slide114.xml"/><Relationship Id="rId2" Type="http://schemas.openxmlformats.org/officeDocument/2006/relationships/slide" Target="slide113.xml"/><Relationship Id="rId1" Type="http://schemas.openxmlformats.org/officeDocument/2006/relationships/slideLayout" Target="../slideLayouts/slideLayout2.xml"/><Relationship Id="rId6" Type="http://schemas.openxmlformats.org/officeDocument/2006/relationships/slide" Target="slide122.xml"/><Relationship Id="rId5" Type="http://schemas.openxmlformats.org/officeDocument/2006/relationships/slide" Target="slide120.xml"/><Relationship Id="rId4" Type="http://schemas.openxmlformats.org/officeDocument/2006/relationships/slide" Target="slide119.xml"/></Relationships>
</file>

<file path=ppt/slides/_rels/slide113.xml.rels><?xml version="1.0" encoding="UTF-8" standalone="yes"?>
<Relationships xmlns="http://schemas.openxmlformats.org/package/2006/relationships"><Relationship Id="rId2" Type="http://schemas.openxmlformats.org/officeDocument/2006/relationships/slide" Target="slide11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1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slide" Target="slide113.xml"/><Relationship Id="rId2" Type="http://schemas.openxmlformats.org/officeDocument/2006/relationships/image" Target="../media/image108.jpe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image" Target="../media/image109.jpe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image" Target="../media/image110.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1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 Target="slide11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slide" Target="slide131.xml"/><Relationship Id="rId2" Type="http://schemas.openxmlformats.org/officeDocument/2006/relationships/slide" Target="slide124.xml"/><Relationship Id="rId1" Type="http://schemas.openxmlformats.org/officeDocument/2006/relationships/slideLayout" Target="../slideLayouts/slideLayout2.xml"/><Relationship Id="rId4" Type="http://schemas.openxmlformats.org/officeDocument/2006/relationships/slide" Target="slide13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112.jpe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slide" Target="slide12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58.xml"/></Relationships>
</file>

<file path=ppt/slides/_rels/slide13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69.xml"/></Relationships>
</file>

<file path=ppt/slides/_rels/slide14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80.xml"/></Relationships>
</file>

<file path=ppt/slides/_rels/slide14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02.xml"/></Relationships>
</file>

<file path=ppt/slides/_rels/slide14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9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23.jpeg"/><Relationship Id="rId4" Type="http://schemas.openxmlformats.org/officeDocument/2006/relationships/image" Target="../media/image122.jpeg"/></Relationships>
</file>

<file path=ppt/slides/_rels/slide14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35.xml"/></Relationships>
</file>

<file path=ppt/slides/_rels/slide15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46.xml"/></Relationships>
</file>

<file path=ppt/slides/_rels/slide152.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28.jpeg"/><Relationship Id="rId1" Type="http://schemas.openxmlformats.org/officeDocument/2006/relationships/slideLayout" Target="../slideLayouts/slideLayout7.xml"/><Relationship Id="rId5" Type="http://schemas.openxmlformats.org/officeDocument/2006/relationships/image" Target="../media/image131.jpeg"/><Relationship Id="rId4" Type="http://schemas.openxmlformats.org/officeDocument/2006/relationships/image" Target="../media/image130.jpeg"/></Relationships>
</file>

<file path=ppt/slides/_rels/slide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image" Target="../media/image132.jpeg"/><Relationship Id="rId1" Type="http://schemas.openxmlformats.org/officeDocument/2006/relationships/slideLayout" Target="../slideLayouts/slideLayout7.xml"/><Relationship Id="rId6" Type="http://schemas.openxmlformats.org/officeDocument/2006/relationships/image" Target="../media/image136.jpeg"/><Relationship Id="rId5" Type="http://schemas.openxmlformats.org/officeDocument/2006/relationships/image" Target="../media/image135.jpeg"/><Relationship Id="rId4" Type="http://schemas.openxmlformats.org/officeDocument/2006/relationships/image" Target="../media/image134.jpeg"/></Relationships>
</file>

<file path=ppt/slides/_rels/slide15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24.xml"/></Relationships>
</file>

<file path=ppt/slides/_rels/slide15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90.xml"/></Relationships>
</file>

<file path=ppt/slides/_rels/slide157.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57.xml"/></Relationships>
</file>

<file path=ppt/slides/_rels/slide15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68.xml"/></Relationships>
</file>

<file path=ppt/slides/_rels/slide15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79.xml"/></Relationships>
</file>

<file path=ppt/slides/_rels/slide160.xml.rels><?xml version="1.0" encoding="UTF-8" standalone="yes"?>
<Relationships xmlns="http://schemas.openxmlformats.org/package/2006/relationships"><Relationship Id="rId8" Type="http://schemas.openxmlformats.org/officeDocument/2006/relationships/slide" Target="slide167.xml"/><Relationship Id="rId3" Type="http://schemas.openxmlformats.org/officeDocument/2006/relationships/slide" Target="slide162.xml"/><Relationship Id="rId7" Type="http://schemas.openxmlformats.org/officeDocument/2006/relationships/slide" Target="slide166.xml"/><Relationship Id="rId2" Type="http://schemas.openxmlformats.org/officeDocument/2006/relationships/slide" Target="slide161.xml"/><Relationship Id="rId1" Type="http://schemas.openxmlformats.org/officeDocument/2006/relationships/slideLayout" Target="../slideLayouts/slideLayout7.xml"/><Relationship Id="rId6" Type="http://schemas.openxmlformats.org/officeDocument/2006/relationships/slide" Target="slide171.xml"/><Relationship Id="rId5" Type="http://schemas.openxmlformats.org/officeDocument/2006/relationships/slide" Target="slide169.xml"/><Relationship Id="rId10" Type="http://schemas.openxmlformats.org/officeDocument/2006/relationships/slide" Target="slide175.xml"/><Relationship Id="rId4" Type="http://schemas.openxmlformats.org/officeDocument/2006/relationships/slide" Target="slide165.xml"/><Relationship Id="rId9" Type="http://schemas.openxmlformats.org/officeDocument/2006/relationships/slide" Target="slide17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8" Type="http://schemas.openxmlformats.org/officeDocument/2006/relationships/image" Target="../media/image148.jpeg"/><Relationship Id="rId3" Type="http://schemas.openxmlformats.org/officeDocument/2006/relationships/image" Target="../media/image143.jpeg"/><Relationship Id="rId7" Type="http://schemas.openxmlformats.org/officeDocument/2006/relationships/image" Target="../media/image147.jpe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146.jpeg"/><Relationship Id="rId5" Type="http://schemas.openxmlformats.org/officeDocument/2006/relationships/image" Target="../media/image145.jpeg"/><Relationship Id="rId4" Type="http://schemas.openxmlformats.org/officeDocument/2006/relationships/image" Target="../media/image144.jpeg"/><Relationship Id="rId9" Type="http://schemas.openxmlformats.org/officeDocument/2006/relationships/image" Target="../media/image149.jpeg"/></Relationships>
</file>

<file path=ppt/slides/_rels/slide1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50.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52.jpeg"/></Relationships>
</file>

<file path=ppt/slides/_rels/slide169.xml.rels><?xml version="1.0" encoding="UTF-8" standalone="yes"?>
<Relationships xmlns="http://schemas.openxmlformats.org/package/2006/relationships"><Relationship Id="rId2" Type="http://schemas.openxmlformats.org/officeDocument/2006/relationships/image" Target="../media/image153.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17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57.jpeg"/></Relationships>
</file>

<file path=ppt/slides/_rels/slide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59.jpeg"/></Relationships>
</file>

<file path=ppt/slides/_rels/slide17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63.jpeg"/><Relationship Id="rId5" Type="http://schemas.openxmlformats.org/officeDocument/2006/relationships/image" Target="../media/image162.png"/><Relationship Id="rId4" Type="http://schemas.openxmlformats.org/officeDocument/2006/relationships/image" Target="../media/image16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7.xml"/><Relationship Id="rId5" Type="http://schemas.openxmlformats.org/officeDocument/2006/relationships/image" Target="../media/image169.png"/><Relationship Id="rId4" Type="http://schemas.openxmlformats.org/officeDocument/2006/relationships/image" Target="../media/image168.jpeg"/></Relationships>
</file>

<file path=ppt/slides/_rels/slide181.xml.rels><?xml version="1.0" encoding="UTF-8" standalone="yes"?>
<Relationships xmlns="http://schemas.openxmlformats.org/package/2006/relationships"><Relationship Id="rId2" Type="http://schemas.openxmlformats.org/officeDocument/2006/relationships/image" Target="../media/image17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文本框 5"/>
          <p:cNvSpPr txBox="1"/>
          <p:nvPr/>
        </p:nvSpPr>
        <p:spPr>
          <a:xfrm>
            <a:off x="2483168" y="3141028"/>
            <a:ext cx="4975225" cy="1198880"/>
          </a:xfrm>
          <a:prstGeom prst="rect">
            <a:avLst/>
          </a:prstGeom>
          <a:noFill/>
          <a:ln w="9525">
            <a:noFill/>
          </a:ln>
        </p:spPr>
        <p:txBody>
          <a:bodyPr wrap="square" anchor="t" anchorCtr="0">
            <a:spAutoFit/>
          </a:bodyPr>
          <a:lstStyle/>
          <a:p>
            <a:r>
              <a:rPr lang="zh-CN" altLang="en-US">
                <a:latin typeface="Tahoma" panose="020B0604030504040204" pitchFamily="34" charset="0"/>
                <a:ea typeface="华文新魏" panose="02010800040101010101" pitchFamily="2" charset="-122"/>
              </a:rPr>
              <a:t>《植物学》第</a:t>
            </a:r>
            <a:r>
              <a:rPr lang="en-US" altLang="zh-CN">
                <a:solidFill>
                  <a:srgbClr val="FF0000"/>
                </a:solidFill>
                <a:latin typeface="Tahoma" panose="020B0604030504040204" pitchFamily="34" charset="0"/>
                <a:ea typeface="华文新魏" panose="02010800040101010101" pitchFamily="2" charset="-122"/>
              </a:rPr>
              <a:t>3</a:t>
            </a:r>
            <a:r>
              <a:rPr lang="zh-CN" altLang="en-US">
                <a:latin typeface="Tahoma" panose="020B0604030504040204" pitchFamily="34" charset="0"/>
                <a:ea typeface="华文新魏" panose="02010800040101010101" pitchFamily="2" charset="-122"/>
              </a:rPr>
              <a:t>版  </a:t>
            </a:r>
            <a:r>
              <a:rPr lang="zh-CN" altLang="en-US">
                <a:solidFill>
                  <a:srgbClr val="FF0000"/>
                </a:solidFill>
                <a:latin typeface="Tahoma" panose="020B0604030504040204" pitchFamily="34" charset="0"/>
                <a:ea typeface="华文新魏" panose="02010800040101010101" pitchFamily="2" charset="-122"/>
              </a:rPr>
              <a:t>马炜梁</a:t>
            </a:r>
            <a:r>
              <a:rPr lang="zh-CN" altLang="en-US">
                <a:latin typeface="Tahoma" panose="020B0604030504040204" pitchFamily="34" charset="0"/>
                <a:ea typeface="华文新魏" panose="02010800040101010101" pitchFamily="2" charset="-122"/>
              </a:rPr>
              <a:t> 主编</a:t>
            </a:r>
          </a:p>
          <a:p>
            <a:r>
              <a:rPr lang="zh-CN" altLang="en-US">
                <a:latin typeface="Tahoma" panose="020B0604030504040204" pitchFamily="34" charset="0"/>
                <a:ea typeface="华文新魏" panose="02010800040101010101" pitchFamily="2" charset="-122"/>
              </a:rPr>
              <a:t>马炜梁  王幼芳  李宏庆等编著</a:t>
            </a:r>
          </a:p>
          <a:p>
            <a:r>
              <a:rPr lang="zh-CN" altLang="en-US">
                <a:latin typeface="Tahoma" panose="020B0604030504040204" pitchFamily="34" charset="0"/>
                <a:ea typeface="华文新魏" panose="02010800040101010101" pitchFamily="2" charset="-122"/>
              </a:rPr>
              <a:t>           高等教育出版社</a:t>
            </a:r>
          </a:p>
        </p:txBody>
      </p:sp>
      <p:sp>
        <p:nvSpPr>
          <p:cNvPr id="2" name="文本框 1"/>
          <p:cNvSpPr txBox="1"/>
          <p:nvPr/>
        </p:nvSpPr>
        <p:spPr>
          <a:xfrm>
            <a:off x="2488565" y="1394460"/>
            <a:ext cx="4315460" cy="645160"/>
          </a:xfrm>
          <a:prstGeom prst="rect">
            <a:avLst/>
          </a:prstGeom>
          <a:noFill/>
        </p:spPr>
        <p:txBody>
          <a:bodyPr wrap="square" rtlCol="0">
            <a:spAutoFit/>
          </a:bodyPr>
          <a:lstStyle/>
          <a:p>
            <a:r>
              <a:rPr lang="zh-CN" altLang="en-US" sz="3600" b="1">
                <a:solidFill>
                  <a:srgbClr val="FF0000"/>
                </a:solidFill>
                <a:latin typeface="黑体" panose="02010609060101010101" pitchFamily="49" charset="-122"/>
                <a:ea typeface="黑体" panose="02010609060101010101" pitchFamily="49" charset="-122"/>
                <a:cs typeface="黑体" panose="02010609060101010101" pitchFamily="49" charset="-122"/>
              </a:rPr>
              <a:t>植物学课件（</a:t>
            </a:r>
            <a:r>
              <a:rPr lang="en-US" altLang="zh-CN" sz="3600" b="1">
                <a:solidFill>
                  <a:srgbClr val="FF0000"/>
                </a:solidFill>
                <a:latin typeface="黑体" panose="02010609060101010101" pitchFamily="49" charset="-122"/>
                <a:ea typeface="黑体" panose="02010609060101010101" pitchFamily="49" charset="-122"/>
                <a:cs typeface="黑体" panose="02010609060101010101" pitchFamily="49" charset="-122"/>
              </a:rPr>
              <a:t>2025</a:t>
            </a:r>
            <a:r>
              <a:rPr lang="zh-CN" altLang="en-US" sz="3600" b="1">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3" name="内容占位符 2"/>
          <p:cNvSpPr>
            <a:spLocks noGrp="1"/>
          </p:cNvSpPr>
          <p:nvPr>
            <p:ph idx="1"/>
          </p:nvPr>
        </p:nvSpPr>
        <p:spPr>
          <a:xfrm>
            <a:off x="0" y="255588"/>
            <a:ext cx="9144000" cy="6402387"/>
          </a:xfrm>
        </p:spPr>
        <p:txBody>
          <a:bodyPr anchor="t" anchorCtr="0"/>
          <a:lstStyle/>
          <a:p>
            <a:pPr marL="0" indent="0">
              <a:buNone/>
            </a:pPr>
            <a:r>
              <a:rPr lang="en-US" altLang="zh-CN" b="1">
                <a:solidFill>
                  <a:schemeClr val="tx1"/>
                </a:solidFill>
                <a:latin typeface="宋体" panose="02010600030101010101" pitchFamily="2" charset="-122"/>
                <a:ea typeface="宋体" panose="02010600030101010101" pitchFamily="2" charset="-122"/>
              </a:rPr>
              <a:t>1.P</a:t>
            </a:r>
            <a:r>
              <a:rPr lang="en-US" altLang="zh-CN" b="1" baseline="-25000">
                <a:solidFill>
                  <a:schemeClr val="tx1"/>
                </a:solidFill>
                <a:latin typeface="宋体" panose="02010600030101010101" pitchFamily="2" charset="-122"/>
                <a:ea typeface="宋体" panose="02010600030101010101" pitchFamily="2" charset="-122"/>
              </a:rPr>
              <a:t>2</a:t>
            </a:r>
            <a:r>
              <a:rPr lang="zh-CN" altLang="en-US" b="1">
                <a:solidFill>
                  <a:schemeClr val="tx1"/>
                </a:solidFill>
                <a:latin typeface="宋体" panose="02010600030101010101" pitchFamily="2" charset="-122"/>
                <a:ea typeface="宋体" panose="02010600030101010101" pitchFamily="2" charset="-122"/>
              </a:rPr>
              <a:t>五界系统</a:t>
            </a:r>
          </a:p>
          <a:p>
            <a:pPr marL="0" indent="0">
              <a:buNone/>
            </a:pPr>
            <a:r>
              <a:rPr lang="en-US" altLang="zh-CN" b="1">
                <a:solidFill>
                  <a:schemeClr val="tx1"/>
                </a:solidFill>
                <a:latin typeface="宋体" panose="02010600030101010101" pitchFamily="2" charset="-122"/>
                <a:ea typeface="宋体" panose="02010600030101010101" pitchFamily="2" charset="-122"/>
              </a:rPr>
              <a:t>2.P</a:t>
            </a:r>
            <a:r>
              <a:rPr lang="en-US" altLang="zh-CN" b="1" baseline="-25000">
                <a:solidFill>
                  <a:schemeClr val="tx1"/>
                </a:solidFill>
                <a:latin typeface="宋体" panose="02010600030101010101" pitchFamily="2" charset="-122"/>
                <a:ea typeface="宋体" panose="02010600030101010101" pitchFamily="2" charset="-122"/>
              </a:rPr>
              <a:t>3</a:t>
            </a:r>
            <a:r>
              <a:rPr lang="zh-CN" altLang="en-US" b="1">
                <a:solidFill>
                  <a:schemeClr val="tx1"/>
                </a:solidFill>
                <a:latin typeface="宋体" panose="02010600030101010101" pitchFamily="2" charset="-122"/>
                <a:ea typeface="宋体" panose="02010600030101010101" pitchFamily="2" charset="-122"/>
              </a:rPr>
              <a:t>植物界的分类</a:t>
            </a:r>
          </a:p>
          <a:p>
            <a:pPr marL="0" indent="0">
              <a:buNone/>
            </a:pPr>
            <a:r>
              <a:rPr lang="en-US" altLang="zh-CN" b="1">
                <a:solidFill>
                  <a:schemeClr val="tx1"/>
                </a:solidFill>
                <a:latin typeface="宋体" panose="02010600030101010101" pitchFamily="2" charset="-122"/>
                <a:ea typeface="宋体" panose="02010600030101010101" pitchFamily="2" charset="-122"/>
              </a:rPr>
              <a:t>3.P</a:t>
            </a:r>
            <a:r>
              <a:rPr lang="en-US" altLang="zh-CN" b="1" baseline="-25000">
                <a:solidFill>
                  <a:schemeClr val="tx1"/>
                </a:solidFill>
                <a:latin typeface="宋体" panose="02010600030101010101" pitchFamily="2" charset="-122"/>
                <a:ea typeface="宋体" panose="02010600030101010101" pitchFamily="2" charset="-122"/>
              </a:rPr>
              <a:t>5</a:t>
            </a:r>
            <a:r>
              <a:rPr lang="zh-CN" altLang="en-US" b="1">
                <a:solidFill>
                  <a:schemeClr val="tx1"/>
                </a:solidFill>
                <a:latin typeface="宋体" panose="02010600030101010101" pitchFamily="2" charset="-122"/>
                <a:ea typeface="宋体" panose="02010600030101010101" pitchFamily="2" charset="-122"/>
              </a:rPr>
              <a:t>双名法的基本规则</a:t>
            </a:r>
          </a:p>
          <a:p>
            <a:pPr marL="0" indent="0">
              <a:buNone/>
            </a:pPr>
            <a:r>
              <a:rPr lang="en-US" altLang="zh-CN" b="1">
                <a:solidFill>
                  <a:schemeClr val="tx1"/>
                </a:solidFill>
                <a:latin typeface="宋体" panose="02010600030101010101" pitchFamily="2" charset="-122"/>
                <a:ea typeface="宋体" panose="02010600030101010101" pitchFamily="2" charset="-122"/>
              </a:rPr>
              <a:t>4.P</a:t>
            </a:r>
            <a:r>
              <a:rPr lang="en-US" altLang="zh-CN" b="1" baseline="-25000">
                <a:solidFill>
                  <a:schemeClr val="tx1"/>
                </a:solidFill>
                <a:latin typeface="宋体" panose="02010600030101010101" pitchFamily="2" charset="-122"/>
                <a:ea typeface="宋体" panose="02010600030101010101" pitchFamily="2" charset="-122"/>
              </a:rPr>
              <a:t>15</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16</a:t>
            </a:r>
            <a:r>
              <a:rPr lang="zh-CN" altLang="en-US" b="1">
                <a:solidFill>
                  <a:schemeClr val="tx1"/>
                </a:solidFill>
                <a:latin typeface="宋体" panose="02010600030101010101" pitchFamily="2" charset="-122"/>
                <a:ea typeface="宋体" panose="02010600030101010101" pitchFamily="2" charset="-122"/>
              </a:rPr>
              <a:t>质体的种类及相互转变的规律</a:t>
            </a:r>
          </a:p>
          <a:p>
            <a:pPr marL="0" indent="0">
              <a:buNone/>
            </a:pPr>
            <a:r>
              <a:rPr lang="en-US" altLang="zh-CN" b="1">
                <a:solidFill>
                  <a:schemeClr val="tx1"/>
                </a:solidFill>
                <a:latin typeface="宋体" panose="02010600030101010101" pitchFamily="2" charset="-122"/>
                <a:ea typeface="宋体" panose="02010600030101010101" pitchFamily="2" charset="-122"/>
              </a:rPr>
              <a:t>5.P</a:t>
            </a:r>
            <a:r>
              <a:rPr lang="en-US" altLang="zh-CN" b="1" baseline="-25000">
                <a:solidFill>
                  <a:schemeClr val="tx1"/>
                </a:solidFill>
                <a:latin typeface="宋体" panose="02010600030101010101" pitchFamily="2" charset="-122"/>
                <a:ea typeface="宋体" panose="02010600030101010101" pitchFamily="2" charset="-122"/>
              </a:rPr>
              <a:t>20</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22</a:t>
            </a:r>
            <a:r>
              <a:rPr lang="zh-CN" altLang="en-US" b="1">
                <a:solidFill>
                  <a:schemeClr val="tx1"/>
                </a:solidFill>
                <a:latin typeface="宋体" panose="02010600030101010101" pitchFamily="2" charset="-122"/>
                <a:ea typeface="宋体" panose="02010600030101010101" pitchFamily="2" charset="-122"/>
              </a:rPr>
              <a:t>理解细胞壁的结构特点及化学成分（重点）</a:t>
            </a:r>
          </a:p>
          <a:p>
            <a:pPr marL="0" indent="0">
              <a:buNone/>
            </a:pPr>
            <a:r>
              <a:rPr lang="en-US" altLang="zh-CN" b="1">
                <a:solidFill>
                  <a:schemeClr val="tx1"/>
                </a:solidFill>
                <a:latin typeface="宋体" panose="02010600030101010101" pitchFamily="2" charset="-122"/>
                <a:ea typeface="宋体" panose="02010600030101010101" pitchFamily="2" charset="-122"/>
              </a:rPr>
              <a:t>6.P</a:t>
            </a:r>
            <a:r>
              <a:rPr lang="en-US" altLang="zh-CN" b="1" baseline="-25000">
                <a:solidFill>
                  <a:schemeClr val="tx1"/>
                </a:solidFill>
                <a:latin typeface="宋体" panose="02010600030101010101" pitchFamily="2" charset="-122"/>
                <a:ea typeface="宋体" panose="02010600030101010101" pitchFamily="2" charset="-122"/>
              </a:rPr>
              <a:t>24</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25</a:t>
            </a:r>
            <a:r>
              <a:rPr lang="zh-CN" altLang="en-US" b="1">
                <a:solidFill>
                  <a:schemeClr val="tx1"/>
                </a:solidFill>
                <a:latin typeface="宋体" panose="02010600030101010101" pitchFamily="2" charset="-122"/>
                <a:ea typeface="宋体" panose="02010600030101010101" pitchFamily="2" charset="-122"/>
              </a:rPr>
              <a:t>了解常见细胞后含物的种类及特点</a:t>
            </a:r>
          </a:p>
          <a:p>
            <a:pPr marL="0" indent="0">
              <a:buNone/>
            </a:pPr>
            <a:r>
              <a:rPr lang="en-US" altLang="zh-CN" b="1">
                <a:solidFill>
                  <a:schemeClr val="tx1"/>
                </a:solidFill>
                <a:latin typeface="宋体" panose="02010600030101010101" pitchFamily="2" charset="-122"/>
                <a:ea typeface="宋体" panose="02010600030101010101" pitchFamily="2" charset="-122"/>
              </a:rPr>
              <a:t>7.P</a:t>
            </a:r>
            <a:r>
              <a:rPr lang="en-US" altLang="zh-CN" b="1" baseline="-25000">
                <a:solidFill>
                  <a:schemeClr val="tx1"/>
                </a:solidFill>
                <a:latin typeface="宋体" panose="02010600030101010101" pitchFamily="2" charset="-122"/>
                <a:ea typeface="宋体" panose="02010600030101010101" pitchFamily="2" charset="-122"/>
              </a:rPr>
              <a:t>29-30</a:t>
            </a:r>
            <a:r>
              <a:rPr lang="zh-CN" altLang="en-US" b="1">
                <a:solidFill>
                  <a:schemeClr val="tx1"/>
                </a:solidFill>
                <a:latin typeface="宋体" panose="02010600030101010101" pitchFamily="2" charset="-122"/>
                <a:ea typeface="宋体" panose="02010600030101010101" pitchFamily="2" charset="-122"/>
              </a:rPr>
              <a:t>植物细胞生长及分化的概念</a:t>
            </a:r>
          </a:p>
          <a:p>
            <a:pPr marL="0" indent="0">
              <a:buNone/>
            </a:pPr>
            <a:r>
              <a:rPr lang="en-US" altLang="zh-CN" b="1">
                <a:solidFill>
                  <a:schemeClr val="tx1"/>
                </a:solidFill>
                <a:latin typeface="宋体" panose="02010600030101010101" pitchFamily="2" charset="-122"/>
                <a:ea typeface="宋体" panose="02010600030101010101" pitchFamily="2" charset="-122"/>
              </a:rPr>
              <a:t>8.P</a:t>
            </a:r>
            <a:r>
              <a:rPr lang="en-US" altLang="zh-CN" b="1" baseline="-25000">
                <a:solidFill>
                  <a:schemeClr val="tx1"/>
                </a:solidFill>
                <a:latin typeface="宋体" panose="02010600030101010101" pitchFamily="2" charset="-122"/>
                <a:ea typeface="宋体" panose="02010600030101010101" pitchFamily="2" charset="-122"/>
              </a:rPr>
              <a:t>31</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40</a:t>
            </a:r>
            <a:r>
              <a:rPr lang="zh-CN" altLang="en-US" b="1">
                <a:solidFill>
                  <a:schemeClr val="tx1"/>
                </a:solidFill>
                <a:latin typeface="宋体" panose="02010600030101010101" pitchFamily="2" charset="-122"/>
                <a:ea typeface="宋体" panose="02010600030101010101" pitchFamily="2" charset="-122"/>
                <a:sym typeface="华文新魏" panose="02010800040101010101" pitchFamily="2" charset="-122"/>
              </a:rPr>
              <a:t>理解</a:t>
            </a:r>
            <a:r>
              <a:rPr lang="zh-CN" altLang="en-US" b="1">
                <a:solidFill>
                  <a:schemeClr val="tx1"/>
                </a:solidFill>
                <a:latin typeface="宋体" panose="02010600030101010101" pitchFamily="2" charset="-122"/>
                <a:ea typeface="宋体" panose="02010600030101010101" pitchFamily="2" charset="-122"/>
              </a:rPr>
              <a:t>植物组织类型及特点（重点）</a:t>
            </a:r>
          </a:p>
          <a:p>
            <a:pPr marL="0" indent="0">
              <a:buNone/>
            </a:pPr>
            <a:r>
              <a:rPr lang="en-US" altLang="zh-CN" b="1">
                <a:solidFill>
                  <a:schemeClr val="tx1"/>
                </a:solidFill>
                <a:latin typeface="宋体" panose="02010600030101010101" pitchFamily="2" charset="-122"/>
                <a:ea typeface="宋体" panose="02010600030101010101" pitchFamily="2" charset="-122"/>
              </a:rPr>
              <a:t>9.P</a:t>
            </a:r>
            <a:r>
              <a:rPr lang="en-US" altLang="zh-CN" b="1" baseline="-25000">
                <a:solidFill>
                  <a:schemeClr val="tx1"/>
                </a:solidFill>
                <a:latin typeface="宋体" panose="02010600030101010101" pitchFamily="2" charset="-122"/>
                <a:ea typeface="宋体" panose="02010600030101010101" pitchFamily="2" charset="-122"/>
              </a:rPr>
              <a:t>42</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43</a:t>
            </a:r>
            <a:r>
              <a:rPr lang="zh-CN" altLang="en-US" b="1">
                <a:solidFill>
                  <a:schemeClr val="tx1"/>
                </a:solidFill>
                <a:latin typeface="宋体" panose="02010600030101010101" pitchFamily="2" charset="-122"/>
                <a:ea typeface="宋体" panose="02010600030101010101" pitchFamily="2" charset="-122"/>
              </a:rPr>
              <a:t>了解根的功能和类型</a:t>
            </a:r>
          </a:p>
          <a:p>
            <a:pPr marL="0" indent="0">
              <a:buNone/>
            </a:pPr>
            <a:r>
              <a:rPr lang="en-US" altLang="zh-CN" b="1">
                <a:solidFill>
                  <a:schemeClr val="tx1"/>
                </a:solidFill>
                <a:latin typeface="宋体" panose="02010600030101010101" pitchFamily="2" charset="-122"/>
                <a:ea typeface="宋体" panose="02010600030101010101" pitchFamily="2" charset="-122"/>
              </a:rPr>
              <a:t>10.P</a:t>
            </a:r>
            <a:r>
              <a:rPr lang="en-US" altLang="zh-CN" b="1" baseline="-25000">
                <a:solidFill>
                  <a:schemeClr val="tx1"/>
                </a:solidFill>
                <a:latin typeface="宋体" panose="02010600030101010101" pitchFamily="2" charset="-122"/>
                <a:ea typeface="宋体" panose="02010600030101010101" pitchFamily="2" charset="-122"/>
              </a:rPr>
              <a:t>43</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46</a:t>
            </a:r>
            <a:r>
              <a:rPr lang="zh-CN" altLang="en-US" b="1">
                <a:solidFill>
                  <a:schemeClr val="tx1"/>
                </a:solidFill>
                <a:latin typeface="宋体" panose="02010600030101010101" pitchFamily="2" charset="-122"/>
                <a:ea typeface="宋体" panose="02010600030101010101" pitchFamily="2" charset="-122"/>
              </a:rPr>
              <a:t>根尖的发育（重点是</a:t>
            </a:r>
            <a:r>
              <a:rPr lang="zh-CN" altLang="en-US" b="1">
                <a:solidFill>
                  <a:srgbClr val="FF0000"/>
                </a:solidFill>
                <a:latin typeface="宋体" panose="02010600030101010101" pitchFamily="2" charset="-122"/>
                <a:ea typeface="宋体" panose="02010600030101010101" pitchFamily="2" charset="-122"/>
              </a:rPr>
              <a:t>细胞的分裂、壁面和排列方向的  </a:t>
            </a:r>
          </a:p>
          <a:p>
            <a:pPr marL="0" indent="0">
              <a:buNone/>
            </a:pPr>
            <a:r>
              <a:rPr lang="zh-CN" altLang="en-US" b="1">
                <a:solidFill>
                  <a:srgbClr val="FF0000"/>
                </a:solidFill>
                <a:latin typeface="宋体" panose="02010600030101010101" pitchFamily="2" charset="-122"/>
                <a:ea typeface="宋体" panose="02010600030101010101" pitchFamily="2" charset="-122"/>
              </a:rPr>
              <a:t>  关系</a:t>
            </a:r>
            <a:r>
              <a:rPr lang="zh-CN" altLang="en-US" b="1">
                <a:solidFill>
                  <a:schemeClr val="tx1"/>
                </a:solidFill>
                <a:latin typeface="宋体" panose="02010600030101010101" pitchFamily="2" charset="-122"/>
                <a:ea typeface="宋体" panose="02010600030101010101" pitchFamily="2" charset="-122"/>
              </a:rPr>
              <a:t>）</a:t>
            </a:r>
          </a:p>
          <a:p>
            <a:pPr marL="0" indent="0">
              <a:buNone/>
            </a:pPr>
            <a:r>
              <a:rPr lang="en-US" altLang="zh-CN" b="1">
                <a:solidFill>
                  <a:schemeClr val="tx1"/>
                </a:solidFill>
                <a:latin typeface="宋体" panose="02010600030101010101" pitchFamily="2" charset="-122"/>
                <a:ea typeface="宋体" panose="02010600030101010101" pitchFamily="2" charset="-122"/>
              </a:rPr>
              <a:t>11.P</a:t>
            </a:r>
            <a:r>
              <a:rPr lang="en-US" altLang="zh-CN" b="1" baseline="-25000">
                <a:solidFill>
                  <a:schemeClr val="tx1"/>
                </a:solidFill>
                <a:latin typeface="宋体" panose="02010600030101010101" pitchFamily="2" charset="-122"/>
                <a:ea typeface="宋体" panose="02010600030101010101" pitchFamily="2" charset="-122"/>
              </a:rPr>
              <a:t>46</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48</a:t>
            </a:r>
            <a:r>
              <a:rPr lang="zh-CN" altLang="en-US" b="1">
                <a:solidFill>
                  <a:schemeClr val="tx1"/>
                </a:solidFill>
                <a:latin typeface="宋体" panose="02010600030101010101" pitchFamily="2" charset="-122"/>
                <a:ea typeface="宋体" panose="02010600030101010101" pitchFamily="2" charset="-122"/>
              </a:rPr>
              <a:t>根尖的初生结构（重点）</a:t>
            </a:r>
          </a:p>
          <a:p>
            <a:pPr marL="0" indent="0">
              <a:buNone/>
            </a:pPr>
            <a:r>
              <a:rPr lang="en-US" altLang="zh-CN" b="1">
                <a:solidFill>
                  <a:schemeClr val="tx1"/>
                </a:solidFill>
                <a:latin typeface="宋体" panose="02010600030101010101" pitchFamily="2" charset="-122"/>
                <a:ea typeface="宋体" panose="02010600030101010101" pitchFamily="2" charset="-122"/>
              </a:rPr>
              <a:t>12.P</a:t>
            </a:r>
            <a:r>
              <a:rPr lang="en-US" altLang="zh-CN" b="1" baseline="-25000">
                <a:solidFill>
                  <a:schemeClr val="tx1"/>
                </a:solidFill>
                <a:latin typeface="宋体" panose="02010600030101010101" pitchFamily="2" charset="-122"/>
                <a:ea typeface="宋体" panose="02010600030101010101" pitchFamily="2" charset="-122"/>
              </a:rPr>
              <a:t>48</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50</a:t>
            </a:r>
            <a:r>
              <a:rPr lang="zh-CN" altLang="en-US" b="1">
                <a:solidFill>
                  <a:schemeClr val="tx1"/>
                </a:solidFill>
                <a:latin typeface="宋体" panose="02010600030101010101" pitchFamily="2" charset="-122"/>
                <a:ea typeface="宋体" panose="02010600030101010101" pitchFamily="2" charset="-122"/>
              </a:rPr>
              <a:t>侧根的形成（了解）</a:t>
            </a:r>
          </a:p>
          <a:p>
            <a:pPr marL="0" indent="0">
              <a:buNone/>
            </a:pPr>
            <a:r>
              <a:rPr lang="en-US" altLang="zh-CN" b="1">
                <a:solidFill>
                  <a:schemeClr val="tx1"/>
                </a:solidFill>
                <a:latin typeface="宋体" panose="02010600030101010101" pitchFamily="2" charset="-122"/>
                <a:ea typeface="宋体" panose="02010600030101010101" pitchFamily="2" charset="-122"/>
              </a:rPr>
              <a:t>13.P</a:t>
            </a:r>
            <a:r>
              <a:rPr lang="en-US" altLang="zh-CN" b="1" baseline="-25000">
                <a:solidFill>
                  <a:schemeClr val="tx1"/>
                </a:solidFill>
                <a:latin typeface="宋体" panose="02010600030101010101" pitchFamily="2" charset="-122"/>
                <a:ea typeface="宋体" panose="02010600030101010101" pitchFamily="2" charset="-122"/>
              </a:rPr>
              <a:t>50</a:t>
            </a:r>
            <a:r>
              <a:rPr lang="en-US" altLang="zh-CN" b="1">
                <a:solidFill>
                  <a:schemeClr val="tx1"/>
                </a:solidFill>
                <a:latin typeface="宋体" panose="02010600030101010101" pitchFamily="2" charset="-122"/>
                <a:ea typeface="宋体" panose="02010600030101010101" pitchFamily="2" charset="-122"/>
              </a:rPr>
              <a:t>-P</a:t>
            </a:r>
            <a:r>
              <a:rPr lang="en-US" altLang="zh-CN" b="1" baseline="-25000">
                <a:solidFill>
                  <a:schemeClr val="tx1"/>
                </a:solidFill>
                <a:latin typeface="宋体" panose="02010600030101010101" pitchFamily="2" charset="-122"/>
                <a:ea typeface="宋体" panose="02010600030101010101" pitchFamily="2" charset="-122"/>
              </a:rPr>
              <a:t>52</a:t>
            </a:r>
            <a:r>
              <a:rPr lang="zh-CN" altLang="en-US" b="1">
                <a:solidFill>
                  <a:schemeClr val="tx1"/>
                </a:solidFill>
                <a:latin typeface="宋体" panose="02010600030101010101" pitchFamily="2" charset="-122"/>
                <a:ea typeface="宋体" panose="02010600030101010101" pitchFamily="2" charset="-122"/>
              </a:rPr>
              <a:t>根的次生生长和次生结构（重点）</a:t>
            </a:r>
          </a:p>
          <a:p>
            <a:pPr marL="0" indent="0">
              <a:buNone/>
            </a:pPr>
            <a:endParaRPr lang="zh-CN" altLang="en-US"/>
          </a:p>
          <a:p>
            <a:pPr marL="0" indent="0">
              <a:buNone/>
            </a:pPr>
            <a:endParaRPr lang="zh-CN" altLang="en-US"/>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9A2DF1CF-9594-9C3C-80AA-D259C3FA391E}"/>
              </a:ext>
            </a:extLst>
          </p:cNvPr>
          <p:cNvGraphicFramePr>
            <a:graphicFrameLocks noGrp="1"/>
          </p:cNvGraphicFramePr>
          <p:nvPr>
            <p:extLst>
              <p:ext uri="{D42A27DB-BD31-4B8C-83A1-F6EECF244321}">
                <p14:modId xmlns:p14="http://schemas.microsoft.com/office/powerpoint/2010/main" val="199180925"/>
              </p:ext>
            </p:extLst>
          </p:nvPr>
        </p:nvGraphicFramePr>
        <p:xfrm>
          <a:off x="611560" y="332656"/>
          <a:ext cx="8121010" cy="5273675"/>
        </p:xfrm>
        <a:graphic>
          <a:graphicData uri="http://schemas.openxmlformats.org/drawingml/2006/table">
            <a:tbl>
              <a:tblPr firstRow="1" bandRow="1">
                <a:tableStyleId>{2D5ABB26-0587-4C30-8999-92F81FD0307C}</a:tableStyleId>
              </a:tblPr>
              <a:tblGrid>
                <a:gridCol w="871855">
                  <a:extLst>
                    <a:ext uri="{9D8B030D-6E8A-4147-A177-3AD203B41FA5}">
                      <a16:colId xmlns:a16="http://schemas.microsoft.com/office/drawing/2014/main" val="20000"/>
                    </a:ext>
                  </a:extLst>
                </a:gridCol>
                <a:gridCol w="1125219">
                  <a:extLst>
                    <a:ext uri="{9D8B030D-6E8A-4147-A177-3AD203B41FA5}">
                      <a16:colId xmlns:a16="http://schemas.microsoft.com/office/drawing/2014/main" val="20001"/>
                    </a:ext>
                  </a:extLst>
                </a:gridCol>
                <a:gridCol w="937894">
                  <a:extLst>
                    <a:ext uri="{9D8B030D-6E8A-4147-A177-3AD203B41FA5}">
                      <a16:colId xmlns:a16="http://schemas.microsoft.com/office/drawing/2014/main" val="20003"/>
                    </a:ext>
                  </a:extLst>
                </a:gridCol>
                <a:gridCol w="937259">
                  <a:extLst>
                    <a:ext uri="{9D8B030D-6E8A-4147-A177-3AD203B41FA5}">
                      <a16:colId xmlns:a16="http://schemas.microsoft.com/office/drawing/2014/main" val="20004"/>
                    </a:ext>
                  </a:extLst>
                </a:gridCol>
                <a:gridCol w="937895">
                  <a:extLst>
                    <a:ext uri="{9D8B030D-6E8A-4147-A177-3AD203B41FA5}">
                      <a16:colId xmlns:a16="http://schemas.microsoft.com/office/drawing/2014/main" val="20005"/>
                    </a:ext>
                  </a:extLst>
                </a:gridCol>
                <a:gridCol w="937260">
                  <a:extLst>
                    <a:ext uri="{9D8B030D-6E8A-4147-A177-3AD203B41FA5}">
                      <a16:colId xmlns:a16="http://schemas.microsoft.com/office/drawing/2014/main" val="20006"/>
                    </a:ext>
                  </a:extLst>
                </a:gridCol>
                <a:gridCol w="937894">
                  <a:extLst>
                    <a:ext uri="{9D8B030D-6E8A-4147-A177-3AD203B41FA5}">
                      <a16:colId xmlns:a16="http://schemas.microsoft.com/office/drawing/2014/main" val="20007"/>
                    </a:ext>
                  </a:extLst>
                </a:gridCol>
                <a:gridCol w="946150">
                  <a:extLst>
                    <a:ext uri="{9D8B030D-6E8A-4147-A177-3AD203B41FA5}">
                      <a16:colId xmlns:a16="http://schemas.microsoft.com/office/drawing/2014/main" val="20008"/>
                    </a:ext>
                  </a:extLst>
                </a:gridCol>
                <a:gridCol w="489584">
                  <a:extLst>
                    <a:ext uri="{9D8B030D-6E8A-4147-A177-3AD203B41FA5}">
                      <a16:colId xmlns:a16="http://schemas.microsoft.com/office/drawing/2014/main" val="20009"/>
                    </a:ext>
                  </a:extLst>
                </a:gridCol>
              </a:tblGrid>
              <a:tr h="581025">
                <a:tc gridSpan="9">
                  <a:txBody>
                    <a:bodyPr/>
                    <a:lstStyle/>
                    <a:p>
                      <a:pPr marL="90805">
                        <a:lnSpc>
                          <a:spcPct val="100000"/>
                        </a:lnSpc>
                        <a:spcBef>
                          <a:spcPts val="295"/>
                        </a:spcBef>
                      </a:pPr>
                      <a:r>
                        <a:rPr sz="3200" b="1" spc="575" dirty="0">
                          <a:solidFill>
                            <a:srgbClr val="FF0000"/>
                          </a:solidFill>
                          <a:latin typeface="宋体" panose="02010600030101010101" pitchFamily="2" charset="-122"/>
                          <a:ea typeface="宋体" panose="02010600030101010101" pitchFamily="2" charset="-122"/>
                        </a:rPr>
                        <a:t>🞾</a:t>
                      </a:r>
                      <a:r>
                        <a:rPr sz="3200" b="1" spc="-10" dirty="0">
                          <a:solidFill>
                            <a:srgbClr val="FF3300"/>
                          </a:solidFill>
                          <a:latin typeface="宋体" panose="02010600030101010101" pitchFamily="2" charset="-122"/>
                          <a:ea typeface="宋体" panose="02010600030101010101" pitchFamily="2" charset="-122"/>
                        </a:rPr>
                        <a:t>依据生物的营养方式和进化水平</a:t>
                      </a:r>
                      <a:endParaRPr sz="3200" b="1" dirty="0">
                        <a:latin typeface="宋体" panose="02010600030101010101" pitchFamily="2" charset="-122"/>
                        <a:ea typeface="宋体" panose="02010600030101010101" pitchFamily="2" charset="-122"/>
                      </a:endParaRPr>
                    </a:p>
                  </a:txBody>
                  <a:tcPr marL="0" marR="0" marT="0" marB="0">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621665">
                <a:tc>
                  <a:txBody>
                    <a:bodyPr/>
                    <a:lstStyle/>
                    <a:p>
                      <a:pPr marL="221615">
                        <a:lnSpc>
                          <a:spcPct val="100000"/>
                        </a:lnSpc>
                        <a:spcBef>
                          <a:spcPts val="55"/>
                        </a:spcBef>
                      </a:pPr>
                      <a:r>
                        <a:rPr sz="1850" b="1" spc="-95" dirty="0">
                          <a:latin typeface="宋体" panose="02010600030101010101" pitchFamily="2" charset="-122"/>
                          <a:ea typeface="宋体" panose="02010600030101010101" pitchFamily="2" charset="-122"/>
                          <a:cs typeface="SimSun"/>
                        </a:rPr>
                        <a:t>界级</a:t>
                      </a:r>
                      <a:endParaRPr sz="1850" b="1" dirty="0">
                        <a:latin typeface="宋体" panose="02010600030101010101" pitchFamily="2" charset="-122"/>
                        <a:ea typeface="宋体" panose="02010600030101010101" pitchFamily="2" charset="-122"/>
                        <a:cs typeface="SimSun"/>
                      </a:endParaRPr>
                    </a:p>
                    <a:p>
                      <a:pPr marL="221615">
                        <a:lnSpc>
                          <a:spcPct val="100000"/>
                        </a:lnSpc>
                        <a:spcBef>
                          <a:spcPts val="185"/>
                        </a:spcBef>
                      </a:pPr>
                      <a:r>
                        <a:rPr sz="1850" b="1" spc="-95" dirty="0">
                          <a:latin typeface="宋体" panose="02010600030101010101" pitchFamily="2" charset="-122"/>
                          <a:ea typeface="宋体" panose="02010600030101010101" pitchFamily="2" charset="-122"/>
                          <a:cs typeface="SimSun"/>
                        </a:rPr>
                        <a:t>系统</a:t>
                      </a:r>
                      <a:endParaRPr sz="1850" b="1" dirty="0">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33045">
                        <a:lnSpc>
                          <a:spcPct val="100000"/>
                        </a:lnSpc>
                        <a:spcBef>
                          <a:spcPts val="55"/>
                        </a:spcBef>
                      </a:pPr>
                      <a:r>
                        <a:rPr sz="1850" b="1" spc="-110" dirty="0">
                          <a:latin typeface="宋体" panose="02010600030101010101" pitchFamily="2" charset="-122"/>
                          <a:ea typeface="宋体" panose="02010600030101010101" pitchFamily="2" charset="-122"/>
                          <a:cs typeface="SimSun"/>
                        </a:rPr>
                        <a:t>提出者</a:t>
                      </a:r>
                      <a:endParaRPr sz="1850" b="1" dirty="0">
                        <a:latin typeface="宋体" panose="02010600030101010101" pitchFamily="2" charset="-122"/>
                        <a:ea typeface="宋体" panose="02010600030101010101" pitchFamily="2" charset="-122"/>
                        <a:cs typeface="SimSun"/>
                      </a:endParaRPr>
                    </a:p>
                    <a:p>
                      <a:pPr marL="125095">
                        <a:lnSpc>
                          <a:spcPct val="100000"/>
                        </a:lnSpc>
                        <a:spcBef>
                          <a:spcPts val="185"/>
                        </a:spcBef>
                      </a:pPr>
                      <a:r>
                        <a:rPr sz="1850" b="1" spc="-135" dirty="0">
                          <a:latin typeface="宋体" panose="02010600030101010101" pitchFamily="2" charset="-122"/>
                          <a:ea typeface="宋体" panose="02010600030101010101" pitchFamily="2" charset="-122"/>
                          <a:cs typeface="SimSun"/>
                        </a:rPr>
                        <a:t>（</a:t>
                      </a:r>
                      <a:r>
                        <a:rPr sz="1850" b="1" spc="-150" dirty="0">
                          <a:latin typeface="宋体" panose="02010600030101010101" pitchFamily="2" charset="-122"/>
                          <a:ea typeface="宋体" panose="02010600030101010101" pitchFamily="2" charset="-122"/>
                          <a:cs typeface="SimSun"/>
                        </a:rPr>
                        <a:t>时间</a:t>
                      </a:r>
                      <a:r>
                        <a:rPr sz="1850" b="1" spc="-6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905" algn="ctr">
                        <a:lnSpc>
                          <a:spcPct val="100000"/>
                        </a:lnSpc>
                        <a:spcBef>
                          <a:spcPts val="55"/>
                        </a:spcBef>
                      </a:pPr>
                      <a:r>
                        <a:rPr sz="1850" b="1" spc="-110" dirty="0">
                          <a:latin typeface="宋体" panose="02010600030101010101" pitchFamily="2" charset="-122"/>
                          <a:ea typeface="宋体" panose="02010600030101010101" pitchFamily="2" charset="-122"/>
                          <a:cs typeface="SimSun"/>
                        </a:rPr>
                        <a:t>植物界</a:t>
                      </a:r>
                      <a:endParaRPr sz="1850" b="1" dirty="0">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540" algn="ctr">
                        <a:lnSpc>
                          <a:spcPct val="100000"/>
                        </a:lnSpc>
                        <a:spcBef>
                          <a:spcPts val="55"/>
                        </a:spcBef>
                      </a:pPr>
                      <a:r>
                        <a:rPr sz="1850" b="1" spc="-110" dirty="0">
                          <a:latin typeface="宋体" panose="02010600030101010101" pitchFamily="2" charset="-122"/>
                          <a:ea typeface="宋体" panose="02010600030101010101" pitchFamily="2" charset="-122"/>
                          <a:cs typeface="SimSun"/>
                        </a:rPr>
                        <a:t>动物界</a:t>
                      </a:r>
                      <a:endParaRPr sz="1850" b="1" dirty="0">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905" algn="ctr">
                        <a:lnSpc>
                          <a:spcPct val="100000"/>
                        </a:lnSpc>
                        <a:spcBef>
                          <a:spcPts val="55"/>
                        </a:spcBef>
                      </a:pPr>
                      <a:r>
                        <a:rPr sz="1850" b="1" spc="-110" dirty="0">
                          <a:latin typeface="宋体" panose="02010600030101010101" pitchFamily="2" charset="-122"/>
                          <a:ea typeface="宋体" panose="02010600030101010101" pitchFamily="2" charset="-122"/>
                          <a:cs typeface="SimSun"/>
                        </a:rPr>
                        <a:t>原生界</a:t>
                      </a:r>
                      <a:endParaRPr sz="1850" b="1">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540" algn="ctr">
                        <a:lnSpc>
                          <a:spcPct val="100000"/>
                        </a:lnSpc>
                        <a:spcBef>
                          <a:spcPts val="55"/>
                        </a:spcBef>
                      </a:pPr>
                      <a:r>
                        <a:rPr sz="1850" b="1" spc="-110" dirty="0">
                          <a:latin typeface="宋体" panose="02010600030101010101" pitchFamily="2" charset="-122"/>
                          <a:ea typeface="宋体" panose="02010600030101010101" pitchFamily="2" charset="-122"/>
                          <a:cs typeface="SimSun"/>
                        </a:rPr>
                        <a:t>真菌界</a:t>
                      </a:r>
                      <a:endParaRPr sz="1850" b="1">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905" algn="ctr">
                        <a:lnSpc>
                          <a:spcPct val="100000"/>
                        </a:lnSpc>
                        <a:spcBef>
                          <a:spcPts val="55"/>
                        </a:spcBef>
                      </a:pPr>
                      <a:r>
                        <a:rPr sz="1850" b="1" spc="-110" dirty="0">
                          <a:latin typeface="宋体" panose="02010600030101010101" pitchFamily="2" charset="-122"/>
                          <a:ea typeface="宋体" panose="02010600030101010101" pitchFamily="2" charset="-122"/>
                          <a:cs typeface="SimSun"/>
                        </a:rPr>
                        <a:t>原核界</a:t>
                      </a:r>
                      <a:endParaRPr sz="1850" b="1">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39700">
                        <a:lnSpc>
                          <a:spcPct val="100000"/>
                        </a:lnSpc>
                        <a:spcBef>
                          <a:spcPts val="55"/>
                        </a:spcBef>
                      </a:pPr>
                      <a:r>
                        <a:rPr sz="1850" b="1" spc="-110" dirty="0">
                          <a:latin typeface="宋体" panose="02010600030101010101" pitchFamily="2" charset="-122"/>
                          <a:ea typeface="宋体" panose="02010600030101010101" pitchFamily="2" charset="-122"/>
                          <a:cs typeface="SimSun"/>
                        </a:rPr>
                        <a:t>非胞生</a:t>
                      </a:r>
                      <a:endParaRPr sz="1850" b="1">
                        <a:latin typeface="宋体" panose="02010600030101010101" pitchFamily="2" charset="-122"/>
                        <a:ea typeface="宋体" panose="02010600030101010101" pitchFamily="2" charset="-122"/>
                        <a:cs typeface="SimSun"/>
                      </a:endParaRPr>
                    </a:p>
                    <a:p>
                      <a:pPr marL="249554">
                        <a:lnSpc>
                          <a:spcPct val="100000"/>
                        </a:lnSpc>
                        <a:spcBef>
                          <a:spcPts val="185"/>
                        </a:spcBef>
                      </a:pPr>
                      <a:r>
                        <a:rPr sz="1850" b="1" spc="-95" dirty="0">
                          <a:latin typeface="宋体" panose="02010600030101010101" pitchFamily="2" charset="-122"/>
                          <a:ea typeface="宋体" panose="02010600030101010101" pitchFamily="2" charset="-122"/>
                          <a:cs typeface="SimSun"/>
                        </a:rPr>
                        <a:t>物界</a:t>
                      </a:r>
                      <a:endParaRPr sz="1850" b="1">
                        <a:latin typeface="宋体" panose="02010600030101010101" pitchFamily="2" charset="-122"/>
                        <a:ea typeface="宋体" panose="02010600030101010101" pitchFamily="2" charset="-122"/>
                        <a:cs typeface="SimSun"/>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7">
                  <a:txBody>
                    <a:bodyPr/>
                    <a:lstStyle/>
                    <a:p>
                      <a:pPr>
                        <a:lnSpc>
                          <a:spcPct val="100000"/>
                        </a:lnSpc>
                      </a:pPr>
                      <a:endParaRPr sz="2000" dirty="0">
                        <a:latin typeface="Times New Roman"/>
                        <a:cs typeface="Times New Roman"/>
                      </a:endParaRPr>
                    </a:p>
                  </a:txBody>
                  <a:tcPr marL="0" marR="0" marT="0" marB="0">
                    <a:lnL w="12700" cap="flat" cmpd="sng" algn="ctr">
                      <a:solidFill>
                        <a:schemeClr val="tx1"/>
                      </a:solidFill>
                      <a:prstDash val="solid"/>
                      <a:round/>
                      <a:headEnd type="none" w="med" len="med"/>
                      <a:tailEnd type="none" w="med" len="med"/>
                    </a:lnL>
                    <a:lnR>
                      <a:noFill/>
                    </a:lnR>
                    <a:lnT w="9525">
                      <a:noFill/>
                      <a:prstDash val="soli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17855">
                <a:tc>
                  <a:txBody>
                    <a:bodyPr/>
                    <a:lstStyle/>
                    <a:p>
                      <a:pPr marL="12065" algn="ctr">
                        <a:lnSpc>
                          <a:spcPct val="100000"/>
                        </a:lnSpc>
                        <a:spcBef>
                          <a:spcPts val="50"/>
                        </a:spcBef>
                      </a:pPr>
                      <a:r>
                        <a:rPr sz="1850" b="1" spc="-95" dirty="0">
                          <a:latin typeface="宋体" panose="02010600030101010101" pitchFamily="2" charset="-122"/>
                          <a:ea typeface="宋体" panose="02010600030101010101" pitchFamily="2" charset="-122"/>
                          <a:cs typeface="SimSun"/>
                        </a:rPr>
                        <a:t>二界</a:t>
                      </a:r>
                      <a:endParaRPr sz="1850" b="1">
                        <a:latin typeface="宋体" panose="02010600030101010101" pitchFamily="2" charset="-122"/>
                        <a:ea typeface="宋体" panose="02010600030101010101" pitchFamily="2" charset="-122"/>
                        <a:cs typeface="SimSun"/>
                      </a:endParaRPr>
                    </a:p>
                  </a:txBody>
                  <a:tcPr marL="0" marR="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635" algn="ctr">
                        <a:lnSpc>
                          <a:spcPct val="100000"/>
                        </a:lnSpc>
                        <a:spcBef>
                          <a:spcPts val="50"/>
                        </a:spcBef>
                      </a:pPr>
                      <a:r>
                        <a:rPr sz="1850" b="1" spc="-95" dirty="0">
                          <a:latin typeface="宋体" panose="02010600030101010101" pitchFamily="2" charset="-122"/>
                          <a:ea typeface="宋体" panose="02010600030101010101" pitchFamily="2" charset="-122"/>
                          <a:cs typeface="SimSun"/>
                        </a:rPr>
                        <a:t>林奈</a:t>
                      </a:r>
                      <a:endParaRPr sz="1850" b="1" dirty="0">
                        <a:latin typeface="宋体" panose="02010600030101010101" pitchFamily="2" charset="-122"/>
                        <a:ea typeface="宋体" panose="02010600030101010101" pitchFamily="2" charset="-122"/>
                        <a:cs typeface="SimSun"/>
                      </a:endParaRPr>
                    </a:p>
                    <a:p>
                      <a:pPr marL="3175" algn="ctr">
                        <a:lnSpc>
                          <a:spcPct val="100000"/>
                        </a:lnSpc>
                        <a:spcBef>
                          <a:spcPts val="180"/>
                        </a:spcBef>
                      </a:pPr>
                      <a:r>
                        <a:rPr sz="1850" b="1" spc="-10" dirty="0">
                          <a:latin typeface="宋体" panose="02010600030101010101" pitchFamily="2" charset="-122"/>
                          <a:ea typeface="宋体" panose="02010600030101010101" pitchFamily="2" charset="-122"/>
                          <a:cs typeface="SimSun"/>
                        </a:rPr>
                        <a:t>（</a:t>
                      </a:r>
                      <a:r>
                        <a:rPr sz="1850" b="1" spc="-10" dirty="0">
                          <a:latin typeface="宋体" panose="02010600030101010101" pitchFamily="2" charset="-122"/>
                          <a:ea typeface="宋体" panose="02010600030101010101" pitchFamily="2" charset="-122"/>
                          <a:cs typeface="Times New Roman"/>
                        </a:rPr>
                        <a:t>1735</a:t>
                      </a:r>
                      <a:r>
                        <a:rPr sz="1850" b="1" spc="-1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50"/>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50"/>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dirty="0">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dirty="0">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0" marR="0" marT="0" marB="0">
                    <a:lnT w="9525">
                      <a:solidFill>
                        <a:srgbClr val="9966FF"/>
                      </a:solidFill>
                      <a:prstDash val="solid"/>
                    </a:lnT>
                  </a:tcPr>
                </a:tc>
                <a:extLst>
                  <a:ext uri="{0D108BD9-81ED-4DB2-BD59-A6C34878D82A}">
                    <a16:rowId xmlns:a16="http://schemas.microsoft.com/office/drawing/2014/main" val="10002"/>
                  </a:ext>
                </a:extLst>
              </a:tr>
              <a:tr h="620395">
                <a:tc>
                  <a:txBody>
                    <a:bodyPr/>
                    <a:lstStyle/>
                    <a:p>
                      <a:pPr marL="12065" algn="ctr">
                        <a:lnSpc>
                          <a:spcPct val="100000"/>
                        </a:lnSpc>
                        <a:spcBef>
                          <a:spcPts val="45"/>
                        </a:spcBef>
                      </a:pPr>
                      <a:r>
                        <a:rPr sz="1850" b="1" spc="-95" dirty="0">
                          <a:latin typeface="宋体" panose="02010600030101010101" pitchFamily="2" charset="-122"/>
                          <a:ea typeface="宋体" panose="02010600030101010101" pitchFamily="2" charset="-122"/>
                          <a:cs typeface="SimSun"/>
                        </a:rPr>
                        <a:t>三界</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33045">
                        <a:lnSpc>
                          <a:spcPct val="100000"/>
                        </a:lnSpc>
                        <a:spcBef>
                          <a:spcPts val="45"/>
                        </a:spcBef>
                      </a:pPr>
                      <a:r>
                        <a:rPr sz="1850" b="1" spc="-110" dirty="0">
                          <a:latin typeface="宋体" panose="02010600030101010101" pitchFamily="2" charset="-122"/>
                          <a:ea typeface="宋体" panose="02010600030101010101" pitchFamily="2" charset="-122"/>
                          <a:cs typeface="SimSun"/>
                        </a:rPr>
                        <a:t>海克尔</a:t>
                      </a:r>
                      <a:endParaRPr sz="1850" b="1" dirty="0">
                        <a:latin typeface="宋体" panose="02010600030101010101" pitchFamily="2" charset="-122"/>
                        <a:ea typeface="宋体" panose="02010600030101010101" pitchFamily="2" charset="-122"/>
                        <a:cs typeface="SimSun"/>
                      </a:endParaRPr>
                    </a:p>
                    <a:p>
                      <a:pPr marL="125095">
                        <a:lnSpc>
                          <a:spcPct val="100000"/>
                        </a:lnSpc>
                        <a:spcBef>
                          <a:spcPts val="180"/>
                        </a:spcBef>
                      </a:pPr>
                      <a:r>
                        <a:rPr sz="1850" b="1" spc="-10" dirty="0">
                          <a:latin typeface="宋体" panose="02010600030101010101" pitchFamily="2" charset="-122"/>
                          <a:ea typeface="宋体" panose="02010600030101010101" pitchFamily="2" charset="-122"/>
                          <a:cs typeface="SimSun"/>
                        </a:rPr>
                        <a:t>（</a:t>
                      </a:r>
                      <a:r>
                        <a:rPr sz="1850" b="1" spc="-10" dirty="0">
                          <a:latin typeface="宋体" panose="02010600030101010101" pitchFamily="2" charset="-122"/>
                          <a:ea typeface="宋体" panose="02010600030101010101" pitchFamily="2" charset="-122"/>
                          <a:cs typeface="Times New Roman"/>
                        </a:rPr>
                        <a:t>1866</a:t>
                      </a:r>
                      <a:r>
                        <a:rPr sz="1850" b="1" spc="-1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dirty="0">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dirty="0">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0" marR="0" marT="0" marB="0">
                    <a:lnT w="9525">
                      <a:solidFill>
                        <a:srgbClr val="9966FF"/>
                      </a:solidFill>
                      <a:prstDash val="solid"/>
                    </a:lnT>
                  </a:tcPr>
                </a:tc>
                <a:extLst>
                  <a:ext uri="{0D108BD9-81ED-4DB2-BD59-A6C34878D82A}">
                    <a16:rowId xmlns:a16="http://schemas.microsoft.com/office/drawing/2014/main" val="10003"/>
                  </a:ext>
                </a:extLst>
              </a:tr>
              <a:tr h="621030">
                <a:tc>
                  <a:txBody>
                    <a:bodyPr/>
                    <a:lstStyle/>
                    <a:p>
                      <a:pPr marL="12065" algn="ctr">
                        <a:lnSpc>
                          <a:spcPct val="100000"/>
                        </a:lnSpc>
                        <a:spcBef>
                          <a:spcPts val="45"/>
                        </a:spcBef>
                      </a:pPr>
                      <a:r>
                        <a:rPr sz="1850" b="1" spc="-95" dirty="0">
                          <a:latin typeface="宋体" panose="02010600030101010101" pitchFamily="2" charset="-122"/>
                          <a:ea typeface="宋体" panose="02010600030101010101" pitchFamily="2" charset="-122"/>
                          <a:cs typeface="SimSun"/>
                        </a:rPr>
                        <a:t>四界</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33045">
                        <a:lnSpc>
                          <a:spcPct val="100000"/>
                        </a:lnSpc>
                        <a:spcBef>
                          <a:spcPts val="45"/>
                        </a:spcBef>
                      </a:pPr>
                      <a:r>
                        <a:rPr lang="zh-CN" altLang="en-US" sz="1850" b="1" kern="1200" spc="-110" dirty="0">
                          <a:solidFill>
                            <a:schemeClr val="tx1"/>
                          </a:solidFill>
                          <a:latin typeface="宋体" panose="02010600030101010101" pitchFamily="2" charset="-122"/>
                          <a:ea typeface="宋体" panose="02010600030101010101" pitchFamily="2" charset="-122"/>
                          <a:cs typeface="+mn-cs"/>
                        </a:rPr>
                        <a:t>魏泰克</a:t>
                      </a:r>
                      <a:r>
                        <a:rPr lang="en-US" altLang="zh-CN" sz="1850" b="1" kern="1200" spc="-110" dirty="0">
                          <a:solidFill>
                            <a:schemeClr val="tx1"/>
                          </a:solidFill>
                          <a:latin typeface="宋体" panose="02010600030101010101" pitchFamily="2" charset="-122"/>
                          <a:ea typeface="宋体" panose="02010600030101010101" pitchFamily="2" charset="-122"/>
                          <a:cs typeface="+mn-cs"/>
                        </a:rPr>
                        <a:t>        </a:t>
                      </a:r>
                    </a:p>
                    <a:p>
                      <a:pPr marL="233045">
                        <a:lnSpc>
                          <a:spcPct val="100000"/>
                        </a:lnSpc>
                        <a:spcBef>
                          <a:spcPts val="45"/>
                        </a:spcBef>
                      </a:pPr>
                      <a:r>
                        <a:rPr lang="en-US" sz="1850" b="1" spc="-10" dirty="0">
                          <a:latin typeface="宋体" panose="02010600030101010101" pitchFamily="2" charset="-122"/>
                          <a:ea typeface="宋体" panose="02010600030101010101" pitchFamily="2" charset="-122"/>
                          <a:cs typeface="Times New Roman"/>
                        </a:rPr>
                        <a:t>(</a:t>
                      </a:r>
                      <a:r>
                        <a:rPr sz="1850" b="1" spc="-10" dirty="0">
                          <a:latin typeface="宋体" panose="02010600030101010101" pitchFamily="2" charset="-122"/>
                          <a:ea typeface="宋体" panose="02010600030101010101" pitchFamily="2" charset="-122"/>
                          <a:cs typeface="Times New Roman"/>
                        </a:rPr>
                        <a:t>1959</a:t>
                      </a:r>
                      <a:r>
                        <a:rPr lang="en-US" sz="1850" b="1" spc="-10" dirty="0">
                          <a:latin typeface="宋体" panose="02010600030101010101" pitchFamily="2" charset="-122"/>
                          <a:ea typeface="宋体" panose="02010600030101010101" pitchFamily="2" charset="-122"/>
                          <a:cs typeface="Times New Roma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dirty="0">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0" marR="0" marT="0" marB="0">
                    <a:lnT w="9525">
                      <a:solidFill>
                        <a:srgbClr val="9966FF"/>
                      </a:solidFill>
                      <a:prstDash val="solid"/>
                    </a:lnT>
                  </a:tcPr>
                </a:tc>
                <a:extLst>
                  <a:ext uri="{0D108BD9-81ED-4DB2-BD59-A6C34878D82A}">
                    <a16:rowId xmlns:a16="http://schemas.microsoft.com/office/drawing/2014/main" val="10004"/>
                  </a:ext>
                </a:extLst>
              </a:tr>
              <a:tr h="617855">
                <a:tc>
                  <a:txBody>
                    <a:bodyPr/>
                    <a:lstStyle/>
                    <a:p>
                      <a:pPr marL="12065" algn="ctr">
                        <a:lnSpc>
                          <a:spcPct val="100000"/>
                        </a:lnSpc>
                        <a:spcBef>
                          <a:spcPts val="45"/>
                        </a:spcBef>
                      </a:pPr>
                      <a:r>
                        <a:rPr sz="1850" b="1" spc="-95" dirty="0">
                          <a:latin typeface="宋体" panose="02010600030101010101" pitchFamily="2" charset="-122"/>
                          <a:ea typeface="宋体" panose="02010600030101010101" pitchFamily="2" charset="-122"/>
                          <a:cs typeface="SimSun"/>
                        </a:rPr>
                        <a:t>五界</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33045">
                        <a:lnSpc>
                          <a:spcPct val="100000"/>
                        </a:lnSpc>
                        <a:spcBef>
                          <a:spcPts val="45"/>
                        </a:spcBef>
                      </a:pPr>
                      <a:r>
                        <a:rPr lang="zh-CN" altLang="en-US" sz="1850" b="1" kern="1200" spc="-110" dirty="0">
                          <a:solidFill>
                            <a:schemeClr val="tx1"/>
                          </a:solidFill>
                          <a:latin typeface="宋体" panose="02010600030101010101" pitchFamily="2" charset="-122"/>
                          <a:ea typeface="宋体" panose="02010600030101010101" pitchFamily="2" charset="-122"/>
                          <a:cs typeface="+mn-cs"/>
                        </a:rPr>
                        <a:t>魏泰克</a:t>
                      </a:r>
                      <a:r>
                        <a:rPr lang="en-US" altLang="zh-CN" sz="1850" b="1" kern="1200" spc="-10" dirty="0">
                          <a:solidFill>
                            <a:schemeClr val="tx1"/>
                          </a:solidFill>
                          <a:latin typeface="宋体" panose="02010600030101010101" pitchFamily="2" charset="-122"/>
                          <a:ea typeface="宋体" panose="02010600030101010101" pitchFamily="2" charset="-122"/>
                          <a:cs typeface="+mn-cs"/>
                        </a:rPr>
                        <a:t>(</a:t>
                      </a:r>
                      <a:r>
                        <a:rPr lang="en-US" altLang="zh-CN" sz="1850" b="1" spc="-10" dirty="0">
                          <a:latin typeface="宋体" panose="02010600030101010101" pitchFamily="2" charset="-122"/>
                          <a:ea typeface="宋体" panose="02010600030101010101" pitchFamily="2" charset="-122"/>
                          <a:cs typeface="Times New Roman"/>
                        </a:rPr>
                        <a:t>1969</a:t>
                      </a:r>
                      <a:r>
                        <a:rPr lang="en-US" altLang="zh-CN" sz="1850" b="1" kern="1200" spc="-10" dirty="0">
                          <a:solidFill>
                            <a:schemeClr val="tx1"/>
                          </a:solidFill>
                          <a:latin typeface="宋体" panose="02010600030101010101" pitchFamily="2" charset="-122"/>
                          <a:ea typeface="宋体" panose="02010600030101010101" pitchFamily="2" charset="-122"/>
                          <a:cs typeface="+mn-cs"/>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pPr>
                      <a:endParaRPr sz="2000" b="1" dirty="0">
                        <a:latin typeface="宋体" panose="02010600030101010101" pitchFamily="2" charset="-122"/>
                        <a:ea typeface="宋体" panose="02010600030101010101" pitchFamily="2" charset="-122"/>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0" marR="0" marT="0" marB="0">
                    <a:lnT w="9525">
                      <a:solidFill>
                        <a:srgbClr val="9966FF"/>
                      </a:solidFill>
                      <a:prstDash val="solid"/>
                    </a:lnT>
                  </a:tcPr>
                </a:tc>
                <a:extLst>
                  <a:ext uri="{0D108BD9-81ED-4DB2-BD59-A6C34878D82A}">
                    <a16:rowId xmlns:a16="http://schemas.microsoft.com/office/drawing/2014/main" val="10005"/>
                  </a:ext>
                </a:extLst>
              </a:tr>
              <a:tr h="620395">
                <a:tc>
                  <a:txBody>
                    <a:bodyPr/>
                    <a:lstStyle/>
                    <a:p>
                      <a:pPr marL="12065" algn="ctr">
                        <a:lnSpc>
                          <a:spcPct val="100000"/>
                        </a:lnSpc>
                        <a:spcBef>
                          <a:spcPts val="45"/>
                        </a:spcBef>
                      </a:pPr>
                      <a:r>
                        <a:rPr sz="1850" b="1" spc="-95" dirty="0">
                          <a:latin typeface="宋体" panose="02010600030101010101" pitchFamily="2" charset="-122"/>
                          <a:ea typeface="宋体" panose="02010600030101010101" pitchFamily="2" charset="-122"/>
                          <a:cs typeface="SimSun"/>
                        </a:rPr>
                        <a:t>六界</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33045">
                        <a:lnSpc>
                          <a:spcPct val="100000"/>
                        </a:lnSpc>
                        <a:spcBef>
                          <a:spcPts val="45"/>
                        </a:spcBef>
                      </a:pPr>
                      <a:r>
                        <a:rPr sz="1850" b="1" spc="-110" dirty="0">
                          <a:latin typeface="宋体" panose="02010600030101010101" pitchFamily="2" charset="-122"/>
                          <a:ea typeface="宋体" panose="02010600030101010101" pitchFamily="2" charset="-122"/>
                          <a:cs typeface="SimSun"/>
                        </a:rPr>
                        <a:t>陈世骧</a:t>
                      </a:r>
                      <a:endParaRPr sz="1850" b="1">
                        <a:latin typeface="宋体" panose="02010600030101010101" pitchFamily="2" charset="-122"/>
                        <a:ea typeface="宋体" panose="02010600030101010101" pitchFamily="2" charset="-122"/>
                        <a:cs typeface="SimSun"/>
                      </a:endParaRPr>
                    </a:p>
                    <a:p>
                      <a:pPr marL="125095">
                        <a:lnSpc>
                          <a:spcPct val="100000"/>
                        </a:lnSpc>
                        <a:spcBef>
                          <a:spcPts val="180"/>
                        </a:spcBef>
                      </a:pPr>
                      <a:r>
                        <a:rPr sz="1850" b="1" spc="-10" dirty="0">
                          <a:latin typeface="宋体" panose="02010600030101010101" pitchFamily="2" charset="-122"/>
                          <a:ea typeface="宋体" panose="02010600030101010101" pitchFamily="2" charset="-122"/>
                          <a:cs typeface="SimSun"/>
                        </a:rPr>
                        <a:t>（</a:t>
                      </a:r>
                      <a:r>
                        <a:rPr sz="1850" b="1" spc="-10" dirty="0">
                          <a:latin typeface="宋体" panose="02010600030101010101" pitchFamily="2" charset="-122"/>
                          <a:ea typeface="宋体" panose="02010600030101010101" pitchFamily="2" charset="-122"/>
                          <a:cs typeface="Times New Roman"/>
                        </a:rPr>
                        <a:t>1979</a:t>
                      </a:r>
                      <a:r>
                        <a:rPr sz="1850" b="1" spc="-1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R="3175" algn="ctr">
                        <a:lnSpc>
                          <a:spcPct val="100000"/>
                        </a:lnSpc>
                        <a:spcBef>
                          <a:spcPts val="45"/>
                        </a:spcBef>
                      </a:pPr>
                      <a:r>
                        <a:rPr sz="1850" b="1" spc="-50" dirty="0">
                          <a:latin typeface="宋体" panose="02010600030101010101" pitchFamily="2" charset="-122"/>
                          <a:ea typeface="宋体" panose="02010600030101010101" pitchFamily="2" charset="-122"/>
                          <a:cs typeface="SimSun"/>
                        </a:rPr>
                        <a:t>★</a:t>
                      </a:r>
                      <a:endParaRPr sz="1850" b="1" dirty="0">
                        <a:latin typeface="宋体" panose="02010600030101010101" pitchFamily="2" charset="-122"/>
                        <a:ea typeface="宋体" panose="02010600030101010101" pitchFamily="2" charset="-122"/>
                        <a:cs typeface="SimSun"/>
                      </a:endParaRPr>
                    </a:p>
                  </a:txBody>
                  <a:tcPr marL="0" marR="0" marT="57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0" marR="0" marT="0" marB="0">
                    <a:lnT w="9525">
                      <a:solidFill>
                        <a:srgbClr val="9966FF"/>
                      </a:solidFill>
                      <a:prstDash val="solid"/>
                    </a:lnT>
                  </a:tcPr>
                </a:tc>
                <a:extLst>
                  <a:ext uri="{0D108BD9-81ED-4DB2-BD59-A6C34878D82A}">
                    <a16:rowId xmlns:a16="http://schemas.microsoft.com/office/drawing/2014/main" val="10006"/>
                  </a:ext>
                </a:extLst>
              </a:tr>
              <a:tr h="973455">
                <a:tc gridSpan="8">
                  <a:txBody>
                    <a:bodyPr/>
                    <a:lstStyle/>
                    <a:p>
                      <a:pPr marL="95885">
                        <a:lnSpc>
                          <a:spcPct val="100000"/>
                        </a:lnSpc>
                        <a:spcBef>
                          <a:spcPts val="470"/>
                        </a:spcBef>
                      </a:pPr>
                      <a:r>
                        <a:rPr sz="2800" b="1" spc="-30" dirty="0">
                          <a:latin typeface="宋体" panose="02010600030101010101" pitchFamily="2" charset="-122"/>
                          <a:ea typeface="宋体" panose="02010600030101010101" pitchFamily="2" charset="-122"/>
                          <a:cs typeface="SimSun"/>
                        </a:rPr>
                        <a:t>三域系统：细菌、古菌、真核生物</a:t>
                      </a:r>
                      <a:endParaRPr sz="2800" b="1" dirty="0">
                        <a:latin typeface="宋体" panose="02010600030101010101" pitchFamily="2" charset="-122"/>
                        <a:ea typeface="宋体" panose="02010600030101010101" pitchFamily="2" charset="-122"/>
                        <a:cs typeface="SimSun"/>
                      </a:endParaRPr>
                    </a:p>
                    <a:p>
                      <a:pPr marL="1965960">
                        <a:lnSpc>
                          <a:spcPct val="100000"/>
                        </a:lnSpc>
                        <a:spcBef>
                          <a:spcPts val="380"/>
                        </a:spcBef>
                      </a:pPr>
                      <a:r>
                        <a:rPr sz="2400" b="1" spc="-5" dirty="0">
                          <a:solidFill>
                            <a:srgbClr val="006FC0"/>
                          </a:solidFill>
                          <a:latin typeface="宋体" panose="02010600030101010101" pitchFamily="2" charset="-122"/>
                          <a:ea typeface="宋体" panose="02010600030101010101" pitchFamily="2" charset="-122"/>
                          <a:cs typeface="SimSun"/>
                        </a:rPr>
                        <a:t>分子遗传学手段介入生物界的划分</a:t>
                      </a:r>
                      <a:endParaRPr sz="2400" b="1" dirty="0">
                        <a:latin typeface="宋体" panose="02010600030101010101" pitchFamily="2" charset="-122"/>
                        <a:ea typeface="宋体" panose="02010600030101010101" pitchFamily="2" charset="-122"/>
                        <a:cs typeface="SimSun"/>
                      </a:endParaRPr>
                    </a:p>
                  </a:txBody>
                  <a:tcPr marL="0" marR="0" marT="59690" marB="0">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hMerge="1">
                  <a:txBody>
                    <a:bodyPr/>
                    <a:lstStyle/>
                    <a:p>
                      <a:endParaRPr/>
                    </a:p>
                  </a:txBody>
                  <a:tcPr marL="0" marR="0" marT="0" marB="0"/>
                </a:tc>
                <a:tc hMerge="1">
                  <a:txBody>
                    <a:bodyPr/>
                    <a:lstStyle/>
                    <a:p>
                      <a:endParaRPr/>
                    </a:p>
                  </a:txBody>
                  <a:tcPr marL="0" marR="0" marT="0" marB="0">
                    <a:lnT w="12700" cap="flat" cmpd="sng" algn="ctr">
                      <a:solidFill>
                        <a:srgbClr val="000000"/>
                      </a:solidFill>
                      <a:prstDash val="solid"/>
                      <a:round/>
                      <a:headEnd type="none" w="med" len="med"/>
                      <a:tailEnd type="none" w="med" len="me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T w="9525">
                      <a:solidFill>
                        <a:srgbClr val="9966FF"/>
                      </a:solidFill>
                      <a:prstDash val="solid"/>
                    </a:lnT>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示&#10;&#10;AI 生成的内容可能不正确。">
            <a:extLst>
              <a:ext uri="{FF2B5EF4-FFF2-40B4-BE49-F238E27FC236}">
                <a16:creationId xmlns:a16="http://schemas.microsoft.com/office/drawing/2014/main" id="{015CB241-648D-5220-730C-C7569435E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78" y="166232"/>
            <a:ext cx="8916644" cy="65255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日程表&#10;&#10;AI 生成的内容可能不正确。">
            <a:extLst>
              <a:ext uri="{FF2B5EF4-FFF2-40B4-BE49-F238E27FC236}">
                <a16:creationId xmlns:a16="http://schemas.microsoft.com/office/drawing/2014/main" id="{598DF29F-92A6-14D8-189A-293156D53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0"/>
            <a:ext cx="75438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09" name="Rectangle 3" descr="Rectangle: Click to edit Master text styles&#10;Second level&#10;Third level&#10;Fourth level&#10;Fifth level"/>
          <p:cNvSpPr>
            <a:spLocks noGrp="1"/>
          </p:cNvSpPr>
          <p:nvPr>
            <p:ph idx="1"/>
          </p:nvPr>
        </p:nvSpPr>
        <p:spPr>
          <a:xfrm>
            <a:off x="468313" y="1052513"/>
            <a:ext cx="8382000" cy="5689600"/>
          </a:xfrm>
        </p:spPr>
        <p:txBody>
          <a:bodyPr anchor="t" anchorCtr="0"/>
          <a:lstStyle/>
          <a:p>
            <a:pPr eaLnBrk="1" hangingPunct="1">
              <a:lnSpc>
                <a:spcPct val="90000"/>
              </a:lnSpc>
            </a:pPr>
            <a:r>
              <a:rPr lang="zh-CN" altLang="en-US" b="1" dirty="0">
                <a:solidFill>
                  <a:schemeClr val="tx1"/>
                </a:solidFill>
                <a:latin typeface="黑体" panose="02010609060101010101" pitchFamily="49" charset="-122"/>
                <a:ea typeface="黑体" panose="02010609060101010101" pitchFamily="49" charset="-122"/>
              </a:rPr>
              <a:t>双名法与</a:t>
            </a:r>
            <a:r>
              <a:rPr lang="zh-CN" altLang="en-US" sz="2800" b="1" dirty="0">
                <a:solidFill>
                  <a:schemeClr val="tx1"/>
                </a:solidFill>
                <a:latin typeface="黑体" panose="02010609060101010101" pitchFamily="49" charset="-122"/>
                <a:ea typeface="黑体" panose="02010609060101010101" pitchFamily="49" charset="-122"/>
              </a:rPr>
              <a:t>国际生物命名法规：</a:t>
            </a:r>
          </a:p>
          <a:p>
            <a:pPr eaLnBrk="1" hangingPunct="1">
              <a:lnSpc>
                <a:spcPct val="90000"/>
              </a:lnSpc>
            </a:pPr>
            <a:r>
              <a:rPr lang="zh-CN" altLang="en-US" sz="2800" b="1" dirty="0">
                <a:solidFill>
                  <a:schemeClr val="tx1"/>
                </a:solidFill>
                <a:latin typeface="黑体" panose="02010609060101010101" pitchFamily="49" charset="-122"/>
                <a:ea typeface="黑体" panose="02010609060101010101" pitchFamily="49" charset="-122"/>
              </a:rPr>
              <a:t>：</a:t>
            </a:r>
            <a:r>
              <a:rPr lang="zh-CN" altLang="en-US" sz="2400" b="1" dirty="0">
                <a:solidFill>
                  <a:schemeClr val="tx1"/>
                </a:solidFill>
                <a:latin typeface="黑体" panose="02010609060101010101" pitchFamily="49" charset="-122"/>
                <a:ea typeface="黑体" panose="02010609060101010101" pitchFamily="49" charset="-122"/>
              </a:rPr>
              <a:t>用</a:t>
            </a:r>
            <a:r>
              <a:rPr lang="en-US" altLang="zh-CN" sz="2400" b="1" dirty="0">
                <a:solidFill>
                  <a:schemeClr val="tx1"/>
                </a:solidFill>
                <a:latin typeface="黑体" panose="02010609060101010101" pitchFamily="49" charset="-122"/>
                <a:ea typeface="黑体" panose="02010609060101010101" pitchFamily="49" charset="-122"/>
              </a:rPr>
              <a:t>2</a:t>
            </a:r>
            <a:r>
              <a:rPr lang="zh-CN" altLang="en-US" sz="2400" b="1" dirty="0">
                <a:solidFill>
                  <a:schemeClr val="tx1"/>
                </a:solidFill>
                <a:latin typeface="黑体" panose="02010609060101010101" pitchFamily="49" charset="-122"/>
                <a:ea typeface="黑体" panose="02010609060101010101" pitchFamily="49" charset="-122"/>
              </a:rPr>
              <a:t>个拉丁词或拉丁化形式的词给物种命名的方法，第</a:t>
            </a:r>
            <a:r>
              <a:rPr lang="en-US" altLang="zh-CN" sz="2400" b="1" dirty="0">
                <a:solidFill>
                  <a:schemeClr val="tx1"/>
                </a:solidFill>
                <a:latin typeface="黑体" panose="02010609060101010101" pitchFamily="49" charset="-122"/>
                <a:ea typeface="黑体" panose="02010609060101010101" pitchFamily="49" charset="-122"/>
              </a:rPr>
              <a:t>1</a:t>
            </a:r>
            <a:r>
              <a:rPr lang="zh-CN" altLang="en-US" sz="2400" b="1" dirty="0">
                <a:solidFill>
                  <a:schemeClr val="tx1"/>
                </a:solidFill>
                <a:latin typeface="黑体" panose="02010609060101010101" pitchFamily="49" charset="-122"/>
                <a:ea typeface="黑体" panose="02010609060101010101" pitchFamily="49" charset="-122"/>
              </a:rPr>
              <a:t>词为属名，为单数名词或名词化形容词，一格，首字母大写；第</a:t>
            </a:r>
            <a:r>
              <a:rPr lang="en-US" altLang="zh-CN" sz="2400" b="1" dirty="0">
                <a:solidFill>
                  <a:schemeClr val="tx1"/>
                </a:solidFill>
                <a:latin typeface="黑体" panose="02010609060101010101" pitchFamily="49" charset="-122"/>
                <a:ea typeface="黑体" panose="02010609060101010101" pitchFamily="49" charset="-122"/>
              </a:rPr>
              <a:t>2</a:t>
            </a:r>
            <a:r>
              <a:rPr lang="zh-CN" altLang="en-US" sz="2400" b="1" dirty="0">
                <a:solidFill>
                  <a:schemeClr val="tx1"/>
                </a:solidFill>
                <a:latin typeface="黑体" panose="02010609060101010101" pitchFamily="49" charset="-122"/>
                <a:ea typeface="黑体" panose="02010609060101010101" pitchFamily="49" charset="-122"/>
              </a:rPr>
              <a:t>词为种加词，多为形容词， 性、数、格与属名一致；少数为所有格的名词或同位名词。之后，要附上命名人姓氏缩写。</a:t>
            </a:r>
          </a:p>
          <a:p>
            <a:pPr eaLnBrk="1" hangingPunct="1">
              <a:lnSpc>
                <a:spcPct val="90000"/>
              </a:lnSpc>
              <a:buNone/>
            </a:pPr>
            <a:r>
              <a:rPr lang="zh-CN" altLang="en-US" sz="2400" b="1" dirty="0">
                <a:solidFill>
                  <a:schemeClr val="tx1"/>
                </a:solidFill>
                <a:latin typeface="黑体" panose="02010609060101010101" pitchFamily="49" charset="-122"/>
                <a:ea typeface="黑体" panose="02010609060101010101" pitchFamily="49" charset="-122"/>
              </a:rPr>
              <a:t>       属名</a:t>
            </a:r>
            <a:r>
              <a:rPr lang="en-US" altLang="zh-CN" sz="2400" b="1" dirty="0">
                <a:solidFill>
                  <a:schemeClr val="tx1"/>
                </a:solidFill>
                <a:latin typeface="黑体" panose="02010609060101010101" pitchFamily="49" charset="-122"/>
                <a:ea typeface="黑体" panose="02010609060101010101" pitchFamily="49" charset="-122"/>
              </a:rPr>
              <a:t>+</a:t>
            </a:r>
            <a:r>
              <a:rPr lang="zh-CN" altLang="en-US" sz="2400" b="1" dirty="0">
                <a:solidFill>
                  <a:schemeClr val="tx1"/>
                </a:solidFill>
                <a:latin typeface="黑体" panose="02010609060101010101" pitchFamily="49" charset="-122"/>
                <a:ea typeface="黑体" panose="02010609060101010101" pitchFamily="49" charset="-122"/>
              </a:rPr>
              <a:t>种加词</a:t>
            </a:r>
            <a:r>
              <a:rPr lang="en-US" altLang="zh-CN" sz="2400" b="1" dirty="0">
                <a:solidFill>
                  <a:schemeClr val="tx1"/>
                </a:solidFill>
                <a:latin typeface="黑体" panose="02010609060101010101" pitchFamily="49" charset="-122"/>
                <a:ea typeface="黑体" panose="02010609060101010101" pitchFamily="49" charset="-122"/>
              </a:rPr>
              <a:t>+</a:t>
            </a:r>
            <a:r>
              <a:rPr lang="zh-CN" altLang="en-US" sz="2400" b="1" dirty="0">
                <a:solidFill>
                  <a:schemeClr val="tx1"/>
                </a:solidFill>
                <a:latin typeface="黑体" panose="02010609060101010101" pitchFamily="49" charset="-122"/>
                <a:ea typeface="黑体" panose="02010609060101010101" pitchFamily="49" charset="-122"/>
              </a:rPr>
              <a:t>命名人</a:t>
            </a:r>
          </a:p>
          <a:p>
            <a:pPr eaLnBrk="1" hangingPunct="1">
              <a:lnSpc>
                <a:spcPct val="90000"/>
              </a:lnSpc>
              <a:buNone/>
            </a:pPr>
            <a:r>
              <a:rPr lang="zh-CN" altLang="en-US" sz="2400" b="1" dirty="0">
                <a:solidFill>
                  <a:schemeClr val="tx1"/>
                </a:solidFill>
                <a:ea typeface="黑体" panose="02010609060101010101" pitchFamily="49" charset="-122"/>
              </a:rPr>
              <a:t>   如：银杏 </a:t>
            </a:r>
            <a:r>
              <a:rPr lang="en-US" altLang="zh-CN" sz="2400" b="1" i="1" dirty="0">
                <a:solidFill>
                  <a:schemeClr val="tx1"/>
                </a:solidFill>
                <a:ea typeface="黑体" panose="02010609060101010101" pitchFamily="49" charset="-122"/>
              </a:rPr>
              <a:t>Ginkgo biloba</a:t>
            </a:r>
            <a:r>
              <a:rPr lang="en-US" altLang="zh-CN" sz="2400" b="1" dirty="0">
                <a:solidFill>
                  <a:schemeClr val="tx1"/>
                </a:solidFill>
                <a:ea typeface="黑体" panose="02010609060101010101" pitchFamily="49" charset="-122"/>
              </a:rPr>
              <a:t> L.     </a:t>
            </a:r>
            <a:r>
              <a:rPr lang="zh-CN" altLang="en-US" sz="2400" b="1" dirty="0">
                <a:solidFill>
                  <a:schemeClr val="tx1"/>
                </a:solidFill>
                <a:ea typeface="黑体" panose="02010609060101010101" pitchFamily="49" charset="-122"/>
              </a:rPr>
              <a:t>水稻</a:t>
            </a:r>
            <a:r>
              <a:rPr lang="en-US" altLang="zh-CN" sz="2400" b="1" i="1" dirty="0">
                <a:solidFill>
                  <a:schemeClr val="tx1"/>
                </a:solidFill>
                <a:ea typeface="黑体" panose="02010609060101010101" pitchFamily="49" charset="-122"/>
              </a:rPr>
              <a:t>Oryza sativa</a:t>
            </a:r>
            <a:r>
              <a:rPr lang="en-US" altLang="zh-CN" sz="2400" b="1" dirty="0">
                <a:solidFill>
                  <a:schemeClr val="tx1"/>
                </a:solidFill>
                <a:ea typeface="黑体" panose="02010609060101010101" pitchFamily="49" charset="-122"/>
              </a:rPr>
              <a:t> L.; </a:t>
            </a:r>
          </a:p>
          <a:p>
            <a:pPr eaLnBrk="1" hangingPunct="1">
              <a:lnSpc>
                <a:spcPct val="90000"/>
              </a:lnSpc>
              <a:buNone/>
            </a:pPr>
            <a:r>
              <a:rPr lang="en-US" altLang="zh-CN" sz="2400" b="1" dirty="0">
                <a:solidFill>
                  <a:schemeClr val="tx1"/>
                </a:solidFill>
                <a:ea typeface="黑体" panose="02010609060101010101" pitchFamily="49" charset="-122"/>
              </a:rPr>
              <a:t>   </a:t>
            </a:r>
            <a:r>
              <a:rPr lang="zh-CN" altLang="en-US" sz="2400" b="1" dirty="0">
                <a:solidFill>
                  <a:schemeClr val="tx1"/>
                </a:solidFill>
                <a:ea typeface="黑体" panose="02010609060101010101" pitchFamily="49" charset="-122"/>
              </a:rPr>
              <a:t>龙葵</a:t>
            </a:r>
            <a:r>
              <a:rPr lang="en-US" altLang="zh-CN" sz="2400" b="1" i="1" dirty="0">
                <a:solidFill>
                  <a:schemeClr val="tx1"/>
                </a:solidFill>
                <a:ea typeface="黑体" panose="02010609060101010101" pitchFamily="49" charset="-122"/>
              </a:rPr>
              <a:t>Solanum nigrum</a:t>
            </a:r>
            <a:r>
              <a:rPr lang="en-US" altLang="zh-CN" sz="2400" b="1" dirty="0">
                <a:solidFill>
                  <a:schemeClr val="tx1"/>
                </a:solidFill>
                <a:ea typeface="黑体" panose="02010609060101010101" pitchFamily="49" charset="-122"/>
              </a:rPr>
              <a:t> L. </a:t>
            </a:r>
            <a:r>
              <a:rPr lang="zh-CN" altLang="en-US" sz="2400" b="1" dirty="0">
                <a:solidFill>
                  <a:schemeClr val="tx1"/>
                </a:solidFill>
                <a:ea typeface="黑体" panose="02010609060101010101" pitchFamily="49" charset="-122"/>
              </a:rPr>
              <a:t>；白苋</a:t>
            </a:r>
            <a:r>
              <a:rPr lang="en-US" altLang="zh-CN" sz="2400" b="1" i="1" dirty="0">
                <a:solidFill>
                  <a:schemeClr val="tx1"/>
                </a:solidFill>
                <a:ea typeface="黑体" panose="02010609060101010101" pitchFamily="49" charset="-122"/>
              </a:rPr>
              <a:t>Amaranthus albus</a:t>
            </a:r>
            <a:r>
              <a:rPr lang="en-US" altLang="zh-CN" sz="2400" b="1" dirty="0">
                <a:solidFill>
                  <a:schemeClr val="tx1"/>
                </a:solidFill>
                <a:ea typeface="黑体" panose="02010609060101010101" pitchFamily="49" charset="-122"/>
              </a:rPr>
              <a:t> L.</a:t>
            </a:r>
          </a:p>
          <a:p>
            <a:pPr lvl="1" eaLnBrk="1" hangingPunct="1">
              <a:lnSpc>
                <a:spcPct val="90000"/>
              </a:lnSpc>
              <a:buNone/>
            </a:pPr>
            <a:r>
              <a:rPr lang="zh-CN" altLang="en-US" b="1" dirty="0">
                <a:solidFill>
                  <a:schemeClr val="tx1"/>
                </a:solidFill>
                <a:ea typeface="黑体" panose="02010609060101010101" pitchFamily="49" charset="-122"/>
              </a:rPr>
              <a:t>胡萝卜</a:t>
            </a:r>
            <a:r>
              <a:rPr lang="en-US" altLang="zh-CN" b="1" i="1" dirty="0">
                <a:solidFill>
                  <a:schemeClr val="tx1"/>
                </a:solidFill>
                <a:ea typeface="黑体" panose="02010609060101010101" pitchFamily="49" charset="-122"/>
              </a:rPr>
              <a:t>Daucus carota</a:t>
            </a:r>
            <a:r>
              <a:rPr lang="en-US" altLang="zh-CN" b="1" dirty="0">
                <a:solidFill>
                  <a:schemeClr val="tx1"/>
                </a:solidFill>
                <a:ea typeface="黑体" panose="02010609060101010101" pitchFamily="49" charset="-122"/>
              </a:rPr>
              <a:t> L.; </a:t>
            </a:r>
            <a:r>
              <a:rPr lang="zh-CN" altLang="en-US" b="1" dirty="0">
                <a:solidFill>
                  <a:schemeClr val="tx1"/>
                </a:solidFill>
                <a:ea typeface="黑体" panose="02010609060101010101" pitchFamily="49" charset="-122"/>
              </a:rPr>
              <a:t>洋葱</a:t>
            </a:r>
            <a:r>
              <a:rPr lang="en-US" altLang="zh-CN" b="1" i="1" dirty="0">
                <a:solidFill>
                  <a:schemeClr val="tx1"/>
                </a:solidFill>
                <a:ea typeface="黑体" panose="02010609060101010101" pitchFamily="49" charset="-122"/>
              </a:rPr>
              <a:t>Allium cepa</a:t>
            </a:r>
            <a:r>
              <a:rPr lang="en-US" altLang="zh-CN" b="1" dirty="0">
                <a:solidFill>
                  <a:schemeClr val="tx1"/>
                </a:solidFill>
                <a:ea typeface="黑体" panose="02010609060101010101" pitchFamily="49" charset="-122"/>
              </a:rPr>
              <a:t> L.</a:t>
            </a:r>
          </a:p>
          <a:p>
            <a:pPr lvl="1" eaLnBrk="1" hangingPunct="1">
              <a:lnSpc>
                <a:spcPct val="90000"/>
              </a:lnSpc>
              <a:buNone/>
            </a:pPr>
            <a:endParaRPr lang="en-US" altLang="zh-CN" b="1" dirty="0">
              <a:solidFill>
                <a:schemeClr val="tx1"/>
              </a:solidFill>
              <a:ea typeface="黑体" panose="02010609060101010101" pitchFamily="49" charset="-122"/>
            </a:endParaRPr>
          </a:p>
          <a:p>
            <a:pPr lvl="1" eaLnBrk="1" hangingPunct="1">
              <a:lnSpc>
                <a:spcPct val="90000"/>
              </a:lnSpc>
              <a:buNone/>
            </a:pPr>
            <a:r>
              <a:rPr lang="zh-CN" altLang="en-US" b="1" dirty="0">
                <a:solidFill>
                  <a:schemeClr val="tx1"/>
                </a:solidFill>
                <a:ea typeface="黑体" panose="02010609060101010101" pitchFamily="49" charset="-122"/>
              </a:rPr>
              <a:t>变种：白丁香 </a:t>
            </a:r>
            <a:r>
              <a:rPr lang="en-US" altLang="zh-CN" b="1" i="1" dirty="0">
                <a:solidFill>
                  <a:schemeClr val="tx1"/>
                </a:solidFill>
                <a:ea typeface="黑体" panose="02010609060101010101" pitchFamily="49" charset="-122"/>
              </a:rPr>
              <a:t>Syringa oblate</a:t>
            </a:r>
            <a:r>
              <a:rPr lang="en-US" altLang="zh-CN" b="1" dirty="0">
                <a:solidFill>
                  <a:schemeClr val="tx1"/>
                </a:solidFill>
                <a:ea typeface="黑体" panose="02010609060101010101" pitchFamily="49" charset="-122"/>
              </a:rPr>
              <a:t> Lindl. var. </a:t>
            </a:r>
            <a:r>
              <a:rPr lang="en-US" altLang="zh-CN" b="1" i="1" dirty="0">
                <a:solidFill>
                  <a:schemeClr val="tx1"/>
                </a:solidFill>
                <a:ea typeface="黑体" panose="02010609060101010101" pitchFamily="49" charset="-122"/>
              </a:rPr>
              <a:t>alba</a:t>
            </a:r>
            <a:r>
              <a:rPr lang="en-US" altLang="zh-CN" b="1" dirty="0">
                <a:solidFill>
                  <a:schemeClr val="tx1"/>
                </a:solidFill>
                <a:ea typeface="黑体" panose="02010609060101010101" pitchFamily="49" charset="-122"/>
              </a:rPr>
              <a:t> Rehd.</a:t>
            </a:r>
          </a:p>
          <a:p>
            <a:pPr lvl="1" eaLnBrk="1" hangingPunct="1">
              <a:lnSpc>
                <a:spcPct val="90000"/>
              </a:lnSpc>
              <a:buNone/>
            </a:pPr>
            <a:endParaRPr lang="en-US" altLang="zh-CN" b="1" dirty="0">
              <a:solidFill>
                <a:schemeClr val="tx1"/>
              </a:solidFill>
              <a:latin typeface="黑体" panose="02010609060101010101" pitchFamily="49" charset="-122"/>
              <a:ea typeface="黑体" panose="02010609060101010101" pitchFamily="49" charset="-122"/>
            </a:endParaRPr>
          </a:p>
          <a:p>
            <a:pPr lvl="1"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新组合名称：当归</a:t>
            </a:r>
            <a:r>
              <a:rPr lang="en-US" altLang="zh-CN" b="1" dirty="0">
                <a:solidFill>
                  <a:schemeClr val="tx1"/>
                </a:solidFill>
              </a:rPr>
              <a:t> </a:t>
            </a:r>
            <a:r>
              <a:rPr lang="en-US" altLang="zh-CN" b="1" i="1" dirty="0">
                <a:solidFill>
                  <a:schemeClr val="tx1"/>
                </a:solidFill>
              </a:rPr>
              <a:t>Angelica</a:t>
            </a:r>
            <a:r>
              <a:rPr lang="en-US" altLang="zh-CN" i="1" dirty="0">
                <a:solidFill>
                  <a:schemeClr val="tx1"/>
                </a:solidFill>
              </a:rPr>
              <a:t> </a:t>
            </a:r>
            <a:r>
              <a:rPr lang="en-US" altLang="zh-CN" b="1" i="1" dirty="0">
                <a:solidFill>
                  <a:schemeClr val="tx1"/>
                </a:solidFill>
              </a:rPr>
              <a:t>sinensis</a:t>
            </a:r>
            <a:r>
              <a:rPr lang="en-US" altLang="zh-CN" dirty="0">
                <a:solidFill>
                  <a:schemeClr val="tx1"/>
                </a:solidFill>
              </a:rPr>
              <a:t> (Oliv.) Diels</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401410" name="Rectangle 2"/>
          <p:cNvSpPr>
            <a:spLocks noGrp="1"/>
          </p:cNvSpPr>
          <p:nvPr>
            <p:ph type="title"/>
          </p:nvPr>
        </p:nvSpPr>
        <p:spPr>
          <a:xfrm>
            <a:off x="457200" y="360363"/>
            <a:ext cx="8229600" cy="561975"/>
          </a:xfrm>
        </p:spPr>
        <p:txBody>
          <a:bodyPr anchor="b" anchorCtr="0"/>
          <a:lstStyle/>
          <a:p>
            <a:pPr eaLnBrk="1" hangingPunct="1"/>
            <a:r>
              <a:rPr lang="zh-CN" altLang="en-US" b="1" dirty="0">
                <a:latin typeface="黑体" panose="02010609060101010101" pitchFamily="49" charset="-122"/>
                <a:ea typeface="黑体" panose="02010609060101010101" pitchFamily="49" charset="-122"/>
              </a:rPr>
              <a:t>植物命名法</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3" name="标题 1"/>
          <p:cNvSpPr>
            <a:spLocks noGrp="1"/>
          </p:cNvSpPr>
          <p:nvPr>
            <p:ph type="title"/>
          </p:nvPr>
        </p:nvSpPr>
        <p:spPr>
          <a:xfrm>
            <a:off x="0" y="332656"/>
            <a:ext cx="9144000" cy="544488"/>
          </a:xfrm>
          <a:noFill/>
          <a:ln w="9525">
            <a:noFill/>
          </a:ln>
        </p:spPr>
        <p:txBody>
          <a:bodyPr anchor="b" anchorCtr="0"/>
          <a:lstStyle/>
          <a:p>
            <a:pPr eaLnBrk="1" hangingPunct="1"/>
            <a:r>
              <a:rPr lang="zh-CN" altLang="en-US" b="1" dirty="0">
                <a:solidFill>
                  <a:schemeClr val="tx1"/>
                </a:solidFill>
                <a:latin typeface="黑体" panose="02010609060101010101" pitchFamily="49" charset="-122"/>
                <a:ea typeface="黑体" panose="02010609060101010101" pitchFamily="49" charset="-122"/>
              </a:rPr>
              <a:t>一、植物细胞的形状和大小</a:t>
            </a:r>
          </a:p>
        </p:txBody>
      </p:sp>
      <p:pic>
        <p:nvPicPr>
          <p:cNvPr id="5" name="图片 4" descr="图示&#10;&#10;AI 生成的内容可能不正确。">
            <a:extLst>
              <a:ext uri="{FF2B5EF4-FFF2-40B4-BE49-F238E27FC236}">
                <a16:creationId xmlns:a16="http://schemas.microsoft.com/office/drawing/2014/main" id="{6480800E-4A30-AE4C-6A10-C1B57408D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2736"/>
            <a:ext cx="9144000" cy="51872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7" name="标题 1"/>
          <p:cNvSpPr>
            <a:spLocks noGrp="1"/>
          </p:cNvSpPr>
          <p:nvPr>
            <p:ph type="title"/>
          </p:nvPr>
        </p:nvSpPr>
        <p:spPr/>
        <p:txBody>
          <a:bodyPr anchor="b" anchorCtr="0"/>
          <a:lstStyle/>
          <a:p>
            <a:endParaRPr lang="zh-CN" altLang="en-US"/>
          </a:p>
        </p:txBody>
      </p:sp>
      <p:pic>
        <p:nvPicPr>
          <p:cNvPr id="403458" name="内容占位符 4"/>
          <p:cNvPicPr>
            <a:picLocks noGrp="1" noChangeAspect="1"/>
          </p:cNvPicPr>
          <p:nvPr>
            <p:ph idx="1"/>
          </p:nvPr>
        </p:nvPicPr>
        <p:blipFill>
          <a:blip r:embed="rId2"/>
          <a:stretch>
            <a:fillRect/>
          </a:stretch>
        </p:blipFill>
        <p:spPr>
          <a:xfrm>
            <a:off x="463550" y="488950"/>
            <a:ext cx="7023100" cy="5411788"/>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2">
            <a:extLst>
              <a:ext uri="{FF2B5EF4-FFF2-40B4-BE49-F238E27FC236}">
                <a16:creationId xmlns:a16="http://schemas.microsoft.com/office/drawing/2014/main" id="{19F0290D-A297-0F8D-EA78-B9C202AA1D36}"/>
              </a:ext>
            </a:extLst>
          </p:cNvPr>
          <p:cNvGrpSpPr/>
          <p:nvPr/>
        </p:nvGrpSpPr>
        <p:grpSpPr>
          <a:xfrm>
            <a:off x="0" y="404664"/>
            <a:ext cx="8533130" cy="3154680"/>
            <a:chOff x="0" y="0"/>
            <a:chExt cx="8533130" cy="3154680"/>
          </a:xfrm>
        </p:grpSpPr>
        <p:pic>
          <p:nvPicPr>
            <p:cNvPr id="6" name="object 3">
              <a:extLst>
                <a:ext uri="{FF2B5EF4-FFF2-40B4-BE49-F238E27FC236}">
                  <a16:creationId xmlns:a16="http://schemas.microsoft.com/office/drawing/2014/main" id="{F3E498EC-26AC-50B5-C018-6A39F0108A82}"/>
                </a:ext>
              </a:extLst>
            </p:cNvPr>
            <p:cNvPicPr/>
            <p:nvPr/>
          </p:nvPicPr>
          <p:blipFill>
            <a:blip r:embed="rId2" cstate="print"/>
            <a:stretch>
              <a:fillRect/>
            </a:stretch>
          </p:blipFill>
          <p:spPr>
            <a:xfrm>
              <a:off x="1258823" y="0"/>
              <a:ext cx="1813560" cy="3083052"/>
            </a:xfrm>
            <a:prstGeom prst="rect">
              <a:avLst/>
            </a:prstGeom>
          </p:spPr>
        </p:pic>
        <p:pic>
          <p:nvPicPr>
            <p:cNvPr id="7" name="object 4">
              <a:extLst>
                <a:ext uri="{FF2B5EF4-FFF2-40B4-BE49-F238E27FC236}">
                  <a16:creationId xmlns:a16="http://schemas.microsoft.com/office/drawing/2014/main" id="{142E3951-926C-983D-DDE8-91F49F38CC03}"/>
                </a:ext>
              </a:extLst>
            </p:cNvPr>
            <p:cNvPicPr/>
            <p:nvPr/>
          </p:nvPicPr>
          <p:blipFill>
            <a:blip r:embed="rId3" cstate="print"/>
            <a:stretch>
              <a:fillRect/>
            </a:stretch>
          </p:blipFill>
          <p:spPr>
            <a:xfrm>
              <a:off x="6577583" y="13716"/>
              <a:ext cx="1955292" cy="3140964"/>
            </a:xfrm>
            <a:prstGeom prst="rect">
              <a:avLst/>
            </a:prstGeom>
          </p:spPr>
        </p:pic>
        <p:pic>
          <p:nvPicPr>
            <p:cNvPr id="8" name="object 5">
              <a:extLst>
                <a:ext uri="{FF2B5EF4-FFF2-40B4-BE49-F238E27FC236}">
                  <a16:creationId xmlns:a16="http://schemas.microsoft.com/office/drawing/2014/main" id="{27CD3A8B-5DE6-0D64-2512-398425EAD5CC}"/>
                </a:ext>
              </a:extLst>
            </p:cNvPr>
            <p:cNvPicPr/>
            <p:nvPr/>
          </p:nvPicPr>
          <p:blipFill>
            <a:blip r:embed="rId4" cstate="print"/>
            <a:stretch>
              <a:fillRect/>
            </a:stretch>
          </p:blipFill>
          <p:spPr>
            <a:xfrm>
              <a:off x="4021835" y="13716"/>
              <a:ext cx="1836419" cy="3067812"/>
            </a:xfrm>
            <a:prstGeom prst="rect">
              <a:avLst/>
            </a:prstGeom>
          </p:spPr>
        </p:pic>
        <p:sp>
          <p:nvSpPr>
            <p:cNvPr id="9" name="object 6">
              <a:extLst>
                <a:ext uri="{FF2B5EF4-FFF2-40B4-BE49-F238E27FC236}">
                  <a16:creationId xmlns:a16="http://schemas.microsoft.com/office/drawing/2014/main" id="{208D4468-59E3-21D1-9009-C0331CE45B0C}"/>
                </a:ext>
              </a:extLst>
            </p:cNvPr>
            <p:cNvSpPr/>
            <p:nvPr/>
          </p:nvSpPr>
          <p:spPr>
            <a:xfrm>
              <a:off x="2340101" y="1036192"/>
              <a:ext cx="2681605" cy="665480"/>
            </a:xfrm>
            <a:custGeom>
              <a:avLst/>
              <a:gdLst/>
              <a:ahLst/>
              <a:cxnLst/>
              <a:rect l="l" t="t" r="r" b="b"/>
              <a:pathLst>
                <a:path w="2681604" h="665480">
                  <a:moveTo>
                    <a:pt x="2681224" y="0"/>
                  </a:moveTo>
                  <a:lnTo>
                    <a:pt x="216408" y="555498"/>
                  </a:lnTo>
                  <a:lnTo>
                    <a:pt x="208881" y="597487"/>
                  </a:lnTo>
                  <a:lnTo>
                    <a:pt x="186483" y="632142"/>
                  </a:lnTo>
                  <a:lnTo>
                    <a:pt x="152632" y="655939"/>
                  </a:lnTo>
                  <a:lnTo>
                    <a:pt x="110743" y="665353"/>
                  </a:lnTo>
                  <a:lnTo>
                    <a:pt x="68401" y="657889"/>
                  </a:lnTo>
                  <a:lnTo>
                    <a:pt x="33464" y="635650"/>
                  </a:lnTo>
                  <a:lnTo>
                    <a:pt x="9481" y="602005"/>
                  </a:lnTo>
                  <a:lnTo>
                    <a:pt x="0" y="560324"/>
                  </a:lnTo>
                  <a:lnTo>
                    <a:pt x="7526" y="518334"/>
                  </a:lnTo>
                  <a:lnTo>
                    <a:pt x="29924" y="483679"/>
                  </a:lnTo>
                  <a:lnTo>
                    <a:pt x="63775" y="459882"/>
                  </a:lnTo>
                  <a:lnTo>
                    <a:pt x="105664" y="450469"/>
                  </a:lnTo>
                  <a:lnTo>
                    <a:pt x="137777" y="454519"/>
                  </a:lnTo>
                  <a:lnTo>
                    <a:pt x="166639" y="467439"/>
                  </a:lnTo>
                  <a:lnTo>
                    <a:pt x="190478" y="488098"/>
                  </a:lnTo>
                  <a:lnTo>
                    <a:pt x="207518" y="515366"/>
                  </a:lnTo>
                  <a:lnTo>
                    <a:pt x="2681224" y="0"/>
                  </a:lnTo>
                  <a:close/>
                </a:path>
              </a:pathLst>
            </a:custGeom>
            <a:ln w="28956">
              <a:solidFill>
                <a:srgbClr val="FF0000"/>
              </a:solidFill>
            </a:ln>
          </p:spPr>
          <p:txBody>
            <a:bodyPr wrap="square" lIns="0" tIns="0" rIns="0" bIns="0" rtlCol="0"/>
            <a:lstStyle/>
            <a:p>
              <a:endParaRPr/>
            </a:p>
          </p:txBody>
        </p:sp>
        <p:sp>
          <p:nvSpPr>
            <p:cNvPr id="10" name="object 7">
              <a:extLst>
                <a:ext uri="{FF2B5EF4-FFF2-40B4-BE49-F238E27FC236}">
                  <a16:creationId xmlns:a16="http://schemas.microsoft.com/office/drawing/2014/main" id="{08901193-2F13-14E0-112A-FCBA6DC0A9A3}"/>
                </a:ext>
              </a:extLst>
            </p:cNvPr>
            <p:cNvSpPr/>
            <p:nvPr/>
          </p:nvSpPr>
          <p:spPr>
            <a:xfrm>
              <a:off x="5068696" y="590295"/>
              <a:ext cx="375285" cy="345440"/>
            </a:xfrm>
            <a:custGeom>
              <a:avLst/>
              <a:gdLst/>
              <a:ahLst/>
              <a:cxnLst/>
              <a:rect l="l" t="t" r="r" b="b"/>
              <a:pathLst>
                <a:path w="375285" h="345440">
                  <a:moveTo>
                    <a:pt x="102997" y="0"/>
                  </a:moveTo>
                  <a:lnTo>
                    <a:pt x="375030" y="213867"/>
                  </a:lnTo>
                  <a:lnTo>
                    <a:pt x="272033" y="344931"/>
                  </a:lnTo>
                  <a:lnTo>
                    <a:pt x="0" y="131063"/>
                  </a:lnTo>
                  <a:lnTo>
                    <a:pt x="102997" y="0"/>
                  </a:lnTo>
                  <a:close/>
                </a:path>
              </a:pathLst>
            </a:custGeom>
            <a:ln w="9525">
              <a:solidFill>
                <a:srgbClr val="FF0000"/>
              </a:solidFill>
            </a:ln>
          </p:spPr>
          <p:txBody>
            <a:bodyPr wrap="square" lIns="0" tIns="0" rIns="0" bIns="0" rtlCol="0"/>
            <a:lstStyle/>
            <a:p>
              <a:endParaRPr/>
            </a:p>
          </p:txBody>
        </p:sp>
        <p:sp>
          <p:nvSpPr>
            <p:cNvPr id="11" name="object 8">
              <a:extLst>
                <a:ext uri="{FF2B5EF4-FFF2-40B4-BE49-F238E27FC236}">
                  <a16:creationId xmlns:a16="http://schemas.microsoft.com/office/drawing/2014/main" id="{CE3A709F-0B05-AB36-5E99-1C464BFA788A}"/>
                </a:ext>
              </a:extLst>
            </p:cNvPr>
            <p:cNvSpPr/>
            <p:nvPr/>
          </p:nvSpPr>
          <p:spPr>
            <a:xfrm>
              <a:off x="5328920" y="664718"/>
              <a:ext cx="1321435" cy="257810"/>
            </a:xfrm>
            <a:custGeom>
              <a:avLst/>
              <a:gdLst/>
              <a:ahLst/>
              <a:cxnLst/>
              <a:rect l="l" t="t" r="r" b="b"/>
              <a:pathLst>
                <a:path w="1321434" h="257809">
                  <a:moveTo>
                    <a:pt x="1205225" y="220164"/>
                  </a:moveTo>
                  <a:lnTo>
                    <a:pt x="1199514" y="257810"/>
                  </a:lnTo>
                  <a:lnTo>
                    <a:pt x="1306939" y="223012"/>
                  </a:lnTo>
                  <a:lnTo>
                    <a:pt x="1224026" y="223012"/>
                  </a:lnTo>
                  <a:lnTo>
                    <a:pt x="1205225" y="220164"/>
                  </a:lnTo>
                  <a:close/>
                </a:path>
                <a:path w="1321434" h="257809">
                  <a:moveTo>
                    <a:pt x="1210946" y="182448"/>
                  </a:moveTo>
                  <a:lnTo>
                    <a:pt x="1205225" y="220164"/>
                  </a:lnTo>
                  <a:lnTo>
                    <a:pt x="1224026" y="223012"/>
                  </a:lnTo>
                  <a:lnTo>
                    <a:pt x="1229740" y="185293"/>
                  </a:lnTo>
                  <a:lnTo>
                    <a:pt x="1210946" y="182448"/>
                  </a:lnTo>
                  <a:close/>
                </a:path>
                <a:path w="1321434" h="257809">
                  <a:moveTo>
                    <a:pt x="1216659" y="144780"/>
                  </a:moveTo>
                  <a:lnTo>
                    <a:pt x="1210946" y="182448"/>
                  </a:lnTo>
                  <a:lnTo>
                    <a:pt x="1229740" y="185293"/>
                  </a:lnTo>
                  <a:lnTo>
                    <a:pt x="1224026" y="223012"/>
                  </a:lnTo>
                  <a:lnTo>
                    <a:pt x="1306939" y="223012"/>
                  </a:lnTo>
                  <a:lnTo>
                    <a:pt x="1321053" y="218440"/>
                  </a:lnTo>
                  <a:lnTo>
                    <a:pt x="1216659" y="144780"/>
                  </a:lnTo>
                  <a:close/>
                </a:path>
                <a:path w="1321434" h="257809">
                  <a:moveTo>
                    <a:pt x="5587" y="0"/>
                  </a:moveTo>
                  <a:lnTo>
                    <a:pt x="0" y="37592"/>
                  </a:lnTo>
                  <a:lnTo>
                    <a:pt x="1205225" y="220164"/>
                  </a:lnTo>
                  <a:lnTo>
                    <a:pt x="1210946" y="182448"/>
                  </a:lnTo>
                  <a:lnTo>
                    <a:pt x="5587" y="0"/>
                  </a:lnTo>
                  <a:close/>
                </a:path>
              </a:pathLst>
            </a:custGeom>
            <a:solidFill>
              <a:srgbClr val="FF00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C6AA6A87-163E-84A4-3755-576B9ADA38F2}"/>
              </a:ext>
            </a:extLst>
          </p:cNvPr>
          <p:cNvSpPr txBox="1"/>
          <p:nvPr/>
        </p:nvSpPr>
        <p:spPr>
          <a:xfrm>
            <a:off x="1038330" y="3859643"/>
            <a:ext cx="2971394" cy="2173031"/>
          </a:xfrm>
          <a:prstGeom prst="rect">
            <a:avLst/>
          </a:prstGeom>
        </p:spPr>
        <p:txBody>
          <a:bodyPr vert="horz" wrap="square" lIns="0" tIns="208915" rIns="0" bIns="0" rtlCol="0">
            <a:spAutoFit/>
          </a:bodyPr>
          <a:lstStyle/>
          <a:p>
            <a:pPr marL="393065">
              <a:lnSpc>
                <a:spcPct val="90000"/>
              </a:lnSpc>
              <a:spcBef>
                <a:spcPct val="20000"/>
              </a:spcBef>
            </a:pPr>
            <a:r>
              <a:rPr sz="2500" b="1" dirty="0">
                <a:latin typeface="黑体" panose="02010609060101010101" pitchFamily="49" charset="-122"/>
                <a:ea typeface="黑体" panose="02010609060101010101" pitchFamily="49" charset="-122"/>
              </a:rPr>
              <a:t>显微结构</a:t>
            </a:r>
          </a:p>
          <a:p>
            <a:pPr marL="12700">
              <a:lnSpc>
                <a:spcPct val="90000"/>
              </a:lnSpc>
              <a:spcBef>
                <a:spcPct val="20000"/>
              </a:spcBef>
            </a:pPr>
            <a:r>
              <a:rPr sz="2500" b="1" dirty="0">
                <a:latin typeface="黑体" panose="02010609060101010101" pitchFamily="49" charset="-122"/>
                <a:ea typeface="黑体" panose="02010609060101010101" pitchFamily="49" charset="-122"/>
              </a:rPr>
              <a:t>（microstructure）</a:t>
            </a:r>
          </a:p>
          <a:p>
            <a:pPr marL="12700" marR="5080">
              <a:lnSpc>
                <a:spcPct val="90000"/>
              </a:lnSpc>
              <a:spcBef>
                <a:spcPct val="20000"/>
              </a:spcBef>
            </a:pPr>
            <a:r>
              <a:rPr sz="2500" b="1" dirty="0">
                <a:latin typeface="黑体" panose="02010609060101010101" pitchFamily="49" charset="-122"/>
                <a:ea typeface="黑体" panose="02010609060101010101" pitchFamily="49" charset="-122"/>
              </a:rPr>
              <a:t>指在光学显微镜下能观察到的植物内</a:t>
            </a:r>
          </a:p>
          <a:p>
            <a:pPr marL="12700">
              <a:lnSpc>
                <a:spcPct val="90000"/>
              </a:lnSpc>
              <a:spcBef>
                <a:spcPct val="20000"/>
              </a:spcBef>
            </a:pPr>
            <a:r>
              <a:rPr sz="2500" b="1" dirty="0">
                <a:latin typeface="黑体" panose="02010609060101010101" pitchFamily="49" charset="-122"/>
                <a:ea typeface="黑体" panose="02010609060101010101" pitchFamily="49" charset="-122"/>
              </a:rPr>
              <a:t>部结构。</a:t>
            </a:r>
          </a:p>
        </p:txBody>
      </p:sp>
      <p:sp>
        <p:nvSpPr>
          <p:cNvPr id="13" name="object 10">
            <a:extLst>
              <a:ext uri="{FF2B5EF4-FFF2-40B4-BE49-F238E27FC236}">
                <a16:creationId xmlns:a16="http://schemas.microsoft.com/office/drawing/2014/main" id="{4E407F4A-C096-7C44-806A-1F06CDF392CC}"/>
              </a:ext>
            </a:extLst>
          </p:cNvPr>
          <p:cNvSpPr txBox="1"/>
          <p:nvPr/>
        </p:nvSpPr>
        <p:spPr>
          <a:xfrm>
            <a:off x="4572000" y="3647086"/>
            <a:ext cx="3668395" cy="2598147"/>
          </a:xfrm>
          <a:prstGeom prst="rect">
            <a:avLst/>
          </a:prstGeom>
        </p:spPr>
        <p:txBody>
          <a:bodyPr vert="horz" wrap="square" lIns="0" tIns="12700" rIns="0" bIns="0" rtlCol="0">
            <a:spAutoFit/>
          </a:bodyPr>
          <a:lstStyle/>
          <a:p>
            <a:pPr marL="12700">
              <a:lnSpc>
                <a:spcPct val="100000"/>
              </a:lnSpc>
              <a:spcBef>
                <a:spcPts val="100"/>
              </a:spcBef>
              <a:tabLst>
                <a:tab pos="2676525" algn="l"/>
              </a:tabLst>
            </a:pPr>
            <a:r>
              <a:rPr sz="1800" dirty="0">
                <a:solidFill>
                  <a:srgbClr val="FF0000"/>
                </a:solidFill>
                <a:latin typeface="SimSun"/>
                <a:cs typeface="SimSun"/>
              </a:rPr>
              <a:t>低倍电</a:t>
            </a:r>
            <a:r>
              <a:rPr sz="1800" spc="-50" dirty="0">
                <a:solidFill>
                  <a:srgbClr val="FF0000"/>
                </a:solidFill>
                <a:latin typeface="SimSun"/>
                <a:cs typeface="SimSun"/>
              </a:rPr>
              <a:t>镜</a:t>
            </a:r>
            <a:r>
              <a:rPr sz="1800" dirty="0">
                <a:solidFill>
                  <a:srgbClr val="FF0000"/>
                </a:solidFill>
                <a:latin typeface="SimSun"/>
                <a:cs typeface="SimSun"/>
              </a:rPr>
              <a:t>	高倍电</a:t>
            </a:r>
            <a:r>
              <a:rPr sz="1800" spc="-50" dirty="0">
                <a:solidFill>
                  <a:srgbClr val="FF0000"/>
                </a:solidFill>
                <a:latin typeface="SimSun"/>
                <a:cs typeface="SimSun"/>
              </a:rPr>
              <a:t>镜</a:t>
            </a:r>
            <a:endParaRPr sz="1800" dirty="0">
              <a:latin typeface="SimSun"/>
              <a:cs typeface="SimSun"/>
            </a:endParaRPr>
          </a:p>
          <a:p>
            <a:pPr marR="494030">
              <a:lnSpc>
                <a:spcPct val="90000"/>
              </a:lnSpc>
              <a:spcBef>
                <a:spcPct val="20000"/>
              </a:spcBef>
              <a:buFont typeface="Wingdings" panose="05000000000000000000" pitchFamily="2" charset="2"/>
            </a:pPr>
            <a:r>
              <a:rPr sz="2500" b="1" dirty="0">
                <a:latin typeface="黑体" panose="02010609060101010101" pitchFamily="49" charset="-122"/>
                <a:ea typeface="黑体" panose="02010609060101010101" pitchFamily="49" charset="-122"/>
              </a:rPr>
              <a:t>超微结构</a:t>
            </a:r>
          </a:p>
          <a:p>
            <a:pPr marR="436245">
              <a:lnSpc>
                <a:spcPct val="90000"/>
              </a:lnSpc>
              <a:spcBef>
                <a:spcPct val="20000"/>
              </a:spcBef>
              <a:buFont typeface="Wingdings" panose="05000000000000000000" pitchFamily="2" charset="2"/>
            </a:pPr>
            <a:r>
              <a:rPr sz="2500" b="1" dirty="0">
                <a:latin typeface="黑体" panose="02010609060101010101" pitchFamily="49" charset="-122"/>
                <a:ea typeface="黑体" panose="02010609060101010101" pitchFamily="49" charset="-122"/>
              </a:rPr>
              <a:t>（ultrastructure）</a:t>
            </a:r>
          </a:p>
          <a:p>
            <a:pPr marL="588645" marR="5080">
              <a:lnSpc>
                <a:spcPct val="90000"/>
              </a:lnSpc>
              <a:spcBef>
                <a:spcPct val="20000"/>
              </a:spcBef>
              <a:buFont typeface="Wingdings" panose="05000000000000000000" pitchFamily="2" charset="2"/>
            </a:pPr>
            <a:r>
              <a:rPr sz="2500" b="1" dirty="0">
                <a:latin typeface="黑体" panose="02010609060101010101" pitchFamily="49" charset="-122"/>
                <a:ea typeface="黑体" panose="02010609060101010101" pitchFamily="49" charset="-122"/>
              </a:rPr>
              <a:t>指在电子显微镜下能观察到的植物细胞内部结构，也称亚显微结构。</a:t>
            </a:r>
          </a:p>
        </p:txBody>
      </p:sp>
    </p:spTree>
    <p:extLst>
      <p:ext uri="{BB962C8B-B14F-4D97-AF65-F5344CB8AC3E}">
        <p14:creationId xmlns:p14="http://schemas.microsoft.com/office/powerpoint/2010/main" val="3633346064"/>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8AE2231-A06C-C3FE-70AA-8668A5185546}"/>
              </a:ext>
            </a:extLst>
          </p:cNvPr>
          <p:cNvSpPr txBox="1"/>
          <p:nvPr/>
        </p:nvSpPr>
        <p:spPr>
          <a:xfrm>
            <a:off x="467544" y="332656"/>
            <a:ext cx="7560840" cy="1631216"/>
          </a:xfrm>
          <a:prstGeom prst="rect">
            <a:avLst/>
          </a:prstGeom>
          <a:noFill/>
        </p:spPr>
        <p:txBody>
          <a:bodyPr wrap="square" rtlCol="0">
            <a:spAutoFit/>
          </a:bodyPr>
          <a:lstStyle/>
          <a:p>
            <a:pPr marL="457200" indent="-457200"/>
            <a:r>
              <a:rPr lang="zh-CN" altLang="en-US" sz="2800" b="1" dirty="0">
                <a:latin typeface="黑体" panose="02010609060101010101" pitchFamily="49" charset="-122"/>
                <a:ea typeface="黑体" panose="02010609060101010101" pitchFamily="49" charset="-122"/>
              </a:rPr>
              <a:t>植物细胞的三大结构特征：</a:t>
            </a:r>
            <a:r>
              <a:rPr lang="zh-CN" altLang="en-US" sz="2800" b="1" dirty="0">
                <a:solidFill>
                  <a:srgbClr val="FF0000"/>
                </a:solidFill>
                <a:latin typeface="黑体" panose="02010609060101010101" pitchFamily="49" charset="-122"/>
                <a:ea typeface="黑体" panose="02010609060101010101" pitchFamily="49" charset="-122"/>
              </a:rPr>
              <a:t>质体</a:t>
            </a:r>
            <a:r>
              <a:rPr lang="en-US" altLang="zh-CN" sz="2800" b="1" dirty="0">
                <a:solidFill>
                  <a:srgbClr val="FF0000"/>
                </a:solidFill>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液泡 细胞壁</a:t>
            </a:r>
            <a:endParaRPr lang="en-US" altLang="zh-CN" sz="2800" b="1" dirty="0">
              <a:solidFill>
                <a:srgbClr val="FF0000"/>
              </a:solidFill>
              <a:latin typeface="黑体" panose="02010609060101010101" pitchFamily="49" charset="-122"/>
              <a:ea typeface="黑体" panose="02010609060101010101" pitchFamily="49" charset="-122"/>
            </a:endParaRPr>
          </a:p>
          <a:p>
            <a:pPr marL="539750" indent="-539750"/>
            <a:endParaRPr lang="en-US" altLang="zh-CN" b="1" dirty="0">
              <a:latin typeface="黑体" panose="02010609060101010101" pitchFamily="49" charset="-122"/>
              <a:ea typeface="黑体" panose="02010609060101010101" pitchFamily="49" charset="-122"/>
            </a:endParaRPr>
          </a:p>
          <a:p>
            <a:pPr marL="539750" indent="-539750"/>
            <a:r>
              <a:rPr lang="zh-CN" altLang="en-US" b="1" dirty="0">
                <a:latin typeface="黑体" panose="02010609060101010101" pitchFamily="49" charset="-122"/>
                <a:ea typeface="黑体" panose="02010609060101010101" pitchFamily="49" charset="-122"/>
              </a:rPr>
              <a:t>一、质体：是植物细胞特有的细胞器，与糖类的合成与贮藏相关。分为</a:t>
            </a:r>
            <a:r>
              <a:rPr lang="zh-CN" altLang="en-US" b="1" dirty="0">
                <a:solidFill>
                  <a:srgbClr val="FF0000"/>
                </a:solidFill>
                <a:latin typeface="黑体" panose="02010609060101010101" pitchFamily="49" charset="-122"/>
                <a:ea typeface="黑体" panose="02010609060101010101" pitchFamily="49" charset="-122"/>
              </a:rPr>
              <a:t>叶绿体、有色体</a:t>
            </a:r>
            <a:r>
              <a:rPr lang="zh-CN" altLang="en-US" b="1" dirty="0">
                <a:latin typeface="黑体" panose="02010609060101010101" pitchFamily="49" charset="-122"/>
                <a:ea typeface="黑体" panose="02010609060101010101" pitchFamily="49" charset="-122"/>
              </a:rPr>
              <a:t>与</a:t>
            </a:r>
            <a:r>
              <a:rPr lang="zh-CN" altLang="en-US" b="1" dirty="0">
                <a:solidFill>
                  <a:srgbClr val="FF0000"/>
                </a:solidFill>
                <a:latin typeface="黑体" panose="02010609060101010101" pitchFamily="49" charset="-122"/>
                <a:ea typeface="黑体" panose="02010609060101010101" pitchFamily="49" charset="-122"/>
              </a:rPr>
              <a:t>白色体</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种。</a:t>
            </a:r>
            <a:endParaRPr lang="zh-CN" altLang="en-US" dirty="0"/>
          </a:p>
        </p:txBody>
      </p:sp>
      <p:pic>
        <p:nvPicPr>
          <p:cNvPr id="5" name="内容占位符 4"/>
          <p:cNvPicPr>
            <a:picLocks noGrp="1" noChangeAspect="1"/>
          </p:cNvPicPr>
          <p:nvPr>
            <p:ph idx="1"/>
          </p:nvPr>
        </p:nvPicPr>
        <p:blipFill>
          <a:blip r:embed="rId2"/>
          <a:srcRect l="937" t="3926" r="-937" b="69911"/>
          <a:stretch>
            <a:fillRect/>
          </a:stretch>
        </p:blipFill>
        <p:spPr>
          <a:xfrm>
            <a:off x="971600" y="1963872"/>
            <a:ext cx="7686675" cy="1152128"/>
          </a:xfrm>
        </p:spPr>
      </p:pic>
      <p:pic>
        <p:nvPicPr>
          <p:cNvPr id="406530" name="Picture 2" descr="E:\扫描杨世杰汪矛张志翔植物生物学\质体转化.jpg"/>
          <p:cNvPicPr>
            <a:picLocks noChangeAspect="1"/>
          </p:cNvPicPr>
          <p:nvPr/>
        </p:nvPicPr>
        <p:blipFill>
          <a:blip r:embed="rId3"/>
          <a:stretch>
            <a:fillRect/>
          </a:stretch>
        </p:blipFill>
        <p:spPr>
          <a:xfrm>
            <a:off x="4280734" y="2492896"/>
            <a:ext cx="4345105" cy="4365104"/>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7554" name="内容占位符 3"/>
          <p:cNvPicPr>
            <a:picLocks noGrp="1" noChangeAspect="1"/>
          </p:cNvPicPr>
          <p:nvPr>
            <p:ph idx="1"/>
          </p:nvPr>
        </p:nvPicPr>
        <p:blipFill>
          <a:blip r:embed="rId2"/>
          <a:stretch>
            <a:fillRect/>
          </a:stretch>
        </p:blipFill>
        <p:spPr>
          <a:xfrm>
            <a:off x="569913" y="188640"/>
            <a:ext cx="8259770" cy="5397847"/>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7" name="标题 1"/>
          <p:cNvSpPr>
            <a:spLocks noGrp="1"/>
          </p:cNvSpPr>
          <p:nvPr>
            <p:ph type="title"/>
          </p:nvPr>
        </p:nvSpPr>
        <p:spPr/>
        <p:txBody>
          <a:bodyPr anchor="b" anchorCtr="0"/>
          <a:lstStyle/>
          <a:p>
            <a:endParaRPr lang="zh-CN" altLang="en-US"/>
          </a:p>
        </p:txBody>
      </p:sp>
      <p:pic>
        <p:nvPicPr>
          <p:cNvPr id="408578" name="内容占位符 3"/>
          <p:cNvPicPr>
            <a:picLocks noGrp="1" noChangeAspect="1"/>
          </p:cNvPicPr>
          <p:nvPr>
            <p:ph idx="1"/>
          </p:nvPr>
        </p:nvPicPr>
        <p:blipFill>
          <a:blip r:embed="rId2"/>
          <a:stretch>
            <a:fillRect/>
          </a:stretch>
        </p:blipFill>
        <p:spPr>
          <a:xfrm>
            <a:off x="401638" y="385763"/>
            <a:ext cx="8147050" cy="5381625"/>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40F4DC1-57E2-B493-FC6C-5EEC59D3A0C1}"/>
              </a:ext>
            </a:extLst>
          </p:cNvPr>
          <p:cNvSpPr txBox="1"/>
          <p:nvPr/>
        </p:nvSpPr>
        <p:spPr>
          <a:xfrm>
            <a:off x="-108520" y="116632"/>
            <a:ext cx="8928992" cy="3404137"/>
          </a:xfrm>
          <a:prstGeom prst="rect">
            <a:avLst/>
          </a:prstGeom>
        </p:spPr>
        <p:txBody>
          <a:bodyPr vert="horz" wrap="square" lIns="0" tIns="208915" rIns="0" bIns="0" rtlCol="0">
            <a:spAutoFit/>
          </a:bodyPr>
          <a:lstStyle>
            <a:defPPr>
              <a:defRPr lang="zh-CN"/>
            </a:defPPr>
            <a:lvl1pPr marL="393065">
              <a:lnSpc>
                <a:spcPct val="90000"/>
              </a:lnSpc>
              <a:spcBef>
                <a:spcPct val="20000"/>
              </a:spcBef>
              <a:defRPr sz="2500" b="1">
                <a:latin typeface="黑体" panose="02010609060101010101" pitchFamily="49" charset="-122"/>
                <a:ea typeface="黑体" panose="02010609060101010101" pitchFamily="49" charset="-122"/>
              </a:defRPr>
            </a:lvl1pPr>
          </a:lstStyle>
          <a:p>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初生壁 </a:t>
            </a:r>
            <a:r>
              <a:rPr lang="zh-CN" altLang="en-US" dirty="0">
                <a:solidFill>
                  <a:srgbClr val="FF0000"/>
                </a:solidFill>
                <a:latin typeface="楷体" panose="02010609060101010101" pitchFamily="49" charset="-122"/>
                <a:ea typeface="楷体" panose="02010609060101010101" pitchFamily="49" charset="-122"/>
              </a:rPr>
              <a:t>细胞停止生长前</a:t>
            </a:r>
            <a:r>
              <a:rPr lang="zh-CN" altLang="en-US" dirty="0">
                <a:latin typeface="楷体" panose="02010609060101010101" pitchFamily="49" charset="-122"/>
                <a:ea typeface="楷体" panose="02010609060101010101" pitchFamily="49" charset="-122"/>
              </a:rPr>
              <a:t>形成，存在于胞间层内侧。</a:t>
            </a:r>
          </a:p>
          <a:p>
            <a:r>
              <a:rPr lang="zh-CN" altLang="en-US" dirty="0">
                <a:latin typeface="楷体" panose="02010609060101010101" pitchFamily="49" charset="-122"/>
                <a:ea typeface="楷体" panose="02010609060101010101" pitchFamily="49" charset="-122"/>
              </a:rPr>
              <a:t>初生壁是在细胞生长过程中所形成的细胞壁，位于胞间层与质膜之间。一般比较薄，约</a:t>
            </a:r>
            <a:r>
              <a:rPr lang="en-US" altLang="zh-CN" dirty="0">
                <a:latin typeface="楷体" panose="02010609060101010101" pitchFamily="49" charset="-122"/>
                <a:ea typeface="楷体" panose="02010609060101010101" pitchFamily="49" charset="-122"/>
              </a:rPr>
              <a:t>1-3nm</a:t>
            </a:r>
            <a:r>
              <a:rPr lang="zh-CN" altLang="en-US" dirty="0">
                <a:latin typeface="楷体" panose="02010609060101010101" pitchFamily="49" charset="-122"/>
                <a:ea typeface="楷体" panose="02010609060101010101" pitchFamily="49" charset="-122"/>
              </a:rPr>
              <a:t>。初生壁中主要成分是</a:t>
            </a:r>
            <a:r>
              <a:rPr lang="zh-CN" altLang="en-US" dirty="0">
                <a:solidFill>
                  <a:srgbClr val="FF0000"/>
                </a:solidFill>
                <a:latin typeface="楷体" panose="02010609060101010101" pitchFamily="49" charset="-122"/>
                <a:ea typeface="楷体" panose="02010609060101010101" pitchFamily="49" charset="-122"/>
              </a:rPr>
              <a:t>纤维素和果胶质</a:t>
            </a:r>
            <a:r>
              <a:rPr lang="zh-CN" altLang="en-US" dirty="0">
                <a:latin typeface="楷体" panose="02010609060101010101" pitchFamily="49" charset="-122"/>
                <a:ea typeface="楷体" panose="02010609060101010101" pitchFamily="49" charset="-122"/>
              </a:rPr>
              <a:t>，还含有</a:t>
            </a:r>
            <a:r>
              <a:rPr lang="zh-CN" altLang="en-US" dirty="0">
                <a:solidFill>
                  <a:srgbClr val="FF0000"/>
                </a:solidFill>
                <a:latin typeface="楷体" panose="02010609060101010101" pitchFamily="49" charset="-122"/>
                <a:ea typeface="楷体" panose="02010609060101010101" pitchFamily="49" charset="-122"/>
              </a:rPr>
              <a:t>半纤维素和糖蛋白</a:t>
            </a:r>
            <a:r>
              <a:rPr lang="zh-CN" altLang="en-US" dirty="0">
                <a:latin typeface="楷体" panose="02010609060101010101" pitchFamily="49" charset="-122"/>
                <a:ea typeface="楷体" panose="02010609060101010101" pitchFamily="49" charset="-122"/>
              </a:rPr>
              <a:t>。这些非纤维素多糖和糖蛋白将纤维素的微纤丝交联在一起。纤维素的微纤丝呈网状，分布在非纤维素多糖的基质中，果胶质使得细胞壁有延展性，使细胞壁能随细胞生长而扩大。分裂活动旺盛的细胞、进行光合作用的细胞和分泌细胞等都仅有初生壁。有些细胞在停止生长后，细胞壁不再加厚就</a:t>
            </a:r>
            <a:r>
              <a:rPr lang="zh-CN" altLang="en-US" dirty="0">
                <a:solidFill>
                  <a:srgbClr val="FF0000"/>
                </a:solidFill>
                <a:latin typeface="楷体" panose="02010609060101010101" pitchFamily="49" charset="-122"/>
                <a:ea typeface="楷体" panose="02010609060101010101" pitchFamily="49" charset="-122"/>
              </a:rPr>
              <a:t>停留</a:t>
            </a:r>
            <a:r>
              <a:rPr lang="zh-CN" altLang="en-US" dirty="0">
                <a:latin typeface="楷体" panose="02010609060101010101" pitchFamily="49" charset="-122"/>
                <a:ea typeface="楷体" panose="02010609060101010101" pitchFamily="49" charset="-122"/>
              </a:rPr>
              <a:t>在初生壁的阶段</a:t>
            </a:r>
            <a:r>
              <a:rPr lang="zh-CN" altLang="en-US" dirty="0"/>
              <a:t>。</a:t>
            </a:r>
          </a:p>
        </p:txBody>
      </p:sp>
      <p:pic>
        <p:nvPicPr>
          <p:cNvPr id="6" name="object 5">
            <a:extLst>
              <a:ext uri="{FF2B5EF4-FFF2-40B4-BE49-F238E27FC236}">
                <a16:creationId xmlns:a16="http://schemas.microsoft.com/office/drawing/2014/main" id="{B94A18D2-CCAA-31C7-B15F-04F8C5EE5C53}"/>
              </a:ext>
            </a:extLst>
          </p:cNvPr>
          <p:cNvPicPr/>
          <p:nvPr/>
        </p:nvPicPr>
        <p:blipFill>
          <a:blip r:embed="rId2" cstate="print"/>
          <a:stretch>
            <a:fillRect/>
          </a:stretch>
        </p:blipFill>
        <p:spPr>
          <a:xfrm>
            <a:off x="29344" y="3520769"/>
            <a:ext cx="5577354" cy="3337231"/>
          </a:xfrm>
          <a:prstGeom prst="rect">
            <a:avLst/>
          </a:prstGeom>
        </p:spPr>
      </p:pic>
      <p:sp>
        <p:nvSpPr>
          <p:cNvPr id="8" name="object 7">
            <a:extLst>
              <a:ext uri="{FF2B5EF4-FFF2-40B4-BE49-F238E27FC236}">
                <a16:creationId xmlns:a16="http://schemas.microsoft.com/office/drawing/2014/main" id="{9D68A49A-B53B-4D98-9812-C4C1961E0EB9}"/>
              </a:ext>
            </a:extLst>
          </p:cNvPr>
          <p:cNvSpPr txBox="1"/>
          <p:nvPr/>
        </p:nvSpPr>
        <p:spPr>
          <a:xfrm>
            <a:off x="5744562" y="3520769"/>
            <a:ext cx="3370094" cy="3336811"/>
          </a:xfrm>
          <a:prstGeom prst="rect">
            <a:avLst/>
          </a:prstGeom>
        </p:spPr>
        <p:txBody>
          <a:bodyPr vert="horz" wrap="square" lIns="0" tIns="88900" rIns="0" bIns="0" rtlCol="0">
            <a:spAutoFit/>
          </a:bodyPr>
          <a:lstStyle/>
          <a:p>
            <a:pPr marL="12700">
              <a:lnSpc>
                <a:spcPct val="100000"/>
              </a:lnSpc>
              <a:spcBef>
                <a:spcPts val="700"/>
              </a:spcBef>
            </a:pPr>
            <a:r>
              <a:rPr sz="2800" b="1" spc="-30" dirty="0">
                <a:latin typeface="Microsoft JhengHei"/>
                <a:cs typeface="Microsoft JhengHei"/>
              </a:rPr>
              <a:t>三个独立而又相互作用的网络：</a:t>
            </a:r>
            <a:endParaRPr sz="2800" dirty="0">
              <a:latin typeface="Microsoft JhengHei"/>
              <a:cs typeface="Microsoft JhengHei"/>
            </a:endParaRPr>
          </a:p>
          <a:p>
            <a:pPr marL="469900" indent="-457200">
              <a:lnSpc>
                <a:spcPct val="100000"/>
              </a:lnSpc>
              <a:spcBef>
                <a:spcPts val="600"/>
              </a:spcBef>
              <a:buFont typeface="Arial MT"/>
              <a:buChar char="•"/>
              <a:tabLst>
                <a:tab pos="469900" algn="l"/>
              </a:tabLst>
            </a:pPr>
            <a:r>
              <a:rPr sz="2800" b="1" spc="-25" dirty="0">
                <a:latin typeface="Microsoft JhengHei"/>
                <a:cs typeface="Microsoft JhengHei"/>
              </a:rPr>
              <a:t>纤维素微纤丝和交联聚糖</a:t>
            </a:r>
            <a:r>
              <a:rPr sz="2800" b="1" spc="-20" dirty="0">
                <a:latin typeface="Microsoft JhengHei"/>
                <a:cs typeface="Microsoft JhengHei"/>
              </a:rPr>
              <a:t>（</a:t>
            </a:r>
            <a:r>
              <a:rPr sz="2800" b="1" spc="-30" dirty="0">
                <a:latin typeface="Microsoft JhengHei"/>
                <a:cs typeface="Microsoft JhengHei"/>
              </a:rPr>
              <a:t>半纤维素</a:t>
            </a:r>
            <a:r>
              <a:rPr sz="2800" b="1" spc="-10" dirty="0">
                <a:latin typeface="Microsoft JhengHei"/>
                <a:cs typeface="Microsoft JhengHei"/>
              </a:rPr>
              <a:t>）</a:t>
            </a:r>
            <a:r>
              <a:rPr sz="2800" b="1" spc="-40" dirty="0">
                <a:latin typeface="Microsoft JhengHei"/>
                <a:cs typeface="Microsoft JhengHei"/>
              </a:rPr>
              <a:t>网络</a:t>
            </a:r>
            <a:endParaRPr sz="2800" dirty="0">
              <a:latin typeface="Microsoft JhengHei"/>
              <a:cs typeface="Microsoft JhengHei"/>
            </a:endParaRPr>
          </a:p>
          <a:p>
            <a:pPr marL="469900" indent="-457200">
              <a:lnSpc>
                <a:spcPct val="100000"/>
              </a:lnSpc>
              <a:spcBef>
                <a:spcPts val="600"/>
              </a:spcBef>
              <a:buFont typeface="Arial MT"/>
              <a:buChar char="•"/>
              <a:tabLst>
                <a:tab pos="469900" algn="l"/>
              </a:tabLst>
            </a:pPr>
            <a:r>
              <a:rPr sz="2800" b="1" spc="-35" dirty="0">
                <a:latin typeface="Microsoft JhengHei"/>
                <a:cs typeface="Microsoft JhengHei"/>
              </a:rPr>
              <a:t>果胶网络</a:t>
            </a:r>
            <a:endParaRPr sz="2800" dirty="0">
              <a:latin typeface="Microsoft JhengHei"/>
              <a:cs typeface="Microsoft JhengHei"/>
            </a:endParaRPr>
          </a:p>
          <a:p>
            <a:pPr marL="469900" indent="-457200">
              <a:lnSpc>
                <a:spcPct val="100000"/>
              </a:lnSpc>
              <a:spcBef>
                <a:spcPts val="600"/>
              </a:spcBef>
              <a:buFont typeface="Arial MT"/>
              <a:buChar char="•"/>
              <a:tabLst>
                <a:tab pos="469900" algn="l"/>
              </a:tabLst>
            </a:pPr>
            <a:r>
              <a:rPr sz="2800" b="1" spc="-30" dirty="0">
                <a:latin typeface="Microsoft JhengHei"/>
                <a:cs typeface="Microsoft JhengHei"/>
              </a:rPr>
              <a:t>蛋白质网络</a:t>
            </a:r>
            <a:endParaRPr sz="2800" dirty="0">
              <a:latin typeface="Microsoft JhengHei"/>
              <a:cs typeface="Microsoft JhengHei"/>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626" name="内容占位符 3"/>
          <p:cNvPicPr>
            <a:picLocks noGrp="1" noChangeAspect="1"/>
          </p:cNvPicPr>
          <p:nvPr>
            <p:ph idx="1"/>
          </p:nvPr>
        </p:nvPicPr>
        <p:blipFill>
          <a:blip r:embed="rId2"/>
          <a:stretch>
            <a:fillRect/>
          </a:stretch>
        </p:blipFill>
        <p:spPr>
          <a:xfrm>
            <a:off x="798513" y="581025"/>
            <a:ext cx="7704137" cy="5202238"/>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650" name="内容占位符 3"/>
          <p:cNvPicPr>
            <a:picLocks noGrp="1" noChangeAspect="1"/>
          </p:cNvPicPr>
          <p:nvPr>
            <p:ph idx="1"/>
          </p:nvPr>
        </p:nvPicPr>
        <p:blipFill>
          <a:blip r:embed="rId2"/>
          <a:stretch>
            <a:fillRect/>
          </a:stretch>
        </p:blipFill>
        <p:spPr>
          <a:xfrm>
            <a:off x="844550" y="116632"/>
            <a:ext cx="7073900" cy="5287962"/>
          </a:xfrm>
        </p:spPr>
      </p:pic>
      <p:sp>
        <p:nvSpPr>
          <p:cNvPr id="2" name="object 8">
            <a:extLst>
              <a:ext uri="{FF2B5EF4-FFF2-40B4-BE49-F238E27FC236}">
                <a16:creationId xmlns:a16="http://schemas.microsoft.com/office/drawing/2014/main" id="{A1453674-B5F0-8728-53C2-067A9C0178E5}"/>
              </a:ext>
            </a:extLst>
          </p:cNvPr>
          <p:cNvSpPr txBox="1"/>
          <p:nvPr/>
        </p:nvSpPr>
        <p:spPr>
          <a:xfrm>
            <a:off x="1521142" y="5406454"/>
            <a:ext cx="6101715" cy="1208405"/>
          </a:xfrm>
          <a:prstGeom prst="rect">
            <a:avLst/>
          </a:prstGeom>
        </p:spPr>
        <p:txBody>
          <a:bodyPr vert="horz" wrap="square" lIns="0" tIns="12065" rIns="0" bIns="0" rtlCol="0">
            <a:spAutoFit/>
          </a:bodyPr>
          <a:lstStyle/>
          <a:p>
            <a:pPr marL="583565" indent="-570865">
              <a:lnSpc>
                <a:spcPct val="100000"/>
              </a:lnSpc>
              <a:spcBef>
                <a:spcPts val="95"/>
              </a:spcBef>
              <a:buSzPct val="94736"/>
              <a:buFont typeface="Arial MT"/>
              <a:buChar char="•"/>
              <a:tabLst>
                <a:tab pos="583565" algn="l"/>
              </a:tabLst>
            </a:pPr>
            <a:r>
              <a:rPr sz="3800" b="1" spc="-215" dirty="0">
                <a:solidFill>
                  <a:srgbClr val="FF0000"/>
                </a:solidFill>
                <a:latin typeface="Microsoft JhengHei"/>
                <a:cs typeface="Microsoft JhengHei"/>
              </a:rPr>
              <a:t>微纤丝走向不同有何意义？</a:t>
            </a:r>
            <a:endParaRPr sz="3800" dirty="0">
              <a:latin typeface="Microsoft JhengHei"/>
              <a:cs typeface="Microsoft JhengHei"/>
            </a:endParaRPr>
          </a:p>
          <a:p>
            <a:pPr marL="583565" indent="-570865">
              <a:lnSpc>
                <a:spcPct val="100000"/>
              </a:lnSpc>
              <a:spcBef>
                <a:spcPts val="195"/>
              </a:spcBef>
              <a:buSzPct val="94736"/>
              <a:buFont typeface="Arial MT"/>
              <a:buChar char="•"/>
              <a:tabLst>
                <a:tab pos="583565" algn="l"/>
              </a:tabLst>
            </a:pPr>
            <a:r>
              <a:rPr sz="3800" b="1" spc="-210" dirty="0">
                <a:solidFill>
                  <a:srgbClr val="FF0000"/>
                </a:solidFill>
                <a:latin typeface="Microsoft JhengHei"/>
                <a:cs typeface="Microsoft JhengHei"/>
              </a:rPr>
              <a:t>谁调控了微纤丝走向？</a:t>
            </a:r>
            <a:endParaRPr sz="3800" dirty="0">
              <a:latin typeface="Microsoft JhengHei"/>
              <a:cs typeface="Microsoft JhengHei"/>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3" name="标题 1"/>
          <p:cNvSpPr>
            <a:spLocks noGrp="1"/>
          </p:cNvSpPr>
          <p:nvPr>
            <p:ph type="title"/>
          </p:nvPr>
        </p:nvSpPr>
        <p:spPr/>
        <p:txBody>
          <a:bodyPr anchor="b" anchorCtr="0"/>
          <a:lstStyle/>
          <a:p>
            <a:endParaRPr lang="zh-CN" altLang="en-US"/>
          </a:p>
        </p:txBody>
      </p:sp>
      <p:pic>
        <p:nvPicPr>
          <p:cNvPr id="412674" name="内容占位符 3"/>
          <p:cNvPicPr>
            <a:picLocks noGrp="1" noChangeAspect="1"/>
          </p:cNvPicPr>
          <p:nvPr>
            <p:ph idx="1"/>
          </p:nvPr>
        </p:nvPicPr>
        <p:blipFill>
          <a:blip r:embed="rId2"/>
          <a:stretch>
            <a:fillRect/>
          </a:stretch>
        </p:blipFill>
        <p:spPr>
          <a:xfrm>
            <a:off x="782638" y="323850"/>
            <a:ext cx="7578725" cy="5602288"/>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0FBAD90-F02A-CBA7-06FD-8940EEFCA684}"/>
              </a:ext>
            </a:extLst>
          </p:cNvPr>
          <p:cNvSpPr txBox="1"/>
          <p:nvPr/>
        </p:nvSpPr>
        <p:spPr>
          <a:xfrm>
            <a:off x="-10964" y="0"/>
            <a:ext cx="8928992" cy="5984843"/>
          </a:xfrm>
          <a:prstGeom prst="rect">
            <a:avLst/>
          </a:prstGeom>
        </p:spPr>
        <p:txBody>
          <a:bodyPr vert="horz" wrap="square" lIns="0" tIns="208915" rIns="0" bIns="0" rtlCol="0">
            <a:spAutoFit/>
          </a:bodyPr>
          <a:lstStyle>
            <a:defPPr>
              <a:defRPr lang="zh-CN"/>
            </a:defPPr>
            <a:lvl1pPr marL="393065">
              <a:lnSpc>
                <a:spcPct val="90000"/>
              </a:lnSpc>
              <a:spcBef>
                <a:spcPct val="20000"/>
              </a:spcBef>
              <a:defRPr sz="2500" b="1">
                <a:latin typeface="黑体" panose="02010609060101010101" pitchFamily="49" charset="-122"/>
                <a:ea typeface="黑体" panose="02010609060101010101" pitchFamily="49" charset="-122"/>
              </a:defRPr>
            </a:lvl1pPr>
          </a:lstStyle>
          <a:p>
            <a:r>
              <a:rPr lang="zh-CN" altLang="en-US" sz="2800" dirty="0">
                <a:latin typeface="楷体" panose="02010609060101010101" pitchFamily="49" charset="-122"/>
                <a:ea typeface="楷体" panose="02010609060101010101" pitchFamily="49" charset="-122"/>
              </a:rPr>
              <a:t>（四）初生纹孔场、胞间连丝与纹孔</a:t>
            </a:r>
            <a:endParaRPr lang="en-US" altLang="zh-CN" sz="2800"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初生纹孔场</a:t>
            </a:r>
          </a:p>
          <a:p>
            <a:r>
              <a:rPr lang="zh-CN" altLang="en-US" dirty="0">
                <a:latin typeface="楷体" panose="02010609060101010101" pitchFamily="49" charset="-122"/>
                <a:ea typeface="楷体" panose="02010609060101010101" pitchFamily="49" charset="-122"/>
              </a:rPr>
              <a:t>细胞的初生壁上有一些较薄的区域称</a:t>
            </a:r>
            <a:r>
              <a:rPr lang="zh-CN" altLang="en-US" dirty="0">
                <a:solidFill>
                  <a:srgbClr val="FF0000"/>
                </a:solidFill>
                <a:latin typeface="楷体" panose="02010609060101010101" pitchFamily="49" charset="-122"/>
                <a:ea typeface="楷体" panose="02010609060101010101" pitchFamily="49" charset="-122"/>
              </a:rPr>
              <a:t>初生纹孔场</a:t>
            </a:r>
            <a:r>
              <a:rPr lang="zh-CN" altLang="en-US" dirty="0">
                <a:latin typeface="楷体" panose="02010609060101010101" pitchFamily="49" charset="-122"/>
                <a:ea typeface="楷体" panose="02010609060101010101" pitchFamily="49" charset="-122"/>
              </a:rPr>
              <a:t>。初生纹孔场上有一些小孔，其中有</a:t>
            </a:r>
            <a:r>
              <a:rPr lang="zh-CN" altLang="en-US" dirty="0">
                <a:solidFill>
                  <a:srgbClr val="FF0000"/>
                </a:solidFill>
                <a:latin typeface="楷体" panose="02010609060101010101" pitchFamily="49" charset="-122"/>
                <a:ea typeface="楷体" panose="02010609060101010101" pitchFamily="49" charset="-122"/>
              </a:rPr>
              <a:t>胞间连丝</a:t>
            </a:r>
            <a:r>
              <a:rPr lang="zh-CN" altLang="en-US" dirty="0">
                <a:latin typeface="楷体" panose="02010609060101010101" pitchFamily="49" charset="-122"/>
                <a:ea typeface="楷体" panose="02010609060101010101" pitchFamily="49" charset="-122"/>
              </a:rPr>
              <a:t>穿过。</a:t>
            </a:r>
          </a:p>
          <a:p>
            <a:r>
              <a:rPr lang="zh-CN" altLang="en-US" dirty="0">
                <a:latin typeface="楷体" panose="02010609060101010101" pitchFamily="49" charset="-122"/>
                <a:ea typeface="楷体" panose="02010609060101010101" pitchFamily="49" charset="-122"/>
              </a:rPr>
              <a:t>胞间连丝：原生质细丝，物质和信息联系的桥梁。</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胞间连丝</a:t>
            </a:r>
          </a:p>
          <a:p>
            <a:r>
              <a:rPr lang="zh-CN" altLang="en-US" dirty="0">
                <a:latin typeface="楷体" panose="02010609060101010101" pitchFamily="49" charset="-122"/>
                <a:ea typeface="楷体" panose="02010609060101010101" pitchFamily="49" charset="-122"/>
              </a:rPr>
              <a:t>穿过细胞壁沟通相邻细胞的细胞质丝称</a:t>
            </a:r>
            <a:r>
              <a:rPr lang="zh-CN" altLang="en-US" dirty="0">
                <a:solidFill>
                  <a:srgbClr val="FF0000"/>
                </a:solidFill>
                <a:latin typeface="楷体" panose="02010609060101010101" pitchFamily="49" charset="-122"/>
                <a:ea typeface="楷体" panose="02010609060101010101" pitchFamily="49" charset="-122"/>
              </a:rPr>
              <a:t>胞间连丝</a:t>
            </a:r>
            <a:r>
              <a:rPr lang="zh-CN" altLang="en-US" dirty="0">
                <a:latin typeface="楷体" panose="02010609060101010101" pitchFamily="49" charset="-122"/>
                <a:ea typeface="楷体" panose="02010609060101010101" pitchFamily="49" charset="-122"/>
              </a:rPr>
              <a:t>。在光学显微镜下一般难以观察胞间连丝。但柿胚乳细胞细胞壁很厚，胞间连丝集中分布，再经特殊的染色，易在光学显微镜下见到。在电子显微镜下，胞间连丝是直径</a:t>
            </a:r>
            <a:r>
              <a:rPr lang="en-US" altLang="zh-CN" dirty="0">
                <a:latin typeface="楷体" panose="02010609060101010101" pitchFamily="49" charset="-122"/>
                <a:ea typeface="楷体" panose="02010609060101010101" pitchFamily="49" charset="-122"/>
              </a:rPr>
              <a:t>40nm</a:t>
            </a:r>
            <a:r>
              <a:rPr lang="zh-CN" altLang="en-US" dirty="0">
                <a:latin typeface="楷体" panose="02010609060101010101" pitchFamily="49" charset="-122"/>
                <a:ea typeface="楷体" panose="02010609060101010101" pitchFamily="49" charset="-122"/>
              </a:rPr>
              <a:t>的小管状结构，管道的周围衬有质膜，两端较窄，并与相邻细胞的质膜相连，有的管道内有压缩内质网。胞间连丝的结构非常复杂，研究者提出多个胞间连丝结构的模型。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B406DB2B-2B1A-6E93-256C-D2CC7EAC89A3}"/>
              </a:ext>
            </a:extLst>
          </p:cNvPr>
          <p:cNvPicPr/>
          <p:nvPr/>
        </p:nvPicPr>
        <p:blipFill>
          <a:blip r:embed="rId2" cstate="print"/>
          <a:stretch>
            <a:fillRect/>
          </a:stretch>
        </p:blipFill>
        <p:spPr>
          <a:xfrm>
            <a:off x="915209" y="116632"/>
            <a:ext cx="7313582" cy="5623560"/>
          </a:xfrm>
          <a:prstGeom prst="rect">
            <a:avLst/>
          </a:prstGeom>
        </p:spPr>
      </p:pic>
      <p:sp>
        <p:nvSpPr>
          <p:cNvPr id="7" name="文本框 6">
            <a:extLst>
              <a:ext uri="{FF2B5EF4-FFF2-40B4-BE49-F238E27FC236}">
                <a16:creationId xmlns:a16="http://schemas.microsoft.com/office/drawing/2014/main" id="{E2C70D0D-D1D8-1D31-B04D-115A3983C1FF}"/>
              </a:ext>
            </a:extLst>
          </p:cNvPr>
          <p:cNvSpPr txBox="1"/>
          <p:nvPr/>
        </p:nvSpPr>
        <p:spPr>
          <a:xfrm>
            <a:off x="539552" y="386387"/>
            <a:ext cx="4572000" cy="461665"/>
          </a:xfrm>
          <a:prstGeom prst="rect">
            <a:avLst/>
          </a:prstGeom>
          <a:noFill/>
        </p:spPr>
        <p:txBody>
          <a:bodyPr wrap="square">
            <a:spAutoFit/>
          </a:bodyPr>
          <a:lstStyle/>
          <a:p>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胞间连丝</a:t>
            </a:r>
          </a:p>
        </p:txBody>
      </p:sp>
    </p:spTree>
    <p:extLst>
      <p:ext uri="{BB962C8B-B14F-4D97-AF65-F5344CB8AC3E}">
        <p14:creationId xmlns:p14="http://schemas.microsoft.com/office/powerpoint/2010/main" val="3580214661"/>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5746" name="内容占位符 3"/>
          <p:cNvPicPr>
            <a:picLocks noGrp="1" noChangeAspect="1"/>
          </p:cNvPicPr>
          <p:nvPr>
            <p:ph idx="1"/>
          </p:nvPr>
        </p:nvPicPr>
        <p:blipFill>
          <a:blip r:embed="rId2"/>
          <a:stretch>
            <a:fillRect/>
          </a:stretch>
        </p:blipFill>
        <p:spPr>
          <a:xfrm>
            <a:off x="458788" y="952500"/>
            <a:ext cx="8226425" cy="4183063"/>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4E23466F-3B02-D5A8-2AFF-35D6B925404B}"/>
              </a:ext>
            </a:extLst>
          </p:cNvPr>
          <p:cNvGrpSpPr/>
          <p:nvPr/>
        </p:nvGrpSpPr>
        <p:grpSpPr>
          <a:xfrm>
            <a:off x="2822384" y="980728"/>
            <a:ext cx="6119876" cy="4404241"/>
            <a:chOff x="2771775" y="1444748"/>
            <a:chExt cx="6119876" cy="4404241"/>
          </a:xfrm>
        </p:grpSpPr>
        <p:pic>
          <p:nvPicPr>
            <p:cNvPr id="5" name="object 4">
              <a:extLst>
                <a:ext uri="{FF2B5EF4-FFF2-40B4-BE49-F238E27FC236}">
                  <a16:creationId xmlns:a16="http://schemas.microsoft.com/office/drawing/2014/main" id="{B0AB6B0E-69B5-5F3C-61D6-B9905BFCC96B}"/>
                </a:ext>
              </a:extLst>
            </p:cNvPr>
            <p:cNvPicPr/>
            <p:nvPr/>
          </p:nvPicPr>
          <p:blipFill>
            <a:blip r:embed="rId2" cstate="print"/>
            <a:stretch>
              <a:fillRect/>
            </a:stretch>
          </p:blipFill>
          <p:spPr>
            <a:xfrm>
              <a:off x="2771775" y="1444748"/>
              <a:ext cx="6119876" cy="4404241"/>
            </a:xfrm>
            <a:prstGeom prst="rect">
              <a:avLst/>
            </a:prstGeom>
          </p:spPr>
        </p:pic>
        <p:sp>
          <p:nvSpPr>
            <p:cNvPr id="6" name="object 5">
              <a:extLst>
                <a:ext uri="{FF2B5EF4-FFF2-40B4-BE49-F238E27FC236}">
                  <a16:creationId xmlns:a16="http://schemas.microsoft.com/office/drawing/2014/main" id="{F0B9B134-7A11-A966-FF10-283A10C1B8DA}"/>
                </a:ext>
              </a:extLst>
            </p:cNvPr>
            <p:cNvSpPr/>
            <p:nvPr/>
          </p:nvSpPr>
          <p:spPr>
            <a:xfrm>
              <a:off x="4260214" y="1700784"/>
              <a:ext cx="389255" cy="0"/>
            </a:xfrm>
            <a:custGeom>
              <a:avLst/>
              <a:gdLst/>
              <a:ahLst/>
              <a:cxnLst/>
              <a:rect l="l" t="t" r="r" b="b"/>
              <a:pathLst>
                <a:path w="389254">
                  <a:moveTo>
                    <a:pt x="0" y="0"/>
                  </a:moveTo>
                  <a:lnTo>
                    <a:pt x="388747" y="0"/>
                  </a:lnTo>
                </a:path>
              </a:pathLst>
            </a:custGeom>
            <a:ln w="9525">
              <a:solidFill>
                <a:srgbClr val="000000"/>
              </a:solidFill>
            </a:ln>
          </p:spPr>
          <p:txBody>
            <a:bodyPr wrap="square" lIns="0" tIns="0" rIns="0" bIns="0" rtlCol="0"/>
            <a:lstStyle>
              <a:defPPr>
                <a:defRPr kern="0"/>
              </a:defPPr>
            </a:lstStyle>
            <a:p>
              <a:endParaRPr/>
            </a:p>
          </p:txBody>
        </p:sp>
      </p:grpSp>
      <p:sp>
        <p:nvSpPr>
          <p:cNvPr id="7" name="object 6">
            <a:extLst>
              <a:ext uri="{FF2B5EF4-FFF2-40B4-BE49-F238E27FC236}">
                <a16:creationId xmlns:a16="http://schemas.microsoft.com/office/drawing/2014/main" id="{828F88A9-65A6-BB21-4627-EDD935CE0419}"/>
              </a:ext>
            </a:extLst>
          </p:cNvPr>
          <p:cNvSpPr txBox="1"/>
          <p:nvPr/>
        </p:nvSpPr>
        <p:spPr>
          <a:xfrm>
            <a:off x="4779073" y="1124064"/>
            <a:ext cx="633730" cy="269240"/>
          </a:xfrm>
          <a:prstGeom prst="rect">
            <a:avLst/>
          </a:prstGeom>
        </p:spPr>
        <p:txBody>
          <a:bodyPr vert="horz" wrap="square" lIns="0" tIns="12065" rIns="0" bIns="0" rtlCol="0">
            <a:spAutoFit/>
          </a:bodyPr>
          <a:lstStyle>
            <a:defPPr>
              <a:defRPr kern="0"/>
            </a:defPPr>
          </a:lstStyle>
          <a:p>
            <a:pPr marL="12700">
              <a:lnSpc>
                <a:spcPct val="100000"/>
              </a:lnSpc>
              <a:spcBef>
                <a:spcPts val="95"/>
              </a:spcBef>
            </a:pPr>
            <a:r>
              <a:rPr sz="1600" spc="-40" dirty="0">
                <a:latin typeface="SimSun"/>
                <a:cs typeface="SimSun"/>
              </a:rPr>
              <a:t>胞间层</a:t>
            </a:r>
            <a:endParaRPr sz="1600">
              <a:latin typeface="SimSun"/>
              <a:cs typeface="SimSun"/>
            </a:endParaRPr>
          </a:p>
        </p:txBody>
      </p:sp>
      <p:sp>
        <p:nvSpPr>
          <p:cNvPr id="8" name="object 7">
            <a:extLst>
              <a:ext uri="{FF2B5EF4-FFF2-40B4-BE49-F238E27FC236}">
                <a16:creationId xmlns:a16="http://schemas.microsoft.com/office/drawing/2014/main" id="{2E4AE765-FB81-E82C-E0B8-4C1F05F7F2B4}"/>
              </a:ext>
            </a:extLst>
          </p:cNvPr>
          <p:cNvSpPr txBox="1"/>
          <p:nvPr/>
        </p:nvSpPr>
        <p:spPr>
          <a:xfrm>
            <a:off x="3443160" y="5149970"/>
            <a:ext cx="1250950" cy="514350"/>
          </a:xfrm>
          <a:prstGeom prst="rect">
            <a:avLst/>
          </a:prstGeom>
        </p:spPr>
        <p:txBody>
          <a:bodyPr vert="horz" wrap="square" lIns="0" tIns="13335" rIns="0" bIns="0" rtlCol="0">
            <a:spAutoFit/>
          </a:bodyPr>
          <a:lstStyle>
            <a:defPPr>
              <a:defRPr kern="0"/>
            </a:defPPr>
          </a:lstStyle>
          <a:p>
            <a:pPr marL="12700">
              <a:lnSpc>
                <a:spcPct val="100000"/>
              </a:lnSpc>
              <a:spcBef>
                <a:spcPts val="105"/>
              </a:spcBef>
            </a:pPr>
            <a:r>
              <a:rPr sz="3200" b="1" spc="-20" dirty="0">
                <a:latin typeface="Malgun Gothic"/>
                <a:cs typeface="Malgun Gothic"/>
              </a:rPr>
              <a:t>初生壁</a:t>
            </a:r>
            <a:endParaRPr sz="3200" dirty="0">
              <a:latin typeface="Malgun Gothic"/>
              <a:cs typeface="Malgun Gothic"/>
            </a:endParaRPr>
          </a:p>
        </p:txBody>
      </p:sp>
      <p:pic>
        <p:nvPicPr>
          <p:cNvPr id="9" name="object 8">
            <a:extLst>
              <a:ext uri="{FF2B5EF4-FFF2-40B4-BE49-F238E27FC236}">
                <a16:creationId xmlns:a16="http://schemas.microsoft.com/office/drawing/2014/main" id="{7CBB3D5C-6CB4-6C5B-6787-45331FBECF22}"/>
              </a:ext>
            </a:extLst>
          </p:cNvPr>
          <p:cNvPicPr/>
          <p:nvPr/>
        </p:nvPicPr>
        <p:blipFill>
          <a:blip r:embed="rId3" cstate="print"/>
          <a:stretch>
            <a:fillRect/>
          </a:stretch>
        </p:blipFill>
        <p:spPr>
          <a:xfrm>
            <a:off x="50609" y="1309281"/>
            <a:ext cx="2432050" cy="3671824"/>
          </a:xfrm>
          <a:prstGeom prst="rect">
            <a:avLst/>
          </a:prstGeom>
        </p:spPr>
      </p:pic>
      <p:pic>
        <p:nvPicPr>
          <p:cNvPr id="10" name="object 10">
            <a:extLst>
              <a:ext uri="{FF2B5EF4-FFF2-40B4-BE49-F238E27FC236}">
                <a16:creationId xmlns:a16="http://schemas.microsoft.com/office/drawing/2014/main" id="{90DA13FC-F748-504E-3E76-E02E203E3D63}"/>
              </a:ext>
            </a:extLst>
          </p:cNvPr>
          <p:cNvPicPr/>
          <p:nvPr/>
        </p:nvPicPr>
        <p:blipFill>
          <a:blip r:embed="rId4" cstate="print"/>
          <a:stretch>
            <a:fillRect/>
          </a:stretch>
        </p:blipFill>
        <p:spPr>
          <a:xfrm>
            <a:off x="6033960" y="3541178"/>
            <a:ext cx="430212" cy="863600"/>
          </a:xfrm>
          <a:prstGeom prst="rect">
            <a:avLst/>
          </a:prstGeom>
        </p:spPr>
      </p:pic>
      <p:sp>
        <p:nvSpPr>
          <p:cNvPr id="11" name="object 11">
            <a:extLst>
              <a:ext uri="{FF2B5EF4-FFF2-40B4-BE49-F238E27FC236}">
                <a16:creationId xmlns:a16="http://schemas.microsoft.com/office/drawing/2014/main" id="{FFA55370-99E7-773D-6197-CFE7290E8353}"/>
              </a:ext>
            </a:extLst>
          </p:cNvPr>
          <p:cNvSpPr txBox="1"/>
          <p:nvPr/>
        </p:nvSpPr>
        <p:spPr>
          <a:xfrm>
            <a:off x="6336855" y="1731556"/>
            <a:ext cx="330200" cy="995044"/>
          </a:xfrm>
          <a:prstGeom prst="rect">
            <a:avLst/>
          </a:prstGeom>
        </p:spPr>
        <p:txBody>
          <a:bodyPr vert="horz" wrap="square" lIns="0" tIns="75565" rIns="0" bIns="0" rtlCol="0">
            <a:spAutoFit/>
          </a:bodyPr>
          <a:lstStyle>
            <a:defPPr>
              <a:defRPr kern="0"/>
            </a:defPPr>
          </a:lstStyle>
          <a:p>
            <a:pPr marL="12700" marR="5080" algn="just">
              <a:lnSpc>
                <a:spcPts val="2380"/>
              </a:lnSpc>
              <a:spcBef>
                <a:spcPts val="595"/>
              </a:spcBef>
            </a:pPr>
            <a:r>
              <a:rPr sz="2400" b="1" spc="-50" dirty="0">
                <a:solidFill>
                  <a:srgbClr val="FF0000"/>
                </a:solidFill>
                <a:latin typeface="Microsoft JhengHei"/>
                <a:cs typeface="Microsoft JhengHei"/>
              </a:rPr>
              <a:t>纹孔对</a:t>
            </a:r>
            <a:endParaRPr sz="2400">
              <a:latin typeface="Microsoft JhengHei"/>
              <a:cs typeface="Microsoft JhengHei"/>
            </a:endParaRPr>
          </a:p>
        </p:txBody>
      </p:sp>
      <p:sp>
        <p:nvSpPr>
          <p:cNvPr id="12" name="object 12">
            <a:extLst>
              <a:ext uri="{FF2B5EF4-FFF2-40B4-BE49-F238E27FC236}">
                <a16:creationId xmlns:a16="http://schemas.microsoft.com/office/drawing/2014/main" id="{564E2A65-6C80-7B34-01C6-E9A7F374AC59}"/>
              </a:ext>
            </a:extLst>
          </p:cNvPr>
          <p:cNvSpPr txBox="1"/>
          <p:nvPr/>
        </p:nvSpPr>
        <p:spPr>
          <a:xfrm>
            <a:off x="6386638" y="3603662"/>
            <a:ext cx="330200" cy="995044"/>
          </a:xfrm>
          <a:prstGeom prst="rect">
            <a:avLst/>
          </a:prstGeom>
        </p:spPr>
        <p:txBody>
          <a:bodyPr vert="horz" wrap="square" lIns="0" tIns="75565" rIns="0" bIns="0" rtlCol="0">
            <a:spAutoFit/>
          </a:bodyPr>
          <a:lstStyle>
            <a:defPPr>
              <a:defRPr kern="0"/>
            </a:defPPr>
          </a:lstStyle>
          <a:p>
            <a:pPr marL="12700" marR="5080" algn="just">
              <a:lnSpc>
                <a:spcPts val="2380"/>
              </a:lnSpc>
              <a:spcBef>
                <a:spcPts val="595"/>
              </a:spcBef>
            </a:pPr>
            <a:r>
              <a:rPr sz="2400" b="1" spc="-50" dirty="0">
                <a:solidFill>
                  <a:srgbClr val="FF0000"/>
                </a:solidFill>
                <a:latin typeface="Microsoft JhengHei"/>
                <a:cs typeface="Microsoft JhengHei"/>
              </a:rPr>
              <a:t>盲纹孔</a:t>
            </a:r>
            <a:endParaRPr sz="2400">
              <a:latin typeface="Microsoft JhengHei"/>
              <a:cs typeface="Microsoft JhengHei"/>
            </a:endParaRPr>
          </a:p>
        </p:txBody>
      </p:sp>
      <p:sp>
        <p:nvSpPr>
          <p:cNvPr id="13" name="object 13">
            <a:extLst>
              <a:ext uri="{FF2B5EF4-FFF2-40B4-BE49-F238E27FC236}">
                <a16:creationId xmlns:a16="http://schemas.microsoft.com/office/drawing/2014/main" id="{969ACB48-1165-EE20-A6D7-B9BE5A52A2DA}"/>
              </a:ext>
            </a:extLst>
          </p:cNvPr>
          <p:cNvSpPr txBox="1"/>
          <p:nvPr/>
        </p:nvSpPr>
        <p:spPr>
          <a:xfrm>
            <a:off x="524674" y="3783495"/>
            <a:ext cx="2067560" cy="51371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3200" b="1" spc="-10" dirty="0">
                <a:solidFill>
                  <a:srgbClr val="FFFF00"/>
                </a:solidFill>
                <a:latin typeface="Microsoft JhengHei"/>
                <a:cs typeface="Microsoft JhengHei"/>
              </a:rPr>
              <a:t>初生纹孔场</a:t>
            </a:r>
            <a:endParaRPr sz="3200" dirty="0">
              <a:latin typeface="Microsoft JhengHei"/>
              <a:cs typeface="Microsoft JhengHei"/>
            </a:endParaRPr>
          </a:p>
        </p:txBody>
      </p:sp>
      <p:sp>
        <p:nvSpPr>
          <p:cNvPr id="14" name="object 14">
            <a:extLst>
              <a:ext uri="{FF2B5EF4-FFF2-40B4-BE49-F238E27FC236}">
                <a16:creationId xmlns:a16="http://schemas.microsoft.com/office/drawing/2014/main" id="{58454A84-0DDF-56A0-1EC6-3F77C2FAB898}"/>
              </a:ext>
            </a:extLst>
          </p:cNvPr>
          <p:cNvSpPr/>
          <p:nvPr/>
        </p:nvSpPr>
        <p:spPr>
          <a:xfrm>
            <a:off x="5486717" y="1236763"/>
            <a:ext cx="504190" cy="0"/>
          </a:xfrm>
          <a:custGeom>
            <a:avLst/>
            <a:gdLst/>
            <a:ahLst/>
            <a:cxnLst/>
            <a:rect l="l" t="t" r="r" b="b"/>
            <a:pathLst>
              <a:path w="504189">
                <a:moveTo>
                  <a:pt x="0" y="0"/>
                </a:moveTo>
                <a:lnTo>
                  <a:pt x="504063" y="0"/>
                </a:lnTo>
              </a:path>
            </a:pathLst>
          </a:custGeom>
          <a:ln w="9525">
            <a:solidFill>
              <a:srgbClr val="000000"/>
            </a:solidFill>
          </a:ln>
        </p:spPr>
        <p:txBody>
          <a:bodyPr wrap="square" lIns="0" tIns="0" rIns="0" bIns="0" rtlCol="0"/>
          <a:lstStyle>
            <a:defPPr>
              <a:defRPr kern="0"/>
            </a:defPPr>
          </a:lstStyle>
          <a:p>
            <a:endParaRPr/>
          </a:p>
        </p:txBody>
      </p:sp>
      <p:sp>
        <p:nvSpPr>
          <p:cNvPr id="15" name="object 7">
            <a:extLst>
              <a:ext uri="{FF2B5EF4-FFF2-40B4-BE49-F238E27FC236}">
                <a16:creationId xmlns:a16="http://schemas.microsoft.com/office/drawing/2014/main" id="{92F1D8C7-B188-F3BF-E296-63008741BAA0}"/>
              </a:ext>
            </a:extLst>
          </p:cNvPr>
          <p:cNvSpPr txBox="1"/>
          <p:nvPr/>
        </p:nvSpPr>
        <p:spPr>
          <a:xfrm>
            <a:off x="6634478" y="5149970"/>
            <a:ext cx="1250950" cy="514350"/>
          </a:xfrm>
          <a:prstGeom prst="rect">
            <a:avLst/>
          </a:prstGeom>
        </p:spPr>
        <p:txBody>
          <a:bodyPr vert="horz" wrap="square" lIns="0" tIns="13335" rIns="0" bIns="0" rtlCol="0">
            <a:spAutoFit/>
          </a:bodyPr>
          <a:lstStyle>
            <a:defPPr>
              <a:defRPr kern="0"/>
            </a:defPPr>
          </a:lstStyle>
          <a:p>
            <a:pPr marL="12700">
              <a:lnSpc>
                <a:spcPct val="100000"/>
              </a:lnSpc>
              <a:spcBef>
                <a:spcPts val="105"/>
              </a:spcBef>
            </a:pPr>
            <a:r>
              <a:rPr lang="zh-CN" altLang="en-US" sz="3200" b="1" spc="-20" dirty="0">
                <a:latin typeface="Malgun Gothic"/>
                <a:cs typeface="Malgun Gothic"/>
              </a:rPr>
              <a:t>次</a:t>
            </a:r>
            <a:r>
              <a:rPr sz="3200" b="1" spc="-20" dirty="0" err="1">
                <a:latin typeface="Malgun Gothic"/>
                <a:cs typeface="Malgun Gothic"/>
              </a:rPr>
              <a:t>生壁</a:t>
            </a:r>
            <a:endParaRPr sz="3200" dirty="0">
              <a:latin typeface="Malgun Gothic"/>
              <a:cs typeface="Malgun Gothic"/>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2">
            <a:extLst>
              <a:ext uri="{FF2B5EF4-FFF2-40B4-BE49-F238E27FC236}">
                <a16:creationId xmlns:a16="http://schemas.microsoft.com/office/drawing/2014/main" id="{E99A9986-36FE-F514-155D-1A291A42991E}"/>
              </a:ext>
            </a:extLst>
          </p:cNvPr>
          <p:cNvSpPr txBox="1"/>
          <p:nvPr/>
        </p:nvSpPr>
        <p:spPr>
          <a:xfrm>
            <a:off x="7023227" y="6657131"/>
            <a:ext cx="154305" cy="152400"/>
          </a:xfrm>
          <a:prstGeom prst="rect">
            <a:avLst/>
          </a:prstGeom>
        </p:spPr>
        <p:txBody>
          <a:bodyPr vert="horz" wrap="square" lIns="0" tIns="0" rIns="0" bIns="0" rtlCol="0">
            <a:spAutoFit/>
          </a:bodyPr>
          <a:lstStyle>
            <a:defPPr>
              <a:defRPr kern="0"/>
            </a:defPPr>
          </a:lstStyle>
          <a:p>
            <a:pPr>
              <a:lnSpc>
                <a:spcPts val="1200"/>
              </a:lnSpc>
            </a:pPr>
            <a:r>
              <a:rPr sz="1200" b="1" spc="-50" dirty="0">
                <a:solidFill>
                  <a:srgbClr val="62CA96"/>
                </a:solidFill>
                <a:latin typeface="Microsoft JhengHei"/>
                <a:cs typeface="Microsoft JhengHei"/>
              </a:rPr>
              <a:t>第</a:t>
            </a:r>
            <a:endParaRPr sz="1200">
              <a:latin typeface="Microsoft JhengHei"/>
              <a:cs typeface="Microsoft JhengHei"/>
            </a:endParaRPr>
          </a:p>
        </p:txBody>
      </p:sp>
      <p:grpSp>
        <p:nvGrpSpPr>
          <p:cNvPr id="27" name="object 4">
            <a:extLst>
              <a:ext uri="{FF2B5EF4-FFF2-40B4-BE49-F238E27FC236}">
                <a16:creationId xmlns:a16="http://schemas.microsoft.com/office/drawing/2014/main" id="{8CF1E3D8-F577-5E0F-056D-6EE115CAE3D7}"/>
              </a:ext>
            </a:extLst>
          </p:cNvPr>
          <p:cNvGrpSpPr/>
          <p:nvPr/>
        </p:nvGrpSpPr>
        <p:grpSpPr>
          <a:xfrm>
            <a:off x="413385" y="1933447"/>
            <a:ext cx="6845300" cy="4906899"/>
            <a:chOff x="390525" y="1916174"/>
            <a:chExt cx="6845300" cy="4906899"/>
          </a:xfrm>
        </p:grpSpPr>
        <p:pic>
          <p:nvPicPr>
            <p:cNvPr id="46" name="object 5">
              <a:extLst>
                <a:ext uri="{FF2B5EF4-FFF2-40B4-BE49-F238E27FC236}">
                  <a16:creationId xmlns:a16="http://schemas.microsoft.com/office/drawing/2014/main" id="{FC7358AE-9831-1BFF-B981-6BCEB8484168}"/>
                </a:ext>
              </a:extLst>
            </p:cNvPr>
            <p:cNvPicPr/>
            <p:nvPr/>
          </p:nvPicPr>
          <p:blipFill>
            <a:blip r:embed="rId2" cstate="print"/>
            <a:stretch>
              <a:fillRect/>
            </a:stretch>
          </p:blipFill>
          <p:spPr>
            <a:xfrm>
              <a:off x="2951226" y="1916174"/>
              <a:ext cx="4284599" cy="4906899"/>
            </a:xfrm>
            <a:prstGeom prst="rect">
              <a:avLst/>
            </a:prstGeom>
          </p:spPr>
        </p:pic>
        <p:pic>
          <p:nvPicPr>
            <p:cNvPr id="47" name="object 6">
              <a:extLst>
                <a:ext uri="{FF2B5EF4-FFF2-40B4-BE49-F238E27FC236}">
                  <a16:creationId xmlns:a16="http://schemas.microsoft.com/office/drawing/2014/main" id="{9504EF3A-6366-C2F7-C5EB-C976E361B8D8}"/>
                </a:ext>
              </a:extLst>
            </p:cNvPr>
            <p:cNvPicPr/>
            <p:nvPr/>
          </p:nvPicPr>
          <p:blipFill>
            <a:blip r:embed="rId3" cstate="print"/>
            <a:stretch>
              <a:fillRect/>
            </a:stretch>
          </p:blipFill>
          <p:spPr>
            <a:xfrm>
              <a:off x="395287" y="2205100"/>
              <a:ext cx="2559050" cy="3960749"/>
            </a:xfrm>
            <a:prstGeom prst="rect">
              <a:avLst/>
            </a:prstGeom>
          </p:spPr>
        </p:pic>
        <p:sp>
          <p:nvSpPr>
            <p:cNvPr id="48" name="object 7">
              <a:extLst>
                <a:ext uri="{FF2B5EF4-FFF2-40B4-BE49-F238E27FC236}">
                  <a16:creationId xmlns:a16="http://schemas.microsoft.com/office/drawing/2014/main" id="{5C46B3A1-3A8F-5000-F9B8-CE03ED2D8854}"/>
                </a:ext>
              </a:extLst>
            </p:cNvPr>
            <p:cNvSpPr/>
            <p:nvPr/>
          </p:nvSpPr>
          <p:spPr>
            <a:xfrm>
              <a:off x="390525" y="2200338"/>
              <a:ext cx="2568575" cy="3970654"/>
            </a:xfrm>
            <a:custGeom>
              <a:avLst/>
              <a:gdLst/>
              <a:ahLst/>
              <a:cxnLst/>
              <a:rect l="l" t="t" r="r" b="b"/>
              <a:pathLst>
                <a:path w="2568575" h="3970654">
                  <a:moveTo>
                    <a:pt x="0" y="3970274"/>
                  </a:moveTo>
                  <a:lnTo>
                    <a:pt x="2568575" y="3970274"/>
                  </a:lnTo>
                  <a:lnTo>
                    <a:pt x="2568575" y="0"/>
                  </a:lnTo>
                  <a:lnTo>
                    <a:pt x="0" y="0"/>
                  </a:lnTo>
                  <a:lnTo>
                    <a:pt x="0" y="3970274"/>
                  </a:lnTo>
                  <a:close/>
                </a:path>
              </a:pathLst>
            </a:custGeom>
            <a:ln w="9525">
              <a:solidFill>
                <a:srgbClr val="CCFF66"/>
              </a:solidFill>
            </a:ln>
          </p:spPr>
          <p:txBody>
            <a:bodyPr wrap="square" lIns="0" tIns="0" rIns="0" bIns="0" rtlCol="0"/>
            <a:lstStyle>
              <a:defPPr>
                <a:defRPr kern="0"/>
              </a:defPPr>
            </a:lstStyle>
            <a:p>
              <a:endParaRPr/>
            </a:p>
          </p:txBody>
        </p:sp>
      </p:grpSp>
      <p:sp>
        <p:nvSpPr>
          <p:cNvPr id="28" name="object 8">
            <a:extLst>
              <a:ext uri="{FF2B5EF4-FFF2-40B4-BE49-F238E27FC236}">
                <a16:creationId xmlns:a16="http://schemas.microsoft.com/office/drawing/2014/main" id="{1F9F0410-7585-BB4B-E0D7-1CEF8BC24E7B}"/>
              </a:ext>
            </a:extLst>
          </p:cNvPr>
          <p:cNvSpPr txBox="1"/>
          <p:nvPr/>
        </p:nvSpPr>
        <p:spPr>
          <a:xfrm>
            <a:off x="7115810" y="4093973"/>
            <a:ext cx="1616075" cy="476250"/>
          </a:xfrm>
          <a:prstGeom prst="rect">
            <a:avLst/>
          </a:prstGeom>
          <a:solidFill>
            <a:srgbClr val="FF0000"/>
          </a:solidFill>
        </p:spPr>
        <p:txBody>
          <a:bodyPr vert="horz" wrap="square" lIns="0" tIns="15240" rIns="0" bIns="0" rtlCol="0">
            <a:spAutoFit/>
          </a:bodyPr>
          <a:lstStyle>
            <a:defPPr>
              <a:defRPr kern="0"/>
            </a:defPPr>
          </a:lstStyle>
          <a:p>
            <a:pPr marL="92075">
              <a:lnSpc>
                <a:spcPct val="100000"/>
              </a:lnSpc>
              <a:spcBef>
                <a:spcPts val="120"/>
              </a:spcBef>
            </a:pPr>
            <a:r>
              <a:rPr sz="2800" b="1" spc="-35" dirty="0">
                <a:solidFill>
                  <a:srgbClr val="FFFFFF"/>
                </a:solidFill>
                <a:latin typeface="Microsoft JhengHei"/>
                <a:cs typeface="Microsoft JhengHei"/>
              </a:rPr>
              <a:t>纹孔膜</a:t>
            </a:r>
            <a:endParaRPr sz="2800" dirty="0">
              <a:latin typeface="Microsoft JhengHei"/>
              <a:cs typeface="Microsoft JhengHei"/>
            </a:endParaRPr>
          </a:p>
        </p:txBody>
      </p:sp>
      <p:sp>
        <p:nvSpPr>
          <p:cNvPr id="44" name="object 10">
            <a:extLst>
              <a:ext uri="{FF2B5EF4-FFF2-40B4-BE49-F238E27FC236}">
                <a16:creationId xmlns:a16="http://schemas.microsoft.com/office/drawing/2014/main" id="{66AA3524-BA3D-28A0-4D1D-BFD91E436B72}"/>
              </a:ext>
            </a:extLst>
          </p:cNvPr>
          <p:cNvSpPr/>
          <p:nvPr/>
        </p:nvSpPr>
        <p:spPr>
          <a:xfrm>
            <a:off x="6250558" y="4268597"/>
            <a:ext cx="863600" cy="228600"/>
          </a:xfrm>
          <a:custGeom>
            <a:avLst/>
            <a:gdLst/>
            <a:ahLst/>
            <a:cxnLst/>
            <a:rect l="l" t="t" r="r" b="b"/>
            <a:pathLst>
              <a:path w="863600" h="228600">
                <a:moveTo>
                  <a:pt x="228600" y="0"/>
                </a:moveTo>
                <a:lnTo>
                  <a:pt x="0" y="114300"/>
                </a:lnTo>
                <a:lnTo>
                  <a:pt x="228600" y="228600"/>
                </a:lnTo>
                <a:lnTo>
                  <a:pt x="228600" y="152400"/>
                </a:lnTo>
                <a:lnTo>
                  <a:pt x="190500" y="152400"/>
                </a:lnTo>
                <a:lnTo>
                  <a:pt x="190500" y="76200"/>
                </a:lnTo>
                <a:lnTo>
                  <a:pt x="228600" y="76200"/>
                </a:lnTo>
                <a:lnTo>
                  <a:pt x="228600" y="0"/>
                </a:lnTo>
                <a:close/>
              </a:path>
              <a:path w="863600" h="228600">
                <a:moveTo>
                  <a:pt x="228600" y="76200"/>
                </a:moveTo>
                <a:lnTo>
                  <a:pt x="190500" y="76200"/>
                </a:lnTo>
                <a:lnTo>
                  <a:pt x="190500" y="152400"/>
                </a:lnTo>
                <a:lnTo>
                  <a:pt x="228600" y="152400"/>
                </a:lnTo>
                <a:lnTo>
                  <a:pt x="228600" y="76200"/>
                </a:lnTo>
                <a:close/>
              </a:path>
              <a:path w="863600" h="228600">
                <a:moveTo>
                  <a:pt x="863600" y="76200"/>
                </a:moveTo>
                <a:lnTo>
                  <a:pt x="228600" y="76200"/>
                </a:lnTo>
                <a:lnTo>
                  <a:pt x="228600" y="152400"/>
                </a:lnTo>
                <a:lnTo>
                  <a:pt x="863600" y="152400"/>
                </a:lnTo>
                <a:lnTo>
                  <a:pt x="863600" y="76200"/>
                </a:lnTo>
                <a:close/>
              </a:path>
            </a:pathLst>
          </a:custGeom>
          <a:solidFill>
            <a:srgbClr val="FF0000"/>
          </a:solidFill>
        </p:spPr>
        <p:txBody>
          <a:bodyPr wrap="square" lIns="0" tIns="0" rIns="0" bIns="0" rtlCol="0"/>
          <a:lstStyle>
            <a:defPPr>
              <a:defRPr kern="0"/>
            </a:defPPr>
          </a:lstStyle>
          <a:p>
            <a:endParaRPr/>
          </a:p>
        </p:txBody>
      </p:sp>
      <p:sp>
        <p:nvSpPr>
          <p:cNvPr id="30" name="object 12">
            <a:extLst>
              <a:ext uri="{FF2B5EF4-FFF2-40B4-BE49-F238E27FC236}">
                <a16:creationId xmlns:a16="http://schemas.microsoft.com/office/drawing/2014/main" id="{FA4B5326-A627-2DED-5558-C8472FCE0506}"/>
              </a:ext>
            </a:extLst>
          </p:cNvPr>
          <p:cNvSpPr txBox="1">
            <a:spLocks noGrp="1"/>
          </p:cNvSpPr>
          <p:nvPr/>
        </p:nvSpPr>
        <p:spPr>
          <a:xfrm>
            <a:off x="134823" y="190831"/>
            <a:ext cx="4864735" cy="807720"/>
          </a:xfrm>
          <a:prstGeom prst="rect">
            <a:avLst/>
          </a:prstGeom>
        </p:spPr>
        <p:txBody>
          <a:bodyPr vert="horz" wrap="square" lIns="0" tIns="12065" rIns="0" bIns="0" rtlCol="0">
            <a:spAutoFit/>
          </a:bodyPr>
          <a:lstStyle>
            <a:lvl1pPr>
              <a:defRPr sz="2800" b="0" i="0">
                <a:solidFill>
                  <a:srgbClr val="FF0000"/>
                </a:solidFill>
                <a:latin typeface="SimSun"/>
                <a:ea typeface="+mj-ea"/>
                <a:cs typeface="SimSun"/>
              </a:defRPr>
            </a:lvl1pPr>
          </a:lstStyle>
          <a:p>
            <a:pPr marL="12700">
              <a:lnSpc>
                <a:spcPts val="4400"/>
              </a:lnSpc>
              <a:spcBef>
                <a:spcPts val="95"/>
              </a:spcBef>
            </a:pPr>
            <a:r>
              <a:rPr sz="4000" b="1" spc="-35" dirty="0">
                <a:solidFill>
                  <a:schemeClr val="tx1"/>
                </a:solidFill>
                <a:latin typeface="Microsoft JhengHei"/>
                <a:cs typeface="Microsoft JhengHei"/>
              </a:rPr>
              <a:t>纹孔的类型</a:t>
            </a:r>
            <a:r>
              <a:rPr sz="4000" b="1" spc="-220" dirty="0">
                <a:solidFill>
                  <a:schemeClr val="tx1"/>
                </a:solidFill>
                <a:latin typeface="Microsoft JhengHei"/>
                <a:cs typeface="Microsoft JhengHei"/>
              </a:rPr>
              <a:t>1</a:t>
            </a:r>
            <a:r>
              <a:rPr sz="4000" b="1" spc="-90" dirty="0">
                <a:solidFill>
                  <a:schemeClr val="tx1"/>
                </a:solidFill>
                <a:latin typeface="Microsoft JhengHei"/>
                <a:cs typeface="Microsoft JhengHei"/>
              </a:rPr>
              <a:t>：单纹孔</a:t>
            </a:r>
            <a:endParaRPr sz="4000" dirty="0">
              <a:solidFill>
                <a:schemeClr val="tx1"/>
              </a:solidFill>
              <a:latin typeface="Microsoft JhengHei"/>
              <a:cs typeface="Microsoft JhengHei"/>
            </a:endParaRPr>
          </a:p>
          <a:p>
            <a:pPr marR="231140" algn="r">
              <a:lnSpc>
                <a:spcPts val="1760"/>
              </a:lnSpc>
            </a:pPr>
            <a:r>
              <a:rPr sz="1800" b="1" dirty="0">
                <a:solidFill>
                  <a:schemeClr val="tx1"/>
                </a:solidFill>
                <a:latin typeface="Arial"/>
                <a:cs typeface="Arial"/>
              </a:rPr>
              <a:t>(simple</a:t>
            </a:r>
            <a:r>
              <a:rPr sz="1800" b="1" spc="-5" dirty="0">
                <a:solidFill>
                  <a:schemeClr val="tx1"/>
                </a:solidFill>
                <a:latin typeface="Arial"/>
                <a:cs typeface="Arial"/>
              </a:rPr>
              <a:t> </a:t>
            </a:r>
            <a:r>
              <a:rPr sz="1800" b="1" spc="-20" dirty="0">
                <a:solidFill>
                  <a:schemeClr val="tx1"/>
                </a:solidFill>
                <a:latin typeface="Arial"/>
                <a:cs typeface="Arial"/>
              </a:rPr>
              <a:t>pit)</a:t>
            </a:r>
            <a:endParaRPr sz="1800" dirty="0">
              <a:solidFill>
                <a:schemeClr val="tx1"/>
              </a:solidFill>
              <a:latin typeface="Arial"/>
              <a:cs typeface="Arial"/>
            </a:endParaRPr>
          </a:p>
        </p:txBody>
      </p:sp>
      <p:grpSp>
        <p:nvGrpSpPr>
          <p:cNvPr id="31" name="object 13">
            <a:extLst>
              <a:ext uri="{FF2B5EF4-FFF2-40B4-BE49-F238E27FC236}">
                <a16:creationId xmlns:a16="http://schemas.microsoft.com/office/drawing/2014/main" id="{24B736A9-A939-A11E-934C-2F603E58A676}"/>
              </a:ext>
            </a:extLst>
          </p:cNvPr>
          <p:cNvGrpSpPr/>
          <p:nvPr/>
        </p:nvGrpSpPr>
        <p:grpSpPr>
          <a:xfrm>
            <a:off x="22860" y="17273"/>
            <a:ext cx="9097899" cy="5517870"/>
            <a:chOff x="0" y="0"/>
            <a:chExt cx="9097899" cy="5517870"/>
          </a:xfrm>
        </p:grpSpPr>
        <p:pic>
          <p:nvPicPr>
            <p:cNvPr id="41" name="object 14">
              <a:extLst>
                <a:ext uri="{FF2B5EF4-FFF2-40B4-BE49-F238E27FC236}">
                  <a16:creationId xmlns:a16="http://schemas.microsoft.com/office/drawing/2014/main" id="{05C62A17-C387-C4EE-36ED-0ACDB6D54A1D}"/>
                </a:ext>
              </a:extLst>
            </p:cNvPr>
            <p:cNvPicPr/>
            <p:nvPr/>
          </p:nvPicPr>
          <p:blipFill>
            <a:blip r:embed="rId4" cstate="print"/>
            <a:stretch>
              <a:fillRect/>
            </a:stretch>
          </p:blipFill>
          <p:spPr>
            <a:xfrm>
              <a:off x="0" y="765048"/>
              <a:ext cx="1835150" cy="1878076"/>
            </a:xfrm>
            <a:prstGeom prst="rect">
              <a:avLst/>
            </a:prstGeom>
          </p:spPr>
        </p:pic>
        <p:pic>
          <p:nvPicPr>
            <p:cNvPr id="42" name="object 15">
              <a:extLst>
                <a:ext uri="{FF2B5EF4-FFF2-40B4-BE49-F238E27FC236}">
                  <a16:creationId xmlns:a16="http://schemas.microsoft.com/office/drawing/2014/main" id="{DAC17D2E-D56B-68C3-06A5-BCF9B5DA35D0}"/>
                </a:ext>
              </a:extLst>
            </p:cNvPr>
            <p:cNvPicPr/>
            <p:nvPr/>
          </p:nvPicPr>
          <p:blipFill>
            <a:blip r:embed="rId5" cstate="print"/>
            <a:stretch>
              <a:fillRect/>
            </a:stretch>
          </p:blipFill>
          <p:spPr>
            <a:xfrm>
              <a:off x="5508625" y="0"/>
              <a:ext cx="3589274" cy="2178050"/>
            </a:xfrm>
            <a:prstGeom prst="rect">
              <a:avLst/>
            </a:prstGeom>
          </p:spPr>
        </p:pic>
        <p:sp>
          <p:nvSpPr>
            <p:cNvPr id="43" name="object 16">
              <a:extLst>
                <a:ext uri="{FF2B5EF4-FFF2-40B4-BE49-F238E27FC236}">
                  <a16:creationId xmlns:a16="http://schemas.microsoft.com/office/drawing/2014/main" id="{529EAC81-31FB-10E9-8B15-880AAACBA9D8}"/>
                </a:ext>
              </a:extLst>
            </p:cNvPr>
            <p:cNvSpPr/>
            <p:nvPr/>
          </p:nvSpPr>
          <p:spPr>
            <a:xfrm>
              <a:off x="2555748" y="5055590"/>
              <a:ext cx="1113155" cy="462280"/>
            </a:xfrm>
            <a:custGeom>
              <a:avLst/>
              <a:gdLst/>
              <a:ahLst/>
              <a:cxnLst/>
              <a:rect l="l" t="t" r="r" b="b"/>
              <a:pathLst>
                <a:path w="1113154" h="462279">
                  <a:moveTo>
                    <a:pt x="1112799" y="0"/>
                  </a:moveTo>
                  <a:lnTo>
                    <a:pt x="0" y="0"/>
                  </a:lnTo>
                  <a:lnTo>
                    <a:pt x="0" y="461670"/>
                  </a:lnTo>
                  <a:lnTo>
                    <a:pt x="1112799" y="461670"/>
                  </a:lnTo>
                  <a:lnTo>
                    <a:pt x="1112799" y="0"/>
                  </a:lnTo>
                  <a:close/>
                </a:path>
              </a:pathLst>
            </a:custGeom>
            <a:solidFill>
              <a:srgbClr val="FFFFFF"/>
            </a:solidFill>
          </p:spPr>
          <p:txBody>
            <a:bodyPr wrap="square" lIns="0" tIns="0" rIns="0" bIns="0" rtlCol="0"/>
            <a:lstStyle>
              <a:defPPr>
                <a:defRPr kern="0"/>
              </a:defPPr>
            </a:lstStyle>
            <a:p>
              <a:endParaRPr/>
            </a:p>
          </p:txBody>
        </p:sp>
      </p:grpSp>
      <p:sp>
        <p:nvSpPr>
          <p:cNvPr id="32" name="object 17">
            <a:extLst>
              <a:ext uri="{FF2B5EF4-FFF2-40B4-BE49-F238E27FC236}">
                <a16:creationId xmlns:a16="http://schemas.microsoft.com/office/drawing/2014/main" id="{BC9B49E3-DC25-370E-EEDA-038FD7002A30}"/>
              </a:ext>
            </a:extLst>
          </p:cNvPr>
          <p:cNvSpPr txBox="1"/>
          <p:nvPr/>
        </p:nvSpPr>
        <p:spPr>
          <a:xfrm>
            <a:off x="5693410" y="3940430"/>
            <a:ext cx="330200" cy="995044"/>
          </a:xfrm>
          <a:prstGeom prst="rect">
            <a:avLst/>
          </a:prstGeom>
        </p:spPr>
        <p:txBody>
          <a:bodyPr vert="horz" wrap="square" lIns="0" tIns="75565" rIns="0" bIns="0" rtlCol="0">
            <a:spAutoFit/>
          </a:bodyPr>
          <a:lstStyle>
            <a:defPPr>
              <a:defRPr kern="0"/>
            </a:defPPr>
          </a:lstStyle>
          <a:p>
            <a:pPr marL="12700" marR="5080" algn="just">
              <a:lnSpc>
                <a:spcPts val="2380"/>
              </a:lnSpc>
              <a:spcBef>
                <a:spcPts val="595"/>
              </a:spcBef>
            </a:pPr>
            <a:r>
              <a:rPr sz="2400" b="1" spc="-50" dirty="0">
                <a:solidFill>
                  <a:srgbClr val="FFFF00"/>
                </a:solidFill>
                <a:latin typeface="Microsoft JhengHei"/>
                <a:cs typeface="Microsoft JhengHei"/>
              </a:rPr>
              <a:t>纹孔腔</a:t>
            </a:r>
            <a:endParaRPr sz="2400" dirty="0">
              <a:latin typeface="Microsoft JhengHei"/>
              <a:cs typeface="Microsoft JhengHei"/>
            </a:endParaRPr>
          </a:p>
        </p:txBody>
      </p:sp>
      <p:sp>
        <p:nvSpPr>
          <p:cNvPr id="33" name="object 18">
            <a:extLst>
              <a:ext uri="{FF2B5EF4-FFF2-40B4-BE49-F238E27FC236}">
                <a16:creationId xmlns:a16="http://schemas.microsoft.com/office/drawing/2014/main" id="{54A75965-9A06-196E-B828-D48279E241D2}"/>
              </a:ext>
            </a:extLst>
          </p:cNvPr>
          <p:cNvSpPr txBox="1"/>
          <p:nvPr/>
        </p:nvSpPr>
        <p:spPr>
          <a:xfrm>
            <a:off x="2657983" y="5102352"/>
            <a:ext cx="944880" cy="3911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400" b="1" spc="-20" dirty="0">
                <a:latin typeface="Microsoft JhengHei"/>
                <a:cs typeface="Microsoft JhengHei"/>
              </a:rPr>
              <a:t>纹孔口</a:t>
            </a:r>
            <a:endParaRPr sz="2400">
              <a:latin typeface="Microsoft JhengHei"/>
              <a:cs typeface="Microsoft JhengHei"/>
            </a:endParaRPr>
          </a:p>
        </p:txBody>
      </p:sp>
      <p:sp>
        <p:nvSpPr>
          <p:cNvPr id="34" name="object 19">
            <a:extLst>
              <a:ext uri="{FF2B5EF4-FFF2-40B4-BE49-F238E27FC236}">
                <a16:creationId xmlns:a16="http://schemas.microsoft.com/office/drawing/2014/main" id="{8C247116-F89F-7171-E3E0-7383064595BB}"/>
              </a:ext>
            </a:extLst>
          </p:cNvPr>
          <p:cNvSpPr txBox="1"/>
          <p:nvPr/>
        </p:nvSpPr>
        <p:spPr>
          <a:xfrm>
            <a:off x="713333" y="6213044"/>
            <a:ext cx="1625600"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latin typeface="SimSun"/>
                <a:cs typeface="SimSun"/>
              </a:rPr>
              <a:t>细胞切面模式图</a:t>
            </a:r>
            <a:endParaRPr sz="1800">
              <a:latin typeface="SimSun"/>
              <a:cs typeface="SimSun"/>
            </a:endParaRPr>
          </a:p>
        </p:txBody>
      </p:sp>
      <p:sp>
        <p:nvSpPr>
          <p:cNvPr id="35" name="object 20">
            <a:extLst>
              <a:ext uri="{FF2B5EF4-FFF2-40B4-BE49-F238E27FC236}">
                <a16:creationId xmlns:a16="http://schemas.microsoft.com/office/drawing/2014/main" id="{E1B151BE-76A0-0747-D38F-91DF4A133BDD}"/>
              </a:ext>
            </a:extLst>
          </p:cNvPr>
          <p:cNvSpPr txBox="1"/>
          <p:nvPr/>
        </p:nvSpPr>
        <p:spPr>
          <a:xfrm>
            <a:off x="101599" y="2611248"/>
            <a:ext cx="1625600"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latin typeface="SimSun"/>
                <a:cs typeface="SimSun"/>
              </a:rPr>
              <a:t>细胞壁立体模型</a:t>
            </a:r>
            <a:endParaRPr sz="1800">
              <a:latin typeface="SimSun"/>
              <a:cs typeface="SimSun"/>
            </a:endParaRPr>
          </a:p>
        </p:txBody>
      </p:sp>
      <p:sp>
        <p:nvSpPr>
          <p:cNvPr id="36" name="object 21">
            <a:extLst>
              <a:ext uri="{FF2B5EF4-FFF2-40B4-BE49-F238E27FC236}">
                <a16:creationId xmlns:a16="http://schemas.microsoft.com/office/drawing/2014/main" id="{6C90E532-02BB-CF4B-018E-630CEF298F8C}"/>
              </a:ext>
            </a:extLst>
          </p:cNvPr>
          <p:cNvSpPr txBox="1"/>
          <p:nvPr/>
        </p:nvSpPr>
        <p:spPr>
          <a:xfrm>
            <a:off x="5382513" y="6397752"/>
            <a:ext cx="1628139"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latin typeface="SimSun"/>
                <a:cs typeface="SimSun"/>
              </a:rPr>
              <a:t>纹孔超微结构图</a:t>
            </a:r>
            <a:endParaRPr sz="1800" dirty="0">
              <a:latin typeface="SimSun"/>
              <a:cs typeface="SimSun"/>
            </a:endParaRPr>
          </a:p>
        </p:txBody>
      </p:sp>
      <p:sp>
        <p:nvSpPr>
          <p:cNvPr id="37" name="object 22">
            <a:extLst>
              <a:ext uri="{FF2B5EF4-FFF2-40B4-BE49-F238E27FC236}">
                <a16:creationId xmlns:a16="http://schemas.microsoft.com/office/drawing/2014/main" id="{F7CC477B-2021-FC0F-0069-02355B8A5573}"/>
              </a:ext>
            </a:extLst>
          </p:cNvPr>
          <p:cNvSpPr txBox="1"/>
          <p:nvPr/>
        </p:nvSpPr>
        <p:spPr>
          <a:xfrm>
            <a:off x="6790436" y="2179067"/>
            <a:ext cx="2311400"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5" dirty="0">
                <a:latin typeface="SimSun"/>
                <a:cs typeface="SimSun"/>
              </a:rPr>
              <a:t>红辣椒果皮的表皮刮片</a:t>
            </a:r>
            <a:endParaRPr sz="1800">
              <a:latin typeface="SimSun"/>
              <a:cs typeface="SimSun"/>
            </a:endParaRPr>
          </a:p>
        </p:txBody>
      </p:sp>
      <p:grpSp>
        <p:nvGrpSpPr>
          <p:cNvPr id="38" name="object 23">
            <a:extLst>
              <a:ext uri="{FF2B5EF4-FFF2-40B4-BE49-F238E27FC236}">
                <a16:creationId xmlns:a16="http://schemas.microsoft.com/office/drawing/2014/main" id="{5130A460-B202-1222-2790-DBBD0A4B78B3}"/>
              </a:ext>
            </a:extLst>
          </p:cNvPr>
          <p:cNvGrpSpPr/>
          <p:nvPr/>
        </p:nvGrpSpPr>
        <p:grpSpPr>
          <a:xfrm>
            <a:off x="6450456" y="1718946"/>
            <a:ext cx="592343" cy="225043"/>
            <a:chOff x="6427596" y="1701673"/>
            <a:chExt cx="592343" cy="225043"/>
          </a:xfrm>
        </p:grpSpPr>
        <p:pic>
          <p:nvPicPr>
            <p:cNvPr id="39" name="object 24">
              <a:extLst>
                <a:ext uri="{FF2B5EF4-FFF2-40B4-BE49-F238E27FC236}">
                  <a16:creationId xmlns:a16="http://schemas.microsoft.com/office/drawing/2014/main" id="{B1CAD558-3C3F-064C-92D2-4151D6755E95}"/>
                </a:ext>
              </a:extLst>
            </p:cNvPr>
            <p:cNvPicPr/>
            <p:nvPr/>
          </p:nvPicPr>
          <p:blipFill>
            <a:blip r:embed="rId6" cstate="print"/>
            <a:stretch>
              <a:fillRect/>
            </a:stretch>
          </p:blipFill>
          <p:spPr>
            <a:xfrm>
              <a:off x="6427596" y="1704086"/>
              <a:ext cx="157956" cy="222630"/>
            </a:xfrm>
            <a:prstGeom prst="rect">
              <a:avLst/>
            </a:prstGeom>
          </p:spPr>
        </p:pic>
        <p:pic>
          <p:nvPicPr>
            <p:cNvPr id="40" name="object 25">
              <a:extLst>
                <a:ext uri="{FF2B5EF4-FFF2-40B4-BE49-F238E27FC236}">
                  <a16:creationId xmlns:a16="http://schemas.microsoft.com/office/drawing/2014/main" id="{1AD9BB8A-E990-1B86-2EDD-7C9C28264490}"/>
                </a:ext>
              </a:extLst>
            </p:cNvPr>
            <p:cNvPicPr/>
            <p:nvPr/>
          </p:nvPicPr>
          <p:blipFill>
            <a:blip r:embed="rId7" cstate="print"/>
            <a:stretch>
              <a:fillRect/>
            </a:stretch>
          </p:blipFill>
          <p:spPr>
            <a:xfrm>
              <a:off x="6861936" y="1701673"/>
              <a:ext cx="158003" cy="222630"/>
            </a:xfrm>
            <a:prstGeom prst="rect">
              <a:avLst/>
            </a:prstGeom>
          </p:spPr>
        </p:pic>
      </p:grpSp>
    </p:spTree>
    <p:extLst>
      <p:ext uri="{BB962C8B-B14F-4D97-AF65-F5344CB8AC3E}">
        <p14:creationId xmlns:p14="http://schemas.microsoft.com/office/powerpoint/2010/main" val="1166297353"/>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3">
            <a:extLst>
              <a:ext uri="{FF2B5EF4-FFF2-40B4-BE49-F238E27FC236}">
                <a16:creationId xmlns:a16="http://schemas.microsoft.com/office/drawing/2014/main" id="{FF927193-E6AA-DFF2-98C4-0FF800AACE62}"/>
              </a:ext>
            </a:extLst>
          </p:cNvPr>
          <p:cNvGrpSpPr/>
          <p:nvPr/>
        </p:nvGrpSpPr>
        <p:grpSpPr>
          <a:xfrm>
            <a:off x="50419" y="1434667"/>
            <a:ext cx="8857487" cy="5014532"/>
            <a:chOff x="0" y="1412836"/>
            <a:chExt cx="8857487" cy="5014532"/>
          </a:xfrm>
        </p:grpSpPr>
        <p:pic>
          <p:nvPicPr>
            <p:cNvPr id="17" name="object 4">
              <a:extLst>
                <a:ext uri="{FF2B5EF4-FFF2-40B4-BE49-F238E27FC236}">
                  <a16:creationId xmlns:a16="http://schemas.microsoft.com/office/drawing/2014/main" id="{925D261F-01C1-C612-E5E3-F9FEBFF032F5}"/>
                </a:ext>
              </a:extLst>
            </p:cNvPr>
            <p:cNvPicPr/>
            <p:nvPr/>
          </p:nvPicPr>
          <p:blipFill>
            <a:blip r:embed="rId2" cstate="print"/>
            <a:stretch>
              <a:fillRect/>
            </a:stretch>
          </p:blipFill>
          <p:spPr>
            <a:xfrm>
              <a:off x="0" y="1447444"/>
              <a:ext cx="3851275" cy="4979924"/>
            </a:xfrm>
            <a:prstGeom prst="rect">
              <a:avLst/>
            </a:prstGeom>
          </p:spPr>
        </p:pic>
        <p:pic>
          <p:nvPicPr>
            <p:cNvPr id="18" name="object 5">
              <a:extLst>
                <a:ext uri="{FF2B5EF4-FFF2-40B4-BE49-F238E27FC236}">
                  <a16:creationId xmlns:a16="http://schemas.microsoft.com/office/drawing/2014/main" id="{75974F69-7696-B650-EC92-A05F9739B0C0}"/>
                </a:ext>
              </a:extLst>
            </p:cNvPr>
            <p:cNvPicPr/>
            <p:nvPr/>
          </p:nvPicPr>
          <p:blipFill>
            <a:blip r:embed="rId3" cstate="print"/>
            <a:stretch>
              <a:fillRect/>
            </a:stretch>
          </p:blipFill>
          <p:spPr>
            <a:xfrm>
              <a:off x="3702303" y="1412836"/>
              <a:ext cx="5155184" cy="4824349"/>
            </a:xfrm>
            <a:prstGeom prst="rect">
              <a:avLst/>
            </a:prstGeom>
          </p:spPr>
        </p:pic>
      </p:grpSp>
      <p:sp>
        <p:nvSpPr>
          <p:cNvPr id="7" name="object 6">
            <a:extLst>
              <a:ext uri="{FF2B5EF4-FFF2-40B4-BE49-F238E27FC236}">
                <a16:creationId xmlns:a16="http://schemas.microsoft.com/office/drawing/2014/main" id="{67568DA8-5833-FEEB-56A7-5E075E85D656}"/>
              </a:ext>
            </a:extLst>
          </p:cNvPr>
          <p:cNvSpPr txBox="1"/>
          <p:nvPr/>
        </p:nvSpPr>
        <p:spPr>
          <a:xfrm>
            <a:off x="179512" y="21831"/>
            <a:ext cx="5796280" cy="1344598"/>
          </a:xfrm>
          <a:prstGeom prst="rect">
            <a:avLst/>
          </a:prstGeom>
          <a:noFill/>
        </p:spPr>
        <p:txBody>
          <a:bodyPr vert="horz" wrap="square" lIns="0" tIns="61594" rIns="0" bIns="0" rtlCol="0">
            <a:spAutoFit/>
          </a:bodyPr>
          <a:lstStyle>
            <a:defPPr>
              <a:defRPr kern="0"/>
            </a:defPPr>
          </a:lstStyle>
          <a:p>
            <a:pPr marL="635" algn="ctr">
              <a:lnSpc>
                <a:spcPct val="100000"/>
              </a:lnSpc>
              <a:spcBef>
                <a:spcPts val="484"/>
              </a:spcBef>
            </a:pPr>
            <a:r>
              <a:rPr sz="4000" b="1" spc="-30" dirty="0">
                <a:latin typeface="Microsoft JhengHei"/>
                <a:cs typeface="Microsoft JhengHei"/>
              </a:rPr>
              <a:t>纹孔的类型</a:t>
            </a:r>
            <a:r>
              <a:rPr sz="4000" b="1" spc="-35" dirty="0">
                <a:latin typeface="Microsoft JhengHei"/>
                <a:cs typeface="Microsoft JhengHei"/>
              </a:rPr>
              <a:t>2：</a:t>
            </a:r>
            <a:endParaRPr sz="4000" dirty="0">
              <a:latin typeface="Microsoft JhengHei"/>
              <a:cs typeface="Microsoft JhengHei"/>
            </a:endParaRPr>
          </a:p>
          <a:p>
            <a:pPr algn="ctr">
              <a:lnSpc>
                <a:spcPct val="100000"/>
              </a:lnSpc>
              <a:spcBef>
                <a:spcPts val="385"/>
              </a:spcBef>
            </a:pPr>
            <a:r>
              <a:rPr sz="4000" b="1" spc="-45" dirty="0">
                <a:latin typeface="Microsoft JhengHei"/>
                <a:cs typeface="Microsoft JhengHei"/>
              </a:rPr>
              <a:t>具缘纹孔 </a:t>
            </a:r>
            <a:r>
              <a:rPr sz="4000" b="1" dirty="0">
                <a:latin typeface="Times New Roman"/>
                <a:cs typeface="Times New Roman"/>
              </a:rPr>
              <a:t>(bordered</a:t>
            </a:r>
            <a:r>
              <a:rPr sz="4000" b="1" spc="-145" dirty="0">
                <a:latin typeface="Times New Roman"/>
                <a:cs typeface="Times New Roman"/>
              </a:rPr>
              <a:t> </a:t>
            </a:r>
            <a:r>
              <a:rPr sz="4000" b="1" spc="-20" dirty="0">
                <a:latin typeface="Times New Roman"/>
                <a:cs typeface="Times New Roman"/>
              </a:rPr>
              <a:t>pit)</a:t>
            </a:r>
            <a:endParaRPr sz="4000" dirty="0">
              <a:latin typeface="Times New Roman"/>
              <a:cs typeface="Times New Roman"/>
            </a:endParaRPr>
          </a:p>
        </p:txBody>
      </p:sp>
      <p:sp>
        <p:nvSpPr>
          <p:cNvPr id="8" name="object 7">
            <a:extLst>
              <a:ext uri="{FF2B5EF4-FFF2-40B4-BE49-F238E27FC236}">
                <a16:creationId xmlns:a16="http://schemas.microsoft.com/office/drawing/2014/main" id="{EFDEA8B2-FFCD-BFA7-CBD3-F9F0AD7DB4C9}"/>
              </a:ext>
            </a:extLst>
          </p:cNvPr>
          <p:cNvSpPr txBox="1"/>
          <p:nvPr/>
        </p:nvSpPr>
        <p:spPr>
          <a:xfrm>
            <a:off x="3766058" y="4104753"/>
            <a:ext cx="330200" cy="743585"/>
          </a:xfrm>
          <a:prstGeom prst="rect">
            <a:avLst/>
          </a:prstGeom>
        </p:spPr>
        <p:txBody>
          <a:bodyPr vert="horz" wrap="square" lIns="0" tIns="36194" rIns="0" bIns="0" rtlCol="0">
            <a:spAutoFit/>
          </a:bodyPr>
          <a:lstStyle>
            <a:defPPr>
              <a:defRPr kern="0"/>
            </a:defPPr>
          </a:lstStyle>
          <a:p>
            <a:pPr marL="12700" marR="5080">
              <a:lnSpc>
                <a:spcPts val="2770"/>
              </a:lnSpc>
              <a:spcBef>
                <a:spcPts val="284"/>
              </a:spcBef>
            </a:pPr>
            <a:r>
              <a:rPr sz="2400" b="1" spc="-50" dirty="0">
                <a:solidFill>
                  <a:srgbClr val="FF0000"/>
                </a:solidFill>
                <a:latin typeface="Microsoft JhengHei"/>
                <a:cs typeface="Microsoft JhengHei"/>
              </a:rPr>
              <a:t>管胞</a:t>
            </a:r>
            <a:endParaRPr sz="2400">
              <a:latin typeface="Microsoft JhengHei"/>
              <a:cs typeface="Microsoft JhengHei"/>
            </a:endParaRPr>
          </a:p>
        </p:txBody>
      </p:sp>
      <p:sp>
        <p:nvSpPr>
          <p:cNvPr id="9" name="object 8">
            <a:extLst>
              <a:ext uri="{FF2B5EF4-FFF2-40B4-BE49-F238E27FC236}">
                <a16:creationId xmlns:a16="http://schemas.microsoft.com/office/drawing/2014/main" id="{55977F44-5CFA-CCE8-9E58-4E5C23866C5D}"/>
              </a:ext>
            </a:extLst>
          </p:cNvPr>
          <p:cNvSpPr txBox="1"/>
          <p:nvPr/>
        </p:nvSpPr>
        <p:spPr>
          <a:xfrm>
            <a:off x="3765677" y="1584642"/>
            <a:ext cx="330835" cy="1475105"/>
          </a:xfrm>
          <a:prstGeom prst="rect">
            <a:avLst/>
          </a:prstGeom>
        </p:spPr>
        <p:txBody>
          <a:bodyPr vert="horz" wrap="square" lIns="0" tIns="17145" rIns="0" bIns="0" rtlCol="0">
            <a:spAutoFit/>
          </a:bodyPr>
          <a:lstStyle>
            <a:defPPr>
              <a:defRPr kern="0"/>
            </a:defPPr>
          </a:lstStyle>
          <a:p>
            <a:pPr marL="12700" marR="5080" algn="just">
              <a:lnSpc>
                <a:spcPct val="98800"/>
              </a:lnSpc>
              <a:spcBef>
                <a:spcPts val="135"/>
              </a:spcBef>
            </a:pPr>
            <a:r>
              <a:rPr sz="2400" b="1" spc="-50" dirty="0">
                <a:solidFill>
                  <a:srgbClr val="FF0000"/>
                </a:solidFill>
                <a:latin typeface="Microsoft JhengHei"/>
                <a:cs typeface="Microsoft JhengHei"/>
              </a:rPr>
              <a:t>具缘纹孔</a:t>
            </a:r>
            <a:endParaRPr sz="2400">
              <a:latin typeface="Microsoft JhengHei"/>
              <a:cs typeface="Microsoft JhengHei"/>
            </a:endParaRPr>
          </a:p>
        </p:txBody>
      </p:sp>
      <p:grpSp>
        <p:nvGrpSpPr>
          <p:cNvPr id="10" name="object 9">
            <a:extLst>
              <a:ext uri="{FF2B5EF4-FFF2-40B4-BE49-F238E27FC236}">
                <a16:creationId xmlns:a16="http://schemas.microsoft.com/office/drawing/2014/main" id="{157E42FC-F7A8-B726-796E-CE08C16970EA}"/>
              </a:ext>
            </a:extLst>
          </p:cNvPr>
          <p:cNvGrpSpPr/>
          <p:nvPr/>
        </p:nvGrpSpPr>
        <p:grpSpPr>
          <a:xfrm>
            <a:off x="466001" y="2178036"/>
            <a:ext cx="8584272" cy="4044404"/>
            <a:chOff x="415582" y="2156205"/>
            <a:chExt cx="8584272" cy="4044404"/>
          </a:xfrm>
        </p:grpSpPr>
        <p:sp>
          <p:nvSpPr>
            <p:cNvPr id="14" name="object 10">
              <a:extLst>
                <a:ext uri="{FF2B5EF4-FFF2-40B4-BE49-F238E27FC236}">
                  <a16:creationId xmlns:a16="http://schemas.microsoft.com/office/drawing/2014/main" id="{4C4A7E9C-A794-0A16-76A6-058DC30C1C53}"/>
                </a:ext>
              </a:extLst>
            </p:cNvPr>
            <p:cNvSpPr/>
            <p:nvPr/>
          </p:nvSpPr>
          <p:spPr>
            <a:xfrm>
              <a:off x="3991228" y="2225928"/>
              <a:ext cx="869315" cy="329565"/>
            </a:xfrm>
            <a:custGeom>
              <a:avLst/>
              <a:gdLst/>
              <a:ahLst/>
              <a:cxnLst/>
              <a:rect l="l" t="t" r="r" b="b"/>
              <a:pathLst>
                <a:path w="869314" h="329564">
                  <a:moveTo>
                    <a:pt x="787357" y="290346"/>
                  </a:moveTo>
                  <a:lnTo>
                    <a:pt x="734187" y="301498"/>
                  </a:lnTo>
                  <a:lnTo>
                    <a:pt x="729234" y="308991"/>
                  </a:lnTo>
                  <a:lnTo>
                    <a:pt x="730885" y="316738"/>
                  </a:lnTo>
                  <a:lnTo>
                    <a:pt x="732409" y="324485"/>
                  </a:lnTo>
                  <a:lnTo>
                    <a:pt x="740029" y="329438"/>
                  </a:lnTo>
                  <a:lnTo>
                    <a:pt x="846911" y="307086"/>
                  </a:lnTo>
                  <a:lnTo>
                    <a:pt x="837438" y="307086"/>
                  </a:lnTo>
                  <a:lnTo>
                    <a:pt x="787357" y="290346"/>
                  </a:lnTo>
                  <a:close/>
                </a:path>
                <a:path w="869314" h="329564">
                  <a:moveTo>
                    <a:pt x="815041" y="284556"/>
                  </a:moveTo>
                  <a:lnTo>
                    <a:pt x="787357" y="290346"/>
                  </a:lnTo>
                  <a:lnTo>
                    <a:pt x="837438" y="307086"/>
                  </a:lnTo>
                  <a:lnTo>
                    <a:pt x="838792" y="303022"/>
                  </a:lnTo>
                  <a:lnTo>
                    <a:pt x="831215" y="303022"/>
                  </a:lnTo>
                  <a:lnTo>
                    <a:pt x="815041" y="284556"/>
                  </a:lnTo>
                  <a:close/>
                </a:path>
                <a:path w="869314" h="329564">
                  <a:moveTo>
                    <a:pt x="773049" y="203073"/>
                  </a:moveTo>
                  <a:lnTo>
                    <a:pt x="761111" y="213487"/>
                  </a:lnTo>
                  <a:lnTo>
                    <a:pt x="760603" y="222504"/>
                  </a:lnTo>
                  <a:lnTo>
                    <a:pt x="765810" y="228346"/>
                  </a:lnTo>
                  <a:lnTo>
                    <a:pt x="796430" y="263307"/>
                  </a:lnTo>
                  <a:lnTo>
                    <a:pt x="846455" y="280035"/>
                  </a:lnTo>
                  <a:lnTo>
                    <a:pt x="837438" y="307086"/>
                  </a:lnTo>
                  <a:lnTo>
                    <a:pt x="846911" y="307086"/>
                  </a:lnTo>
                  <a:lnTo>
                    <a:pt x="868807" y="302513"/>
                  </a:lnTo>
                  <a:lnTo>
                    <a:pt x="782066" y="203581"/>
                  </a:lnTo>
                  <a:lnTo>
                    <a:pt x="773049" y="203073"/>
                  </a:lnTo>
                  <a:close/>
                </a:path>
                <a:path w="869314" h="329564">
                  <a:moveTo>
                    <a:pt x="839088" y="279526"/>
                  </a:moveTo>
                  <a:lnTo>
                    <a:pt x="815041" y="284556"/>
                  </a:lnTo>
                  <a:lnTo>
                    <a:pt x="831215" y="303022"/>
                  </a:lnTo>
                  <a:lnTo>
                    <a:pt x="839088" y="279526"/>
                  </a:lnTo>
                  <a:close/>
                </a:path>
                <a:path w="869314" h="329564">
                  <a:moveTo>
                    <a:pt x="844935" y="279526"/>
                  </a:moveTo>
                  <a:lnTo>
                    <a:pt x="839088" y="279526"/>
                  </a:lnTo>
                  <a:lnTo>
                    <a:pt x="831215" y="303022"/>
                  </a:lnTo>
                  <a:lnTo>
                    <a:pt x="838792" y="303022"/>
                  </a:lnTo>
                  <a:lnTo>
                    <a:pt x="846455" y="280035"/>
                  </a:lnTo>
                  <a:lnTo>
                    <a:pt x="844935" y="279526"/>
                  </a:lnTo>
                  <a:close/>
                </a:path>
                <a:path w="869314" h="329564">
                  <a:moveTo>
                    <a:pt x="9017" y="0"/>
                  </a:moveTo>
                  <a:lnTo>
                    <a:pt x="0" y="27178"/>
                  </a:lnTo>
                  <a:lnTo>
                    <a:pt x="787357" y="290346"/>
                  </a:lnTo>
                  <a:lnTo>
                    <a:pt x="815041" y="284556"/>
                  </a:lnTo>
                  <a:lnTo>
                    <a:pt x="796430" y="263307"/>
                  </a:lnTo>
                  <a:lnTo>
                    <a:pt x="9017" y="0"/>
                  </a:lnTo>
                  <a:close/>
                </a:path>
                <a:path w="869314" h="329564">
                  <a:moveTo>
                    <a:pt x="796430" y="263307"/>
                  </a:moveTo>
                  <a:lnTo>
                    <a:pt x="815041" y="284556"/>
                  </a:lnTo>
                  <a:lnTo>
                    <a:pt x="839088" y="279526"/>
                  </a:lnTo>
                  <a:lnTo>
                    <a:pt x="844935" y="279526"/>
                  </a:lnTo>
                  <a:lnTo>
                    <a:pt x="796430" y="263307"/>
                  </a:lnTo>
                  <a:close/>
                </a:path>
              </a:pathLst>
            </a:custGeom>
            <a:solidFill>
              <a:srgbClr val="FF0000"/>
            </a:solidFill>
          </p:spPr>
          <p:txBody>
            <a:bodyPr wrap="square" lIns="0" tIns="0" rIns="0" bIns="0" rtlCol="0"/>
            <a:lstStyle>
              <a:defPPr>
                <a:defRPr kern="0"/>
              </a:defPPr>
            </a:lstStyle>
            <a:p>
              <a:endParaRPr/>
            </a:p>
          </p:txBody>
        </p:sp>
        <p:sp>
          <p:nvSpPr>
            <p:cNvPr id="15" name="object 11">
              <a:extLst>
                <a:ext uri="{FF2B5EF4-FFF2-40B4-BE49-F238E27FC236}">
                  <a16:creationId xmlns:a16="http://schemas.microsoft.com/office/drawing/2014/main" id="{FE72F6DC-1CF2-2849-0239-F36B335D208F}"/>
                </a:ext>
              </a:extLst>
            </p:cNvPr>
            <p:cNvSpPr/>
            <p:nvPr/>
          </p:nvSpPr>
          <p:spPr>
            <a:xfrm>
              <a:off x="415582" y="2156205"/>
              <a:ext cx="3300729" cy="1596390"/>
            </a:xfrm>
            <a:custGeom>
              <a:avLst/>
              <a:gdLst/>
              <a:ahLst/>
              <a:cxnLst/>
              <a:rect l="l" t="t" r="r" b="b"/>
              <a:pathLst>
                <a:path w="3300729" h="1596389">
                  <a:moveTo>
                    <a:pt x="121183" y="661289"/>
                  </a:moveTo>
                  <a:lnTo>
                    <a:pt x="93218" y="643255"/>
                  </a:lnTo>
                  <a:lnTo>
                    <a:pt x="84264" y="659638"/>
                  </a:lnTo>
                  <a:lnTo>
                    <a:pt x="38315" y="674497"/>
                  </a:lnTo>
                  <a:lnTo>
                    <a:pt x="44894" y="660781"/>
                  </a:lnTo>
                  <a:lnTo>
                    <a:pt x="53670" y="649732"/>
                  </a:lnTo>
                  <a:lnTo>
                    <a:pt x="21183" y="639826"/>
                  </a:lnTo>
                  <a:lnTo>
                    <a:pt x="21018" y="643255"/>
                  </a:lnTo>
                  <a:lnTo>
                    <a:pt x="20916" y="645160"/>
                  </a:lnTo>
                  <a:lnTo>
                    <a:pt x="20853" y="646493"/>
                  </a:lnTo>
                  <a:lnTo>
                    <a:pt x="20751" y="648589"/>
                  </a:lnTo>
                  <a:lnTo>
                    <a:pt x="20701" y="649732"/>
                  </a:lnTo>
                  <a:lnTo>
                    <a:pt x="20574" y="652310"/>
                  </a:lnTo>
                  <a:lnTo>
                    <a:pt x="19519" y="663321"/>
                  </a:lnTo>
                  <a:lnTo>
                    <a:pt x="19405" y="664591"/>
                  </a:lnTo>
                  <a:lnTo>
                    <a:pt x="17729" y="676148"/>
                  </a:lnTo>
                  <a:lnTo>
                    <a:pt x="17653" y="676694"/>
                  </a:lnTo>
                  <a:lnTo>
                    <a:pt x="15379" y="688340"/>
                  </a:lnTo>
                  <a:lnTo>
                    <a:pt x="15278" y="688848"/>
                  </a:lnTo>
                  <a:lnTo>
                    <a:pt x="12496" y="699973"/>
                  </a:lnTo>
                  <a:lnTo>
                    <a:pt x="12420" y="700290"/>
                  </a:lnTo>
                  <a:lnTo>
                    <a:pt x="8890" y="711911"/>
                  </a:lnTo>
                  <a:lnTo>
                    <a:pt x="4699" y="723519"/>
                  </a:lnTo>
                  <a:lnTo>
                    <a:pt x="0" y="734822"/>
                  </a:lnTo>
                  <a:lnTo>
                    <a:pt x="6959" y="739902"/>
                  </a:lnTo>
                  <a:lnTo>
                    <a:pt x="16598" y="725500"/>
                  </a:lnTo>
                  <a:lnTo>
                    <a:pt x="24663" y="712190"/>
                  </a:lnTo>
                  <a:lnTo>
                    <a:pt x="31153" y="699973"/>
                  </a:lnTo>
                  <a:lnTo>
                    <a:pt x="35826" y="689356"/>
                  </a:lnTo>
                  <a:lnTo>
                    <a:pt x="35941" y="689102"/>
                  </a:lnTo>
                  <a:lnTo>
                    <a:pt x="36055" y="688848"/>
                  </a:lnTo>
                  <a:lnTo>
                    <a:pt x="49644" y="684403"/>
                  </a:lnTo>
                  <a:lnTo>
                    <a:pt x="52108" y="685673"/>
                  </a:lnTo>
                  <a:lnTo>
                    <a:pt x="54978" y="689102"/>
                  </a:lnTo>
                  <a:lnTo>
                    <a:pt x="61887" y="700938"/>
                  </a:lnTo>
                  <a:lnTo>
                    <a:pt x="65278" y="706374"/>
                  </a:lnTo>
                  <a:lnTo>
                    <a:pt x="68491" y="711454"/>
                  </a:lnTo>
                  <a:lnTo>
                    <a:pt x="71539" y="716153"/>
                  </a:lnTo>
                  <a:lnTo>
                    <a:pt x="75184" y="717169"/>
                  </a:lnTo>
                  <a:lnTo>
                    <a:pt x="79336" y="714375"/>
                  </a:lnTo>
                  <a:lnTo>
                    <a:pt x="83477" y="711454"/>
                  </a:lnTo>
                  <a:lnTo>
                    <a:pt x="85813" y="708406"/>
                  </a:lnTo>
                  <a:lnTo>
                    <a:pt x="86702" y="702564"/>
                  </a:lnTo>
                  <a:lnTo>
                    <a:pt x="86639" y="698754"/>
                  </a:lnTo>
                  <a:lnTo>
                    <a:pt x="60071" y="681101"/>
                  </a:lnTo>
                  <a:lnTo>
                    <a:pt x="80441" y="674497"/>
                  </a:lnTo>
                  <a:lnTo>
                    <a:pt x="121183" y="661289"/>
                  </a:lnTo>
                  <a:close/>
                </a:path>
                <a:path w="3300729" h="1596389">
                  <a:moveTo>
                    <a:pt x="240068" y="623062"/>
                  </a:moveTo>
                  <a:lnTo>
                    <a:pt x="210642" y="604139"/>
                  </a:lnTo>
                  <a:lnTo>
                    <a:pt x="200926" y="622046"/>
                  </a:lnTo>
                  <a:lnTo>
                    <a:pt x="146088" y="639699"/>
                  </a:lnTo>
                  <a:lnTo>
                    <a:pt x="153022" y="627126"/>
                  </a:lnTo>
                  <a:lnTo>
                    <a:pt x="161785" y="616077"/>
                  </a:lnTo>
                  <a:lnTo>
                    <a:pt x="130365" y="605790"/>
                  </a:lnTo>
                  <a:lnTo>
                    <a:pt x="126034" y="646493"/>
                  </a:lnTo>
                  <a:lnTo>
                    <a:pt x="116763" y="678561"/>
                  </a:lnTo>
                  <a:lnTo>
                    <a:pt x="125082" y="680974"/>
                  </a:lnTo>
                  <a:lnTo>
                    <a:pt x="129971" y="674090"/>
                  </a:lnTo>
                  <a:lnTo>
                    <a:pt x="134670" y="667346"/>
                  </a:lnTo>
                  <a:lnTo>
                    <a:pt x="139103" y="660781"/>
                  </a:lnTo>
                  <a:lnTo>
                    <a:pt x="143446" y="654177"/>
                  </a:lnTo>
                  <a:lnTo>
                    <a:pt x="160604" y="648589"/>
                  </a:lnTo>
                  <a:lnTo>
                    <a:pt x="181533" y="669798"/>
                  </a:lnTo>
                  <a:lnTo>
                    <a:pt x="187655" y="678561"/>
                  </a:lnTo>
                  <a:lnTo>
                    <a:pt x="187756" y="678688"/>
                  </a:lnTo>
                  <a:lnTo>
                    <a:pt x="192925" y="680974"/>
                  </a:lnTo>
                  <a:lnTo>
                    <a:pt x="197015" y="676694"/>
                  </a:lnTo>
                  <a:lnTo>
                    <a:pt x="201180" y="672465"/>
                  </a:lnTo>
                  <a:lnTo>
                    <a:pt x="203161" y="667893"/>
                  </a:lnTo>
                  <a:lnTo>
                    <a:pt x="203047" y="664591"/>
                  </a:lnTo>
                  <a:lnTo>
                    <a:pt x="202933" y="661289"/>
                  </a:lnTo>
                  <a:lnTo>
                    <a:pt x="202819" y="657987"/>
                  </a:lnTo>
                  <a:lnTo>
                    <a:pt x="199986" y="653796"/>
                  </a:lnTo>
                  <a:lnTo>
                    <a:pt x="191909" y="648589"/>
                  </a:lnTo>
                  <a:lnTo>
                    <a:pt x="188963" y="646684"/>
                  </a:lnTo>
                  <a:lnTo>
                    <a:pt x="181787" y="645160"/>
                  </a:lnTo>
                  <a:lnTo>
                    <a:pt x="171170" y="645160"/>
                  </a:lnTo>
                  <a:lnTo>
                    <a:pt x="188188" y="639699"/>
                  </a:lnTo>
                  <a:lnTo>
                    <a:pt x="240068" y="623062"/>
                  </a:lnTo>
                  <a:close/>
                </a:path>
                <a:path w="3300729" h="1596389">
                  <a:moveTo>
                    <a:pt x="257746" y="848995"/>
                  </a:moveTo>
                  <a:lnTo>
                    <a:pt x="246151" y="816864"/>
                  </a:lnTo>
                  <a:lnTo>
                    <a:pt x="243014" y="807212"/>
                  </a:lnTo>
                  <a:lnTo>
                    <a:pt x="241363" y="802005"/>
                  </a:lnTo>
                  <a:lnTo>
                    <a:pt x="247789" y="791464"/>
                  </a:lnTo>
                  <a:lnTo>
                    <a:pt x="228790" y="781354"/>
                  </a:lnTo>
                  <a:lnTo>
                    <a:pt x="228790" y="835660"/>
                  </a:lnTo>
                  <a:lnTo>
                    <a:pt x="124485" y="869315"/>
                  </a:lnTo>
                  <a:lnTo>
                    <a:pt x="115303" y="840867"/>
                  </a:lnTo>
                  <a:lnTo>
                    <a:pt x="153479" y="828548"/>
                  </a:lnTo>
                  <a:lnTo>
                    <a:pt x="219608" y="807212"/>
                  </a:lnTo>
                  <a:lnTo>
                    <a:pt x="228790" y="835660"/>
                  </a:lnTo>
                  <a:lnTo>
                    <a:pt x="228790" y="781354"/>
                  </a:lnTo>
                  <a:lnTo>
                    <a:pt x="223939" y="778764"/>
                  </a:lnTo>
                  <a:lnTo>
                    <a:pt x="215023" y="795147"/>
                  </a:lnTo>
                  <a:lnTo>
                    <a:pt x="111328" y="828548"/>
                  </a:lnTo>
                  <a:lnTo>
                    <a:pt x="103251" y="803529"/>
                  </a:lnTo>
                  <a:lnTo>
                    <a:pt x="141351" y="791210"/>
                  </a:lnTo>
                  <a:lnTo>
                    <a:pt x="197548" y="773049"/>
                  </a:lnTo>
                  <a:lnTo>
                    <a:pt x="201371" y="784987"/>
                  </a:lnTo>
                  <a:lnTo>
                    <a:pt x="201498" y="785368"/>
                  </a:lnTo>
                  <a:lnTo>
                    <a:pt x="219468" y="773049"/>
                  </a:lnTo>
                  <a:lnTo>
                    <a:pt x="221703" y="771525"/>
                  </a:lnTo>
                  <a:lnTo>
                    <a:pt x="218592" y="764413"/>
                  </a:lnTo>
                  <a:lnTo>
                    <a:pt x="215963" y="757428"/>
                  </a:lnTo>
                  <a:lnTo>
                    <a:pt x="208953" y="735711"/>
                  </a:lnTo>
                  <a:lnTo>
                    <a:pt x="207238" y="730377"/>
                  </a:lnTo>
                  <a:lnTo>
                    <a:pt x="213677" y="719963"/>
                  </a:lnTo>
                  <a:lnTo>
                    <a:pt x="193573" y="709168"/>
                  </a:lnTo>
                  <a:lnTo>
                    <a:pt x="193573" y="760730"/>
                  </a:lnTo>
                  <a:lnTo>
                    <a:pt x="99275" y="791210"/>
                  </a:lnTo>
                  <a:lnTo>
                    <a:pt x="91186" y="766064"/>
                  </a:lnTo>
                  <a:lnTo>
                    <a:pt x="126695" y="754634"/>
                  </a:lnTo>
                  <a:lnTo>
                    <a:pt x="185483" y="735711"/>
                  </a:lnTo>
                  <a:lnTo>
                    <a:pt x="193573" y="760730"/>
                  </a:lnTo>
                  <a:lnTo>
                    <a:pt x="193573" y="709168"/>
                  </a:lnTo>
                  <a:lnTo>
                    <a:pt x="189814" y="707136"/>
                  </a:lnTo>
                  <a:lnTo>
                    <a:pt x="180911" y="723519"/>
                  </a:lnTo>
                  <a:lnTo>
                    <a:pt x="84874" y="754519"/>
                  </a:lnTo>
                  <a:lnTo>
                    <a:pt x="61607" y="750951"/>
                  </a:lnTo>
                  <a:lnTo>
                    <a:pt x="65773" y="762241"/>
                  </a:lnTo>
                  <a:lnTo>
                    <a:pt x="70993" y="777227"/>
                  </a:lnTo>
                  <a:lnTo>
                    <a:pt x="84569" y="818261"/>
                  </a:lnTo>
                  <a:lnTo>
                    <a:pt x="99314" y="865035"/>
                  </a:lnTo>
                  <a:lnTo>
                    <a:pt x="112306" y="908177"/>
                  </a:lnTo>
                  <a:lnTo>
                    <a:pt x="132943" y="895604"/>
                  </a:lnTo>
                  <a:lnTo>
                    <a:pt x="128460" y="881634"/>
                  </a:lnTo>
                  <a:lnTo>
                    <a:pt x="166636" y="869315"/>
                  </a:lnTo>
                  <a:lnTo>
                    <a:pt x="232765" y="847979"/>
                  </a:lnTo>
                  <a:lnTo>
                    <a:pt x="237540" y="862838"/>
                  </a:lnTo>
                  <a:lnTo>
                    <a:pt x="257746" y="848995"/>
                  </a:lnTo>
                  <a:close/>
                </a:path>
                <a:path w="3300729" h="1596389">
                  <a:moveTo>
                    <a:pt x="263791" y="677545"/>
                  </a:moveTo>
                  <a:lnTo>
                    <a:pt x="231317" y="657479"/>
                  </a:lnTo>
                  <a:lnTo>
                    <a:pt x="223100" y="676148"/>
                  </a:lnTo>
                  <a:lnTo>
                    <a:pt x="136207" y="704215"/>
                  </a:lnTo>
                  <a:lnTo>
                    <a:pt x="140589" y="702564"/>
                  </a:lnTo>
                  <a:lnTo>
                    <a:pt x="141668" y="698246"/>
                  </a:lnTo>
                  <a:lnTo>
                    <a:pt x="139433" y="691261"/>
                  </a:lnTo>
                  <a:lnTo>
                    <a:pt x="135610" y="686523"/>
                  </a:lnTo>
                  <a:lnTo>
                    <a:pt x="127495" y="682586"/>
                  </a:lnTo>
                  <a:lnTo>
                    <a:pt x="115087" y="679424"/>
                  </a:lnTo>
                  <a:lnTo>
                    <a:pt x="98399" y="677037"/>
                  </a:lnTo>
                  <a:lnTo>
                    <a:pt x="98018" y="680974"/>
                  </a:lnTo>
                  <a:lnTo>
                    <a:pt x="97980" y="681355"/>
                  </a:lnTo>
                  <a:lnTo>
                    <a:pt x="97866" y="682586"/>
                  </a:lnTo>
                  <a:lnTo>
                    <a:pt x="97802" y="683260"/>
                  </a:lnTo>
                  <a:lnTo>
                    <a:pt x="97726" y="684149"/>
                  </a:lnTo>
                  <a:lnTo>
                    <a:pt x="121640" y="708914"/>
                  </a:lnTo>
                  <a:lnTo>
                    <a:pt x="36220" y="736485"/>
                  </a:lnTo>
                  <a:lnTo>
                    <a:pt x="32715" y="725500"/>
                  </a:lnTo>
                  <a:lnTo>
                    <a:pt x="32651" y="725297"/>
                  </a:lnTo>
                  <a:lnTo>
                    <a:pt x="21907" y="728726"/>
                  </a:lnTo>
                  <a:lnTo>
                    <a:pt x="22301" y="734822"/>
                  </a:lnTo>
                  <a:lnTo>
                    <a:pt x="22428" y="743458"/>
                  </a:lnTo>
                  <a:lnTo>
                    <a:pt x="21374" y="754634"/>
                  </a:lnTo>
                  <a:lnTo>
                    <a:pt x="20256" y="759206"/>
                  </a:lnTo>
                  <a:lnTo>
                    <a:pt x="15786" y="767842"/>
                  </a:lnTo>
                  <a:lnTo>
                    <a:pt x="14046" y="771906"/>
                  </a:lnTo>
                  <a:lnTo>
                    <a:pt x="11912" y="779399"/>
                  </a:lnTo>
                  <a:lnTo>
                    <a:pt x="12890" y="782447"/>
                  </a:lnTo>
                  <a:lnTo>
                    <a:pt x="15189" y="784479"/>
                  </a:lnTo>
                  <a:lnTo>
                    <a:pt x="22440" y="786511"/>
                  </a:lnTo>
                  <a:lnTo>
                    <a:pt x="25742" y="786511"/>
                  </a:lnTo>
                  <a:lnTo>
                    <a:pt x="43319" y="767080"/>
                  </a:lnTo>
                  <a:lnTo>
                    <a:pt x="42748" y="760730"/>
                  </a:lnTo>
                  <a:lnTo>
                    <a:pt x="42646" y="759460"/>
                  </a:lnTo>
                  <a:lnTo>
                    <a:pt x="39966" y="748792"/>
                  </a:lnTo>
                  <a:lnTo>
                    <a:pt x="77774" y="736600"/>
                  </a:lnTo>
                  <a:lnTo>
                    <a:pt x="178206" y="704215"/>
                  </a:lnTo>
                  <a:lnTo>
                    <a:pt x="227431" y="688340"/>
                  </a:lnTo>
                  <a:lnTo>
                    <a:pt x="227812" y="688340"/>
                  </a:lnTo>
                  <a:lnTo>
                    <a:pt x="223189" y="715645"/>
                  </a:lnTo>
                  <a:lnTo>
                    <a:pt x="231724" y="717677"/>
                  </a:lnTo>
                  <a:lnTo>
                    <a:pt x="255295" y="683514"/>
                  </a:lnTo>
                  <a:lnTo>
                    <a:pt x="263791" y="677545"/>
                  </a:lnTo>
                  <a:close/>
                </a:path>
                <a:path w="3300729" h="1596389">
                  <a:moveTo>
                    <a:pt x="420535" y="1148334"/>
                  </a:moveTo>
                  <a:lnTo>
                    <a:pt x="395770" y="1119251"/>
                  </a:lnTo>
                  <a:lnTo>
                    <a:pt x="391731" y="1109091"/>
                  </a:lnTo>
                  <a:lnTo>
                    <a:pt x="380771" y="1112647"/>
                  </a:lnTo>
                  <a:lnTo>
                    <a:pt x="390029" y="1154303"/>
                  </a:lnTo>
                  <a:lnTo>
                    <a:pt x="388683" y="1158621"/>
                  </a:lnTo>
                  <a:lnTo>
                    <a:pt x="384924" y="1160399"/>
                  </a:lnTo>
                  <a:lnTo>
                    <a:pt x="301409" y="1187323"/>
                  </a:lnTo>
                  <a:lnTo>
                    <a:pt x="296024" y="1184529"/>
                  </a:lnTo>
                  <a:lnTo>
                    <a:pt x="293497" y="1176782"/>
                  </a:lnTo>
                  <a:lnTo>
                    <a:pt x="274967" y="1119251"/>
                  </a:lnTo>
                  <a:lnTo>
                    <a:pt x="302628" y="1110361"/>
                  </a:lnTo>
                  <a:lnTo>
                    <a:pt x="305130" y="1118108"/>
                  </a:lnTo>
                  <a:lnTo>
                    <a:pt x="316433" y="1110361"/>
                  </a:lnTo>
                  <a:lnTo>
                    <a:pt x="321449" y="1106932"/>
                  </a:lnTo>
                  <a:lnTo>
                    <a:pt x="325348" y="1104265"/>
                  </a:lnTo>
                  <a:lnTo>
                    <a:pt x="322999" y="1098702"/>
                  </a:lnTo>
                  <a:lnTo>
                    <a:pt x="320738" y="1092835"/>
                  </a:lnTo>
                  <a:lnTo>
                    <a:pt x="306336" y="1049147"/>
                  </a:lnTo>
                  <a:lnTo>
                    <a:pt x="305320" y="1045972"/>
                  </a:lnTo>
                  <a:lnTo>
                    <a:pt x="310642" y="1035812"/>
                  </a:lnTo>
                  <a:lnTo>
                    <a:pt x="298653" y="1029639"/>
                  </a:lnTo>
                  <a:lnTo>
                    <a:pt x="298653" y="1098042"/>
                  </a:lnTo>
                  <a:lnTo>
                    <a:pt x="271005" y="1106932"/>
                  </a:lnTo>
                  <a:lnTo>
                    <a:pt x="255244" y="1058037"/>
                  </a:lnTo>
                  <a:lnTo>
                    <a:pt x="270637" y="1053084"/>
                  </a:lnTo>
                  <a:lnTo>
                    <a:pt x="282892" y="1049147"/>
                  </a:lnTo>
                  <a:lnTo>
                    <a:pt x="298653" y="1098042"/>
                  </a:lnTo>
                  <a:lnTo>
                    <a:pt x="298653" y="1029639"/>
                  </a:lnTo>
                  <a:lnTo>
                    <a:pt x="285000" y="1022604"/>
                  </a:lnTo>
                  <a:lnTo>
                    <a:pt x="279184" y="1036701"/>
                  </a:lnTo>
                  <a:lnTo>
                    <a:pt x="247840" y="1046861"/>
                  </a:lnTo>
                  <a:lnTo>
                    <a:pt x="236347" y="1045083"/>
                  </a:lnTo>
                  <a:lnTo>
                    <a:pt x="238518" y="1036701"/>
                  </a:lnTo>
                  <a:lnTo>
                    <a:pt x="238607" y="1036358"/>
                  </a:lnTo>
                  <a:lnTo>
                    <a:pt x="240499" y="1027480"/>
                  </a:lnTo>
                  <a:lnTo>
                    <a:pt x="241998" y="1018501"/>
                  </a:lnTo>
                  <a:lnTo>
                    <a:pt x="243128" y="1009396"/>
                  </a:lnTo>
                  <a:lnTo>
                    <a:pt x="284899" y="995934"/>
                  </a:lnTo>
                  <a:lnTo>
                    <a:pt x="326783" y="1019810"/>
                  </a:lnTo>
                  <a:lnTo>
                    <a:pt x="340829" y="1067142"/>
                  </a:lnTo>
                  <a:lnTo>
                    <a:pt x="348729" y="1102360"/>
                  </a:lnTo>
                  <a:lnTo>
                    <a:pt x="348437" y="1105789"/>
                  </a:lnTo>
                  <a:lnTo>
                    <a:pt x="298805" y="1121283"/>
                  </a:lnTo>
                  <a:lnTo>
                    <a:pt x="302209" y="1131976"/>
                  </a:lnTo>
                  <a:lnTo>
                    <a:pt x="317563" y="1131976"/>
                  </a:lnTo>
                  <a:lnTo>
                    <a:pt x="329692" y="1134338"/>
                  </a:lnTo>
                  <a:lnTo>
                    <a:pt x="338569" y="1139024"/>
                  </a:lnTo>
                  <a:lnTo>
                    <a:pt x="344220" y="1146048"/>
                  </a:lnTo>
                  <a:lnTo>
                    <a:pt x="352488" y="1140129"/>
                  </a:lnTo>
                  <a:lnTo>
                    <a:pt x="372160" y="1109091"/>
                  </a:lnTo>
                  <a:lnTo>
                    <a:pt x="372287" y="1105789"/>
                  </a:lnTo>
                  <a:lnTo>
                    <a:pt x="364350" y="1065060"/>
                  </a:lnTo>
                  <a:lnTo>
                    <a:pt x="340906" y="985774"/>
                  </a:lnTo>
                  <a:lnTo>
                    <a:pt x="339204" y="980186"/>
                  </a:lnTo>
                  <a:lnTo>
                    <a:pt x="344563" y="969899"/>
                  </a:lnTo>
                  <a:lnTo>
                    <a:pt x="320763" y="957199"/>
                  </a:lnTo>
                  <a:lnTo>
                    <a:pt x="311848" y="973582"/>
                  </a:lnTo>
                  <a:lnTo>
                    <a:pt x="242582" y="995934"/>
                  </a:lnTo>
                  <a:lnTo>
                    <a:pt x="245465" y="973582"/>
                  </a:lnTo>
                  <a:lnTo>
                    <a:pt x="245554" y="972947"/>
                  </a:lnTo>
                  <a:lnTo>
                    <a:pt x="251815" y="959866"/>
                  </a:lnTo>
                  <a:lnTo>
                    <a:pt x="216014" y="954405"/>
                  </a:lnTo>
                  <a:lnTo>
                    <a:pt x="218122" y="967244"/>
                  </a:lnTo>
                  <a:lnTo>
                    <a:pt x="219608" y="981748"/>
                  </a:lnTo>
                  <a:lnTo>
                    <a:pt x="220243" y="993902"/>
                  </a:lnTo>
                  <a:lnTo>
                    <a:pt x="220357" y="995934"/>
                  </a:lnTo>
                  <a:lnTo>
                    <a:pt x="220484" y="1022604"/>
                  </a:lnTo>
                  <a:lnTo>
                    <a:pt x="220319" y="1027480"/>
                  </a:lnTo>
                  <a:lnTo>
                    <a:pt x="220205" y="1031328"/>
                  </a:lnTo>
                  <a:lnTo>
                    <a:pt x="215950" y="1071003"/>
                  </a:lnTo>
                  <a:lnTo>
                    <a:pt x="214757" y="1077074"/>
                  </a:lnTo>
                  <a:lnTo>
                    <a:pt x="211937" y="1068324"/>
                  </a:lnTo>
                  <a:lnTo>
                    <a:pt x="211277" y="1066292"/>
                  </a:lnTo>
                  <a:lnTo>
                    <a:pt x="203885" y="1043368"/>
                  </a:lnTo>
                  <a:lnTo>
                    <a:pt x="203885" y="1116076"/>
                  </a:lnTo>
                  <a:lnTo>
                    <a:pt x="171805" y="1126363"/>
                  </a:lnTo>
                  <a:lnTo>
                    <a:pt x="156489" y="1078992"/>
                  </a:lnTo>
                  <a:lnTo>
                    <a:pt x="156413" y="1078738"/>
                  </a:lnTo>
                  <a:lnTo>
                    <a:pt x="188493" y="1068324"/>
                  </a:lnTo>
                  <a:lnTo>
                    <a:pt x="203885" y="1116076"/>
                  </a:lnTo>
                  <a:lnTo>
                    <a:pt x="203885" y="1043368"/>
                  </a:lnTo>
                  <a:lnTo>
                    <a:pt x="192938" y="1009396"/>
                  </a:lnTo>
                  <a:lnTo>
                    <a:pt x="192405" y="1007745"/>
                  </a:lnTo>
                  <a:lnTo>
                    <a:pt x="191223" y="1004062"/>
                  </a:lnTo>
                  <a:lnTo>
                    <a:pt x="196519" y="993902"/>
                  </a:lnTo>
                  <a:lnTo>
                    <a:pt x="184518" y="987488"/>
                  </a:lnTo>
                  <a:lnTo>
                    <a:pt x="184518" y="1056005"/>
                  </a:lnTo>
                  <a:lnTo>
                    <a:pt x="152438" y="1066292"/>
                  </a:lnTo>
                  <a:lnTo>
                    <a:pt x="137414" y="1019810"/>
                  </a:lnTo>
                  <a:lnTo>
                    <a:pt x="169494" y="1009396"/>
                  </a:lnTo>
                  <a:lnTo>
                    <a:pt x="184518" y="1056005"/>
                  </a:lnTo>
                  <a:lnTo>
                    <a:pt x="184518" y="987488"/>
                  </a:lnTo>
                  <a:lnTo>
                    <a:pt x="174180" y="981964"/>
                  </a:lnTo>
                  <a:lnTo>
                    <a:pt x="166027" y="996950"/>
                  </a:lnTo>
                  <a:lnTo>
                    <a:pt x="132207" y="1007745"/>
                  </a:lnTo>
                  <a:lnTo>
                    <a:pt x="107835" y="1004570"/>
                  </a:lnTo>
                  <a:lnTo>
                    <a:pt x="111975" y="1015746"/>
                  </a:lnTo>
                  <a:lnTo>
                    <a:pt x="117386" y="1031328"/>
                  </a:lnTo>
                  <a:lnTo>
                    <a:pt x="132981" y="1078738"/>
                  </a:lnTo>
                  <a:lnTo>
                    <a:pt x="153695" y="1143000"/>
                  </a:lnTo>
                  <a:lnTo>
                    <a:pt x="162991" y="1186942"/>
                  </a:lnTo>
                  <a:lnTo>
                    <a:pt x="164731" y="1220000"/>
                  </a:lnTo>
                  <a:lnTo>
                    <a:pt x="163144" y="1238173"/>
                  </a:lnTo>
                  <a:lnTo>
                    <a:pt x="159918" y="1257427"/>
                  </a:lnTo>
                  <a:lnTo>
                    <a:pt x="167144" y="1260348"/>
                  </a:lnTo>
                  <a:lnTo>
                    <a:pt x="173990" y="1245298"/>
                  </a:lnTo>
                  <a:lnTo>
                    <a:pt x="178892" y="1230249"/>
                  </a:lnTo>
                  <a:lnTo>
                    <a:pt x="178955" y="1230058"/>
                  </a:lnTo>
                  <a:lnTo>
                    <a:pt x="182029" y="1214628"/>
                  </a:lnTo>
                  <a:lnTo>
                    <a:pt x="182930" y="1202931"/>
                  </a:lnTo>
                  <a:lnTo>
                    <a:pt x="182943" y="1183411"/>
                  </a:lnTo>
                  <a:lnTo>
                    <a:pt x="181571" y="1168196"/>
                  </a:lnTo>
                  <a:lnTo>
                    <a:pt x="179120" y="1153350"/>
                  </a:lnTo>
                  <a:lnTo>
                    <a:pt x="175653" y="1139024"/>
                  </a:lnTo>
                  <a:lnTo>
                    <a:pt x="175602" y="1138809"/>
                  </a:lnTo>
                  <a:lnTo>
                    <a:pt x="207860" y="1128395"/>
                  </a:lnTo>
                  <a:lnTo>
                    <a:pt x="229311" y="1194943"/>
                  </a:lnTo>
                  <a:lnTo>
                    <a:pt x="231508" y="1201674"/>
                  </a:lnTo>
                  <a:lnTo>
                    <a:pt x="195122" y="1214374"/>
                  </a:lnTo>
                  <a:lnTo>
                    <a:pt x="198501" y="1224915"/>
                  </a:lnTo>
                  <a:lnTo>
                    <a:pt x="209613" y="1225143"/>
                  </a:lnTo>
                  <a:lnTo>
                    <a:pt x="219125" y="1227150"/>
                  </a:lnTo>
                  <a:lnTo>
                    <a:pt x="227050" y="1230960"/>
                  </a:lnTo>
                  <a:lnTo>
                    <a:pt x="233375" y="1236599"/>
                  </a:lnTo>
                  <a:lnTo>
                    <a:pt x="240614" y="1230249"/>
                  </a:lnTo>
                  <a:lnTo>
                    <a:pt x="246291" y="1224470"/>
                  </a:lnTo>
                  <a:lnTo>
                    <a:pt x="250367" y="1219276"/>
                  </a:lnTo>
                  <a:lnTo>
                    <a:pt x="252882" y="1214628"/>
                  </a:lnTo>
                  <a:lnTo>
                    <a:pt x="255168" y="1208786"/>
                  </a:lnTo>
                  <a:lnTo>
                    <a:pt x="254838" y="1202931"/>
                  </a:lnTo>
                  <a:lnTo>
                    <a:pt x="254736" y="1201039"/>
                  </a:lnTo>
                  <a:lnTo>
                    <a:pt x="231305" y="1128395"/>
                  </a:lnTo>
                  <a:lnTo>
                    <a:pt x="230657" y="1126363"/>
                  </a:lnTo>
                  <a:lnTo>
                    <a:pt x="219621" y="1092149"/>
                  </a:lnTo>
                  <a:lnTo>
                    <a:pt x="221284" y="1092835"/>
                  </a:lnTo>
                  <a:lnTo>
                    <a:pt x="226606" y="1078992"/>
                  </a:lnTo>
                  <a:lnTo>
                    <a:pt x="229882" y="1067727"/>
                  </a:lnTo>
                  <a:lnTo>
                    <a:pt x="231076" y="1059091"/>
                  </a:lnTo>
                  <a:lnTo>
                    <a:pt x="230212" y="1053084"/>
                  </a:lnTo>
                  <a:lnTo>
                    <a:pt x="274688" y="1191006"/>
                  </a:lnTo>
                  <a:lnTo>
                    <a:pt x="279654" y="1200734"/>
                  </a:lnTo>
                  <a:lnTo>
                    <a:pt x="287032" y="1206449"/>
                  </a:lnTo>
                  <a:lnTo>
                    <a:pt x="296799" y="1208151"/>
                  </a:lnTo>
                  <a:lnTo>
                    <a:pt x="308965" y="1205865"/>
                  </a:lnTo>
                  <a:lnTo>
                    <a:pt x="366395" y="1187323"/>
                  </a:lnTo>
                  <a:lnTo>
                    <a:pt x="405244" y="1173734"/>
                  </a:lnTo>
                  <a:lnTo>
                    <a:pt x="418172" y="1159002"/>
                  </a:lnTo>
                  <a:lnTo>
                    <a:pt x="420535" y="1148334"/>
                  </a:lnTo>
                  <a:close/>
                </a:path>
                <a:path w="3300729" h="1596389">
                  <a:moveTo>
                    <a:pt x="3300692" y="23749"/>
                  </a:moveTo>
                  <a:lnTo>
                    <a:pt x="3284944" y="0"/>
                  </a:lnTo>
                  <a:lnTo>
                    <a:pt x="975880" y="1539379"/>
                  </a:lnTo>
                  <a:lnTo>
                    <a:pt x="996276" y="1497584"/>
                  </a:lnTo>
                  <a:lnTo>
                    <a:pt x="999705" y="1490599"/>
                  </a:lnTo>
                  <a:lnTo>
                    <a:pt x="996784" y="1481963"/>
                  </a:lnTo>
                  <a:lnTo>
                    <a:pt x="982687" y="1475105"/>
                  </a:lnTo>
                  <a:lnTo>
                    <a:pt x="974051" y="1478026"/>
                  </a:lnTo>
                  <a:lnTo>
                    <a:pt x="970622" y="1485138"/>
                  </a:lnTo>
                  <a:lnTo>
                    <a:pt x="916266" y="1596263"/>
                  </a:lnTo>
                  <a:lnTo>
                    <a:pt x="980173" y="1592453"/>
                  </a:lnTo>
                  <a:lnTo>
                    <a:pt x="1047711" y="1588389"/>
                  </a:lnTo>
                  <a:lnTo>
                    <a:pt x="1053680" y="1581658"/>
                  </a:lnTo>
                  <a:lnTo>
                    <a:pt x="1052677" y="1566291"/>
                  </a:lnTo>
                  <a:lnTo>
                    <a:pt x="1052664" y="1565910"/>
                  </a:lnTo>
                  <a:lnTo>
                    <a:pt x="1045933" y="1559814"/>
                  </a:lnTo>
                  <a:lnTo>
                    <a:pt x="991768" y="1563116"/>
                  </a:lnTo>
                  <a:lnTo>
                    <a:pt x="947762" y="1592453"/>
                  </a:lnTo>
                  <a:lnTo>
                    <a:pt x="956132" y="1586865"/>
                  </a:lnTo>
                  <a:lnTo>
                    <a:pt x="991768" y="1563116"/>
                  </a:lnTo>
                  <a:lnTo>
                    <a:pt x="3300692" y="23749"/>
                  </a:lnTo>
                  <a:close/>
                </a:path>
              </a:pathLst>
            </a:custGeom>
            <a:solidFill>
              <a:srgbClr val="FFFF00"/>
            </a:solidFill>
          </p:spPr>
          <p:txBody>
            <a:bodyPr wrap="square" lIns="0" tIns="0" rIns="0" bIns="0" rtlCol="0"/>
            <a:lstStyle>
              <a:defPPr>
                <a:defRPr kern="0"/>
              </a:defPPr>
            </a:lstStyle>
            <a:p>
              <a:endParaRPr/>
            </a:p>
          </p:txBody>
        </p:sp>
        <p:sp>
          <p:nvSpPr>
            <p:cNvPr id="16" name="object 12">
              <a:extLst>
                <a:ext uri="{FF2B5EF4-FFF2-40B4-BE49-F238E27FC236}">
                  <a16:creationId xmlns:a16="http://schemas.microsoft.com/office/drawing/2014/main" id="{F17CA32A-1DC4-FC55-B592-6EF8FD78D202}"/>
                </a:ext>
              </a:extLst>
            </p:cNvPr>
            <p:cNvSpPr/>
            <p:nvPr/>
          </p:nvSpPr>
          <p:spPr>
            <a:xfrm>
              <a:off x="5219700" y="4544529"/>
              <a:ext cx="3780154" cy="1656080"/>
            </a:xfrm>
            <a:custGeom>
              <a:avLst/>
              <a:gdLst/>
              <a:ahLst/>
              <a:cxnLst/>
              <a:rect l="l" t="t" r="r" b="b"/>
              <a:pathLst>
                <a:path w="3780154" h="1656079">
                  <a:moveTo>
                    <a:pt x="3779901" y="594677"/>
                  </a:moveTo>
                  <a:lnTo>
                    <a:pt x="2665476" y="594677"/>
                  </a:lnTo>
                  <a:lnTo>
                    <a:pt x="2665476" y="0"/>
                  </a:lnTo>
                  <a:lnTo>
                    <a:pt x="215900" y="0"/>
                  </a:lnTo>
                  <a:lnTo>
                    <a:pt x="215900" y="594677"/>
                  </a:lnTo>
                  <a:lnTo>
                    <a:pt x="0" y="594677"/>
                  </a:lnTo>
                  <a:lnTo>
                    <a:pt x="0" y="1548765"/>
                  </a:lnTo>
                  <a:lnTo>
                    <a:pt x="215900" y="1548765"/>
                  </a:lnTo>
                  <a:lnTo>
                    <a:pt x="215900" y="1655826"/>
                  </a:lnTo>
                  <a:lnTo>
                    <a:pt x="2665476" y="1655826"/>
                  </a:lnTo>
                  <a:lnTo>
                    <a:pt x="2665476" y="1548765"/>
                  </a:lnTo>
                  <a:lnTo>
                    <a:pt x="3779901" y="1548765"/>
                  </a:lnTo>
                  <a:lnTo>
                    <a:pt x="3779901" y="594677"/>
                  </a:lnTo>
                  <a:close/>
                </a:path>
              </a:pathLst>
            </a:custGeom>
            <a:solidFill>
              <a:srgbClr val="FFFFFF"/>
            </a:solidFill>
          </p:spPr>
          <p:txBody>
            <a:bodyPr wrap="square" lIns="0" tIns="0" rIns="0" bIns="0" rtlCol="0"/>
            <a:lstStyle>
              <a:defPPr>
                <a:defRPr kern="0"/>
              </a:defPPr>
            </a:lstStyle>
            <a:p>
              <a:endParaRPr/>
            </a:p>
          </p:txBody>
        </p:sp>
      </p:grpSp>
      <p:sp>
        <p:nvSpPr>
          <p:cNvPr id="11" name="object 13">
            <a:extLst>
              <a:ext uri="{FF2B5EF4-FFF2-40B4-BE49-F238E27FC236}">
                <a16:creationId xmlns:a16="http://schemas.microsoft.com/office/drawing/2014/main" id="{F2A76154-95CC-C6EF-875E-09EE3F393924}"/>
              </a:ext>
            </a:extLst>
          </p:cNvPr>
          <p:cNvSpPr txBox="1"/>
          <p:nvPr/>
        </p:nvSpPr>
        <p:spPr>
          <a:xfrm>
            <a:off x="5349747" y="5207495"/>
            <a:ext cx="3591560" cy="860425"/>
          </a:xfrm>
          <a:prstGeom prst="rect">
            <a:avLst/>
          </a:prstGeom>
        </p:spPr>
        <p:txBody>
          <a:bodyPr vert="horz" wrap="square" lIns="0" tIns="40640" rIns="0" bIns="0" rtlCol="0">
            <a:spAutoFit/>
          </a:bodyPr>
          <a:lstStyle>
            <a:defPPr>
              <a:defRPr kern="0"/>
            </a:defPPr>
          </a:lstStyle>
          <a:p>
            <a:pPr marL="12700" marR="5080">
              <a:lnSpc>
                <a:spcPts val="3220"/>
              </a:lnSpc>
              <a:spcBef>
                <a:spcPts val="320"/>
              </a:spcBef>
            </a:pPr>
            <a:r>
              <a:rPr sz="2800" b="1" spc="-30" dirty="0">
                <a:solidFill>
                  <a:srgbClr val="FF3300"/>
                </a:solidFill>
                <a:latin typeface="Microsoft JhengHei"/>
                <a:cs typeface="Microsoft JhengHei"/>
              </a:rPr>
              <a:t>裸子植物管胞</a:t>
            </a:r>
            <a:r>
              <a:rPr sz="2800" b="1" spc="-30" dirty="0">
                <a:latin typeface="Microsoft JhengHei"/>
                <a:cs typeface="Microsoft JhengHei"/>
              </a:rPr>
              <a:t>上常可见成串的具缘纹孔</a:t>
            </a:r>
            <a:endParaRPr sz="2800" dirty="0">
              <a:latin typeface="Microsoft JhengHei"/>
              <a:cs typeface="Microsoft JhengHei"/>
            </a:endParaRPr>
          </a:p>
        </p:txBody>
      </p:sp>
      <p:sp>
        <p:nvSpPr>
          <p:cNvPr id="12" name="object 14">
            <a:extLst>
              <a:ext uri="{FF2B5EF4-FFF2-40B4-BE49-F238E27FC236}">
                <a16:creationId xmlns:a16="http://schemas.microsoft.com/office/drawing/2014/main" id="{3CF1190A-89B2-F51F-F75E-D7070CDC0423}"/>
              </a:ext>
            </a:extLst>
          </p:cNvPr>
          <p:cNvSpPr txBox="1"/>
          <p:nvPr/>
        </p:nvSpPr>
        <p:spPr>
          <a:xfrm>
            <a:off x="1100861" y="6483807"/>
            <a:ext cx="140652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b="1" spc="-10" dirty="0">
                <a:latin typeface="Microsoft JhengHei"/>
                <a:cs typeface="Microsoft JhengHei"/>
              </a:rPr>
              <a:t>松茎径向切面</a:t>
            </a:r>
            <a:endParaRPr sz="1800" dirty="0">
              <a:latin typeface="Microsoft JhengHei"/>
              <a:cs typeface="Microsoft JhengHei"/>
            </a:endParaRPr>
          </a:p>
        </p:txBody>
      </p:sp>
      <p:sp>
        <p:nvSpPr>
          <p:cNvPr id="13" name="object 15">
            <a:extLst>
              <a:ext uri="{FF2B5EF4-FFF2-40B4-BE49-F238E27FC236}">
                <a16:creationId xmlns:a16="http://schemas.microsoft.com/office/drawing/2014/main" id="{8EFF0D1F-AA9F-798E-3133-679CBB852162}"/>
              </a:ext>
            </a:extLst>
          </p:cNvPr>
          <p:cNvSpPr txBox="1"/>
          <p:nvPr/>
        </p:nvSpPr>
        <p:spPr>
          <a:xfrm>
            <a:off x="6108699" y="4411027"/>
            <a:ext cx="1854200" cy="3003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20" dirty="0">
                <a:latin typeface="SimSun"/>
                <a:cs typeface="SimSun"/>
              </a:rPr>
              <a:t>松茎木材立体模型</a:t>
            </a:r>
            <a:endParaRPr sz="1800">
              <a:latin typeface="SimSun"/>
              <a:cs typeface="SimSun"/>
            </a:endParaRPr>
          </a:p>
        </p:txBody>
      </p:sp>
    </p:spTree>
    <p:extLst>
      <p:ext uri="{BB962C8B-B14F-4D97-AF65-F5344CB8AC3E}">
        <p14:creationId xmlns:p14="http://schemas.microsoft.com/office/powerpoint/2010/main" val="3286900657"/>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object 4">
            <a:extLst>
              <a:ext uri="{FF2B5EF4-FFF2-40B4-BE49-F238E27FC236}">
                <a16:creationId xmlns:a16="http://schemas.microsoft.com/office/drawing/2014/main" id="{8CF34407-3245-4286-0904-CFEE0FF32AA4}"/>
              </a:ext>
            </a:extLst>
          </p:cNvPr>
          <p:cNvPicPr/>
          <p:nvPr/>
        </p:nvPicPr>
        <p:blipFill>
          <a:blip r:embed="rId2" cstate="print"/>
          <a:stretch>
            <a:fillRect/>
          </a:stretch>
        </p:blipFill>
        <p:spPr>
          <a:xfrm>
            <a:off x="89218" y="845108"/>
            <a:ext cx="2343912" cy="4464939"/>
          </a:xfrm>
          <a:prstGeom prst="rect">
            <a:avLst/>
          </a:prstGeom>
        </p:spPr>
      </p:pic>
      <p:pic>
        <p:nvPicPr>
          <p:cNvPr id="27" name="object 5">
            <a:extLst>
              <a:ext uri="{FF2B5EF4-FFF2-40B4-BE49-F238E27FC236}">
                <a16:creationId xmlns:a16="http://schemas.microsoft.com/office/drawing/2014/main" id="{3D07FB51-0B88-3BDA-D2B2-1EF640ECD8E2}"/>
              </a:ext>
            </a:extLst>
          </p:cNvPr>
          <p:cNvPicPr/>
          <p:nvPr/>
        </p:nvPicPr>
        <p:blipFill>
          <a:blip r:embed="rId3" cstate="print"/>
          <a:stretch>
            <a:fillRect/>
          </a:stretch>
        </p:blipFill>
        <p:spPr>
          <a:xfrm>
            <a:off x="1204849" y="845108"/>
            <a:ext cx="2448306" cy="2229866"/>
          </a:xfrm>
          <a:prstGeom prst="rect">
            <a:avLst/>
          </a:prstGeom>
        </p:spPr>
      </p:pic>
      <p:pic>
        <p:nvPicPr>
          <p:cNvPr id="28" name="object 6">
            <a:extLst>
              <a:ext uri="{FF2B5EF4-FFF2-40B4-BE49-F238E27FC236}">
                <a16:creationId xmlns:a16="http://schemas.microsoft.com/office/drawing/2014/main" id="{20652A26-BE17-61AF-A775-03EA00443CA7}"/>
              </a:ext>
            </a:extLst>
          </p:cNvPr>
          <p:cNvPicPr/>
          <p:nvPr/>
        </p:nvPicPr>
        <p:blipFill>
          <a:blip r:embed="rId4" cstate="print"/>
          <a:stretch>
            <a:fillRect/>
          </a:stretch>
        </p:blipFill>
        <p:spPr>
          <a:xfrm>
            <a:off x="6717526" y="825040"/>
            <a:ext cx="2336800" cy="2278126"/>
          </a:xfrm>
          <a:prstGeom prst="rect">
            <a:avLst/>
          </a:prstGeom>
        </p:spPr>
      </p:pic>
      <p:pic>
        <p:nvPicPr>
          <p:cNvPr id="29" name="object 7">
            <a:extLst>
              <a:ext uri="{FF2B5EF4-FFF2-40B4-BE49-F238E27FC236}">
                <a16:creationId xmlns:a16="http://schemas.microsoft.com/office/drawing/2014/main" id="{10E6CA60-5DEA-6BCB-E38D-D3BF0DA3D36F}"/>
              </a:ext>
            </a:extLst>
          </p:cNvPr>
          <p:cNvPicPr/>
          <p:nvPr/>
        </p:nvPicPr>
        <p:blipFill>
          <a:blip r:embed="rId5" cstate="print"/>
          <a:stretch>
            <a:fillRect/>
          </a:stretch>
        </p:blipFill>
        <p:spPr>
          <a:xfrm>
            <a:off x="3725152" y="1191"/>
            <a:ext cx="1686560" cy="3489325"/>
          </a:xfrm>
          <a:prstGeom prst="rect">
            <a:avLst/>
          </a:prstGeom>
        </p:spPr>
      </p:pic>
      <p:sp>
        <p:nvSpPr>
          <p:cNvPr id="30" name="object 8">
            <a:extLst>
              <a:ext uri="{FF2B5EF4-FFF2-40B4-BE49-F238E27FC236}">
                <a16:creationId xmlns:a16="http://schemas.microsoft.com/office/drawing/2014/main" id="{5A947174-9C2E-391E-BD7C-F2925302F544}"/>
              </a:ext>
            </a:extLst>
          </p:cNvPr>
          <p:cNvSpPr/>
          <p:nvPr/>
        </p:nvSpPr>
        <p:spPr>
          <a:xfrm>
            <a:off x="3696577" y="-27384"/>
            <a:ext cx="1786255" cy="3546475"/>
          </a:xfrm>
          <a:custGeom>
            <a:avLst/>
            <a:gdLst/>
            <a:ahLst/>
            <a:cxnLst/>
            <a:rect l="l" t="t" r="r" b="b"/>
            <a:pathLst>
              <a:path w="1786254" h="3546475">
                <a:moveTo>
                  <a:pt x="0" y="3546475"/>
                </a:moveTo>
                <a:lnTo>
                  <a:pt x="1785874" y="3546475"/>
                </a:lnTo>
                <a:lnTo>
                  <a:pt x="1785874" y="0"/>
                </a:lnTo>
                <a:lnTo>
                  <a:pt x="0" y="0"/>
                </a:lnTo>
                <a:lnTo>
                  <a:pt x="0" y="3546475"/>
                </a:lnTo>
                <a:close/>
              </a:path>
            </a:pathLst>
          </a:custGeom>
          <a:ln w="57150">
            <a:solidFill>
              <a:srgbClr val="FFFF00"/>
            </a:solidFill>
          </a:ln>
        </p:spPr>
        <p:txBody>
          <a:bodyPr wrap="square" lIns="0" tIns="0" rIns="0" bIns="0" rtlCol="0"/>
          <a:lstStyle>
            <a:defPPr>
              <a:defRPr kern="0"/>
            </a:defPPr>
          </a:lstStyle>
          <a:p>
            <a:endParaRPr/>
          </a:p>
        </p:txBody>
      </p:sp>
      <p:sp>
        <p:nvSpPr>
          <p:cNvPr id="31" name="object 9">
            <a:extLst>
              <a:ext uri="{FF2B5EF4-FFF2-40B4-BE49-F238E27FC236}">
                <a16:creationId xmlns:a16="http://schemas.microsoft.com/office/drawing/2014/main" id="{80C27FF3-CED1-7054-7AB8-37157DB1B7D7}"/>
              </a:ext>
            </a:extLst>
          </p:cNvPr>
          <p:cNvSpPr/>
          <p:nvPr/>
        </p:nvSpPr>
        <p:spPr>
          <a:xfrm>
            <a:off x="4804652" y="1252281"/>
            <a:ext cx="1735455" cy="588010"/>
          </a:xfrm>
          <a:custGeom>
            <a:avLst/>
            <a:gdLst/>
            <a:ahLst/>
            <a:cxnLst/>
            <a:rect l="l" t="t" r="r" b="b"/>
            <a:pathLst>
              <a:path w="1735454" h="588010">
                <a:moveTo>
                  <a:pt x="1735137" y="0"/>
                </a:moveTo>
                <a:lnTo>
                  <a:pt x="504825" y="0"/>
                </a:lnTo>
                <a:lnTo>
                  <a:pt x="504825" y="345579"/>
                </a:lnTo>
                <a:lnTo>
                  <a:pt x="205689" y="442468"/>
                </a:lnTo>
                <a:lnTo>
                  <a:pt x="182245" y="370014"/>
                </a:lnTo>
                <a:lnTo>
                  <a:pt x="0" y="549084"/>
                </a:lnTo>
                <a:lnTo>
                  <a:pt x="252603" y="587438"/>
                </a:lnTo>
                <a:lnTo>
                  <a:pt x="232956" y="526732"/>
                </a:lnTo>
                <a:lnTo>
                  <a:pt x="229158" y="514997"/>
                </a:lnTo>
                <a:lnTo>
                  <a:pt x="504825" y="425704"/>
                </a:lnTo>
                <a:lnTo>
                  <a:pt x="504825" y="461962"/>
                </a:lnTo>
                <a:lnTo>
                  <a:pt x="1735137" y="461962"/>
                </a:lnTo>
                <a:lnTo>
                  <a:pt x="1735137" y="0"/>
                </a:lnTo>
                <a:close/>
              </a:path>
            </a:pathLst>
          </a:custGeom>
          <a:solidFill>
            <a:srgbClr val="FF0000"/>
          </a:solidFill>
        </p:spPr>
        <p:txBody>
          <a:bodyPr wrap="square" lIns="0" tIns="0" rIns="0" bIns="0" rtlCol="0"/>
          <a:lstStyle>
            <a:defPPr>
              <a:defRPr kern="0"/>
            </a:defPPr>
          </a:lstStyle>
          <a:p>
            <a:endParaRPr/>
          </a:p>
        </p:txBody>
      </p:sp>
      <p:sp>
        <p:nvSpPr>
          <p:cNvPr id="32" name="object 10">
            <a:extLst>
              <a:ext uri="{FF2B5EF4-FFF2-40B4-BE49-F238E27FC236}">
                <a16:creationId xmlns:a16="http://schemas.microsoft.com/office/drawing/2014/main" id="{29C8FB93-60C3-3FA0-51EB-6646DC1C138F}"/>
              </a:ext>
            </a:extLst>
          </p:cNvPr>
          <p:cNvSpPr/>
          <p:nvPr/>
        </p:nvSpPr>
        <p:spPr>
          <a:xfrm>
            <a:off x="4305034" y="728977"/>
            <a:ext cx="471805" cy="887730"/>
          </a:xfrm>
          <a:custGeom>
            <a:avLst/>
            <a:gdLst/>
            <a:ahLst/>
            <a:cxnLst/>
            <a:rect l="l" t="t" r="r" b="b"/>
            <a:pathLst>
              <a:path w="471804" h="887729">
                <a:moveTo>
                  <a:pt x="161925" y="629919"/>
                </a:moveTo>
                <a:lnTo>
                  <a:pt x="167403" y="646429"/>
                </a:lnTo>
                <a:lnTo>
                  <a:pt x="173751" y="668019"/>
                </a:lnTo>
                <a:lnTo>
                  <a:pt x="180980" y="692149"/>
                </a:lnTo>
                <a:lnTo>
                  <a:pt x="189102" y="720089"/>
                </a:lnTo>
                <a:lnTo>
                  <a:pt x="196744" y="748029"/>
                </a:lnTo>
                <a:lnTo>
                  <a:pt x="202707" y="769619"/>
                </a:lnTo>
                <a:lnTo>
                  <a:pt x="211077" y="807719"/>
                </a:lnTo>
                <a:lnTo>
                  <a:pt x="213482" y="834389"/>
                </a:lnTo>
                <a:lnTo>
                  <a:pt x="213388" y="848359"/>
                </a:lnTo>
                <a:lnTo>
                  <a:pt x="212550" y="858519"/>
                </a:lnTo>
                <a:lnTo>
                  <a:pt x="210774" y="871219"/>
                </a:lnTo>
                <a:lnTo>
                  <a:pt x="208152" y="886459"/>
                </a:lnTo>
                <a:lnTo>
                  <a:pt x="216788" y="887729"/>
                </a:lnTo>
                <a:lnTo>
                  <a:pt x="224627" y="871219"/>
                </a:lnTo>
                <a:lnTo>
                  <a:pt x="230060" y="853439"/>
                </a:lnTo>
                <a:lnTo>
                  <a:pt x="233112" y="838199"/>
                </a:lnTo>
                <a:lnTo>
                  <a:pt x="233806" y="822959"/>
                </a:lnTo>
                <a:lnTo>
                  <a:pt x="232925" y="807719"/>
                </a:lnTo>
                <a:lnTo>
                  <a:pt x="231235" y="793749"/>
                </a:lnTo>
                <a:lnTo>
                  <a:pt x="228734" y="779779"/>
                </a:lnTo>
                <a:lnTo>
                  <a:pt x="225425" y="767079"/>
                </a:lnTo>
                <a:lnTo>
                  <a:pt x="255650" y="758189"/>
                </a:lnTo>
                <a:lnTo>
                  <a:pt x="278898" y="758189"/>
                </a:lnTo>
                <a:lnTo>
                  <a:pt x="277815" y="754379"/>
                </a:lnTo>
                <a:lnTo>
                  <a:pt x="221868" y="754379"/>
                </a:lnTo>
                <a:lnTo>
                  <a:pt x="207517" y="703579"/>
                </a:lnTo>
                <a:lnTo>
                  <a:pt x="237743" y="695959"/>
                </a:lnTo>
                <a:lnTo>
                  <a:pt x="261212" y="695959"/>
                </a:lnTo>
                <a:lnTo>
                  <a:pt x="259768" y="690879"/>
                </a:lnTo>
                <a:lnTo>
                  <a:pt x="203962" y="690879"/>
                </a:lnTo>
                <a:lnTo>
                  <a:pt x="190626" y="643889"/>
                </a:lnTo>
                <a:lnTo>
                  <a:pt x="220725" y="636269"/>
                </a:lnTo>
                <a:lnTo>
                  <a:pt x="244247" y="636269"/>
                </a:lnTo>
                <a:lnTo>
                  <a:pt x="243164" y="632459"/>
                </a:lnTo>
                <a:lnTo>
                  <a:pt x="184657" y="632459"/>
                </a:lnTo>
                <a:lnTo>
                  <a:pt x="161925" y="629919"/>
                </a:lnTo>
                <a:close/>
              </a:path>
              <a:path w="471804" h="887729">
                <a:moveTo>
                  <a:pt x="278898" y="758189"/>
                </a:moveTo>
                <a:lnTo>
                  <a:pt x="255650" y="758189"/>
                </a:lnTo>
                <a:lnTo>
                  <a:pt x="275463" y="828039"/>
                </a:lnTo>
                <a:lnTo>
                  <a:pt x="277113" y="834389"/>
                </a:lnTo>
                <a:lnTo>
                  <a:pt x="276776" y="836636"/>
                </a:lnTo>
                <a:lnTo>
                  <a:pt x="276732" y="836929"/>
                </a:lnTo>
                <a:lnTo>
                  <a:pt x="274192" y="838199"/>
                </a:lnTo>
                <a:lnTo>
                  <a:pt x="270545" y="838199"/>
                </a:lnTo>
                <a:lnTo>
                  <a:pt x="263588" y="839469"/>
                </a:lnTo>
                <a:lnTo>
                  <a:pt x="253297" y="840739"/>
                </a:lnTo>
                <a:lnTo>
                  <a:pt x="239649" y="843279"/>
                </a:lnTo>
                <a:lnTo>
                  <a:pt x="242569" y="853439"/>
                </a:lnTo>
                <a:lnTo>
                  <a:pt x="256262" y="854709"/>
                </a:lnTo>
                <a:lnTo>
                  <a:pt x="266668" y="858519"/>
                </a:lnTo>
                <a:lnTo>
                  <a:pt x="273788" y="863599"/>
                </a:lnTo>
                <a:lnTo>
                  <a:pt x="277621" y="869949"/>
                </a:lnTo>
                <a:lnTo>
                  <a:pt x="290002" y="861059"/>
                </a:lnTo>
                <a:lnTo>
                  <a:pt x="297418" y="850899"/>
                </a:lnTo>
                <a:lnTo>
                  <a:pt x="299856" y="838199"/>
                </a:lnTo>
                <a:lnTo>
                  <a:pt x="299779" y="837737"/>
                </a:lnTo>
                <a:lnTo>
                  <a:pt x="298576" y="836929"/>
                </a:lnTo>
                <a:lnTo>
                  <a:pt x="299595" y="836636"/>
                </a:lnTo>
                <a:lnTo>
                  <a:pt x="297306" y="822959"/>
                </a:lnTo>
                <a:lnTo>
                  <a:pt x="278898" y="758189"/>
                </a:lnTo>
                <a:close/>
              </a:path>
              <a:path w="471804" h="887729">
                <a:moveTo>
                  <a:pt x="368317" y="744219"/>
                </a:moveTo>
                <a:lnTo>
                  <a:pt x="343915" y="744219"/>
                </a:lnTo>
                <a:lnTo>
                  <a:pt x="364743" y="817879"/>
                </a:lnTo>
                <a:lnTo>
                  <a:pt x="299595" y="836636"/>
                </a:lnTo>
                <a:lnTo>
                  <a:pt x="299779" y="837737"/>
                </a:lnTo>
                <a:lnTo>
                  <a:pt x="315594" y="848359"/>
                </a:lnTo>
                <a:lnTo>
                  <a:pt x="322071" y="845819"/>
                </a:lnTo>
                <a:lnTo>
                  <a:pt x="328739" y="842009"/>
                </a:lnTo>
                <a:lnTo>
                  <a:pt x="335597" y="839469"/>
                </a:lnTo>
                <a:lnTo>
                  <a:pt x="342645" y="838199"/>
                </a:lnTo>
                <a:lnTo>
                  <a:pt x="436174" y="811529"/>
                </a:lnTo>
                <a:lnTo>
                  <a:pt x="387350" y="811529"/>
                </a:lnTo>
                <a:lnTo>
                  <a:pt x="368317" y="744219"/>
                </a:lnTo>
                <a:close/>
              </a:path>
              <a:path w="471804" h="887729">
                <a:moveTo>
                  <a:pt x="299595" y="836636"/>
                </a:moveTo>
                <a:lnTo>
                  <a:pt x="298576" y="836929"/>
                </a:lnTo>
                <a:lnTo>
                  <a:pt x="299779" y="837737"/>
                </a:lnTo>
                <a:lnTo>
                  <a:pt x="299644" y="836929"/>
                </a:lnTo>
                <a:lnTo>
                  <a:pt x="299595" y="836636"/>
                </a:lnTo>
                <a:close/>
              </a:path>
              <a:path w="471804" h="887729">
                <a:moveTo>
                  <a:pt x="438784" y="778509"/>
                </a:moveTo>
                <a:lnTo>
                  <a:pt x="425957" y="800099"/>
                </a:lnTo>
                <a:lnTo>
                  <a:pt x="387350" y="811529"/>
                </a:lnTo>
                <a:lnTo>
                  <a:pt x="436174" y="811529"/>
                </a:lnTo>
                <a:lnTo>
                  <a:pt x="471804" y="801369"/>
                </a:lnTo>
                <a:lnTo>
                  <a:pt x="438784" y="778509"/>
                </a:lnTo>
                <a:close/>
              </a:path>
              <a:path w="471804" h="887729">
                <a:moveTo>
                  <a:pt x="394334" y="699769"/>
                </a:moveTo>
                <a:lnTo>
                  <a:pt x="383413" y="720089"/>
                </a:lnTo>
                <a:lnTo>
                  <a:pt x="289813" y="746759"/>
                </a:lnTo>
                <a:lnTo>
                  <a:pt x="306831" y="758189"/>
                </a:lnTo>
                <a:lnTo>
                  <a:pt x="313380" y="755649"/>
                </a:lnTo>
                <a:lnTo>
                  <a:pt x="320071" y="751839"/>
                </a:lnTo>
                <a:lnTo>
                  <a:pt x="333882" y="746759"/>
                </a:lnTo>
                <a:lnTo>
                  <a:pt x="343915" y="744219"/>
                </a:lnTo>
                <a:lnTo>
                  <a:pt x="368317" y="744219"/>
                </a:lnTo>
                <a:lnTo>
                  <a:pt x="366521" y="737869"/>
                </a:lnTo>
                <a:lnTo>
                  <a:pt x="424941" y="721359"/>
                </a:lnTo>
                <a:lnTo>
                  <a:pt x="394334" y="699769"/>
                </a:lnTo>
                <a:close/>
              </a:path>
              <a:path w="471804" h="887729">
                <a:moveTo>
                  <a:pt x="261212" y="695959"/>
                </a:moveTo>
                <a:lnTo>
                  <a:pt x="237743" y="695959"/>
                </a:lnTo>
                <a:lnTo>
                  <a:pt x="252094" y="745489"/>
                </a:lnTo>
                <a:lnTo>
                  <a:pt x="221868" y="754379"/>
                </a:lnTo>
                <a:lnTo>
                  <a:pt x="277815" y="754379"/>
                </a:lnTo>
                <a:lnTo>
                  <a:pt x="261212" y="695959"/>
                </a:lnTo>
                <a:close/>
              </a:path>
              <a:path w="471804" h="887729">
                <a:moveTo>
                  <a:pt x="303911" y="656589"/>
                </a:moveTo>
                <a:lnTo>
                  <a:pt x="299841" y="679449"/>
                </a:lnTo>
                <a:lnTo>
                  <a:pt x="293925" y="702309"/>
                </a:lnTo>
                <a:lnTo>
                  <a:pt x="286176" y="722629"/>
                </a:lnTo>
                <a:lnTo>
                  <a:pt x="276605" y="742949"/>
                </a:lnTo>
                <a:lnTo>
                  <a:pt x="283337" y="748029"/>
                </a:lnTo>
                <a:lnTo>
                  <a:pt x="308947" y="713739"/>
                </a:lnTo>
                <a:lnTo>
                  <a:pt x="319670" y="692149"/>
                </a:lnTo>
                <a:lnTo>
                  <a:pt x="324675" y="683259"/>
                </a:lnTo>
                <a:lnTo>
                  <a:pt x="329870" y="676909"/>
                </a:lnTo>
                <a:lnTo>
                  <a:pt x="335279" y="670559"/>
                </a:lnTo>
                <a:lnTo>
                  <a:pt x="303911" y="656589"/>
                </a:lnTo>
                <a:close/>
              </a:path>
              <a:path w="471804" h="887729">
                <a:moveTo>
                  <a:pt x="350900" y="650239"/>
                </a:moveTo>
                <a:lnTo>
                  <a:pt x="348741" y="659129"/>
                </a:lnTo>
                <a:lnTo>
                  <a:pt x="364743" y="668019"/>
                </a:lnTo>
                <a:lnTo>
                  <a:pt x="378078" y="675639"/>
                </a:lnTo>
                <a:lnTo>
                  <a:pt x="388746" y="683259"/>
                </a:lnTo>
                <a:lnTo>
                  <a:pt x="396747" y="690879"/>
                </a:lnTo>
                <a:lnTo>
                  <a:pt x="403987" y="699769"/>
                </a:lnTo>
                <a:lnTo>
                  <a:pt x="409955" y="703579"/>
                </a:lnTo>
                <a:lnTo>
                  <a:pt x="414527" y="702309"/>
                </a:lnTo>
                <a:lnTo>
                  <a:pt x="416432" y="702309"/>
                </a:lnTo>
                <a:lnTo>
                  <a:pt x="418083" y="699769"/>
                </a:lnTo>
                <a:lnTo>
                  <a:pt x="420877" y="692149"/>
                </a:lnTo>
                <a:lnTo>
                  <a:pt x="421386" y="687069"/>
                </a:lnTo>
                <a:lnTo>
                  <a:pt x="421004" y="683259"/>
                </a:lnTo>
                <a:lnTo>
                  <a:pt x="420877" y="681989"/>
                </a:lnTo>
                <a:lnTo>
                  <a:pt x="420782" y="680719"/>
                </a:lnTo>
                <a:lnTo>
                  <a:pt x="420687" y="679449"/>
                </a:lnTo>
                <a:lnTo>
                  <a:pt x="420592" y="678179"/>
                </a:lnTo>
                <a:lnTo>
                  <a:pt x="375830" y="655319"/>
                </a:lnTo>
                <a:lnTo>
                  <a:pt x="350900" y="650239"/>
                </a:lnTo>
                <a:close/>
              </a:path>
              <a:path w="471804" h="887729">
                <a:moveTo>
                  <a:pt x="244247" y="636269"/>
                </a:moveTo>
                <a:lnTo>
                  <a:pt x="220725" y="636269"/>
                </a:lnTo>
                <a:lnTo>
                  <a:pt x="234187" y="683259"/>
                </a:lnTo>
                <a:lnTo>
                  <a:pt x="203962" y="690879"/>
                </a:lnTo>
                <a:lnTo>
                  <a:pt x="259768" y="690879"/>
                </a:lnTo>
                <a:lnTo>
                  <a:pt x="244247" y="636269"/>
                </a:lnTo>
                <a:close/>
              </a:path>
              <a:path w="471804" h="887729">
                <a:moveTo>
                  <a:pt x="277494" y="617219"/>
                </a:moveTo>
                <a:lnTo>
                  <a:pt x="266572" y="621029"/>
                </a:lnTo>
                <a:lnTo>
                  <a:pt x="267575" y="632459"/>
                </a:lnTo>
                <a:lnTo>
                  <a:pt x="267541" y="642619"/>
                </a:lnTo>
                <a:lnTo>
                  <a:pt x="266483" y="651509"/>
                </a:lnTo>
                <a:lnTo>
                  <a:pt x="264413" y="659129"/>
                </a:lnTo>
                <a:lnTo>
                  <a:pt x="260857" y="668019"/>
                </a:lnTo>
                <a:lnTo>
                  <a:pt x="259587" y="674369"/>
                </a:lnTo>
                <a:lnTo>
                  <a:pt x="260476" y="676909"/>
                </a:lnTo>
                <a:lnTo>
                  <a:pt x="260984" y="678179"/>
                </a:lnTo>
                <a:lnTo>
                  <a:pt x="262381" y="680719"/>
                </a:lnTo>
                <a:lnTo>
                  <a:pt x="264667" y="681989"/>
                </a:lnTo>
                <a:lnTo>
                  <a:pt x="267080" y="684529"/>
                </a:lnTo>
                <a:lnTo>
                  <a:pt x="289813" y="660399"/>
                </a:lnTo>
                <a:lnTo>
                  <a:pt x="289432" y="656589"/>
                </a:lnTo>
                <a:lnTo>
                  <a:pt x="289305" y="655319"/>
                </a:lnTo>
                <a:lnTo>
                  <a:pt x="289178" y="654049"/>
                </a:lnTo>
                <a:lnTo>
                  <a:pt x="287146" y="646429"/>
                </a:lnTo>
                <a:lnTo>
                  <a:pt x="331481" y="633729"/>
                </a:lnTo>
                <a:lnTo>
                  <a:pt x="283337" y="633729"/>
                </a:lnTo>
                <a:lnTo>
                  <a:pt x="277494" y="617219"/>
                </a:lnTo>
                <a:close/>
              </a:path>
              <a:path w="471804" h="887729">
                <a:moveTo>
                  <a:pt x="407267" y="618489"/>
                </a:moveTo>
                <a:lnTo>
                  <a:pt x="384682" y="618489"/>
                </a:lnTo>
                <a:lnTo>
                  <a:pt x="379729" y="648969"/>
                </a:lnTo>
                <a:lnTo>
                  <a:pt x="388619" y="650239"/>
                </a:lnTo>
                <a:lnTo>
                  <a:pt x="395950" y="633729"/>
                </a:lnTo>
                <a:lnTo>
                  <a:pt x="403447" y="622299"/>
                </a:lnTo>
                <a:lnTo>
                  <a:pt x="407267" y="618489"/>
                </a:lnTo>
                <a:close/>
              </a:path>
              <a:path w="471804" h="887729">
                <a:moveTo>
                  <a:pt x="322515" y="622579"/>
                </a:moveTo>
                <a:lnTo>
                  <a:pt x="283337" y="633729"/>
                </a:lnTo>
                <a:lnTo>
                  <a:pt x="331481" y="633729"/>
                </a:lnTo>
                <a:lnTo>
                  <a:pt x="358082" y="626109"/>
                </a:lnTo>
                <a:lnTo>
                  <a:pt x="326516" y="626109"/>
                </a:lnTo>
                <a:lnTo>
                  <a:pt x="322515" y="622579"/>
                </a:lnTo>
                <a:close/>
              </a:path>
              <a:path w="471804" h="887729">
                <a:moveTo>
                  <a:pt x="221868" y="608329"/>
                </a:moveTo>
                <a:lnTo>
                  <a:pt x="216280" y="623569"/>
                </a:lnTo>
                <a:lnTo>
                  <a:pt x="184657" y="632459"/>
                </a:lnTo>
                <a:lnTo>
                  <a:pt x="243164" y="632459"/>
                </a:lnTo>
                <a:lnTo>
                  <a:pt x="242442" y="629919"/>
                </a:lnTo>
                <a:lnTo>
                  <a:pt x="249174" y="619759"/>
                </a:lnTo>
                <a:lnTo>
                  <a:pt x="221868" y="608329"/>
                </a:lnTo>
                <a:close/>
              </a:path>
              <a:path w="471804" h="887729">
                <a:moveTo>
                  <a:pt x="389508" y="589279"/>
                </a:moveTo>
                <a:lnTo>
                  <a:pt x="381507" y="605789"/>
                </a:lnTo>
                <a:lnTo>
                  <a:pt x="322515" y="622579"/>
                </a:lnTo>
                <a:lnTo>
                  <a:pt x="326516" y="626109"/>
                </a:lnTo>
                <a:lnTo>
                  <a:pt x="331596" y="624839"/>
                </a:lnTo>
                <a:lnTo>
                  <a:pt x="333247" y="623569"/>
                </a:lnTo>
                <a:lnTo>
                  <a:pt x="335533" y="621029"/>
                </a:lnTo>
                <a:lnTo>
                  <a:pt x="337057" y="618489"/>
                </a:lnTo>
                <a:lnTo>
                  <a:pt x="407267" y="618489"/>
                </a:lnTo>
                <a:lnTo>
                  <a:pt x="411087" y="614679"/>
                </a:lnTo>
                <a:lnTo>
                  <a:pt x="418845" y="610869"/>
                </a:lnTo>
                <a:lnTo>
                  <a:pt x="389508" y="589279"/>
                </a:lnTo>
                <a:close/>
              </a:path>
              <a:path w="471804" h="887729">
                <a:moveTo>
                  <a:pt x="384682" y="618489"/>
                </a:moveTo>
                <a:lnTo>
                  <a:pt x="337057" y="618489"/>
                </a:lnTo>
                <a:lnTo>
                  <a:pt x="335533" y="621029"/>
                </a:lnTo>
                <a:lnTo>
                  <a:pt x="333247" y="623569"/>
                </a:lnTo>
                <a:lnTo>
                  <a:pt x="331596" y="624839"/>
                </a:lnTo>
                <a:lnTo>
                  <a:pt x="326516" y="626109"/>
                </a:lnTo>
                <a:lnTo>
                  <a:pt x="358082" y="626109"/>
                </a:lnTo>
                <a:lnTo>
                  <a:pt x="384682" y="618489"/>
                </a:lnTo>
                <a:close/>
              </a:path>
              <a:path w="471804" h="887729">
                <a:moveTo>
                  <a:pt x="295147" y="574039"/>
                </a:moveTo>
                <a:lnTo>
                  <a:pt x="290194" y="581659"/>
                </a:lnTo>
                <a:lnTo>
                  <a:pt x="299837" y="589279"/>
                </a:lnTo>
                <a:lnTo>
                  <a:pt x="307800" y="598169"/>
                </a:lnTo>
                <a:lnTo>
                  <a:pt x="314072" y="605789"/>
                </a:lnTo>
                <a:lnTo>
                  <a:pt x="318642" y="612139"/>
                </a:lnTo>
                <a:lnTo>
                  <a:pt x="322199" y="622299"/>
                </a:lnTo>
                <a:lnTo>
                  <a:pt x="322515" y="622579"/>
                </a:lnTo>
                <a:lnTo>
                  <a:pt x="336884" y="618489"/>
                </a:lnTo>
                <a:lnTo>
                  <a:pt x="337057" y="618489"/>
                </a:lnTo>
                <a:lnTo>
                  <a:pt x="338581" y="615949"/>
                </a:lnTo>
                <a:lnTo>
                  <a:pt x="341629" y="612139"/>
                </a:lnTo>
                <a:lnTo>
                  <a:pt x="342391" y="605789"/>
                </a:lnTo>
                <a:lnTo>
                  <a:pt x="339597" y="593089"/>
                </a:lnTo>
                <a:lnTo>
                  <a:pt x="304647" y="576579"/>
                </a:lnTo>
                <a:lnTo>
                  <a:pt x="295147" y="574039"/>
                </a:lnTo>
                <a:close/>
              </a:path>
              <a:path w="471804" h="887729">
                <a:moveTo>
                  <a:pt x="186451" y="454659"/>
                </a:moveTo>
                <a:lnTo>
                  <a:pt x="161797" y="454659"/>
                </a:lnTo>
                <a:lnTo>
                  <a:pt x="185165" y="535939"/>
                </a:lnTo>
                <a:lnTo>
                  <a:pt x="186816" y="542289"/>
                </a:lnTo>
                <a:lnTo>
                  <a:pt x="157140" y="551179"/>
                </a:lnTo>
                <a:lnTo>
                  <a:pt x="144017" y="553719"/>
                </a:lnTo>
                <a:lnTo>
                  <a:pt x="147065" y="563879"/>
                </a:lnTo>
                <a:lnTo>
                  <a:pt x="161542" y="565149"/>
                </a:lnTo>
                <a:lnTo>
                  <a:pt x="172958" y="568959"/>
                </a:lnTo>
                <a:lnTo>
                  <a:pt x="181302" y="574039"/>
                </a:lnTo>
                <a:lnTo>
                  <a:pt x="186562" y="581659"/>
                </a:lnTo>
                <a:lnTo>
                  <a:pt x="199276" y="571499"/>
                </a:lnTo>
                <a:lnTo>
                  <a:pt x="207311" y="560069"/>
                </a:lnTo>
                <a:lnTo>
                  <a:pt x="210655" y="547369"/>
                </a:lnTo>
                <a:lnTo>
                  <a:pt x="209295" y="534669"/>
                </a:lnTo>
                <a:lnTo>
                  <a:pt x="186451" y="454659"/>
                </a:lnTo>
                <a:close/>
              </a:path>
              <a:path w="471804" h="887729">
                <a:moveTo>
                  <a:pt x="208533" y="289559"/>
                </a:moveTo>
                <a:lnTo>
                  <a:pt x="213292" y="304799"/>
                </a:lnTo>
                <a:lnTo>
                  <a:pt x="217836" y="320039"/>
                </a:lnTo>
                <a:lnTo>
                  <a:pt x="222142" y="334009"/>
                </a:lnTo>
                <a:lnTo>
                  <a:pt x="226187" y="347979"/>
                </a:lnTo>
                <a:lnTo>
                  <a:pt x="273938" y="515619"/>
                </a:lnTo>
                <a:lnTo>
                  <a:pt x="278963" y="527049"/>
                </a:lnTo>
                <a:lnTo>
                  <a:pt x="287178" y="534669"/>
                </a:lnTo>
                <a:lnTo>
                  <a:pt x="298584" y="535939"/>
                </a:lnTo>
                <a:lnTo>
                  <a:pt x="313181" y="533399"/>
                </a:lnTo>
                <a:lnTo>
                  <a:pt x="358013" y="520699"/>
                </a:lnTo>
                <a:lnTo>
                  <a:pt x="369943" y="515619"/>
                </a:lnTo>
                <a:lnTo>
                  <a:pt x="373514" y="513079"/>
                </a:lnTo>
                <a:lnTo>
                  <a:pt x="307500" y="513079"/>
                </a:lnTo>
                <a:lnTo>
                  <a:pt x="300751" y="510539"/>
                </a:lnTo>
                <a:lnTo>
                  <a:pt x="296122" y="506729"/>
                </a:lnTo>
                <a:lnTo>
                  <a:pt x="293624" y="499109"/>
                </a:lnTo>
                <a:lnTo>
                  <a:pt x="240411" y="311149"/>
                </a:lnTo>
                <a:lnTo>
                  <a:pt x="249681" y="297179"/>
                </a:lnTo>
                <a:lnTo>
                  <a:pt x="208533" y="289559"/>
                </a:lnTo>
                <a:close/>
              </a:path>
              <a:path w="471804" h="887729">
                <a:moveTo>
                  <a:pt x="358266" y="440689"/>
                </a:moveTo>
                <a:lnTo>
                  <a:pt x="345820" y="444499"/>
                </a:lnTo>
                <a:lnTo>
                  <a:pt x="349103" y="455929"/>
                </a:lnTo>
                <a:lnTo>
                  <a:pt x="351694" y="466089"/>
                </a:lnTo>
                <a:lnTo>
                  <a:pt x="353571" y="476249"/>
                </a:lnTo>
                <a:lnTo>
                  <a:pt x="354711" y="483869"/>
                </a:lnTo>
                <a:lnTo>
                  <a:pt x="355853" y="492759"/>
                </a:lnTo>
                <a:lnTo>
                  <a:pt x="354075" y="499109"/>
                </a:lnTo>
                <a:lnTo>
                  <a:pt x="349630" y="501649"/>
                </a:lnTo>
                <a:lnTo>
                  <a:pt x="316356" y="510539"/>
                </a:lnTo>
                <a:lnTo>
                  <a:pt x="307500" y="513079"/>
                </a:lnTo>
                <a:lnTo>
                  <a:pt x="373514" y="513079"/>
                </a:lnTo>
                <a:lnTo>
                  <a:pt x="378872" y="509269"/>
                </a:lnTo>
                <a:lnTo>
                  <a:pt x="384802" y="499109"/>
                </a:lnTo>
                <a:lnTo>
                  <a:pt x="387730" y="487679"/>
                </a:lnTo>
                <a:lnTo>
                  <a:pt x="379856" y="486409"/>
                </a:lnTo>
                <a:lnTo>
                  <a:pt x="374141" y="482599"/>
                </a:lnTo>
                <a:lnTo>
                  <a:pt x="370331" y="474979"/>
                </a:lnTo>
                <a:lnTo>
                  <a:pt x="367446" y="468629"/>
                </a:lnTo>
                <a:lnTo>
                  <a:pt x="364489" y="459739"/>
                </a:lnTo>
                <a:lnTo>
                  <a:pt x="361438" y="450849"/>
                </a:lnTo>
                <a:lnTo>
                  <a:pt x="358266" y="440689"/>
                </a:lnTo>
                <a:close/>
              </a:path>
              <a:path w="471804" h="887729">
                <a:moveTo>
                  <a:pt x="137287" y="372109"/>
                </a:moveTo>
                <a:lnTo>
                  <a:pt x="141505" y="384809"/>
                </a:lnTo>
                <a:lnTo>
                  <a:pt x="146176" y="400049"/>
                </a:lnTo>
                <a:lnTo>
                  <a:pt x="151324" y="417829"/>
                </a:lnTo>
                <a:lnTo>
                  <a:pt x="156971" y="436879"/>
                </a:lnTo>
                <a:lnTo>
                  <a:pt x="137806" y="452119"/>
                </a:lnTo>
                <a:lnTo>
                  <a:pt x="121094" y="464819"/>
                </a:lnTo>
                <a:lnTo>
                  <a:pt x="106858" y="476249"/>
                </a:lnTo>
                <a:lnTo>
                  <a:pt x="95122" y="483869"/>
                </a:lnTo>
                <a:lnTo>
                  <a:pt x="121030" y="504189"/>
                </a:lnTo>
                <a:lnTo>
                  <a:pt x="124864" y="496569"/>
                </a:lnTo>
                <a:lnTo>
                  <a:pt x="132937" y="485139"/>
                </a:lnTo>
                <a:lnTo>
                  <a:pt x="145248" y="471169"/>
                </a:lnTo>
                <a:lnTo>
                  <a:pt x="161797" y="454659"/>
                </a:lnTo>
                <a:lnTo>
                  <a:pt x="186451" y="454659"/>
                </a:lnTo>
                <a:lnTo>
                  <a:pt x="181737" y="438149"/>
                </a:lnTo>
                <a:lnTo>
                  <a:pt x="193665" y="425449"/>
                </a:lnTo>
                <a:lnTo>
                  <a:pt x="197653" y="421639"/>
                </a:lnTo>
                <a:lnTo>
                  <a:pt x="177037" y="421639"/>
                </a:lnTo>
                <a:lnTo>
                  <a:pt x="169544" y="396239"/>
                </a:lnTo>
                <a:lnTo>
                  <a:pt x="177418" y="384809"/>
                </a:lnTo>
                <a:lnTo>
                  <a:pt x="162687" y="379729"/>
                </a:lnTo>
                <a:lnTo>
                  <a:pt x="164790" y="375919"/>
                </a:lnTo>
                <a:lnTo>
                  <a:pt x="151764" y="375919"/>
                </a:lnTo>
                <a:lnTo>
                  <a:pt x="137287" y="372109"/>
                </a:lnTo>
                <a:close/>
              </a:path>
              <a:path w="471804" h="887729">
                <a:moveTo>
                  <a:pt x="223012" y="380999"/>
                </a:moveTo>
                <a:lnTo>
                  <a:pt x="184400" y="415289"/>
                </a:lnTo>
                <a:lnTo>
                  <a:pt x="177037" y="421639"/>
                </a:lnTo>
                <a:lnTo>
                  <a:pt x="197653" y="421639"/>
                </a:lnTo>
                <a:lnTo>
                  <a:pt x="205628" y="414019"/>
                </a:lnTo>
                <a:lnTo>
                  <a:pt x="229615" y="388619"/>
                </a:lnTo>
                <a:lnTo>
                  <a:pt x="223012" y="380999"/>
                </a:lnTo>
                <a:close/>
              </a:path>
              <a:path w="471804" h="887729">
                <a:moveTo>
                  <a:pt x="193008" y="334009"/>
                </a:moveTo>
                <a:lnTo>
                  <a:pt x="169037" y="334009"/>
                </a:lnTo>
                <a:lnTo>
                  <a:pt x="151764" y="375919"/>
                </a:lnTo>
                <a:lnTo>
                  <a:pt x="164790" y="375919"/>
                </a:lnTo>
                <a:lnTo>
                  <a:pt x="170400" y="365759"/>
                </a:lnTo>
                <a:lnTo>
                  <a:pt x="176958" y="354329"/>
                </a:lnTo>
                <a:lnTo>
                  <a:pt x="182350" y="345439"/>
                </a:lnTo>
                <a:lnTo>
                  <a:pt x="186562" y="340359"/>
                </a:lnTo>
                <a:lnTo>
                  <a:pt x="191515" y="335279"/>
                </a:lnTo>
                <a:lnTo>
                  <a:pt x="193008" y="334009"/>
                </a:lnTo>
                <a:close/>
              </a:path>
              <a:path w="471804" h="887729">
                <a:moveTo>
                  <a:pt x="173354" y="307339"/>
                </a:moveTo>
                <a:lnTo>
                  <a:pt x="165862" y="321309"/>
                </a:lnTo>
                <a:lnTo>
                  <a:pt x="64388" y="350519"/>
                </a:lnTo>
                <a:lnTo>
                  <a:pt x="81406" y="363219"/>
                </a:lnTo>
                <a:lnTo>
                  <a:pt x="87955" y="359409"/>
                </a:lnTo>
                <a:lnTo>
                  <a:pt x="101480" y="354329"/>
                </a:lnTo>
                <a:lnTo>
                  <a:pt x="108457" y="351789"/>
                </a:lnTo>
                <a:lnTo>
                  <a:pt x="169037" y="334009"/>
                </a:lnTo>
                <a:lnTo>
                  <a:pt x="193008" y="334009"/>
                </a:lnTo>
                <a:lnTo>
                  <a:pt x="197484" y="330199"/>
                </a:lnTo>
                <a:lnTo>
                  <a:pt x="204724" y="326389"/>
                </a:lnTo>
                <a:lnTo>
                  <a:pt x="173354" y="307339"/>
                </a:lnTo>
                <a:close/>
              </a:path>
              <a:path w="471804" h="887729">
                <a:moveTo>
                  <a:pt x="133175" y="77469"/>
                </a:moveTo>
                <a:lnTo>
                  <a:pt x="118109" y="77469"/>
                </a:lnTo>
                <a:lnTo>
                  <a:pt x="132254" y="107950"/>
                </a:lnTo>
                <a:lnTo>
                  <a:pt x="148018" y="135889"/>
                </a:lnTo>
                <a:lnTo>
                  <a:pt x="165401" y="161289"/>
                </a:lnTo>
                <a:lnTo>
                  <a:pt x="184403" y="184150"/>
                </a:lnTo>
                <a:lnTo>
                  <a:pt x="168973" y="210819"/>
                </a:lnTo>
                <a:lnTo>
                  <a:pt x="149161" y="237489"/>
                </a:lnTo>
                <a:lnTo>
                  <a:pt x="124967" y="261619"/>
                </a:lnTo>
                <a:lnTo>
                  <a:pt x="96392" y="284479"/>
                </a:lnTo>
                <a:lnTo>
                  <a:pt x="100964" y="292100"/>
                </a:lnTo>
                <a:lnTo>
                  <a:pt x="133727" y="271779"/>
                </a:lnTo>
                <a:lnTo>
                  <a:pt x="161321" y="247650"/>
                </a:lnTo>
                <a:lnTo>
                  <a:pt x="183725" y="223519"/>
                </a:lnTo>
                <a:lnTo>
                  <a:pt x="200913" y="195579"/>
                </a:lnTo>
                <a:lnTo>
                  <a:pt x="249929" y="195579"/>
                </a:lnTo>
                <a:lnTo>
                  <a:pt x="233977" y="190500"/>
                </a:lnTo>
                <a:lnTo>
                  <a:pt x="210692" y="177800"/>
                </a:lnTo>
                <a:lnTo>
                  <a:pt x="212935" y="166369"/>
                </a:lnTo>
                <a:lnTo>
                  <a:pt x="192786" y="166369"/>
                </a:lnTo>
                <a:lnTo>
                  <a:pt x="175662" y="147319"/>
                </a:lnTo>
                <a:lnTo>
                  <a:pt x="159718" y="125729"/>
                </a:lnTo>
                <a:lnTo>
                  <a:pt x="144940" y="101600"/>
                </a:lnTo>
                <a:lnTo>
                  <a:pt x="133175" y="77469"/>
                </a:lnTo>
                <a:close/>
              </a:path>
              <a:path w="471804" h="887729">
                <a:moveTo>
                  <a:pt x="143763" y="196850"/>
                </a:moveTo>
                <a:lnTo>
                  <a:pt x="114405" y="215900"/>
                </a:lnTo>
                <a:lnTo>
                  <a:pt x="86534" y="232409"/>
                </a:lnTo>
                <a:lnTo>
                  <a:pt x="60164" y="247650"/>
                </a:lnTo>
                <a:lnTo>
                  <a:pt x="35305" y="260350"/>
                </a:lnTo>
                <a:lnTo>
                  <a:pt x="59181" y="281939"/>
                </a:lnTo>
                <a:lnTo>
                  <a:pt x="96519" y="245109"/>
                </a:lnTo>
                <a:lnTo>
                  <a:pt x="137453" y="214629"/>
                </a:lnTo>
                <a:lnTo>
                  <a:pt x="148716" y="207009"/>
                </a:lnTo>
                <a:lnTo>
                  <a:pt x="143763" y="196850"/>
                </a:lnTo>
                <a:close/>
              </a:path>
              <a:path w="471804" h="887729">
                <a:moveTo>
                  <a:pt x="249929" y="195579"/>
                </a:moveTo>
                <a:lnTo>
                  <a:pt x="200913" y="195579"/>
                </a:lnTo>
                <a:lnTo>
                  <a:pt x="218868" y="208279"/>
                </a:lnTo>
                <a:lnTo>
                  <a:pt x="239394" y="218439"/>
                </a:lnTo>
                <a:lnTo>
                  <a:pt x="262493" y="227329"/>
                </a:lnTo>
                <a:lnTo>
                  <a:pt x="288163" y="233679"/>
                </a:lnTo>
                <a:lnTo>
                  <a:pt x="289706" y="226059"/>
                </a:lnTo>
                <a:lnTo>
                  <a:pt x="293941" y="219709"/>
                </a:lnTo>
                <a:lnTo>
                  <a:pt x="300843" y="214629"/>
                </a:lnTo>
                <a:lnTo>
                  <a:pt x="310388" y="212089"/>
                </a:lnTo>
                <a:lnTo>
                  <a:pt x="307593" y="203200"/>
                </a:lnTo>
                <a:lnTo>
                  <a:pt x="282451" y="203200"/>
                </a:lnTo>
                <a:lnTo>
                  <a:pt x="257905" y="198119"/>
                </a:lnTo>
                <a:lnTo>
                  <a:pt x="249929" y="195579"/>
                </a:lnTo>
                <a:close/>
              </a:path>
              <a:path w="471804" h="887729">
                <a:moveTo>
                  <a:pt x="77724" y="78739"/>
                </a:moveTo>
                <a:lnTo>
                  <a:pt x="27939" y="128269"/>
                </a:lnTo>
                <a:lnTo>
                  <a:pt x="67817" y="128269"/>
                </a:lnTo>
                <a:lnTo>
                  <a:pt x="60271" y="144779"/>
                </a:lnTo>
                <a:lnTo>
                  <a:pt x="53451" y="160019"/>
                </a:lnTo>
                <a:lnTo>
                  <a:pt x="47369" y="171450"/>
                </a:lnTo>
                <a:lnTo>
                  <a:pt x="22732" y="204469"/>
                </a:lnTo>
                <a:lnTo>
                  <a:pt x="48132" y="228600"/>
                </a:lnTo>
                <a:lnTo>
                  <a:pt x="54419" y="222250"/>
                </a:lnTo>
                <a:lnTo>
                  <a:pt x="62039" y="214629"/>
                </a:lnTo>
                <a:lnTo>
                  <a:pt x="70992" y="208279"/>
                </a:lnTo>
                <a:lnTo>
                  <a:pt x="81279" y="200659"/>
                </a:lnTo>
                <a:lnTo>
                  <a:pt x="86983" y="196850"/>
                </a:lnTo>
                <a:lnTo>
                  <a:pt x="49783" y="196850"/>
                </a:lnTo>
                <a:lnTo>
                  <a:pt x="60785" y="177800"/>
                </a:lnTo>
                <a:lnTo>
                  <a:pt x="70357" y="160019"/>
                </a:lnTo>
                <a:lnTo>
                  <a:pt x="78501" y="144779"/>
                </a:lnTo>
                <a:lnTo>
                  <a:pt x="85216" y="129539"/>
                </a:lnTo>
                <a:lnTo>
                  <a:pt x="90741" y="116839"/>
                </a:lnTo>
                <a:lnTo>
                  <a:pt x="96075" y="105409"/>
                </a:lnTo>
                <a:lnTo>
                  <a:pt x="101218" y="97789"/>
                </a:lnTo>
                <a:lnTo>
                  <a:pt x="106171" y="91439"/>
                </a:lnTo>
                <a:lnTo>
                  <a:pt x="77724" y="78739"/>
                </a:lnTo>
                <a:close/>
              </a:path>
              <a:path w="471804" h="887729">
                <a:moveTo>
                  <a:pt x="126364" y="161289"/>
                </a:moveTo>
                <a:lnTo>
                  <a:pt x="100629" y="173989"/>
                </a:lnTo>
                <a:lnTo>
                  <a:pt x="79263" y="184150"/>
                </a:lnTo>
                <a:lnTo>
                  <a:pt x="62303" y="191769"/>
                </a:lnTo>
                <a:lnTo>
                  <a:pt x="49783" y="196850"/>
                </a:lnTo>
                <a:lnTo>
                  <a:pt x="86983" y="196850"/>
                </a:lnTo>
                <a:lnTo>
                  <a:pt x="92686" y="193039"/>
                </a:lnTo>
                <a:lnTo>
                  <a:pt x="104806" y="186689"/>
                </a:lnTo>
                <a:lnTo>
                  <a:pt x="117641" y="179069"/>
                </a:lnTo>
                <a:lnTo>
                  <a:pt x="131190" y="171450"/>
                </a:lnTo>
                <a:lnTo>
                  <a:pt x="126364" y="161289"/>
                </a:lnTo>
                <a:close/>
              </a:path>
              <a:path w="471804" h="887729">
                <a:moveTo>
                  <a:pt x="217790" y="55879"/>
                </a:moveTo>
                <a:lnTo>
                  <a:pt x="194055" y="55879"/>
                </a:lnTo>
                <a:lnTo>
                  <a:pt x="197554" y="86359"/>
                </a:lnTo>
                <a:lnTo>
                  <a:pt x="197596" y="87629"/>
                </a:lnTo>
                <a:lnTo>
                  <a:pt x="197721" y="91439"/>
                </a:lnTo>
                <a:lnTo>
                  <a:pt x="197805" y="93979"/>
                </a:lnTo>
                <a:lnTo>
                  <a:pt x="197931" y="97789"/>
                </a:lnTo>
                <a:lnTo>
                  <a:pt x="198056" y="101600"/>
                </a:lnTo>
                <a:lnTo>
                  <a:pt x="198182" y="105409"/>
                </a:lnTo>
                <a:lnTo>
                  <a:pt x="198223" y="106679"/>
                </a:lnTo>
                <a:lnTo>
                  <a:pt x="198349" y="110489"/>
                </a:lnTo>
                <a:lnTo>
                  <a:pt x="198441" y="116839"/>
                </a:lnTo>
                <a:lnTo>
                  <a:pt x="196931" y="142239"/>
                </a:lnTo>
                <a:lnTo>
                  <a:pt x="192786" y="166369"/>
                </a:lnTo>
                <a:lnTo>
                  <a:pt x="212935" y="166369"/>
                </a:lnTo>
                <a:lnTo>
                  <a:pt x="216671" y="147319"/>
                </a:lnTo>
                <a:lnTo>
                  <a:pt x="219757" y="116839"/>
                </a:lnTo>
                <a:lnTo>
                  <a:pt x="219875" y="97789"/>
                </a:lnTo>
                <a:lnTo>
                  <a:pt x="219962" y="83819"/>
                </a:lnTo>
                <a:lnTo>
                  <a:pt x="217790" y="55879"/>
                </a:lnTo>
                <a:close/>
              </a:path>
              <a:path w="471804" h="887729">
                <a:moveTo>
                  <a:pt x="37083" y="26669"/>
                </a:moveTo>
                <a:lnTo>
                  <a:pt x="29065" y="77469"/>
                </a:lnTo>
                <a:lnTo>
                  <a:pt x="12938" y="123189"/>
                </a:lnTo>
                <a:lnTo>
                  <a:pt x="0" y="137159"/>
                </a:lnTo>
                <a:lnTo>
                  <a:pt x="20700" y="158750"/>
                </a:lnTo>
                <a:lnTo>
                  <a:pt x="27301" y="152400"/>
                </a:lnTo>
                <a:lnTo>
                  <a:pt x="33781" y="147319"/>
                </a:lnTo>
                <a:lnTo>
                  <a:pt x="40167" y="142239"/>
                </a:lnTo>
                <a:lnTo>
                  <a:pt x="46481" y="138429"/>
                </a:lnTo>
                <a:lnTo>
                  <a:pt x="54737" y="134619"/>
                </a:lnTo>
                <a:lnTo>
                  <a:pt x="61975" y="130809"/>
                </a:lnTo>
                <a:lnTo>
                  <a:pt x="67817" y="128269"/>
                </a:lnTo>
                <a:lnTo>
                  <a:pt x="27939" y="128269"/>
                </a:lnTo>
                <a:lnTo>
                  <a:pt x="40528" y="99059"/>
                </a:lnTo>
                <a:lnTo>
                  <a:pt x="45995" y="83819"/>
                </a:lnTo>
                <a:lnTo>
                  <a:pt x="50926" y="69850"/>
                </a:lnTo>
                <a:lnTo>
                  <a:pt x="55020" y="59689"/>
                </a:lnTo>
                <a:lnTo>
                  <a:pt x="59293" y="50800"/>
                </a:lnTo>
                <a:lnTo>
                  <a:pt x="63732" y="44450"/>
                </a:lnTo>
                <a:lnTo>
                  <a:pt x="68325" y="39369"/>
                </a:lnTo>
                <a:lnTo>
                  <a:pt x="37083" y="26669"/>
                </a:lnTo>
                <a:close/>
              </a:path>
              <a:path w="471804" h="887729">
                <a:moveTo>
                  <a:pt x="225297" y="15239"/>
                </a:moveTo>
                <a:lnTo>
                  <a:pt x="211327" y="36829"/>
                </a:lnTo>
                <a:lnTo>
                  <a:pt x="81661" y="73659"/>
                </a:lnTo>
                <a:lnTo>
                  <a:pt x="98551" y="86359"/>
                </a:lnTo>
                <a:lnTo>
                  <a:pt x="107187" y="81279"/>
                </a:lnTo>
                <a:lnTo>
                  <a:pt x="113664" y="78739"/>
                </a:lnTo>
                <a:lnTo>
                  <a:pt x="118109" y="77469"/>
                </a:lnTo>
                <a:lnTo>
                  <a:pt x="133175" y="77469"/>
                </a:lnTo>
                <a:lnTo>
                  <a:pt x="131317" y="73659"/>
                </a:lnTo>
                <a:lnTo>
                  <a:pt x="194055" y="55879"/>
                </a:lnTo>
                <a:lnTo>
                  <a:pt x="217790" y="55879"/>
                </a:lnTo>
                <a:lnTo>
                  <a:pt x="217494" y="52069"/>
                </a:lnTo>
                <a:lnTo>
                  <a:pt x="217395" y="50800"/>
                </a:lnTo>
                <a:lnTo>
                  <a:pt x="217296" y="49529"/>
                </a:lnTo>
                <a:lnTo>
                  <a:pt x="258190" y="36829"/>
                </a:lnTo>
                <a:lnTo>
                  <a:pt x="225297" y="15239"/>
                </a:lnTo>
                <a:close/>
              </a:path>
              <a:path w="471804" h="887729">
                <a:moveTo>
                  <a:pt x="120522" y="0"/>
                </a:moveTo>
                <a:lnTo>
                  <a:pt x="117093" y="7619"/>
                </a:lnTo>
                <a:lnTo>
                  <a:pt x="128121" y="16509"/>
                </a:lnTo>
                <a:lnTo>
                  <a:pt x="137017" y="25400"/>
                </a:lnTo>
                <a:lnTo>
                  <a:pt x="143793" y="33019"/>
                </a:lnTo>
                <a:lnTo>
                  <a:pt x="148462" y="40639"/>
                </a:lnTo>
                <a:lnTo>
                  <a:pt x="152780" y="48259"/>
                </a:lnTo>
                <a:lnTo>
                  <a:pt x="156971" y="52069"/>
                </a:lnTo>
                <a:lnTo>
                  <a:pt x="161036" y="50800"/>
                </a:lnTo>
                <a:lnTo>
                  <a:pt x="163575" y="49529"/>
                </a:lnTo>
                <a:lnTo>
                  <a:pt x="166496" y="45719"/>
                </a:lnTo>
                <a:lnTo>
                  <a:pt x="169671" y="39369"/>
                </a:lnTo>
                <a:lnTo>
                  <a:pt x="172974" y="33019"/>
                </a:lnTo>
                <a:lnTo>
                  <a:pt x="138930" y="5079"/>
                </a:lnTo>
                <a:lnTo>
                  <a:pt x="120522" y="0"/>
                </a:lnTo>
                <a:close/>
              </a:path>
            </a:pathLst>
          </a:custGeom>
          <a:solidFill>
            <a:srgbClr val="006FC0"/>
          </a:solidFill>
        </p:spPr>
        <p:txBody>
          <a:bodyPr wrap="square" lIns="0" tIns="0" rIns="0" bIns="0" rtlCol="0"/>
          <a:lstStyle>
            <a:defPPr>
              <a:defRPr kern="0"/>
            </a:defPPr>
          </a:lstStyle>
          <a:p>
            <a:endParaRPr/>
          </a:p>
        </p:txBody>
      </p:sp>
      <p:sp>
        <p:nvSpPr>
          <p:cNvPr id="33" name="object 11">
            <a:extLst>
              <a:ext uri="{FF2B5EF4-FFF2-40B4-BE49-F238E27FC236}">
                <a16:creationId xmlns:a16="http://schemas.microsoft.com/office/drawing/2014/main" id="{60B1A6E8-19A7-435A-C066-1CCAE0922E97}"/>
              </a:ext>
            </a:extLst>
          </p:cNvPr>
          <p:cNvSpPr/>
          <p:nvPr/>
        </p:nvSpPr>
        <p:spPr>
          <a:xfrm>
            <a:off x="5741277" y="2017380"/>
            <a:ext cx="471805" cy="1570355"/>
          </a:xfrm>
          <a:custGeom>
            <a:avLst/>
            <a:gdLst/>
            <a:ahLst/>
            <a:cxnLst/>
            <a:rect l="l" t="t" r="r" b="b"/>
            <a:pathLst>
              <a:path w="471804" h="1570354">
                <a:moveTo>
                  <a:pt x="471487" y="0"/>
                </a:moveTo>
                <a:lnTo>
                  <a:pt x="0" y="0"/>
                </a:lnTo>
                <a:lnTo>
                  <a:pt x="0" y="1569974"/>
                </a:lnTo>
                <a:lnTo>
                  <a:pt x="471487" y="1569974"/>
                </a:lnTo>
                <a:lnTo>
                  <a:pt x="471487" y="0"/>
                </a:lnTo>
                <a:close/>
              </a:path>
            </a:pathLst>
          </a:custGeom>
          <a:solidFill>
            <a:srgbClr val="FF0000"/>
          </a:solidFill>
        </p:spPr>
        <p:txBody>
          <a:bodyPr wrap="square" lIns="0" tIns="0" rIns="0" bIns="0" rtlCol="0"/>
          <a:lstStyle>
            <a:defPPr>
              <a:defRPr kern="0"/>
            </a:defPPr>
          </a:lstStyle>
          <a:p>
            <a:endParaRPr/>
          </a:p>
        </p:txBody>
      </p:sp>
      <p:sp>
        <p:nvSpPr>
          <p:cNvPr id="7" name="object 12">
            <a:extLst>
              <a:ext uri="{FF2B5EF4-FFF2-40B4-BE49-F238E27FC236}">
                <a16:creationId xmlns:a16="http://schemas.microsoft.com/office/drawing/2014/main" id="{FB9DA405-66C4-97DA-7C0D-0F4D9CC7CA1D}"/>
              </a:ext>
            </a:extLst>
          </p:cNvPr>
          <p:cNvSpPr txBox="1"/>
          <p:nvPr/>
        </p:nvSpPr>
        <p:spPr>
          <a:xfrm>
            <a:off x="6594492" y="3208170"/>
            <a:ext cx="2582867" cy="382156"/>
          </a:xfrm>
          <a:prstGeom prst="rect">
            <a:avLst/>
          </a:prstGeom>
        </p:spPr>
        <p:txBody>
          <a:bodyPr vert="horz" wrap="square" lIns="0" tIns="12700" rIns="0" bIns="0" rtlCol="0">
            <a:spAutoFit/>
          </a:bodyPr>
          <a:lstStyle>
            <a:defPPr>
              <a:defRPr kern="0"/>
            </a:defPPr>
          </a:lstStyle>
          <a:p>
            <a:pPr marL="12700">
              <a:spcBef>
                <a:spcPts val="100"/>
              </a:spcBef>
            </a:pPr>
            <a:r>
              <a:rPr sz="2400" b="1" spc="-15" dirty="0" err="1">
                <a:latin typeface="Microsoft JhengHei"/>
                <a:cs typeface="Microsoft JhengHei"/>
              </a:rPr>
              <a:t>具缘纹孔</a:t>
            </a:r>
            <a:r>
              <a:rPr lang="zh-CN" altLang="en-US" b="1" spc="-15" dirty="0">
                <a:latin typeface="Microsoft JhengHei"/>
                <a:cs typeface="Microsoft JhengHei"/>
              </a:rPr>
              <a:t>立体图解</a:t>
            </a:r>
            <a:endParaRPr lang="zh-CN" altLang="en-US" dirty="0">
              <a:latin typeface="Microsoft JhengHei"/>
              <a:cs typeface="Microsoft JhengHei"/>
            </a:endParaRPr>
          </a:p>
        </p:txBody>
      </p:sp>
      <p:sp>
        <p:nvSpPr>
          <p:cNvPr id="9" name="object 14">
            <a:extLst>
              <a:ext uri="{FF2B5EF4-FFF2-40B4-BE49-F238E27FC236}">
                <a16:creationId xmlns:a16="http://schemas.microsoft.com/office/drawing/2014/main" id="{AC822E99-3811-BF49-8B1A-0D6FFB0CF2CA}"/>
              </a:ext>
            </a:extLst>
          </p:cNvPr>
          <p:cNvSpPr txBox="1"/>
          <p:nvPr/>
        </p:nvSpPr>
        <p:spPr>
          <a:xfrm>
            <a:off x="5309477" y="1280031"/>
            <a:ext cx="1230630" cy="1297305"/>
          </a:xfrm>
          <a:prstGeom prst="rect">
            <a:avLst/>
          </a:prstGeom>
        </p:spPr>
        <p:txBody>
          <a:bodyPr vert="horz" wrap="square" lIns="0" tIns="12700" rIns="0" bIns="0" rtlCol="0">
            <a:spAutoFit/>
          </a:bodyPr>
          <a:lstStyle>
            <a:defPPr>
              <a:defRPr kern="0"/>
            </a:defPPr>
          </a:lstStyle>
          <a:p>
            <a:pPr marL="92075">
              <a:lnSpc>
                <a:spcPct val="100000"/>
              </a:lnSpc>
              <a:spcBef>
                <a:spcPts val="100"/>
              </a:spcBef>
            </a:pPr>
            <a:r>
              <a:rPr sz="2400" b="1" spc="-20" dirty="0" err="1">
                <a:solidFill>
                  <a:srgbClr val="FFFFFF"/>
                </a:solidFill>
                <a:latin typeface="Microsoft JhengHei"/>
                <a:cs typeface="Microsoft JhengHei"/>
              </a:rPr>
              <a:t>纹孔</a:t>
            </a:r>
            <a:r>
              <a:rPr lang="zh-CN" altLang="en-US" sz="2400" b="1" spc="-20" dirty="0">
                <a:solidFill>
                  <a:srgbClr val="FFFFFF"/>
                </a:solidFill>
                <a:latin typeface="Microsoft JhengHei"/>
                <a:cs typeface="Microsoft JhengHei"/>
              </a:rPr>
              <a:t>口</a:t>
            </a:r>
            <a:endParaRPr lang="zh-CN" altLang="en-US" sz="2400" dirty="0">
              <a:latin typeface="Microsoft JhengHei"/>
              <a:cs typeface="Microsoft JhengHei"/>
            </a:endParaRPr>
          </a:p>
          <a:p>
            <a:pPr marL="523875">
              <a:lnSpc>
                <a:spcPct val="100000"/>
              </a:lnSpc>
              <a:spcBef>
                <a:spcPts val="3290"/>
              </a:spcBef>
            </a:pPr>
            <a:r>
              <a:rPr lang="zh-CN" altLang="en-US" sz="3200" b="1" spc="-50" dirty="0">
                <a:solidFill>
                  <a:srgbClr val="FFFFFF"/>
                </a:solidFill>
                <a:latin typeface="Microsoft JhengHei"/>
                <a:cs typeface="Microsoft JhengHei"/>
              </a:rPr>
              <a:t>纹</a:t>
            </a:r>
            <a:endParaRPr lang="zh-CN" altLang="en-US" sz="3200" dirty="0">
              <a:latin typeface="Microsoft JhengHei"/>
              <a:cs typeface="Microsoft JhengHei"/>
            </a:endParaRPr>
          </a:p>
        </p:txBody>
      </p:sp>
      <p:sp>
        <p:nvSpPr>
          <p:cNvPr id="10" name="object 15">
            <a:extLst>
              <a:ext uri="{FF2B5EF4-FFF2-40B4-BE49-F238E27FC236}">
                <a16:creationId xmlns:a16="http://schemas.microsoft.com/office/drawing/2014/main" id="{14ACDF59-7F4C-017F-7B04-E25EB0A1F40E}"/>
              </a:ext>
            </a:extLst>
          </p:cNvPr>
          <p:cNvSpPr txBox="1"/>
          <p:nvPr/>
        </p:nvSpPr>
        <p:spPr>
          <a:xfrm>
            <a:off x="5821033" y="2551301"/>
            <a:ext cx="432434" cy="51371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3200" b="1" spc="-50" dirty="0">
                <a:solidFill>
                  <a:srgbClr val="FFFFFF"/>
                </a:solidFill>
                <a:latin typeface="Microsoft JhengHei"/>
                <a:cs typeface="Microsoft JhengHei"/>
              </a:rPr>
              <a:t>孔</a:t>
            </a:r>
            <a:endParaRPr sz="3200" dirty="0">
              <a:latin typeface="Microsoft JhengHei"/>
              <a:cs typeface="Microsoft JhengHei"/>
            </a:endParaRPr>
          </a:p>
        </p:txBody>
      </p:sp>
      <p:sp>
        <p:nvSpPr>
          <p:cNvPr id="11" name="object 16">
            <a:extLst>
              <a:ext uri="{FF2B5EF4-FFF2-40B4-BE49-F238E27FC236}">
                <a16:creationId xmlns:a16="http://schemas.microsoft.com/office/drawing/2014/main" id="{51B66B58-34DA-92A9-D2A4-3DAA8B560DCA}"/>
              </a:ext>
            </a:extLst>
          </p:cNvPr>
          <p:cNvSpPr txBox="1"/>
          <p:nvPr/>
        </p:nvSpPr>
        <p:spPr>
          <a:xfrm>
            <a:off x="5821033" y="3039006"/>
            <a:ext cx="433070" cy="514350"/>
          </a:xfrm>
          <a:prstGeom prst="rect">
            <a:avLst/>
          </a:prstGeom>
        </p:spPr>
        <p:txBody>
          <a:bodyPr vert="horz" wrap="square" lIns="0" tIns="13335" rIns="0" bIns="0" rtlCol="0">
            <a:spAutoFit/>
          </a:bodyPr>
          <a:lstStyle>
            <a:defPPr>
              <a:defRPr kern="0"/>
            </a:defPPr>
          </a:lstStyle>
          <a:p>
            <a:pPr marL="12700">
              <a:lnSpc>
                <a:spcPct val="100000"/>
              </a:lnSpc>
              <a:spcBef>
                <a:spcPts val="105"/>
              </a:spcBef>
            </a:pPr>
            <a:r>
              <a:rPr sz="3200" b="1" spc="-50" dirty="0">
                <a:solidFill>
                  <a:srgbClr val="FFFFFF"/>
                </a:solidFill>
                <a:latin typeface="Microsoft JhengHei"/>
                <a:cs typeface="Microsoft JhengHei"/>
              </a:rPr>
              <a:t>塞</a:t>
            </a:r>
            <a:endParaRPr sz="3200" dirty="0">
              <a:latin typeface="Microsoft JhengHei"/>
              <a:cs typeface="Microsoft JhengHei"/>
            </a:endParaRPr>
          </a:p>
        </p:txBody>
      </p:sp>
      <p:grpSp>
        <p:nvGrpSpPr>
          <p:cNvPr id="12" name="object 17">
            <a:extLst>
              <a:ext uri="{FF2B5EF4-FFF2-40B4-BE49-F238E27FC236}">
                <a16:creationId xmlns:a16="http://schemas.microsoft.com/office/drawing/2014/main" id="{3226954D-78D7-84C7-9298-7C313614D0A6}"/>
              </a:ext>
            </a:extLst>
          </p:cNvPr>
          <p:cNvGrpSpPr/>
          <p:nvPr/>
        </p:nvGrpSpPr>
        <p:grpSpPr>
          <a:xfrm>
            <a:off x="4012426" y="802815"/>
            <a:ext cx="5002276" cy="2322576"/>
            <a:chOff x="4067175" y="3381679"/>
            <a:chExt cx="5002276" cy="2322576"/>
          </a:xfrm>
        </p:grpSpPr>
        <p:pic>
          <p:nvPicPr>
            <p:cNvPr id="23" name="object 18">
              <a:extLst>
                <a:ext uri="{FF2B5EF4-FFF2-40B4-BE49-F238E27FC236}">
                  <a16:creationId xmlns:a16="http://schemas.microsoft.com/office/drawing/2014/main" id="{6845460F-11B1-3EA0-B956-7658CCD8BE96}"/>
                </a:ext>
              </a:extLst>
            </p:cNvPr>
            <p:cNvPicPr/>
            <p:nvPr/>
          </p:nvPicPr>
          <p:blipFill>
            <a:blip r:embed="rId6" cstate="print"/>
            <a:stretch>
              <a:fillRect/>
            </a:stretch>
          </p:blipFill>
          <p:spPr>
            <a:xfrm>
              <a:off x="6732651" y="3400729"/>
              <a:ext cx="2336800" cy="2281301"/>
            </a:xfrm>
            <a:prstGeom prst="rect">
              <a:avLst/>
            </a:prstGeom>
          </p:spPr>
        </p:pic>
        <p:pic>
          <p:nvPicPr>
            <p:cNvPr id="24" name="object 19">
              <a:extLst>
                <a:ext uri="{FF2B5EF4-FFF2-40B4-BE49-F238E27FC236}">
                  <a16:creationId xmlns:a16="http://schemas.microsoft.com/office/drawing/2014/main" id="{E57D1C2C-DB44-D6B0-AF10-E227554D1452}"/>
                </a:ext>
              </a:extLst>
            </p:cNvPr>
            <p:cNvPicPr/>
            <p:nvPr/>
          </p:nvPicPr>
          <p:blipFill>
            <a:blip r:embed="rId7" cstate="print"/>
            <a:stretch>
              <a:fillRect/>
            </a:stretch>
          </p:blipFill>
          <p:spPr>
            <a:xfrm>
              <a:off x="6583426" y="3381679"/>
              <a:ext cx="2465324" cy="2322576"/>
            </a:xfrm>
            <a:prstGeom prst="rect">
              <a:avLst/>
            </a:prstGeom>
          </p:spPr>
        </p:pic>
        <p:sp>
          <p:nvSpPr>
            <p:cNvPr id="25" name="object 20">
              <a:extLst>
                <a:ext uri="{FF2B5EF4-FFF2-40B4-BE49-F238E27FC236}">
                  <a16:creationId xmlns:a16="http://schemas.microsoft.com/office/drawing/2014/main" id="{4EBA63A9-26B5-9332-D722-889990FC61EB}"/>
                </a:ext>
              </a:extLst>
            </p:cNvPr>
            <p:cNvSpPr/>
            <p:nvPr/>
          </p:nvSpPr>
          <p:spPr>
            <a:xfrm>
              <a:off x="4067175" y="4028693"/>
              <a:ext cx="3745229" cy="1377950"/>
            </a:xfrm>
            <a:custGeom>
              <a:avLst/>
              <a:gdLst/>
              <a:ahLst/>
              <a:cxnLst/>
              <a:rect l="l" t="t" r="r" b="b"/>
              <a:pathLst>
                <a:path w="3745229" h="1377950">
                  <a:moveTo>
                    <a:pt x="1306703" y="53848"/>
                  </a:moveTo>
                  <a:lnTo>
                    <a:pt x="1287272" y="0"/>
                  </a:lnTo>
                  <a:lnTo>
                    <a:pt x="151561" y="409422"/>
                  </a:lnTo>
                  <a:lnTo>
                    <a:pt x="132207" y="355727"/>
                  </a:lnTo>
                  <a:lnTo>
                    <a:pt x="0" y="494411"/>
                  </a:lnTo>
                  <a:lnTo>
                    <a:pt x="190373" y="517017"/>
                  </a:lnTo>
                  <a:lnTo>
                    <a:pt x="174472" y="472948"/>
                  </a:lnTo>
                  <a:lnTo>
                    <a:pt x="170980" y="463270"/>
                  </a:lnTo>
                  <a:lnTo>
                    <a:pt x="1306703" y="53848"/>
                  </a:lnTo>
                  <a:close/>
                </a:path>
                <a:path w="3745229" h="1377950">
                  <a:moveTo>
                    <a:pt x="1742948" y="1326896"/>
                  </a:moveTo>
                  <a:lnTo>
                    <a:pt x="515327" y="623404"/>
                  </a:lnTo>
                  <a:lnTo>
                    <a:pt x="608203" y="622681"/>
                  </a:lnTo>
                  <a:lnTo>
                    <a:pt x="619010" y="620395"/>
                  </a:lnTo>
                  <a:lnTo>
                    <a:pt x="619201" y="620395"/>
                  </a:lnTo>
                  <a:lnTo>
                    <a:pt x="628307" y="614133"/>
                  </a:lnTo>
                  <a:lnTo>
                    <a:pt x="634365" y="604989"/>
                  </a:lnTo>
                  <a:lnTo>
                    <a:pt x="636524" y="593852"/>
                  </a:lnTo>
                  <a:lnTo>
                    <a:pt x="634174" y="582777"/>
                  </a:lnTo>
                  <a:lnTo>
                    <a:pt x="627964" y="573747"/>
                  </a:lnTo>
                  <a:lnTo>
                    <a:pt x="623620" y="570865"/>
                  </a:lnTo>
                  <a:lnTo>
                    <a:pt x="618820" y="567690"/>
                  </a:lnTo>
                  <a:lnTo>
                    <a:pt x="607695" y="565531"/>
                  </a:lnTo>
                  <a:lnTo>
                    <a:pt x="360299" y="567436"/>
                  </a:lnTo>
                  <a:lnTo>
                    <a:pt x="483743" y="781939"/>
                  </a:lnTo>
                  <a:lnTo>
                    <a:pt x="491223" y="790409"/>
                  </a:lnTo>
                  <a:lnTo>
                    <a:pt x="501040" y="795197"/>
                  </a:lnTo>
                  <a:lnTo>
                    <a:pt x="511949" y="795959"/>
                  </a:lnTo>
                  <a:lnTo>
                    <a:pt x="522732" y="792353"/>
                  </a:lnTo>
                  <a:lnTo>
                    <a:pt x="533273" y="753364"/>
                  </a:lnTo>
                  <a:lnTo>
                    <a:pt x="486956" y="672973"/>
                  </a:lnTo>
                  <a:lnTo>
                    <a:pt x="1714627" y="1376553"/>
                  </a:lnTo>
                  <a:lnTo>
                    <a:pt x="1742948" y="1326896"/>
                  </a:lnTo>
                  <a:close/>
                </a:path>
                <a:path w="3745229" h="1377950">
                  <a:moveTo>
                    <a:pt x="3744849" y="711962"/>
                  </a:moveTo>
                  <a:lnTo>
                    <a:pt x="3714458" y="667385"/>
                  </a:lnTo>
                  <a:lnTo>
                    <a:pt x="3636899" y="553593"/>
                  </a:lnTo>
                  <a:lnTo>
                    <a:pt x="3609035" y="603580"/>
                  </a:lnTo>
                  <a:lnTo>
                    <a:pt x="3539833" y="564997"/>
                  </a:lnTo>
                  <a:lnTo>
                    <a:pt x="3539833" y="735279"/>
                  </a:lnTo>
                  <a:lnTo>
                    <a:pt x="3525647" y="756373"/>
                  </a:lnTo>
                  <a:lnTo>
                    <a:pt x="3517747" y="745972"/>
                  </a:lnTo>
                  <a:lnTo>
                    <a:pt x="3539833" y="735279"/>
                  </a:lnTo>
                  <a:lnTo>
                    <a:pt x="3539833" y="564997"/>
                  </a:lnTo>
                  <a:lnTo>
                    <a:pt x="2530094" y="2032"/>
                  </a:lnTo>
                  <a:lnTo>
                    <a:pt x="2502281" y="51943"/>
                  </a:lnTo>
                  <a:lnTo>
                    <a:pt x="3535807" y="628180"/>
                  </a:lnTo>
                  <a:lnTo>
                    <a:pt x="3426841" y="619760"/>
                  </a:lnTo>
                  <a:lnTo>
                    <a:pt x="3415563" y="621118"/>
                  </a:lnTo>
                  <a:lnTo>
                    <a:pt x="3406038" y="626529"/>
                  </a:lnTo>
                  <a:lnTo>
                    <a:pt x="3399218" y="635127"/>
                  </a:lnTo>
                  <a:lnTo>
                    <a:pt x="3396107" y="646049"/>
                  </a:lnTo>
                  <a:lnTo>
                    <a:pt x="3397516" y="657326"/>
                  </a:lnTo>
                  <a:lnTo>
                    <a:pt x="3402914" y="666838"/>
                  </a:lnTo>
                  <a:lnTo>
                    <a:pt x="3411474" y="673608"/>
                  </a:lnTo>
                  <a:lnTo>
                    <a:pt x="3422396" y="676656"/>
                  </a:lnTo>
                  <a:lnTo>
                    <a:pt x="3514941" y="683844"/>
                  </a:lnTo>
                  <a:lnTo>
                    <a:pt x="3415525" y="731951"/>
                  </a:lnTo>
                  <a:lnTo>
                    <a:pt x="2223135" y="145034"/>
                  </a:lnTo>
                  <a:lnTo>
                    <a:pt x="2197862" y="196215"/>
                  </a:lnTo>
                  <a:lnTo>
                    <a:pt x="3350234" y="763549"/>
                  </a:lnTo>
                  <a:lnTo>
                    <a:pt x="2187829" y="1326007"/>
                  </a:lnTo>
                  <a:lnTo>
                    <a:pt x="2212721" y="1377442"/>
                  </a:lnTo>
                  <a:lnTo>
                    <a:pt x="3415271" y="795553"/>
                  </a:lnTo>
                  <a:lnTo>
                    <a:pt x="3434003" y="804773"/>
                  </a:lnTo>
                  <a:lnTo>
                    <a:pt x="3408807" y="855980"/>
                  </a:lnTo>
                  <a:lnTo>
                    <a:pt x="3504158" y="855421"/>
                  </a:lnTo>
                  <a:lnTo>
                    <a:pt x="3506279" y="856297"/>
                  </a:lnTo>
                  <a:lnTo>
                    <a:pt x="3517188" y="856297"/>
                  </a:lnTo>
                  <a:lnTo>
                    <a:pt x="3519589" y="855319"/>
                  </a:lnTo>
                  <a:lnTo>
                    <a:pt x="3600450" y="854837"/>
                  </a:lnTo>
                  <a:lnTo>
                    <a:pt x="3571989" y="817372"/>
                  </a:lnTo>
                  <a:lnTo>
                    <a:pt x="3562159" y="804443"/>
                  </a:lnTo>
                  <a:lnTo>
                    <a:pt x="3627920" y="706691"/>
                  </a:lnTo>
                  <a:lnTo>
                    <a:pt x="3744849" y="711962"/>
                  </a:lnTo>
                  <a:close/>
                </a:path>
              </a:pathLst>
            </a:custGeom>
            <a:solidFill>
              <a:srgbClr val="FF0000"/>
            </a:solidFill>
          </p:spPr>
          <p:txBody>
            <a:bodyPr wrap="square" lIns="0" tIns="0" rIns="0" bIns="0" rtlCol="0"/>
            <a:lstStyle>
              <a:defPPr>
                <a:defRPr kern="0"/>
              </a:defPPr>
            </a:lstStyle>
            <a:p>
              <a:endParaRPr/>
            </a:p>
          </p:txBody>
        </p:sp>
      </p:grpSp>
      <p:sp>
        <p:nvSpPr>
          <p:cNvPr id="13" name="object 21">
            <a:extLst>
              <a:ext uri="{FF2B5EF4-FFF2-40B4-BE49-F238E27FC236}">
                <a16:creationId xmlns:a16="http://schemas.microsoft.com/office/drawing/2014/main" id="{1811D958-3F0C-2867-D159-5B56A889A997}"/>
              </a:ext>
            </a:extLst>
          </p:cNvPr>
          <p:cNvSpPr txBox="1"/>
          <p:nvPr/>
        </p:nvSpPr>
        <p:spPr>
          <a:xfrm>
            <a:off x="3732517" y="3505350"/>
            <a:ext cx="1557020" cy="756920"/>
          </a:xfrm>
          <a:prstGeom prst="rect">
            <a:avLst/>
          </a:prstGeom>
        </p:spPr>
        <p:txBody>
          <a:bodyPr vert="horz" wrap="square" lIns="0" tIns="12700" rIns="0" bIns="0" rtlCol="0">
            <a:spAutoFit/>
          </a:bodyPr>
          <a:lstStyle>
            <a:defPPr>
              <a:defRPr kern="0"/>
            </a:defPPr>
          </a:lstStyle>
          <a:p>
            <a:pPr marL="12700" marR="5080">
              <a:lnSpc>
                <a:spcPct val="100000"/>
              </a:lnSpc>
              <a:spcBef>
                <a:spcPts val="100"/>
              </a:spcBef>
            </a:pPr>
            <a:r>
              <a:rPr sz="2400" b="1" spc="-10" dirty="0">
                <a:latin typeface="Microsoft JhengHei"/>
                <a:cs typeface="Microsoft JhengHei"/>
              </a:rPr>
              <a:t>具缘纹孔对</a:t>
            </a:r>
            <a:r>
              <a:rPr sz="2400" b="1" spc="-20" dirty="0">
                <a:latin typeface="Microsoft JhengHei"/>
                <a:cs typeface="Microsoft JhengHei"/>
              </a:rPr>
              <a:t>切面观</a:t>
            </a:r>
            <a:endParaRPr sz="2400">
              <a:latin typeface="Microsoft JhengHei"/>
              <a:cs typeface="Microsoft JhengHei"/>
            </a:endParaRPr>
          </a:p>
        </p:txBody>
      </p:sp>
      <p:sp>
        <p:nvSpPr>
          <p:cNvPr id="14" name="object 22">
            <a:extLst>
              <a:ext uri="{FF2B5EF4-FFF2-40B4-BE49-F238E27FC236}">
                <a16:creationId xmlns:a16="http://schemas.microsoft.com/office/drawing/2014/main" id="{2548BC3A-EDE7-8182-6CDF-CB99E9D1ACD3}"/>
              </a:ext>
            </a:extLst>
          </p:cNvPr>
          <p:cNvSpPr txBox="1"/>
          <p:nvPr/>
        </p:nvSpPr>
        <p:spPr>
          <a:xfrm>
            <a:off x="4789920" y="290065"/>
            <a:ext cx="254000" cy="755015"/>
          </a:xfrm>
          <a:prstGeom prst="rect">
            <a:avLst/>
          </a:prstGeom>
        </p:spPr>
        <p:txBody>
          <a:bodyPr vert="horz" wrap="square" lIns="0" tIns="59055" rIns="0" bIns="0" rtlCol="0">
            <a:spAutoFit/>
          </a:bodyPr>
          <a:lstStyle>
            <a:defPPr>
              <a:defRPr kern="0"/>
            </a:defPPr>
          </a:lstStyle>
          <a:p>
            <a:pPr marL="12700" marR="5080" algn="just">
              <a:lnSpc>
                <a:spcPts val="1789"/>
              </a:lnSpc>
              <a:spcBef>
                <a:spcPts val="465"/>
              </a:spcBef>
            </a:pPr>
            <a:r>
              <a:rPr sz="1800" b="1" spc="-50" dirty="0">
                <a:solidFill>
                  <a:srgbClr val="FFFF66"/>
                </a:solidFill>
                <a:latin typeface="Microsoft JhengHei"/>
                <a:cs typeface="Microsoft JhengHei"/>
              </a:rPr>
              <a:t>纹孔缘</a:t>
            </a:r>
            <a:endParaRPr sz="1800">
              <a:latin typeface="Microsoft JhengHei"/>
              <a:cs typeface="Microsoft JhengHei"/>
            </a:endParaRPr>
          </a:p>
        </p:txBody>
      </p:sp>
      <p:sp>
        <p:nvSpPr>
          <p:cNvPr id="22" name="object 25">
            <a:extLst>
              <a:ext uri="{FF2B5EF4-FFF2-40B4-BE49-F238E27FC236}">
                <a16:creationId xmlns:a16="http://schemas.microsoft.com/office/drawing/2014/main" id="{8E2E88A0-A54D-D362-F073-44CDCF4C1DE5}"/>
              </a:ext>
            </a:extLst>
          </p:cNvPr>
          <p:cNvSpPr/>
          <p:nvPr/>
        </p:nvSpPr>
        <p:spPr>
          <a:xfrm>
            <a:off x="4975340" y="540002"/>
            <a:ext cx="2910840" cy="973455"/>
          </a:xfrm>
          <a:custGeom>
            <a:avLst/>
            <a:gdLst/>
            <a:ahLst/>
            <a:cxnLst/>
            <a:rect l="l" t="t" r="r" b="b"/>
            <a:pathLst>
              <a:path w="2910840" h="973454">
                <a:moveTo>
                  <a:pt x="2738446" y="918884"/>
                </a:moveTo>
                <a:lnTo>
                  <a:pt x="2721229" y="973328"/>
                </a:lnTo>
                <a:lnTo>
                  <a:pt x="2910586" y="943229"/>
                </a:lnTo>
                <a:lnTo>
                  <a:pt x="2894328" y="927481"/>
                </a:lnTo>
                <a:lnTo>
                  <a:pt x="2765679" y="927481"/>
                </a:lnTo>
                <a:lnTo>
                  <a:pt x="2738446" y="918884"/>
                </a:lnTo>
                <a:close/>
              </a:path>
              <a:path w="2910840" h="973454">
                <a:moveTo>
                  <a:pt x="2755679" y="864389"/>
                </a:moveTo>
                <a:lnTo>
                  <a:pt x="2738446" y="918884"/>
                </a:lnTo>
                <a:lnTo>
                  <a:pt x="2765679" y="927481"/>
                </a:lnTo>
                <a:lnTo>
                  <a:pt x="2782951" y="872998"/>
                </a:lnTo>
                <a:lnTo>
                  <a:pt x="2755679" y="864389"/>
                </a:lnTo>
                <a:close/>
              </a:path>
              <a:path w="2910840" h="973454">
                <a:moveTo>
                  <a:pt x="2772917" y="809879"/>
                </a:moveTo>
                <a:lnTo>
                  <a:pt x="2755679" y="864389"/>
                </a:lnTo>
                <a:lnTo>
                  <a:pt x="2782951" y="872998"/>
                </a:lnTo>
                <a:lnTo>
                  <a:pt x="2765679" y="927481"/>
                </a:lnTo>
                <a:lnTo>
                  <a:pt x="2894328" y="927481"/>
                </a:lnTo>
                <a:lnTo>
                  <a:pt x="2772917" y="809879"/>
                </a:lnTo>
                <a:close/>
              </a:path>
              <a:path w="2910840" h="973454">
                <a:moveTo>
                  <a:pt x="17272" y="0"/>
                </a:moveTo>
                <a:lnTo>
                  <a:pt x="0" y="54483"/>
                </a:lnTo>
                <a:lnTo>
                  <a:pt x="2738446" y="918884"/>
                </a:lnTo>
                <a:lnTo>
                  <a:pt x="2755679" y="864389"/>
                </a:lnTo>
                <a:lnTo>
                  <a:pt x="17272" y="0"/>
                </a:lnTo>
                <a:close/>
              </a:path>
            </a:pathLst>
          </a:custGeom>
          <a:solidFill>
            <a:srgbClr val="FF0000"/>
          </a:solidFill>
        </p:spPr>
        <p:txBody>
          <a:bodyPr wrap="square" lIns="0" tIns="0" rIns="0" bIns="0" rtlCol="0"/>
          <a:lstStyle>
            <a:defPPr>
              <a:defRPr kern="0"/>
            </a:defPPr>
          </a:lstStyle>
          <a:p>
            <a:endParaRPr/>
          </a:p>
        </p:txBody>
      </p:sp>
      <p:sp>
        <p:nvSpPr>
          <p:cNvPr id="16" name="object 26">
            <a:extLst>
              <a:ext uri="{FF2B5EF4-FFF2-40B4-BE49-F238E27FC236}">
                <a16:creationId xmlns:a16="http://schemas.microsoft.com/office/drawing/2014/main" id="{99A3234B-B807-2BC4-70F7-3225543242BA}"/>
              </a:ext>
            </a:extLst>
          </p:cNvPr>
          <p:cNvSpPr txBox="1"/>
          <p:nvPr/>
        </p:nvSpPr>
        <p:spPr>
          <a:xfrm>
            <a:off x="3755123" y="478407"/>
            <a:ext cx="254000" cy="754380"/>
          </a:xfrm>
          <a:prstGeom prst="rect">
            <a:avLst/>
          </a:prstGeom>
        </p:spPr>
        <p:txBody>
          <a:bodyPr vert="horz" wrap="square" lIns="0" tIns="59055" rIns="0" bIns="0" rtlCol="0">
            <a:spAutoFit/>
          </a:bodyPr>
          <a:lstStyle>
            <a:defPPr>
              <a:defRPr kern="0"/>
            </a:defPPr>
          </a:lstStyle>
          <a:p>
            <a:pPr marL="12700" marR="5080" algn="just">
              <a:lnSpc>
                <a:spcPts val="1789"/>
              </a:lnSpc>
              <a:spcBef>
                <a:spcPts val="465"/>
              </a:spcBef>
            </a:pPr>
            <a:r>
              <a:rPr sz="1800" b="1" spc="-50" dirty="0">
                <a:solidFill>
                  <a:srgbClr val="FFFF66"/>
                </a:solidFill>
                <a:latin typeface="Microsoft JhengHei"/>
                <a:cs typeface="Microsoft JhengHei"/>
              </a:rPr>
              <a:t>纹孔缘</a:t>
            </a:r>
            <a:endParaRPr sz="1800">
              <a:latin typeface="Microsoft JhengHei"/>
              <a:cs typeface="Microsoft JhengHei"/>
            </a:endParaRPr>
          </a:p>
        </p:txBody>
      </p:sp>
      <p:sp>
        <p:nvSpPr>
          <p:cNvPr id="18" name="object 28">
            <a:extLst>
              <a:ext uri="{FF2B5EF4-FFF2-40B4-BE49-F238E27FC236}">
                <a16:creationId xmlns:a16="http://schemas.microsoft.com/office/drawing/2014/main" id="{2D57F448-6330-8660-6AE4-BE1B39228E20}"/>
              </a:ext>
            </a:extLst>
          </p:cNvPr>
          <p:cNvSpPr txBox="1"/>
          <p:nvPr/>
        </p:nvSpPr>
        <p:spPr>
          <a:xfrm>
            <a:off x="140729" y="4736109"/>
            <a:ext cx="3293110" cy="997585"/>
          </a:xfrm>
          <a:prstGeom prst="rect">
            <a:avLst/>
          </a:prstGeom>
        </p:spPr>
        <p:txBody>
          <a:bodyPr vert="horz" wrap="square" lIns="0" tIns="81915" rIns="0" bIns="0" rtlCol="0">
            <a:spAutoFit/>
          </a:bodyPr>
          <a:lstStyle>
            <a:defPPr>
              <a:defRPr kern="0"/>
            </a:defPPr>
          </a:lstStyle>
          <a:p>
            <a:pPr marL="187960">
              <a:lnSpc>
                <a:spcPct val="100000"/>
              </a:lnSpc>
              <a:spcBef>
                <a:spcPts val="645"/>
              </a:spcBef>
            </a:pPr>
            <a:r>
              <a:rPr sz="2000" b="1" spc="-20" dirty="0">
                <a:latin typeface="Microsoft JhengHei"/>
                <a:cs typeface="Microsoft JhengHei"/>
              </a:rPr>
              <a:t>切面观</a:t>
            </a:r>
            <a:endParaRPr sz="2000" dirty="0">
              <a:latin typeface="Microsoft JhengHei"/>
              <a:cs typeface="Microsoft JhengHei"/>
            </a:endParaRPr>
          </a:p>
          <a:p>
            <a:pPr marL="12700">
              <a:lnSpc>
                <a:spcPct val="100000"/>
              </a:lnSpc>
              <a:spcBef>
                <a:spcPts val="865"/>
              </a:spcBef>
            </a:pPr>
            <a:r>
              <a:rPr sz="3200" b="1" spc="-10" dirty="0">
                <a:latin typeface="Microsoft JhengHei"/>
                <a:cs typeface="Microsoft JhengHei"/>
              </a:rPr>
              <a:t>具缘纹孔结构图解</a:t>
            </a:r>
            <a:endParaRPr sz="3200" dirty="0">
              <a:latin typeface="Microsoft JhengHei"/>
              <a:cs typeface="Microsoft JhengHei"/>
            </a:endParaRPr>
          </a:p>
        </p:txBody>
      </p:sp>
      <p:sp>
        <p:nvSpPr>
          <p:cNvPr id="19" name="object 29">
            <a:extLst>
              <a:ext uri="{FF2B5EF4-FFF2-40B4-BE49-F238E27FC236}">
                <a16:creationId xmlns:a16="http://schemas.microsoft.com/office/drawing/2014/main" id="{E0451AB0-DD4D-9E2E-DC67-58B8ABE14F05}"/>
              </a:ext>
            </a:extLst>
          </p:cNvPr>
          <p:cNvSpPr txBox="1"/>
          <p:nvPr/>
        </p:nvSpPr>
        <p:spPr>
          <a:xfrm>
            <a:off x="2028686" y="2949499"/>
            <a:ext cx="793750" cy="330835"/>
          </a:xfrm>
          <a:prstGeom prst="rect">
            <a:avLst/>
          </a:prstGeom>
        </p:spPr>
        <p:txBody>
          <a:bodyPr vert="horz" wrap="square" lIns="0" tIns="13335" rIns="0" bIns="0" rtlCol="0">
            <a:spAutoFit/>
          </a:bodyPr>
          <a:lstStyle>
            <a:defPPr>
              <a:defRPr kern="0"/>
            </a:defPPr>
          </a:lstStyle>
          <a:p>
            <a:pPr marL="12700">
              <a:lnSpc>
                <a:spcPct val="100000"/>
              </a:lnSpc>
              <a:spcBef>
                <a:spcPts val="105"/>
              </a:spcBef>
            </a:pPr>
            <a:r>
              <a:rPr sz="2000" b="1" spc="-20" dirty="0">
                <a:latin typeface="Microsoft JhengHei"/>
                <a:cs typeface="Microsoft JhengHei"/>
              </a:rPr>
              <a:t>表面观</a:t>
            </a:r>
            <a:endParaRPr sz="2000">
              <a:latin typeface="Microsoft JhengHei"/>
              <a:cs typeface="Microsoft JhengHei"/>
            </a:endParaRPr>
          </a:p>
        </p:txBody>
      </p:sp>
      <p:grpSp>
        <p:nvGrpSpPr>
          <p:cNvPr id="44" name="组合 43">
            <a:extLst>
              <a:ext uri="{FF2B5EF4-FFF2-40B4-BE49-F238E27FC236}">
                <a16:creationId xmlns:a16="http://schemas.microsoft.com/office/drawing/2014/main" id="{89D90BFB-5FF6-8524-2BF8-1301D4A90BB7}"/>
              </a:ext>
            </a:extLst>
          </p:cNvPr>
          <p:cNvGrpSpPr/>
          <p:nvPr/>
        </p:nvGrpSpPr>
        <p:grpSpPr>
          <a:xfrm>
            <a:off x="3859958" y="4221088"/>
            <a:ext cx="4981829" cy="2810382"/>
            <a:chOff x="3732010" y="8433"/>
            <a:chExt cx="4981829" cy="2810382"/>
          </a:xfrm>
        </p:grpSpPr>
        <p:pic>
          <p:nvPicPr>
            <p:cNvPr id="21" name="object 24">
              <a:extLst>
                <a:ext uri="{FF2B5EF4-FFF2-40B4-BE49-F238E27FC236}">
                  <a16:creationId xmlns:a16="http://schemas.microsoft.com/office/drawing/2014/main" id="{F445EA90-F174-BC99-595B-D08214E88334}"/>
                </a:ext>
              </a:extLst>
            </p:cNvPr>
            <p:cNvPicPr/>
            <p:nvPr/>
          </p:nvPicPr>
          <p:blipFill>
            <a:blip r:embed="rId8" cstate="print"/>
            <a:stretch>
              <a:fillRect/>
            </a:stretch>
          </p:blipFill>
          <p:spPr>
            <a:xfrm>
              <a:off x="3732010" y="8433"/>
              <a:ext cx="4981829" cy="2402966"/>
            </a:xfrm>
            <a:prstGeom prst="rect">
              <a:avLst/>
            </a:prstGeom>
          </p:spPr>
        </p:pic>
        <p:sp>
          <p:nvSpPr>
            <p:cNvPr id="20" name="object 30">
              <a:extLst>
                <a:ext uri="{FF2B5EF4-FFF2-40B4-BE49-F238E27FC236}">
                  <a16:creationId xmlns:a16="http://schemas.microsoft.com/office/drawing/2014/main" id="{F6322E65-9CE6-02B1-194C-45FB26FD5601}"/>
                </a:ext>
              </a:extLst>
            </p:cNvPr>
            <p:cNvSpPr txBox="1"/>
            <p:nvPr/>
          </p:nvSpPr>
          <p:spPr>
            <a:xfrm>
              <a:off x="4884916" y="190550"/>
              <a:ext cx="3630295" cy="2628265"/>
            </a:xfrm>
            <a:prstGeom prst="rect">
              <a:avLst/>
            </a:prstGeom>
          </p:spPr>
          <p:txBody>
            <a:bodyPr vert="horz" wrap="square" lIns="0" tIns="12700" rIns="0" bIns="0" rtlCol="0">
              <a:spAutoFit/>
            </a:bodyPr>
            <a:lstStyle>
              <a:defPPr>
                <a:defRPr kern="0"/>
              </a:defPPr>
            </a:lstStyle>
            <a:p>
              <a:pPr marL="2926715" marR="5080" algn="r">
                <a:lnSpc>
                  <a:spcPct val="125000"/>
                </a:lnSpc>
                <a:spcBef>
                  <a:spcPts val="100"/>
                </a:spcBef>
              </a:pPr>
              <a:r>
                <a:rPr sz="1800" b="1" spc="-20" dirty="0">
                  <a:solidFill>
                    <a:srgbClr val="FF0000"/>
                  </a:solidFill>
                  <a:latin typeface="Microsoft JhengHei"/>
                  <a:cs typeface="Microsoft JhengHei"/>
                </a:rPr>
                <a:t>纹孔口纹孔缘</a:t>
              </a:r>
              <a:endParaRPr sz="1800" dirty="0">
                <a:latin typeface="Microsoft JhengHei"/>
                <a:cs typeface="Microsoft JhengHei"/>
              </a:endParaRPr>
            </a:p>
            <a:p>
              <a:pPr>
                <a:lnSpc>
                  <a:spcPct val="100000"/>
                </a:lnSpc>
                <a:spcBef>
                  <a:spcPts val="1985"/>
                </a:spcBef>
              </a:pPr>
              <a:endParaRPr sz="1800" dirty="0">
                <a:latin typeface="Microsoft JhengHei"/>
                <a:cs typeface="Microsoft JhengHei"/>
              </a:endParaRPr>
            </a:p>
            <a:p>
              <a:pPr marL="1380490" marR="1551305">
                <a:lnSpc>
                  <a:spcPct val="125099"/>
                </a:lnSpc>
              </a:pPr>
              <a:r>
                <a:rPr sz="1800" b="1" spc="-20" dirty="0">
                  <a:solidFill>
                    <a:srgbClr val="FF0000"/>
                  </a:solidFill>
                  <a:latin typeface="Microsoft JhengHei"/>
                  <a:cs typeface="Microsoft JhengHei"/>
                </a:rPr>
                <a:t>纹孔塞</a:t>
              </a:r>
              <a:r>
                <a:rPr sz="1800" b="1" spc="-25" dirty="0">
                  <a:solidFill>
                    <a:srgbClr val="FF0000"/>
                  </a:solidFill>
                  <a:latin typeface="Microsoft JhengHei"/>
                  <a:cs typeface="Microsoft JhengHei"/>
                </a:rPr>
                <a:t>塞缘</a:t>
              </a:r>
              <a:endParaRPr sz="1800" dirty="0">
                <a:latin typeface="Microsoft JhengHei"/>
                <a:cs typeface="Microsoft JhengHei"/>
              </a:endParaRPr>
            </a:p>
            <a:p>
              <a:pPr marL="12700">
                <a:lnSpc>
                  <a:spcPct val="100000"/>
                </a:lnSpc>
                <a:spcBef>
                  <a:spcPts val="1510"/>
                </a:spcBef>
              </a:pPr>
              <a:r>
                <a:rPr sz="2400" b="1" spc="-10" dirty="0">
                  <a:latin typeface="Microsoft JhengHei"/>
                  <a:cs typeface="Microsoft JhengHei"/>
                </a:rPr>
                <a:t>松茎管胞内面观</a:t>
              </a:r>
              <a:endParaRPr sz="2400" dirty="0">
                <a:latin typeface="Microsoft JhengHei"/>
                <a:cs typeface="Microsoft JhengHei"/>
              </a:endParaRPr>
            </a:p>
          </p:txBody>
        </p:sp>
      </p:grpSp>
      <p:sp>
        <p:nvSpPr>
          <p:cNvPr id="35" name="文本框 34">
            <a:extLst>
              <a:ext uri="{FF2B5EF4-FFF2-40B4-BE49-F238E27FC236}">
                <a16:creationId xmlns:a16="http://schemas.microsoft.com/office/drawing/2014/main" id="{9625903C-F4C1-9D35-9ED7-0B18A0EA1DA5}"/>
              </a:ext>
            </a:extLst>
          </p:cNvPr>
          <p:cNvSpPr txBox="1"/>
          <p:nvPr/>
        </p:nvSpPr>
        <p:spPr>
          <a:xfrm>
            <a:off x="102382" y="151960"/>
            <a:ext cx="3776821" cy="1200329"/>
          </a:xfrm>
          <a:prstGeom prst="rect">
            <a:avLst/>
          </a:prstGeom>
        </p:spPr>
        <p:txBody>
          <a:bodyPr wrap="square">
            <a:spAutoFit/>
          </a:bodyPr>
          <a:lstStyle/>
          <a:p>
            <a:pPr marL="635000" indent="-1092200"/>
            <a:r>
              <a:rPr lang="zh-CN" altLang="en-US" b="1" dirty="0"/>
              <a:t>纹孔膜</a:t>
            </a:r>
            <a:r>
              <a:rPr lang="zh-CN" altLang="en-US" dirty="0"/>
              <a:t>由各自纹孔处的</a:t>
            </a:r>
            <a:r>
              <a:rPr lang="zh-CN" altLang="en-US" b="1" dirty="0">
                <a:solidFill>
                  <a:srgbClr val="FF3300"/>
                </a:solidFill>
              </a:rPr>
              <a:t>初生壁和胞间层</a:t>
            </a:r>
            <a:r>
              <a:rPr lang="zh-CN" altLang="en-US" dirty="0"/>
              <a:t>共同组成的一层薄膜。</a:t>
            </a:r>
          </a:p>
        </p:txBody>
      </p:sp>
      <p:sp>
        <p:nvSpPr>
          <p:cNvPr id="37" name="文本框 36">
            <a:extLst>
              <a:ext uri="{FF2B5EF4-FFF2-40B4-BE49-F238E27FC236}">
                <a16:creationId xmlns:a16="http://schemas.microsoft.com/office/drawing/2014/main" id="{8732422A-843F-9399-52AA-823356412DE5}"/>
              </a:ext>
            </a:extLst>
          </p:cNvPr>
          <p:cNvSpPr txBox="1"/>
          <p:nvPr/>
        </p:nvSpPr>
        <p:spPr>
          <a:xfrm>
            <a:off x="5617577" y="3818905"/>
            <a:ext cx="3526423" cy="461665"/>
          </a:xfrm>
          <a:prstGeom prst="rect">
            <a:avLst/>
          </a:prstGeom>
          <a:noFill/>
        </p:spPr>
        <p:txBody>
          <a:bodyPr wrap="square">
            <a:spAutoFit/>
          </a:bodyPr>
          <a:lstStyle/>
          <a:p>
            <a:r>
              <a:rPr lang="zh-CN" altLang="en-US" sz="2400" dirty="0">
                <a:solidFill>
                  <a:srgbClr val="FF3300"/>
                </a:solidFill>
                <a:latin typeface="Times New Roman" panose="02020603050405020304" pitchFamily="18" charset="0"/>
              </a:rPr>
              <a:t>控制水流方向和水流量</a:t>
            </a:r>
            <a:endParaRPr lang="zh-CN" altLang="en-US" dirty="0">
              <a:solidFill>
                <a:srgbClr val="FF3300"/>
              </a:solidFill>
            </a:endParaRPr>
          </a:p>
        </p:txBody>
      </p:sp>
      <p:sp>
        <p:nvSpPr>
          <p:cNvPr id="41" name="文本框 40">
            <a:extLst>
              <a:ext uri="{FF2B5EF4-FFF2-40B4-BE49-F238E27FC236}">
                <a16:creationId xmlns:a16="http://schemas.microsoft.com/office/drawing/2014/main" id="{D7621238-C874-F984-67B3-7AAB8AF69EC5}"/>
              </a:ext>
            </a:extLst>
          </p:cNvPr>
          <p:cNvSpPr txBox="1"/>
          <p:nvPr/>
        </p:nvSpPr>
        <p:spPr>
          <a:xfrm>
            <a:off x="5325477" y="3501008"/>
            <a:ext cx="3851882" cy="461665"/>
          </a:xfrm>
          <a:prstGeom prst="rect">
            <a:avLst/>
          </a:prstGeom>
          <a:noFill/>
        </p:spPr>
        <p:txBody>
          <a:bodyPr wrap="square">
            <a:spAutoFit/>
          </a:bodyPr>
          <a:lstStyle/>
          <a:p>
            <a:r>
              <a:rPr lang="zh-CN" altLang="en-US" sz="2400" dirty="0">
                <a:latin typeface="Times New Roman" panose="02020603050405020304" pitchFamily="18" charset="0"/>
              </a:rPr>
              <a:t>纹孔塞（</a:t>
            </a:r>
            <a:r>
              <a:rPr lang="zh-CN" altLang="en-US" sz="2400" dirty="0">
                <a:solidFill>
                  <a:srgbClr val="FF3300"/>
                </a:solidFill>
                <a:latin typeface="Times New Roman" panose="02020603050405020304" pitchFamily="18" charset="0"/>
              </a:rPr>
              <a:t>初生壁</a:t>
            </a:r>
            <a:r>
              <a:rPr lang="zh-CN" altLang="en-US" sz="2400" dirty="0">
                <a:latin typeface="Times New Roman" panose="02020603050405020304" pitchFamily="18" charset="0"/>
              </a:rPr>
              <a:t>性质增厚）</a:t>
            </a:r>
            <a:endParaRPr lang="zh-CN" altLang="en-US" dirty="0"/>
          </a:p>
        </p:txBody>
      </p:sp>
    </p:spTree>
    <p:extLst>
      <p:ext uri="{BB962C8B-B14F-4D97-AF65-F5344CB8AC3E}">
        <p14:creationId xmlns:p14="http://schemas.microsoft.com/office/powerpoint/2010/main" val="75584884"/>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8818" name="内容占位符 3"/>
          <p:cNvPicPr>
            <a:picLocks noGrp="1" noChangeAspect="1"/>
          </p:cNvPicPr>
          <p:nvPr>
            <p:ph idx="1"/>
          </p:nvPr>
        </p:nvPicPr>
        <p:blipFill>
          <a:blip r:embed="rId2"/>
          <a:stretch>
            <a:fillRect/>
          </a:stretch>
        </p:blipFill>
        <p:spPr>
          <a:xfrm>
            <a:off x="717550" y="500063"/>
            <a:ext cx="7110413" cy="5610225"/>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42" name="内容占位符 3"/>
          <p:cNvPicPr>
            <a:picLocks noGrp="1" noChangeAspect="1"/>
          </p:cNvPicPr>
          <p:nvPr>
            <p:ph idx="1"/>
          </p:nvPr>
        </p:nvPicPr>
        <p:blipFill>
          <a:blip r:embed="rId2"/>
          <a:stretch>
            <a:fillRect/>
          </a:stretch>
        </p:blipFill>
        <p:spPr>
          <a:xfrm>
            <a:off x="517525" y="742950"/>
            <a:ext cx="8201025" cy="4265613"/>
          </a:xfr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9462A904-C8FA-C11B-4102-8EF162A73C13}"/>
              </a:ext>
            </a:extLst>
          </p:cNvPr>
          <p:cNvSpPr txBox="1">
            <a:spLocks noGrp="1"/>
          </p:cNvSpPr>
          <p:nvPr>
            <p:ph type="title"/>
          </p:nvPr>
        </p:nvSpPr>
        <p:spPr>
          <a:xfrm>
            <a:off x="3282822" y="46735"/>
            <a:ext cx="1861820" cy="574040"/>
          </a:xfrm>
          <a:prstGeom prst="rect">
            <a:avLst/>
          </a:prstGeom>
        </p:spPr>
        <p:txBody>
          <a:bodyPr vert="horz" wrap="square" lIns="0" tIns="12700" rIns="0" bIns="0" rtlCol="0">
            <a:spAutoFit/>
          </a:bodyPr>
          <a:lstStyle/>
          <a:p>
            <a:pPr marL="12700">
              <a:lnSpc>
                <a:spcPct val="100000"/>
              </a:lnSpc>
              <a:spcBef>
                <a:spcPts val="100"/>
              </a:spcBef>
            </a:pPr>
            <a:r>
              <a:rPr sz="3600" b="1" spc="-15" dirty="0">
                <a:solidFill>
                  <a:srgbClr val="336600"/>
                </a:solidFill>
                <a:latin typeface="楷体" panose="02010609060101010101" pitchFamily="49" charset="-122"/>
                <a:ea typeface="楷体" panose="02010609060101010101" pitchFamily="49" charset="-122"/>
                <a:cs typeface="Malgun Gothic"/>
              </a:rPr>
              <a:t>石蜡制片</a:t>
            </a:r>
            <a:endParaRPr sz="3600" b="1" dirty="0">
              <a:latin typeface="楷体" panose="02010609060101010101" pitchFamily="49" charset="-122"/>
              <a:ea typeface="楷体" panose="02010609060101010101" pitchFamily="49" charset="-122"/>
              <a:cs typeface="Malgun Gothic"/>
            </a:endParaRPr>
          </a:p>
        </p:txBody>
      </p:sp>
      <p:sp>
        <p:nvSpPr>
          <p:cNvPr id="6" name="object 3">
            <a:extLst>
              <a:ext uri="{FF2B5EF4-FFF2-40B4-BE49-F238E27FC236}">
                <a16:creationId xmlns:a16="http://schemas.microsoft.com/office/drawing/2014/main" id="{B111898A-0798-D986-8A31-260DDCF10090}"/>
              </a:ext>
            </a:extLst>
          </p:cNvPr>
          <p:cNvSpPr txBox="1"/>
          <p:nvPr/>
        </p:nvSpPr>
        <p:spPr>
          <a:xfrm>
            <a:off x="186639" y="461543"/>
            <a:ext cx="8942705" cy="3316604"/>
          </a:xfrm>
          <a:prstGeom prst="rect">
            <a:avLst/>
          </a:prstGeom>
        </p:spPr>
        <p:txBody>
          <a:bodyPr vert="horz" wrap="square" lIns="0" tIns="56515" rIns="0" bIns="0" rtlCol="0">
            <a:spAutoFit/>
          </a:bodyPr>
          <a:lstStyle/>
          <a:p>
            <a:pPr marL="12700">
              <a:lnSpc>
                <a:spcPct val="100000"/>
              </a:lnSpc>
              <a:spcBef>
                <a:spcPts val="445"/>
              </a:spcBef>
            </a:pPr>
            <a:r>
              <a:rPr sz="2800" b="1" spc="-35" dirty="0">
                <a:latin typeface="楷体" panose="02010609060101010101" pitchFamily="49" charset="-122"/>
                <a:ea typeface="楷体" panose="02010609060101010101" pitchFamily="49" charset="-122"/>
                <a:cs typeface="Microsoft JhengHei"/>
              </a:rPr>
              <a:t>常用染色剂：</a:t>
            </a:r>
            <a:endParaRPr sz="2800" dirty="0">
              <a:latin typeface="楷体" panose="02010609060101010101" pitchFamily="49" charset="-122"/>
              <a:ea typeface="楷体" panose="02010609060101010101" pitchFamily="49" charset="-122"/>
              <a:cs typeface="Microsoft JhengHei"/>
            </a:endParaRPr>
          </a:p>
          <a:p>
            <a:pPr marL="12700" marR="5080" indent="358775">
              <a:lnSpc>
                <a:spcPct val="110100"/>
              </a:lnSpc>
              <a:spcBef>
                <a:spcPts val="10"/>
              </a:spcBef>
              <a:buSzPct val="96428"/>
              <a:buAutoNum type="arabicPeriod"/>
              <a:tabLst>
                <a:tab pos="371475" algn="l"/>
              </a:tabLst>
            </a:pPr>
            <a:r>
              <a:rPr sz="2800" b="1" spc="-35" dirty="0">
                <a:solidFill>
                  <a:srgbClr val="6F2F9F"/>
                </a:solidFill>
                <a:latin typeface="楷体" panose="02010609060101010101" pitchFamily="49" charset="-122"/>
                <a:ea typeface="楷体" panose="02010609060101010101" pitchFamily="49" charset="-122"/>
                <a:cs typeface="Microsoft JhengHei"/>
              </a:rPr>
              <a:t>苏木精：观察细胞核，分裂相。细胞结构呈不同的蓝、</a:t>
            </a:r>
            <a:r>
              <a:rPr sz="2800" b="1" spc="-30" dirty="0">
                <a:solidFill>
                  <a:srgbClr val="6F2F9F"/>
                </a:solidFill>
                <a:latin typeface="楷体" panose="02010609060101010101" pitchFamily="49" charset="-122"/>
                <a:ea typeface="楷体" panose="02010609060101010101" pitchFamily="49" charset="-122"/>
                <a:cs typeface="Microsoft JhengHei"/>
              </a:rPr>
              <a:t>紫、红色。与分色</a:t>
            </a:r>
            <a:r>
              <a:rPr sz="2800" b="1" spc="-610" dirty="0">
                <a:solidFill>
                  <a:srgbClr val="6F2F9F"/>
                </a:solidFill>
                <a:latin typeface="楷体" panose="02010609060101010101" pitchFamily="49" charset="-122"/>
                <a:ea typeface="楷体" panose="02010609060101010101" pitchFamily="49" charset="-122"/>
                <a:cs typeface="Microsoft JhengHei"/>
              </a:rPr>
              <a:t>pH</a:t>
            </a:r>
            <a:r>
              <a:rPr sz="2800" b="1" spc="-35" dirty="0">
                <a:solidFill>
                  <a:srgbClr val="6F2F9F"/>
                </a:solidFill>
                <a:latin typeface="楷体" panose="02010609060101010101" pitchFamily="49" charset="-122"/>
                <a:ea typeface="楷体" panose="02010609060101010101" pitchFamily="49" charset="-122"/>
                <a:cs typeface="Microsoft JhengHei"/>
              </a:rPr>
              <a:t>值有关。</a:t>
            </a:r>
            <a:endParaRPr sz="2800" dirty="0">
              <a:latin typeface="楷体" panose="02010609060101010101" pitchFamily="49" charset="-122"/>
              <a:ea typeface="楷体" panose="02010609060101010101" pitchFamily="49" charset="-122"/>
              <a:cs typeface="Microsoft JhengHei"/>
            </a:endParaRPr>
          </a:p>
          <a:p>
            <a:pPr marL="371475" indent="-358775">
              <a:lnSpc>
                <a:spcPct val="100000"/>
              </a:lnSpc>
              <a:spcBef>
                <a:spcPts val="335"/>
              </a:spcBef>
              <a:buSzPct val="96428"/>
              <a:buAutoNum type="arabicPeriod"/>
              <a:tabLst>
                <a:tab pos="371475" algn="l"/>
              </a:tabLst>
            </a:pPr>
            <a:r>
              <a:rPr sz="2800" b="1" spc="-35" dirty="0">
                <a:latin typeface="楷体" panose="02010609060101010101" pitchFamily="49" charset="-122"/>
                <a:ea typeface="楷体" panose="02010609060101010101" pitchFamily="49" charset="-122"/>
                <a:cs typeface="Microsoft JhengHei"/>
              </a:rPr>
              <a:t>番红固绿对染：组织学观察</a:t>
            </a:r>
            <a:endParaRPr sz="2800" dirty="0">
              <a:latin typeface="楷体" panose="02010609060101010101" pitchFamily="49" charset="-122"/>
              <a:ea typeface="楷体" panose="02010609060101010101" pitchFamily="49" charset="-122"/>
              <a:cs typeface="Microsoft JhengHei"/>
            </a:endParaRPr>
          </a:p>
          <a:p>
            <a:pPr marL="12700" marR="8255">
              <a:lnSpc>
                <a:spcPct val="110100"/>
              </a:lnSpc>
              <a:spcBef>
                <a:spcPts val="10"/>
              </a:spcBef>
            </a:pPr>
            <a:r>
              <a:rPr sz="2800" b="1" spc="-35" dirty="0">
                <a:solidFill>
                  <a:srgbClr val="FF0000"/>
                </a:solidFill>
                <a:latin typeface="楷体" panose="02010609060101010101" pitchFamily="49" charset="-122"/>
                <a:ea typeface="楷体" panose="02010609060101010101" pitchFamily="49" charset="-122"/>
                <a:cs typeface="Microsoft JhengHei"/>
              </a:rPr>
              <a:t>番红：碱性染料，木化细胞壁红色，角化细胞壁粉红色，栓化细胞壁黄褐色，染色体、核仁、中心体红色。</a:t>
            </a:r>
            <a:endParaRPr sz="2800" dirty="0">
              <a:latin typeface="楷体" panose="02010609060101010101" pitchFamily="49" charset="-122"/>
              <a:ea typeface="楷体" panose="02010609060101010101" pitchFamily="49" charset="-122"/>
              <a:cs typeface="Microsoft JhengHei"/>
            </a:endParaRPr>
          </a:p>
          <a:p>
            <a:pPr marL="12700">
              <a:lnSpc>
                <a:spcPct val="100000"/>
              </a:lnSpc>
              <a:spcBef>
                <a:spcPts val="335"/>
              </a:spcBef>
            </a:pPr>
            <a:r>
              <a:rPr sz="2800" b="1" spc="-35" dirty="0">
                <a:solidFill>
                  <a:srgbClr val="339966"/>
                </a:solidFill>
                <a:latin typeface="楷体" panose="02010609060101010101" pitchFamily="49" charset="-122"/>
                <a:ea typeface="楷体" panose="02010609060101010101" pitchFamily="49" charset="-122"/>
                <a:cs typeface="Microsoft JhengHei"/>
              </a:rPr>
              <a:t>固绿：酸性染料，细胞质和纤维素壁染成绿色。</a:t>
            </a:r>
            <a:endParaRPr sz="2800" dirty="0">
              <a:latin typeface="楷体" panose="02010609060101010101" pitchFamily="49" charset="-122"/>
              <a:ea typeface="楷体" panose="02010609060101010101" pitchFamily="49" charset="-122"/>
              <a:cs typeface="Microsoft JhengHei"/>
            </a:endParaRPr>
          </a:p>
        </p:txBody>
      </p:sp>
      <p:sp>
        <p:nvSpPr>
          <p:cNvPr id="7" name="object 4">
            <a:extLst>
              <a:ext uri="{FF2B5EF4-FFF2-40B4-BE49-F238E27FC236}">
                <a16:creationId xmlns:a16="http://schemas.microsoft.com/office/drawing/2014/main" id="{5972631C-9579-79C1-AE4E-0E50885130E1}"/>
              </a:ext>
            </a:extLst>
          </p:cNvPr>
          <p:cNvSpPr txBox="1"/>
          <p:nvPr/>
        </p:nvSpPr>
        <p:spPr>
          <a:xfrm>
            <a:off x="1745995" y="6184493"/>
            <a:ext cx="117602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0000FF"/>
                </a:solidFill>
                <a:latin typeface="楷体" panose="02010609060101010101" pitchFamily="49" charset="-122"/>
                <a:ea typeface="楷体" panose="02010609060101010101" pitchFamily="49" charset="-122"/>
                <a:cs typeface="Microsoft YaHei"/>
              </a:rPr>
              <a:t>苏木精染色</a:t>
            </a:r>
            <a:endParaRPr sz="1800">
              <a:latin typeface="楷体" panose="02010609060101010101" pitchFamily="49" charset="-122"/>
              <a:ea typeface="楷体" panose="02010609060101010101" pitchFamily="49" charset="-122"/>
              <a:cs typeface="Microsoft YaHei"/>
            </a:endParaRPr>
          </a:p>
        </p:txBody>
      </p:sp>
      <p:sp>
        <p:nvSpPr>
          <p:cNvPr id="8" name="object 5">
            <a:extLst>
              <a:ext uri="{FF2B5EF4-FFF2-40B4-BE49-F238E27FC236}">
                <a16:creationId xmlns:a16="http://schemas.microsoft.com/office/drawing/2014/main" id="{015FC4CE-3CE5-3D45-5F03-6BECBE5641F8}"/>
              </a:ext>
            </a:extLst>
          </p:cNvPr>
          <p:cNvSpPr txBox="1"/>
          <p:nvPr/>
        </p:nvSpPr>
        <p:spPr>
          <a:xfrm>
            <a:off x="5311266" y="6184493"/>
            <a:ext cx="1709006"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00FF"/>
                </a:solidFill>
                <a:latin typeface="楷体" panose="02010609060101010101" pitchFamily="49" charset="-122"/>
                <a:ea typeface="楷体" panose="02010609060101010101" pitchFamily="49" charset="-122"/>
                <a:cs typeface="Microsoft YaHei"/>
              </a:rPr>
              <a:t>番红</a:t>
            </a:r>
            <a:r>
              <a:rPr sz="1800" b="1" spc="-10" dirty="0">
                <a:solidFill>
                  <a:srgbClr val="0000FF"/>
                </a:solidFill>
                <a:latin typeface="楷体" panose="02010609060101010101" pitchFamily="49" charset="-122"/>
                <a:ea typeface="楷体" panose="02010609060101010101" pitchFamily="49" charset="-122"/>
                <a:cs typeface="Arial"/>
              </a:rPr>
              <a:t>-</a:t>
            </a:r>
            <a:r>
              <a:rPr sz="1800" b="1" spc="-15" dirty="0">
                <a:solidFill>
                  <a:srgbClr val="0000FF"/>
                </a:solidFill>
                <a:latin typeface="楷体" panose="02010609060101010101" pitchFamily="49" charset="-122"/>
                <a:ea typeface="楷体" panose="02010609060101010101" pitchFamily="49" charset="-122"/>
                <a:cs typeface="Microsoft YaHei"/>
              </a:rPr>
              <a:t>固绿对染</a:t>
            </a:r>
            <a:endParaRPr sz="1800" dirty="0">
              <a:latin typeface="楷体" panose="02010609060101010101" pitchFamily="49" charset="-122"/>
              <a:ea typeface="楷体" panose="02010609060101010101" pitchFamily="49" charset="-122"/>
              <a:cs typeface="Microsoft YaHei"/>
            </a:endParaRPr>
          </a:p>
        </p:txBody>
      </p:sp>
      <p:pic>
        <p:nvPicPr>
          <p:cNvPr id="9" name="object 6">
            <a:extLst>
              <a:ext uri="{FF2B5EF4-FFF2-40B4-BE49-F238E27FC236}">
                <a16:creationId xmlns:a16="http://schemas.microsoft.com/office/drawing/2014/main" id="{08EDA6AD-7852-4B7D-F52B-F8B0A2ABA0B3}"/>
              </a:ext>
            </a:extLst>
          </p:cNvPr>
          <p:cNvPicPr/>
          <p:nvPr/>
        </p:nvPicPr>
        <p:blipFill>
          <a:blip r:embed="rId2" cstate="print"/>
          <a:stretch>
            <a:fillRect/>
          </a:stretch>
        </p:blipFill>
        <p:spPr>
          <a:xfrm>
            <a:off x="4139946" y="3860736"/>
            <a:ext cx="3940175" cy="2316226"/>
          </a:xfrm>
          <a:prstGeom prst="rect">
            <a:avLst/>
          </a:prstGeom>
        </p:spPr>
      </p:pic>
      <p:pic>
        <p:nvPicPr>
          <p:cNvPr id="10" name="object 7">
            <a:extLst>
              <a:ext uri="{FF2B5EF4-FFF2-40B4-BE49-F238E27FC236}">
                <a16:creationId xmlns:a16="http://schemas.microsoft.com/office/drawing/2014/main" id="{CB286C90-976B-4C42-F3D8-6549E1E2595F}"/>
              </a:ext>
            </a:extLst>
          </p:cNvPr>
          <p:cNvPicPr/>
          <p:nvPr/>
        </p:nvPicPr>
        <p:blipFill>
          <a:blip r:embed="rId3" cstate="print"/>
          <a:stretch>
            <a:fillRect/>
          </a:stretch>
        </p:blipFill>
        <p:spPr>
          <a:xfrm>
            <a:off x="1475613" y="3861015"/>
            <a:ext cx="2043684" cy="2314829"/>
          </a:xfrm>
          <a:prstGeom prst="rect">
            <a:avLst/>
          </a:prstGeom>
        </p:spPr>
      </p:pic>
    </p:spTree>
    <p:extLst>
      <p:ext uri="{BB962C8B-B14F-4D97-AF65-F5344CB8AC3E}">
        <p14:creationId xmlns:p14="http://schemas.microsoft.com/office/powerpoint/2010/main" val="2024596574"/>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0865" name="Rectangle 3"/>
          <p:cNvSpPr>
            <a:spLocks noGrp="1"/>
          </p:cNvSpPr>
          <p:nvPr>
            <p:ph type="subTitle" idx="1"/>
          </p:nvPr>
        </p:nvSpPr>
        <p:spPr>
          <a:xfrm>
            <a:off x="0" y="0"/>
            <a:ext cx="9144000" cy="609600"/>
          </a:xfrm>
        </p:spPr>
        <p:txBody>
          <a:bodyPr vert="horz" wrap="square" lIns="91440" tIns="45720" rIns="91440" bIns="45720" anchor="t" anchorCtr="0"/>
          <a:lstStyle/>
          <a:p>
            <a:pPr eaLnBrk="1" hangingPunct="1">
              <a:buSzTx/>
              <a:buFont typeface="Wingdings" panose="05000000000000000000" pitchFamily="2" charset="2"/>
              <a:buNone/>
            </a:pPr>
            <a:r>
              <a:rPr lang="zh-CN" altLang="en-US" sz="3800" dirty="0">
                <a:latin typeface="华文新魏" panose="02010800040101010101" pitchFamily="2" charset="-122"/>
                <a:ea typeface="+mn-ea"/>
                <a:cs typeface="+mn-cs"/>
              </a:rPr>
              <a:t>第一部分  植物形态解剖知识</a:t>
            </a:r>
          </a:p>
        </p:txBody>
      </p:sp>
      <p:sp>
        <p:nvSpPr>
          <p:cNvPr id="420866" name="Text Box 5"/>
          <p:cNvSpPr txBox="1"/>
          <p:nvPr/>
        </p:nvSpPr>
        <p:spPr>
          <a:xfrm>
            <a:off x="0" y="903288"/>
            <a:ext cx="2235200" cy="4364037"/>
          </a:xfrm>
          <a:prstGeom prst="rect">
            <a:avLst/>
          </a:prstGeom>
          <a:noFill/>
          <a:ln w="9525">
            <a:noFill/>
          </a:ln>
        </p:spPr>
        <p:txBody>
          <a:bodyPr anchor="t" anchorCtr="0">
            <a:spAutoFit/>
          </a:bodyPr>
          <a:lstStyle/>
          <a:p>
            <a:pPr>
              <a:spcBef>
                <a:spcPct val="50000"/>
              </a:spcBef>
            </a:pPr>
            <a:r>
              <a:rPr lang="zh-CN" altLang="en-US" sz="2600" dirty="0">
                <a:latin typeface="黑体" panose="02010609060101010101" pitchFamily="49" charset="-122"/>
                <a:ea typeface="黑体" panose="02010609060101010101" pitchFamily="49" charset="-122"/>
              </a:rPr>
              <a:t>概述</a:t>
            </a:r>
          </a:p>
          <a:p>
            <a:pPr>
              <a:spcBef>
                <a:spcPct val="50000"/>
              </a:spcBef>
            </a:pPr>
            <a:r>
              <a:rPr lang="zh-CN" altLang="en-US" sz="2200" b="1" dirty="0">
                <a:latin typeface="黑体" panose="02010609060101010101" pitchFamily="49" charset="-122"/>
                <a:ea typeface="黑体" panose="02010609060101010101" pitchFamily="49" charset="-122"/>
              </a:rPr>
              <a:t>一、植物的组织</a:t>
            </a:r>
            <a:endParaRPr lang="zh-CN" altLang="en-US" sz="2200" b="1" dirty="0">
              <a:latin typeface="黑体" panose="02010609060101010101" pitchFamily="49" charset="-122"/>
              <a:ea typeface="黑体" panose="02010609060101010101" pitchFamily="49" charset="-122"/>
              <a:hlinkClick r:id="rId2" action="ppaction://hlinksldjump"/>
            </a:endParaRPr>
          </a:p>
          <a:p>
            <a:pPr>
              <a:lnSpc>
                <a:spcPct val="50000"/>
              </a:lnSpc>
              <a:spcBef>
                <a:spcPct val="50000"/>
              </a:spcBef>
            </a:pPr>
            <a:r>
              <a:rPr lang="zh-CN" altLang="en-US" sz="2600" dirty="0">
                <a:latin typeface="华文新魏" panose="02010800040101010101" pitchFamily="2" charset="-122"/>
                <a:ea typeface="华文新魏" panose="02010800040101010101" pitchFamily="2" charset="-122"/>
              </a:rPr>
              <a:t>      </a:t>
            </a:r>
          </a:p>
          <a:p>
            <a:pPr>
              <a:spcBef>
                <a:spcPct val="50000"/>
              </a:spcBef>
            </a:pPr>
            <a:endParaRPr lang="zh-CN" altLang="en-US" sz="2600" dirty="0">
              <a:latin typeface="华文新魏" panose="02010800040101010101" pitchFamily="2" charset="-122"/>
              <a:ea typeface="华文新魏" panose="02010800040101010101" pitchFamily="2" charset="-122"/>
            </a:endParaRPr>
          </a:p>
          <a:p>
            <a:pPr>
              <a:spcBef>
                <a:spcPct val="50000"/>
              </a:spcBef>
            </a:pPr>
            <a:endParaRPr lang="zh-CN" altLang="en-US" sz="2600" dirty="0">
              <a:latin typeface="华文新魏" panose="02010800040101010101" pitchFamily="2" charset="-122"/>
              <a:ea typeface="华文新魏" panose="02010800040101010101" pitchFamily="2" charset="-122"/>
            </a:endParaRPr>
          </a:p>
          <a:p>
            <a:pPr>
              <a:spcBef>
                <a:spcPct val="50000"/>
              </a:spcBef>
            </a:pPr>
            <a:endParaRPr lang="zh-CN" altLang="en-US" sz="2600" dirty="0">
              <a:latin typeface="华文新魏" panose="02010800040101010101" pitchFamily="2" charset="-122"/>
              <a:ea typeface="华文新魏" panose="02010800040101010101" pitchFamily="2" charset="-122"/>
            </a:endParaRPr>
          </a:p>
          <a:p>
            <a:pPr>
              <a:spcBef>
                <a:spcPct val="50000"/>
              </a:spcBef>
            </a:pPr>
            <a:endParaRPr lang="zh-CN" altLang="en-US" sz="2600" dirty="0">
              <a:latin typeface="华文新魏" panose="02010800040101010101" pitchFamily="2" charset="-122"/>
              <a:ea typeface="华文新魏" panose="02010800040101010101" pitchFamily="2" charset="-122"/>
            </a:endParaRPr>
          </a:p>
          <a:p>
            <a:pPr>
              <a:lnSpc>
                <a:spcPct val="90000"/>
              </a:lnSpc>
              <a:spcBef>
                <a:spcPct val="50000"/>
              </a:spcBef>
            </a:pPr>
            <a:endParaRPr lang="zh-CN" altLang="en-US" sz="2600" dirty="0">
              <a:latin typeface="华文新魏" panose="02010800040101010101" pitchFamily="2" charset="-122"/>
              <a:ea typeface="华文新魏" panose="02010800040101010101" pitchFamily="2" charset="-122"/>
            </a:endParaRPr>
          </a:p>
        </p:txBody>
      </p:sp>
      <p:sp>
        <p:nvSpPr>
          <p:cNvPr id="420867" name="Text Box 6"/>
          <p:cNvSpPr txBox="1"/>
          <p:nvPr/>
        </p:nvSpPr>
        <p:spPr>
          <a:xfrm>
            <a:off x="2413000" y="844550"/>
            <a:ext cx="558800" cy="1593850"/>
          </a:xfrm>
          <a:prstGeom prst="rect">
            <a:avLst/>
          </a:prstGeom>
          <a:noFill/>
          <a:ln w="9525" cap="flat" cmpd="sng">
            <a:solidFill>
              <a:srgbClr val="FF3300"/>
            </a:solidFill>
            <a:prstDash val="solid"/>
            <a:miter/>
            <a:headEnd type="none" w="med" len="med"/>
            <a:tailEnd type="none" w="med" len="med"/>
          </a:ln>
        </p:spPr>
        <p:txBody>
          <a:bodyPr vert="eaVert" anchor="t" anchorCtr="0">
            <a:spAutoFit/>
          </a:bodyPr>
          <a:lstStyle/>
          <a:p>
            <a:pPr algn="ctr">
              <a:spcBef>
                <a:spcPct val="50000"/>
              </a:spcBef>
            </a:pPr>
            <a:r>
              <a:rPr lang="zh-CN" altLang="en-US" dirty="0">
                <a:latin typeface="华文新魏" panose="02010800040101010101" pitchFamily="2" charset="-122"/>
                <a:ea typeface="华文新魏" panose="02010800040101010101" pitchFamily="2" charset="-122"/>
              </a:rPr>
              <a:t>分生组织</a:t>
            </a:r>
          </a:p>
        </p:txBody>
      </p:sp>
      <p:sp>
        <p:nvSpPr>
          <p:cNvPr id="420868" name="Text Box 7"/>
          <p:cNvSpPr txBox="1"/>
          <p:nvPr/>
        </p:nvSpPr>
        <p:spPr>
          <a:xfrm>
            <a:off x="2438400" y="3876675"/>
            <a:ext cx="558800" cy="1524000"/>
          </a:xfrm>
          <a:prstGeom prst="rect">
            <a:avLst/>
          </a:prstGeom>
          <a:noFill/>
          <a:ln w="9525" cap="flat" cmpd="sng">
            <a:solidFill>
              <a:srgbClr val="FF00FF"/>
            </a:solidFill>
            <a:prstDash val="solid"/>
            <a:miter/>
            <a:headEnd type="none" w="med" len="med"/>
            <a:tailEnd type="none" w="med" len="med"/>
          </a:ln>
        </p:spPr>
        <p:txBody>
          <a:bodyPr vert="eaVert" anchor="t" anchorCtr="0">
            <a:spAutoFit/>
          </a:bodyPr>
          <a:lstStyle/>
          <a:p>
            <a:pPr algn="ctr">
              <a:spcBef>
                <a:spcPct val="50000"/>
              </a:spcBef>
            </a:pPr>
            <a:r>
              <a:rPr lang="zh-CN" altLang="en-US" dirty="0">
                <a:latin typeface="华文新魏" panose="02010800040101010101" pitchFamily="2" charset="-122"/>
                <a:ea typeface="华文新魏" panose="02010800040101010101" pitchFamily="2" charset="-122"/>
              </a:rPr>
              <a:t>成熟组织</a:t>
            </a:r>
          </a:p>
        </p:txBody>
      </p:sp>
      <p:sp>
        <p:nvSpPr>
          <p:cNvPr id="420869" name="Text Box 8"/>
          <p:cNvSpPr txBox="1"/>
          <p:nvPr/>
        </p:nvSpPr>
        <p:spPr>
          <a:xfrm>
            <a:off x="3276600" y="901700"/>
            <a:ext cx="2438400" cy="466725"/>
          </a:xfrm>
          <a:prstGeom prst="rect">
            <a:avLst/>
          </a:prstGeom>
          <a:noFill/>
          <a:ln w="9525" cap="flat" cmpd="sng">
            <a:solidFill>
              <a:srgbClr val="FF3300"/>
            </a:solidFill>
            <a:prstDash val="solid"/>
            <a:miter/>
            <a:headEnd type="none" w="med" len="med"/>
            <a:tailEnd type="none" w="med" len="med"/>
          </a:ln>
        </p:spPr>
        <p:txBody>
          <a:bodyPr anchor="t" anchorCtr="0">
            <a:spAutoFit/>
          </a:bodyPr>
          <a:lstStyle/>
          <a:p>
            <a:pPr algn="ctr">
              <a:spcBef>
                <a:spcPct val="50000"/>
              </a:spcBef>
            </a:pPr>
            <a:r>
              <a:rPr lang="zh-CN" altLang="en-US" dirty="0">
                <a:latin typeface="华文新魏" panose="02010800040101010101" pitchFamily="2" charset="-122"/>
                <a:ea typeface="华文新魏" panose="02010800040101010101" pitchFamily="2" charset="-122"/>
                <a:hlinkClick r:id="rId3" action="ppaction://hlinksldjump"/>
              </a:rPr>
              <a:t>按性质和来源分</a:t>
            </a:r>
            <a:endParaRPr lang="zh-CN" altLang="en-US" dirty="0">
              <a:latin typeface="华文新魏" panose="02010800040101010101" pitchFamily="2" charset="-122"/>
              <a:ea typeface="华文新魏" panose="02010800040101010101" pitchFamily="2" charset="-122"/>
            </a:endParaRPr>
          </a:p>
        </p:txBody>
      </p:sp>
      <p:sp>
        <p:nvSpPr>
          <p:cNvPr id="420870" name="Text Box 9"/>
          <p:cNvSpPr txBox="1"/>
          <p:nvPr/>
        </p:nvSpPr>
        <p:spPr>
          <a:xfrm>
            <a:off x="3276600" y="1885950"/>
            <a:ext cx="2438400" cy="466725"/>
          </a:xfrm>
          <a:prstGeom prst="rect">
            <a:avLst/>
          </a:prstGeom>
          <a:noFill/>
          <a:ln w="9525" cap="flat" cmpd="sng">
            <a:solidFill>
              <a:srgbClr val="FF3300"/>
            </a:solidFill>
            <a:prstDash val="solid"/>
            <a:miter/>
            <a:headEnd type="none" w="med" len="med"/>
            <a:tailEnd type="none" w="med" len="med"/>
          </a:ln>
        </p:spPr>
        <p:txBody>
          <a:bodyPr anchor="t" anchorCtr="0">
            <a:spAutoFit/>
          </a:bodyPr>
          <a:lstStyle/>
          <a:p>
            <a:pPr algn="ctr">
              <a:spcBef>
                <a:spcPct val="50000"/>
              </a:spcBef>
            </a:pPr>
            <a:r>
              <a:rPr lang="zh-CN" altLang="en-US" dirty="0">
                <a:latin typeface="华文新魏" panose="02010800040101010101" pitchFamily="2" charset="-122"/>
                <a:ea typeface="华文新魏" panose="02010800040101010101" pitchFamily="2" charset="-122"/>
                <a:hlinkClick r:id="rId4" action="ppaction://hlinksldjump"/>
              </a:rPr>
              <a:t>按位置分类</a:t>
            </a:r>
            <a:endParaRPr lang="zh-CN" altLang="en-US" dirty="0">
              <a:latin typeface="华文新魏" panose="02010800040101010101" pitchFamily="2" charset="-122"/>
              <a:ea typeface="华文新魏" panose="02010800040101010101" pitchFamily="2" charset="-122"/>
            </a:endParaRPr>
          </a:p>
        </p:txBody>
      </p:sp>
      <p:sp>
        <p:nvSpPr>
          <p:cNvPr id="420871" name="Text Box 11"/>
          <p:cNvSpPr txBox="1"/>
          <p:nvPr/>
        </p:nvSpPr>
        <p:spPr>
          <a:xfrm>
            <a:off x="6019800" y="682625"/>
            <a:ext cx="2057400" cy="904875"/>
          </a:xfrm>
          <a:prstGeom prst="rect">
            <a:avLst/>
          </a:prstGeom>
          <a:noFill/>
          <a:ln w="9525" cap="flat" cmpd="sng">
            <a:solidFill>
              <a:srgbClr val="FF3300"/>
            </a:solidFill>
            <a:prstDash val="solid"/>
            <a:miter/>
            <a:headEnd type="none" w="med" len="med"/>
            <a:tailEnd type="none" w="med" len="med"/>
          </a:ln>
        </p:spPr>
        <p:txBody>
          <a:bodyPr anchor="t" anchorCtr="0">
            <a:spAutoFit/>
          </a:bodyPr>
          <a:lstStyle/>
          <a:p>
            <a:pPr>
              <a:lnSpc>
                <a:spcPct val="70000"/>
              </a:lnSpc>
              <a:spcBef>
                <a:spcPct val="50000"/>
              </a:spcBef>
            </a:pPr>
            <a:r>
              <a:rPr lang="zh-CN" altLang="en-US" dirty="0">
                <a:latin typeface="华文新魏" panose="02010800040101010101" pitchFamily="2" charset="-122"/>
                <a:ea typeface="华文新魏" panose="02010800040101010101" pitchFamily="2" charset="-122"/>
                <a:hlinkClick r:id="rId3" action="ppaction://hlinksldjump"/>
              </a:rPr>
              <a:t>原分生组织</a:t>
            </a:r>
            <a:endParaRPr lang="zh-CN" altLang="en-US" dirty="0">
              <a:latin typeface="华文新魏" panose="02010800040101010101" pitchFamily="2" charset="-122"/>
              <a:ea typeface="华文新魏" panose="02010800040101010101" pitchFamily="2" charset="-122"/>
            </a:endParaRPr>
          </a:p>
          <a:p>
            <a:pPr>
              <a:lnSpc>
                <a:spcPct val="20000"/>
              </a:lnSpc>
              <a:spcBef>
                <a:spcPct val="50000"/>
              </a:spcBef>
            </a:pPr>
            <a:r>
              <a:rPr lang="zh-CN" altLang="en-US" dirty="0">
                <a:latin typeface="华文新魏" panose="02010800040101010101" pitchFamily="2" charset="-122"/>
                <a:ea typeface="华文新魏" panose="02010800040101010101" pitchFamily="2" charset="-122"/>
                <a:hlinkClick r:id="rId5" action="ppaction://hlinksldjump"/>
              </a:rPr>
              <a:t>初生分生组织</a:t>
            </a:r>
            <a:endParaRPr lang="zh-CN" altLang="en-US" dirty="0">
              <a:latin typeface="华文新魏" panose="02010800040101010101" pitchFamily="2" charset="-122"/>
              <a:ea typeface="华文新魏" panose="02010800040101010101" pitchFamily="2" charset="-122"/>
            </a:endParaRPr>
          </a:p>
          <a:p>
            <a:pPr>
              <a:lnSpc>
                <a:spcPct val="30000"/>
              </a:lnSpc>
              <a:spcBef>
                <a:spcPct val="50000"/>
              </a:spcBef>
            </a:pPr>
            <a:r>
              <a:rPr lang="zh-CN" altLang="en-US" dirty="0">
                <a:latin typeface="华文新魏" panose="02010800040101010101" pitchFamily="2" charset="-122"/>
                <a:ea typeface="华文新魏" panose="02010800040101010101" pitchFamily="2" charset="-122"/>
                <a:hlinkClick r:id="rId6" action="ppaction://hlinksldjump"/>
              </a:rPr>
              <a:t>次生分生组织</a:t>
            </a:r>
            <a:endParaRPr lang="zh-CN" altLang="en-US" dirty="0">
              <a:latin typeface="华文新魏" panose="02010800040101010101" pitchFamily="2" charset="-122"/>
              <a:ea typeface="华文新魏" panose="02010800040101010101" pitchFamily="2" charset="-122"/>
            </a:endParaRPr>
          </a:p>
        </p:txBody>
      </p:sp>
      <p:sp>
        <p:nvSpPr>
          <p:cNvPr id="420872" name="Text Box 12"/>
          <p:cNvSpPr txBox="1"/>
          <p:nvPr/>
        </p:nvSpPr>
        <p:spPr>
          <a:xfrm>
            <a:off x="6019800" y="1676400"/>
            <a:ext cx="2057400" cy="904875"/>
          </a:xfrm>
          <a:prstGeom prst="rect">
            <a:avLst/>
          </a:prstGeom>
          <a:noFill/>
          <a:ln w="9525" cap="flat" cmpd="sng">
            <a:solidFill>
              <a:srgbClr val="FF3300"/>
            </a:solidFill>
            <a:prstDash val="solid"/>
            <a:miter/>
            <a:headEnd type="none" w="med" len="med"/>
            <a:tailEnd type="none" w="med" len="med"/>
          </a:ln>
        </p:spPr>
        <p:txBody>
          <a:bodyPr anchor="t" anchorCtr="0">
            <a:spAutoFit/>
          </a:bodyPr>
          <a:lstStyle/>
          <a:p>
            <a:pPr>
              <a:lnSpc>
                <a:spcPct val="60000"/>
              </a:lnSpc>
              <a:spcBef>
                <a:spcPct val="50000"/>
              </a:spcBef>
            </a:pPr>
            <a:r>
              <a:rPr lang="zh-CN" altLang="en-US" dirty="0">
                <a:latin typeface="华文新魏" panose="02010800040101010101" pitchFamily="2" charset="-122"/>
                <a:ea typeface="华文新魏" panose="02010800040101010101" pitchFamily="2" charset="-122"/>
                <a:hlinkClick r:id="rId4" action="ppaction://hlinksldjump"/>
              </a:rPr>
              <a:t>顶端分生组织</a:t>
            </a:r>
            <a:endParaRPr lang="zh-CN" altLang="en-US" dirty="0">
              <a:latin typeface="华文新魏" panose="02010800040101010101" pitchFamily="2" charset="-122"/>
              <a:ea typeface="华文新魏" panose="02010800040101010101" pitchFamily="2" charset="-122"/>
            </a:endParaRPr>
          </a:p>
          <a:p>
            <a:pPr>
              <a:lnSpc>
                <a:spcPct val="30000"/>
              </a:lnSpc>
              <a:spcBef>
                <a:spcPct val="50000"/>
              </a:spcBef>
            </a:pPr>
            <a:r>
              <a:rPr lang="zh-CN" altLang="en-US" dirty="0">
                <a:latin typeface="华文新魏" panose="02010800040101010101" pitchFamily="2" charset="-122"/>
                <a:ea typeface="华文新魏" panose="02010800040101010101" pitchFamily="2" charset="-122"/>
                <a:hlinkClick r:id="rId7" action="ppaction://hlinksldjump"/>
              </a:rPr>
              <a:t>侧生分生组织</a:t>
            </a:r>
            <a:endParaRPr lang="zh-CN" altLang="en-US" dirty="0">
              <a:latin typeface="华文新魏" panose="02010800040101010101" pitchFamily="2" charset="-122"/>
              <a:ea typeface="华文新魏" panose="02010800040101010101" pitchFamily="2" charset="-122"/>
            </a:endParaRPr>
          </a:p>
          <a:p>
            <a:pPr>
              <a:lnSpc>
                <a:spcPct val="30000"/>
              </a:lnSpc>
              <a:spcBef>
                <a:spcPct val="50000"/>
              </a:spcBef>
            </a:pPr>
            <a:r>
              <a:rPr lang="zh-CN" altLang="en-US" dirty="0">
                <a:latin typeface="华文新魏" panose="02010800040101010101" pitchFamily="2" charset="-122"/>
                <a:ea typeface="华文新魏" panose="02010800040101010101" pitchFamily="2" charset="-122"/>
                <a:hlinkClick r:id="rId8" action="ppaction://hlinksldjump"/>
              </a:rPr>
              <a:t>居间分生组织</a:t>
            </a:r>
            <a:endParaRPr lang="zh-CN" altLang="en-US" dirty="0">
              <a:latin typeface="华文新魏" panose="02010800040101010101" pitchFamily="2" charset="-122"/>
              <a:ea typeface="华文新魏" panose="02010800040101010101" pitchFamily="2" charset="-122"/>
            </a:endParaRPr>
          </a:p>
        </p:txBody>
      </p:sp>
      <p:sp>
        <p:nvSpPr>
          <p:cNvPr id="420873" name="Text Box 13"/>
          <p:cNvSpPr txBox="1"/>
          <p:nvPr/>
        </p:nvSpPr>
        <p:spPr>
          <a:xfrm>
            <a:off x="3276600" y="3638550"/>
            <a:ext cx="1676400" cy="2000250"/>
          </a:xfrm>
          <a:prstGeom prst="rect">
            <a:avLst/>
          </a:prstGeom>
          <a:noFill/>
          <a:ln w="9525" cap="flat" cmpd="sng">
            <a:solidFill>
              <a:srgbClr val="FF00FF"/>
            </a:solidFill>
            <a:prstDash val="solid"/>
            <a:miter/>
            <a:headEnd type="none" w="med" len="med"/>
            <a:tailEnd type="none" w="med" len="med"/>
          </a:ln>
        </p:spPr>
        <p:txBody>
          <a:bodyPr anchor="t" anchorCtr="0">
            <a:spAutoFit/>
          </a:bodyPr>
          <a:lstStyle/>
          <a:p>
            <a:pPr algn="ctr">
              <a:lnSpc>
                <a:spcPct val="70000"/>
              </a:lnSpc>
              <a:spcBef>
                <a:spcPct val="50000"/>
              </a:spcBef>
            </a:pPr>
            <a:r>
              <a:rPr lang="zh-CN" altLang="en-US" dirty="0">
                <a:latin typeface="华文新魏" panose="02010800040101010101" pitchFamily="2" charset="-122"/>
                <a:ea typeface="华文新魏" panose="02010800040101010101" pitchFamily="2" charset="-122"/>
                <a:hlinkClick r:id="rId9" action="ppaction://hlinksldjump"/>
              </a:rPr>
              <a:t>概    念</a:t>
            </a:r>
            <a:endParaRPr lang="zh-CN" altLang="en-US" dirty="0">
              <a:latin typeface="华文新魏" panose="02010800040101010101" pitchFamily="2" charset="-122"/>
              <a:ea typeface="华文新魏" panose="02010800040101010101" pitchFamily="2" charset="-122"/>
            </a:endParaRPr>
          </a:p>
          <a:p>
            <a:pPr algn="ctr">
              <a:lnSpc>
                <a:spcPct val="40000"/>
              </a:lnSpc>
              <a:spcBef>
                <a:spcPct val="50000"/>
              </a:spcBef>
            </a:pPr>
            <a:r>
              <a:rPr lang="en-US" altLang="zh-CN" dirty="0">
                <a:latin typeface="华文新魏" panose="02010800040101010101" pitchFamily="2" charset="-122"/>
                <a:ea typeface="华文新魏" panose="02010800040101010101" pitchFamily="2" charset="-122"/>
                <a:hlinkClick r:id="rId10" action="ppaction://hlinksldjump"/>
              </a:rPr>
              <a:t>1.</a:t>
            </a:r>
            <a:r>
              <a:rPr lang="zh-CN" altLang="en-US" dirty="0">
                <a:latin typeface="华文新魏" panose="02010800040101010101" pitchFamily="2" charset="-122"/>
                <a:ea typeface="华文新魏" panose="02010800040101010101" pitchFamily="2" charset="-122"/>
                <a:hlinkClick r:id="rId10" action="ppaction://hlinksldjump"/>
              </a:rPr>
              <a:t>保护组织</a:t>
            </a:r>
            <a:endParaRPr lang="zh-CN" altLang="en-US" dirty="0">
              <a:latin typeface="华文新魏" panose="02010800040101010101" pitchFamily="2" charset="-122"/>
              <a:ea typeface="华文新魏" panose="02010800040101010101" pitchFamily="2" charset="-122"/>
            </a:endParaRPr>
          </a:p>
          <a:p>
            <a:pPr algn="ctr">
              <a:lnSpc>
                <a:spcPct val="40000"/>
              </a:lnSpc>
              <a:spcBef>
                <a:spcPct val="50000"/>
              </a:spcBef>
            </a:pPr>
            <a:r>
              <a:rPr lang="en-US" altLang="zh-CN" dirty="0">
                <a:latin typeface="华文新魏" panose="02010800040101010101" pitchFamily="2" charset="-122"/>
                <a:ea typeface="华文新魏" panose="02010800040101010101" pitchFamily="2" charset="-122"/>
                <a:hlinkClick r:id="rId11" action="ppaction://hlinksldjump"/>
              </a:rPr>
              <a:t>2.</a:t>
            </a:r>
            <a:r>
              <a:rPr lang="zh-CN" altLang="en-US" dirty="0">
                <a:latin typeface="华文新魏" panose="02010800040101010101" pitchFamily="2" charset="-122"/>
                <a:ea typeface="华文新魏" panose="02010800040101010101" pitchFamily="2" charset="-122"/>
                <a:hlinkClick r:id="rId11" action="ppaction://hlinksldjump"/>
              </a:rPr>
              <a:t>薄壁组织</a:t>
            </a:r>
            <a:endParaRPr lang="zh-CN" altLang="en-US" dirty="0">
              <a:latin typeface="华文新魏" panose="02010800040101010101" pitchFamily="2" charset="-122"/>
              <a:ea typeface="华文新魏" panose="02010800040101010101" pitchFamily="2" charset="-122"/>
            </a:endParaRPr>
          </a:p>
          <a:p>
            <a:pPr algn="ctr">
              <a:lnSpc>
                <a:spcPct val="40000"/>
              </a:lnSpc>
              <a:spcBef>
                <a:spcPct val="50000"/>
              </a:spcBef>
            </a:pPr>
            <a:r>
              <a:rPr lang="en-US" altLang="zh-CN" dirty="0">
                <a:latin typeface="华文新魏" panose="02010800040101010101" pitchFamily="2" charset="-122"/>
                <a:ea typeface="华文新魏" panose="02010800040101010101" pitchFamily="2" charset="-122"/>
                <a:hlinkClick r:id="rId12" action="ppaction://hlinksldjump"/>
              </a:rPr>
              <a:t>3.</a:t>
            </a:r>
            <a:r>
              <a:rPr lang="zh-CN" altLang="en-US" dirty="0">
                <a:latin typeface="华文新魏" panose="02010800040101010101" pitchFamily="2" charset="-122"/>
                <a:ea typeface="华文新魏" panose="02010800040101010101" pitchFamily="2" charset="-122"/>
                <a:hlinkClick r:id="rId12" action="ppaction://hlinksldjump"/>
              </a:rPr>
              <a:t>机械组织</a:t>
            </a:r>
            <a:endParaRPr lang="zh-CN" altLang="en-US" dirty="0">
              <a:latin typeface="华文新魏" panose="02010800040101010101" pitchFamily="2" charset="-122"/>
              <a:ea typeface="华文新魏" panose="02010800040101010101" pitchFamily="2" charset="-122"/>
            </a:endParaRPr>
          </a:p>
          <a:p>
            <a:pPr algn="ctr">
              <a:lnSpc>
                <a:spcPct val="40000"/>
              </a:lnSpc>
              <a:spcBef>
                <a:spcPct val="50000"/>
              </a:spcBef>
            </a:pPr>
            <a:r>
              <a:rPr lang="en-US" altLang="zh-CN" dirty="0">
                <a:latin typeface="华文新魏" panose="02010800040101010101" pitchFamily="2" charset="-122"/>
                <a:ea typeface="华文新魏" panose="02010800040101010101" pitchFamily="2" charset="-122"/>
                <a:hlinkClick r:id="rId13" action="ppaction://hlinksldjump"/>
              </a:rPr>
              <a:t>4.</a:t>
            </a:r>
            <a:r>
              <a:rPr lang="zh-CN" altLang="en-US" dirty="0">
                <a:latin typeface="华文新魏" panose="02010800040101010101" pitchFamily="2" charset="-122"/>
                <a:ea typeface="华文新魏" panose="02010800040101010101" pitchFamily="2" charset="-122"/>
                <a:hlinkClick r:id="rId13" action="ppaction://hlinksldjump"/>
              </a:rPr>
              <a:t>输导组织</a:t>
            </a:r>
            <a:endParaRPr lang="zh-CN" altLang="en-US" dirty="0">
              <a:latin typeface="华文新魏" panose="02010800040101010101" pitchFamily="2" charset="-122"/>
              <a:ea typeface="华文新魏" panose="02010800040101010101" pitchFamily="2" charset="-122"/>
            </a:endParaRPr>
          </a:p>
          <a:p>
            <a:pPr algn="ctr">
              <a:lnSpc>
                <a:spcPct val="40000"/>
              </a:lnSpc>
              <a:spcBef>
                <a:spcPct val="50000"/>
              </a:spcBef>
            </a:pPr>
            <a:r>
              <a:rPr lang="en-US" altLang="zh-CN" dirty="0">
                <a:latin typeface="华文新魏" panose="02010800040101010101" pitchFamily="2" charset="-122"/>
                <a:ea typeface="华文新魏" panose="02010800040101010101" pitchFamily="2" charset="-122"/>
                <a:hlinkClick r:id="rId14" action="ppaction://hlinksldjump"/>
              </a:rPr>
              <a:t>5.</a:t>
            </a:r>
            <a:r>
              <a:rPr lang="zh-CN" altLang="en-US" dirty="0">
                <a:latin typeface="华文新魏" panose="02010800040101010101" pitchFamily="2" charset="-122"/>
                <a:ea typeface="华文新魏" panose="02010800040101010101" pitchFamily="2" charset="-122"/>
                <a:hlinkClick r:id="rId14" action="ppaction://hlinksldjump"/>
              </a:rPr>
              <a:t>分泌结构</a:t>
            </a:r>
            <a:endParaRPr lang="zh-CN" altLang="en-US" dirty="0">
              <a:latin typeface="华文新魏" panose="02010800040101010101" pitchFamily="2" charset="-122"/>
              <a:ea typeface="华文新魏" panose="02010800040101010101" pitchFamily="2" charset="-122"/>
            </a:endParaRPr>
          </a:p>
        </p:txBody>
      </p:sp>
      <p:sp>
        <p:nvSpPr>
          <p:cNvPr id="420874" name="Text Box 14"/>
          <p:cNvSpPr txBox="1"/>
          <p:nvPr/>
        </p:nvSpPr>
        <p:spPr>
          <a:xfrm>
            <a:off x="6019800" y="2643188"/>
            <a:ext cx="2057400" cy="622300"/>
          </a:xfrm>
          <a:prstGeom prst="rect">
            <a:avLst/>
          </a:prstGeom>
          <a:noFill/>
          <a:ln w="19050" cap="flat" cmpd="sng">
            <a:solidFill>
              <a:srgbClr val="FF00FF"/>
            </a:solidFill>
            <a:prstDash val="solid"/>
            <a:miter/>
            <a:headEnd type="none" w="med" len="med"/>
            <a:tailEnd type="none" w="med" len="med"/>
          </a:ln>
        </p:spPr>
        <p:txBody>
          <a:bodyPr anchor="t" anchorCtr="0">
            <a:spAutoFit/>
          </a:bodyPr>
          <a:lstStyle/>
          <a:p>
            <a:pPr>
              <a:lnSpc>
                <a:spcPct val="70000"/>
              </a:lnSpc>
              <a:spcBef>
                <a:spcPct val="50000"/>
              </a:spcBef>
            </a:pPr>
            <a:r>
              <a:rPr lang="zh-CN" altLang="en-US" dirty="0">
                <a:latin typeface="Tahoma" panose="020B0604030504040204" pitchFamily="34" charset="0"/>
                <a:ea typeface="华文新魏" panose="02010800040101010101" pitchFamily="2" charset="-122"/>
                <a:hlinkClick r:id="rId10" action="ppaction://hlinksldjump"/>
              </a:rPr>
              <a:t>初生保护组织</a:t>
            </a:r>
            <a:endParaRPr lang="zh-CN" altLang="en-US" dirty="0">
              <a:latin typeface="Tahoma" panose="020B0604030504040204" pitchFamily="34" charset="0"/>
              <a:ea typeface="华文新魏" panose="02010800040101010101" pitchFamily="2" charset="-122"/>
            </a:endParaRPr>
          </a:p>
          <a:p>
            <a:pPr>
              <a:lnSpc>
                <a:spcPct val="20000"/>
              </a:lnSpc>
              <a:spcBef>
                <a:spcPct val="50000"/>
              </a:spcBef>
            </a:pPr>
            <a:r>
              <a:rPr lang="zh-CN" altLang="en-US" dirty="0">
                <a:latin typeface="Tahoma" panose="020B0604030504040204" pitchFamily="34" charset="0"/>
                <a:ea typeface="华文新魏" panose="02010800040101010101" pitchFamily="2" charset="-122"/>
                <a:hlinkClick r:id="rId15" action="ppaction://hlinksldjump"/>
              </a:rPr>
              <a:t>次生保护组织</a:t>
            </a:r>
            <a:endParaRPr lang="zh-CN" altLang="en-US" dirty="0">
              <a:latin typeface="Tahoma" panose="020B0604030504040204" pitchFamily="34" charset="0"/>
              <a:ea typeface="华文新魏" panose="02010800040101010101" pitchFamily="2" charset="-122"/>
            </a:endParaRPr>
          </a:p>
        </p:txBody>
      </p:sp>
      <p:sp>
        <p:nvSpPr>
          <p:cNvPr id="420875" name="Line 15"/>
          <p:cNvSpPr/>
          <p:nvPr/>
        </p:nvSpPr>
        <p:spPr>
          <a:xfrm flipV="1">
            <a:off x="2971800" y="1371600"/>
            <a:ext cx="304800" cy="457200"/>
          </a:xfrm>
          <a:prstGeom prst="line">
            <a:avLst/>
          </a:prstGeom>
          <a:ln w="28575" cap="flat" cmpd="sng">
            <a:solidFill>
              <a:srgbClr val="FF3300"/>
            </a:solidFill>
            <a:prstDash val="solid"/>
            <a:miter/>
            <a:headEnd type="none" w="med" len="med"/>
            <a:tailEnd type="none" w="med" len="med"/>
          </a:ln>
        </p:spPr>
        <p:txBody>
          <a:bodyPr/>
          <a:lstStyle/>
          <a:p>
            <a:endParaRPr lang="zh-CN" altLang="en-US"/>
          </a:p>
        </p:txBody>
      </p:sp>
      <p:sp>
        <p:nvSpPr>
          <p:cNvPr id="420876" name="Line 16"/>
          <p:cNvSpPr/>
          <p:nvPr/>
        </p:nvSpPr>
        <p:spPr>
          <a:xfrm>
            <a:off x="2971800" y="1828800"/>
            <a:ext cx="304800" cy="69850"/>
          </a:xfrm>
          <a:prstGeom prst="line">
            <a:avLst/>
          </a:prstGeom>
          <a:ln w="28575" cap="flat" cmpd="sng">
            <a:solidFill>
              <a:srgbClr val="FF3300"/>
            </a:solidFill>
            <a:prstDash val="solid"/>
            <a:miter/>
            <a:headEnd type="none" w="med" len="med"/>
            <a:tailEnd type="none" w="med" len="med"/>
          </a:ln>
        </p:spPr>
        <p:txBody>
          <a:bodyPr/>
          <a:lstStyle/>
          <a:p>
            <a:endParaRPr lang="zh-CN" altLang="en-US"/>
          </a:p>
        </p:txBody>
      </p:sp>
      <p:sp>
        <p:nvSpPr>
          <p:cNvPr id="420877" name="Line 17"/>
          <p:cNvSpPr/>
          <p:nvPr/>
        </p:nvSpPr>
        <p:spPr>
          <a:xfrm>
            <a:off x="5715000" y="1139825"/>
            <a:ext cx="304800" cy="0"/>
          </a:xfrm>
          <a:prstGeom prst="line">
            <a:avLst/>
          </a:prstGeom>
          <a:ln w="28575" cap="flat" cmpd="sng">
            <a:solidFill>
              <a:srgbClr val="FF3300"/>
            </a:solidFill>
            <a:prstDash val="solid"/>
            <a:miter/>
            <a:headEnd type="none" w="med" len="med"/>
            <a:tailEnd type="none" w="med" len="med"/>
          </a:ln>
        </p:spPr>
        <p:txBody>
          <a:bodyPr/>
          <a:lstStyle/>
          <a:p>
            <a:endParaRPr lang="zh-CN" altLang="en-US"/>
          </a:p>
        </p:txBody>
      </p:sp>
      <p:sp>
        <p:nvSpPr>
          <p:cNvPr id="420878" name="Line 18"/>
          <p:cNvSpPr/>
          <p:nvPr/>
        </p:nvSpPr>
        <p:spPr>
          <a:xfrm>
            <a:off x="5715000" y="2124075"/>
            <a:ext cx="304800" cy="0"/>
          </a:xfrm>
          <a:prstGeom prst="line">
            <a:avLst/>
          </a:prstGeom>
          <a:ln w="28575" cap="flat" cmpd="sng">
            <a:solidFill>
              <a:srgbClr val="FF3300"/>
            </a:solidFill>
            <a:prstDash val="solid"/>
            <a:miter/>
            <a:headEnd type="none" w="med" len="med"/>
            <a:tailEnd type="none" w="med" len="med"/>
          </a:ln>
        </p:spPr>
        <p:txBody>
          <a:bodyPr/>
          <a:lstStyle/>
          <a:p>
            <a:endParaRPr lang="zh-CN" altLang="en-US"/>
          </a:p>
        </p:txBody>
      </p:sp>
      <p:sp>
        <p:nvSpPr>
          <p:cNvPr id="420879" name="Line 19"/>
          <p:cNvSpPr/>
          <p:nvPr/>
        </p:nvSpPr>
        <p:spPr>
          <a:xfrm flipV="1">
            <a:off x="4800600" y="2971800"/>
            <a:ext cx="1219200" cy="1066800"/>
          </a:xfrm>
          <a:prstGeom prst="line">
            <a:avLst/>
          </a:prstGeom>
          <a:ln w="28575" cap="flat" cmpd="sng">
            <a:solidFill>
              <a:srgbClr val="FF00FF"/>
            </a:solidFill>
            <a:prstDash val="solid"/>
            <a:miter/>
            <a:headEnd type="none" w="med" len="med"/>
            <a:tailEnd type="none" w="med" len="med"/>
          </a:ln>
        </p:spPr>
        <p:txBody>
          <a:bodyPr/>
          <a:lstStyle/>
          <a:p>
            <a:endParaRPr lang="zh-CN" altLang="en-US"/>
          </a:p>
        </p:txBody>
      </p:sp>
      <p:sp>
        <p:nvSpPr>
          <p:cNvPr id="420880" name="Text Box 20"/>
          <p:cNvSpPr txBox="1"/>
          <p:nvPr/>
        </p:nvSpPr>
        <p:spPr>
          <a:xfrm>
            <a:off x="6019800" y="3317875"/>
            <a:ext cx="2057400" cy="622300"/>
          </a:xfrm>
          <a:prstGeom prst="rect">
            <a:avLst/>
          </a:prstGeom>
          <a:noFill/>
          <a:ln w="19050" cap="flat" cmpd="sng">
            <a:solidFill>
              <a:srgbClr val="FF00FF"/>
            </a:solidFill>
            <a:prstDash val="solid"/>
            <a:miter/>
            <a:headEnd type="none" w="med" len="med"/>
            <a:tailEnd type="none" w="med" len="med"/>
          </a:ln>
        </p:spPr>
        <p:txBody>
          <a:bodyPr anchor="t" anchorCtr="0">
            <a:spAutoFit/>
          </a:bodyPr>
          <a:lstStyle/>
          <a:p>
            <a:pPr>
              <a:lnSpc>
                <a:spcPct val="70000"/>
              </a:lnSpc>
              <a:spcBef>
                <a:spcPct val="50000"/>
              </a:spcBef>
            </a:pPr>
            <a:r>
              <a:rPr lang="zh-CN" altLang="en-US" dirty="0">
                <a:latin typeface="Tahoma" panose="020B0604030504040204" pitchFamily="34" charset="0"/>
                <a:ea typeface="华文新魏" panose="02010800040101010101" pitchFamily="2" charset="-122"/>
                <a:hlinkClick r:id="rId11" action="ppaction://hlinksldjump"/>
              </a:rPr>
              <a:t>主要特征</a:t>
            </a:r>
            <a:endParaRPr lang="zh-CN" altLang="en-US" dirty="0">
              <a:latin typeface="Tahoma" panose="020B0604030504040204" pitchFamily="34" charset="0"/>
              <a:ea typeface="华文新魏" panose="02010800040101010101" pitchFamily="2" charset="-122"/>
            </a:endParaRPr>
          </a:p>
          <a:p>
            <a:pPr>
              <a:lnSpc>
                <a:spcPct val="20000"/>
              </a:lnSpc>
              <a:spcBef>
                <a:spcPct val="50000"/>
              </a:spcBef>
            </a:pPr>
            <a:r>
              <a:rPr lang="zh-CN" altLang="en-US" dirty="0">
                <a:latin typeface="Tahoma" panose="020B0604030504040204" pitchFamily="34" charset="0"/>
                <a:ea typeface="华文新魏" panose="02010800040101010101" pitchFamily="2" charset="-122"/>
                <a:hlinkClick r:id="rId16" action="ppaction://hlinksldjump"/>
              </a:rPr>
              <a:t>种类</a:t>
            </a:r>
            <a:endParaRPr lang="zh-CN" altLang="en-US" dirty="0">
              <a:latin typeface="Tahoma" panose="020B0604030504040204" pitchFamily="34" charset="0"/>
              <a:ea typeface="华文新魏" panose="02010800040101010101" pitchFamily="2" charset="-122"/>
            </a:endParaRPr>
          </a:p>
        </p:txBody>
      </p:sp>
      <p:sp>
        <p:nvSpPr>
          <p:cNvPr id="420881" name="Line 21"/>
          <p:cNvSpPr/>
          <p:nvPr/>
        </p:nvSpPr>
        <p:spPr>
          <a:xfrm flipV="1">
            <a:off x="4800600" y="3657600"/>
            <a:ext cx="1219200" cy="762000"/>
          </a:xfrm>
          <a:prstGeom prst="line">
            <a:avLst/>
          </a:prstGeom>
          <a:ln w="28575" cap="flat" cmpd="sng">
            <a:solidFill>
              <a:srgbClr val="FF00FF"/>
            </a:solidFill>
            <a:prstDash val="solid"/>
            <a:miter/>
            <a:headEnd type="none" w="med" len="med"/>
            <a:tailEnd type="none" w="med" len="med"/>
          </a:ln>
        </p:spPr>
        <p:txBody>
          <a:bodyPr/>
          <a:lstStyle/>
          <a:p>
            <a:endParaRPr lang="zh-CN" altLang="en-US"/>
          </a:p>
        </p:txBody>
      </p:sp>
      <p:sp>
        <p:nvSpPr>
          <p:cNvPr id="420882" name="Text Box 22"/>
          <p:cNvSpPr txBox="1"/>
          <p:nvPr/>
        </p:nvSpPr>
        <p:spPr>
          <a:xfrm>
            <a:off x="6019800" y="3986213"/>
            <a:ext cx="2057400" cy="841375"/>
          </a:xfrm>
          <a:prstGeom prst="rect">
            <a:avLst/>
          </a:prstGeom>
          <a:noFill/>
          <a:ln w="19050" cap="flat" cmpd="sng">
            <a:solidFill>
              <a:srgbClr val="FF00FF"/>
            </a:solidFill>
            <a:prstDash val="solid"/>
            <a:miter/>
            <a:headEnd type="none" w="med" len="med"/>
            <a:tailEnd type="none" w="med" len="med"/>
          </a:ln>
        </p:spPr>
        <p:txBody>
          <a:bodyPr anchor="t" anchorCtr="0">
            <a:spAutoFit/>
          </a:bodyPr>
          <a:lstStyle/>
          <a:p>
            <a:pPr>
              <a:lnSpc>
                <a:spcPct val="70000"/>
              </a:lnSpc>
              <a:spcBef>
                <a:spcPct val="50000"/>
              </a:spcBef>
            </a:pPr>
            <a:r>
              <a:rPr lang="zh-CN" altLang="en-US" dirty="0">
                <a:latin typeface="华文新魏" panose="02010800040101010101" pitchFamily="2" charset="-122"/>
                <a:ea typeface="华文新魏" panose="02010800040101010101" pitchFamily="2" charset="-122"/>
                <a:hlinkClick r:id="rId12" action="ppaction://hlinksldjump"/>
              </a:rPr>
              <a:t>厚角组织</a:t>
            </a:r>
            <a:endParaRPr lang="zh-CN" altLang="en-US" dirty="0">
              <a:latin typeface="华文新魏" panose="02010800040101010101" pitchFamily="2" charset="-122"/>
              <a:ea typeface="华文新魏" panose="02010800040101010101" pitchFamily="2" charset="-122"/>
            </a:endParaRPr>
          </a:p>
          <a:p>
            <a:pPr>
              <a:lnSpc>
                <a:spcPct val="10000"/>
              </a:lnSpc>
              <a:spcBef>
                <a:spcPct val="50000"/>
              </a:spcBef>
            </a:pPr>
            <a:r>
              <a:rPr lang="zh-CN" altLang="en-US" dirty="0">
                <a:latin typeface="华文新魏" panose="02010800040101010101" pitchFamily="2" charset="-122"/>
                <a:ea typeface="华文新魏" panose="02010800040101010101" pitchFamily="2" charset="-122"/>
                <a:hlinkClick r:id="rId17" action="ppaction://hlinksldjump"/>
              </a:rPr>
              <a:t>厚壁组织</a:t>
            </a:r>
            <a:endParaRPr lang="zh-CN" altLang="en-US" dirty="0">
              <a:latin typeface="华文新魏" panose="02010800040101010101" pitchFamily="2" charset="-122"/>
              <a:ea typeface="华文新魏" panose="02010800040101010101" pitchFamily="2" charset="-122"/>
            </a:endParaRPr>
          </a:p>
          <a:p>
            <a:pPr>
              <a:lnSpc>
                <a:spcPct val="20000"/>
              </a:lnSpc>
              <a:spcBef>
                <a:spcPct val="50000"/>
              </a:spcBef>
            </a:pPr>
            <a:r>
              <a:rPr lang="zh-CN" altLang="en-US" dirty="0">
                <a:latin typeface="华文新魏" panose="02010800040101010101" pitchFamily="2" charset="-122"/>
                <a:ea typeface="华文新魏" panose="02010800040101010101" pitchFamily="2" charset="-122"/>
                <a:hlinkClick r:id="rId18" action="ppaction://hlinksldjump"/>
              </a:rPr>
              <a:t>二者比较</a:t>
            </a:r>
            <a:endParaRPr lang="zh-CN" altLang="en-US" dirty="0">
              <a:latin typeface="华文新魏" panose="02010800040101010101" pitchFamily="2" charset="-122"/>
              <a:ea typeface="华文新魏" panose="02010800040101010101" pitchFamily="2" charset="-122"/>
            </a:endParaRPr>
          </a:p>
        </p:txBody>
      </p:sp>
      <p:sp>
        <p:nvSpPr>
          <p:cNvPr id="420883" name="Text Box 23"/>
          <p:cNvSpPr txBox="1"/>
          <p:nvPr/>
        </p:nvSpPr>
        <p:spPr>
          <a:xfrm>
            <a:off x="6019800" y="5549900"/>
            <a:ext cx="2057400" cy="877888"/>
          </a:xfrm>
          <a:prstGeom prst="rect">
            <a:avLst/>
          </a:prstGeom>
          <a:noFill/>
          <a:ln w="19050" cap="flat" cmpd="sng">
            <a:solidFill>
              <a:srgbClr val="FF00FF"/>
            </a:solidFill>
            <a:prstDash val="solid"/>
            <a:miter/>
            <a:headEnd type="none" w="med" len="med"/>
            <a:tailEnd type="none" w="med" len="med"/>
          </a:ln>
        </p:spPr>
        <p:txBody>
          <a:bodyPr anchor="t" anchorCtr="0">
            <a:spAutoFit/>
          </a:bodyPr>
          <a:lstStyle/>
          <a:p>
            <a:pPr>
              <a:lnSpc>
                <a:spcPct val="70000"/>
              </a:lnSpc>
              <a:spcBef>
                <a:spcPct val="50000"/>
              </a:spcBef>
            </a:pPr>
            <a:r>
              <a:rPr lang="zh-CN" altLang="en-US" dirty="0">
                <a:latin typeface="Tahoma" panose="020B0604030504040204" pitchFamily="34" charset="0"/>
                <a:ea typeface="华文新魏" panose="02010800040101010101" pitchFamily="2" charset="-122"/>
                <a:hlinkClick r:id="rId14" action="ppaction://hlinksldjump"/>
              </a:rPr>
              <a:t>分泌结构特征</a:t>
            </a:r>
            <a:endParaRPr lang="zh-CN" altLang="en-US" dirty="0">
              <a:latin typeface="Tahoma" panose="020B0604030504040204" pitchFamily="34" charset="0"/>
              <a:ea typeface="华文新魏" panose="02010800040101010101" pitchFamily="2" charset="-122"/>
            </a:endParaRPr>
          </a:p>
          <a:p>
            <a:pPr>
              <a:lnSpc>
                <a:spcPct val="20000"/>
              </a:lnSpc>
              <a:spcBef>
                <a:spcPct val="50000"/>
              </a:spcBef>
            </a:pPr>
            <a:r>
              <a:rPr lang="zh-CN" altLang="en-US" dirty="0">
                <a:latin typeface="Tahoma" panose="020B0604030504040204" pitchFamily="34" charset="0"/>
                <a:ea typeface="华文新魏" panose="02010800040101010101" pitchFamily="2" charset="-122"/>
                <a:hlinkClick r:id="rId19" action="ppaction://hlinksldjump"/>
              </a:rPr>
              <a:t>外分泌结构</a:t>
            </a:r>
            <a:endParaRPr lang="zh-CN" altLang="en-US" dirty="0">
              <a:latin typeface="Tahoma" panose="020B0604030504040204" pitchFamily="34" charset="0"/>
              <a:ea typeface="华文新魏" panose="02010800040101010101" pitchFamily="2" charset="-122"/>
            </a:endParaRPr>
          </a:p>
          <a:p>
            <a:pPr>
              <a:lnSpc>
                <a:spcPct val="20000"/>
              </a:lnSpc>
              <a:spcBef>
                <a:spcPct val="50000"/>
              </a:spcBef>
            </a:pPr>
            <a:r>
              <a:rPr lang="zh-CN" altLang="en-US" dirty="0">
                <a:latin typeface="Tahoma" panose="020B0604030504040204" pitchFamily="34" charset="0"/>
                <a:ea typeface="华文新魏" panose="02010800040101010101" pitchFamily="2" charset="-122"/>
                <a:hlinkClick r:id="rId20" action="ppaction://hlinksldjump"/>
              </a:rPr>
              <a:t>内分泌结构</a:t>
            </a:r>
            <a:endParaRPr lang="zh-CN" altLang="en-US" dirty="0">
              <a:latin typeface="Tahoma" panose="020B0604030504040204" pitchFamily="34" charset="0"/>
              <a:ea typeface="华文新魏" panose="02010800040101010101" pitchFamily="2" charset="-122"/>
            </a:endParaRPr>
          </a:p>
        </p:txBody>
      </p:sp>
      <p:sp>
        <p:nvSpPr>
          <p:cNvPr id="420884" name="Text Box 24"/>
          <p:cNvSpPr txBox="1"/>
          <p:nvPr/>
        </p:nvSpPr>
        <p:spPr>
          <a:xfrm>
            <a:off x="6019800" y="4884738"/>
            <a:ext cx="2057400" cy="622300"/>
          </a:xfrm>
          <a:prstGeom prst="rect">
            <a:avLst/>
          </a:prstGeom>
          <a:noFill/>
          <a:ln w="19050" cap="flat" cmpd="sng">
            <a:solidFill>
              <a:srgbClr val="FF00FF"/>
            </a:solidFill>
            <a:prstDash val="solid"/>
            <a:miter/>
            <a:headEnd type="none" w="med" len="med"/>
            <a:tailEnd type="none" w="med" len="med"/>
          </a:ln>
        </p:spPr>
        <p:txBody>
          <a:bodyPr anchor="t" anchorCtr="0">
            <a:spAutoFit/>
          </a:bodyPr>
          <a:lstStyle/>
          <a:p>
            <a:pPr>
              <a:lnSpc>
                <a:spcPct val="70000"/>
              </a:lnSpc>
              <a:spcBef>
                <a:spcPct val="50000"/>
              </a:spcBef>
            </a:pPr>
            <a:r>
              <a:rPr lang="zh-CN" altLang="en-US" dirty="0">
                <a:latin typeface="Tahoma" panose="020B0604030504040204" pitchFamily="34" charset="0"/>
                <a:ea typeface="华文新魏" panose="02010800040101010101" pitchFamily="2" charset="-122"/>
                <a:hlinkClick r:id="rId21" action="ppaction://hlinksldjump"/>
              </a:rPr>
              <a:t>木质部</a:t>
            </a:r>
            <a:endParaRPr lang="zh-CN" altLang="en-US" dirty="0">
              <a:latin typeface="Tahoma" panose="020B0604030504040204" pitchFamily="34" charset="0"/>
              <a:ea typeface="华文新魏" panose="02010800040101010101" pitchFamily="2" charset="-122"/>
            </a:endParaRPr>
          </a:p>
          <a:p>
            <a:pPr>
              <a:lnSpc>
                <a:spcPct val="20000"/>
              </a:lnSpc>
              <a:spcBef>
                <a:spcPct val="50000"/>
              </a:spcBef>
            </a:pPr>
            <a:r>
              <a:rPr lang="zh-CN" altLang="en-US" dirty="0">
                <a:latin typeface="Tahoma" panose="020B0604030504040204" pitchFamily="34" charset="0"/>
                <a:ea typeface="华文新魏" panose="02010800040101010101" pitchFamily="2" charset="-122"/>
                <a:hlinkClick r:id="rId22" action="ppaction://hlinksldjump"/>
              </a:rPr>
              <a:t>韧皮部</a:t>
            </a:r>
            <a:endParaRPr lang="zh-CN" altLang="en-US" dirty="0">
              <a:latin typeface="Tahoma" panose="020B0604030504040204" pitchFamily="34" charset="0"/>
              <a:ea typeface="华文新魏" panose="02010800040101010101" pitchFamily="2" charset="-122"/>
            </a:endParaRPr>
          </a:p>
        </p:txBody>
      </p:sp>
      <p:sp>
        <p:nvSpPr>
          <p:cNvPr id="420885" name="Line 25"/>
          <p:cNvSpPr/>
          <p:nvPr/>
        </p:nvSpPr>
        <p:spPr>
          <a:xfrm flipV="1">
            <a:off x="4800600" y="4419600"/>
            <a:ext cx="1219200" cy="457200"/>
          </a:xfrm>
          <a:prstGeom prst="line">
            <a:avLst/>
          </a:prstGeom>
          <a:ln w="28575" cap="flat" cmpd="sng">
            <a:solidFill>
              <a:srgbClr val="FF00FF"/>
            </a:solidFill>
            <a:prstDash val="solid"/>
            <a:miter/>
            <a:headEnd type="none" w="med" len="med"/>
            <a:tailEnd type="none" w="med" len="med"/>
          </a:ln>
        </p:spPr>
        <p:txBody>
          <a:bodyPr/>
          <a:lstStyle/>
          <a:p>
            <a:endParaRPr lang="zh-CN" altLang="en-US"/>
          </a:p>
        </p:txBody>
      </p:sp>
      <p:sp>
        <p:nvSpPr>
          <p:cNvPr id="420886" name="Line 27"/>
          <p:cNvSpPr/>
          <p:nvPr/>
        </p:nvSpPr>
        <p:spPr>
          <a:xfrm>
            <a:off x="4800600" y="5486400"/>
            <a:ext cx="1219200" cy="457200"/>
          </a:xfrm>
          <a:prstGeom prst="line">
            <a:avLst/>
          </a:prstGeom>
          <a:ln w="28575" cap="flat" cmpd="sng">
            <a:solidFill>
              <a:srgbClr val="FF00FF"/>
            </a:solidFill>
            <a:prstDash val="solid"/>
            <a:miter/>
            <a:headEnd type="none" w="med" len="med"/>
            <a:tailEnd type="none" w="med" len="med"/>
          </a:ln>
        </p:spPr>
        <p:txBody>
          <a:bodyPr/>
          <a:lstStyle/>
          <a:p>
            <a:endParaRPr lang="zh-CN" altLang="en-US"/>
          </a:p>
        </p:txBody>
      </p:sp>
      <p:sp>
        <p:nvSpPr>
          <p:cNvPr id="420887" name="Line 31"/>
          <p:cNvSpPr/>
          <p:nvPr/>
        </p:nvSpPr>
        <p:spPr>
          <a:xfrm>
            <a:off x="2022475" y="1676400"/>
            <a:ext cx="381000" cy="0"/>
          </a:xfrm>
          <a:prstGeom prst="line">
            <a:avLst/>
          </a:prstGeom>
          <a:ln w="38100" cap="flat" cmpd="sng">
            <a:solidFill>
              <a:srgbClr val="FF3300"/>
            </a:solidFill>
            <a:prstDash val="solid"/>
            <a:miter/>
            <a:headEnd type="none" w="med" len="med"/>
            <a:tailEnd type="none" w="med" len="med"/>
          </a:ln>
        </p:spPr>
        <p:txBody>
          <a:bodyPr/>
          <a:lstStyle/>
          <a:p>
            <a:endParaRPr lang="zh-CN" altLang="en-US"/>
          </a:p>
        </p:txBody>
      </p:sp>
      <p:sp>
        <p:nvSpPr>
          <p:cNvPr id="420888" name="Line 32"/>
          <p:cNvSpPr/>
          <p:nvPr/>
        </p:nvSpPr>
        <p:spPr>
          <a:xfrm>
            <a:off x="2971800" y="4648200"/>
            <a:ext cx="304800" cy="0"/>
          </a:xfrm>
          <a:prstGeom prst="line">
            <a:avLst/>
          </a:prstGeom>
          <a:ln w="28575" cap="flat" cmpd="sng">
            <a:solidFill>
              <a:srgbClr val="FF00FF"/>
            </a:solidFill>
            <a:prstDash val="solid"/>
            <a:miter/>
            <a:headEnd type="none" w="med" len="med"/>
            <a:tailEnd type="none" w="med" len="med"/>
          </a:ln>
        </p:spPr>
        <p:txBody>
          <a:bodyPr/>
          <a:lstStyle/>
          <a:p>
            <a:endParaRPr lang="zh-CN" altLang="en-US"/>
          </a:p>
        </p:txBody>
      </p:sp>
      <p:sp>
        <p:nvSpPr>
          <p:cNvPr id="420889" name="Line 33"/>
          <p:cNvSpPr/>
          <p:nvPr/>
        </p:nvSpPr>
        <p:spPr>
          <a:xfrm>
            <a:off x="4800600" y="5122863"/>
            <a:ext cx="1219200" cy="0"/>
          </a:xfrm>
          <a:prstGeom prst="line">
            <a:avLst/>
          </a:prstGeom>
          <a:ln w="28575" cap="flat" cmpd="sng">
            <a:solidFill>
              <a:srgbClr val="FF00FF"/>
            </a:solidFill>
            <a:prstDash val="solid"/>
            <a:miter/>
            <a:headEnd type="none" w="med" len="med"/>
            <a:tailEnd type="none" w="med" len="med"/>
          </a:ln>
        </p:spPr>
        <p:txBody>
          <a:bodyPr/>
          <a:lstStyle/>
          <a:p>
            <a:endParaRPr lang="zh-CN" altLang="en-US"/>
          </a:p>
        </p:txBody>
      </p:sp>
      <p:sp>
        <p:nvSpPr>
          <p:cNvPr id="420890" name="Line 34"/>
          <p:cNvSpPr/>
          <p:nvPr/>
        </p:nvSpPr>
        <p:spPr>
          <a:xfrm>
            <a:off x="2057400" y="1752600"/>
            <a:ext cx="381000" cy="2819400"/>
          </a:xfrm>
          <a:prstGeom prst="line">
            <a:avLst/>
          </a:prstGeom>
          <a:ln w="38100" cap="flat" cmpd="sng">
            <a:solidFill>
              <a:srgbClr val="FF3300"/>
            </a:solidFill>
            <a:prstDash val="solid"/>
            <a:miter/>
            <a:headEnd type="none" w="med" len="med"/>
            <a:tailEnd type="none" w="med" len="med"/>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1889" name="Rectangle 2"/>
          <p:cNvSpPr>
            <a:spLocks noGrp="1"/>
          </p:cNvSpPr>
          <p:nvPr>
            <p:ph type="title"/>
          </p:nvPr>
        </p:nvSpPr>
        <p:spPr>
          <a:xfrm>
            <a:off x="0" y="330200"/>
            <a:ext cx="9144000" cy="598488"/>
          </a:xfrm>
        </p:spPr>
        <p:txBody>
          <a:bodyPr vert="horz" wrap="square" lIns="91440" tIns="45720" rIns="91440" bIns="45720" anchor="b" anchorCtr="0"/>
          <a:lstStyle/>
          <a:p>
            <a:pPr eaLnBrk="1" hangingPunct="1"/>
            <a:r>
              <a:rPr lang="zh-CN" altLang="en-US" sz="3600" b="1" dirty="0">
                <a:solidFill>
                  <a:schemeClr val="tx1"/>
                </a:solidFill>
                <a:latin typeface="黑体" panose="02010609060101010101" pitchFamily="49" charset="-122"/>
                <a:ea typeface="黑体" panose="02010609060101010101" pitchFamily="49" charset="-122"/>
              </a:rPr>
              <a:t>植物组织的概述</a:t>
            </a:r>
            <a:r>
              <a:rPr lang="en-US" altLang="zh-CN" sz="3600" b="1" dirty="0">
                <a:solidFill>
                  <a:schemeClr val="tx1"/>
                </a:solidFill>
                <a:latin typeface="黑体" panose="02010609060101010101" pitchFamily="49" charset="-122"/>
                <a:ea typeface="黑体" panose="02010609060101010101" pitchFamily="49" charset="-122"/>
              </a:rPr>
              <a:t>:</a:t>
            </a:r>
            <a:endParaRPr lang="zh-CN" altLang="en-US" sz="3600" b="1" dirty="0">
              <a:solidFill>
                <a:schemeClr val="tx1"/>
              </a:solidFill>
              <a:latin typeface="黑体" panose="02010609060101010101" pitchFamily="49" charset="-122"/>
              <a:ea typeface="黑体" panose="02010609060101010101" pitchFamily="49" charset="-122"/>
            </a:endParaRPr>
          </a:p>
        </p:txBody>
      </p:sp>
      <p:sp>
        <p:nvSpPr>
          <p:cNvPr id="421890" name="Rectangle 3"/>
          <p:cNvSpPr>
            <a:spLocks noGrp="1"/>
          </p:cNvSpPr>
          <p:nvPr>
            <p:ph idx="1"/>
          </p:nvPr>
        </p:nvSpPr>
        <p:spPr>
          <a:xfrm>
            <a:off x="250825" y="1052513"/>
            <a:ext cx="8713788" cy="5257800"/>
          </a:xfrm>
        </p:spPr>
        <p:txBody>
          <a:bodyPr vert="horz" wrap="square" lIns="91440" tIns="45720" rIns="91440" bIns="45720" anchor="t" anchorCtr="0"/>
          <a:lstStyle/>
          <a:p>
            <a:pPr marL="0" indent="0" eaLnBrk="1" hangingPunct="1">
              <a:buNone/>
            </a:pPr>
            <a:r>
              <a:rPr lang="zh-CN" altLang="en-US" b="1" dirty="0">
                <a:solidFill>
                  <a:srgbClr val="FF0000"/>
                </a:solidFill>
                <a:latin typeface="黑体" panose="02010609060101010101" pitchFamily="49" charset="-122"/>
                <a:ea typeface="黑体" panose="02010609060101010101" pitchFamily="49" charset="-122"/>
              </a:rPr>
              <a:t>定义：</a:t>
            </a:r>
            <a:r>
              <a:rPr lang="zh-CN" altLang="en-US" b="1" dirty="0">
                <a:solidFill>
                  <a:schemeClr val="tx1"/>
                </a:solidFill>
                <a:latin typeface="黑体" panose="02010609060101010101" pitchFamily="49" charset="-122"/>
                <a:ea typeface="黑体" panose="02010609060101010101" pitchFamily="49" charset="-122"/>
              </a:rPr>
              <a:t>在个体发育中，</a:t>
            </a:r>
            <a:r>
              <a:rPr lang="zh-CN" altLang="en-US" b="1" dirty="0">
                <a:solidFill>
                  <a:srgbClr val="FF0000"/>
                </a:solidFill>
                <a:latin typeface="黑体" panose="02010609060101010101" pitchFamily="49" charset="-122"/>
                <a:ea typeface="黑体" panose="02010609060101010101" pitchFamily="49" charset="-122"/>
              </a:rPr>
              <a:t>具有相同来源的（即由一个或同一群分生细胞生长、分化而来的）</a:t>
            </a:r>
            <a:r>
              <a:rPr lang="zh-CN" altLang="en-US" b="1" dirty="0">
                <a:solidFill>
                  <a:schemeClr val="tx1"/>
                </a:solidFill>
                <a:latin typeface="黑体" panose="02010609060101010101" pitchFamily="49" charset="-122"/>
                <a:ea typeface="黑体" panose="02010609060101010101" pitchFamily="49" charset="-122"/>
              </a:rPr>
              <a:t>同一类型的或不同类型的细胞群组成的结构和功能单位，称为组织</a:t>
            </a:r>
            <a:r>
              <a:rPr lang="zh-CN" altLang="en-US"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由一种类型细胞构成的组织，称</a:t>
            </a:r>
            <a:r>
              <a:rPr lang="zh-CN" altLang="en-US" b="1" u="sng" dirty="0">
                <a:latin typeface="黑体" panose="02010609060101010101" pitchFamily="49" charset="-122"/>
                <a:ea typeface="黑体" panose="02010609060101010101" pitchFamily="49" charset="-122"/>
              </a:rPr>
              <a:t>简单组织</a:t>
            </a:r>
            <a:r>
              <a:rPr lang="zh-CN" altLang="en-US" b="1" dirty="0">
                <a:latin typeface="黑体" panose="02010609060101010101" pitchFamily="49" charset="-122"/>
                <a:ea typeface="黑体" panose="02010609060101010101" pitchFamily="49" charset="-122"/>
              </a:rPr>
              <a:t>。由多种类型细胞构成的组织，称</a:t>
            </a:r>
            <a:r>
              <a:rPr lang="zh-CN" altLang="en-US" b="1" u="sng" dirty="0">
                <a:latin typeface="黑体" panose="02010609060101010101" pitchFamily="49" charset="-122"/>
                <a:ea typeface="黑体" panose="02010609060101010101" pitchFamily="49" charset="-122"/>
              </a:rPr>
              <a:t>复合组织</a:t>
            </a:r>
            <a:r>
              <a:rPr lang="zh-CN" altLang="en-US" b="1"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学习时，应以</a:t>
            </a:r>
            <a:r>
              <a:rPr lang="zh-CN" altLang="en-US" b="1" dirty="0">
                <a:solidFill>
                  <a:srgbClr val="FF0000"/>
                </a:solidFill>
                <a:latin typeface="黑体" panose="02010609060101010101" pitchFamily="49" charset="-122"/>
                <a:ea typeface="黑体" panose="02010609060101010101" pitchFamily="49" charset="-122"/>
              </a:rPr>
              <a:t>以下四个知识点为重点</a:t>
            </a:r>
            <a:r>
              <a:rPr lang="zh-CN" altLang="en-US" b="1" dirty="0">
                <a:latin typeface="黑体" panose="02010609060101010101" pitchFamily="49" charset="-122"/>
                <a:ea typeface="黑体" panose="02010609060101010101" pitchFamily="49" charset="-122"/>
              </a:rPr>
              <a:t>：</a:t>
            </a:r>
          </a:p>
          <a:p>
            <a:pPr marL="457200" lvl="1" indent="0" eaLnBrk="1" hangingPunct="1">
              <a:buNone/>
            </a:pPr>
            <a:r>
              <a:rPr lang="zh-CN" altLang="en-US" b="1" dirty="0">
                <a:solidFill>
                  <a:srgbClr val="FF0000"/>
                </a:solidFill>
                <a:latin typeface="黑体" panose="02010609060101010101" pitchFamily="49" charset="-122"/>
                <a:ea typeface="黑体" panose="02010609060101010101" pitchFamily="49" charset="-122"/>
              </a:rPr>
              <a:t>  组织的位置、来源：</a:t>
            </a:r>
            <a:r>
              <a:rPr lang="zh-CN" altLang="en-US" b="1" dirty="0">
                <a:latin typeface="黑体" panose="02010609060101010101" pitchFamily="49" charset="-122"/>
                <a:ea typeface="黑体" panose="02010609060101010101" pitchFamily="49" charset="-122"/>
              </a:rPr>
              <a:t>在植物体中的分布位置和发育来源。</a:t>
            </a:r>
          </a:p>
          <a:p>
            <a:pPr marL="457200" lvl="1" indent="0" eaLnBrk="1" hangingPunct="1">
              <a:buNone/>
            </a:pPr>
            <a:r>
              <a:rPr lang="zh-CN" altLang="en-US" b="1" dirty="0">
                <a:solidFill>
                  <a:srgbClr val="FF0000"/>
                </a:solidFill>
                <a:latin typeface="黑体" panose="02010609060101010101" pitchFamily="49" charset="-122"/>
                <a:ea typeface="黑体" panose="02010609060101010101" pitchFamily="49" charset="-122"/>
              </a:rPr>
              <a:t>  组织特征：</a:t>
            </a:r>
            <a:r>
              <a:rPr lang="zh-CN" altLang="en-US" b="1" dirty="0">
                <a:latin typeface="黑体" panose="02010609060101010101" pitchFamily="49" charset="-122"/>
                <a:ea typeface="黑体" panose="02010609060101010101" pitchFamily="49" charset="-122"/>
              </a:rPr>
              <a:t>包括细胞种类（类型）、各种细胞的特征和细胞间的关系（排列方式和联系）。</a:t>
            </a:r>
          </a:p>
          <a:p>
            <a:pPr marL="457200" lvl="1" indent="0" eaLnBrk="1" hangingPunct="1">
              <a:buNone/>
            </a:pPr>
            <a:r>
              <a:rPr lang="zh-CN" altLang="en-US" b="1" dirty="0">
                <a:solidFill>
                  <a:srgbClr val="FF0000"/>
                </a:solidFill>
                <a:latin typeface="黑体" panose="02010609060101010101" pitchFamily="49" charset="-122"/>
                <a:ea typeface="黑体" panose="02010609060101010101" pitchFamily="49" charset="-122"/>
              </a:rPr>
              <a:t>  组织功能：</a:t>
            </a:r>
            <a:r>
              <a:rPr lang="zh-CN" altLang="en-US" b="1" dirty="0">
                <a:latin typeface="黑体" panose="02010609060101010101" pitchFamily="49" charset="-122"/>
                <a:ea typeface="黑体" panose="02010609060101010101" pitchFamily="49" charset="-122"/>
              </a:rPr>
              <a:t>该种组织所行使的生物学功能。</a:t>
            </a:r>
          </a:p>
          <a:p>
            <a:pPr marL="457200" lvl="1" indent="0" eaLnBrk="1" hangingPunct="1">
              <a:buNone/>
            </a:pPr>
            <a:r>
              <a:rPr lang="zh-CN" altLang="en-US" b="1" dirty="0">
                <a:solidFill>
                  <a:srgbClr val="FF0000"/>
                </a:solidFill>
                <a:latin typeface="黑体" panose="02010609060101010101" pitchFamily="49" charset="-122"/>
                <a:ea typeface="黑体" panose="02010609060101010101" pitchFamily="49" charset="-122"/>
              </a:rPr>
              <a:t>  组织的发育：</a:t>
            </a:r>
            <a:r>
              <a:rPr lang="zh-CN" altLang="en-US" b="1" dirty="0">
                <a:latin typeface="黑体" panose="02010609060101010101" pitchFamily="49" charset="-122"/>
                <a:ea typeface="黑体" panose="02010609060101010101" pitchFamily="49" charset="-122"/>
              </a:rPr>
              <a:t>主要指发育方向。包括分化水平和可能继续发育的方向。</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2913" name="Rectangle 2"/>
          <p:cNvSpPr>
            <a:spLocks noGrp="1"/>
          </p:cNvSpPr>
          <p:nvPr>
            <p:ph type="title"/>
          </p:nvPr>
        </p:nvSpPr>
        <p:spPr>
          <a:xfrm>
            <a:off x="12700" y="123825"/>
            <a:ext cx="9028113" cy="1385888"/>
          </a:xfrm>
        </p:spPr>
        <p:txBody>
          <a:bodyPr vert="horz" wrap="square" lIns="91440" tIns="45720" rIns="91440" bIns="45720" anchor="b" anchorCtr="0"/>
          <a:lstStyle/>
          <a:p>
            <a:pPr eaLnBrk="1" hangingPunct="1"/>
            <a:r>
              <a:rPr lang="zh-CN" altLang="en-US" sz="3600" b="1" dirty="0">
                <a:solidFill>
                  <a:srgbClr val="0000FF"/>
                </a:solidFill>
                <a:latin typeface="黑体" panose="02010609060101010101" pitchFamily="49" charset="-122"/>
                <a:ea typeface="黑体" panose="02010609060101010101" pitchFamily="49" charset="-122"/>
              </a:rPr>
              <a:t>一、植物的组织</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
        <p:nvSpPr>
          <p:cNvPr id="422914" name="Rectangle 3"/>
          <p:cNvSpPr>
            <a:spLocks noGrp="1"/>
          </p:cNvSpPr>
          <p:nvPr>
            <p:ph idx="1"/>
          </p:nvPr>
        </p:nvSpPr>
        <p:spPr>
          <a:xfrm>
            <a:off x="176213" y="1582738"/>
            <a:ext cx="8788400" cy="4149725"/>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概念：</a:t>
            </a:r>
            <a:r>
              <a:rPr lang="zh-CN" altLang="en-US" sz="2800" b="1" dirty="0">
                <a:latin typeface="黑体" panose="02010609060101010101" pitchFamily="49" charset="-122"/>
                <a:ea typeface="黑体" panose="02010609060101010101" pitchFamily="49" charset="-122"/>
              </a:rPr>
              <a:t>具有分裂能力的细胞所组成的，具有持续分裂能力的细胞群称为分生组织。</a:t>
            </a:r>
          </a:p>
          <a:p>
            <a:pPr marL="457200" lvl="1" indent="0" eaLnBrk="1" hangingPunct="1">
              <a:buNone/>
            </a:pPr>
            <a:r>
              <a:rPr lang="en-US" altLang="zh-CN" b="1" dirty="0">
                <a:latin typeface="黑体" panose="02010609060101010101" pitchFamily="49" charset="-122"/>
                <a:ea typeface="黑体" panose="02010609060101010101" pitchFamily="49" charset="-122"/>
              </a:rPr>
              <a:t>	</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种子植物中具分裂能力的细胞限制在植物体的</a:t>
            </a:r>
            <a:r>
              <a:rPr lang="zh-CN" altLang="en-US" sz="2800" b="1" dirty="0">
                <a:solidFill>
                  <a:srgbClr val="FF3300"/>
                </a:solidFill>
                <a:latin typeface="黑体" panose="02010609060101010101" pitchFamily="49" charset="-122"/>
                <a:ea typeface="黑体" panose="02010609060101010101" pitchFamily="49" charset="-122"/>
              </a:rPr>
              <a:t>某些部位</a:t>
            </a:r>
            <a:r>
              <a:rPr lang="zh-CN" altLang="en-US" sz="2800" b="1" dirty="0">
                <a:latin typeface="黑体" panose="02010609060101010101" pitchFamily="49" charset="-122"/>
                <a:ea typeface="黑体" panose="02010609060101010101" pitchFamily="49" charset="-122"/>
              </a:rPr>
              <a:t>，这些部位的细胞在植物体的一生中持续地保持强烈的分裂能力。</a:t>
            </a:r>
            <a:r>
              <a:rPr lang="zh-CN" altLang="en-US" sz="2800" b="1" dirty="0">
                <a:solidFill>
                  <a:srgbClr val="0000FF"/>
                </a:solidFill>
                <a:latin typeface="黑体" panose="02010609060101010101" pitchFamily="49" charset="-122"/>
                <a:ea typeface="黑体" panose="02010609060101010101" pitchFamily="49" charset="-122"/>
              </a:rPr>
              <a:t>新产生的细胞，一部分经分化形成成熟组织增加到植物体中，另一部分继续保持分裂能力以维持分生组织细胞的数量。</a:t>
            </a:r>
            <a:endParaRPr lang="zh-CN" altLang="en-US" b="1" dirty="0">
              <a:solidFill>
                <a:srgbClr val="0000FF"/>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3937" name="图片 4"/>
          <p:cNvPicPr>
            <a:picLocks noChangeAspect="1"/>
          </p:cNvPicPr>
          <p:nvPr>
            <p:custDataLst>
              <p:tags r:id="rId1"/>
            </p:custDataLst>
          </p:nvPr>
        </p:nvPicPr>
        <p:blipFill>
          <a:blip r:embed="rId3"/>
          <a:stretch>
            <a:fillRect/>
          </a:stretch>
        </p:blipFill>
        <p:spPr>
          <a:xfrm>
            <a:off x="566738" y="252413"/>
            <a:ext cx="8010525" cy="63531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4961" name="图片 4"/>
          <p:cNvPicPr>
            <a:picLocks noChangeAspect="1"/>
          </p:cNvPicPr>
          <p:nvPr/>
        </p:nvPicPr>
        <p:blipFill>
          <a:blip r:embed="rId2"/>
          <a:stretch>
            <a:fillRect/>
          </a:stretch>
        </p:blipFill>
        <p:spPr>
          <a:xfrm>
            <a:off x="476250" y="42863"/>
            <a:ext cx="8191500" cy="67722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985" name="Rectangle 3"/>
          <p:cNvSpPr>
            <a:spLocks noGrp="1"/>
          </p:cNvSpPr>
          <p:nvPr>
            <p:ph idx="1"/>
          </p:nvPr>
        </p:nvSpPr>
        <p:spPr>
          <a:xfrm>
            <a:off x="90488" y="1158875"/>
            <a:ext cx="8874125" cy="5181600"/>
          </a:xfrm>
        </p:spPr>
        <p:txBody>
          <a:bodyPr vert="horz" wrap="square" lIns="91440" tIns="45720" rIns="91440" bIns="45720" anchor="t" anchorCtr="0"/>
          <a:lstStyle/>
          <a:p>
            <a:pPr eaLnBrk="1" hangingPunct="1">
              <a:lnSpc>
                <a:spcPct val="110000"/>
              </a:lnSpc>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分生组织的类型</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按性质和来源分类</a:t>
            </a:r>
            <a:r>
              <a:rPr lang="en-US" altLang="zh-CN" b="1" dirty="0">
                <a:latin typeface="黑体" panose="02010609060101010101" pitchFamily="49" charset="-122"/>
                <a:ea typeface="黑体" panose="02010609060101010101" pitchFamily="49" charset="-122"/>
              </a:rPr>
              <a:t>—①</a:t>
            </a:r>
            <a:r>
              <a:rPr lang="zh-CN" altLang="en-US" b="1" dirty="0">
                <a:latin typeface="黑体" panose="02010609060101010101" pitchFamily="49" charset="-122"/>
                <a:ea typeface="黑体" panose="02010609060101010101" pitchFamily="49" charset="-122"/>
                <a:hlinkClick r:id="rId2" action="ppaction://hlinksldjump"/>
              </a:rPr>
              <a:t>原分生组织</a:t>
            </a:r>
            <a:endParaRPr lang="zh-CN" altLang="en-US" b="1" dirty="0">
              <a:latin typeface="黑体" panose="02010609060101010101" pitchFamily="49" charset="-122"/>
              <a:ea typeface="黑体" panose="02010609060101010101" pitchFamily="49" charset="-122"/>
            </a:endParaRPr>
          </a:p>
          <a:p>
            <a:pPr eaLnBrk="1" hangingPunct="1">
              <a:lnSpc>
                <a:spcPct val="110000"/>
              </a:lnSpc>
            </a:pPr>
            <a:r>
              <a:rPr lang="zh-CN" altLang="en-US" b="1" dirty="0">
                <a:solidFill>
                  <a:schemeClr val="tx1"/>
                </a:solidFill>
                <a:latin typeface="黑体" panose="02010609060101010101" pitchFamily="49" charset="-122"/>
                <a:ea typeface="黑体" panose="02010609060101010101" pitchFamily="49" charset="-122"/>
              </a:rPr>
              <a:t>位置和来源：</a:t>
            </a:r>
            <a:r>
              <a:rPr lang="zh-CN" altLang="en-US" b="1" dirty="0">
                <a:latin typeface="黑体" panose="02010609060101010101" pitchFamily="49" charset="-122"/>
                <a:ea typeface="黑体" panose="02010609060101010101" pitchFamily="49" charset="-122"/>
              </a:rPr>
              <a:t>来源于胚的胚性细胞；位于各器官顶端。</a:t>
            </a:r>
          </a:p>
          <a:p>
            <a:pPr eaLnBrk="1" hangingPunct="1"/>
            <a:r>
              <a:rPr lang="zh-CN" altLang="en-US" b="1" dirty="0">
                <a:solidFill>
                  <a:schemeClr val="tx1"/>
                </a:solidFill>
                <a:latin typeface="黑体" panose="02010609060101010101" pitchFamily="49" charset="-122"/>
                <a:ea typeface="黑体" panose="02010609060101010101" pitchFamily="49" charset="-122"/>
              </a:rPr>
              <a:t>组织特征：</a:t>
            </a:r>
          </a:p>
          <a:p>
            <a:pPr lvl="1" eaLnBrk="1" hangingPunct="1">
              <a:lnSpc>
                <a:spcPct val="110000"/>
              </a:lnSpc>
            </a:pPr>
            <a:r>
              <a:rPr lang="zh-CN" altLang="en-US" b="1" dirty="0">
                <a:latin typeface="黑体" panose="02010609060101010101" pitchFamily="49" charset="-122"/>
                <a:ea typeface="黑体" panose="02010609060101010101" pitchFamily="49" charset="-122"/>
              </a:rPr>
              <a:t>细胞类型：原分生组织细胞（</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种）。</a:t>
            </a:r>
          </a:p>
          <a:p>
            <a:pPr lvl="1" eaLnBrk="1" hangingPunct="1">
              <a:lnSpc>
                <a:spcPct val="110000"/>
              </a:lnSpc>
            </a:pPr>
            <a:r>
              <a:rPr lang="zh-CN" altLang="en-US" b="1" dirty="0">
                <a:latin typeface="黑体" panose="02010609060101010101" pitchFamily="49" charset="-122"/>
                <a:ea typeface="黑体" panose="02010609060101010101" pitchFamily="49" charset="-122"/>
              </a:rPr>
              <a:t>细胞特征：细胞为等径多面体，体积小，壁薄，质浓、核大、具有微小液泡，显微镜不能分辨。线粒体多而活跃。生理活性强，具强烈的分裂能力。</a:t>
            </a:r>
          </a:p>
          <a:p>
            <a:pPr lvl="1" eaLnBrk="1" hangingPunct="1">
              <a:lnSpc>
                <a:spcPct val="110000"/>
              </a:lnSpc>
            </a:pPr>
            <a:r>
              <a:rPr lang="zh-CN" altLang="en-US" b="1" dirty="0">
                <a:latin typeface="黑体" panose="02010609060101010101" pitchFamily="49" charset="-122"/>
                <a:ea typeface="黑体" panose="02010609060101010101" pitchFamily="49" charset="-122"/>
              </a:rPr>
              <a:t>排列方式：</a:t>
            </a:r>
            <a:r>
              <a:rPr lang="zh-CN" altLang="en-US" b="1" dirty="0">
                <a:solidFill>
                  <a:srgbClr val="FF0000"/>
                </a:solidFill>
                <a:latin typeface="黑体" panose="02010609060101010101" pitchFamily="49" charset="-122"/>
                <a:ea typeface="黑体" panose="02010609060101010101" pitchFamily="49" charset="-122"/>
              </a:rPr>
              <a:t>细胞排列紧密，几乎看不到细胞间隙，是所有生活组织中排列最紧密的</a:t>
            </a:r>
            <a:r>
              <a:rPr lang="zh-CN" altLang="en-US" b="1" dirty="0">
                <a:latin typeface="黑体" panose="02010609060101010101" pitchFamily="49" charset="-122"/>
                <a:ea typeface="黑体" panose="02010609060101010101" pitchFamily="49" charset="-122"/>
              </a:rPr>
              <a:t>。</a:t>
            </a:r>
          </a:p>
          <a:p>
            <a:pPr eaLnBrk="1" hangingPunct="1"/>
            <a:r>
              <a:rPr lang="zh-CN" altLang="en-US" b="1" dirty="0">
                <a:solidFill>
                  <a:schemeClr val="tx1"/>
                </a:solidFill>
                <a:latin typeface="黑体" panose="02010609060101010101" pitchFamily="49" charset="-122"/>
                <a:ea typeface="黑体" panose="02010609060101010101" pitchFamily="49" charset="-122"/>
              </a:rPr>
              <a:t>组织功能：使植物进行生长。</a:t>
            </a:r>
          </a:p>
          <a:p>
            <a:pPr eaLnBrk="1" hangingPunct="1"/>
            <a:r>
              <a:rPr lang="zh-CN" altLang="en-US" b="1" dirty="0">
                <a:solidFill>
                  <a:schemeClr val="tx1"/>
                </a:solidFill>
                <a:latin typeface="黑体" panose="02010609060101010101" pitchFamily="49" charset="-122"/>
                <a:ea typeface="黑体" panose="02010609060101010101" pitchFamily="49" charset="-122"/>
              </a:rPr>
              <a:t>发育方向：形成初生分生组织。</a:t>
            </a:r>
          </a:p>
        </p:txBody>
      </p:sp>
      <p:sp>
        <p:nvSpPr>
          <p:cNvPr id="425986" name="Rectangle 5"/>
          <p:cNvSpPr>
            <a:spLocks noGrp="1"/>
          </p:cNvSpPr>
          <p:nvPr>
            <p:ph type="title"/>
          </p:nvPr>
        </p:nvSpPr>
        <p:spPr>
          <a:xfrm>
            <a:off x="0" y="15875"/>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7009" name="Rectangle 3"/>
          <p:cNvSpPr>
            <a:spLocks noGrp="1"/>
          </p:cNvSpPr>
          <p:nvPr>
            <p:ph idx="1"/>
          </p:nvPr>
        </p:nvSpPr>
        <p:spPr>
          <a:xfrm>
            <a:off x="0" y="1295400"/>
            <a:ext cx="9144000" cy="5257800"/>
          </a:xfrm>
        </p:spPr>
        <p:txBody>
          <a:bodyPr vert="horz" wrap="square" lIns="91440" tIns="45720" rIns="91440" bIns="45720" anchor="t" anchorCtr="0"/>
          <a:lstStyle/>
          <a:p>
            <a:pPr eaLnBrk="1" hangingPunct="1">
              <a:lnSpc>
                <a:spcPct val="90000"/>
              </a:lnSpc>
              <a:buNone/>
            </a:pPr>
            <a:r>
              <a:rPr lang="en-US" altLang="zh-CN" sz="2800"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分生组织的类型</a:t>
            </a:r>
            <a:r>
              <a:rPr lang="en-US" altLang="zh-CN" sz="20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按性质和来源分类</a:t>
            </a:r>
            <a:r>
              <a:rPr lang="en-US" altLang="zh-CN" sz="20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②</a:t>
            </a:r>
            <a:r>
              <a:rPr lang="zh-CN" altLang="en-US" b="1" dirty="0">
                <a:latin typeface="黑体" panose="02010609060101010101" pitchFamily="49" charset="-122"/>
                <a:ea typeface="黑体" panose="02010609060101010101" pitchFamily="49" charset="-122"/>
                <a:hlinkClick r:id="rId2" action="ppaction://hlinksldjump"/>
              </a:rPr>
              <a:t>初生分生组织</a:t>
            </a:r>
            <a:endParaRPr lang="zh-CN" altLang="en-US" b="1" dirty="0">
              <a:latin typeface="黑体" panose="02010609060101010101" pitchFamily="49" charset="-122"/>
              <a:ea typeface="黑体" panose="02010609060101010101" pitchFamily="49" charset="-122"/>
            </a:endParaRPr>
          </a:p>
          <a:p>
            <a:pPr lvl="1" eaLnBrk="1" hangingPunct="1">
              <a:lnSpc>
                <a:spcPct val="90000"/>
              </a:lnSpc>
            </a:pPr>
            <a:r>
              <a:rPr lang="zh-CN" altLang="en-US" b="1" dirty="0">
                <a:latin typeface="黑体" panose="02010609060101010101" pitchFamily="49" charset="-122"/>
                <a:ea typeface="黑体" panose="02010609060101010101" pitchFamily="49" charset="-122"/>
              </a:rPr>
              <a:t>位置和来源：位于原分生组织之后，二者之间无明显界限，合称</a:t>
            </a:r>
            <a:r>
              <a:rPr lang="zh-CN" altLang="en-US" b="1" dirty="0">
                <a:solidFill>
                  <a:srgbClr val="FF0000"/>
                </a:solidFill>
                <a:latin typeface="黑体" panose="02010609060101010101" pitchFamily="49" charset="-122"/>
                <a:ea typeface="黑体" panose="02010609060101010101" pitchFamily="49" charset="-122"/>
              </a:rPr>
              <a:t>顶端分生组织</a:t>
            </a:r>
            <a:r>
              <a:rPr lang="zh-CN" altLang="en-US" b="1" dirty="0">
                <a:latin typeface="黑体" panose="02010609060101010101" pitchFamily="49" charset="-122"/>
                <a:ea typeface="黑体" panose="02010609060101010101" pitchFamily="49" charset="-122"/>
              </a:rPr>
              <a:t>。二者的性质和发育结果不同；</a:t>
            </a:r>
            <a:r>
              <a:rPr lang="zh-CN" altLang="en-US" b="1" dirty="0">
                <a:solidFill>
                  <a:srgbClr val="FF0000"/>
                </a:solidFill>
                <a:latin typeface="黑体" panose="02010609060101010101" pitchFamily="49" charset="-122"/>
                <a:ea typeface="黑体" panose="02010609060101010101" pitchFamily="49" charset="-122"/>
              </a:rPr>
              <a:t>初生组织来源于原分生组织</a:t>
            </a:r>
            <a:r>
              <a:rPr lang="zh-CN" altLang="en-US" b="1" dirty="0">
                <a:latin typeface="黑体" panose="02010609060101010101" pitchFamily="49" charset="-122"/>
                <a:ea typeface="黑体" panose="02010609060101010101" pitchFamily="49" charset="-122"/>
              </a:rPr>
              <a:t>。</a:t>
            </a:r>
          </a:p>
          <a:p>
            <a:pPr lvl="1" eaLnBrk="1" hangingPunct="1">
              <a:lnSpc>
                <a:spcPct val="90000"/>
              </a:lnSpc>
            </a:pPr>
            <a:r>
              <a:rPr lang="zh-CN" altLang="en-US" b="1" dirty="0">
                <a:latin typeface="黑体" panose="02010609060101010101" pitchFamily="49" charset="-122"/>
                <a:ea typeface="黑体" panose="02010609060101010101" pitchFamily="49" charset="-122"/>
              </a:rPr>
              <a:t>组织特征：</a:t>
            </a:r>
          </a:p>
          <a:p>
            <a:pPr lvl="2" eaLnBrk="1" hangingPunct="1">
              <a:lnSpc>
                <a:spcPct val="90000"/>
              </a:lnSpc>
            </a:pPr>
            <a:r>
              <a:rPr lang="zh-CN" altLang="en-US" sz="2500" b="1" dirty="0">
                <a:solidFill>
                  <a:schemeClr val="tx1"/>
                </a:solidFill>
                <a:latin typeface="黑体" panose="02010609060101010101" pitchFamily="49" charset="-122"/>
                <a:ea typeface="黑体" panose="02010609060101010101" pitchFamily="49" charset="-122"/>
              </a:rPr>
              <a:t>细胞种类：位于器官外表的</a:t>
            </a:r>
            <a:r>
              <a:rPr lang="zh-CN" altLang="en-US" sz="2500" b="1" dirty="0">
                <a:solidFill>
                  <a:srgbClr val="FF0000"/>
                </a:solidFill>
                <a:latin typeface="黑体" panose="02010609060101010101" pitchFamily="49" charset="-122"/>
                <a:ea typeface="黑体" panose="02010609060101010101" pitchFamily="49" charset="-122"/>
              </a:rPr>
              <a:t>原表皮细胞</a:t>
            </a:r>
            <a:r>
              <a:rPr lang="zh-CN" altLang="en-US" sz="2500" b="1" dirty="0">
                <a:solidFill>
                  <a:schemeClr val="tx1"/>
                </a:solidFill>
                <a:latin typeface="黑体" panose="02010609060101010101" pitchFamily="49" charset="-122"/>
                <a:ea typeface="黑体" panose="02010609060101010101" pitchFamily="49" charset="-122"/>
              </a:rPr>
              <a:t>、位于其内的</a:t>
            </a:r>
            <a:r>
              <a:rPr lang="zh-CN" altLang="en-US" sz="2500" b="1" dirty="0">
                <a:solidFill>
                  <a:srgbClr val="FF0000"/>
                </a:solidFill>
                <a:latin typeface="黑体" panose="02010609060101010101" pitchFamily="49" charset="-122"/>
                <a:ea typeface="黑体" panose="02010609060101010101" pitchFamily="49" charset="-122"/>
              </a:rPr>
              <a:t>基本分生组织</a:t>
            </a:r>
            <a:r>
              <a:rPr lang="zh-CN" altLang="en-US" sz="2500" b="1" dirty="0">
                <a:solidFill>
                  <a:schemeClr val="tx1"/>
                </a:solidFill>
                <a:latin typeface="黑体" panose="02010609060101010101" pitchFamily="49" charset="-122"/>
                <a:ea typeface="黑体" panose="02010609060101010101" pitchFamily="49" charset="-122"/>
              </a:rPr>
              <a:t>和位于中央的</a:t>
            </a:r>
            <a:r>
              <a:rPr lang="zh-CN" altLang="en-US" sz="2500" b="1" dirty="0">
                <a:solidFill>
                  <a:srgbClr val="FF0000"/>
                </a:solidFill>
                <a:latin typeface="黑体" panose="02010609060101010101" pitchFamily="49" charset="-122"/>
                <a:ea typeface="黑体" panose="02010609060101010101" pitchFamily="49" charset="-122"/>
              </a:rPr>
              <a:t>原形成层细胞</a:t>
            </a:r>
            <a:r>
              <a:rPr lang="zh-CN" altLang="en-US" sz="2500" b="1" dirty="0">
                <a:solidFill>
                  <a:schemeClr val="tx1"/>
                </a:solidFill>
                <a:latin typeface="黑体" panose="02010609060101010101" pitchFamily="49" charset="-122"/>
                <a:ea typeface="黑体" panose="02010609060101010101" pitchFamily="49" charset="-122"/>
              </a:rPr>
              <a:t>。</a:t>
            </a:r>
          </a:p>
          <a:p>
            <a:pPr lvl="2" eaLnBrk="1" hangingPunct="1">
              <a:lnSpc>
                <a:spcPct val="90000"/>
              </a:lnSpc>
            </a:pPr>
            <a:r>
              <a:rPr lang="zh-CN" altLang="en-US" sz="2500" b="1" dirty="0">
                <a:solidFill>
                  <a:schemeClr val="tx1"/>
                </a:solidFill>
                <a:latin typeface="黑体" panose="02010609060101010101" pitchFamily="49" charset="-122"/>
                <a:ea typeface="黑体" panose="02010609060101010101" pitchFamily="49" charset="-122"/>
              </a:rPr>
              <a:t>细胞特征：共同特征为具有</a:t>
            </a:r>
            <a:r>
              <a:rPr lang="zh-CN" altLang="en-US" sz="2500" b="1" dirty="0">
                <a:solidFill>
                  <a:srgbClr val="FF0000"/>
                </a:solidFill>
                <a:latin typeface="黑体" panose="02010609060101010101" pitchFamily="49" charset="-122"/>
                <a:ea typeface="黑体" panose="02010609060101010101" pitchFamily="49" charset="-122"/>
              </a:rPr>
              <a:t>初步分化</a:t>
            </a:r>
            <a:r>
              <a:rPr lang="zh-CN" altLang="en-US" sz="2500" b="1" dirty="0">
                <a:solidFill>
                  <a:schemeClr val="tx1"/>
                </a:solidFill>
                <a:latin typeface="黑体" panose="02010609060101010101" pitchFamily="49" charset="-122"/>
                <a:ea typeface="黑体" panose="02010609060101010101" pitchFamily="49" charset="-122"/>
              </a:rPr>
              <a:t>，细胞</a:t>
            </a:r>
            <a:r>
              <a:rPr lang="zh-CN" altLang="en-US" sz="2500" b="1" dirty="0">
                <a:solidFill>
                  <a:srgbClr val="FF0000"/>
                </a:solidFill>
                <a:latin typeface="黑体" panose="02010609060101010101" pitchFamily="49" charset="-122"/>
                <a:ea typeface="黑体" panose="02010609060101010101" pitchFamily="49" charset="-122"/>
              </a:rPr>
              <a:t>大于</a:t>
            </a:r>
            <a:r>
              <a:rPr lang="zh-CN" altLang="en-US" sz="2500" b="1" dirty="0">
                <a:solidFill>
                  <a:schemeClr val="tx1"/>
                </a:solidFill>
                <a:latin typeface="黑体" panose="02010609060101010101" pitchFamily="49" charset="-122"/>
                <a:ea typeface="黑体" panose="02010609060101010101" pitchFamily="49" charset="-122"/>
              </a:rPr>
              <a:t>原分生组织，长形细胞的长轴与器官长轴同向，出现了初步的液泡化，壁薄、核小，质较浓。</a:t>
            </a:r>
          </a:p>
          <a:p>
            <a:pPr lvl="2" eaLnBrk="1" hangingPunct="1">
              <a:lnSpc>
                <a:spcPct val="90000"/>
              </a:lnSpc>
            </a:pPr>
            <a:r>
              <a:rPr lang="zh-CN" altLang="en-US" sz="2500" b="1" dirty="0">
                <a:solidFill>
                  <a:schemeClr val="tx1"/>
                </a:solidFill>
                <a:latin typeface="黑体" panose="02010609060101010101" pitchFamily="49" charset="-122"/>
                <a:ea typeface="黑体" panose="02010609060101010101" pitchFamily="49" charset="-122"/>
              </a:rPr>
              <a:t>排列方式：紧密，无间隙。</a:t>
            </a:r>
          </a:p>
          <a:p>
            <a:pPr lvl="1" eaLnBrk="1" hangingPunct="1">
              <a:lnSpc>
                <a:spcPct val="90000"/>
              </a:lnSpc>
            </a:pPr>
            <a:r>
              <a:rPr lang="zh-CN" altLang="en-US" b="1" dirty="0">
                <a:latin typeface="黑体" panose="02010609060101010101" pitchFamily="49" charset="-122"/>
                <a:ea typeface="黑体" panose="02010609060101010101" pitchFamily="49" charset="-122"/>
              </a:rPr>
              <a:t>组织功能：</a:t>
            </a:r>
            <a:r>
              <a:rPr lang="zh-CN" altLang="en-US" b="1" dirty="0">
                <a:solidFill>
                  <a:srgbClr val="0000FF"/>
                </a:solidFill>
                <a:latin typeface="黑体" panose="02010609060101010101" pitchFamily="49" charset="-122"/>
                <a:ea typeface="黑体" panose="02010609060101010101" pitchFamily="49" charset="-122"/>
              </a:rPr>
              <a:t>形成具特定功能的初生成熟组织</a:t>
            </a:r>
            <a:r>
              <a:rPr lang="zh-CN" altLang="en-US" b="1" dirty="0">
                <a:latin typeface="黑体" panose="02010609060101010101" pitchFamily="49" charset="-122"/>
                <a:ea typeface="黑体" panose="02010609060101010101" pitchFamily="49" charset="-122"/>
              </a:rPr>
              <a:t>。</a:t>
            </a:r>
          </a:p>
          <a:p>
            <a:pPr lvl="1" eaLnBrk="1" hangingPunct="1">
              <a:lnSpc>
                <a:spcPct val="90000"/>
              </a:lnSpc>
            </a:pPr>
            <a:r>
              <a:rPr lang="zh-CN" altLang="en-US" b="1" dirty="0">
                <a:latin typeface="黑体" panose="02010609060101010101" pitchFamily="49" charset="-122"/>
                <a:ea typeface="黑体" panose="02010609060101010101" pitchFamily="49" charset="-122"/>
              </a:rPr>
              <a:t>发育方向：所产生的细胞，经分化后形成初生成熟组织。</a:t>
            </a:r>
            <a:r>
              <a:rPr lang="zh-CN" altLang="en-US" sz="1700" b="1" dirty="0">
                <a:latin typeface="黑体" panose="02010609060101010101" pitchFamily="49" charset="-122"/>
                <a:ea typeface="黑体" panose="02010609060101010101" pitchFamily="49" charset="-122"/>
              </a:rPr>
              <a:t> </a:t>
            </a:r>
          </a:p>
        </p:txBody>
      </p:sp>
      <p:sp>
        <p:nvSpPr>
          <p:cNvPr id="427010"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8033" name="Rectangle 3"/>
          <p:cNvSpPr>
            <a:spLocks noGrp="1"/>
          </p:cNvSpPr>
          <p:nvPr>
            <p:ph idx="1"/>
          </p:nvPr>
        </p:nvSpPr>
        <p:spPr>
          <a:xfrm>
            <a:off x="107950" y="1108075"/>
            <a:ext cx="8928100" cy="5257800"/>
          </a:xfrm>
        </p:spPr>
        <p:txBody>
          <a:bodyPr vert="horz" wrap="square" lIns="91440" tIns="45720" rIns="91440" bIns="45720" anchor="t" anchorCtr="0"/>
          <a:lstStyle/>
          <a:p>
            <a:pPr eaLnBrk="1" hangingPunct="1">
              <a:lnSpc>
                <a:spcPct val="90000"/>
              </a:lnSpc>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分生组织的类型</a:t>
            </a:r>
            <a:r>
              <a:rPr lang="en-US" altLang="zh-CN" sz="20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按性质和来源分类</a:t>
            </a:r>
            <a:r>
              <a:rPr lang="en-US" altLang="zh-CN" sz="20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③</a:t>
            </a:r>
            <a:r>
              <a:rPr lang="zh-CN" altLang="en-US" b="1" dirty="0">
                <a:solidFill>
                  <a:srgbClr val="FF0000"/>
                </a:solidFill>
                <a:latin typeface="黑体" panose="02010609060101010101" pitchFamily="49" charset="-122"/>
                <a:ea typeface="黑体" panose="02010609060101010101" pitchFamily="49" charset="-122"/>
              </a:rPr>
              <a:t>次生分生组织</a:t>
            </a:r>
          </a:p>
          <a:p>
            <a:pPr lvl="1" eaLnBrk="1" hangingPunct="1">
              <a:lnSpc>
                <a:spcPct val="90000"/>
              </a:lnSpc>
            </a:pPr>
            <a:r>
              <a:rPr lang="zh-CN" altLang="en-US" b="1" dirty="0">
                <a:latin typeface="黑体" panose="02010609060101010101" pitchFamily="49" charset="-122"/>
                <a:ea typeface="黑体" panose="02010609060101010101" pitchFamily="49" charset="-122"/>
              </a:rPr>
              <a:t>位置和来源</a:t>
            </a:r>
            <a:r>
              <a:rPr lang="zh-CN" altLang="en-US" sz="20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位于器官侧向的外围；</a:t>
            </a:r>
            <a:r>
              <a:rPr lang="zh-CN" altLang="en-US" b="1" dirty="0">
                <a:solidFill>
                  <a:srgbClr val="0000FF"/>
                </a:solidFill>
                <a:latin typeface="黑体" panose="02010609060101010101" pitchFamily="49" charset="-122"/>
                <a:ea typeface="黑体" panose="02010609060101010101" pitchFamily="49" charset="-122"/>
              </a:rPr>
              <a:t>源于初生成熟组织</a:t>
            </a:r>
            <a:r>
              <a:rPr lang="zh-CN" altLang="en-US" b="1" dirty="0">
                <a:latin typeface="黑体" panose="02010609060101010101" pitchFamily="49" charset="-122"/>
                <a:ea typeface="黑体" panose="02010609060101010101" pitchFamily="49" charset="-122"/>
              </a:rPr>
              <a:t>。</a:t>
            </a:r>
          </a:p>
          <a:p>
            <a:pPr lvl="1" eaLnBrk="1" hangingPunct="1">
              <a:lnSpc>
                <a:spcPct val="90000"/>
              </a:lnSpc>
            </a:pPr>
            <a:r>
              <a:rPr lang="zh-CN" altLang="en-US" b="1" dirty="0">
                <a:latin typeface="黑体" panose="02010609060101010101" pitchFamily="49" charset="-122"/>
                <a:ea typeface="黑体" panose="02010609060101010101" pitchFamily="49" charset="-122"/>
              </a:rPr>
              <a:t>组织特征：</a:t>
            </a:r>
          </a:p>
          <a:p>
            <a:pPr lvl="2" eaLnBrk="1" hangingPunct="1">
              <a:lnSpc>
                <a:spcPct val="90000"/>
              </a:lnSpc>
            </a:pPr>
            <a:r>
              <a:rPr lang="zh-CN" altLang="en-US" sz="2500" b="1" dirty="0">
                <a:solidFill>
                  <a:schemeClr val="tx1"/>
                </a:solidFill>
                <a:latin typeface="黑体" panose="02010609060101010101" pitchFamily="49" charset="-122"/>
                <a:ea typeface="黑体" panose="02010609060101010101" pitchFamily="49" charset="-122"/>
              </a:rPr>
              <a:t>细胞类型：</a:t>
            </a:r>
            <a:r>
              <a:rPr lang="zh-CN" altLang="en-US" sz="2500" b="1" dirty="0">
                <a:solidFill>
                  <a:srgbClr val="FF0000"/>
                </a:solidFill>
                <a:latin typeface="黑体" panose="02010609060101010101" pitchFamily="49" charset="-122"/>
                <a:ea typeface="黑体" panose="02010609060101010101" pitchFamily="49" charset="-122"/>
              </a:rPr>
              <a:t>木栓形成层</a:t>
            </a:r>
            <a:r>
              <a:rPr lang="zh-CN" altLang="en-US" sz="2500" b="1" dirty="0">
                <a:solidFill>
                  <a:schemeClr val="tx1"/>
                </a:solidFill>
                <a:latin typeface="黑体" panose="02010609060101010101" pitchFamily="49" charset="-122"/>
                <a:ea typeface="黑体" panose="02010609060101010101" pitchFamily="49" charset="-122"/>
              </a:rPr>
              <a:t>和</a:t>
            </a:r>
            <a:r>
              <a:rPr lang="zh-CN" altLang="en-US" sz="2500" b="1" dirty="0">
                <a:solidFill>
                  <a:srgbClr val="FF0000"/>
                </a:solidFill>
                <a:latin typeface="黑体" panose="02010609060101010101" pitchFamily="49" charset="-122"/>
                <a:ea typeface="黑体" panose="02010609060101010101" pitchFamily="49" charset="-122"/>
              </a:rPr>
              <a:t>维管形成层细胞</a:t>
            </a:r>
            <a:r>
              <a:rPr lang="zh-CN" altLang="en-US" sz="2500" b="1" dirty="0">
                <a:solidFill>
                  <a:schemeClr val="tx1"/>
                </a:solidFill>
                <a:latin typeface="黑体" panose="02010609060101010101" pitchFamily="49" charset="-122"/>
                <a:ea typeface="黑体" panose="02010609060101010101" pitchFamily="49" charset="-122"/>
              </a:rPr>
              <a:t>。</a:t>
            </a:r>
          </a:p>
          <a:p>
            <a:pPr lvl="2" eaLnBrk="1" hangingPunct="1">
              <a:lnSpc>
                <a:spcPct val="90000"/>
              </a:lnSpc>
            </a:pPr>
            <a:r>
              <a:rPr lang="zh-CN" altLang="en-US" sz="2500" b="1" dirty="0">
                <a:solidFill>
                  <a:schemeClr val="tx1"/>
                </a:solidFill>
                <a:latin typeface="黑体" panose="02010609060101010101" pitchFamily="49" charset="-122"/>
                <a:ea typeface="黑体" panose="02010609060101010101" pitchFamily="49" charset="-122"/>
              </a:rPr>
              <a:t>细胞特征：维管形成层多为长细胞，少数为短细胞。分化明显，具液泡，细胞大，质较稀，核小；木栓形成层细胞较小。</a:t>
            </a:r>
          </a:p>
          <a:p>
            <a:pPr lvl="2" eaLnBrk="1" hangingPunct="1">
              <a:lnSpc>
                <a:spcPct val="90000"/>
              </a:lnSpc>
            </a:pPr>
            <a:r>
              <a:rPr lang="zh-CN" altLang="en-US" sz="2500" b="1" dirty="0">
                <a:solidFill>
                  <a:schemeClr val="tx1"/>
                </a:solidFill>
                <a:latin typeface="黑体" panose="02010609060101010101" pitchFamily="49" charset="-122"/>
                <a:ea typeface="黑体" panose="02010609060101010101" pitchFamily="49" charset="-122"/>
              </a:rPr>
              <a:t>细胞排列：</a:t>
            </a:r>
            <a:r>
              <a:rPr lang="zh-CN" altLang="en-US" sz="2500" b="1" dirty="0">
                <a:solidFill>
                  <a:srgbClr val="0000FF"/>
                </a:solidFill>
                <a:latin typeface="黑体" panose="02010609060101010101" pitchFamily="49" charset="-122"/>
                <a:ea typeface="黑体" panose="02010609060101010101" pitchFamily="49" charset="-122"/>
              </a:rPr>
              <a:t>沿器官周方向排成一周（圆筒形），由一层细胞构成，排列紧密，无胞间隙。</a:t>
            </a:r>
          </a:p>
          <a:p>
            <a:pPr lvl="1" eaLnBrk="1" hangingPunct="1">
              <a:lnSpc>
                <a:spcPct val="90000"/>
              </a:lnSpc>
            </a:pPr>
            <a:r>
              <a:rPr lang="zh-CN" altLang="en-US" b="1" dirty="0">
                <a:latin typeface="黑体" panose="02010609060101010101" pitchFamily="49" charset="-122"/>
                <a:ea typeface="黑体" panose="02010609060101010101" pitchFamily="49" charset="-122"/>
              </a:rPr>
              <a:t>组织功能：</a:t>
            </a:r>
            <a:r>
              <a:rPr lang="zh-CN" altLang="en-US" b="1" dirty="0">
                <a:solidFill>
                  <a:srgbClr val="0000FF"/>
                </a:solidFill>
                <a:latin typeface="黑体" panose="02010609060101010101" pitchFamily="49" charset="-122"/>
                <a:ea typeface="黑体" panose="02010609060101010101" pitchFamily="49" charset="-122"/>
              </a:rPr>
              <a:t>分别形成次生维管组织和次生保护组织。</a:t>
            </a:r>
          </a:p>
          <a:p>
            <a:pPr lvl="1" eaLnBrk="1" hangingPunct="1">
              <a:lnSpc>
                <a:spcPct val="90000"/>
              </a:lnSpc>
            </a:pPr>
            <a:r>
              <a:rPr lang="zh-CN" altLang="en-US" b="1" dirty="0">
                <a:latin typeface="黑体" panose="02010609060101010101" pitchFamily="49" charset="-122"/>
                <a:ea typeface="黑体" panose="02010609060101010101" pitchFamily="49" charset="-122"/>
              </a:rPr>
              <a:t>发育方向：</a:t>
            </a:r>
            <a:r>
              <a:rPr lang="zh-CN" altLang="en-US" b="1" dirty="0">
                <a:solidFill>
                  <a:srgbClr val="0000FF"/>
                </a:solidFill>
                <a:latin typeface="黑体" panose="02010609060101010101" pitchFamily="49" charset="-122"/>
                <a:ea typeface="黑体" panose="02010609060101010101" pitchFamily="49" charset="-122"/>
              </a:rPr>
              <a:t>产生次生结构</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维管形成层</a:t>
            </a:r>
            <a:r>
              <a:rPr lang="zh-CN" altLang="en-US" b="1" dirty="0">
                <a:latin typeface="黑体" panose="02010609060101010101" pitchFamily="49" charset="-122"/>
                <a:ea typeface="黑体" panose="02010609060101010101" pitchFamily="49" charset="-122"/>
              </a:rPr>
              <a:t>分裂的细胞向内形成</a:t>
            </a:r>
            <a:r>
              <a:rPr lang="zh-CN" altLang="en-US" b="1" dirty="0">
                <a:solidFill>
                  <a:srgbClr val="FF0000"/>
                </a:solidFill>
                <a:latin typeface="黑体" panose="02010609060101010101" pitchFamily="49" charset="-122"/>
                <a:ea typeface="黑体" panose="02010609060101010101" pitchFamily="49" charset="-122"/>
              </a:rPr>
              <a:t>次生木质部</a:t>
            </a:r>
            <a:r>
              <a:rPr lang="zh-CN" altLang="en-US" b="1" dirty="0">
                <a:latin typeface="黑体" panose="02010609060101010101" pitchFamily="49" charset="-122"/>
                <a:ea typeface="黑体" panose="02010609060101010101" pitchFamily="49" charset="-122"/>
              </a:rPr>
              <a:t>，向外形成</a:t>
            </a:r>
            <a:r>
              <a:rPr lang="zh-CN" altLang="en-US" b="1" dirty="0">
                <a:solidFill>
                  <a:srgbClr val="FF0000"/>
                </a:solidFill>
                <a:latin typeface="黑体" panose="02010609060101010101" pitchFamily="49" charset="-122"/>
                <a:ea typeface="黑体" panose="02010609060101010101" pitchFamily="49" charset="-122"/>
              </a:rPr>
              <a:t>次生韧皮部</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木栓形成层</a:t>
            </a:r>
            <a:r>
              <a:rPr lang="zh-CN" altLang="en-US" b="1" dirty="0">
                <a:latin typeface="黑体" panose="02010609060101010101" pitchFamily="49" charset="-122"/>
                <a:ea typeface="黑体" panose="02010609060101010101" pitchFamily="49" charset="-122"/>
              </a:rPr>
              <a:t>分裂的细胞向外形成</a:t>
            </a:r>
            <a:r>
              <a:rPr lang="zh-CN" altLang="en-US" b="1" dirty="0">
                <a:solidFill>
                  <a:srgbClr val="FF0000"/>
                </a:solidFill>
                <a:latin typeface="黑体" panose="02010609060101010101" pitchFamily="49" charset="-122"/>
                <a:ea typeface="黑体" panose="02010609060101010101" pitchFamily="49" charset="-122"/>
              </a:rPr>
              <a:t>木栓层</a:t>
            </a:r>
            <a:r>
              <a:rPr lang="zh-CN" altLang="en-US" b="1" dirty="0">
                <a:latin typeface="黑体" panose="02010609060101010101" pitchFamily="49" charset="-122"/>
                <a:ea typeface="黑体" panose="02010609060101010101" pitchFamily="49" charset="-122"/>
              </a:rPr>
              <a:t>，向内形成</a:t>
            </a:r>
            <a:r>
              <a:rPr lang="zh-CN" altLang="en-US" b="1" dirty="0">
                <a:solidFill>
                  <a:srgbClr val="FF0000"/>
                </a:solidFill>
                <a:latin typeface="黑体" panose="02010609060101010101" pitchFamily="49" charset="-122"/>
                <a:ea typeface="黑体" panose="02010609060101010101" pitchFamily="49" charset="-122"/>
              </a:rPr>
              <a:t>栓内层</a:t>
            </a:r>
            <a:r>
              <a:rPr lang="zh-CN" altLang="en-US" b="1" dirty="0">
                <a:latin typeface="黑体" panose="02010609060101010101" pitchFamily="49" charset="-122"/>
                <a:ea typeface="黑体" panose="02010609060101010101" pitchFamily="49" charset="-122"/>
              </a:rPr>
              <a:t>，构成周皮。</a:t>
            </a:r>
            <a:r>
              <a:rPr lang="zh-CN" altLang="en-US" sz="1900" b="1" dirty="0">
                <a:latin typeface="黑体" panose="02010609060101010101" pitchFamily="49" charset="-122"/>
                <a:ea typeface="黑体" panose="02010609060101010101" pitchFamily="49" charset="-122"/>
              </a:rPr>
              <a:t> </a:t>
            </a:r>
          </a:p>
        </p:txBody>
      </p:sp>
      <p:sp>
        <p:nvSpPr>
          <p:cNvPr id="428034" name="Rectangle 5"/>
          <p:cNvSpPr>
            <a:spLocks noGrp="1"/>
          </p:cNvSpPr>
          <p:nvPr>
            <p:ph type="title"/>
          </p:nvPr>
        </p:nvSpPr>
        <p:spPr>
          <a:xfrm>
            <a:off x="0" y="-30162"/>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9057" name="Rectangle 3"/>
          <p:cNvSpPr>
            <a:spLocks noGrp="1"/>
          </p:cNvSpPr>
          <p:nvPr>
            <p:ph idx="1"/>
          </p:nvPr>
        </p:nvSpPr>
        <p:spPr>
          <a:xfrm>
            <a:off x="395288" y="1341438"/>
            <a:ext cx="8424862"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分生组织的类型</a:t>
            </a:r>
            <a:r>
              <a:rPr lang="en-US" altLang="zh-CN" b="1" dirty="0">
                <a:latin typeface="黑体" panose="02010609060101010101" pitchFamily="49" charset="-122"/>
                <a:ea typeface="黑体" panose="02010609060101010101" pitchFamily="49" charset="-122"/>
              </a:rPr>
              <a:t>—⑵</a:t>
            </a:r>
            <a:r>
              <a:rPr lang="zh-CN" altLang="en-US" b="1" dirty="0">
                <a:latin typeface="黑体" panose="02010609060101010101" pitchFamily="49" charset="-122"/>
                <a:ea typeface="黑体" panose="02010609060101010101" pitchFamily="49" charset="-122"/>
              </a:rPr>
              <a:t>按位置分类</a:t>
            </a:r>
            <a:r>
              <a:rPr lang="en-US" altLang="zh-CN" b="1" dirty="0">
                <a:latin typeface="黑体" panose="02010609060101010101" pitchFamily="49" charset="-122"/>
                <a:ea typeface="黑体" panose="02010609060101010101" pitchFamily="49" charset="-122"/>
              </a:rPr>
              <a:t>—①</a:t>
            </a:r>
            <a:r>
              <a:rPr lang="zh-CN" altLang="en-US" b="1" dirty="0">
                <a:latin typeface="黑体" panose="02010609060101010101" pitchFamily="49" charset="-122"/>
                <a:ea typeface="黑体" panose="02010609060101010101" pitchFamily="49" charset="-122"/>
              </a:rPr>
              <a:t>顶端分生组织</a:t>
            </a:r>
          </a:p>
          <a:p>
            <a:pPr eaLnBrk="1" hangingPunct="1">
              <a:buNone/>
            </a:pPr>
            <a:endParaRPr lang="zh-CN" altLang="en-US" b="1" dirty="0">
              <a:latin typeface="黑体" panose="02010609060101010101" pitchFamily="49" charset="-122"/>
              <a:ea typeface="黑体" panose="02010609060101010101" pitchFamily="49" charset="-122"/>
            </a:endParaRPr>
          </a:p>
          <a:p>
            <a:pPr eaLnBrk="1" hangingPunct="1">
              <a:lnSpc>
                <a:spcPct val="140000"/>
              </a:lnSpc>
            </a:pPr>
            <a:r>
              <a:rPr lang="zh-CN" altLang="en-US" b="1" dirty="0">
                <a:latin typeface="黑体" panose="02010609060101010101" pitchFamily="49" charset="-122"/>
                <a:ea typeface="黑体" panose="02010609060101010101" pitchFamily="49" charset="-122"/>
              </a:rPr>
              <a:t>按位置称顶端分生组织，实际上就是前述的</a:t>
            </a:r>
            <a:r>
              <a:rPr lang="zh-CN" altLang="en-US" b="1" dirty="0">
                <a:solidFill>
                  <a:srgbClr val="FF0000"/>
                </a:solidFill>
                <a:latin typeface="黑体" panose="02010609060101010101" pitchFamily="49" charset="-122"/>
                <a:ea typeface="黑体" panose="02010609060101010101" pitchFamily="49" charset="-122"/>
              </a:rPr>
              <a:t>原分生组织</a:t>
            </a:r>
            <a:r>
              <a:rPr lang="zh-CN" altLang="en-US" b="1" dirty="0">
                <a:latin typeface="黑体" panose="02010609060101010101" pitchFamily="49" charset="-122"/>
                <a:ea typeface="黑体" panose="02010609060101010101" pitchFamily="49" charset="-122"/>
              </a:rPr>
              <a:t>和</a:t>
            </a:r>
            <a:r>
              <a:rPr lang="zh-CN" altLang="en-US" b="1" dirty="0">
                <a:solidFill>
                  <a:srgbClr val="FF0000"/>
                </a:solidFill>
                <a:latin typeface="黑体" panose="02010609060101010101" pitchFamily="49" charset="-122"/>
                <a:ea typeface="黑体" panose="02010609060101010101" pitchFamily="49" charset="-122"/>
              </a:rPr>
              <a:t>初生分生组织</a:t>
            </a:r>
            <a:r>
              <a:rPr lang="zh-CN" altLang="en-US" b="1" dirty="0">
                <a:latin typeface="黑体" panose="02010609060101010101" pitchFamily="49" charset="-122"/>
                <a:ea typeface="黑体" panose="02010609060101010101" pitchFamily="49" charset="-122"/>
              </a:rPr>
              <a:t>。</a:t>
            </a:r>
          </a:p>
          <a:p>
            <a:pPr eaLnBrk="1" hangingPunct="1">
              <a:lnSpc>
                <a:spcPct val="120000"/>
              </a:lnSpc>
              <a:buNone/>
            </a:pPr>
            <a:endParaRPr lang="zh-CN" altLang="en-US" b="1" dirty="0">
              <a:latin typeface="黑体" panose="02010609060101010101" pitchFamily="49" charset="-122"/>
              <a:ea typeface="黑体" panose="02010609060101010101" pitchFamily="49" charset="-122"/>
            </a:endParaRPr>
          </a:p>
          <a:p>
            <a:pPr eaLnBrk="1" hangingPunct="1">
              <a:lnSpc>
                <a:spcPct val="140000"/>
              </a:lnSpc>
            </a:pPr>
            <a:r>
              <a:rPr lang="zh-CN" altLang="en-US" b="1" dirty="0">
                <a:solidFill>
                  <a:schemeClr val="tx1"/>
                </a:solidFill>
                <a:latin typeface="黑体" panose="02010609060101010101" pitchFamily="49" charset="-122"/>
                <a:ea typeface="黑体" panose="02010609060101010101" pitchFamily="49" charset="-122"/>
              </a:rPr>
              <a:t>顶端分生组织是植物生长的源泉。其他所有组织均来自于此。</a:t>
            </a:r>
          </a:p>
        </p:txBody>
      </p:sp>
      <p:sp>
        <p:nvSpPr>
          <p:cNvPr id="429058" name="Rectangle 5"/>
          <p:cNvSpPr>
            <a:spLocks noGrp="1"/>
          </p:cNvSpPr>
          <p:nvPr>
            <p:ph type="title"/>
          </p:nvPr>
        </p:nvSpPr>
        <p:spPr>
          <a:xfrm>
            <a:off x="250825" y="166688"/>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0081" name="Picture 2" descr="D:\lzc\植物学教学材料\植物学教学资料收集\挂图\根\玉米根尖纵切.jpg"/>
          <p:cNvPicPr>
            <a:picLocks noChangeAspect="1"/>
          </p:cNvPicPr>
          <p:nvPr/>
        </p:nvPicPr>
        <p:blipFill>
          <a:blip r:embed="rId2"/>
          <a:stretch>
            <a:fillRect/>
          </a:stretch>
        </p:blipFill>
        <p:spPr>
          <a:xfrm>
            <a:off x="4673600" y="304800"/>
            <a:ext cx="4165600" cy="6257925"/>
          </a:xfrm>
          <a:prstGeom prst="rect">
            <a:avLst/>
          </a:prstGeom>
          <a:noFill/>
          <a:ln w="9525">
            <a:noFill/>
          </a:ln>
        </p:spPr>
      </p:pic>
      <p:sp>
        <p:nvSpPr>
          <p:cNvPr id="430082" name="Rectangle 4"/>
          <p:cNvSpPr>
            <a:spLocks noGrp="1"/>
          </p:cNvSpPr>
          <p:nvPr>
            <p:ph idx="1"/>
          </p:nvPr>
        </p:nvSpPr>
        <p:spPr>
          <a:xfrm>
            <a:off x="0" y="1295400"/>
            <a:ext cx="9144000" cy="5257800"/>
          </a:xfrm>
        </p:spPr>
        <p:txBody>
          <a:bodyPr vert="horz" wrap="square" lIns="91440" tIns="45720" rIns="91440" bIns="45720" anchor="t" anchorCtr="0"/>
          <a:lstStyle/>
          <a:p>
            <a:pPr eaLnBrk="1" hangingPunct="1">
              <a:buNone/>
            </a:pPr>
            <a:r>
              <a:rPr lang="en-US" altLang="zh-CN"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分生组织的类型</a:t>
            </a:r>
            <a:r>
              <a:rPr lang="en-US" altLang="zh-CN" b="1" dirty="0">
                <a:latin typeface="黑体" panose="02010609060101010101" pitchFamily="49" charset="-122"/>
                <a:ea typeface="黑体" panose="02010609060101010101" pitchFamily="49" charset="-122"/>
              </a:rPr>
              <a:t>——⑵</a:t>
            </a:r>
            <a:r>
              <a:rPr lang="zh-CN" altLang="en-US" b="1" dirty="0">
                <a:latin typeface="黑体" panose="02010609060101010101" pitchFamily="49" charset="-122"/>
                <a:ea typeface="黑体" panose="02010609060101010101" pitchFamily="49" charset="-122"/>
              </a:rPr>
              <a:t>按位置分类</a:t>
            </a:r>
            <a:r>
              <a:rPr lang="en-US" altLang="zh-CN" b="1" dirty="0">
                <a:latin typeface="黑体" panose="02010609060101010101" pitchFamily="49" charset="-122"/>
                <a:ea typeface="黑体" panose="02010609060101010101" pitchFamily="49" charset="-122"/>
              </a:rPr>
              <a:t>——①</a:t>
            </a:r>
            <a:r>
              <a:rPr lang="zh-CN" altLang="en-US" b="1" dirty="0">
                <a:latin typeface="黑体" panose="02010609060101010101" pitchFamily="49" charset="-122"/>
                <a:ea typeface="黑体" panose="02010609060101010101" pitchFamily="49" charset="-122"/>
              </a:rPr>
              <a:t>顶端分生组织</a:t>
            </a:r>
          </a:p>
          <a:p>
            <a:pPr eaLnBrk="1" hangingPunct="1">
              <a:buNone/>
            </a:pPr>
            <a:endParaRPr lang="en-US" altLang="zh-CN" dirty="0">
              <a:latin typeface="华文新魏" panose="02010800040101010101" pitchFamily="2" charset="-122"/>
            </a:endParaRPr>
          </a:p>
        </p:txBody>
      </p:sp>
      <p:sp>
        <p:nvSpPr>
          <p:cNvPr id="430083" name="AutoShape 5"/>
          <p:cNvSpPr/>
          <p:nvPr/>
        </p:nvSpPr>
        <p:spPr>
          <a:xfrm>
            <a:off x="2971800" y="4114800"/>
            <a:ext cx="152400" cy="1066800"/>
          </a:xfrm>
          <a:prstGeom prst="leftBrace">
            <a:avLst>
              <a:gd name="adj1" fmla="val 57782"/>
              <a:gd name="adj2" fmla="val 50000"/>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30084" name="Text Box 8"/>
          <p:cNvSpPr txBox="1"/>
          <p:nvPr/>
        </p:nvSpPr>
        <p:spPr>
          <a:xfrm>
            <a:off x="990600" y="4267200"/>
            <a:ext cx="20574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华文新魏" panose="02010800040101010101" pitchFamily="2" charset="-122"/>
              </a:rPr>
              <a:t>顶端分生组织</a:t>
            </a:r>
          </a:p>
        </p:txBody>
      </p:sp>
      <p:sp>
        <p:nvSpPr>
          <p:cNvPr id="430085" name="Text Box 9"/>
          <p:cNvSpPr txBox="1"/>
          <p:nvPr/>
        </p:nvSpPr>
        <p:spPr>
          <a:xfrm>
            <a:off x="3200400" y="3886200"/>
            <a:ext cx="20574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华文新魏" panose="02010800040101010101" pitchFamily="2" charset="-122"/>
                <a:hlinkClick r:id="rId3" action="ppaction://hlinksldjump"/>
              </a:rPr>
              <a:t>初生分生组织</a:t>
            </a:r>
            <a:endParaRPr lang="zh-CN" altLang="en-US" dirty="0">
              <a:latin typeface="Times New Roman" panose="02020603050405020304" pitchFamily="18" charset="0"/>
              <a:ea typeface="华文新魏" panose="02010800040101010101" pitchFamily="2" charset="-122"/>
            </a:endParaRPr>
          </a:p>
        </p:txBody>
      </p:sp>
      <p:sp>
        <p:nvSpPr>
          <p:cNvPr id="430086" name="Text Box 10"/>
          <p:cNvSpPr txBox="1"/>
          <p:nvPr/>
        </p:nvSpPr>
        <p:spPr>
          <a:xfrm>
            <a:off x="3124200" y="4876800"/>
            <a:ext cx="20574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华文新魏" panose="02010800040101010101" pitchFamily="2" charset="-122"/>
                <a:hlinkClick r:id="rId4" action="ppaction://hlinksldjump"/>
              </a:rPr>
              <a:t>原分生组织</a:t>
            </a:r>
            <a:endParaRPr lang="zh-CN" altLang="en-US" dirty="0">
              <a:latin typeface="Times New Roman" panose="02020603050405020304" pitchFamily="18" charset="0"/>
              <a:ea typeface="华文新魏" panose="02010800040101010101" pitchFamily="2" charset="-122"/>
            </a:endParaRPr>
          </a:p>
        </p:txBody>
      </p:sp>
      <p:sp>
        <p:nvSpPr>
          <p:cNvPr id="430087" name="Line 11"/>
          <p:cNvSpPr/>
          <p:nvPr/>
        </p:nvSpPr>
        <p:spPr>
          <a:xfrm>
            <a:off x="5105400" y="4191000"/>
            <a:ext cx="1295400" cy="0"/>
          </a:xfrm>
          <a:prstGeom prst="line">
            <a:avLst/>
          </a:prstGeom>
          <a:ln w="38100" cap="flat" cmpd="sng">
            <a:solidFill>
              <a:srgbClr val="FF6600"/>
            </a:solidFill>
            <a:prstDash val="lgDash"/>
            <a:round/>
            <a:headEnd type="none" w="med" len="med"/>
            <a:tailEnd type="none" w="med" len="med"/>
          </a:ln>
        </p:spPr>
        <p:txBody>
          <a:bodyPr/>
          <a:lstStyle/>
          <a:p>
            <a:endParaRPr lang="zh-CN" altLang="en-US"/>
          </a:p>
        </p:txBody>
      </p:sp>
      <p:sp>
        <p:nvSpPr>
          <p:cNvPr id="430088" name="Line 12"/>
          <p:cNvSpPr/>
          <p:nvPr/>
        </p:nvSpPr>
        <p:spPr>
          <a:xfrm>
            <a:off x="4724400" y="5105400"/>
            <a:ext cx="1828800" cy="0"/>
          </a:xfrm>
          <a:prstGeom prst="line">
            <a:avLst/>
          </a:prstGeom>
          <a:ln w="38100" cap="flat" cmpd="sng">
            <a:solidFill>
              <a:srgbClr val="FF6600"/>
            </a:solidFill>
            <a:prstDash val="lgDash"/>
            <a:round/>
            <a:headEnd type="none" w="med" len="med"/>
            <a:tailEnd type="none" w="med" len="med"/>
          </a:ln>
        </p:spPr>
        <p:txBody>
          <a:bodyPr/>
          <a:lstStyle/>
          <a:p>
            <a:endParaRPr lang="zh-CN" altLang="en-US"/>
          </a:p>
        </p:txBody>
      </p:sp>
      <p:sp>
        <p:nvSpPr>
          <p:cNvPr id="430089" name="Rectangle 14"/>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1105" name="Rectangle 3"/>
          <p:cNvSpPr>
            <a:spLocks noGrp="1"/>
          </p:cNvSpPr>
          <p:nvPr>
            <p:ph idx="1"/>
          </p:nvPr>
        </p:nvSpPr>
        <p:spPr/>
        <p:txBody>
          <a:bodyPr vert="horz" wrap="square" lIns="91440" tIns="45720" rIns="91440" bIns="45720" anchor="t" anchorCtr="0"/>
          <a:lstStyle/>
          <a:p>
            <a:pPr eaLnBrk="1" hangingPunct="1">
              <a:lnSpc>
                <a:spcPct val="110000"/>
              </a:lnSpc>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分生组织的类型</a:t>
            </a:r>
            <a:r>
              <a:rPr lang="en-US" altLang="zh-CN" sz="21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⑵</a:t>
            </a:r>
            <a:r>
              <a:rPr lang="zh-CN" altLang="en-US" b="1" dirty="0">
                <a:latin typeface="黑体" panose="02010609060101010101" pitchFamily="49" charset="-122"/>
                <a:ea typeface="黑体" panose="02010609060101010101" pitchFamily="49" charset="-122"/>
              </a:rPr>
              <a:t>按位置分类</a:t>
            </a:r>
            <a:r>
              <a:rPr lang="en-US" altLang="zh-CN" sz="21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②</a:t>
            </a:r>
            <a:r>
              <a:rPr lang="zh-CN" altLang="en-US" b="1" dirty="0">
                <a:solidFill>
                  <a:srgbClr val="FF0000"/>
                </a:solidFill>
                <a:latin typeface="黑体" panose="02010609060101010101" pitchFamily="49" charset="-122"/>
                <a:ea typeface="黑体" panose="02010609060101010101" pitchFamily="49" charset="-122"/>
              </a:rPr>
              <a:t>侧生分生组织</a:t>
            </a:r>
          </a:p>
          <a:p>
            <a:pPr lvl="1" eaLnBrk="1" hangingPunct="1">
              <a:lnSpc>
                <a:spcPct val="120000"/>
              </a:lnSpc>
            </a:pPr>
            <a:r>
              <a:rPr lang="zh-CN" altLang="en-US" b="1" dirty="0">
                <a:latin typeface="黑体" panose="02010609060101010101" pitchFamily="49" charset="-122"/>
                <a:ea typeface="黑体" panose="02010609060101010101" pitchFamily="49" charset="-122"/>
              </a:rPr>
              <a:t>位置和来源：位于器官侧向的周围部分，靠近器官的外围，</a:t>
            </a:r>
            <a:r>
              <a:rPr lang="zh-CN" altLang="en-US" b="1" dirty="0">
                <a:solidFill>
                  <a:srgbClr val="FF0000"/>
                </a:solidFill>
                <a:latin typeface="黑体" panose="02010609060101010101" pitchFamily="49" charset="-122"/>
                <a:ea typeface="黑体" panose="02010609060101010101" pitchFamily="49" charset="-122"/>
              </a:rPr>
              <a:t>包括维管形成层和木栓形成层</a:t>
            </a:r>
            <a:r>
              <a:rPr lang="zh-CN" altLang="en-US" b="1" dirty="0">
                <a:latin typeface="黑体" panose="02010609060101010101" pitchFamily="49" charset="-122"/>
                <a:ea typeface="黑体" panose="02010609060101010101" pitchFamily="49" charset="-122"/>
              </a:rPr>
              <a:t>。树剥开皮的部位就是维管形成层。</a:t>
            </a:r>
          </a:p>
          <a:p>
            <a:pPr lvl="1" eaLnBrk="1" hangingPunct="1">
              <a:lnSpc>
                <a:spcPct val="110000"/>
              </a:lnSpc>
            </a:pPr>
            <a:r>
              <a:rPr lang="zh-CN" altLang="en-US" b="1" dirty="0">
                <a:latin typeface="黑体" panose="02010609060101010101" pitchFamily="49" charset="-122"/>
                <a:ea typeface="黑体" panose="02010609060101010101" pitchFamily="49" charset="-122"/>
              </a:rPr>
              <a:t>组织特征：前面已经讲过。</a:t>
            </a:r>
          </a:p>
          <a:p>
            <a:pPr lvl="1" eaLnBrk="1" hangingPunct="1">
              <a:lnSpc>
                <a:spcPct val="120000"/>
              </a:lnSpc>
            </a:pPr>
            <a:r>
              <a:rPr lang="zh-CN" altLang="en-US" b="1" dirty="0">
                <a:latin typeface="黑体" panose="02010609060101010101" pitchFamily="49" charset="-122"/>
                <a:ea typeface="黑体" panose="02010609060101010101" pitchFamily="49" charset="-122"/>
              </a:rPr>
              <a:t>功能：</a:t>
            </a:r>
            <a:r>
              <a:rPr lang="zh-CN" altLang="en-US" b="1" dirty="0">
                <a:solidFill>
                  <a:srgbClr val="0000FF"/>
                </a:solidFill>
                <a:latin typeface="黑体" panose="02010609060101010101" pitchFamily="49" charset="-122"/>
                <a:ea typeface="黑体" panose="02010609060101010101" pitchFamily="49" charset="-122"/>
              </a:rPr>
              <a:t>与顶端分生组织相比，侧生分生组织的功能是使植物根、茎进行加粗生长</a:t>
            </a:r>
            <a:r>
              <a:rPr lang="zh-CN" altLang="en-US" b="1" dirty="0">
                <a:latin typeface="黑体" panose="02010609060101010101" pitchFamily="49" charset="-122"/>
                <a:ea typeface="黑体" panose="02010609060101010101" pitchFamily="49" charset="-122"/>
              </a:rPr>
              <a:t>。</a:t>
            </a:r>
          </a:p>
          <a:p>
            <a:pPr lvl="1" eaLnBrk="1" hangingPunct="1">
              <a:lnSpc>
                <a:spcPct val="120000"/>
              </a:lnSpc>
            </a:pPr>
            <a:r>
              <a:rPr lang="zh-CN" altLang="en-US" b="1" dirty="0">
                <a:latin typeface="黑体" panose="02010609060101010101" pitchFamily="49" charset="-122"/>
                <a:ea typeface="黑体" panose="02010609060101010101" pitchFamily="49" charset="-122"/>
              </a:rPr>
              <a:t>发育方向：</a:t>
            </a:r>
            <a:r>
              <a:rPr lang="zh-CN" altLang="en-US" b="1" dirty="0">
                <a:solidFill>
                  <a:schemeClr val="tx1"/>
                </a:solidFill>
                <a:latin typeface="黑体" panose="02010609060101010101" pitchFamily="49" charset="-122"/>
                <a:ea typeface="黑体" panose="02010609060101010101" pitchFamily="49" charset="-122"/>
              </a:rPr>
              <a:t>两种侧生分生组织经细胞分裂和分化分别形成</a:t>
            </a:r>
            <a:r>
              <a:rPr lang="zh-CN" altLang="en-US" b="1" dirty="0">
                <a:solidFill>
                  <a:srgbClr val="0000FF"/>
                </a:solidFill>
                <a:latin typeface="黑体" panose="02010609060101010101" pitchFamily="49" charset="-122"/>
                <a:ea typeface="黑体" panose="02010609060101010101" pitchFamily="49" charset="-122"/>
              </a:rPr>
              <a:t>次生保护组织（</a:t>
            </a:r>
            <a:r>
              <a:rPr lang="zh-CN" altLang="en-US" b="1" dirty="0">
                <a:solidFill>
                  <a:srgbClr val="FF0000"/>
                </a:solidFill>
                <a:latin typeface="黑体" panose="02010609060101010101" pitchFamily="49" charset="-122"/>
                <a:ea typeface="黑体" panose="02010609060101010101" pitchFamily="49" charset="-122"/>
              </a:rPr>
              <a:t>周皮</a:t>
            </a:r>
            <a:r>
              <a:rPr lang="zh-CN" altLang="en-US" b="1" dirty="0">
                <a:solidFill>
                  <a:srgbClr val="0000FF"/>
                </a:solidFill>
                <a:latin typeface="黑体" panose="02010609060101010101" pitchFamily="49" charset="-122"/>
                <a:ea typeface="黑体" panose="02010609060101010101" pitchFamily="49" charset="-122"/>
              </a:rPr>
              <a:t>）和次生维管组织（</a:t>
            </a:r>
            <a:r>
              <a:rPr lang="zh-CN" altLang="en-US" b="1" dirty="0">
                <a:solidFill>
                  <a:srgbClr val="FF0000"/>
                </a:solidFill>
                <a:latin typeface="黑体" panose="02010609060101010101" pitchFamily="49" charset="-122"/>
                <a:ea typeface="黑体" panose="02010609060101010101" pitchFamily="49" charset="-122"/>
              </a:rPr>
              <a:t>次生韧皮部和次生木质部</a:t>
            </a:r>
            <a:r>
              <a:rPr lang="zh-CN" altLang="en-US" b="1" dirty="0">
                <a:solidFill>
                  <a:srgbClr val="0000FF"/>
                </a:solidFill>
                <a:latin typeface="黑体" panose="02010609060101010101" pitchFamily="49" charset="-122"/>
                <a:ea typeface="黑体" panose="02010609060101010101" pitchFamily="49" charset="-122"/>
              </a:rPr>
              <a:t>）</a:t>
            </a:r>
          </a:p>
        </p:txBody>
      </p:sp>
      <p:sp>
        <p:nvSpPr>
          <p:cNvPr id="43110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2129" name="Picture 2" descr="D:\lzc\植物学教学材料\植物学教学资料收集\挂图\茎\木质部和形成层.gif"/>
          <p:cNvPicPr>
            <a:picLocks noChangeAspect="1"/>
          </p:cNvPicPr>
          <p:nvPr/>
        </p:nvPicPr>
        <p:blipFill>
          <a:blip r:embed="rId2"/>
          <a:stretch>
            <a:fillRect/>
          </a:stretch>
        </p:blipFill>
        <p:spPr>
          <a:xfrm>
            <a:off x="2209800" y="1730375"/>
            <a:ext cx="5029200" cy="4746625"/>
          </a:xfrm>
          <a:prstGeom prst="rect">
            <a:avLst/>
          </a:prstGeom>
          <a:noFill/>
          <a:ln w="9525">
            <a:noFill/>
          </a:ln>
        </p:spPr>
      </p:pic>
      <p:sp>
        <p:nvSpPr>
          <p:cNvPr id="432130" name="Rectangle 4"/>
          <p:cNvSpPr>
            <a:spLocks noGrp="1"/>
          </p:cNvSpPr>
          <p:nvPr>
            <p:ph idx="1"/>
          </p:nvPr>
        </p:nvSpPr>
        <p:spPr>
          <a:xfrm>
            <a:off x="0" y="1295400"/>
            <a:ext cx="9144000" cy="4419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分生组织的类型</a:t>
            </a:r>
            <a:r>
              <a:rPr lang="en-US" altLang="zh-CN" b="1" dirty="0">
                <a:latin typeface="黑体" panose="02010609060101010101" pitchFamily="49" charset="-122"/>
                <a:ea typeface="黑体" panose="02010609060101010101" pitchFamily="49" charset="-122"/>
              </a:rPr>
              <a:t>——⑵ </a:t>
            </a:r>
            <a:r>
              <a:rPr lang="zh-CN" altLang="en-US" b="1" dirty="0">
                <a:latin typeface="黑体" panose="02010609060101010101" pitchFamily="49" charset="-122"/>
                <a:ea typeface="黑体" panose="02010609060101010101" pitchFamily="49" charset="-122"/>
              </a:rPr>
              <a:t>按位置分类</a:t>
            </a:r>
          </a:p>
        </p:txBody>
      </p:sp>
      <p:sp>
        <p:nvSpPr>
          <p:cNvPr id="432131" name="AutoShape 5"/>
          <p:cNvSpPr/>
          <p:nvPr/>
        </p:nvSpPr>
        <p:spPr>
          <a:xfrm>
            <a:off x="4724400" y="2971800"/>
            <a:ext cx="2514600" cy="838200"/>
          </a:xfrm>
          <a:prstGeom prst="wedgeEllipseCallout">
            <a:avLst>
              <a:gd name="adj1" fmla="val -60986"/>
              <a:gd name="adj2" fmla="val 97347"/>
            </a:avLst>
          </a:prstGeom>
          <a:noFill/>
          <a:ln w="38100" cap="flat" cmpd="sng">
            <a:solidFill>
              <a:srgbClr val="D72315"/>
            </a:solidFill>
            <a:prstDash val="solid"/>
            <a:miter/>
            <a:headEnd type="none" w="med" len="med"/>
            <a:tailEnd type="none" w="med" len="med"/>
          </a:ln>
        </p:spPr>
        <p:txBody>
          <a:bodyPr anchor="t" anchorCtr="0"/>
          <a:lstStyle/>
          <a:p>
            <a:pPr algn="ctr"/>
            <a:r>
              <a:rPr lang="zh-CN" altLang="en-US" b="1" dirty="0">
                <a:solidFill>
                  <a:srgbClr val="FF3300"/>
                </a:solidFill>
                <a:latin typeface="Times New Roman" panose="02020603050405020304" pitchFamily="18" charset="0"/>
                <a:ea typeface="宋体" panose="02010600030101010101" pitchFamily="2" charset="-122"/>
              </a:rPr>
              <a:t>维管形成层</a:t>
            </a:r>
          </a:p>
        </p:txBody>
      </p:sp>
      <p:sp>
        <p:nvSpPr>
          <p:cNvPr id="432132" name="AutoShape 6"/>
          <p:cNvSpPr/>
          <p:nvPr/>
        </p:nvSpPr>
        <p:spPr>
          <a:xfrm rot="5350380">
            <a:off x="4113213" y="3957638"/>
            <a:ext cx="304800" cy="1066800"/>
          </a:xfrm>
          <a:prstGeom prst="leftBrace">
            <a:avLst>
              <a:gd name="adj1" fmla="val 28891"/>
              <a:gd name="adj2" fmla="val 50000"/>
            </a:avLst>
          </a:prstGeom>
          <a:noFill/>
          <a:ln w="57150" cap="flat" cmpd="sng">
            <a:solidFill>
              <a:srgbClr val="D72315"/>
            </a:solidFill>
            <a:prstDash val="solid"/>
            <a:round/>
            <a:headEnd type="none" w="med" len="med"/>
            <a:tailEnd type="none" w="med" len="med"/>
          </a:ln>
        </p:spPr>
        <p:txBody>
          <a:bodyPr rot="10800000" vert="eaVert" wrap="none" anchor="ctr" anchorCtr="0"/>
          <a:lstStyle/>
          <a:p>
            <a:pPr algn="ctr"/>
            <a:endParaRPr lang="zh-CN" altLang="zh-CN" dirty="0">
              <a:solidFill>
                <a:srgbClr val="FF3300"/>
              </a:solidFill>
              <a:latin typeface="Times New Roman" panose="02020603050405020304" pitchFamily="18" charset="0"/>
              <a:ea typeface="宋体" panose="02010600030101010101" pitchFamily="2" charset="-122"/>
            </a:endParaRPr>
          </a:p>
        </p:txBody>
      </p:sp>
      <p:sp>
        <p:nvSpPr>
          <p:cNvPr id="432133" name="Rectangle 8"/>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3153" name="Picture 14" descr="D:\刘宗才\植物学素材\教学素材\营养器官\三年生椴树茎横切.jpg"/>
          <p:cNvPicPr>
            <a:picLocks noChangeAspect="1"/>
          </p:cNvPicPr>
          <p:nvPr/>
        </p:nvPicPr>
        <p:blipFill>
          <a:blip r:embed="rId2"/>
          <a:stretch>
            <a:fillRect/>
          </a:stretch>
        </p:blipFill>
        <p:spPr>
          <a:xfrm>
            <a:off x="1143000" y="1309688"/>
            <a:ext cx="7010400" cy="5194300"/>
          </a:xfrm>
          <a:prstGeom prst="rect">
            <a:avLst/>
          </a:prstGeom>
          <a:noFill/>
          <a:ln w="9525">
            <a:noFill/>
          </a:ln>
        </p:spPr>
      </p:pic>
      <p:sp>
        <p:nvSpPr>
          <p:cNvPr id="433154" name="Rectangle 4"/>
          <p:cNvSpPr>
            <a:spLocks noGrp="1"/>
          </p:cNvSpPr>
          <p:nvPr>
            <p:ph idx="1"/>
          </p:nvPr>
        </p:nvSpPr>
        <p:spPr>
          <a:xfrm>
            <a:off x="0" y="1277938"/>
            <a:ext cx="9144000"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分生组织的类型</a:t>
            </a:r>
            <a:r>
              <a:rPr lang="en-US" altLang="zh-CN" b="1" dirty="0">
                <a:latin typeface="黑体" panose="02010609060101010101" pitchFamily="49" charset="-122"/>
                <a:ea typeface="黑体" panose="02010609060101010101" pitchFamily="49" charset="-122"/>
              </a:rPr>
              <a:t>——⑵ </a:t>
            </a:r>
            <a:r>
              <a:rPr lang="zh-CN" altLang="en-US" b="1" dirty="0">
                <a:latin typeface="黑体" panose="02010609060101010101" pitchFamily="49" charset="-122"/>
                <a:ea typeface="黑体" panose="02010609060101010101" pitchFamily="49" charset="-122"/>
              </a:rPr>
              <a:t>按位置分类</a:t>
            </a:r>
          </a:p>
          <a:p>
            <a:pPr eaLnBrk="1" hangingPunct="1">
              <a:buNone/>
            </a:pPr>
            <a:endParaRPr lang="en-US" altLang="zh-CN" dirty="0">
              <a:latin typeface="华文新魏" panose="02010800040101010101" pitchFamily="2" charset="-122"/>
            </a:endParaRPr>
          </a:p>
        </p:txBody>
      </p:sp>
      <p:sp>
        <p:nvSpPr>
          <p:cNvPr id="433155" name="AutoShape 6"/>
          <p:cNvSpPr/>
          <p:nvPr/>
        </p:nvSpPr>
        <p:spPr>
          <a:xfrm>
            <a:off x="3429000" y="2590800"/>
            <a:ext cx="2514600" cy="838200"/>
          </a:xfrm>
          <a:prstGeom prst="wedgeEllipseCallout">
            <a:avLst>
              <a:gd name="adj1" fmla="val 84597"/>
              <a:gd name="adj2" fmla="val 152653"/>
            </a:avLst>
          </a:prstGeom>
          <a:noFill/>
          <a:ln w="38100" cap="flat" cmpd="sng">
            <a:solidFill>
              <a:srgbClr val="D72315"/>
            </a:solidFill>
            <a:prstDash val="solid"/>
            <a:miter/>
            <a:headEnd type="none" w="med" len="med"/>
            <a:tailEnd type="none" w="med" len="med"/>
          </a:ln>
        </p:spPr>
        <p:txBody>
          <a:bodyPr anchor="t" anchorCtr="0"/>
          <a:lstStyle/>
          <a:p>
            <a:pPr algn="ctr"/>
            <a:r>
              <a:rPr lang="zh-CN" altLang="en-US" dirty="0">
                <a:solidFill>
                  <a:srgbClr val="FF3300"/>
                </a:solidFill>
                <a:latin typeface="Times New Roman" panose="02020603050405020304" pitchFamily="18" charset="0"/>
                <a:ea typeface="华文新魏" panose="02010800040101010101" pitchFamily="2" charset="-122"/>
              </a:rPr>
              <a:t>维管形成层</a:t>
            </a:r>
          </a:p>
        </p:txBody>
      </p:sp>
      <p:sp>
        <p:nvSpPr>
          <p:cNvPr id="433156" name="AutoShape 7"/>
          <p:cNvSpPr/>
          <p:nvPr/>
        </p:nvSpPr>
        <p:spPr>
          <a:xfrm>
            <a:off x="3886200" y="4800600"/>
            <a:ext cx="304800" cy="1676400"/>
          </a:xfrm>
          <a:prstGeom prst="leftBrace">
            <a:avLst>
              <a:gd name="adj1" fmla="val 45400"/>
              <a:gd name="adj2" fmla="val 50000"/>
            </a:avLst>
          </a:prstGeom>
          <a:noFill/>
          <a:ln w="38100" cap="flat" cmpd="sng">
            <a:solidFill>
              <a:srgbClr val="FF33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33157" name="Text Box 8"/>
          <p:cNvSpPr txBox="1"/>
          <p:nvPr/>
        </p:nvSpPr>
        <p:spPr>
          <a:xfrm>
            <a:off x="2667000" y="5181600"/>
            <a:ext cx="12192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华文新魏" panose="02010800040101010101" pitchFamily="2" charset="-122"/>
              </a:rPr>
              <a:t>木质部</a:t>
            </a:r>
          </a:p>
        </p:txBody>
      </p:sp>
      <p:sp>
        <p:nvSpPr>
          <p:cNvPr id="433158" name="AutoShape 9"/>
          <p:cNvSpPr/>
          <p:nvPr/>
        </p:nvSpPr>
        <p:spPr>
          <a:xfrm rot="-5400000">
            <a:off x="7239000" y="2667000"/>
            <a:ext cx="304800" cy="1066800"/>
          </a:xfrm>
          <a:prstGeom prst="leftBrace">
            <a:avLst>
              <a:gd name="adj1" fmla="val 28891"/>
              <a:gd name="adj2" fmla="val 50000"/>
            </a:avLst>
          </a:prstGeom>
          <a:noFill/>
          <a:ln w="38100" cap="flat" cmpd="sng">
            <a:solidFill>
              <a:srgbClr val="FF33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33159" name="Text Box 10"/>
          <p:cNvSpPr txBox="1"/>
          <p:nvPr/>
        </p:nvSpPr>
        <p:spPr>
          <a:xfrm>
            <a:off x="7467600" y="3352800"/>
            <a:ext cx="1066800" cy="457200"/>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433160" name="Text Box 11"/>
          <p:cNvSpPr txBox="1"/>
          <p:nvPr/>
        </p:nvSpPr>
        <p:spPr>
          <a:xfrm>
            <a:off x="6781800" y="3352800"/>
            <a:ext cx="1219200" cy="457200"/>
          </a:xfrm>
          <a:prstGeom prst="rect">
            <a:avLst/>
          </a:prstGeom>
          <a:noFill/>
          <a:ln w="9525">
            <a:noFill/>
          </a:ln>
        </p:spPr>
        <p:txBody>
          <a:bodyPr anchor="t" anchorCtr="0">
            <a:spAutoFit/>
          </a:bodyPr>
          <a:lstStyle/>
          <a:p>
            <a:pPr>
              <a:spcBef>
                <a:spcPct val="50000"/>
              </a:spcBef>
            </a:pPr>
            <a:r>
              <a:rPr lang="zh-CN" altLang="en-US" dirty="0">
                <a:solidFill>
                  <a:srgbClr val="FFFF00"/>
                </a:solidFill>
                <a:latin typeface="Times New Roman" panose="02020603050405020304" pitchFamily="18" charset="0"/>
                <a:ea typeface="华文新魏" panose="02010800040101010101" pitchFamily="2" charset="-122"/>
              </a:rPr>
              <a:t>韧皮部</a:t>
            </a:r>
          </a:p>
        </p:txBody>
      </p:sp>
      <p:sp>
        <p:nvSpPr>
          <p:cNvPr id="433161" name="Rectangle 13"/>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4177" name="Rectangle 3"/>
          <p:cNvSpPr>
            <a:spLocks noGrp="1"/>
          </p:cNvSpPr>
          <p:nvPr>
            <p:ph idx="1"/>
          </p:nvPr>
        </p:nvSpPr>
        <p:spPr>
          <a:xfrm>
            <a:off x="125413" y="1219200"/>
            <a:ext cx="8893175" cy="5181600"/>
          </a:xfrm>
        </p:spPr>
        <p:txBody>
          <a:bodyPr vert="horz" wrap="square" lIns="91440" tIns="45720" rIns="91440" bIns="45720" anchor="t" anchorCtr="0"/>
          <a:lstStyle/>
          <a:p>
            <a:pPr eaLnBrk="1" hangingPunct="1">
              <a:lnSpc>
                <a:spcPct val="90000"/>
              </a:lnSpc>
              <a:buNone/>
            </a:pPr>
            <a:r>
              <a:rPr lang="en-US" altLang="zh-CN" b="1" dirty="0">
                <a:latin typeface="黑体" panose="02010609060101010101" pitchFamily="49" charset="-122"/>
                <a:ea typeface="黑体" panose="02010609060101010101" pitchFamily="49" charset="-122"/>
              </a:rPr>
              <a:t>2</a:t>
            </a:r>
            <a:r>
              <a:rPr lang="en-US" altLang="zh-CN" sz="2100"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分生组织的类型</a:t>
            </a:r>
            <a:r>
              <a:rPr lang="en-US" altLang="zh-CN" sz="19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⑵</a:t>
            </a:r>
            <a:r>
              <a:rPr lang="zh-CN" altLang="en-US" b="1" dirty="0">
                <a:latin typeface="黑体" panose="02010609060101010101" pitchFamily="49" charset="-122"/>
                <a:ea typeface="黑体" panose="02010609060101010101" pitchFamily="49" charset="-122"/>
              </a:rPr>
              <a:t>按位置分类</a:t>
            </a:r>
            <a:r>
              <a:rPr lang="en-US" altLang="zh-CN" sz="19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③</a:t>
            </a:r>
            <a:r>
              <a:rPr lang="zh-CN" altLang="en-US" b="1" dirty="0">
                <a:solidFill>
                  <a:srgbClr val="FF0000"/>
                </a:solidFill>
                <a:latin typeface="黑体" panose="02010609060101010101" pitchFamily="49" charset="-122"/>
                <a:ea typeface="黑体" panose="02010609060101010101" pitchFamily="49" charset="-122"/>
              </a:rPr>
              <a:t>居间分生组织</a:t>
            </a:r>
          </a:p>
          <a:p>
            <a:pPr eaLnBrk="1" hangingPunct="1"/>
            <a:r>
              <a:rPr lang="zh-CN" altLang="en-US" b="1" dirty="0">
                <a:solidFill>
                  <a:schemeClr val="tx1"/>
                </a:solidFill>
                <a:latin typeface="黑体" panose="02010609060101010101" pitchFamily="49" charset="-122"/>
                <a:ea typeface="黑体" panose="02010609060101010101" pitchFamily="49" charset="-122"/>
              </a:rPr>
              <a:t>位置和来源：位于分化成度较低的成熟组织之间（故称居间分生组织）；</a:t>
            </a:r>
            <a:r>
              <a:rPr lang="zh-CN" altLang="en-US" b="1" dirty="0">
                <a:latin typeface="黑体" panose="02010609060101010101" pitchFamily="49" charset="-122"/>
                <a:ea typeface="黑体" panose="02010609060101010101" pitchFamily="49" charset="-122"/>
              </a:rPr>
              <a:t>为顶端分生组织分化为成熟组织时，在已分化的成熟组织间保留的一部分未分化的细胞，它们保持着和初生分生组织接近的特征</a:t>
            </a:r>
            <a:r>
              <a:rPr lang="zh-CN" altLang="en-US" b="1" dirty="0">
                <a:solidFill>
                  <a:schemeClr val="tx1"/>
                </a:solidFill>
                <a:latin typeface="黑体" panose="02010609060101010101" pitchFamily="49" charset="-122"/>
                <a:ea typeface="黑体" panose="02010609060101010101" pitchFamily="49" charset="-122"/>
              </a:rPr>
              <a:t>，在植物生长发育的早期不进行分裂活动，在</a:t>
            </a:r>
            <a:r>
              <a:rPr lang="zh-CN" altLang="en-US" b="1" dirty="0">
                <a:solidFill>
                  <a:srgbClr val="FF0000"/>
                </a:solidFill>
                <a:latin typeface="黑体" panose="02010609060101010101" pitchFamily="49" charset="-122"/>
                <a:ea typeface="黑体" panose="02010609060101010101" pitchFamily="49" charset="-122"/>
              </a:rPr>
              <a:t>植物快速生长阶段（如玉米拔节期）进行活动</a:t>
            </a:r>
            <a:r>
              <a:rPr lang="zh-CN" altLang="en-US" b="1" dirty="0">
                <a:solidFill>
                  <a:schemeClr val="tx1"/>
                </a:solidFill>
                <a:latin typeface="黑体" panose="02010609060101010101" pitchFamily="49" charset="-122"/>
                <a:ea typeface="黑体" panose="02010609060101010101" pitchFamily="49" charset="-122"/>
              </a:rPr>
              <a:t>，加速植物的伸长生长。</a:t>
            </a:r>
          </a:p>
          <a:p>
            <a:pPr eaLnBrk="1" hangingPunct="1"/>
            <a:r>
              <a:rPr lang="zh-CN" altLang="en-US" b="1" dirty="0">
                <a:solidFill>
                  <a:schemeClr val="tx1"/>
                </a:solidFill>
                <a:latin typeface="黑体" panose="02010609060101010101" pitchFamily="49" charset="-122"/>
                <a:ea typeface="黑体" panose="02010609060101010101" pitchFamily="49" charset="-122"/>
              </a:rPr>
              <a:t>组织特征：与初生分生组织相似，但其分裂活动只局限于一定阶段。</a:t>
            </a:r>
          </a:p>
          <a:p>
            <a:pPr eaLnBrk="1" hangingPunct="1">
              <a:lnSpc>
                <a:spcPct val="90000"/>
              </a:lnSpc>
            </a:pPr>
            <a:r>
              <a:rPr lang="zh-CN" altLang="en-US" b="1" dirty="0">
                <a:solidFill>
                  <a:schemeClr val="tx1"/>
                </a:solidFill>
                <a:latin typeface="黑体" panose="02010609060101010101" pitchFamily="49" charset="-122"/>
                <a:ea typeface="黑体" panose="02010609060101010101" pitchFamily="49" charset="-122"/>
              </a:rPr>
              <a:t>功能：</a:t>
            </a:r>
            <a:r>
              <a:rPr lang="zh-CN" altLang="en-US" b="1" dirty="0">
                <a:solidFill>
                  <a:srgbClr val="FF0000"/>
                </a:solidFill>
                <a:latin typeface="黑体" panose="02010609060101010101" pitchFamily="49" charset="-122"/>
                <a:ea typeface="黑体" panose="02010609060101010101" pitchFamily="49" charset="-122"/>
              </a:rPr>
              <a:t>其活动能使器官迅速伸长</a:t>
            </a:r>
            <a:r>
              <a:rPr lang="zh-CN" altLang="en-US" b="1" dirty="0">
                <a:solidFill>
                  <a:schemeClr val="tx1"/>
                </a:solidFill>
                <a:latin typeface="黑体" panose="02010609060101010101" pitchFamily="49" charset="-122"/>
                <a:ea typeface="黑体" panose="02010609060101010101" pitchFamily="49" charset="-122"/>
              </a:rPr>
              <a:t>。</a:t>
            </a:r>
          </a:p>
          <a:p>
            <a:pPr eaLnBrk="1" hangingPunct="1">
              <a:lnSpc>
                <a:spcPct val="110000"/>
              </a:lnSpc>
            </a:pPr>
            <a:r>
              <a:rPr lang="zh-CN" altLang="en-US" b="1" dirty="0">
                <a:solidFill>
                  <a:schemeClr val="tx1"/>
                </a:solidFill>
                <a:latin typeface="黑体" panose="02010609060101010101" pitchFamily="49" charset="-122"/>
                <a:ea typeface="黑体" panose="02010609060101010101" pitchFamily="49" charset="-122"/>
              </a:rPr>
              <a:t>发育方向：通过其分裂增加细胞数目，加速植物伸长生长；发育到一定程度时转化为成熟组织</a:t>
            </a:r>
            <a:r>
              <a:rPr lang="zh-CN" altLang="en-US" sz="2400" b="1" dirty="0">
                <a:solidFill>
                  <a:schemeClr val="tx1"/>
                </a:solidFill>
                <a:latin typeface="黑体" panose="02010609060101010101" pitchFamily="49" charset="-122"/>
                <a:ea typeface="黑体" panose="02010609060101010101" pitchFamily="49" charset="-122"/>
              </a:rPr>
              <a:t>。 </a:t>
            </a:r>
          </a:p>
        </p:txBody>
      </p:sp>
      <p:sp>
        <p:nvSpPr>
          <p:cNvPr id="434178" name="Rectangle 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㈠ 分生组织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5201" name="Rectangle 2"/>
          <p:cNvSpPr>
            <a:spLocks noGrp="1"/>
          </p:cNvSpPr>
          <p:nvPr>
            <p:ph type="title"/>
          </p:nvPr>
        </p:nvSpPr>
        <p:spPr>
          <a:xfrm>
            <a:off x="179388" y="-142875"/>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zh-CN" altLang="en-US"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
        <p:nvSpPr>
          <p:cNvPr id="435202" name="Rectangle 3"/>
          <p:cNvSpPr>
            <a:spLocks noGrp="1"/>
          </p:cNvSpPr>
          <p:nvPr>
            <p:ph idx="1"/>
          </p:nvPr>
        </p:nvSpPr>
        <p:spPr>
          <a:xfrm>
            <a:off x="1588" y="981075"/>
            <a:ext cx="8963025" cy="5562600"/>
          </a:xfrm>
        </p:spPr>
        <p:txBody>
          <a:bodyPr vert="horz" wrap="square" lIns="91440" tIns="45720" rIns="91440" bIns="45720" anchor="t" anchorCtr="0"/>
          <a:lstStyle/>
          <a:p>
            <a:pPr eaLnBrk="1" hangingPunct="1">
              <a:lnSpc>
                <a:spcPct val="90000"/>
              </a:lnSpc>
            </a:pPr>
            <a:r>
              <a:rPr lang="zh-CN" altLang="en-US" b="1" dirty="0">
                <a:latin typeface="黑体" panose="02010609060101010101" pitchFamily="49" charset="-122"/>
                <a:ea typeface="黑体" panose="02010609060101010101" pitchFamily="49" charset="-122"/>
              </a:rPr>
              <a:t>成熟组织的概念：</a:t>
            </a:r>
            <a:r>
              <a:rPr lang="zh-CN" altLang="en-US" b="1" dirty="0">
                <a:solidFill>
                  <a:schemeClr val="tx1"/>
                </a:solidFill>
                <a:latin typeface="黑体" panose="02010609060101010101" pitchFamily="49" charset="-122"/>
                <a:ea typeface="黑体" panose="02010609060101010101" pitchFamily="49" charset="-122"/>
              </a:rPr>
              <a:t>分生组织衍生的大部分细胞，逐渐丧失分裂能力，进一步生长和分化，形成的行使特定功能的各种组织，称为成熟组织，也称</a:t>
            </a:r>
            <a:r>
              <a:rPr lang="zh-CN" altLang="en-US" b="1" dirty="0">
                <a:solidFill>
                  <a:srgbClr val="FF0000"/>
                </a:solidFill>
                <a:latin typeface="黑体" panose="02010609060101010101" pitchFamily="49" charset="-122"/>
                <a:ea typeface="黑体" panose="02010609060101010101" pitchFamily="49" charset="-122"/>
              </a:rPr>
              <a:t>永久组织</a:t>
            </a:r>
            <a:r>
              <a:rPr lang="zh-CN" altLang="en-US" b="1" dirty="0">
                <a:solidFill>
                  <a:schemeClr val="tx1"/>
                </a:solidFill>
                <a:latin typeface="黑体" panose="02010609060101010101" pitchFamily="49" charset="-122"/>
                <a:ea typeface="黑体" panose="02010609060101010101" pitchFamily="49" charset="-122"/>
              </a:rPr>
              <a:t>。</a:t>
            </a:r>
          </a:p>
          <a:p>
            <a:pPr lvl="1" eaLnBrk="1" hangingPunct="1">
              <a:lnSpc>
                <a:spcPct val="90000"/>
              </a:lnSpc>
            </a:pPr>
            <a:r>
              <a:rPr lang="zh-CN" altLang="en-US" b="1" dirty="0">
                <a:solidFill>
                  <a:schemeClr val="tx1"/>
                </a:solidFill>
                <a:latin typeface="黑体" panose="02010609060101010101" pitchFamily="49" charset="-122"/>
                <a:ea typeface="黑体" panose="02010609060101010101" pitchFamily="49" charset="-122"/>
              </a:rPr>
              <a:t>成熟组织的</a:t>
            </a:r>
            <a:r>
              <a:rPr lang="zh-CN" altLang="en-US" b="1" u="sng" dirty="0">
                <a:solidFill>
                  <a:schemeClr val="tx1"/>
                </a:solidFill>
                <a:latin typeface="黑体" panose="02010609060101010101" pitchFamily="49" charset="-122"/>
                <a:ea typeface="黑体" panose="02010609060101010101" pitchFamily="49" charset="-122"/>
              </a:rPr>
              <a:t>四个要点</a:t>
            </a:r>
            <a:r>
              <a:rPr lang="zh-CN" altLang="en-US" b="1" dirty="0">
                <a:solidFill>
                  <a:schemeClr val="tx1"/>
                </a:solidFill>
                <a:latin typeface="黑体" panose="02010609060101010101" pitchFamily="49" charset="-122"/>
                <a:ea typeface="黑体" panose="02010609060101010101" pitchFamily="49" charset="-122"/>
              </a:rPr>
              <a:t>：</a:t>
            </a:r>
          </a:p>
          <a:p>
            <a:pPr marL="914400" lvl="2" indent="0" eaLnBrk="1" hangingPunct="1">
              <a:lnSpc>
                <a:spcPct val="90000"/>
              </a:lnSpc>
              <a:buNone/>
            </a:pPr>
            <a:r>
              <a:rPr lang="zh-CN" altLang="en-US" b="1" dirty="0">
                <a:latin typeface="黑体" panose="02010609060101010101" pitchFamily="49" charset="-122"/>
                <a:ea typeface="黑体" panose="02010609060101010101" pitchFamily="49" charset="-122"/>
              </a:rPr>
              <a:t>①丧失分裂能力</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②经进一步生长和分化</a:t>
            </a:r>
          </a:p>
          <a:p>
            <a:pPr marL="914400" lvl="2" indent="0" eaLnBrk="1" hangingPunct="1">
              <a:lnSpc>
                <a:spcPct val="90000"/>
              </a:lnSpc>
              <a:buNone/>
            </a:pPr>
            <a:r>
              <a:rPr lang="zh-CN" altLang="en-US" b="1" dirty="0">
                <a:latin typeface="黑体" panose="02010609060101010101" pitchFamily="49" charset="-122"/>
                <a:ea typeface="黑体" panose="02010609060101010101" pitchFamily="49" charset="-122"/>
              </a:rPr>
              <a:t>③具有特定形态和结构</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④行使特定功能。</a:t>
            </a:r>
            <a:endParaRPr lang="en-US" altLang="zh-CN" b="1" dirty="0">
              <a:latin typeface="黑体" panose="02010609060101010101" pitchFamily="49" charset="-122"/>
              <a:ea typeface="黑体" panose="02010609060101010101" pitchFamily="49" charset="-122"/>
            </a:endParaRPr>
          </a:p>
          <a:p>
            <a:pPr marL="914400" lvl="2" indent="0" eaLnBrk="1" hangingPunct="1">
              <a:lnSpc>
                <a:spcPct val="90000"/>
              </a:lnSpc>
              <a:buNone/>
            </a:pPr>
            <a:r>
              <a:rPr lang="zh-CN" altLang="en-US" b="1" dirty="0">
                <a:solidFill>
                  <a:srgbClr val="0000FF"/>
                </a:solidFill>
                <a:latin typeface="黑体" panose="02010609060101010101" pitchFamily="49" charset="-122"/>
                <a:ea typeface="黑体" panose="02010609060101010101" pitchFamily="49" charset="-122"/>
              </a:rPr>
              <a:t>    “永久”是相对的。分化程度浅的组织可以恢复分裂能力而形成次生分生组织。</a:t>
            </a:r>
          </a:p>
          <a:p>
            <a:pPr lvl="1" eaLnBrk="1" hangingPunct="1">
              <a:lnSpc>
                <a:spcPct val="90000"/>
              </a:lnSpc>
            </a:pPr>
            <a:r>
              <a:rPr lang="zh-CN" altLang="en-US" b="1" dirty="0">
                <a:latin typeface="黑体" panose="02010609060101010101" pitchFamily="49" charset="-122"/>
                <a:ea typeface="黑体" panose="02010609060101010101" pitchFamily="49" charset="-122"/>
              </a:rPr>
              <a:t>不同成熟组织的分化程度相差极大，有的分化程度高，功能相当专一的组织，已永久失去分裂能力。如厚壁组织细胞。 </a:t>
            </a:r>
          </a:p>
          <a:p>
            <a:pPr lvl="1" eaLnBrk="1" hangingPunct="1">
              <a:lnSpc>
                <a:spcPct val="90000"/>
              </a:lnSpc>
            </a:pPr>
            <a:r>
              <a:rPr lang="zh-CN" altLang="en-US" b="1" dirty="0">
                <a:latin typeface="黑体" panose="02010609060101010101" pitchFamily="49" charset="-122"/>
                <a:ea typeface="黑体" panose="02010609060101010101" pitchFamily="49" charset="-122"/>
              </a:rPr>
              <a:t>据功能不同分为：</a:t>
            </a:r>
            <a:r>
              <a:rPr lang="zh-CN" altLang="en-US" b="1" u="sng" dirty="0">
                <a:solidFill>
                  <a:srgbClr val="FF3300"/>
                </a:solidFill>
                <a:latin typeface="黑体" panose="02010609060101010101" pitchFamily="49" charset="-122"/>
                <a:ea typeface="黑体" panose="02010609060101010101" pitchFamily="49" charset="-122"/>
              </a:rPr>
              <a:t>保护组织</a:t>
            </a:r>
            <a:r>
              <a:rPr lang="zh-CN" altLang="en-US" b="1" dirty="0">
                <a:latin typeface="黑体" panose="02010609060101010101" pitchFamily="49" charset="-122"/>
                <a:ea typeface="黑体" panose="02010609060101010101" pitchFamily="49" charset="-122"/>
              </a:rPr>
              <a:t>、</a:t>
            </a:r>
            <a:r>
              <a:rPr lang="zh-CN" altLang="en-US" b="1" u="sng" dirty="0">
                <a:solidFill>
                  <a:srgbClr val="FF3300"/>
                </a:solidFill>
                <a:latin typeface="黑体" panose="02010609060101010101" pitchFamily="49" charset="-122"/>
                <a:ea typeface="黑体" panose="02010609060101010101" pitchFamily="49" charset="-122"/>
              </a:rPr>
              <a:t>薄壁组织</a:t>
            </a:r>
            <a:r>
              <a:rPr lang="zh-CN" altLang="en-US" b="1" dirty="0">
                <a:latin typeface="黑体" panose="02010609060101010101" pitchFamily="49" charset="-122"/>
                <a:ea typeface="黑体" panose="02010609060101010101" pitchFamily="49" charset="-122"/>
              </a:rPr>
              <a:t>、</a:t>
            </a:r>
            <a:r>
              <a:rPr lang="zh-CN" altLang="en-US" b="1" u="sng" dirty="0">
                <a:solidFill>
                  <a:srgbClr val="FF3300"/>
                </a:solidFill>
                <a:latin typeface="黑体" panose="02010609060101010101" pitchFamily="49" charset="-122"/>
                <a:ea typeface="黑体" panose="02010609060101010101" pitchFamily="49" charset="-122"/>
              </a:rPr>
              <a:t>机械组织</a:t>
            </a:r>
            <a:r>
              <a:rPr lang="zh-CN" altLang="en-US" b="1" dirty="0">
                <a:latin typeface="黑体" panose="02010609060101010101" pitchFamily="49" charset="-122"/>
                <a:ea typeface="黑体" panose="02010609060101010101" pitchFamily="49" charset="-122"/>
              </a:rPr>
              <a:t>、</a:t>
            </a:r>
            <a:r>
              <a:rPr lang="zh-CN" altLang="en-US" b="1" u="sng" dirty="0">
                <a:solidFill>
                  <a:srgbClr val="FF3300"/>
                </a:solidFill>
                <a:latin typeface="黑体" panose="02010609060101010101" pitchFamily="49" charset="-122"/>
                <a:ea typeface="黑体" panose="02010609060101010101" pitchFamily="49" charset="-122"/>
              </a:rPr>
              <a:t>输导组织</a:t>
            </a:r>
            <a:r>
              <a:rPr lang="zh-CN" altLang="en-US" b="1" dirty="0">
                <a:latin typeface="黑体" panose="02010609060101010101" pitchFamily="49" charset="-122"/>
                <a:ea typeface="黑体" panose="02010609060101010101" pitchFamily="49" charset="-122"/>
              </a:rPr>
              <a:t>和</a:t>
            </a:r>
            <a:r>
              <a:rPr lang="zh-CN" altLang="en-US" b="1" u="sng" dirty="0">
                <a:solidFill>
                  <a:srgbClr val="FF3300"/>
                </a:solidFill>
                <a:latin typeface="黑体" panose="02010609060101010101" pitchFamily="49" charset="-122"/>
                <a:ea typeface="黑体" panose="02010609060101010101" pitchFamily="49" charset="-122"/>
              </a:rPr>
              <a:t>分泌结构</a:t>
            </a:r>
            <a:r>
              <a:rPr lang="zh-CN" altLang="en-US" b="1" dirty="0">
                <a:latin typeface="黑体" panose="02010609060101010101" pitchFamily="49" charset="-122"/>
                <a:ea typeface="黑体" panose="02010609060101010101" pitchFamily="49" charset="-122"/>
              </a:rPr>
              <a:t>五大类。</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6225" name="Rectangle 3"/>
          <p:cNvSpPr>
            <a:spLocks noGrp="1"/>
          </p:cNvSpPr>
          <p:nvPr>
            <p:ph idx="1"/>
          </p:nvPr>
        </p:nvSpPr>
        <p:spPr>
          <a:xfrm>
            <a:off x="0" y="1295400"/>
            <a:ext cx="9036050"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保护组织</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初生保护组织（表皮）</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位置和来源：</a:t>
            </a:r>
            <a:endParaRPr lang="zh-CN" altLang="en-US" b="1" u="sng" dirty="0">
              <a:latin typeface="黑体" panose="02010609060101010101" pitchFamily="49" charset="-122"/>
              <a:ea typeface="黑体" panose="02010609060101010101" pitchFamily="49" charset="-122"/>
            </a:endParaRPr>
          </a:p>
          <a:p>
            <a:pPr lvl="1" eaLnBrk="1" hangingPunct="1">
              <a:lnSpc>
                <a:spcPct val="160000"/>
              </a:lnSpc>
            </a:pPr>
            <a:r>
              <a:rPr lang="zh-CN" altLang="en-US" sz="2800" b="1" dirty="0">
                <a:solidFill>
                  <a:srgbClr val="FF3300"/>
                </a:solidFill>
                <a:latin typeface="黑体" panose="02010609060101010101" pitchFamily="49" charset="-122"/>
                <a:ea typeface="黑体" panose="02010609060101010101" pitchFamily="49" charset="-122"/>
              </a:rPr>
              <a:t>位置：</a:t>
            </a:r>
            <a:r>
              <a:rPr lang="zh-CN" altLang="en-US" sz="2800" b="1" dirty="0">
                <a:solidFill>
                  <a:srgbClr val="FF0000"/>
                </a:solidFill>
                <a:latin typeface="黑体" panose="02010609060101010101" pitchFamily="49" charset="-122"/>
                <a:ea typeface="黑体" panose="02010609060101010101" pitchFamily="49" charset="-122"/>
              </a:rPr>
              <a:t>位于器官细嫩部分的外表</a:t>
            </a:r>
            <a:r>
              <a:rPr lang="zh-CN" altLang="en-US" sz="2800" b="1" dirty="0">
                <a:latin typeface="黑体" panose="02010609060101010101" pitchFamily="49" charset="-122"/>
                <a:ea typeface="黑体" panose="02010609060101010101" pitchFamily="49" charset="-122"/>
              </a:rPr>
              <a:t>，如幼根、幼茎、叶、花、果实等的表层细胞。</a:t>
            </a:r>
            <a:endParaRPr lang="zh-CN" altLang="en-US" sz="2800" b="1" u="sng" dirty="0">
              <a:latin typeface="黑体" panose="02010609060101010101" pitchFamily="49" charset="-122"/>
              <a:ea typeface="黑体" panose="02010609060101010101" pitchFamily="49" charset="-122"/>
            </a:endParaRPr>
          </a:p>
          <a:p>
            <a:pPr lvl="1" eaLnBrk="1" hangingPunct="1">
              <a:lnSpc>
                <a:spcPct val="160000"/>
              </a:lnSpc>
            </a:pPr>
            <a:r>
              <a:rPr lang="zh-CN" altLang="en-US" sz="2800" b="1" dirty="0">
                <a:solidFill>
                  <a:srgbClr val="FF3300"/>
                </a:solidFill>
                <a:latin typeface="黑体" panose="02010609060101010101" pitchFamily="49" charset="-122"/>
                <a:ea typeface="黑体" panose="02010609060101010101" pitchFamily="49" charset="-122"/>
              </a:rPr>
              <a:t>来源：</a:t>
            </a:r>
            <a:r>
              <a:rPr lang="zh-CN" altLang="en-US" sz="2800" b="1" dirty="0">
                <a:latin typeface="黑体" panose="02010609060101010101" pitchFamily="49" charset="-122"/>
                <a:ea typeface="黑体" panose="02010609060101010101" pitchFamily="49" charset="-122"/>
              </a:rPr>
              <a:t>表皮来源于初生分生组织的</a:t>
            </a:r>
            <a:r>
              <a:rPr lang="zh-CN" altLang="en-US" sz="2800" b="1" dirty="0">
                <a:solidFill>
                  <a:srgbClr val="FF0000"/>
                </a:solidFill>
                <a:latin typeface="黑体" panose="02010609060101010101" pitchFamily="49" charset="-122"/>
                <a:ea typeface="黑体" panose="02010609060101010101" pitchFamily="49" charset="-122"/>
              </a:rPr>
              <a:t>原表皮。</a:t>
            </a:r>
            <a:r>
              <a:rPr lang="zh-CN" altLang="en-US" sz="2800" b="1" dirty="0">
                <a:latin typeface="黑体" panose="02010609060101010101" pitchFamily="49" charset="-122"/>
                <a:ea typeface="黑体" panose="02010609060101010101" pitchFamily="49" charset="-122"/>
              </a:rPr>
              <a:t> </a:t>
            </a:r>
          </a:p>
        </p:txBody>
      </p:sp>
      <p:sp>
        <p:nvSpPr>
          <p:cNvPr id="43622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solidFill>
                  <a:srgbClr val="FF0000"/>
                </a:solidFill>
                <a:latin typeface="黑体" panose="02010609060101010101" pitchFamily="49" charset="-122"/>
                <a:ea typeface="黑体" panose="02010609060101010101" pitchFamily="49" charset="-122"/>
              </a:rPr>
            </a:br>
            <a:r>
              <a:rPr lang="en-US" altLang="zh-CN" sz="2800" b="1" dirty="0">
                <a:solidFill>
                  <a:srgbClr val="FF0000"/>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㈡ 成熟组织</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19050" y="1143000"/>
            <a:ext cx="8945563"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保护组织</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——⑴</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初生保护组织（表皮</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组织特征</a:t>
            </a:r>
          </a:p>
          <a:p>
            <a:pPr marL="742950" marR="0" lvl="1" indent="-285750" algn="l" defTabSz="914400" rtl="0" eaLnBrk="1" fontAlgn="base" latinLnBrk="0" hangingPunct="1">
              <a:lnSpc>
                <a:spcPct val="7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细胞种类：</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表皮细胞、气孔器保卫细胞和表皮附属物</a:t>
            </a:r>
          </a:p>
          <a:p>
            <a:pPr marL="742950" marR="0" lvl="1" indent="-285750" algn="l" defTabSz="914400" rtl="0" eaLnBrk="1" fontAlgn="base" latinLnBrk="0" hangingPunct="1">
              <a:lnSpc>
                <a:spcPct val="7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细胞特征：</a:t>
            </a:r>
          </a:p>
          <a:p>
            <a:pPr marL="1143000" marR="0" lvl="2" indent="-228600" algn="l" defTabSz="914400" rtl="0" eaLnBrk="1" fontAlgn="base" latinLnBrk="0" hangingPunct="1">
              <a:lnSpc>
                <a:spcPct val="9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表皮细胞 </a:t>
            </a:r>
            <a:r>
              <a:rPr kumimoji="0" lang="zh-CN" altLang="en-US" sz="23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形状：</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长形或不规则形。</a:t>
            </a:r>
            <a:endParaRPr kumimoji="0" lang="en-US" altLang="zh-CN"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endParaRPr>
          </a:p>
          <a:p>
            <a:pPr marL="914400" marR="0" lvl="2" indent="0" algn="l" defTabSz="914400" rtl="0" eaLnBrk="1" fontAlgn="base" latinLnBrk="0" hangingPunct="1">
              <a:lnSpc>
                <a:spcPct val="90000"/>
              </a:lnSpc>
              <a:spcBef>
                <a:spcPct val="20000"/>
              </a:spcBef>
              <a:spcAft>
                <a:spcPct val="0"/>
              </a:spcAft>
              <a:buClr>
                <a:srgbClr val="FF3300"/>
              </a:buClr>
              <a:buSzTx/>
              <a:buFont typeface="Wingdings" panose="05000000000000000000" pitchFamily="2" charset="2"/>
              <a:buNone/>
              <a:defRPr/>
            </a:pPr>
            <a:r>
              <a:rPr kumimoji="0" lang="en-US" altLang="zh-CN" sz="23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          </a:t>
            </a:r>
            <a:r>
              <a:rPr kumimoji="0" lang="zh-CN" altLang="en-US" sz="23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结构特点：</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为活细胞，</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除保卫细胞外均不含叶绿体</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；地上表皮细胞的外壁较厚，并角质化，表面沉积明显的角质层，坚硬的角质层可减少蒸腾、防止病菌的侵入和增加机械支持。有些植物（甘蔗）角质层外有蜡质的“</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霜</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”，使其表面不易浸湿，以阻止病菌孢子的萌发。  </a:t>
            </a:r>
          </a:p>
          <a:p>
            <a:pPr marL="1143000" marR="0" lvl="2" indent="-228600" algn="l" defTabSz="914400" rtl="0" eaLnBrk="1" fontAlgn="base" latinLnBrk="0" hangingPunct="1">
              <a:lnSpc>
                <a:spcPct val="9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气孔器：</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双子叶植物气孔由</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两个肾形保卫细胞</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构成；单子叶植物气孔器由</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两个副卫细胞和两个哑铃形保卫细胞</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构成。地下表皮无气孔器。</a:t>
            </a:r>
          </a:p>
          <a:p>
            <a:pPr marL="1143000" marR="0" lvl="2" indent="-228600" algn="l" defTabSz="914400" rtl="0" eaLnBrk="1" fontAlgn="base" latinLnBrk="0" hangingPunct="1">
              <a:lnSpc>
                <a:spcPct val="9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表皮附属物</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细胞排列方式：</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多由一层细胞构成（</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少数为复表皮</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）；细胞排列十分紧密，除气孔外无其他胞间隙。</a:t>
            </a:r>
          </a:p>
        </p:txBody>
      </p:sp>
      <p:sp>
        <p:nvSpPr>
          <p:cNvPr id="437250" name="Rectangle 5"/>
          <p:cNvSpPr>
            <a:spLocks noGrp="1"/>
          </p:cNvSpPr>
          <p:nvPr>
            <p:ph type="title"/>
          </p:nvPr>
        </p:nvSpPr>
        <p:spPr>
          <a:xfrm>
            <a:off x="0" y="0"/>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8273" name="Picture 11" descr="D:\刘宗才\植物学素材\教学素材\细胞与组织\蚕豆叶下表皮.jpg"/>
          <p:cNvPicPr>
            <a:picLocks noChangeAspect="1"/>
          </p:cNvPicPr>
          <p:nvPr/>
        </p:nvPicPr>
        <p:blipFill>
          <a:blip r:embed="rId3"/>
          <a:stretch>
            <a:fillRect/>
          </a:stretch>
        </p:blipFill>
        <p:spPr>
          <a:xfrm>
            <a:off x="2819400" y="2249488"/>
            <a:ext cx="6316663" cy="4230687"/>
          </a:xfrm>
          <a:prstGeom prst="rect">
            <a:avLst/>
          </a:prstGeom>
          <a:noFill/>
          <a:ln w="9525">
            <a:noFill/>
          </a:ln>
        </p:spPr>
      </p:pic>
      <p:sp>
        <p:nvSpPr>
          <p:cNvPr id="438274" name="Rectangle 4"/>
          <p:cNvSpPr>
            <a:spLocks noGrp="1"/>
          </p:cNvSpPr>
          <p:nvPr>
            <p:ph idx="1"/>
          </p:nvPr>
        </p:nvSpPr>
        <p:spPr/>
        <p:txBody>
          <a:bodyPr vert="horz" wrap="square" lIns="91440" tIns="45720" rIns="91440" bIns="45720" anchor="t" anchorCtr="0"/>
          <a:lstStyle/>
          <a:p>
            <a:pPr eaLnBrk="1" hangingPunct="1">
              <a:buNone/>
            </a:pP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保护组织</a:t>
            </a:r>
            <a:r>
              <a:rPr lang="en-US" altLang="zh-CN" dirty="0">
                <a:latin typeface="黑体" panose="02010609060101010101" pitchFamily="49" charset="-122"/>
                <a:ea typeface="黑体" panose="02010609060101010101" pitchFamily="49" charset="-122"/>
              </a:rPr>
              <a:t>——⑴</a:t>
            </a:r>
            <a:r>
              <a:rPr lang="zh-CN" altLang="en-US" dirty="0">
                <a:latin typeface="黑体" panose="02010609060101010101" pitchFamily="49" charset="-122"/>
                <a:ea typeface="黑体" panose="02010609060101010101" pitchFamily="49" charset="-122"/>
              </a:rPr>
              <a:t>初生保护组织（表皮）</a:t>
            </a:r>
          </a:p>
          <a:p>
            <a:pPr eaLnBrk="1" hangingPunct="1">
              <a:buNone/>
            </a:pPr>
            <a:r>
              <a:rPr lang="zh-CN" altLang="en-US" dirty="0">
                <a:latin typeface="黑体" panose="02010609060101010101" pitchFamily="49" charset="-122"/>
                <a:ea typeface="黑体" panose="02010609060101010101" pitchFamily="49" charset="-122"/>
              </a:rPr>
              <a:t>       （蚕豆叶下表皮显微照片）</a:t>
            </a:r>
          </a:p>
          <a:p>
            <a:pPr eaLnBrk="1" hangingPunct="1">
              <a:buNone/>
            </a:pPr>
            <a:endParaRPr lang="zh-CN" altLang="en-US" dirty="0">
              <a:latin typeface="华文新魏" panose="02010800040101010101" pitchFamily="2" charset="-122"/>
            </a:endParaRPr>
          </a:p>
          <a:p>
            <a:pPr eaLnBrk="1" hangingPunct="1">
              <a:buNone/>
            </a:pPr>
            <a:endParaRPr lang="zh-CN" altLang="en-US" dirty="0">
              <a:latin typeface="华文新魏" panose="02010800040101010101" pitchFamily="2" charset="-122"/>
            </a:endParaRPr>
          </a:p>
          <a:p>
            <a:pPr eaLnBrk="1" hangingPunct="1">
              <a:buNone/>
            </a:pPr>
            <a:endParaRPr lang="zh-CN" altLang="en-US" dirty="0">
              <a:latin typeface="华文新魏" panose="02010800040101010101" pitchFamily="2" charset="-122"/>
            </a:endParaRPr>
          </a:p>
          <a:p>
            <a:pPr eaLnBrk="1" hangingPunct="1">
              <a:buNone/>
            </a:pPr>
            <a:endParaRPr lang="zh-CN" altLang="en-US" dirty="0">
              <a:latin typeface="华文新魏" panose="02010800040101010101" pitchFamily="2" charset="-122"/>
            </a:endParaRPr>
          </a:p>
          <a:p>
            <a:pPr eaLnBrk="1" hangingPunct="1">
              <a:buNone/>
            </a:pPr>
            <a:endParaRPr lang="zh-CN" altLang="en-US" dirty="0">
              <a:latin typeface="华文新魏" panose="02010800040101010101" pitchFamily="2" charset="-122"/>
            </a:endParaRPr>
          </a:p>
          <a:p>
            <a:pPr eaLnBrk="1" hangingPunct="1">
              <a:lnSpc>
                <a:spcPct val="50000"/>
              </a:lnSpc>
              <a:buNone/>
            </a:pPr>
            <a:r>
              <a:rPr lang="zh-CN" altLang="en-US" dirty="0">
                <a:latin typeface="华文新魏" panose="02010800040101010101" pitchFamily="2" charset="-122"/>
              </a:rPr>
              <a:t> </a:t>
            </a:r>
            <a:r>
              <a:rPr lang="zh-CN" altLang="en-US" dirty="0">
                <a:solidFill>
                  <a:srgbClr val="FF0000"/>
                </a:solidFill>
                <a:latin typeface="华文新魏" panose="02010800040101010101" pitchFamily="2" charset="-122"/>
              </a:rPr>
              <a:t>气</a:t>
            </a:r>
            <a:r>
              <a:rPr lang="zh-CN" altLang="en-US" dirty="0">
                <a:latin typeface="华文新魏" panose="02010800040101010101" pitchFamily="2" charset="-122"/>
              </a:rPr>
              <a:t>     保卫</a:t>
            </a:r>
          </a:p>
          <a:p>
            <a:pPr eaLnBrk="1" hangingPunct="1">
              <a:lnSpc>
                <a:spcPct val="50000"/>
              </a:lnSpc>
              <a:buNone/>
            </a:pPr>
            <a:r>
              <a:rPr lang="zh-CN" altLang="en-US" dirty="0">
                <a:latin typeface="华文新魏" panose="02010800040101010101" pitchFamily="2" charset="-122"/>
              </a:rPr>
              <a:t>          细胞</a:t>
            </a:r>
          </a:p>
          <a:p>
            <a:pPr eaLnBrk="1" hangingPunct="1">
              <a:lnSpc>
                <a:spcPct val="50000"/>
              </a:lnSpc>
              <a:buNone/>
            </a:pPr>
            <a:r>
              <a:rPr lang="zh-CN" altLang="en-US" dirty="0">
                <a:latin typeface="华文新魏" panose="02010800040101010101" pitchFamily="2" charset="-122"/>
              </a:rPr>
              <a:t> </a:t>
            </a:r>
            <a:r>
              <a:rPr lang="zh-CN" altLang="en-US" dirty="0">
                <a:solidFill>
                  <a:srgbClr val="FF0000"/>
                </a:solidFill>
                <a:latin typeface="华文新魏" panose="02010800040101010101" pitchFamily="2" charset="-122"/>
              </a:rPr>
              <a:t>孔</a:t>
            </a:r>
          </a:p>
          <a:p>
            <a:pPr eaLnBrk="1" hangingPunct="1">
              <a:lnSpc>
                <a:spcPct val="50000"/>
              </a:lnSpc>
              <a:buNone/>
            </a:pPr>
            <a:r>
              <a:rPr lang="zh-CN" altLang="en-US" dirty="0">
                <a:latin typeface="华文新魏" panose="02010800040101010101" pitchFamily="2" charset="-122"/>
              </a:rPr>
              <a:t>    </a:t>
            </a:r>
          </a:p>
          <a:p>
            <a:pPr eaLnBrk="1" hangingPunct="1">
              <a:lnSpc>
                <a:spcPct val="50000"/>
              </a:lnSpc>
              <a:buNone/>
            </a:pPr>
            <a:r>
              <a:rPr lang="zh-CN" altLang="en-US" dirty="0">
                <a:latin typeface="华文新魏" panose="02010800040101010101" pitchFamily="2" charset="-122"/>
              </a:rPr>
              <a:t> </a:t>
            </a:r>
            <a:r>
              <a:rPr lang="zh-CN" altLang="en-US" dirty="0">
                <a:solidFill>
                  <a:srgbClr val="FF0000"/>
                </a:solidFill>
                <a:latin typeface="华文新魏" panose="02010800040101010101" pitchFamily="2" charset="-122"/>
              </a:rPr>
              <a:t>器</a:t>
            </a:r>
            <a:r>
              <a:rPr lang="zh-CN" altLang="en-US" dirty="0">
                <a:latin typeface="华文新魏" panose="02010800040101010101" pitchFamily="2" charset="-122"/>
              </a:rPr>
              <a:t>     气孔</a:t>
            </a:r>
          </a:p>
        </p:txBody>
      </p:sp>
      <p:sp>
        <p:nvSpPr>
          <p:cNvPr id="438275" name="AutoShape 5"/>
          <p:cNvSpPr/>
          <p:nvPr/>
        </p:nvSpPr>
        <p:spPr>
          <a:xfrm>
            <a:off x="1371600" y="2743200"/>
            <a:ext cx="990600" cy="914400"/>
          </a:xfrm>
          <a:prstGeom prst="wedgeRoundRectCallout">
            <a:avLst>
              <a:gd name="adj1" fmla="val 242306"/>
              <a:gd name="adj2" fmla="val -866"/>
              <a:gd name="adj3" fmla="val 16667"/>
            </a:avLst>
          </a:prstGeom>
          <a:noFill/>
          <a:ln w="38100" cap="flat" cmpd="sng">
            <a:solidFill>
              <a:srgbClr val="FF3300"/>
            </a:solidFill>
            <a:prstDash val="solid"/>
            <a:miter/>
            <a:headEnd type="none" w="med" len="med"/>
            <a:tailEnd type="none" w="med" len="med"/>
          </a:ln>
        </p:spPr>
        <p:txBody>
          <a:bodyPr anchor="t" anchorCtr="0"/>
          <a:lstStyle/>
          <a:p>
            <a:pPr algn="ctr"/>
            <a:r>
              <a:rPr lang="zh-CN" altLang="en-US" dirty="0">
                <a:solidFill>
                  <a:srgbClr val="FF0000"/>
                </a:solidFill>
                <a:latin typeface="Times New Roman" panose="02020603050405020304" pitchFamily="18" charset="0"/>
                <a:ea typeface="华文新魏" panose="02010800040101010101" pitchFamily="2" charset="-122"/>
              </a:rPr>
              <a:t>表皮</a:t>
            </a:r>
          </a:p>
          <a:p>
            <a:pPr algn="ctr"/>
            <a:r>
              <a:rPr lang="zh-CN" altLang="en-US" dirty="0">
                <a:solidFill>
                  <a:srgbClr val="FF0000"/>
                </a:solidFill>
                <a:latin typeface="Times New Roman" panose="02020603050405020304" pitchFamily="18" charset="0"/>
                <a:ea typeface="华文新魏" panose="02010800040101010101" pitchFamily="2" charset="-122"/>
              </a:rPr>
              <a:t>细胞</a:t>
            </a:r>
          </a:p>
        </p:txBody>
      </p:sp>
      <p:sp>
        <p:nvSpPr>
          <p:cNvPr id="438276" name="Line 6"/>
          <p:cNvSpPr/>
          <p:nvPr/>
        </p:nvSpPr>
        <p:spPr>
          <a:xfrm>
            <a:off x="1524000" y="4724400"/>
            <a:ext cx="2438400" cy="76200"/>
          </a:xfrm>
          <a:prstGeom prst="line">
            <a:avLst/>
          </a:prstGeom>
          <a:ln w="57150" cap="flat" cmpd="sng">
            <a:solidFill>
              <a:srgbClr val="FF3300"/>
            </a:solidFill>
            <a:prstDash val="solid"/>
            <a:round/>
            <a:headEnd type="none" w="med" len="med"/>
            <a:tailEnd type="none" w="med" len="med"/>
          </a:ln>
        </p:spPr>
        <p:txBody>
          <a:bodyPr/>
          <a:lstStyle/>
          <a:p>
            <a:endParaRPr lang="zh-CN" altLang="en-US"/>
          </a:p>
        </p:txBody>
      </p:sp>
      <p:sp>
        <p:nvSpPr>
          <p:cNvPr id="438277" name="Line 7"/>
          <p:cNvSpPr/>
          <p:nvPr/>
        </p:nvSpPr>
        <p:spPr>
          <a:xfrm flipV="1">
            <a:off x="1524000" y="4953000"/>
            <a:ext cx="2438400" cy="685800"/>
          </a:xfrm>
          <a:prstGeom prst="line">
            <a:avLst/>
          </a:prstGeom>
          <a:ln w="57150" cap="flat" cmpd="sng">
            <a:solidFill>
              <a:srgbClr val="FF3300"/>
            </a:solidFill>
            <a:prstDash val="solid"/>
            <a:round/>
            <a:headEnd type="none" w="med" len="med"/>
            <a:tailEnd type="none" w="med" len="med"/>
          </a:ln>
        </p:spPr>
        <p:txBody>
          <a:bodyPr/>
          <a:lstStyle/>
          <a:p>
            <a:endParaRPr lang="zh-CN" altLang="en-US"/>
          </a:p>
        </p:txBody>
      </p:sp>
      <p:sp>
        <p:nvSpPr>
          <p:cNvPr id="438278" name="AutoShape 8"/>
          <p:cNvSpPr/>
          <p:nvPr/>
        </p:nvSpPr>
        <p:spPr>
          <a:xfrm>
            <a:off x="685800" y="4495800"/>
            <a:ext cx="152400" cy="1219200"/>
          </a:xfrm>
          <a:prstGeom prst="leftBrace">
            <a:avLst>
              <a:gd name="adj1" fmla="val 66037"/>
              <a:gd name="adj2" fmla="val 51824"/>
            </a:avLst>
          </a:prstGeom>
          <a:noFill/>
          <a:ln w="38100"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38279" name="Rectangle 10"/>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pic>
        <p:nvPicPr>
          <p:cNvPr id="228364" name="Picture 12" descr="D:\刘宗才\植物学素材\教学素材\植物学插图上册\t1-42.jpg"/>
          <p:cNvPicPr>
            <a:picLocks noChangeAspect="1"/>
          </p:cNvPicPr>
          <p:nvPr/>
        </p:nvPicPr>
        <p:blipFill>
          <a:blip r:embed="rId4"/>
          <a:stretch>
            <a:fillRect/>
          </a:stretch>
        </p:blipFill>
        <p:spPr>
          <a:xfrm>
            <a:off x="1828800" y="1725613"/>
            <a:ext cx="5638800" cy="4775200"/>
          </a:xfrm>
          <a:prstGeom prst="rect">
            <a:avLst/>
          </a:prstGeom>
          <a:noFill/>
          <a:ln w="38100" cap="flat" cmpd="sng">
            <a:solidFill>
              <a:srgbClr val="FF3300"/>
            </a:solidFill>
            <a:prstDash val="solid"/>
            <a:miter/>
            <a:headEnd type="none" w="med" len="med"/>
            <a:tailEnd type="none" w="med" len="med"/>
          </a:ln>
        </p:spPr>
      </p:pic>
      <p:grpSp>
        <p:nvGrpSpPr>
          <p:cNvPr id="228367" name="Group 15"/>
          <p:cNvGrpSpPr/>
          <p:nvPr/>
        </p:nvGrpSpPr>
        <p:grpSpPr>
          <a:xfrm>
            <a:off x="2595563" y="1371600"/>
            <a:ext cx="3781425" cy="5105400"/>
            <a:chOff x="1635" y="864"/>
            <a:chExt cx="2382" cy="3216"/>
          </a:xfrm>
        </p:grpSpPr>
        <p:pic>
          <p:nvPicPr>
            <p:cNvPr id="438282" name="Picture 13" descr="D:\Documents and Settings\LiuZC\桌面\教学素材\细胞与组织\气孔扫描电镜照片.jpg"/>
            <p:cNvPicPr>
              <a:picLocks noChangeAspect="1"/>
            </p:cNvPicPr>
            <p:nvPr/>
          </p:nvPicPr>
          <p:blipFill>
            <a:blip r:embed="rId5"/>
            <a:stretch>
              <a:fillRect/>
            </a:stretch>
          </p:blipFill>
          <p:spPr>
            <a:xfrm>
              <a:off x="1635" y="864"/>
              <a:ext cx="2382" cy="3216"/>
            </a:xfrm>
            <a:prstGeom prst="rect">
              <a:avLst/>
            </a:prstGeom>
            <a:noFill/>
            <a:ln w="9525">
              <a:noFill/>
            </a:ln>
          </p:spPr>
        </p:pic>
        <p:sp>
          <p:nvSpPr>
            <p:cNvPr id="438283" name="Text Box 14"/>
            <p:cNvSpPr txBox="1"/>
            <p:nvPr/>
          </p:nvSpPr>
          <p:spPr>
            <a:xfrm>
              <a:off x="1718" y="1056"/>
              <a:ext cx="346" cy="1344"/>
            </a:xfrm>
            <a:prstGeom prst="rect">
              <a:avLst/>
            </a:prstGeom>
            <a:noFill/>
            <a:ln w="9525">
              <a:noFill/>
            </a:ln>
          </p:spPr>
          <p:txBody>
            <a:bodyPr vert="eaVert" anchor="t" anchorCtr="0">
              <a:spAutoFit/>
            </a:bodyPr>
            <a:lstStyle/>
            <a:p>
              <a:pPr>
                <a:spcBef>
                  <a:spcPct val="50000"/>
                </a:spcBef>
              </a:pPr>
              <a:r>
                <a:rPr lang="zh-CN" altLang="en-US" dirty="0">
                  <a:solidFill>
                    <a:srgbClr val="FFFF00"/>
                  </a:solidFill>
                  <a:latin typeface="Tahoma" panose="020B0604030504040204" pitchFamily="34" charset="0"/>
                  <a:ea typeface="华文新魏" panose="02010800040101010101" pitchFamily="2" charset="-122"/>
                </a:rPr>
                <a:t>气孔电镜照片</a:t>
              </a:r>
            </a:p>
          </p:txBody>
        </p:sp>
      </p:gr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8367"/>
                                        </p:tgtEl>
                                        <p:attrNameLst>
                                          <p:attrName>style.visibility</p:attrName>
                                        </p:attrNameLst>
                                      </p:cBhvr>
                                      <p:to>
                                        <p:strVal val="visible"/>
                                      </p:to>
                                    </p:set>
                                    <p:animEffect transition="in" filter="wipe(up)">
                                      <p:cBhvr>
                                        <p:cTn id="7" dur="500"/>
                                        <p:tgtEl>
                                          <p:spTgt spid="228367"/>
                                        </p:tgtEl>
                                      </p:cBhvr>
                                    </p:animEffect>
                                  </p:childTnLst>
                                  <p:subTnLst>
                                    <p:set>
                                      <p:cBhvr override="childStyle">
                                        <p:cTn dur="1" fill="hold" display="0" masterRel="nextClick" afterEffect="1"/>
                                        <p:tgtEl>
                                          <p:spTgt spid="22836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8364"/>
                                        </p:tgtEl>
                                        <p:attrNameLst>
                                          <p:attrName>style.visibility</p:attrName>
                                        </p:attrNameLst>
                                      </p:cBhvr>
                                      <p:to>
                                        <p:strVal val="visible"/>
                                      </p:to>
                                    </p:set>
                                    <p:animEffect transition="in" filter="dissolve">
                                      <p:cBhvr>
                                        <p:cTn id="12" dur="500"/>
                                        <p:tgtEl>
                                          <p:spTgt spid="228364"/>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9297" name="Rectangle 3"/>
          <p:cNvSpPr>
            <a:spLocks noGrp="1"/>
          </p:cNvSpPr>
          <p:nvPr>
            <p:ph idx="1"/>
          </p:nvPr>
        </p:nvSpPr>
        <p:spPr>
          <a:xfrm>
            <a:off x="0" y="1295400"/>
            <a:ext cx="9144000" cy="4941888"/>
          </a:xfrm>
        </p:spPr>
        <p:txBody>
          <a:bodyPr vert="horz" wrap="square" lIns="91440" tIns="45720" rIns="91440" bIns="45720" anchor="t" anchorCtr="0"/>
          <a:lstStyle/>
          <a:p>
            <a:pPr eaLnBrk="1" hangingPunct="1">
              <a:buNone/>
            </a:pP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保护组织</a:t>
            </a:r>
            <a:r>
              <a:rPr lang="en-US" altLang="zh-CN" dirty="0">
                <a:latin typeface="黑体" panose="02010609060101010101" pitchFamily="49" charset="-122"/>
                <a:ea typeface="黑体" panose="02010609060101010101" pitchFamily="49" charset="-122"/>
              </a:rPr>
              <a:t>——⑴</a:t>
            </a:r>
            <a:r>
              <a:rPr lang="zh-CN" altLang="en-US" dirty="0">
                <a:latin typeface="黑体" panose="02010609060101010101" pitchFamily="49" charset="-122"/>
                <a:ea typeface="黑体" panose="02010609060101010101" pitchFamily="49" charset="-122"/>
              </a:rPr>
              <a:t>初生保护组织（表皮）</a:t>
            </a:r>
          </a:p>
        </p:txBody>
      </p:sp>
      <p:sp>
        <p:nvSpPr>
          <p:cNvPr id="439298"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grpSp>
        <p:nvGrpSpPr>
          <p:cNvPr id="229390" name="Group 14"/>
          <p:cNvGrpSpPr/>
          <p:nvPr/>
        </p:nvGrpSpPr>
        <p:grpSpPr>
          <a:xfrm>
            <a:off x="1752600" y="1762125"/>
            <a:ext cx="5638800" cy="4248150"/>
            <a:chOff x="1140" y="1092"/>
            <a:chExt cx="3552" cy="2676"/>
          </a:xfrm>
        </p:grpSpPr>
        <p:pic>
          <p:nvPicPr>
            <p:cNvPr id="439300" name="Picture 7" descr="D:\Documents and Settings\LiuZC\桌面\教学素材\细胞与组织\复表皮及钟乳体.JPG"/>
            <p:cNvPicPr>
              <a:picLocks noChangeAspect="1"/>
            </p:cNvPicPr>
            <p:nvPr/>
          </p:nvPicPr>
          <p:blipFill>
            <a:blip r:embed="rId3"/>
            <a:stretch>
              <a:fillRect/>
            </a:stretch>
          </p:blipFill>
          <p:spPr>
            <a:xfrm>
              <a:off x="1140" y="1104"/>
              <a:ext cx="3552" cy="2664"/>
            </a:xfrm>
            <a:prstGeom prst="rect">
              <a:avLst/>
            </a:prstGeom>
            <a:noFill/>
            <a:ln w="57150" cap="flat" cmpd="sng">
              <a:solidFill>
                <a:srgbClr val="FF3300"/>
              </a:solidFill>
              <a:prstDash val="solid"/>
              <a:miter/>
              <a:headEnd type="none" w="med" len="med"/>
              <a:tailEnd type="none" w="med" len="med"/>
            </a:ln>
          </p:spPr>
        </p:pic>
        <p:sp>
          <p:nvSpPr>
            <p:cNvPr id="439301" name="Text Box 8"/>
            <p:cNvSpPr txBox="1"/>
            <p:nvPr/>
          </p:nvSpPr>
          <p:spPr>
            <a:xfrm>
              <a:off x="1632" y="1776"/>
              <a:ext cx="2592" cy="288"/>
            </a:xfrm>
            <a:prstGeom prst="rect">
              <a:avLst/>
            </a:prstGeom>
            <a:noFill/>
            <a:ln w="9525">
              <a:noFill/>
            </a:ln>
          </p:spPr>
          <p:txBody>
            <a:bodyPr anchor="t" anchorCtr="0">
              <a:spAutoFit/>
            </a:bodyPr>
            <a:lstStyle/>
            <a:p>
              <a:pPr algn="ctr">
                <a:spcBef>
                  <a:spcPct val="50000"/>
                </a:spcBef>
              </a:pPr>
              <a:r>
                <a:rPr lang="zh-CN" altLang="en-US" dirty="0">
                  <a:solidFill>
                    <a:srgbClr val="FFFF00"/>
                  </a:solidFill>
                  <a:latin typeface="Tahoma" panose="020B0604030504040204" pitchFamily="34" charset="0"/>
                  <a:ea typeface="华文新魏" panose="02010800040101010101" pitchFamily="2" charset="-122"/>
                </a:rPr>
                <a:t>夹竹桃</a:t>
              </a:r>
              <a:r>
                <a:rPr lang="zh-CN" altLang="en-US" u="sng" dirty="0">
                  <a:solidFill>
                    <a:srgbClr val="FFFF00"/>
                  </a:solidFill>
                  <a:latin typeface="Tahoma" panose="020B0604030504040204" pitchFamily="34" charset="0"/>
                  <a:ea typeface="华文新魏" panose="02010800040101010101" pitchFamily="2" charset="-122"/>
                </a:rPr>
                <a:t>复表皮</a:t>
              </a:r>
              <a:r>
                <a:rPr lang="zh-CN" altLang="en-US" dirty="0">
                  <a:solidFill>
                    <a:srgbClr val="FFFF00"/>
                  </a:solidFill>
                  <a:latin typeface="Tahoma" panose="020B0604030504040204" pitchFamily="34" charset="0"/>
                  <a:ea typeface="华文新魏" panose="02010800040101010101" pitchFamily="2" charset="-122"/>
                </a:rPr>
                <a:t>及厚的</a:t>
              </a:r>
              <a:r>
                <a:rPr lang="zh-CN" altLang="en-US" u="sng" dirty="0">
                  <a:solidFill>
                    <a:srgbClr val="FFFF00"/>
                  </a:solidFill>
                  <a:latin typeface="Tahoma" panose="020B0604030504040204" pitchFamily="34" charset="0"/>
                  <a:ea typeface="华文新魏" panose="02010800040101010101" pitchFamily="2" charset="-122"/>
                </a:rPr>
                <a:t>角质膜</a:t>
              </a:r>
            </a:p>
          </p:txBody>
        </p:sp>
        <p:sp>
          <p:nvSpPr>
            <p:cNvPr id="439302" name="Line 10"/>
            <p:cNvSpPr/>
            <p:nvPr/>
          </p:nvSpPr>
          <p:spPr>
            <a:xfrm flipH="1" flipV="1">
              <a:off x="1632" y="1488"/>
              <a:ext cx="1008" cy="336"/>
            </a:xfrm>
            <a:prstGeom prst="line">
              <a:avLst/>
            </a:prstGeom>
            <a:ln w="38100" cap="flat" cmpd="sng">
              <a:solidFill>
                <a:srgbClr val="FF3300"/>
              </a:solidFill>
              <a:prstDash val="solid"/>
              <a:miter/>
              <a:headEnd type="none" w="med" len="med"/>
              <a:tailEnd type="triangle" w="med" len="med"/>
            </a:ln>
          </p:spPr>
          <p:txBody>
            <a:bodyPr/>
            <a:lstStyle/>
            <a:p>
              <a:endParaRPr lang="zh-CN" altLang="en-US"/>
            </a:p>
          </p:txBody>
        </p:sp>
        <p:sp>
          <p:nvSpPr>
            <p:cNvPr id="439303" name="AutoShape 11"/>
            <p:cNvSpPr/>
            <p:nvPr/>
          </p:nvSpPr>
          <p:spPr>
            <a:xfrm>
              <a:off x="1584" y="1248"/>
              <a:ext cx="48" cy="480"/>
            </a:xfrm>
            <a:prstGeom prst="rightBrace">
              <a:avLst>
                <a:gd name="adj1" fmla="val 82546"/>
                <a:gd name="adj2" fmla="val 50000"/>
              </a:avLst>
            </a:prstGeom>
            <a:noFill/>
            <a:ln w="38100" cap="flat" cmpd="sng">
              <a:solidFill>
                <a:srgbClr val="FF3300"/>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39304" name="Line 12"/>
            <p:cNvSpPr/>
            <p:nvPr/>
          </p:nvSpPr>
          <p:spPr>
            <a:xfrm>
              <a:off x="3072" y="1092"/>
              <a:ext cx="0" cy="204"/>
            </a:xfrm>
            <a:prstGeom prst="line">
              <a:avLst/>
            </a:prstGeom>
            <a:ln w="9525" cap="flat" cmpd="sng">
              <a:solidFill>
                <a:srgbClr val="FF3300"/>
              </a:solidFill>
              <a:prstDash val="solid"/>
              <a:miter/>
              <a:headEnd type="triangle" w="med" len="med"/>
              <a:tailEnd type="triangle" w="med" len="med"/>
            </a:ln>
          </p:spPr>
          <p:txBody>
            <a:bodyPr/>
            <a:lstStyle/>
            <a:p>
              <a:endParaRPr lang="zh-CN" altLang="en-US"/>
            </a:p>
          </p:txBody>
        </p:sp>
        <p:sp>
          <p:nvSpPr>
            <p:cNvPr id="439305" name="Line 13"/>
            <p:cNvSpPr/>
            <p:nvPr/>
          </p:nvSpPr>
          <p:spPr>
            <a:xfrm flipH="1" flipV="1">
              <a:off x="3120" y="1200"/>
              <a:ext cx="672" cy="624"/>
            </a:xfrm>
            <a:prstGeom prst="line">
              <a:avLst/>
            </a:prstGeom>
            <a:ln w="38100" cap="flat" cmpd="sng">
              <a:solidFill>
                <a:srgbClr val="FF3300"/>
              </a:solidFill>
              <a:prstDash val="solid"/>
              <a:miter/>
              <a:headEnd type="none" w="med" len="med"/>
              <a:tailEnd type="triangle" w="med" len="med"/>
            </a:ln>
          </p:spPr>
          <p:txBody>
            <a:bodyPr/>
            <a:lstStyle/>
            <a:p>
              <a:endParaRPr lang="zh-CN" altLang="en-US"/>
            </a:p>
          </p:txBody>
        </p:sp>
      </p:grpSp>
      <p:sp>
        <p:nvSpPr>
          <p:cNvPr id="2" name="文本框 1"/>
          <p:cNvSpPr txBox="1"/>
          <p:nvPr/>
        </p:nvSpPr>
        <p:spPr>
          <a:xfrm>
            <a:off x="323850" y="6162675"/>
            <a:ext cx="5233988" cy="523875"/>
          </a:xfrm>
          <a:prstGeom prst="rect">
            <a:avLst/>
          </a:prstGeom>
          <a:noFill/>
          <a:ln w="9525">
            <a:noFill/>
          </a:ln>
        </p:spPr>
        <p:txBody>
          <a:bodyPr wrap="none" anchor="t" anchorCtr="0">
            <a:spAutoFit/>
          </a:bodyPr>
          <a:lstStyle/>
          <a:p>
            <a:pPr eaLnBrk="0" hangingPunct="0"/>
            <a:r>
              <a:rPr lang="zh-CN" altLang="en-US" sz="2800" b="1" dirty="0">
                <a:solidFill>
                  <a:srgbClr val="FF0000"/>
                </a:solidFill>
                <a:latin typeface="黑体" panose="02010609060101010101" pitchFamily="49" charset="-122"/>
                <a:ea typeface="黑体" panose="02010609060101010101" pitchFamily="49" charset="-122"/>
              </a:rPr>
              <a:t>推测夹竹桃具有复表皮的意义？</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29390"/>
                                        </p:tgtEl>
                                        <p:attrNameLst>
                                          <p:attrName>style.visibility</p:attrName>
                                        </p:attrNameLst>
                                      </p:cBhvr>
                                      <p:to>
                                        <p:strVal val="visible"/>
                                      </p:to>
                                    </p:set>
                                    <p:anim calcmode="lin" valueType="num">
                                      <p:cBhvr>
                                        <p:cTn id="7" dur="500" fill="hold"/>
                                        <p:tgtEl>
                                          <p:spTgt spid="229390"/>
                                        </p:tgtEl>
                                        <p:attrNameLst>
                                          <p:attrName>ppt_w</p:attrName>
                                        </p:attrNameLst>
                                      </p:cBhvr>
                                      <p:tavLst>
                                        <p:tav tm="0">
                                          <p:val>
                                            <p:fltVal val="0"/>
                                          </p:val>
                                        </p:tav>
                                        <p:tav tm="100000">
                                          <p:val>
                                            <p:strVal val="#ppt_w"/>
                                          </p:val>
                                        </p:tav>
                                      </p:tavLst>
                                    </p:anim>
                                    <p:anim calcmode="lin" valueType="num">
                                      <p:cBhvr>
                                        <p:cTn id="8" dur="500" fill="hold"/>
                                        <p:tgtEl>
                                          <p:spTgt spid="2293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21" name="Rectangle 3"/>
          <p:cNvSpPr>
            <a:spLocks noGrp="1"/>
          </p:cNvSpPr>
          <p:nvPr>
            <p:ph idx="1"/>
          </p:nvPr>
        </p:nvSpPr>
        <p:spPr>
          <a:xfrm>
            <a:off x="0" y="1295400"/>
            <a:ext cx="9144000"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保护组织</a:t>
            </a:r>
            <a:r>
              <a:rPr lang="en-US" altLang="zh-CN" sz="17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⑵</a:t>
            </a:r>
            <a:r>
              <a:rPr lang="zh-CN" altLang="en-US" b="1" dirty="0">
                <a:latin typeface="黑体" panose="02010609060101010101" pitchFamily="49" charset="-122"/>
                <a:ea typeface="黑体" panose="02010609060101010101" pitchFamily="49" charset="-122"/>
              </a:rPr>
              <a:t>次生保护组织（周皮）</a:t>
            </a:r>
            <a:r>
              <a:rPr lang="en-US" altLang="zh-CN" sz="17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位置和来源</a:t>
            </a:r>
            <a:r>
              <a:rPr lang="en-US" altLang="zh-CN" b="1" dirty="0">
                <a:latin typeface="黑体" panose="02010609060101010101" pitchFamily="49" charset="-122"/>
                <a:ea typeface="黑体" panose="02010609060101010101" pitchFamily="49" charset="-122"/>
              </a:rPr>
              <a:t>:</a:t>
            </a:r>
          </a:p>
          <a:p>
            <a:pPr lvl="1" eaLnBrk="1" hangingPunct="1">
              <a:lnSpc>
                <a:spcPct val="170000"/>
              </a:lnSpc>
            </a:pPr>
            <a:r>
              <a:rPr lang="zh-CN" altLang="en-US" b="1" dirty="0">
                <a:latin typeface="黑体" panose="02010609060101010101" pitchFamily="49" charset="-122"/>
                <a:ea typeface="黑体" panose="02010609060101010101" pitchFamily="49" charset="-122"/>
              </a:rPr>
              <a:t>位置和来源：存在于裸子植物和双子叶植物老茎和老根的外表；</a:t>
            </a:r>
            <a:r>
              <a:rPr lang="zh-CN" altLang="en-US" b="1" dirty="0">
                <a:solidFill>
                  <a:srgbClr val="FF0000"/>
                </a:solidFill>
                <a:latin typeface="黑体" panose="02010609060101010101" pitchFamily="49" charset="-122"/>
                <a:ea typeface="黑体" panose="02010609060101010101" pitchFamily="49" charset="-122"/>
              </a:rPr>
              <a:t>由某些初生成熟组织细胞经脱分化后所形成的木栓形成层（次生分生组织）分裂分化而来</a:t>
            </a:r>
            <a:r>
              <a:rPr lang="zh-CN" altLang="en-US" b="1" dirty="0">
                <a:latin typeface="黑体" panose="02010609060101010101" pitchFamily="49" charset="-122"/>
                <a:ea typeface="黑体" panose="02010609060101010101" pitchFamily="49" charset="-122"/>
              </a:rPr>
              <a:t>。</a:t>
            </a:r>
          </a:p>
          <a:p>
            <a:pPr lvl="1" eaLnBrk="1" hangingPunct="1">
              <a:lnSpc>
                <a:spcPct val="170000"/>
              </a:lnSpc>
            </a:pPr>
            <a:r>
              <a:rPr lang="zh-CN" altLang="en-US" b="1" dirty="0">
                <a:latin typeface="黑体" panose="02010609060101010101" pitchFamily="49" charset="-122"/>
                <a:ea typeface="黑体" panose="02010609060101010101" pitchFamily="49" charset="-122"/>
              </a:rPr>
              <a:t>周皮的形成：木栓形成层细胞进行切向分裂，向外分化出木栓层，向内分化出栓内层，这样</a:t>
            </a:r>
            <a:r>
              <a:rPr lang="zh-CN" altLang="en-US" b="1" dirty="0">
                <a:solidFill>
                  <a:srgbClr val="FF0000"/>
                </a:solidFill>
                <a:latin typeface="黑体" panose="02010609060101010101" pitchFamily="49" charset="-122"/>
                <a:ea typeface="黑体" panose="02010609060101010101" pitchFamily="49" charset="-122"/>
              </a:rPr>
              <a:t>木栓层、栓内层和木栓形成层构成的结构层就称为周皮</a:t>
            </a:r>
            <a:r>
              <a:rPr lang="zh-CN" altLang="en-US" b="1" dirty="0">
                <a:solidFill>
                  <a:schemeClr val="tx1"/>
                </a:solidFill>
                <a:latin typeface="黑体" panose="02010609060101010101" pitchFamily="49" charset="-122"/>
                <a:ea typeface="黑体" panose="02010609060101010101" pitchFamily="49" charset="-122"/>
              </a:rPr>
              <a:t>。</a:t>
            </a:r>
          </a:p>
        </p:txBody>
      </p:sp>
      <p:sp>
        <p:nvSpPr>
          <p:cNvPr id="440322"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1345" name="Rectangle 3"/>
          <p:cNvSpPr>
            <a:spLocks noGrp="1"/>
          </p:cNvSpPr>
          <p:nvPr>
            <p:ph idx="1"/>
          </p:nvPr>
        </p:nvSpPr>
        <p:spPr>
          <a:xfrm>
            <a:off x="0" y="1295400"/>
            <a:ext cx="8964613" cy="5257800"/>
          </a:xfrm>
        </p:spPr>
        <p:txBody>
          <a:bodyPr vert="horz" wrap="square" lIns="91440" tIns="45720" rIns="91440" bIns="45720" anchor="t" anchorCtr="0"/>
          <a:lstStyle/>
          <a:p>
            <a:pPr eaLnBrk="1" hangingPunct="1">
              <a:buNone/>
            </a:pPr>
            <a:r>
              <a:rPr lang="en-US" altLang="zh-CN" dirty="0">
                <a:latin typeface="华文新魏" panose="02010800040101010101" pitchFamily="2" charset="-122"/>
              </a:rPr>
              <a:t>1</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保护组织</a:t>
            </a:r>
            <a:r>
              <a:rPr lang="en-US" altLang="zh-CN" sz="17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⑵ </a:t>
            </a:r>
            <a:r>
              <a:rPr lang="zh-CN" altLang="en-US" b="1" dirty="0">
                <a:latin typeface="黑体" panose="02010609060101010101" pitchFamily="49" charset="-122"/>
                <a:ea typeface="黑体" panose="02010609060101010101" pitchFamily="49" charset="-122"/>
              </a:rPr>
              <a:t>次生保护组织（周皮）</a:t>
            </a:r>
            <a:r>
              <a:rPr lang="en-US" altLang="zh-CN" sz="17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组织特征：</a:t>
            </a:r>
          </a:p>
          <a:p>
            <a:pPr lvl="1" eaLnBrk="1" hangingPunct="1">
              <a:lnSpc>
                <a:spcPct val="140000"/>
              </a:lnSpc>
            </a:pPr>
            <a:r>
              <a:rPr lang="zh-CN" altLang="en-US" b="1" dirty="0">
                <a:solidFill>
                  <a:srgbClr val="FF0000"/>
                </a:solidFill>
                <a:latin typeface="黑体" panose="02010609060101010101" pitchFamily="49" charset="-122"/>
                <a:ea typeface="黑体" panose="02010609060101010101" pitchFamily="49" charset="-122"/>
              </a:rPr>
              <a:t>木栓形成层</a:t>
            </a:r>
            <a:r>
              <a:rPr lang="zh-CN" altLang="en-US" b="1" dirty="0">
                <a:latin typeface="黑体" panose="02010609060101010101" pitchFamily="49" charset="-122"/>
                <a:ea typeface="黑体" panose="02010609060101010101" pitchFamily="49" charset="-122"/>
              </a:rPr>
              <a:t>：周皮的中结构层，由一种细胞组成。排列紧密，横切面中看到的细胞呈长方形。</a:t>
            </a:r>
          </a:p>
          <a:p>
            <a:pPr lvl="1" eaLnBrk="1" hangingPunct="1">
              <a:lnSpc>
                <a:spcPct val="140000"/>
              </a:lnSpc>
            </a:pPr>
            <a:r>
              <a:rPr lang="zh-CN" altLang="en-US" b="1" dirty="0">
                <a:solidFill>
                  <a:srgbClr val="FF0000"/>
                </a:solidFill>
                <a:latin typeface="黑体" panose="02010609060101010101" pitchFamily="49" charset="-122"/>
                <a:ea typeface="黑体" panose="02010609060101010101" pitchFamily="49" charset="-122"/>
              </a:rPr>
              <a:t>木栓层</a:t>
            </a:r>
            <a:r>
              <a:rPr lang="zh-CN" altLang="en-US" b="1" dirty="0">
                <a:latin typeface="黑体" panose="02010609060101010101" pitchFamily="49" charset="-122"/>
                <a:ea typeface="黑体" panose="02010609060101010101" pitchFamily="49" charset="-122"/>
              </a:rPr>
              <a:t>：周皮的外结构层，横切面上，细胞呈长方形，紧密排成整齐的径向行列，细胞壁较厚，高度栓化，细胞成熟时原生质体解体，细胞腔内通常充满空气。</a:t>
            </a:r>
          </a:p>
          <a:p>
            <a:pPr lvl="1" eaLnBrk="1" hangingPunct="1">
              <a:lnSpc>
                <a:spcPct val="140000"/>
              </a:lnSpc>
            </a:pPr>
            <a:r>
              <a:rPr lang="zh-CN" altLang="en-US" b="1" dirty="0">
                <a:solidFill>
                  <a:srgbClr val="FF0000"/>
                </a:solidFill>
                <a:latin typeface="黑体" panose="02010609060101010101" pitchFamily="49" charset="-122"/>
                <a:ea typeface="黑体" panose="02010609060101010101" pitchFamily="49" charset="-122"/>
              </a:rPr>
              <a:t>栓内层</a:t>
            </a:r>
            <a:r>
              <a:rPr lang="zh-CN" altLang="en-US" b="1" dirty="0">
                <a:latin typeface="黑体" panose="02010609060101010101" pitchFamily="49" charset="-122"/>
                <a:ea typeface="黑体" panose="02010609060101010101" pitchFamily="49" charset="-122"/>
              </a:rPr>
              <a:t>：周皮的内层结构，是薄壁的生活细胞， 多有一层细胞厚，一般只能从它们与外面的木栓细胞排列成同一整齐的径向行列，而与皮层薄壁细胞区别开来。</a:t>
            </a:r>
          </a:p>
        </p:txBody>
      </p:sp>
      <p:sp>
        <p:nvSpPr>
          <p:cNvPr id="44134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2369" name="Rectangle 3"/>
          <p:cNvSpPr>
            <a:spLocks noGrp="1"/>
          </p:cNvSpPr>
          <p:nvPr>
            <p:ph idx="1"/>
          </p:nvPr>
        </p:nvSpPr>
        <p:spPr>
          <a:xfrm>
            <a:off x="0" y="1295400"/>
            <a:ext cx="8893175"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保护组织</a:t>
            </a:r>
            <a:r>
              <a:rPr lang="en-US" altLang="zh-CN" sz="17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⑵ </a:t>
            </a:r>
            <a:r>
              <a:rPr lang="zh-CN" altLang="en-US" b="1" dirty="0">
                <a:latin typeface="黑体" panose="02010609060101010101" pitchFamily="49" charset="-122"/>
                <a:ea typeface="黑体" panose="02010609060101010101" pitchFamily="49" charset="-122"/>
              </a:rPr>
              <a:t>次生保护组织（周皮）</a:t>
            </a:r>
            <a:r>
              <a:rPr lang="en-US" altLang="zh-CN" sz="1700"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功能和发育方向</a:t>
            </a:r>
          </a:p>
          <a:p>
            <a:pPr lvl="1" eaLnBrk="1" hangingPunct="1">
              <a:lnSpc>
                <a:spcPct val="160000"/>
              </a:lnSpc>
            </a:pPr>
            <a:r>
              <a:rPr lang="zh-CN" altLang="en-US" b="1" dirty="0">
                <a:latin typeface="黑体" panose="02010609060101010101" pitchFamily="49" charset="-122"/>
                <a:ea typeface="黑体" panose="02010609060101010101" pitchFamily="49" charset="-122"/>
              </a:rPr>
              <a:t>功能：周皮的功能主要体现在木栓层，其特征决定了木栓具有高度不透水性，并有抗压、隔热性和弹性，抗有机溶剂和多种化学药品的特性，对植物体起到有效保护作用。</a:t>
            </a:r>
          </a:p>
          <a:p>
            <a:pPr lvl="1" eaLnBrk="1" hangingPunct="1">
              <a:lnSpc>
                <a:spcPct val="160000"/>
              </a:lnSpc>
            </a:pPr>
            <a:r>
              <a:rPr lang="zh-CN" altLang="en-US" b="1" dirty="0">
                <a:latin typeface="黑体" panose="02010609060101010101" pitchFamily="49" charset="-122"/>
                <a:ea typeface="黑体" panose="02010609060101010101" pitchFamily="49" charset="-122"/>
              </a:rPr>
              <a:t>发育方向：因为周皮是一种高度特化的专一性组织，一般不会再发育成其他组织。 </a:t>
            </a:r>
          </a:p>
        </p:txBody>
      </p:sp>
      <p:sp>
        <p:nvSpPr>
          <p:cNvPr id="442370"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3393" name="Rectangle 3"/>
          <p:cNvSpPr>
            <a:spLocks noGrp="1"/>
          </p:cNvSpPr>
          <p:nvPr>
            <p:ph idx="1"/>
          </p:nvPr>
        </p:nvSpPr>
        <p:spPr>
          <a:xfrm>
            <a:off x="125413" y="1219200"/>
            <a:ext cx="8694737"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保护组织</a:t>
            </a:r>
            <a:r>
              <a:rPr lang="en-US" altLang="zh-CN" sz="17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⑵ </a:t>
            </a:r>
            <a:r>
              <a:rPr lang="zh-CN" altLang="en-US" b="1" dirty="0">
                <a:latin typeface="黑体" panose="02010609060101010101" pitchFamily="49" charset="-122"/>
                <a:ea typeface="黑体" panose="02010609060101010101" pitchFamily="49" charset="-122"/>
              </a:rPr>
              <a:t>次生保护组织（周皮）</a:t>
            </a:r>
            <a:r>
              <a:rPr lang="en-US" altLang="zh-CN" sz="17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皮孔</a:t>
            </a:r>
          </a:p>
          <a:p>
            <a:pPr lvl="1" eaLnBrk="1" hangingPunct="1">
              <a:lnSpc>
                <a:spcPct val="160000"/>
              </a:lnSpc>
            </a:pPr>
            <a:r>
              <a:rPr lang="zh-CN" altLang="en-US" b="1" dirty="0">
                <a:latin typeface="黑体" panose="02010609060101010101" pitchFamily="49" charset="-122"/>
                <a:ea typeface="黑体" panose="02010609060101010101" pitchFamily="49" charset="-122"/>
              </a:rPr>
              <a:t>皮孔：在周皮的某些限定部位（多为原来气孔所在位置），其木栓形成层细胞比其他部分更为活跃，向外衍生出一种与木栓细胞不同，并具有发达细胞间隙的组织（补充组织）。它们突破周皮，在树皮表面形成各种形态的小突起，称为</a:t>
            </a:r>
            <a:r>
              <a:rPr lang="zh-CN" altLang="en-US" b="1" u="sng" dirty="0">
                <a:latin typeface="黑体" panose="02010609060101010101" pitchFamily="49" charset="-122"/>
                <a:ea typeface="黑体" panose="02010609060101010101" pitchFamily="49" charset="-122"/>
              </a:rPr>
              <a:t>皮孔</a:t>
            </a:r>
            <a:r>
              <a:rPr lang="zh-CN" altLang="en-US" b="1" dirty="0">
                <a:latin typeface="黑体" panose="02010609060101010101" pitchFamily="49" charset="-122"/>
                <a:ea typeface="黑体" panose="02010609060101010101" pitchFamily="49" charset="-122"/>
              </a:rPr>
              <a:t>。</a:t>
            </a:r>
          </a:p>
          <a:p>
            <a:pPr lvl="2" eaLnBrk="1" hangingPunct="1">
              <a:lnSpc>
                <a:spcPct val="150000"/>
              </a:lnSpc>
            </a:pPr>
            <a:r>
              <a:rPr lang="zh-CN" altLang="en-US" b="1" dirty="0">
                <a:latin typeface="黑体" panose="02010609060101010101" pitchFamily="49" charset="-122"/>
                <a:ea typeface="黑体" panose="02010609060101010101" pitchFamily="49" charset="-122"/>
              </a:rPr>
              <a:t>皮孔是周皮上的通气结构，位于周皮内的生活细胞，能通过它们与外界进行气体交换。 </a:t>
            </a:r>
          </a:p>
        </p:txBody>
      </p:sp>
      <p:sp>
        <p:nvSpPr>
          <p:cNvPr id="443394"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pic>
        <p:nvPicPr>
          <p:cNvPr id="4" name="Picture 6" descr="D:\Documents and Settings\LiuZC\桌面\教学素材\细胞与组织\周皮-桦木科 红桦2.JPG"/>
          <p:cNvPicPr>
            <a:picLocks noChangeAspect="1"/>
          </p:cNvPicPr>
          <p:nvPr/>
        </p:nvPicPr>
        <p:blipFill>
          <a:blip r:embed="rId3"/>
          <a:stretch>
            <a:fillRect/>
          </a:stretch>
        </p:blipFill>
        <p:spPr>
          <a:xfrm>
            <a:off x="2895600" y="1752600"/>
            <a:ext cx="3486150" cy="46482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4417" name="Rectangle 4"/>
          <p:cNvSpPr>
            <a:spLocks noGrp="1"/>
          </p:cNvSpPr>
          <p:nvPr>
            <p:ph idx="1"/>
          </p:nvPr>
        </p:nvSpPr>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保护组织</a:t>
            </a:r>
            <a:r>
              <a:rPr lang="en-US" altLang="zh-CN" b="1" dirty="0">
                <a:latin typeface="黑体" panose="02010609060101010101" pitchFamily="49" charset="-122"/>
                <a:ea typeface="黑体" panose="02010609060101010101" pitchFamily="49" charset="-122"/>
              </a:rPr>
              <a:t>——⑵</a:t>
            </a:r>
            <a:r>
              <a:rPr lang="zh-CN" altLang="en-US" b="1" dirty="0">
                <a:latin typeface="黑体" panose="02010609060101010101" pitchFamily="49" charset="-122"/>
                <a:ea typeface="黑体" panose="02010609060101010101" pitchFamily="49" charset="-122"/>
              </a:rPr>
              <a:t>次生保护组织（周皮）</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皮孔</a:t>
            </a:r>
          </a:p>
          <a:p>
            <a:pPr eaLnBrk="1" hangingPunct="1"/>
            <a:endParaRPr lang="zh-CN" altLang="en-US" dirty="0">
              <a:latin typeface="华文新魏" panose="02010800040101010101" pitchFamily="2" charset="-122"/>
            </a:endParaRPr>
          </a:p>
          <a:p>
            <a:pPr eaLnBrk="1" hangingPunct="1"/>
            <a:endParaRPr lang="en-US" altLang="zh-CN" dirty="0">
              <a:latin typeface="华文新魏" panose="02010800040101010101" pitchFamily="2" charset="-122"/>
            </a:endParaRPr>
          </a:p>
        </p:txBody>
      </p:sp>
      <p:sp>
        <p:nvSpPr>
          <p:cNvPr id="444418" name="Text Box 5"/>
          <p:cNvSpPr txBox="1"/>
          <p:nvPr/>
        </p:nvSpPr>
        <p:spPr>
          <a:xfrm>
            <a:off x="1524000" y="4806950"/>
            <a:ext cx="2362200" cy="457200"/>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pic>
        <p:nvPicPr>
          <p:cNvPr id="444419" name="Picture 9" descr="D:\lzc\植物学教学材料\植物学教学资料收集\挂图\茎\皮孔.JPG"/>
          <p:cNvPicPr>
            <a:picLocks noChangeAspect="1"/>
          </p:cNvPicPr>
          <p:nvPr/>
        </p:nvPicPr>
        <p:blipFill>
          <a:blip r:embed="rId2"/>
          <a:stretch>
            <a:fillRect/>
          </a:stretch>
        </p:blipFill>
        <p:spPr>
          <a:xfrm>
            <a:off x="2971800" y="1987550"/>
            <a:ext cx="6172200" cy="3962400"/>
          </a:xfrm>
          <a:prstGeom prst="rect">
            <a:avLst/>
          </a:prstGeom>
          <a:noFill/>
          <a:ln w="9525">
            <a:noFill/>
          </a:ln>
        </p:spPr>
      </p:pic>
      <p:pic>
        <p:nvPicPr>
          <p:cNvPr id="444420" name="Picture 11" descr="D:\刘宗才\野外实习图片\老界岭植物\桦木科 红桦树皮.JPG"/>
          <p:cNvPicPr>
            <a:picLocks noChangeAspect="1"/>
          </p:cNvPicPr>
          <p:nvPr/>
        </p:nvPicPr>
        <p:blipFill>
          <a:blip r:embed="rId3"/>
          <a:stretch>
            <a:fillRect/>
          </a:stretch>
        </p:blipFill>
        <p:spPr>
          <a:xfrm>
            <a:off x="0" y="1987550"/>
            <a:ext cx="2971800" cy="3962400"/>
          </a:xfrm>
          <a:prstGeom prst="rect">
            <a:avLst/>
          </a:prstGeom>
          <a:noFill/>
          <a:ln w="9525">
            <a:noFill/>
          </a:ln>
        </p:spPr>
      </p:pic>
      <p:sp>
        <p:nvSpPr>
          <p:cNvPr id="444421" name="Rectangle 13"/>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
        <p:nvSpPr>
          <p:cNvPr id="444422" name="Text Box 16"/>
          <p:cNvSpPr txBox="1"/>
          <p:nvPr/>
        </p:nvSpPr>
        <p:spPr>
          <a:xfrm>
            <a:off x="228600" y="5492750"/>
            <a:ext cx="2438400" cy="457200"/>
          </a:xfrm>
          <a:prstGeom prst="rect">
            <a:avLst/>
          </a:prstGeom>
          <a:noFill/>
          <a:ln w="9525">
            <a:noFill/>
          </a:ln>
        </p:spPr>
        <p:txBody>
          <a:bodyPr anchor="t" anchorCtr="0">
            <a:spAutoFit/>
          </a:bodyPr>
          <a:lstStyle/>
          <a:p>
            <a:pPr>
              <a:spcBef>
                <a:spcPct val="50000"/>
              </a:spcBef>
            </a:pPr>
            <a:r>
              <a:rPr lang="zh-CN" altLang="en-US" dirty="0">
                <a:solidFill>
                  <a:srgbClr val="FFFF00"/>
                </a:solidFill>
                <a:latin typeface="Tahoma" panose="020B0604030504040204" pitchFamily="34" charset="0"/>
                <a:ea typeface="华文新魏" panose="02010800040101010101" pitchFamily="2" charset="-122"/>
              </a:rPr>
              <a:t>红桦周皮及皮孔</a:t>
            </a:r>
          </a:p>
        </p:txBody>
      </p:sp>
      <p:sp>
        <p:nvSpPr>
          <p:cNvPr id="444423" name="Text Box 17"/>
          <p:cNvSpPr txBox="1"/>
          <p:nvPr/>
        </p:nvSpPr>
        <p:spPr>
          <a:xfrm>
            <a:off x="6019800" y="2063750"/>
            <a:ext cx="2438400" cy="457200"/>
          </a:xfrm>
          <a:prstGeom prst="rect">
            <a:avLst/>
          </a:prstGeom>
          <a:noFill/>
          <a:ln w="9525">
            <a:noFill/>
          </a:ln>
        </p:spPr>
        <p:txBody>
          <a:bodyPr anchor="t" anchorCtr="0">
            <a:spAutoFit/>
          </a:bodyPr>
          <a:lstStyle/>
          <a:p>
            <a:pPr>
              <a:spcBef>
                <a:spcPct val="50000"/>
              </a:spcBef>
            </a:pPr>
            <a:r>
              <a:rPr lang="zh-CN" altLang="en-US" dirty="0">
                <a:solidFill>
                  <a:srgbClr val="0000FF"/>
                </a:solidFill>
                <a:latin typeface="Tahoma" panose="020B0604030504040204" pitchFamily="34" charset="0"/>
                <a:ea typeface="华文新魏" panose="02010800040101010101" pitchFamily="2" charset="-122"/>
              </a:rPr>
              <a:t>杨树皮孔横切面</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5441" name="Rectangle 3"/>
          <p:cNvSpPr>
            <a:spLocks noGrp="1"/>
          </p:cNvSpPr>
          <p:nvPr>
            <p:ph idx="1"/>
          </p:nvPr>
        </p:nvSpPr>
        <p:spPr>
          <a:xfrm>
            <a:off x="179388" y="1219200"/>
            <a:ext cx="8532812"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薄壁组织</a:t>
            </a:r>
            <a:r>
              <a:rPr lang="en-US" altLang="zh-CN" sz="21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主要特征</a:t>
            </a:r>
            <a:r>
              <a:rPr lang="en-US" altLang="zh-CN" sz="21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位置和来源</a:t>
            </a:r>
          </a:p>
          <a:p>
            <a:pPr lvl="1" eaLnBrk="1" hangingPunct="1">
              <a:lnSpc>
                <a:spcPct val="160000"/>
              </a:lnSpc>
            </a:pPr>
            <a:r>
              <a:rPr lang="zh-CN" altLang="en-US" b="1" dirty="0">
                <a:solidFill>
                  <a:srgbClr val="FF0000"/>
                </a:solidFill>
                <a:latin typeface="黑体" panose="02010609060101010101" pitchFamily="49" charset="-122"/>
                <a:ea typeface="黑体" panose="02010609060101010101" pitchFamily="49" charset="-122"/>
              </a:rPr>
              <a:t>位置和来源：</a:t>
            </a:r>
            <a:r>
              <a:rPr lang="zh-CN" altLang="en-US" b="1" dirty="0">
                <a:latin typeface="黑体" panose="02010609060101010101" pitchFamily="49" charset="-122"/>
                <a:ea typeface="黑体" panose="02010609060101010101" pitchFamily="49" charset="-122"/>
              </a:rPr>
              <a:t>存在于根和茎的皮层、髓部，叶的叶肉，花瓣，果实，块根、块茎等处。</a:t>
            </a:r>
            <a:r>
              <a:rPr lang="zh-CN" altLang="en-US" b="1" dirty="0">
                <a:solidFill>
                  <a:srgbClr val="FF0000"/>
                </a:solidFill>
                <a:latin typeface="黑体" panose="02010609060101010101" pitchFamily="49" charset="-122"/>
                <a:ea typeface="黑体" panose="02010609060101010101" pitchFamily="49" charset="-122"/>
              </a:rPr>
              <a:t>是初生分生组织（基本分生组织）分裂分化而来的</a:t>
            </a:r>
            <a:r>
              <a:rPr lang="zh-CN" altLang="en-US" b="1" dirty="0">
                <a:latin typeface="黑体" panose="02010609060101010101" pitchFamily="49" charset="-122"/>
                <a:ea typeface="黑体" panose="02010609060101010101" pitchFamily="49" charset="-122"/>
              </a:rPr>
              <a:t>。 </a:t>
            </a:r>
          </a:p>
          <a:p>
            <a:pPr lvl="2" eaLnBrk="1" hangingPunct="1">
              <a:lnSpc>
                <a:spcPct val="160000"/>
              </a:lnSpc>
            </a:pPr>
            <a:r>
              <a:rPr lang="zh-CN" altLang="en-US" b="1" dirty="0">
                <a:solidFill>
                  <a:srgbClr val="0000FF"/>
                </a:solidFill>
                <a:latin typeface="黑体" panose="02010609060101010101" pitchFamily="49" charset="-122"/>
                <a:ea typeface="黑体" panose="02010609060101010101" pitchFamily="49" charset="-122"/>
              </a:rPr>
              <a:t>薄壁组织</a:t>
            </a:r>
            <a:r>
              <a:rPr lang="zh-CN" altLang="en-US" b="1" dirty="0">
                <a:solidFill>
                  <a:schemeClr val="tx1"/>
                </a:solidFill>
                <a:latin typeface="黑体" panose="02010609060101010101" pitchFamily="49" charset="-122"/>
                <a:ea typeface="黑体" panose="02010609060101010101" pitchFamily="49" charset="-122"/>
              </a:rPr>
              <a:t>因为细胞壁很薄而得名。又因为薄壁组织是植物体中最基本的组织类型，是构成植物体的基础，故又称</a:t>
            </a:r>
            <a:r>
              <a:rPr lang="zh-CN" altLang="en-US" b="1" dirty="0">
                <a:solidFill>
                  <a:srgbClr val="0000FF"/>
                </a:solidFill>
                <a:latin typeface="黑体" panose="02010609060101010101" pitchFamily="49" charset="-122"/>
                <a:ea typeface="黑体" panose="02010609060101010101" pitchFamily="49" charset="-122"/>
              </a:rPr>
              <a:t>基本组织</a:t>
            </a:r>
            <a:r>
              <a:rPr lang="zh-CN" altLang="en-US" b="1" dirty="0">
                <a:solidFill>
                  <a:schemeClr val="tx1"/>
                </a:solidFill>
                <a:latin typeface="黑体" panose="02010609060101010101" pitchFamily="49" charset="-122"/>
                <a:ea typeface="黑体" panose="02010609060101010101" pitchFamily="49" charset="-122"/>
              </a:rPr>
              <a:t>；还因为其主要行使的是各种营养功能，故又称</a:t>
            </a:r>
            <a:r>
              <a:rPr lang="zh-CN" altLang="en-US" b="1" dirty="0">
                <a:solidFill>
                  <a:srgbClr val="0000FF"/>
                </a:solidFill>
                <a:latin typeface="黑体" panose="02010609060101010101" pitchFamily="49" charset="-122"/>
                <a:ea typeface="黑体" panose="02010609060101010101" pitchFamily="49" charset="-122"/>
              </a:rPr>
              <a:t>营养组织</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 </a:t>
            </a:r>
          </a:p>
        </p:txBody>
      </p:sp>
      <p:sp>
        <p:nvSpPr>
          <p:cNvPr id="445442"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6465" name="Rectangle 3"/>
          <p:cNvSpPr>
            <a:spLocks noGrp="1"/>
          </p:cNvSpPr>
          <p:nvPr>
            <p:ph idx="1"/>
          </p:nvPr>
        </p:nvSpPr>
        <p:spPr>
          <a:xfrm>
            <a:off x="107950" y="1268413"/>
            <a:ext cx="8785225"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薄壁组织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主要特征</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组织特征</a:t>
            </a:r>
          </a:p>
          <a:p>
            <a:pPr lvl="1" eaLnBrk="1" hangingPunct="1">
              <a:lnSpc>
                <a:spcPct val="160000"/>
              </a:lnSpc>
            </a:pPr>
            <a:r>
              <a:rPr lang="zh-CN" altLang="en-US" b="1" dirty="0">
                <a:solidFill>
                  <a:srgbClr val="0000FF"/>
                </a:solidFill>
                <a:latin typeface="黑体" panose="02010609060101010101" pitchFamily="49" charset="-122"/>
                <a:ea typeface="黑体" panose="02010609060101010101" pitchFamily="49" charset="-122"/>
              </a:rPr>
              <a:t>细胞类型：</a:t>
            </a:r>
            <a:r>
              <a:rPr lang="zh-CN" altLang="en-US" b="1" dirty="0">
                <a:latin typeface="黑体" panose="02010609060101010101" pitchFamily="49" charset="-122"/>
                <a:ea typeface="黑体" panose="02010609060101010101" pitchFamily="49" charset="-122"/>
              </a:rPr>
              <a:t>薄壁细胞。</a:t>
            </a:r>
          </a:p>
          <a:p>
            <a:pPr lvl="1" eaLnBrk="1" hangingPunct="1">
              <a:lnSpc>
                <a:spcPct val="160000"/>
              </a:lnSpc>
            </a:pPr>
            <a:r>
              <a:rPr lang="zh-CN" altLang="en-US" b="1" dirty="0">
                <a:solidFill>
                  <a:srgbClr val="0000FF"/>
                </a:solidFill>
                <a:latin typeface="黑体" panose="02010609060101010101" pitchFamily="49" charset="-122"/>
                <a:ea typeface="黑体" panose="02010609060101010101" pitchFamily="49" charset="-122"/>
              </a:rPr>
              <a:t>细胞特征：</a:t>
            </a:r>
            <a:r>
              <a:rPr lang="zh-CN" altLang="en-US" b="1" dirty="0">
                <a:latin typeface="黑体" panose="02010609060101010101" pitchFamily="49" charset="-122"/>
                <a:ea typeface="黑体" panose="02010609060101010101" pitchFamily="49" charset="-122"/>
              </a:rPr>
              <a:t>薄壁组织的细胞形状多为等径的多面体；细胞壁薄、质稀、核小、具中央大液泡，细胞内含物丰富；薄壁组织细胞分化程度低，是与分生组织最接近的成熟组织，具有很强的分裂潜能。</a:t>
            </a:r>
          </a:p>
          <a:p>
            <a:pPr lvl="1" eaLnBrk="1" hangingPunct="1">
              <a:lnSpc>
                <a:spcPct val="160000"/>
              </a:lnSpc>
            </a:pPr>
            <a:r>
              <a:rPr lang="zh-CN" altLang="en-US" b="1" dirty="0">
                <a:solidFill>
                  <a:srgbClr val="0000FF"/>
                </a:solidFill>
                <a:latin typeface="黑体" panose="02010609060101010101" pitchFamily="49" charset="-122"/>
                <a:ea typeface="黑体" panose="02010609060101010101" pitchFamily="49" charset="-122"/>
              </a:rPr>
              <a:t>排列方式：</a:t>
            </a:r>
            <a:r>
              <a:rPr lang="zh-CN" altLang="en-US" b="1" dirty="0">
                <a:latin typeface="黑体" panose="02010609060101010101" pitchFamily="49" charset="-122"/>
                <a:ea typeface="黑体" panose="02010609060101010101" pitchFamily="49" charset="-122"/>
              </a:rPr>
              <a:t>细胞排列疏松，胞间隙明显。</a:t>
            </a:r>
          </a:p>
        </p:txBody>
      </p:sp>
      <p:sp>
        <p:nvSpPr>
          <p:cNvPr id="44646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chemeClr val="tx1"/>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7489" name="Rectangle 3"/>
          <p:cNvSpPr>
            <a:spLocks noGrp="1"/>
          </p:cNvSpPr>
          <p:nvPr>
            <p:ph idx="1"/>
          </p:nvPr>
        </p:nvSpPr>
        <p:spPr>
          <a:xfrm>
            <a:off x="17463" y="1219200"/>
            <a:ext cx="8891587"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薄壁组织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主要特征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功能及发育方向</a:t>
            </a:r>
          </a:p>
          <a:p>
            <a:pPr lvl="1" eaLnBrk="1" hangingPunct="1">
              <a:lnSpc>
                <a:spcPct val="130000"/>
              </a:lnSpc>
            </a:pPr>
            <a:r>
              <a:rPr lang="zh-CN" altLang="en-US" b="1" dirty="0">
                <a:solidFill>
                  <a:srgbClr val="FF0000"/>
                </a:solidFill>
                <a:latin typeface="黑体" panose="02010609060101010101" pitchFamily="49" charset="-122"/>
                <a:ea typeface="黑体" panose="02010609060101010101" pitchFamily="49" charset="-122"/>
              </a:rPr>
              <a:t>功能：</a:t>
            </a:r>
            <a:r>
              <a:rPr lang="zh-CN" altLang="en-US" b="1" dirty="0">
                <a:latin typeface="黑体" panose="02010609060101010101" pitchFamily="49" charset="-122"/>
                <a:ea typeface="黑体" panose="02010609060101010101" pitchFamily="49" charset="-122"/>
              </a:rPr>
              <a:t>光合、呼吸、贮藏、贮水、通气、传导等功能及各种代谢物的合成和转化功能。</a:t>
            </a:r>
          </a:p>
          <a:p>
            <a:pPr lvl="1" eaLnBrk="1" hangingPunct="1">
              <a:lnSpc>
                <a:spcPct val="130000"/>
              </a:lnSpc>
            </a:pPr>
            <a:r>
              <a:rPr lang="zh-CN" altLang="en-US" b="1" dirty="0">
                <a:solidFill>
                  <a:srgbClr val="FF0000"/>
                </a:solidFill>
                <a:latin typeface="黑体" panose="02010609060101010101" pitchFamily="49" charset="-122"/>
                <a:ea typeface="黑体" panose="02010609060101010101" pitchFamily="49" charset="-122"/>
              </a:rPr>
              <a:t>发育方向：</a:t>
            </a:r>
            <a:r>
              <a:rPr lang="zh-CN" altLang="en-US" b="1" dirty="0">
                <a:solidFill>
                  <a:srgbClr val="0000FF"/>
                </a:solidFill>
                <a:latin typeface="黑体" panose="02010609060101010101" pitchFamily="49" charset="-122"/>
                <a:ea typeface="黑体" panose="02010609060101010101" pitchFamily="49" charset="-122"/>
              </a:rPr>
              <a:t>薄壁组织是分化潜力最大的成熟组织</a:t>
            </a:r>
            <a:r>
              <a:rPr lang="zh-CN" altLang="en-US" b="1" dirty="0">
                <a:latin typeface="黑体" panose="02010609060101010101" pitchFamily="49" charset="-122"/>
                <a:ea typeface="黑体" panose="02010609060101010101" pitchFamily="49" charset="-122"/>
              </a:rPr>
              <a:t>。几乎所有的薄壁组织都有脱分化的潜能，两种情况：</a:t>
            </a:r>
          </a:p>
          <a:p>
            <a:pPr lvl="2" eaLnBrk="1" hangingPunct="1">
              <a:lnSpc>
                <a:spcPct val="120000"/>
              </a:lnSpc>
            </a:pPr>
            <a:r>
              <a:rPr lang="zh-CN" altLang="en-US" sz="2400" b="1" dirty="0">
                <a:solidFill>
                  <a:schemeClr val="tx1"/>
                </a:solidFill>
                <a:latin typeface="黑体" panose="02010609060101010101" pitchFamily="49" charset="-122"/>
                <a:ea typeface="黑体" panose="02010609060101010101" pitchFamily="49" charset="-122"/>
              </a:rPr>
              <a:t>第一、</a:t>
            </a:r>
            <a:r>
              <a:rPr lang="zh-CN" altLang="en-US" sz="2400" b="1" dirty="0">
                <a:solidFill>
                  <a:srgbClr val="FF0000"/>
                </a:solidFill>
                <a:latin typeface="黑体" panose="02010609060101010101" pitchFamily="49" charset="-122"/>
                <a:ea typeface="黑体" panose="02010609060101010101" pitchFamily="49" charset="-122"/>
              </a:rPr>
              <a:t>不经分裂直接特化为其它组织</a:t>
            </a:r>
            <a:r>
              <a:rPr lang="zh-CN" altLang="en-US" sz="2400" b="1" dirty="0">
                <a:solidFill>
                  <a:schemeClr val="tx1"/>
                </a:solidFill>
                <a:latin typeface="黑体" panose="02010609060101010101" pitchFamily="49" charset="-122"/>
                <a:ea typeface="黑体" panose="02010609060101010101" pitchFamily="49" charset="-122"/>
              </a:rPr>
              <a:t>，如其中产生的厚壁组织及厚角组织；还可转化为其他细胞，分泌细胞等。</a:t>
            </a:r>
          </a:p>
          <a:p>
            <a:pPr lvl="2" eaLnBrk="1" hangingPunct="1">
              <a:lnSpc>
                <a:spcPct val="120000"/>
              </a:lnSpc>
            </a:pPr>
            <a:r>
              <a:rPr lang="zh-CN" altLang="en-US" sz="2400" b="1" dirty="0">
                <a:solidFill>
                  <a:schemeClr val="tx1"/>
                </a:solidFill>
                <a:latin typeface="黑体" panose="02010609060101010101" pitchFamily="49" charset="-122"/>
                <a:ea typeface="黑体" panose="02010609060101010101" pitchFamily="49" charset="-122"/>
              </a:rPr>
              <a:t>第二、</a:t>
            </a:r>
            <a:r>
              <a:rPr lang="zh-CN" altLang="en-US" sz="2400" b="1" dirty="0">
                <a:solidFill>
                  <a:srgbClr val="FF0000"/>
                </a:solidFill>
                <a:latin typeface="黑体" panose="02010609060101010101" pitchFamily="49" charset="-122"/>
                <a:ea typeface="黑体" panose="02010609060101010101" pitchFamily="49" charset="-122"/>
              </a:rPr>
              <a:t>恢复分裂能力</a:t>
            </a:r>
            <a:r>
              <a:rPr lang="zh-CN" altLang="en-US" sz="2400" b="1" dirty="0">
                <a:solidFill>
                  <a:schemeClr val="tx1"/>
                </a:solidFill>
                <a:latin typeface="黑体" panose="02010609060101010101" pitchFamily="49" charset="-122"/>
                <a:ea typeface="黑体" panose="02010609060101010101" pitchFamily="49" charset="-122"/>
              </a:rPr>
              <a:t>，经分裂、分化而成为其他成熟组织。</a:t>
            </a:r>
          </a:p>
        </p:txBody>
      </p:sp>
      <p:sp>
        <p:nvSpPr>
          <p:cNvPr id="447490"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48513" name="Picture 10" descr="D:\刘宗才\植物学素材\教学素材\细胞与组织\玉米茎横切(局部).jpg"/>
          <p:cNvPicPr>
            <a:picLocks noChangeAspect="1"/>
          </p:cNvPicPr>
          <p:nvPr/>
        </p:nvPicPr>
        <p:blipFill>
          <a:blip r:embed="rId2"/>
          <a:stretch>
            <a:fillRect/>
          </a:stretch>
        </p:blipFill>
        <p:spPr>
          <a:xfrm>
            <a:off x="2209800" y="1344613"/>
            <a:ext cx="6934200" cy="5089525"/>
          </a:xfrm>
          <a:prstGeom prst="rect">
            <a:avLst/>
          </a:prstGeom>
          <a:noFill/>
          <a:ln w="9525">
            <a:noFill/>
          </a:ln>
        </p:spPr>
      </p:pic>
      <p:sp>
        <p:nvSpPr>
          <p:cNvPr id="448514" name="Rectangle 4"/>
          <p:cNvSpPr>
            <a:spLocks noGrp="1"/>
          </p:cNvSpPr>
          <p:nvPr>
            <p:ph idx="1"/>
          </p:nvPr>
        </p:nvSpPr>
        <p:spPr>
          <a:xfrm>
            <a:off x="0" y="1328738"/>
            <a:ext cx="9144000"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薄壁组织</a:t>
            </a:r>
          </a:p>
        </p:txBody>
      </p:sp>
      <p:sp>
        <p:nvSpPr>
          <p:cNvPr id="448515" name="AutoShape 6"/>
          <p:cNvSpPr/>
          <p:nvPr/>
        </p:nvSpPr>
        <p:spPr>
          <a:xfrm>
            <a:off x="304800" y="4495800"/>
            <a:ext cx="1828800" cy="457200"/>
          </a:xfrm>
          <a:prstGeom prst="wedgeRectCallout">
            <a:avLst>
              <a:gd name="adj1" fmla="val 134116"/>
              <a:gd name="adj2" fmla="val 120486"/>
            </a:avLst>
          </a:prstGeom>
          <a:noFill/>
          <a:ln w="38100" cap="flat" cmpd="sng">
            <a:solidFill>
              <a:srgbClr val="FF0000"/>
            </a:solidFill>
            <a:prstDash val="solid"/>
            <a:miter/>
            <a:headEnd type="none" w="med" len="med"/>
            <a:tailEnd type="none" w="med" len="med"/>
          </a:ln>
        </p:spPr>
        <p:txBody>
          <a:bodyPr anchor="t" anchorCtr="0"/>
          <a:lstStyle/>
          <a:p>
            <a:pPr algn="ctr">
              <a:lnSpc>
                <a:spcPct val="80000"/>
              </a:lnSpc>
            </a:pPr>
            <a:r>
              <a:rPr lang="zh-CN" altLang="en-US" dirty="0">
                <a:solidFill>
                  <a:srgbClr val="FF0000"/>
                </a:solidFill>
                <a:latin typeface="黑体" panose="02010609060101010101" pitchFamily="49" charset="-122"/>
                <a:ea typeface="黑体" panose="02010609060101010101" pitchFamily="49" charset="-122"/>
              </a:rPr>
              <a:t>薄壁组织</a:t>
            </a:r>
          </a:p>
        </p:txBody>
      </p:sp>
      <p:sp>
        <p:nvSpPr>
          <p:cNvPr id="448516" name="AutoShape 7"/>
          <p:cNvSpPr/>
          <p:nvPr/>
        </p:nvSpPr>
        <p:spPr>
          <a:xfrm>
            <a:off x="381000" y="2362200"/>
            <a:ext cx="1524000" cy="609600"/>
          </a:xfrm>
          <a:prstGeom prst="wedgeRoundRectCallout">
            <a:avLst>
              <a:gd name="adj1" fmla="val 180208"/>
              <a:gd name="adj2" fmla="val 99741"/>
              <a:gd name="adj3" fmla="val 16667"/>
            </a:avLst>
          </a:prstGeom>
          <a:noFill/>
          <a:ln w="38100" cap="flat" cmpd="sng">
            <a:solidFill>
              <a:srgbClr val="FF0000"/>
            </a:solidFill>
            <a:prstDash val="solid"/>
            <a:miter/>
            <a:headEnd type="none" w="med" len="med"/>
            <a:tailEnd type="none" w="med" len="med"/>
          </a:ln>
        </p:spPr>
        <p:txBody>
          <a:bodyPr anchor="t" anchorCtr="0"/>
          <a:lstStyle/>
          <a:p>
            <a:pPr algn="ctr"/>
            <a:r>
              <a:rPr lang="zh-CN" altLang="en-US" dirty="0">
                <a:solidFill>
                  <a:srgbClr val="FF0000"/>
                </a:solidFill>
                <a:latin typeface="Times New Roman" panose="02020603050405020304" pitchFamily="18" charset="0"/>
                <a:ea typeface="华文新魏" panose="02010800040101010101" pitchFamily="2" charset="-122"/>
              </a:rPr>
              <a:t>维管束</a:t>
            </a:r>
          </a:p>
        </p:txBody>
      </p:sp>
      <p:sp>
        <p:nvSpPr>
          <p:cNvPr id="448517" name="Text Box 11"/>
          <p:cNvSpPr txBox="1"/>
          <p:nvPr/>
        </p:nvSpPr>
        <p:spPr>
          <a:xfrm>
            <a:off x="6629400" y="6019800"/>
            <a:ext cx="2514600" cy="457200"/>
          </a:xfrm>
          <a:prstGeom prst="rect">
            <a:avLst/>
          </a:prstGeom>
          <a:noFill/>
          <a:ln w="9525">
            <a:noFill/>
          </a:ln>
        </p:spPr>
        <p:txBody>
          <a:bodyPr anchor="t" anchorCtr="0">
            <a:spAutoFit/>
          </a:bodyPr>
          <a:lstStyle/>
          <a:p>
            <a:pPr algn="r">
              <a:spcBef>
                <a:spcPct val="50000"/>
              </a:spcBef>
            </a:pPr>
            <a:r>
              <a:rPr lang="zh-CN" altLang="en-US" dirty="0">
                <a:solidFill>
                  <a:srgbClr val="FFFF00"/>
                </a:solidFill>
                <a:latin typeface="Tahoma" panose="020B0604030504040204" pitchFamily="34" charset="0"/>
                <a:ea typeface="华文新魏" panose="02010800040101010101" pitchFamily="2" charset="-122"/>
              </a:rPr>
              <a:t>玉米茎横切片</a:t>
            </a:r>
          </a:p>
        </p:txBody>
      </p:sp>
      <p:sp>
        <p:nvSpPr>
          <p:cNvPr id="448518"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9537" name="Rectangle 3"/>
          <p:cNvSpPr>
            <a:spLocks noGrp="1"/>
          </p:cNvSpPr>
          <p:nvPr>
            <p:ph idx="1"/>
          </p:nvPr>
        </p:nvSpPr>
        <p:spPr>
          <a:xfrm>
            <a:off x="0" y="1295400"/>
            <a:ext cx="9144000"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薄壁组织</a:t>
            </a:r>
            <a:r>
              <a:rPr lang="en-US" altLang="zh-CN" sz="21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种类</a:t>
            </a:r>
            <a:endParaRPr lang="zh-CN" altLang="en-US" sz="2100" b="1" dirty="0">
              <a:latin typeface="黑体" panose="02010609060101010101" pitchFamily="49" charset="-122"/>
              <a:ea typeface="黑体" panose="02010609060101010101" pitchFamily="49" charset="-122"/>
            </a:endParaRPr>
          </a:p>
          <a:p>
            <a:pPr lvl="1" eaLnBrk="1" hangingPunct="1"/>
            <a:r>
              <a:rPr lang="zh-CN" altLang="en-US" b="1" dirty="0">
                <a:solidFill>
                  <a:srgbClr val="FF0000"/>
                </a:solidFill>
                <a:latin typeface="黑体" panose="02010609060101010101" pitchFamily="49" charset="-122"/>
                <a:ea typeface="黑体" panose="02010609060101010101" pitchFamily="49" charset="-122"/>
              </a:rPr>
              <a:t>同化组织</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植物体绿色部分的基本组织中</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叶肉组织是最典型的同化组织</a:t>
            </a:r>
            <a:r>
              <a:rPr lang="zh-CN" altLang="en-US" b="1" dirty="0">
                <a:latin typeface="黑体" panose="02010609060101010101" pitchFamily="49" charset="-122"/>
                <a:ea typeface="黑体" panose="02010609060101010101" pitchFamily="49" charset="-122"/>
              </a:rPr>
              <a:t>。特点是细胞内具有叶绿体。</a:t>
            </a:r>
          </a:p>
          <a:p>
            <a:pPr lvl="1" eaLnBrk="1" hangingPunct="1"/>
            <a:r>
              <a:rPr lang="zh-CN" altLang="en-US" b="1" dirty="0">
                <a:solidFill>
                  <a:srgbClr val="FF0000"/>
                </a:solidFill>
                <a:latin typeface="黑体" panose="02010609060101010101" pitchFamily="49" charset="-122"/>
                <a:ea typeface="黑体" panose="02010609060101010101" pitchFamily="49" charset="-122"/>
              </a:rPr>
              <a:t>贮藏组织</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贮藏</a:t>
            </a:r>
            <a:r>
              <a:rPr lang="zh-CN" altLang="en-US" b="1" dirty="0">
                <a:solidFill>
                  <a:srgbClr val="FF0000"/>
                </a:solidFill>
                <a:latin typeface="黑体" panose="02010609060101010101" pitchFamily="49" charset="-122"/>
                <a:ea typeface="黑体" panose="02010609060101010101" pitchFamily="49" charset="-122"/>
              </a:rPr>
              <a:t>大量营养物质</a:t>
            </a:r>
            <a:r>
              <a:rPr lang="zh-CN" altLang="en-US" b="1" dirty="0">
                <a:latin typeface="黑体" panose="02010609060101010101" pitchFamily="49" charset="-122"/>
                <a:ea typeface="黑体" panose="02010609060101010101" pitchFamily="49" charset="-122"/>
              </a:rPr>
              <a:t>的薄壁组织，为最典型的薄壁组织。存在于各类贮藏器官，如块根、块茎、球茎、鳞茎、果实和种子中，根、茎的皮层和髓。</a:t>
            </a:r>
          </a:p>
          <a:p>
            <a:pPr lvl="1" eaLnBrk="1" hangingPunct="1"/>
            <a:r>
              <a:rPr lang="zh-CN" altLang="en-US" b="1" dirty="0">
                <a:solidFill>
                  <a:srgbClr val="FF0000"/>
                </a:solidFill>
                <a:latin typeface="黑体" panose="02010609060101010101" pitchFamily="49" charset="-122"/>
                <a:ea typeface="黑体" panose="02010609060101010101" pitchFamily="49" charset="-122"/>
              </a:rPr>
              <a:t>通气组织</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具有</a:t>
            </a:r>
            <a:r>
              <a:rPr lang="zh-CN" altLang="en-US" b="1" dirty="0">
                <a:solidFill>
                  <a:srgbClr val="FF0000"/>
                </a:solidFill>
                <a:latin typeface="黑体" panose="02010609060101010101" pitchFamily="49" charset="-122"/>
                <a:ea typeface="黑体" panose="02010609060101010101" pitchFamily="49" charset="-122"/>
              </a:rPr>
              <a:t>大量胞间隙</a:t>
            </a:r>
            <a:r>
              <a:rPr lang="zh-CN" altLang="en-US" b="1" dirty="0">
                <a:latin typeface="黑体" panose="02010609060101010101" pitchFamily="49" charset="-122"/>
                <a:ea typeface="黑体" panose="02010609060101010101" pitchFamily="49" charset="-122"/>
              </a:rPr>
              <a:t>的薄壁组织。存在于水生和湿生植物，如睡莲等的根、茎、叶中薄壁组织有大的间隙，在体内形成一个相互贯通的</a:t>
            </a:r>
            <a:r>
              <a:rPr lang="zh-CN" altLang="en-US" b="1" dirty="0">
                <a:solidFill>
                  <a:srgbClr val="FF0000"/>
                </a:solidFill>
                <a:latin typeface="黑体" panose="02010609060101010101" pitchFamily="49" charset="-122"/>
                <a:ea typeface="黑体" panose="02010609060101010101" pitchFamily="49" charset="-122"/>
              </a:rPr>
              <a:t>通气系统</a:t>
            </a:r>
            <a:r>
              <a:rPr lang="zh-CN" altLang="en-US" b="1" dirty="0">
                <a:latin typeface="黑体" panose="02010609060101010101" pitchFamily="49" charset="-122"/>
                <a:ea typeface="黑体" panose="02010609060101010101" pitchFamily="49" charset="-122"/>
              </a:rPr>
              <a:t>，使叶光合作用而产生的氧气能通过它进入根中。通气组织还与在水中的浮力和支持作用有关。</a:t>
            </a:r>
          </a:p>
          <a:p>
            <a:pPr lvl="1" eaLnBrk="1" hangingPunct="1"/>
            <a:r>
              <a:rPr lang="zh-CN" altLang="en-US" b="1" dirty="0">
                <a:solidFill>
                  <a:srgbClr val="FF0000"/>
                </a:solidFill>
                <a:latin typeface="黑体" panose="02010609060101010101" pitchFamily="49" charset="-122"/>
                <a:ea typeface="黑体" panose="02010609060101010101" pitchFamily="49" charset="-122"/>
              </a:rPr>
              <a:t>贮水组织</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由贮藏大量水分的细胞构成的组织，多见于肉质植物。这些细胞较大，液泡内他大量黏性汁液（具结合水）。</a:t>
            </a:r>
          </a:p>
        </p:txBody>
      </p:sp>
      <p:sp>
        <p:nvSpPr>
          <p:cNvPr id="449538" name="Rectangle 5"/>
          <p:cNvSpPr>
            <a:spLocks noGrp="1"/>
          </p:cNvSpPr>
          <p:nvPr>
            <p:ph type="title"/>
          </p:nvPr>
        </p:nvSpPr>
        <p:spPr>
          <a:xfrm>
            <a:off x="0" y="23813"/>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7">
            <a:extLst>
              <a:ext uri="{FF2B5EF4-FFF2-40B4-BE49-F238E27FC236}">
                <a16:creationId xmlns:a16="http://schemas.microsoft.com/office/drawing/2014/main" id="{3B028E60-6CF8-BFA9-9B94-72B87B4D5D33}"/>
              </a:ext>
            </a:extLst>
          </p:cNvPr>
          <p:cNvGrpSpPr/>
          <p:nvPr/>
        </p:nvGrpSpPr>
        <p:grpSpPr>
          <a:xfrm>
            <a:off x="1503998" y="-27384"/>
            <a:ext cx="6135625" cy="3532632"/>
            <a:chOff x="2853689" y="1556766"/>
            <a:chExt cx="6135625" cy="3532632"/>
          </a:xfrm>
        </p:grpSpPr>
        <p:pic>
          <p:nvPicPr>
            <p:cNvPr id="12" name="object 8">
              <a:extLst>
                <a:ext uri="{FF2B5EF4-FFF2-40B4-BE49-F238E27FC236}">
                  <a16:creationId xmlns:a16="http://schemas.microsoft.com/office/drawing/2014/main" id="{F5103C19-0CE3-FF57-E34C-AFEA77DDF8DF}"/>
                </a:ext>
              </a:extLst>
            </p:cNvPr>
            <p:cNvPicPr/>
            <p:nvPr/>
          </p:nvPicPr>
          <p:blipFill>
            <a:blip r:embed="rId2" cstate="print"/>
            <a:stretch>
              <a:fillRect/>
            </a:stretch>
          </p:blipFill>
          <p:spPr>
            <a:xfrm>
              <a:off x="6481572" y="2127504"/>
              <a:ext cx="2507742" cy="2021586"/>
            </a:xfrm>
            <a:prstGeom prst="rect">
              <a:avLst/>
            </a:prstGeom>
          </p:spPr>
        </p:pic>
        <p:pic>
          <p:nvPicPr>
            <p:cNvPr id="13" name="object 9">
              <a:extLst>
                <a:ext uri="{FF2B5EF4-FFF2-40B4-BE49-F238E27FC236}">
                  <a16:creationId xmlns:a16="http://schemas.microsoft.com/office/drawing/2014/main" id="{790563F1-EFFF-1525-0169-EF74479B5E6F}"/>
                </a:ext>
              </a:extLst>
            </p:cNvPr>
            <p:cNvPicPr/>
            <p:nvPr/>
          </p:nvPicPr>
          <p:blipFill>
            <a:blip r:embed="rId3" cstate="print"/>
            <a:stretch>
              <a:fillRect/>
            </a:stretch>
          </p:blipFill>
          <p:spPr>
            <a:xfrm>
              <a:off x="2853689" y="1556766"/>
              <a:ext cx="3858767" cy="3532632"/>
            </a:xfrm>
            <a:prstGeom prst="rect">
              <a:avLst/>
            </a:prstGeom>
          </p:spPr>
        </p:pic>
      </p:grpSp>
      <p:sp>
        <p:nvSpPr>
          <p:cNvPr id="6" name="object 10">
            <a:extLst>
              <a:ext uri="{FF2B5EF4-FFF2-40B4-BE49-F238E27FC236}">
                <a16:creationId xmlns:a16="http://schemas.microsoft.com/office/drawing/2014/main" id="{2A36DC78-BD7A-A0AA-E669-809122E685D6}"/>
              </a:ext>
            </a:extLst>
          </p:cNvPr>
          <p:cNvSpPr txBox="1"/>
          <p:nvPr/>
        </p:nvSpPr>
        <p:spPr>
          <a:xfrm>
            <a:off x="3188780" y="240077"/>
            <a:ext cx="1245235" cy="369570"/>
          </a:xfrm>
          <a:prstGeom prst="rect">
            <a:avLst/>
          </a:prstGeom>
          <a:solidFill>
            <a:srgbClr val="009900"/>
          </a:solidFill>
        </p:spPr>
        <p:txBody>
          <a:bodyPr vert="horz" wrap="square" lIns="0" tIns="41910" rIns="0" bIns="0" rtlCol="0">
            <a:spAutoFit/>
          </a:bodyPr>
          <a:lstStyle>
            <a:defPPr>
              <a:defRPr kern="0"/>
            </a:defPPr>
          </a:lstStyle>
          <a:p>
            <a:pPr marL="90805">
              <a:lnSpc>
                <a:spcPct val="100000"/>
              </a:lnSpc>
              <a:spcBef>
                <a:spcPts val="330"/>
              </a:spcBef>
            </a:pPr>
            <a:r>
              <a:rPr sz="1800" spc="-15" dirty="0">
                <a:solidFill>
                  <a:srgbClr val="FFFF66"/>
                </a:solidFill>
                <a:latin typeface="SimSun"/>
                <a:cs typeface="SimSun"/>
              </a:rPr>
              <a:t>同化组织</a:t>
            </a:r>
            <a:endParaRPr sz="1800">
              <a:latin typeface="SimSun"/>
              <a:cs typeface="SimSun"/>
            </a:endParaRPr>
          </a:p>
        </p:txBody>
      </p:sp>
      <p:sp>
        <p:nvSpPr>
          <p:cNvPr id="7" name="object 11">
            <a:extLst>
              <a:ext uri="{FF2B5EF4-FFF2-40B4-BE49-F238E27FC236}">
                <a16:creationId xmlns:a16="http://schemas.microsoft.com/office/drawing/2014/main" id="{21706F09-A607-CEDB-42B2-9F643CF22491}"/>
              </a:ext>
            </a:extLst>
          </p:cNvPr>
          <p:cNvSpPr txBox="1"/>
          <p:nvPr/>
        </p:nvSpPr>
        <p:spPr>
          <a:xfrm>
            <a:off x="3567494" y="1352598"/>
            <a:ext cx="1245235" cy="369570"/>
          </a:xfrm>
          <a:prstGeom prst="rect">
            <a:avLst/>
          </a:prstGeom>
          <a:solidFill>
            <a:srgbClr val="009900"/>
          </a:solidFill>
        </p:spPr>
        <p:txBody>
          <a:bodyPr vert="horz" wrap="square" lIns="0" tIns="42545" rIns="0" bIns="0" rtlCol="0">
            <a:spAutoFit/>
          </a:bodyPr>
          <a:lstStyle>
            <a:defPPr>
              <a:defRPr kern="0"/>
            </a:defPPr>
          </a:lstStyle>
          <a:p>
            <a:pPr marL="90805">
              <a:lnSpc>
                <a:spcPct val="100000"/>
              </a:lnSpc>
              <a:spcBef>
                <a:spcPts val="335"/>
              </a:spcBef>
            </a:pPr>
            <a:r>
              <a:rPr sz="1800" spc="-15" dirty="0">
                <a:solidFill>
                  <a:srgbClr val="FFFF66"/>
                </a:solidFill>
                <a:latin typeface="SimSun"/>
                <a:cs typeface="SimSun"/>
              </a:rPr>
              <a:t>储水组织</a:t>
            </a:r>
            <a:endParaRPr sz="1800">
              <a:latin typeface="SimSun"/>
              <a:cs typeface="SimSun"/>
            </a:endParaRPr>
          </a:p>
        </p:txBody>
      </p:sp>
      <p:grpSp>
        <p:nvGrpSpPr>
          <p:cNvPr id="8" name="object 13">
            <a:extLst>
              <a:ext uri="{FF2B5EF4-FFF2-40B4-BE49-F238E27FC236}">
                <a16:creationId xmlns:a16="http://schemas.microsoft.com/office/drawing/2014/main" id="{1AFDE9DC-42A8-9B58-47D6-1BDC2762301C}"/>
              </a:ext>
            </a:extLst>
          </p:cNvPr>
          <p:cNvGrpSpPr/>
          <p:nvPr/>
        </p:nvGrpSpPr>
        <p:grpSpPr>
          <a:xfrm>
            <a:off x="1969580" y="1628823"/>
            <a:ext cx="1925447" cy="2045334"/>
            <a:chOff x="3319271" y="3212973"/>
            <a:chExt cx="1925447" cy="2045334"/>
          </a:xfrm>
        </p:grpSpPr>
        <p:sp>
          <p:nvSpPr>
            <p:cNvPr id="10" name="object 14">
              <a:extLst>
                <a:ext uri="{FF2B5EF4-FFF2-40B4-BE49-F238E27FC236}">
                  <a16:creationId xmlns:a16="http://schemas.microsoft.com/office/drawing/2014/main" id="{CE136DA8-F7AA-5256-1ED6-0985B971A6F4}"/>
                </a:ext>
              </a:extLst>
            </p:cNvPr>
            <p:cNvSpPr/>
            <p:nvPr/>
          </p:nvSpPr>
          <p:spPr>
            <a:xfrm>
              <a:off x="3910456" y="3212973"/>
              <a:ext cx="360045" cy="339090"/>
            </a:xfrm>
            <a:custGeom>
              <a:avLst/>
              <a:gdLst/>
              <a:ahLst/>
              <a:cxnLst/>
              <a:rect l="l" t="t" r="r" b="b"/>
              <a:pathLst>
                <a:path w="360045" h="339089">
                  <a:moveTo>
                    <a:pt x="341700" y="17301"/>
                  </a:moveTo>
                  <a:lnTo>
                    <a:pt x="329181" y="20185"/>
                  </a:lnTo>
                  <a:lnTo>
                    <a:pt x="0" y="329818"/>
                  </a:lnTo>
                  <a:lnTo>
                    <a:pt x="8635" y="339089"/>
                  </a:lnTo>
                  <a:lnTo>
                    <a:pt x="338144" y="29263"/>
                  </a:lnTo>
                  <a:lnTo>
                    <a:pt x="341700" y="17301"/>
                  </a:lnTo>
                  <a:close/>
                </a:path>
                <a:path w="360045" h="339089">
                  <a:moveTo>
                    <a:pt x="358876" y="3937"/>
                  </a:moveTo>
                  <a:lnTo>
                    <a:pt x="346455" y="3937"/>
                  </a:lnTo>
                  <a:lnTo>
                    <a:pt x="355218" y="13207"/>
                  </a:lnTo>
                  <a:lnTo>
                    <a:pt x="338144" y="29263"/>
                  </a:lnTo>
                  <a:lnTo>
                    <a:pt x="319658" y="91439"/>
                  </a:lnTo>
                  <a:lnTo>
                    <a:pt x="318642" y="94741"/>
                  </a:lnTo>
                  <a:lnTo>
                    <a:pt x="320675" y="98298"/>
                  </a:lnTo>
                  <a:lnTo>
                    <a:pt x="327278" y="100329"/>
                  </a:lnTo>
                  <a:lnTo>
                    <a:pt x="330834" y="98298"/>
                  </a:lnTo>
                  <a:lnTo>
                    <a:pt x="331850" y="94996"/>
                  </a:lnTo>
                  <a:lnTo>
                    <a:pt x="358876" y="3937"/>
                  </a:lnTo>
                  <a:close/>
                </a:path>
                <a:path w="360045" h="339089">
                  <a:moveTo>
                    <a:pt x="360044" y="0"/>
                  </a:moveTo>
                  <a:lnTo>
                    <a:pt x="260095" y="22987"/>
                  </a:lnTo>
                  <a:lnTo>
                    <a:pt x="257937" y="26415"/>
                  </a:lnTo>
                  <a:lnTo>
                    <a:pt x="259460" y="33274"/>
                  </a:lnTo>
                  <a:lnTo>
                    <a:pt x="262889" y="35432"/>
                  </a:lnTo>
                  <a:lnTo>
                    <a:pt x="329181" y="20185"/>
                  </a:lnTo>
                  <a:lnTo>
                    <a:pt x="346455" y="3937"/>
                  </a:lnTo>
                  <a:lnTo>
                    <a:pt x="358876" y="3937"/>
                  </a:lnTo>
                  <a:lnTo>
                    <a:pt x="360044" y="0"/>
                  </a:lnTo>
                  <a:close/>
                </a:path>
                <a:path w="360045" h="339089">
                  <a:moveTo>
                    <a:pt x="349216" y="6857"/>
                  </a:moveTo>
                  <a:lnTo>
                    <a:pt x="344804" y="6857"/>
                  </a:lnTo>
                  <a:lnTo>
                    <a:pt x="352297" y="14859"/>
                  </a:lnTo>
                  <a:lnTo>
                    <a:pt x="341700" y="17301"/>
                  </a:lnTo>
                  <a:lnTo>
                    <a:pt x="338144" y="29263"/>
                  </a:lnTo>
                  <a:lnTo>
                    <a:pt x="355218" y="13207"/>
                  </a:lnTo>
                  <a:lnTo>
                    <a:pt x="349216" y="6857"/>
                  </a:lnTo>
                  <a:close/>
                </a:path>
                <a:path w="360045" h="339089">
                  <a:moveTo>
                    <a:pt x="346455" y="3937"/>
                  </a:moveTo>
                  <a:lnTo>
                    <a:pt x="329181" y="20185"/>
                  </a:lnTo>
                  <a:lnTo>
                    <a:pt x="341700" y="17301"/>
                  </a:lnTo>
                  <a:lnTo>
                    <a:pt x="344804" y="6857"/>
                  </a:lnTo>
                  <a:lnTo>
                    <a:pt x="349216" y="6857"/>
                  </a:lnTo>
                  <a:lnTo>
                    <a:pt x="346455" y="3937"/>
                  </a:lnTo>
                  <a:close/>
                </a:path>
                <a:path w="360045" h="339089">
                  <a:moveTo>
                    <a:pt x="344804" y="6857"/>
                  </a:moveTo>
                  <a:lnTo>
                    <a:pt x="341700" y="17301"/>
                  </a:lnTo>
                  <a:lnTo>
                    <a:pt x="352297" y="14859"/>
                  </a:lnTo>
                  <a:lnTo>
                    <a:pt x="344804" y="6857"/>
                  </a:lnTo>
                  <a:close/>
                </a:path>
              </a:pathLst>
            </a:custGeom>
            <a:solidFill>
              <a:srgbClr val="FF0000"/>
            </a:solidFill>
          </p:spPr>
          <p:txBody>
            <a:bodyPr wrap="square" lIns="0" tIns="0" rIns="0" bIns="0" rtlCol="0"/>
            <a:lstStyle>
              <a:defPPr>
                <a:defRPr kern="0"/>
              </a:defPPr>
            </a:lstStyle>
            <a:p>
              <a:endParaRPr/>
            </a:p>
          </p:txBody>
        </p:sp>
        <p:pic>
          <p:nvPicPr>
            <p:cNvPr id="11" name="object 15">
              <a:extLst>
                <a:ext uri="{FF2B5EF4-FFF2-40B4-BE49-F238E27FC236}">
                  <a16:creationId xmlns:a16="http://schemas.microsoft.com/office/drawing/2014/main" id="{BAC18F1F-0D2C-6B14-E9A2-2CCED6129A5C}"/>
                </a:ext>
              </a:extLst>
            </p:cNvPr>
            <p:cNvPicPr/>
            <p:nvPr/>
          </p:nvPicPr>
          <p:blipFill>
            <a:blip r:embed="rId4" cstate="print"/>
            <a:stretch>
              <a:fillRect/>
            </a:stretch>
          </p:blipFill>
          <p:spPr>
            <a:xfrm>
              <a:off x="3319271" y="4586414"/>
              <a:ext cx="1925447" cy="671893"/>
            </a:xfrm>
            <a:prstGeom prst="rect">
              <a:avLst/>
            </a:prstGeom>
          </p:spPr>
        </p:pic>
      </p:grpSp>
      <p:sp>
        <p:nvSpPr>
          <p:cNvPr id="9" name="object 16">
            <a:extLst>
              <a:ext uri="{FF2B5EF4-FFF2-40B4-BE49-F238E27FC236}">
                <a16:creationId xmlns:a16="http://schemas.microsoft.com/office/drawing/2014/main" id="{C21FAC2E-B1FF-361D-7E7C-776B033B93FB}"/>
              </a:ext>
            </a:extLst>
          </p:cNvPr>
          <p:cNvSpPr txBox="1"/>
          <p:nvPr/>
        </p:nvSpPr>
        <p:spPr>
          <a:xfrm>
            <a:off x="5228437" y="2618086"/>
            <a:ext cx="3858767" cy="1150114"/>
          </a:xfrm>
          <a:prstGeom prst="rect">
            <a:avLst/>
          </a:prstGeom>
        </p:spPr>
        <p:txBody>
          <a:bodyPr vert="horz" wrap="square" lIns="0" tIns="123189" rIns="0" bIns="0" rtlCol="0">
            <a:spAutoFit/>
          </a:bodyPr>
          <a:lstStyle>
            <a:defPPr>
              <a:defRPr kern="0"/>
            </a:defPPr>
          </a:lstStyle>
          <a:p>
            <a:pPr marL="205104">
              <a:lnSpc>
                <a:spcPct val="100000"/>
              </a:lnSpc>
              <a:spcBef>
                <a:spcPts val="969"/>
              </a:spcBef>
            </a:pPr>
            <a:r>
              <a:rPr sz="3200" spc="-45" dirty="0" err="1">
                <a:solidFill>
                  <a:srgbClr val="FF0000"/>
                </a:solidFill>
                <a:latin typeface="SimSun"/>
                <a:cs typeface="SimSun"/>
              </a:rPr>
              <a:t>储水组织细胞如何做到储存大量水分</a:t>
            </a:r>
            <a:r>
              <a:rPr sz="3200" spc="-45" dirty="0">
                <a:solidFill>
                  <a:srgbClr val="FF0000"/>
                </a:solidFill>
                <a:latin typeface="SimSun"/>
                <a:cs typeface="SimSun"/>
              </a:rPr>
              <a:t>？</a:t>
            </a:r>
            <a:endParaRPr sz="3200" dirty="0">
              <a:latin typeface="SimSun"/>
              <a:cs typeface="SimSun"/>
            </a:endParaRPr>
          </a:p>
        </p:txBody>
      </p:sp>
      <p:pic>
        <p:nvPicPr>
          <p:cNvPr id="14" name="object 4">
            <a:extLst>
              <a:ext uri="{FF2B5EF4-FFF2-40B4-BE49-F238E27FC236}">
                <a16:creationId xmlns:a16="http://schemas.microsoft.com/office/drawing/2014/main" id="{8C47FF8B-EC78-2C42-0C79-1DF38F0D2A67}"/>
              </a:ext>
            </a:extLst>
          </p:cNvPr>
          <p:cNvPicPr/>
          <p:nvPr/>
        </p:nvPicPr>
        <p:blipFill>
          <a:blip r:embed="rId5" cstate="print"/>
          <a:stretch>
            <a:fillRect/>
          </a:stretch>
        </p:blipFill>
        <p:spPr>
          <a:xfrm>
            <a:off x="595756" y="4267572"/>
            <a:ext cx="4767009" cy="2267324"/>
          </a:xfrm>
          <a:prstGeom prst="rect">
            <a:avLst/>
          </a:prstGeom>
        </p:spPr>
      </p:pic>
      <p:sp>
        <p:nvSpPr>
          <p:cNvPr id="15" name="object 5">
            <a:extLst>
              <a:ext uri="{FF2B5EF4-FFF2-40B4-BE49-F238E27FC236}">
                <a16:creationId xmlns:a16="http://schemas.microsoft.com/office/drawing/2014/main" id="{35B5B8CB-C619-033C-78CA-EBD76CC7A191}"/>
              </a:ext>
            </a:extLst>
          </p:cNvPr>
          <p:cNvSpPr txBox="1"/>
          <p:nvPr/>
        </p:nvSpPr>
        <p:spPr>
          <a:xfrm>
            <a:off x="5724128" y="5137828"/>
            <a:ext cx="2467610" cy="513080"/>
          </a:xfrm>
          <a:prstGeom prst="rect">
            <a:avLst/>
          </a:prstGeom>
        </p:spPr>
        <p:txBody>
          <a:bodyPr vert="horz" wrap="square" lIns="0" tIns="12065" rIns="0" bIns="0" rtlCol="0">
            <a:spAutoFit/>
          </a:bodyPr>
          <a:lstStyle>
            <a:defPPr>
              <a:defRPr kern="0"/>
            </a:defPPr>
          </a:lstStyle>
          <a:p>
            <a:pPr marL="12700">
              <a:lnSpc>
                <a:spcPct val="100000"/>
              </a:lnSpc>
              <a:spcBef>
                <a:spcPts val="95"/>
              </a:spcBef>
            </a:pPr>
            <a:r>
              <a:rPr sz="3200" spc="-45" dirty="0">
                <a:latin typeface="SimSun"/>
                <a:cs typeface="SimSun"/>
              </a:rPr>
              <a:t>眼子菜叶横切</a:t>
            </a:r>
            <a:endParaRPr sz="3200" dirty="0">
              <a:latin typeface="SimSun"/>
              <a:cs typeface="SimSun"/>
            </a:endParaRPr>
          </a:p>
        </p:txBody>
      </p:sp>
      <p:sp>
        <p:nvSpPr>
          <p:cNvPr id="16" name="object 2">
            <a:extLst>
              <a:ext uri="{FF2B5EF4-FFF2-40B4-BE49-F238E27FC236}">
                <a16:creationId xmlns:a16="http://schemas.microsoft.com/office/drawing/2014/main" id="{43B30224-D530-65C7-02A4-BB3FE6D37DC5}"/>
              </a:ext>
            </a:extLst>
          </p:cNvPr>
          <p:cNvSpPr txBox="1">
            <a:spLocks noGrp="1"/>
          </p:cNvSpPr>
          <p:nvPr/>
        </p:nvSpPr>
        <p:spPr>
          <a:xfrm>
            <a:off x="830428" y="3737306"/>
            <a:ext cx="8228330" cy="452755"/>
          </a:xfrm>
          <a:prstGeom prst="rect">
            <a:avLst/>
          </a:prstGeom>
        </p:spPr>
        <p:txBody>
          <a:bodyPr vert="horz" wrap="square" lIns="0" tIns="12700" rIns="0" bIns="0" rtlCol="0">
            <a:spAutoFit/>
          </a:bodyPr>
          <a:lstStyle>
            <a:lvl1pPr>
              <a:defRPr sz="3200" b="0" i="0">
                <a:solidFill>
                  <a:srgbClr val="FF0000"/>
                </a:solidFill>
                <a:latin typeface="SimSun"/>
                <a:ea typeface="+mj-ea"/>
                <a:cs typeface="SimSun"/>
              </a:defRPr>
            </a:lvl1pPr>
          </a:lstStyle>
          <a:p>
            <a:pPr marL="12700">
              <a:lnSpc>
                <a:spcPct val="100000"/>
              </a:lnSpc>
              <a:spcBef>
                <a:spcPts val="100"/>
              </a:spcBef>
            </a:pPr>
            <a:r>
              <a:rPr sz="2800" spc="-5" dirty="0">
                <a:solidFill>
                  <a:srgbClr val="252525"/>
                </a:solidFill>
              </a:rPr>
              <a:t>通气组织：细胞间隙发达，形成宽阔的气腔或曲折连</a:t>
            </a:r>
            <a:endParaRPr sz="2800" dirty="0"/>
          </a:p>
        </p:txBody>
      </p:sp>
    </p:spTree>
    <p:extLst>
      <p:ext uri="{BB962C8B-B14F-4D97-AF65-F5344CB8AC3E}">
        <p14:creationId xmlns:p14="http://schemas.microsoft.com/office/powerpoint/2010/main" val="713157712"/>
      </p:ext>
    </p:extLst>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61" name="Rectangle 3"/>
          <p:cNvSpPr>
            <a:spLocks noGrp="1"/>
          </p:cNvSpPr>
          <p:nvPr>
            <p:ph idx="1"/>
          </p:nvPr>
        </p:nvSpPr>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机械组织</a:t>
            </a:r>
            <a:r>
              <a:rPr lang="en-US" altLang="zh-CN" b="1" dirty="0">
                <a:latin typeface="黑体" panose="02010609060101010101" pitchFamily="49" charset="-122"/>
                <a:ea typeface="黑体" panose="02010609060101010101" pitchFamily="49" charset="-122"/>
              </a:rPr>
              <a:t>——⑴</a:t>
            </a:r>
            <a:r>
              <a:rPr lang="zh-CN" altLang="en-US" b="1" dirty="0">
                <a:solidFill>
                  <a:srgbClr val="FF0000"/>
                </a:solidFill>
                <a:latin typeface="黑体" panose="02010609060101010101" pitchFamily="49" charset="-122"/>
                <a:ea typeface="黑体" panose="02010609060101010101" pitchFamily="49" charset="-122"/>
              </a:rPr>
              <a:t>厚角组织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位置和来源</a:t>
            </a:r>
            <a:endParaRPr lang="zh-CN" altLang="en-US" dirty="0">
              <a:latin typeface="黑体" panose="02010609060101010101" pitchFamily="49" charset="-122"/>
              <a:ea typeface="黑体" panose="02010609060101010101" pitchFamily="49" charset="-122"/>
            </a:endParaRPr>
          </a:p>
          <a:p>
            <a:pPr lvl="1" eaLnBrk="1" hangingPunct="1"/>
            <a:r>
              <a:rPr lang="zh-CN" altLang="en-US" b="1" dirty="0">
                <a:latin typeface="黑体" panose="02010609060101010101" pitchFamily="49" charset="-122"/>
                <a:ea typeface="黑体" panose="02010609060101010101" pitchFamily="49" charset="-122"/>
              </a:rPr>
              <a:t>位置：位于幼茎、叶柄及叶脉等生长中的器官或部位，在茎、叶柄和叶脉中往往存在于</a:t>
            </a:r>
            <a:r>
              <a:rPr lang="zh-CN" altLang="en-US" b="1" dirty="0">
                <a:solidFill>
                  <a:srgbClr val="FF0000"/>
                </a:solidFill>
                <a:latin typeface="黑体" panose="02010609060101010101" pitchFamily="49" charset="-122"/>
                <a:ea typeface="黑体" panose="02010609060101010101" pitchFamily="49" charset="-122"/>
              </a:rPr>
              <a:t>棱角</a:t>
            </a:r>
            <a:r>
              <a:rPr lang="zh-CN" altLang="en-US" b="1" dirty="0">
                <a:latin typeface="黑体" panose="02010609060101010101" pitchFamily="49" charset="-122"/>
                <a:ea typeface="黑体" panose="02010609060101010101" pitchFamily="49" charset="-122"/>
              </a:rPr>
              <a:t>处（如芹菜、薄荷、南瓜的茎及叶柄）。</a:t>
            </a:r>
          </a:p>
          <a:p>
            <a:pPr lvl="1" eaLnBrk="1" hangingPunct="1"/>
            <a:r>
              <a:rPr lang="zh-CN" altLang="en-US" b="1" dirty="0">
                <a:latin typeface="黑体" panose="02010609060101010101" pitchFamily="49" charset="-122"/>
                <a:ea typeface="黑体" panose="02010609060101010101" pitchFamily="49" charset="-122"/>
              </a:rPr>
              <a:t>来源：</a:t>
            </a:r>
            <a:r>
              <a:rPr lang="zh-CN" altLang="en-US" b="1" dirty="0">
                <a:solidFill>
                  <a:srgbClr val="FF0000"/>
                </a:solidFill>
                <a:latin typeface="黑体" panose="02010609060101010101" pitchFamily="49" charset="-122"/>
                <a:ea typeface="黑体" panose="02010609060101010101" pitchFamily="49" charset="-122"/>
              </a:rPr>
              <a:t>厚角组织由基本组织细胞直接特化而来。</a:t>
            </a:r>
          </a:p>
        </p:txBody>
      </p:sp>
      <p:pic>
        <p:nvPicPr>
          <p:cNvPr id="243718" name="Picture 6" descr="D:\刘宗才\植物学素材\教学素材\植物学插图上册\t1-47.jpg"/>
          <p:cNvPicPr>
            <a:picLocks noChangeAspect="1"/>
          </p:cNvPicPr>
          <p:nvPr/>
        </p:nvPicPr>
        <p:blipFill>
          <a:blip r:embed="rId2"/>
          <a:stretch>
            <a:fillRect/>
          </a:stretch>
        </p:blipFill>
        <p:spPr>
          <a:xfrm>
            <a:off x="334949" y="3584135"/>
            <a:ext cx="4032250" cy="3176588"/>
          </a:xfrm>
          <a:prstGeom prst="rect">
            <a:avLst/>
          </a:prstGeom>
          <a:noFill/>
          <a:ln w="28575" cap="flat" cmpd="sng">
            <a:solidFill>
              <a:srgbClr val="FF3300"/>
            </a:solidFill>
            <a:prstDash val="solid"/>
            <a:miter/>
            <a:headEnd type="none" w="med" len="med"/>
            <a:tailEnd type="none" w="med" len="med"/>
          </a:ln>
        </p:spPr>
      </p:pic>
      <p:sp>
        <p:nvSpPr>
          <p:cNvPr id="450563"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pic>
        <p:nvPicPr>
          <p:cNvPr id="12" name="object 3">
            <a:extLst>
              <a:ext uri="{FF2B5EF4-FFF2-40B4-BE49-F238E27FC236}">
                <a16:creationId xmlns:a16="http://schemas.microsoft.com/office/drawing/2014/main" id="{7385D080-B097-6264-1FBE-737CDA872856}"/>
              </a:ext>
            </a:extLst>
          </p:cNvPr>
          <p:cNvPicPr/>
          <p:nvPr/>
        </p:nvPicPr>
        <p:blipFill>
          <a:blip r:embed="rId3" cstate="print"/>
          <a:stretch>
            <a:fillRect/>
          </a:stretch>
        </p:blipFill>
        <p:spPr>
          <a:xfrm>
            <a:off x="4634949" y="4971152"/>
            <a:ext cx="1847850" cy="1621320"/>
          </a:xfrm>
          <a:prstGeom prst="rect">
            <a:avLst/>
          </a:prstGeom>
        </p:spPr>
      </p:pic>
      <p:grpSp>
        <p:nvGrpSpPr>
          <p:cNvPr id="13" name="object 8">
            <a:extLst>
              <a:ext uri="{FF2B5EF4-FFF2-40B4-BE49-F238E27FC236}">
                <a16:creationId xmlns:a16="http://schemas.microsoft.com/office/drawing/2014/main" id="{C1C43030-95C5-C315-FC5B-08122CB5289F}"/>
              </a:ext>
            </a:extLst>
          </p:cNvPr>
          <p:cNvGrpSpPr/>
          <p:nvPr/>
        </p:nvGrpSpPr>
        <p:grpSpPr>
          <a:xfrm>
            <a:off x="6012160" y="3735735"/>
            <a:ext cx="4705350" cy="3054985"/>
            <a:chOff x="4415028" y="897763"/>
            <a:chExt cx="4705350" cy="3054985"/>
          </a:xfrm>
        </p:grpSpPr>
        <p:pic>
          <p:nvPicPr>
            <p:cNvPr id="14" name="object 9">
              <a:extLst>
                <a:ext uri="{FF2B5EF4-FFF2-40B4-BE49-F238E27FC236}">
                  <a16:creationId xmlns:a16="http://schemas.microsoft.com/office/drawing/2014/main" id="{A0097676-5AAD-E2D1-2A45-4E30FF3B57F4}"/>
                </a:ext>
              </a:extLst>
            </p:cNvPr>
            <p:cNvPicPr/>
            <p:nvPr/>
          </p:nvPicPr>
          <p:blipFill>
            <a:blip r:embed="rId4" cstate="print"/>
            <a:stretch>
              <a:fillRect/>
            </a:stretch>
          </p:blipFill>
          <p:spPr>
            <a:xfrm>
              <a:off x="5355971" y="897763"/>
              <a:ext cx="3763899" cy="3032125"/>
            </a:xfrm>
            <a:prstGeom prst="rect">
              <a:avLst/>
            </a:prstGeom>
          </p:spPr>
        </p:pic>
        <p:sp>
          <p:nvSpPr>
            <p:cNvPr id="15" name="object 10">
              <a:extLst>
                <a:ext uri="{FF2B5EF4-FFF2-40B4-BE49-F238E27FC236}">
                  <a16:creationId xmlns:a16="http://schemas.microsoft.com/office/drawing/2014/main" id="{D74A3C1D-81E9-95F0-BF7B-80768C20307A}"/>
                </a:ext>
              </a:extLst>
            </p:cNvPr>
            <p:cNvSpPr/>
            <p:nvPr/>
          </p:nvSpPr>
          <p:spPr>
            <a:xfrm>
              <a:off x="5438156" y="1311567"/>
              <a:ext cx="1146810" cy="1306195"/>
            </a:xfrm>
            <a:custGeom>
              <a:avLst/>
              <a:gdLst/>
              <a:ahLst/>
              <a:cxnLst/>
              <a:rect l="l" t="t" r="r" b="b"/>
              <a:pathLst>
                <a:path w="1146809" h="1306195">
                  <a:moveTo>
                    <a:pt x="15859" y="537298"/>
                  </a:moveTo>
                  <a:lnTo>
                    <a:pt x="27958" y="487418"/>
                  </a:lnTo>
                  <a:lnTo>
                    <a:pt x="43110" y="439274"/>
                  </a:lnTo>
                  <a:lnTo>
                    <a:pt x="61159" y="392983"/>
                  </a:lnTo>
                  <a:lnTo>
                    <a:pt x="81953" y="348663"/>
                  </a:lnTo>
                  <a:lnTo>
                    <a:pt x="105338" y="306431"/>
                  </a:lnTo>
                  <a:lnTo>
                    <a:pt x="131160" y="266403"/>
                  </a:lnTo>
                  <a:lnTo>
                    <a:pt x="159265" y="228698"/>
                  </a:lnTo>
                  <a:lnTo>
                    <a:pt x="189500" y="193431"/>
                  </a:lnTo>
                  <a:lnTo>
                    <a:pt x="221712" y="160721"/>
                  </a:lnTo>
                  <a:lnTo>
                    <a:pt x="255746" y="130685"/>
                  </a:lnTo>
                  <a:lnTo>
                    <a:pt x="291449" y="103439"/>
                  </a:lnTo>
                  <a:lnTo>
                    <a:pt x="328668" y="79102"/>
                  </a:lnTo>
                  <a:lnTo>
                    <a:pt x="367249" y="57789"/>
                  </a:lnTo>
                  <a:lnTo>
                    <a:pt x="407037" y="39618"/>
                  </a:lnTo>
                  <a:lnTo>
                    <a:pt x="447881" y="24707"/>
                  </a:lnTo>
                  <a:lnTo>
                    <a:pt x="489625" y="13172"/>
                  </a:lnTo>
                  <a:lnTo>
                    <a:pt x="532117" y="5132"/>
                  </a:lnTo>
                  <a:lnTo>
                    <a:pt x="575202" y="701"/>
                  </a:lnTo>
                  <a:lnTo>
                    <a:pt x="618728" y="0"/>
                  </a:lnTo>
                  <a:lnTo>
                    <a:pt x="662540" y="3143"/>
                  </a:lnTo>
                  <a:lnTo>
                    <a:pt x="706485" y="10248"/>
                  </a:lnTo>
                  <a:lnTo>
                    <a:pt x="749627" y="21221"/>
                  </a:lnTo>
                  <a:lnTo>
                    <a:pt x="791072" y="35774"/>
                  </a:lnTo>
                  <a:lnTo>
                    <a:pt x="830725" y="53740"/>
                  </a:lnTo>
                  <a:lnTo>
                    <a:pt x="868491" y="74951"/>
                  </a:lnTo>
                  <a:lnTo>
                    <a:pt x="904276" y="99236"/>
                  </a:lnTo>
                  <a:lnTo>
                    <a:pt x="937985" y="126429"/>
                  </a:lnTo>
                  <a:lnTo>
                    <a:pt x="969525" y="156359"/>
                  </a:lnTo>
                  <a:lnTo>
                    <a:pt x="998801" y="188860"/>
                  </a:lnTo>
                  <a:lnTo>
                    <a:pt x="1025718" y="223763"/>
                  </a:lnTo>
                  <a:lnTo>
                    <a:pt x="1050183" y="260898"/>
                  </a:lnTo>
                  <a:lnTo>
                    <a:pt x="1072100" y="300098"/>
                  </a:lnTo>
                  <a:lnTo>
                    <a:pt x="1091375" y="341193"/>
                  </a:lnTo>
                  <a:lnTo>
                    <a:pt x="1107915" y="384016"/>
                  </a:lnTo>
                  <a:lnTo>
                    <a:pt x="1121624" y="428398"/>
                  </a:lnTo>
                  <a:lnTo>
                    <a:pt x="1132409" y="474170"/>
                  </a:lnTo>
                  <a:lnTo>
                    <a:pt x="1140174" y="521165"/>
                  </a:lnTo>
                  <a:lnTo>
                    <a:pt x="1144826" y="569212"/>
                  </a:lnTo>
                  <a:lnTo>
                    <a:pt x="1146270" y="618144"/>
                  </a:lnTo>
                  <a:lnTo>
                    <a:pt x="1144411" y="667793"/>
                  </a:lnTo>
                  <a:lnTo>
                    <a:pt x="1139156" y="717990"/>
                  </a:lnTo>
                  <a:lnTo>
                    <a:pt x="1130411" y="768565"/>
                  </a:lnTo>
                  <a:lnTo>
                    <a:pt x="1118311" y="818446"/>
                  </a:lnTo>
                  <a:lnTo>
                    <a:pt x="1103159" y="866593"/>
                  </a:lnTo>
                  <a:lnTo>
                    <a:pt x="1085110" y="912887"/>
                  </a:lnTo>
                  <a:lnTo>
                    <a:pt x="1064316" y="957212"/>
                  </a:lnTo>
                  <a:lnTo>
                    <a:pt x="1040931" y="999451"/>
                  </a:lnTo>
                  <a:lnTo>
                    <a:pt x="1015109" y="1039486"/>
                  </a:lnTo>
                  <a:lnTo>
                    <a:pt x="987004" y="1077199"/>
                  </a:lnTo>
                  <a:lnTo>
                    <a:pt x="956769" y="1112473"/>
                  </a:lnTo>
                  <a:lnTo>
                    <a:pt x="924557" y="1145192"/>
                  </a:lnTo>
                  <a:lnTo>
                    <a:pt x="890523" y="1175238"/>
                  </a:lnTo>
                  <a:lnTo>
                    <a:pt x="854820" y="1202492"/>
                  </a:lnTo>
                  <a:lnTo>
                    <a:pt x="817601" y="1226839"/>
                  </a:lnTo>
                  <a:lnTo>
                    <a:pt x="779021" y="1248161"/>
                  </a:lnTo>
                  <a:lnTo>
                    <a:pt x="739232" y="1266339"/>
                  </a:lnTo>
                  <a:lnTo>
                    <a:pt x="698388" y="1281258"/>
                  </a:lnTo>
                  <a:lnTo>
                    <a:pt x="656644" y="1292800"/>
                  </a:lnTo>
                  <a:lnTo>
                    <a:pt x="614152" y="1300847"/>
                  </a:lnTo>
                  <a:lnTo>
                    <a:pt x="571067" y="1305282"/>
                  </a:lnTo>
                  <a:lnTo>
                    <a:pt x="527542" y="1305988"/>
                  </a:lnTo>
                  <a:lnTo>
                    <a:pt x="483729" y="1302847"/>
                  </a:lnTo>
                  <a:lnTo>
                    <a:pt x="439785" y="1295742"/>
                  </a:lnTo>
                  <a:lnTo>
                    <a:pt x="396642" y="1284770"/>
                  </a:lnTo>
                  <a:lnTo>
                    <a:pt x="355197" y="1270216"/>
                  </a:lnTo>
                  <a:lnTo>
                    <a:pt x="315545" y="1252250"/>
                  </a:lnTo>
                  <a:lnTo>
                    <a:pt x="277779" y="1231039"/>
                  </a:lnTo>
                  <a:lnTo>
                    <a:pt x="241994" y="1206753"/>
                  </a:lnTo>
                  <a:lnTo>
                    <a:pt x="208284" y="1179559"/>
                  </a:lnTo>
                  <a:lnTo>
                    <a:pt x="176744" y="1149626"/>
                  </a:lnTo>
                  <a:lnTo>
                    <a:pt x="147468" y="1117123"/>
                  </a:lnTo>
                  <a:lnTo>
                    <a:pt x="120551" y="1082218"/>
                  </a:lnTo>
                  <a:lnTo>
                    <a:pt x="96087" y="1045079"/>
                  </a:lnTo>
                  <a:lnTo>
                    <a:pt x="74169" y="1005875"/>
                  </a:lnTo>
                  <a:lnTo>
                    <a:pt x="54894" y="964774"/>
                  </a:lnTo>
                  <a:lnTo>
                    <a:pt x="38354" y="921944"/>
                  </a:lnTo>
                  <a:lnTo>
                    <a:pt x="24645" y="877555"/>
                  </a:lnTo>
                  <a:lnTo>
                    <a:pt x="13861" y="831774"/>
                  </a:lnTo>
                  <a:lnTo>
                    <a:pt x="6095" y="784770"/>
                  </a:lnTo>
                  <a:lnTo>
                    <a:pt x="1443" y="736711"/>
                  </a:lnTo>
                  <a:lnTo>
                    <a:pt x="0" y="687766"/>
                  </a:lnTo>
                  <a:lnTo>
                    <a:pt x="1858" y="638104"/>
                  </a:lnTo>
                  <a:lnTo>
                    <a:pt x="7113" y="587891"/>
                  </a:lnTo>
                  <a:lnTo>
                    <a:pt x="15859" y="537298"/>
                  </a:lnTo>
                  <a:close/>
                </a:path>
              </a:pathLst>
            </a:custGeom>
            <a:ln w="38099">
              <a:solidFill>
                <a:srgbClr val="FFFF00"/>
              </a:solidFill>
            </a:ln>
          </p:spPr>
          <p:txBody>
            <a:bodyPr wrap="square" lIns="0" tIns="0" rIns="0" bIns="0" rtlCol="0"/>
            <a:lstStyle/>
            <a:p>
              <a:endParaRPr/>
            </a:p>
          </p:txBody>
        </p:sp>
        <p:sp>
          <p:nvSpPr>
            <p:cNvPr id="16" name="object 11">
              <a:extLst>
                <a:ext uri="{FF2B5EF4-FFF2-40B4-BE49-F238E27FC236}">
                  <a16:creationId xmlns:a16="http://schemas.microsoft.com/office/drawing/2014/main" id="{27C0C77A-90A3-87F9-AB2A-C5B2907B41BF}"/>
                </a:ext>
              </a:extLst>
            </p:cNvPr>
            <p:cNvSpPr/>
            <p:nvPr/>
          </p:nvSpPr>
          <p:spPr>
            <a:xfrm>
              <a:off x="4427728" y="3569080"/>
              <a:ext cx="1178560" cy="370840"/>
            </a:xfrm>
            <a:custGeom>
              <a:avLst/>
              <a:gdLst/>
              <a:ahLst/>
              <a:cxnLst/>
              <a:rect l="l" t="t" r="r" b="b"/>
              <a:pathLst>
                <a:path w="1178560" h="370839">
                  <a:moveTo>
                    <a:pt x="0" y="0"/>
                  </a:moveTo>
                  <a:lnTo>
                    <a:pt x="314833" y="370840"/>
                  </a:lnTo>
                  <a:lnTo>
                    <a:pt x="429895" y="306451"/>
                  </a:lnTo>
                  <a:lnTo>
                    <a:pt x="475328" y="307744"/>
                  </a:lnTo>
                  <a:lnTo>
                    <a:pt x="521410" y="306929"/>
                  </a:lnTo>
                  <a:lnTo>
                    <a:pt x="568038" y="304035"/>
                  </a:lnTo>
                  <a:lnTo>
                    <a:pt x="615114" y="299090"/>
                  </a:lnTo>
                  <a:lnTo>
                    <a:pt x="662538" y="292124"/>
                  </a:lnTo>
                  <a:lnTo>
                    <a:pt x="710209" y="283164"/>
                  </a:lnTo>
                  <a:lnTo>
                    <a:pt x="758027" y="272240"/>
                  </a:lnTo>
                  <a:lnTo>
                    <a:pt x="805894" y="259381"/>
                  </a:lnTo>
                  <a:lnTo>
                    <a:pt x="853708" y="244615"/>
                  </a:lnTo>
                  <a:lnTo>
                    <a:pt x="901371" y="227972"/>
                  </a:lnTo>
                  <a:lnTo>
                    <a:pt x="948781" y="209480"/>
                  </a:lnTo>
                  <a:lnTo>
                    <a:pt x="995840" y="189168"/>
                  </a:lnTo>
                  <a:lnTo>
                    <a:pt x="1042447" y="167065"/>
                  </a:lnTo>
                  <a:lnTo>
                    <a:pt x="1088503" y="143199"/>
                  </a:lnTo>
                  <a:lnTo>
                    <a:pt x="1133907" y="117600"/>
                  </a:lnTo>
                  <a:lnTo>
                    <a:pt x="1178560" y="90297"/>
                  </a:lnTo>
                  <a:lnTo>
                    <a:pt x="1128301" y="113668"/>
                  </a:lnTo>
                  <a:lnTo>
                    <a:pt x="1077618" y="134932"/>
                  </a:lnTo>
                  <a:lnTo>
                    <a:pt x="1026632" y="154062"/>
                  </a:lnTo>
                  <a:lnTo>
                    <a:pt x="975463" y="171031"/>
                  </a:lnTo>
                  <a:lnTo>
                    <a:pt x="924232" y="185810"/>
                  </a:lnTo>
                  <a:lnTo>
                    <a:pt x="873061" y="198374"/>
                  </a:lnTo>
                  <a:lnTo>
                    <a:pt x="822069" y="208693"/>
                  </a:lnTo>
                  <a:lnTo>
                    <a:pt x="771379" y="216741"/>
                  </a:lnTo>
                  <a:lnTo>
                    <a:pt x="721109" y="222492"/>
                  </a:lnTo>
                  <a:lnTo>
                    <a:pt x="671383" y="225916"/>
                  </a:lnTo>
                  <a:lnTo>
                    <a:pt x="622319" y="226987"/>
                  </a:lnTo>
                  <a:lnTo>
                    <a:pt x="574039" y="225679"/>
                  </a:lnTo>
                  <a:lnTo>
                    <a:pt x="689101" y="161290"/>
                  </a:lnTo>
                  <a:lnTo>
                    <a:pt x="0" y="0"/>
                  </a:lnTo>
                  <a:close/>
                </a:path>
              </a:pathLst>
            </a:custGeom>
            <a:solidFill>
              <a:srgbClr val="FF0000"/>
            </a:solidFill>
          </p:spPr>
          <p:txBody>
            <a:bodyPr wrap="square" lIns="0" tIns="0" rIns="0" bIns="0" rtlCol="0"/>
            <a:lstStyle/>
            <a:p>
              <a:endParaRPr/>
            </a:p>
          </p:txBody>
        </p:sp>
        <p:sp>
          <p:nvSpPr>
            <p:cNvPr id="17" name="object 12">
              <a:extLst>
                <a:ext uri="{FF2B5EF4-FFF2-40B4-BE49-F238E27FC236}">
                  <a16:creationId xmlns:a16="http://schemas.microsoft.com/office/drawing/2014/main" id="{BA7FA903-B1C7-A94F-C84C-41FDA2EC4ABC}"/>
                </a:ext>
              </a:extLst>
            </p:cNvPr>
            <p:cNvSpPr/>
            <p:nvPr/>
          </p:nvSpPr>
          <p:spPr>
            <a:xfrm>
              <a:off x="5535295" y="2566923"/>
              <a:ext cx="740410" cy="1135380"/>
            </a:xfrm>
            <a:custGeom>
              <a:avLst/>
              <a:gdLst/>
              <a:ahLst/>
              <a:cxnLst/>
              <a:rect l="l" t="t" r="r" b="b"/>
              <a:pathLst>
                <a:path w="740410" h="1135379">
                  <a:moveTo>
                    <a:pt x="681735" y="0"/>
                  </a:moveTo>
                  <a:lnTo>
                    <a:pt x="537463" y="80772"/>
                  </a:lnTo>
                  <a:lnTo>
                    <a:pt x="554869" y="115272"/>
                  </a:lnTo>
                  <a:lnTo>
                    <a:pt x="569126" y="150862"/>
                  </a:lnTo>
                  <a:lnTo>
                    <a:pt x="580287" y="187444"/>
                  </a:lnTo>
                  <a:lnTo>
                    <a:pt x="588401" y="224917"/>
                  </a:lnTo>
                  <a:lnTo>
                    <a:pt x="593519" y="263183"/>
                  </a:lnTo>
                  <a:lnTo>
                    <a:pt x="595691" y="302144"/>
                  </a:lnTo>
                  <a:lnTo>
                    <a:pt x="594967" y="341701"/>
                  </a:lnTo>
                  <a:lnTo>
                    <a:pt x="591397" y="381754"/>
                  </a:lnTo>
                  <a:lnTo>
                    <a:pt x="585033" y="422205"/>
                  </a:lnTo>
                  <a:lnTo>
                    <a:pt x="575924" y="462955"/>
                  </a:lnTo>
                  <a:lnTo>
                    <a:pt x="564121" y="503905"/>
                  </a:lnTo>
                  <a:lnTo>
                    <a:pt x="549673" y="544956"/>
                  </a:lnTo>
                  <a:lnTo>
                    <a:pt x="532632" y="586010"/>
                  </a:lnTo>
                  <a:lnTo>
                    <a:pt x="513048" y="626967"/>
                  </a:lnTo>
                  <a:lnTo>
                    <a:pt x="490970" y="667728"/>
                  </a:lnTo>
                  <a:lnTo>
                    <a:pt x="466450" y="708196"/>
                  </a:lnTo>
                  <a:lnTo>
                    <a:pt x="439538" y="748270"/>
                  </a:lnTo>
                  <a:lnTo>
                    <a:pt x="410283" y="787853"/>
                  </a:lnTo>
                  <a:lnTo>
                    <a:pt x="378737" y="826844"/>
                  </a:lnTo>
                  <a:lnTo>
                    <a:pt x="344949" y="865146"/>
                  </a:lnTo>
                  <a:lnTo>
                    <a:pt x="308971" y="902660"/>
                  </a:lnTo>
                  <a:lnTo>
                    <a:pt x="270851" y="939286"/>
                  </a:lnTo>
                  <a:lnTo>
                    <a:pt x="230642" y="974926"/>
                  </a:lnTo>
                  <a:lnTo>
                    <a:pt x="188392" y="1009481"/>
                  </a:lnTo>
                  <a:lnTo>
                    <a:pt x="144153" y="1042851"/>
                  </a:lnTo>
                  <a:lnTo>
                    <a:pt x="97974" y="1074939"/>
                  </a:lnTo>
                  <a:lnTo>
                    <a:pt x="49906" y="1105646"/>
                  </a:lnTo>
                  <a:lnTo>
                    <a:pt x="0" y="1134871"/>
                  </a:lnTo>
                  <a:lnTo>
                    <a:pt x="144144" y="1054100"/>
                  </a:lnTo>
                  <a:lnTo>
                    <a:pt x="194051" y="1024874"/>
                  </a:lnTo>
                  <a:lnTo>
                    <a:pt x="242121" y="994167"/>
                  </a:lnTo>
                  <a:lnTo>
                    <a:pt x="288302" y="962079"/>
                  </a:lnTo>
                  <a:lnTo>
                    <a:pt x="332544" y="928709"/>
                  </a:lnTo>
                  <a:lnTo>
                    <a:pt x="374797" y="894154"/>
                  </a:lnTo>
                  <a:lnTo>
                    <a:pt x="415011" y="858514"/>
                  </a:lnTo>
                  <a:lnTo>
                    <a:pt x="453135" y="821888"/>
                  </a:lnTo>
                  <a:lnTo>
                    <a:pt x="489119" y="784374"/>
                  </a:lnTo>
                  <a:lnTo>
                    <a:pt x="522913" y="746072"/>
                  </a:lnTo>
                  <a:lnTo>
                    <a:pt x="554465" y="707081"/>
                  </a:lnTo>
                  <a:lnTo>
                    <a:pt x="583726" y="667498"/>
                  </a:lnTo>
                  <a:lnTo>
                    <a:pt x="610645" y="627424"/>
                  </a:lnTo>
                  <a:lnTo>
                    <a:pt x="635172" y="586956"/>
                  </a:lnTo>
                  <a:lnTo>
                    <a:pt x="657256" y="546195"/>
                  </a:lnTo>
                  <a:lnTo>
                    <a:pt x="676847" y="505238"/>
                  </a:lnTo>
                  <a:lnTo>
                    <a:pt x="693895" y="464184"/>
                  </a:lnTo>
                  <a:lnTo>
                    <a:pt x="708349" y="423133"/>
                  </a:lnTo>
                  <a:lnTo>
                    <a:pt x="720159" y="382183"/>
                  </a:lnTo>
                  <a:lnTo>
                    <a:pt x="729274" y="341433"/>
                  </a:lnTo>
                  <a:lnTo>
                    <a:pt x="735644" y="300982"/>
                  </a:lnTo>
                  <a:lnTo>
                    <a:pt x="739219" y="260929"/>
                  </a:lnTo>
                  <a:lnTo>
                    <a:pt x="739948" y="221372"/>
                  </a:lnTo>
                  <a:lnTo>
                    <a:pt x="737780" y="182411"/>
                  </a:lnTo>
                  <a:lnTo>
                    <a:pt x="732666" y="144145"/>
                  </a:lnTo>
                  <a:lnTo>
                    <a:pt x="724555" y="106672"/>
                  </a:lnTo>
                  <a:lnTo>
                    <a:pt x="713397" y="70090"/>
                  </a:lnTo>
                  <a:lnTo>
                    <a:pt x="699140" y="34500"/>
                  </a:lnTo>
                  <a:lnTo>
                    <a:pt x="681735" y="0"/>
                  </a:lnTo>
                  <a:close/>
                </a:path>
              </a:pathLst>
            </a:custGeom>
            <a:solidFill>
              <a:srgbClr val="CD0000"/>
            </a:solidFill>
          </p:spPr>
          <p:txBody>
            <a:bodyPr wrap="square" lIns="0" tIns="0" rIns="0" bIns="0" rtlCol="0"/>
            <a:lstStyle/>
            <a:p>
              <a:endParaRPr/>
            </a:p>
          </p:txBody>
        </p:sp>
        <p:sp>
          <p:nvSpPr>
            <p:cNvPr id="18" name="object 13">
              <a:extLst>
                <a:ext uri="{FF2B5EF4-FFF2-40B4-BE49-F238E27FC236}">
                  <a16:creationId xmlns:a16="http://schemas.microsoft.com/office/drawing/2014/main" id="{08FA41D1-10CC-8D3C-D36B-284C922A94D7}"/>
                </a:ext>
              </a:extLst>
            </p:cNvPr>
            <p:cNvSpPr/>
            <p:nvPr/>
          </p:nvSpPr>
          <p:spPr>
            <a:xfrm>
              <a:off x="4427728" y="2566923"/>
              <a:ext cx="1847850" cy="1373505"/>
            </a:xfrm>
            <a:custGeom>
              <a:avLst/>
              <a:gdLst/>
              <a:ahLst/>
              <a:cxnLst/>
              <a:rect l="l" t="t" r="r" b="b"/>
              <a:pathLst>
                <a:path w="1847850" h="1373504">
                  <a:moveTo>
                    <a:pt x="1178560" y="1092453"/>
                  </a:moveTo>
                  <a:lnTo>
                    <a:pt x="1128301" y="1115825"/>
                  </a:lnTo>
                  <a:lnTo>
                    <a:pt x="1077618" y="1137089"/>
                  </a:lnTo>
                  <a:lnTo>
                    <a:pt x="1026632" y="1156219"/>
                  </a:lnTo>
                  <a:lnTo>
                    <a:pt x="975463" y="1173188"/>
                  </a:lnTo>
                  <a:lnTo>
                    <a:pt x="924232" y="1187967"/>
                  </a:lnTo>
                  <a:lnTo>
                    <a:pt x="873061" y="1200530"/>
                  </a:lnTo>
                  <a:lnTo>
                    <a:pt x="822069" y="1210850"/>
                  </a:lnTo>
                  <a:lnTo>
                    <a:pt x="771379" y="1218898"/>
                  </a:lnTo>
                  <a:lnTo>
                    <a:pt x="721109" y="1224649"/>
                  </a:lnTo>
                  <a:lnTo>
                    <a:pt x="671383" y="1228073"/>
                  </a:lnTo>
                  <a:lnTo>
                    <a:pt x="622319" y="1229144"/>
                  </a:lnTo>
                  <a:lnTo>
                    <a:pt x="574039" y="1227836"/>
                  </a:lnTo>
                  <a:lnTo>
                    <a:pt x="689101" y="1163446"/>
                  </a:lnTo>
                  <a:lnTo>
                    <a:pt x="0" y="1002156"/>
                  </a:lnTo>
                  <a:lnTo>
                    <a:pt x="314833" y="1372996"/>
                  </a:lnTo>
                  <a:lnTo>
                    <a:pt x="429895" y="1308608"/>
                  </a:lnTo>
                  <a:lnTo>
                    <a:pt x="476522" y="1309911"/>
                  </a:lnTo>
                  <a:lnTo>
                    <a:pt x="523857" y="1308994"/>
                  </a:lnTo>
                  <a:lnTo>
                    <a:pt x="571791" y="1305885"/>
                  </a:lnTo>
                  <a:lnTo>
                    <a:pt x="620216" y="1300612"/>
                  </a:lnTo>
                  <a:lnTo>
                    <a:pt x="669023" y="1293202"/>
                  </a:lnTo>
                  <a:lnTo>
                    <a:pt x="718104" y="1283681"/>
                  </a:lnTo>
                  <a:lnTo>
                    <a:pt x="767349" y="1272079"/>
                  </a:lnTo>
                  <a:lnTo>
                    <a:pt x="816651" y="1258422"/>
                  </a:lnTo>
                  <a:lnTo>
                    <a:pt x="865901" y="1242738"/>
                  </a:lnTo>
                  <a:lnTo>
                    <a:pt x="914990" y="1225054"/>
                  </a:lnTo>
                  <a:lnTo>
                    <a:pt x="963810" y="1205398"/>
                  </a:lnTo>
                  <a:lnTo>
                    <a:pt x="1012251" y="1183797"/>
                  </a:lnTo>
                  <a:lnTo>
                    <a:pt x="1060206" y="1160279"/>
                  </a:lnTo>
                  <a:lnTo>
                    <a:pt x="1107567" y="1134871"/>
                  </a:lnTo>
                  <a:lnTo>
                    <a:pt x="1251712" y="1054100"/>
                  </a:lnTo>
                  <a:lnTo>
                    <a:pt x="1301618" y="1024874"/>
                  </a:lnTo>
                  <a:lnTo>
                    <a:pt x="1349688" y="994167"/>
                  </a:lnTo>
                  <a:lnTo>
                    <a:pt x="1395869" y="962079"/>
                  </a:lnTo>
                  <a:lnTo>
                    <a:pt x="1440111" y="928709"/>
                  </a:lnTo>
                  <a:lnTo>
                    <a:pt x="1482364" y="894154"/>
                  </a:lnTo>
                  <a:lnTo>
                    <a:pt x="1522578" y="858514"/>
                  </a:lnTo>
                  <a:lnTo>
                    <a:pt x="1560702" y="821888"/>
                  </a:lnTo>
                  <a:lnTo>
                    <a:pt x="1596686" y="784374"/>
                  </a:lnTo>
                  <a:lnTo>
                    <a:pt x="1630480" y="746072"/>
                  </a:lnTo>
                  <a:lnTo>
                    <a:pt x="1662032" y="707081"/>
                  </a:lnTo>
                  <a:lnTo>
                    <a:pt x="1691293" y="667498"/>
                  </a:lnTo>
                  <a:lnTo>
                    <a:pt x="1718212" y="627424"/>
                  </a:lnTo>
                  <a:lnTo>
                    <a:pt x="1742739" y="586956"/>
                  </a:lnTo>
                  <a:lnTo>
                    <a:pt x="1764823" y="546195"/>
                  </a:lnTo>
                  <a:lnTo>
                    <a:pt x="1784414" y="505238"/>
                  </a:lnTo>
                  <a:lnTo>
                    <a:pt x="1801462" y="464184"/>
                  </a:lnTo>
                  <a:lnTo>
                    <a:pt x="1815916" y="423133"/>
                  </a:lnTo>
                  <a:lnTo>
                    <a:pt x="1827726" y="382183"/>
                  </a:lnTo>
                  <a:lnTo>
                    <a:pt x="1836841" y="341433"/>
                  </a:lnTo>
                  <a:lnTo>
                    <a:pt x="1843211" y="300982"/>
                  </a:lnTo>
                  <a:lnTo>
                    <a:pt x="1846786" y="260929"/>
                  </a:lnTo>
                  <a:lnTo>
                    <a:pt x="1847515" y="221372"/>
                  </a:lnTo>
                  <a:lnTo>
                    <a:pt x="1845347" y="182411"/>
                  </a:lnTo>
                  <a:lnTo>
                    <a:pt x="1840233" y="144145"/>
                  </a:lnTo>
                  <a:lnTo>
                    <a:pt x="1832122" y="106672"/>
                  </a:lnTo>
                  <a:lnTo>
                    <a:pt x="1820964" y="70090"/>
                  </a:lnTo>
                  <a:lnTo>
                    <a:pt x="1806707" y="34500"/>
                  </a:lnTo>
                  <a:lnTo>
                    <a:pt x="1789302" y="0"/>
                  </a:lnTo>
                  <a:lnTo>
                    <a:pt x="1645031" y="80772"/>
                  </a:lnTo>
                  <a:lnTo>
                    <a:pt x="1662436" y="115272"/>
                  </a:lnTo>
                  <a:lnTo>
                    <a:pt x="1676693" y="150862"/>
                  </a:lnTo>
                  <a:lnTo>
                    <a:pt x="1687854" y="187444"/>
                  </a:lnTo>
                  <a:lnTo>
                    <a:pt x="1695968" y="224917"/>
                  </a:lnTo>
                  <a:lnTo>
                    <a:pt x="1701086" y="263183"/>
                  </a:lnTo>
                  <a:lnTo>
                    <a:pt x="1703258" y="302144"/>
                  </a:lnTo>
                  <a:lnTo>
                    <a:pt x="1702534" y="341701"/>
                  </a:lnTo>
                  <a:lnTo>
                    <a:pt x="1698964" y="381754"/>
                  </a:lnTo>
                  <a:lnTo>
                    <a:pt x="1692600" y="422205"/>
                  </a:lnTo>
                  <a:lnTo>
                    <a:pt x="1683491" y="462955"/>
                  </a:lnTo>
                  <a:lnTo>
                    <a:pt x="1671688" y="503905"/>
                  </a:lnTo>
                  <a:lnTo>
                    <a:pt x="1657240" y="544956"/>
                  </a:lnTo>
                  <a:lnTo>
                    <a:pt x="1640199" y="586010"/>
                  </a:lnTo>
                  <a:lnTo>
                    <a:pt x="1620615" y="626967"/>
                  </a:lnTo>
                  <a:lnTo>
                    <a:pt x="1598537" y="667728"/>
                  </a:lnTo>
                  <a:lnTo>
                    <a:pt x="1574017" y="708196"/>
                  </a:lnTo>
                  <a:lnTo>
                    <a:pt x="1547105" y="748270"/>
                  </a:lnTo>
                  <a:lnTo>
                    <a:pt x="1517850" y="787853"/>
                  </a:lnTo>
                  <a:lnTo>
                    <a:pt x="1486304" y="826844"/>
                  </a:lnTo>
                  <a:lnTo>
                    <a:pt x="1452516" y="865146"/>
                  </a:lnTo>
                  <a:lnTo>
                    <a:pt x="1416538" y="902660"/>
                  </a:lnTo>
                  <a:lnTo>
                    <a:pt x="1378418" y="939286"/>
                  </a:lnTo>
                  <a:lnTo>
                    <a:pt x="1338209" y="974926"/>
                  </a:lnTo>
                  <a:lnTo>
                    <a:pt x="1295959" y="1009481"/>
                  </a:lnTo>
                  <a:lnTo>
                    <a:pt x="1251720" y="1042851"/>
                  </a:lnTo>
                  <a:lnTo>
                    <a:pt x="1205541" y="1074939"/>
                  </a:lnTo>
                  <a:lnTo>
                    <a:pt x="1157473" y="1105646"/>
                  </a:lnTo>
                  <a:lnTo>
                    <a:pt x="1107567" y="1134871"/>
                  </a:lnTo>
                </a:path>
              </a:pathLst>
            </a:custGeom>
            <a:ln w="25400">
              <a:solidFill>
                <a:srgbClr val="FFFF00"/>
              </a:solidFill>
            </a:ln>
          </p:spPr>
          <p:txBody>
            <a:bodyPr wrap="square" lIns="0" tIns="0" rIns="0" bIns="0" rtlCol="0"/>
            <a:lstStyle/>
            <a:p>
              <a:endParaRPr/>
            </a:p>
          </p:txBody>
        </p:sp>
      </p:grpSp>
      <p:sp>
        <p:nvSpPr>
          <p:cNvPr id="19" name="object 14">
            <a:extLst>
              <a:ext uri="{FF2B5EF4-FFF2-40B4-BE49-F238E27FC236}">
                <a16:creationId xmlns:a16="http://schemas.microsoft.com/office/drawing/2014/main" id="{121049D8-6D77-5A13-9449-79B02673A93E}"/>
              </a:ext>
            </a:extLst>
          </p:cNvPr>
          <p:cNvSpPr txBox="1"/>
          <p:nvPr/>
        </p:nvSpPr>
        <p:spPr>
          <a:xfrm>
            <a:off x="10370188" y="6477841"/>
            <a:ext cx="140652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芹菜叶柄横切</a:t>
            </a:r>
            <a:endParaRPr sz="1800">
              <a:latin typeface="Microsoft JhengHei"/>
              <a:cs typeface="Microsoft JhengHei"/>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1585" name="Rectangle 3"/>
          <p:cNvSpPr>
            <a:spLocks noGrp="1"/>
          </p:cNvSpPr>
          <p:nvPr>
            <p:ph idx="1"/>
          </p:nvPr>
        </p:nvSpPr>
        <p:spPr>
          <a:xfrm>
            <a:off x="125413" y="908050"/>
            <a:ext cx="8893175"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机械组织</a:t>
            </a:r>
            <a:r>
              <a:rPr lang="en-US" altLang="zh-CN" b="1" dirty="0">
                <a:latin typeface="黑体" panose="02010609060101010101" pitchFamily="49" charset="-122"/>
                <a:ea typeface="黑体" panose="02010609060101010101" pitchFamily="49" charset="-122"/>
              </a:rPr>
              <a:t>——⑴</a:t>
            </a:r>
            <a:r>
              <a:rPr lang="zh-CN" altLang="en-US" b="1" dirty="0">
                <a:solidFill>
                  <a:srgbClr val="FF0000"/>
                </a:solidFill>
                <a:latin typeface="黑体" panose="02010609060101010101" pitchFamily="49" charset="-122"/>
                <a:ea typeface="黑体" panose="02010609060101010101" pitchFamily="49" charset="-122"/>
              </a:rPr>
              <a:t>厚角组织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组织特征</a:t>
            </a:r>
          </a:p>
          <a:p>
            <a:pPr lvl="1" eaLnBrk="1" hangingPunct="1">
              <a:lnSpc>
                <a:spcPts val="2875"/>
              </a:lnSpc>
            </a:pPr>
            <a:r>
              <a:rPr lang="zh-CN" altLang="en-US" b="1" dirty="0">
                <a:latin typeface="黑体" panose="02010609060101010101" pitchFamily="49" charset="-122"/>
                <a:ea typeface="黑体" panose="02010609060101010101" pitchFamily="49" charset="-122"/>
              </a:rPr>
              <a:t>细胞类型：厚角组织细胞</a:t>
            </a:r>
          </a:p>
          <a:p>
            <a:pPr lvl="1" eaLnBrk="1" hangingPunct="1">
              <a:lnSpc>
                <a:spcPts val="2875"/>
              </a:lnSpc>
            </a:pPr>
            <a:r>
              <a:rPr lang="zh-CN" altLang="en-US" b="1" dirty="0">
                <a:latin typeface="黑体" panose="02010609060101010101" pitchFamily="49" charset="-122"/>
                <a:ea typeface="黑体" panose="02010609060101010101" pitchFamily="49" charset="-122"/>
              </a:rPr>
              <a:t>细胞特征</a:t>
            </a:r>
            <a:r>
              <a:rPr lang="zh-CN" altLang="en-US" sz="2000" b="1" dirty="0">
                <a:latin typeface="黑体" panose="02010609060101010101" pitchFamily="49" charset="-122"/>
                <a:ea typeface="黑体" panose="02010609060101010101" pitchFamily="49" charset="-122"/>
              </a:rPr>
              <a:t>：</a:t>
            </a:r>
          </a:p>
          <a:p>
            <a:pPr marL="914400" lvl="2" indent="0" eaLnBrk="1" hangingPunct="1">
              <a:lnSpc>
                <a:spcPts val="2875"/>
              </a:lnSpc>
              <a:buNone/>
            </a:pPr>
            <a:r>
              <a:rPr lang="zh-CN" altLang="en-US" b="1" dirty="0">
                <a:solidFill>
                  <a:srgbClr val="0000FF"/>
                </a:solidFill>
                <a:latin typeface="黑体" panose="02010609060101010101" pitchFamily="49" charset="-122"/>
                <a:ea typeface="黑体" panose="02010609060101010101" pitchFamily="49" charset="-122"/>
              </a:rPr>
              <a:t>形态及加厚方式：</a:t>
            </a:r>
            <a:r>
              <a:rPr lang="zh-CN" altLang="en-US" b="1" dirty="0">
                <a:solidFill>
                  <a:schemeClr val="tx1"/>
                </a:solidFill>
                <a:latin typeface="黑体" panose="02010609060101010101" pitchFamily="49" charset="-122"/>
                <a:ea typeface="黑体" panose="02010609060101010101" pitchFamily="49" charset="-122"/>
              </a:rPr>
              <a:t>长梭形；细胞壁为初生壁性质的不均匀增厚，细胞邻接处的角隅处的加厚特别明显（故称厚角组织）。</a:t>
            </a:r>
          </a:p>
          <a:p>
            <a:pPr marL="914400" lvl="2" indent="0" eaLnBrk="1" hangingPunct="1">
              <a:lnSpc>
                <a:spcPts val="2875"/>
              </a:lnSpc>
              <a:buNone/>
            </a:pPr>
            <a:r>
              <a:rPr lang="zh-CN" altLang="en-US" b="1" dirty="0">
                <a:solidFill>
                  <a:srgbClr val="0000FF"/>
                </a:solidFill>
                <a:latin typeface="黑体" panose="02010609060101010101" pitchFamily="49" charset="-122"/>
                <a:ea typeface="黑体" panose="02010609060101010101" pitchFamily="49" charset="-122"/>
              </a:rPr>
              <a:t>加厚壁化学成分：</a:t>
            </a:r>
            <a:r>
              <a:rPr lang="zh-CN" altLang="en-US" b="1" dirty="0">
                <a:solidFill>
                  <a:schemeClr val="tx1"/>
                </a:solidFill>
                <a:latin typeface="黑体" panose="02010609060101010101" pitchFamily="49" charset="-122"/>
                <a:ea typeface="黑体" panose="02010609060101010101" pitchFamily="49" charset="-122"/>
              </a:rPr>
              <a:t>除纤维素外，还有大量的果胶和半纤维素，不含木质。果胶的强烈的亲水性使壁中含大量水分，光镜下，增厚的壁显出特殊的珠光，可与其他组织区别</a:t>
            </a:r>
            <a:r>
              <a:rPr lang="zh-CN" altLang="en-US" b="1" dirty="0">
                <a:solidFill>
                  <a:srgbClr val="0000FF"/>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永久片中看不到珠光，为什么？</a:t>
            </a:r>
            <a:r>
              <a:rPr lang="zh-CN" altLang="en-US" b="1" dirty="0">
                <a:solidFill>
                  <a:srgbClr val="0000FF"/>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a:t>
            </a:r>
          </a:p>
          <a:p>
            <a:pPr marL="914400" lvl="2" indent="0" eaLnBrk="1" hangingPunct="1">
              <a:lnSpc>
                <a:spcPts val="2875"/>
              </a:lnSpc>
              <a:buNone/>
            </a:pPr>
            <a:r>
              <a:rPr lang="zh-CN" altLang="en-US" b="1" dirty="0">
                <a:solidFill>
                  <a:srgbClr val="0000FF"/>
                </a:solidFill>
                <a:latin typeface="黑体" panose="02010609060101010101" pitchFamily="49" charset="-122"/>
                <a:ea typeface="黑体" panose="02010609060101010101" pitchFamily="49" charset="-122"/>
              </a:rPr>
              <a:t>生理特征：</a:t>
            </a:r>
            <a:r>
              <a:rPr lang="zh-CN" altLang="en-US" b="1" dirty="0">
                <a:solidFill>
                  <a:schemeClr val="tx1"/>
                </a:solidFill>
                <a:latin typeface="黑体" panose="02010609060101010101" pitchFamily="49" charset="-122"/>
                <a:ea typeface="黑体" panose="02010609060101010101" pitchFamily="49" charset="-122"/>
              </a:rPr>
              <a:t>活细胞，具叶绿体，因分化程度小而具有较强的分裂潜能，细胞壁能随器官的生长而伸长。</a:t>
            </a:r>
          </a:p>
          <a:p>
            <a:pPr lvl="1" eaLnBrk="1" hangingPunct="1">
              <a:lnSpc>
                <a:spcPts val="2875"/>
              </a:lnSpc>
            </a:pPr>
            <a:r>
              <a:rPr lang="zh-CN" altLang="en-US" b="1" dirty="0">
                <a:latin typeface="黑体" panose="02010609060101010101" pitchFamily="49" charset="-122"/>
                <a:ea typeface="黑体" panose="02010609060101010101" pitchFamily="49" charset="-122"/>
              </a:rPr>
              <a:t>排列方式：排列紧密。在横切面上多成束排列，在纵切面上，细胞呈相互重叠排列，顶端有一定的交错。 </a:t>
            </a:r>
          </a:p>
        </p:txBody>
      </p:sp>
      <p:grpSp>
        <p:nvGrpSpPr>
          <p:cNvPr id="244744" name="Group 8"/>
          <p:cNvGrpSpPr/>
          <p:nvPr/>
        </p:nvGrpSpPr>
        <p:grpSpPr>
          <a:xfrm>
            <a:off x="1763713" y="1341438"/>
            <a:ext cx="5867400" cy="4691062"/>
            <a:chOff x="1056" y="1085"/>
            <a:chExt cx="3696" cy="2955"/>
          </a:xfrm>
        </p:grpSpPr>
        <p:pic>
          <p:nvPicPr>
            <p:cNvPr id="451587" name="Picture 6" descr="D:\Documents and Settings\LiuZC\桌面\教学素材\细胞与组织\薄荷茎厚角组织.jpg"/>
            <p:cNvPicPr>
              <a:picLocks noChangeAspect="1"/>
            </p:cNvPicPr>
            <p:nvPr/>
          </p:nvPicPr>
          <p:blipFill>
            <a:blip r:embed="rId3"/>
            <a:stretch>
              <a:fillRect/>
            </a:stretch>
          </p:blipFill>
          <p:spPr>
            <a:xfrm>
              <a:off x="1056" y="1085"/>
              <a:ext cx="3696" cy="2955"/>
            </a:xfrm>
            <a:prstGeom prst="rect">
              <a:avLst/>
            </a:prstGeom>
            <a:noFill/>
            <a:ln w="9525">
              <a:noFill/>
            </a:ln>
          </p:spPr>
        </p:pic>
        <p:sp>
          <p:nvSpPr>
            <p:cNvPr id="451588" name="Text Box 7"/>
            <p:cNvSpPr txBox="1"/>
            <p:nvPr/>
          </p:nvSpPr>
          <p:spPr>
            <a:xfrm>
              <a:off x="1848" y="3744"/>
              <a:ext cx="2160" cy="288"/>
            </a:xfrm>
            <a:prstGeom prst="rect">
              <a:avLst/>
            </a:prstGeom>
            <a:noFill/>
            <a:ln w="9525">
              <a:noFill/>
            </a:ln>
          </p:spPr>
          <p:txBody>
            <a:bodyPr anchor="t" anchorCtr="0">
              <a:spAutoFit/>
            </a:bodyPr>
            <a:lstStyle/>
            <a:p>
              <a:pPr algn="ctr">
                <a:spcBef>
                  <a:spcPct val="50000"/>
                </a:spcBef>
              </a:pPr>
              <a:r>
                <a:rPr lang="zh-CN" altLang="en-US" dirty="0">
                  <a:solidFill>
                    <a:srgbClr val="FFFF00"/>
                  </a:solidFill>
                  <a:latin typeface="Tahoma" panose="020B0604030504040204" pitchFamily="34" charset="0"/>
                  <a:ea typeface="华文新魏" panose="02010800040101010101" pitchFamily="2" charset="-122"/>
                </a:rPr>
                <a:t>薄荷厚角组织显微照片</a:t>
              </a:r>
            </a:p>
          </p:txBody>
        </p:sp>
      </p:grpSp>
      <p:sp>
        <p:nvSpPr>
          <p:cNvPr id="451589" name="Rectangle 5"/>
          <p:cNvSpPr>
            <a:spLocks noGrp="1"/>
          </p:cNvSpPr>
          <p:nvPr>
            <p:ph type="title"/>
          </p:nvPr>
        </p:nvSpPr>
        <p:spPr>
          <a:xfrm>
            <a:off x="15875" y="-152400"/>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4744"/>
                                        </p:tgtEl>
                                        <p:attrNameLst>
                                          <p:attrName>style.visibility</p:attrName>
                                        </p:attrNameLst>
                                      </p:cBhvr>
                                      <p:to>
                                        <p:strVal val="visible"/>
                                      </p:to>
                                    </p:set>
                                    <p:animEffect transition="in" filter="dissolve">
                                      <p:cBhvr>
                                        <p:cTn id="7" dur="500"/>
                                        <p:tgtEl>
                                          <p:spTgt spid="24474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日期占位符 3"/>
          <p:cNvSpPr txBox="1">
            <a:spLocks noGrp="1"/>
          </p:cNvSpPr>
          <p:nvPr>
            <p:ph type="dt" sz="half" idx="2"/>
          </p:nvPr>
        </p:nvSpPr>
        <p:spPr bwMode="auto"/>
        <p:txBody>
          <a:bodyPr wrap="square" lIns="91440" tIns="45720" rIns="91440" bIns="45720" numCol="1" anchor="b" anchorCtr="0" compatLnSpc="1"/>
          <a:lstStyle/>
          <a:p>
            <a:pPr marL="0" marR="0" lvl="0" indent="0" algn="l" defTabSz="914400" rtl="0" eaLnBrk="1" fontAlgn="base" latinLnBrk="0" hangingPunct="1">
              <a:lnSpc>
                <a:spcPct val="10000"/>
              </a:lnSpc>
              <a:spcBef>
                <a:spcPct val="0"/>
              </a:spcBef>
              <a:spcAft>
                <a:spcPct val="0"/>
              </a:spcAft>
              <a:buClrTx/>
              <a:buSzTx/>
              <a:buFontTx/>
              <a:buNone/>
              <a:defRPr/>
            </a:pPr>
            <a:fld id="{A7994A48-2B8A-47FA-A335-9E2F4DA87649}"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452610" name="灯片编号占位符 5"/>
          <p:cNvSpPr>
            <a:spLocks noGrp="1"/>
          </p:cNvSpPr>
          <p:nvPr>
            <p:ph type="sldNum" sz="quarter" idx="4"/>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5pPr>
          </a:lstStyle>
          <a:p>
            <a:pPr lvl="0" algn="r">
              <a:lnSpc>
                <a:spcPct val="10000"/>
              </a:lnSpc>
            </a:pPr>
            <a:fld id="{9A0DB2DC-4C9A-4742-B13C-FB6460FD3503}" type="slidenum">
              <a:rPr lang="en-US" altLang="zh-CN" sz="2000" dirty="0">
                <a:solidFill>
                  <a:srgbClr val="FF0000"/>
                </a:solidFill>
                <a:latin typeface="华文新魏" panose="02010800040101010101" pitchFamily="2" charset="-122"/>
              </a:rPr>
              <a:t>59</a:t>
            </a:fld>
            <a:r>
              <a:rPr lang="en-US" altLang="zh-CN" sz="2000" dirty="0">
                <a:solidFill>
                  <a:srgbClr val="FF0000"/>
                </a:solidFill>
                <a:latin typeface="华文新魏" panose="02010800040101010101" pitchFamily="2" charset="-122"/>
              </a:rPr>
              <a:t>/172</a:t>
            </a:r>
          </a:p>
        </p:txBody>
      </p:sp>
      <p:pic>
        <p:nvPicPr>
          <p:cNvPr id="452611" name="Picture 2" descr="D:\lzc\植物学教学材料\植物学教学资料收集\挂图\植物组织\植物组织.jpg"/>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52612" name="Rectangle 4"/>
          <p:cNvSpPr>
            <a:spLocks noGrp="1"/>
          </p:cNvSpPr>
          <p:nvPr>
            <p:ph idx="1"/>
          </p:nvPr>
        </p:nvSpPr>
        <p:spPr/>
        <p:txBody>
          <a:bodyPr vert="horz" wrap="square" lIns="91440" tIns="45720" rIns="91440" bIns="45720" anchor="t" anchorCtr="0"/>
          <a:lstStyle/>
          <a:p>
            <a:pPr eaLnBrk="1" hangingPunct="1">
              <a:buNone/>
            </a:pPr>
            <a:endParaRPr lang="en-US" altLang="zh-CN" sz="1900" dirty="0">
              <a:solidFill>
                <a:srgbClr val="FF3300"/>
              </a:solidFill>
              <a:latin typeface="华文新魏" panose="02010800040101010101" pitchFamily="2" charset="-122"/>
            </a:endParaRPr>
          </a:p>
          <a:p>
            <a:pPr eaLnBrk="1" hangingPunct="1">
              <a:buNone/>
            </a:pPr>
            <a:endParaRPr lang="en-US" altLang="zh-CN" sz="1900" dirty="0">
              <a:solidFill>
                <a:srgbClr val="FF3300"/>
              </a:solidFill>
              <a:latin typeface="华文新魏" panose="02010800040101010101" pitchFamily="2" charset="-122"/>
            </a:endParaRPr>
          </a:p>
        </p:txBody>
      </p:sp>
      <p:sp>
        <p:nvSpPr>
          <p:cNvPr id="452613" name="Text Box 5"/>
          <p:cNvSpPr txBox="1"/>
          <p:nvPr/>
        </p:nvSpPr>
        <p:spPr>
          <a:xfrm>
            <a:off x="2667000" y="5305425"/>
            <a:ext cx="457200" cy="1552575"/>
          </a:xfrm>
          <a:prstGeom prst="rect">
            <a:avLst/>
          </a:prstGeom>
          <a:no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hlinkClick r:id="rId3" action="ppaction://hlinksldjump"/>
              </a:rPr>
              <a:t>薄壁组织</a:t>
            </a:r>
            <a:endParaRPr lang="zh-CN" altLang="en-US" dirty="0">
              <a:solidFill>
                <a:srgbClr val="FF3300"/>
              </a:solidFill>
              <a:latin typeface="Times New Roman" panose="02020603050405020304" pitchFamily="18" charset="0"/>
              <a:ea typeface="华文新魏" panose="02010800040101010101" pitchFamily="2" charset="-122"/>
            </a:endParaRPr>
          </a:p>
        </p:txBody>
      </p:sp>
      <p:sp>
        <p:nvSpPr>
          <p:cNvPr id="452614" name="Text Box 6"/>
          <p:cNvSpPr txBox="1"/>
          <p:nvPr/>
        </p:nvSpPr>
        <p:spPr>
          <a:xfrm>
            <a:off x="5562600" y="5305425"/>
            <a:ext cx="457200" cy="1552575"/>
          </a:xfrm>
          <a:prstGeom prst="rect">
            <a:avLst/>
          </a:prstGeom>
          <a:no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hlinkClick r:id="rId4" action="ppaction://hlinksldjump"/>
              </a:rPr>
              <a:t>厚角组织</a:t>
            </a:r>
            <a:endParaRPr lang="zh-CN" altLang="en-US" dirty="0">
              <a:solidFill>
                <a:srgbClr val="FF3300"/>
              </a:solidFill>
              <a:latin typeface="Times New Roman" panose="02020603050405020304" pitchFamily="18" charset="0"/>
              <a:ea typeface="华文新魏" panose="02010800040101010101" pitchFamily="2" charset="-122"/>
            </a:endParaRPr>
          </a:p>
        </p:txBody>
      </p:sp>
      <p:sp>
        <p:nvSpPr>
          <p:cNvPr id="452615" name="Text Box 7"/>
          <p:cNvSpPr txBox="1"/>
          <p:nvPr/>
        </p:nvSpPr>
        <p:spPr>
          <a:xfrm>
            <a:off x="8686800" y="5305425"/>
            <a:ext cx="457200" cy="1552575"/>
          </a:xfrm>
          <a:prstGeom prst="rect">
            <a:avLst/>
          </a:prstGeom>
          <a:no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hlinkClick r:id="rId5" action="ppaction://hlinksldjump"/>
              </a:rPr>
              <a:t>厚壁组织</a:t>
            </a:r>
            <a:endParaRPr lang="zh-CN" altLang="en-US" dirty="0">
              <a:solidFill>
                <a:srgbClr val="FF3300"/>
              </a:solidFill>
              <a:latin typeface="Times New Roman" panose="02020603050405020304" pitchFamily="18" charset="0"/>
              <a:ea typeface="华文新魏" panose="02010800040101010101" pitchFamily="2" charset="-122"/>
            </a:endParaRPr>
          </a:p>
        </p:txBody>
      </p:sp>
      <p:sp>
        <p:nvSpPr>
          <p:cNvPr id="452616" name="Line 8"/>
          <p:cNvSpPr/>
          <p:nvPr/>
        </p:nvSpPr>
        <p:spPr>
          <a:xfrm>
            <a:off x="1447800" y="4419600"/>
            <a:ext cx="762000" cy="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452617" name="Text Box 9"/>
          <p:cNvSpPr txBox="1"/>
          <p:nvPr/>
        </p:nvSpPr>
        <p:spPr>
          <a:xfrm>
            <a:off x="2209800" y="4191000"/>
            <a:ext cx="914400" cy="457200"/>
          </a:xfrm>
          <a:prstGeom prst="rect">
            <a:avLst/>
          </a:prstGeom>
          <a:no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纵切</a:t>
            </a:r>
          </a:p>
        </p:txBody>
      </p:sp>
      <p:sp>
        <p:nvSpPr>
          <p:cNvPr id="452618" name="Line 10"/>
          <p:cNvSpPr/>
          <p:nvPr/>
        </p:nvSpPr>
        <p:spPr>
          <a:xfrm flipH="1">
            <a:off x="2895600" y="4419600"/>
            <a:ext cx="533400" cy="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452619" name="Text Box 11"/>
          <p:cNvSpPr txBox="1"/>
          <p:nvPr/>
        </p:nvSpPr>
        <p:spPr>
          <a:xfrm>
            <a:off x="7848600" y="4267200"/>
            <a:ext cx="1295400" cy="457200"/>
          </a:xfrm>
          <a:prstGeom prst="rect">
            <a:avLst/>
          </a:prstGeom>
          <a:no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纤维</a:t>
            </a:r>
            <a:r>
              <a:rPr lang="zh-CN" altLang="en-US" sz="1900" dirty="0">
                <a:solidFill>
                  <a:srgbClr val="FF3300"/>
                </a:solidFill>
                <a:latin typeface="Times New Roman" panose="02020603050405020304" pitchFamily="18" charset="0"/>
                <a:ea typeface="华文新魏" panose="02010800040101010101" pitchFamily="2" charset="-122"/>
              </a:rPr>
              <a:t>纵切</a:t>
            </a:r>
          </a:p>
        </p:txBody>
      </p:sp>
      <p:sp>
        <p:nvSpPr>
          <p:cNvPr id="452620" name="Line 12"/>
          <p:cNvSpPr/>
          <p:nvPr/>
        </p:nvSpPr>
        <p:spPr>
          <a:xfrm>
            <a:off x="7391400" y="4495800"/>
            <a:ext cx="457200" cy="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452621" name="Line 13"/>
          <p:cNvSpPr/>
          <p:nvPr/>
        </p:nvSpPr>
        <p:spPr>
          <a:xfrm>
            <a:off x="7924800" y="1143000"/>
            <a:ext cx="381000" cy="25146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452622" name="Line 14"/>
          <p:cNvSpPr/>
          <p:nvPr/>
        </p:nvSpPr>
        <p:spPr>
          <a:xfrm flipH="1">
            <a:off x="8382000" y="2590800"/>
            <a:ext cx="76200" cy="1143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452623" name="Text Box 15"/>
          <p:cNvSpPr txBox="1"/>
          <p:nvPr/>
        </p:nvSpPr>
        <p:spPr>
          <a:xfrm>
            <a:off x="7848600" y="3581400"/>
            <a:ext cx="12954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华文新魏" panose="02010800040101010101" pitchFamily="2" charset="-122"/>
              </a:rPr>
              <a:t>石细胞</a:t>
            </a:r>
          </a:p>
        </p:txBody>
      </p:sp>
      <p:sp>
        <p:nvSpPr>
          <p:cNvPr id="452624"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3633" name="Rectangle 3"/>
          <p:cNvSpPr>
            <a:spLocks noGrp="1"/>
          </p:cNvSpPr>
          <p:nvPr>
            <p:ph idx="1"/>
          </p:nvPr>
        </p:nvSpPr>
        <p:spPr>
          <a:xfrm>
            <a:off x="0" y="1057275"/>
            <a:ext cx="9144000" cy="5562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机械组织</a:t>
            </a:r>
            <a:r>
              <a:rPr lang="en-US" altLang="zh-CN" b="1" dirty="0">
                <a:latin typeface="黑体" panose="02010609060101010101" pitchFamily="49" charset="-122"/>
                <a:ea typeface="黑体" panose="02010609060101010101" pitchFamily="49" charset="-122"/>
              </a:rPr>
              <a:t>——⑵</a:t>
            </a:r>
            <a:r>
              <a:rPr lang="zh-CN" altLang="en-US" b="1" dirty="0">
                <a:solidFill>
                  <a:srgbClr val="FF0000"/>
                </a:solidFill>
                <a:latin typeface="黑体" panose="02010609060101010101" pitchFamily="49" charset="-122"/>
                <a:ea typeface="黑体" panose="02010609060101010101" pitchFamily="49" charset="-122"/>
              </a:rPr>
              <a:t>厚壁组织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主要特征</a:t>
            </a:r>
          </a:p>
          <a:p>
            <a:pPr lvl="1" eaLnBrk="1" hangingPunct="1">
              <a:lnSpc>
                <a:spcPct val="80000"/>
              </a:lnSpc>
            </a:pPr>
            <a:r>
              <a:rPr lang="zh-CN" altLang="en-US" b="1" dirty="0">
                <a:solidFill>
                  <a:srgbClr val="FF0000"/>
                </a:solidFill>
                <a:latin typeface="黑体" panose="02010609060101010101" pitchFamily="49" charset="-122"/>
                <a:ea typeface="黑体" panose="02010609060101010101" pitchFamily="49" charset="-122"/>
              </a:rPr>
              <a:t>位置和来源：</a:t>
            </a:r>
            <a:r>
              <a:rPr lang="zh-CN" altLang="en-US" b="1" dirty="0">
                <a:latin typeface="黑体" panose="02010609060101010101" pitchFamily="49" charset="-122"/>
                <a:ea typeface="黑体" panose="02010609060101010101" pitchFamily="49" charset="-122"/>
              </a:rPr>
              <a:t>位于基本组织、维管组织中；分别来源于基本分生组织和维管形成层。</a:t>
            </a:r>
          </a:p>
          <a:p>
            <a:pPr lvl="1" eaLnBrk="1" hangingPunct="1">
              <a:lnSpc>
                <a:spcPct val="80000"/>
              </a:lnSpc>
            </a:pPr>
            <a:r>
              <a:rPr lang="zh-CN" altLang="en-US" b="1" dirty="0">
                <a:solidFill>
                  <a:srgbClr val="FF0000"/>
                </a:solidFill>
                <a:latin typeface="黑体" panose="02010609060101010101" pitchFamily="49" charset="-122"/>
                <a:ea typeface="黑体" panose="02010609060101010101" pitchFamily="49" charset="-122"/>
              </a:rPr>
              <a:t>组织特征：</a:t>
            </a:r>
          </a:p>
          <a:p>
            <a:pPr lvl="2" eaLnBrk="1" hangingPunct="1">
              <a:lnSpc>
                <a:spcPct val="80000"/>
              </a:lnSpc>
            </a:pPr>
            <a:r>
              <a:rPr lang="zh-CN" altLang="en-US" b="1" dirty="0">
                <a:solidFill>
                  <a:srgbClr val="3333FF"/>
                </a:solidFill>
                <a:latin typeface="黑体" panose="02010609060101010101" pitchFamily="49" charset="-122"/>
                <a:ea typeface="黑体" panose="02010609060101010101" pitchFamily="49" charset="-122"/>
              </a:rPr>
              <a:t>细胞类型：</a:t>
            </a:r>
            <a:r>
              <a:rPr lang="zh-CN" altLang="en-US" b="1" dirty="0">
                <a:latin typeface="黑体" panose="02010609060101010101" pitchFamily="49" charset="-122"/>
                <a:ea typeface="黑体" panose="02010609060101010101" pitchFamily="49" charset="-122"/>
              </a:rPr>
              <a:t>厚壁细胞（石细胞和纤维细胞）。</a:t>
            </a:r>
          </a:p>
          <a:p>
            <a:pPr lvl="2" eaLnBrk="1" hangingPunct="1">
              <a:lnSpc>
                <a:spcPct val="80000"/>
              </a:lnSpc>
            </a:pPr>
            <a:r>
              <a:rPr lang="zh-CN" altLang="en-US" b="1" dirty="0">
                <a:solidFill>
                  <a:srgbClr val="3333FF"/>
                </a:solidFill>
                <a:latin typeface="黑体" panose="02010609060101010101" pitchFamily="49" charset="-122"/>
                <a:ea typeface="黑体" panose="02010609060101010101" pitchFamily="49" charset="-122"/>
              </a:rPr>
              <a:t>细胞特征：</a:t>
            </a:r>
            <a:r>
              <a:rPr lang="zh-CN" altLang="en-US" b="1" dirty="0">
                <a:solidFill>
                  <a:schemeClr val="tx1"/>
                </a:solidFill>
                <a:latin typeface="黑体" panose="02010609060101010101" pitchFamily="49" charset="-122"/>
                <a:ea typeface="黑体" panose="02010609060101010101" pitchFamily="49" charset="-122"/>
              </a:rPr>
              <a:t>有等径的和分支的（石细胞）、细长形的（纤维）；死细胞；细胞具强烈加厚的次生壁，木质化程度极高；细胞壁加厚完成后原生质体解体，成为仅具壁的空腔。</a:t>
            </a:r>
          </a:p>
          <a:p>
            <a:pPr lvl="2" eaLnBrk="1" hangingPunct="1">
              <a:lnSpc>
                <a:spcPct val="80000"/>
              </a:lnSpc>
            </a:pPr>
            <a:r>
              <a:rPr lang="zh-CN" altLang="en-US" b="1" dirty="0">
                <a:solidFill>
                  <a:srgbClr val="0000FF"/>
                </a:solidFill>
                <a:latin typeface="黑体" panose="02010609060101010101" pitchFamily="49" charset="-122"/>
                <a:ea typeface="黑体" panose="02010609060101010101" pitchFamily="49" charset="-122"/>
              </a:rPr>
              <a:t>排列方式：</a:t>
            </a:r>
          </a:p>
          <a:p>
            <a:pPr marL="1371600" lvl="3" indent="0" eaLnBrk="1" hangingPunct="1">
              <a:lnSpc>
                <a:spcPct val="80000"/>
              </a:lnSpc>
              <a:buNone/>
            </a:pPr>
            <a:r>
              <a:rPr lang="zh-CN" altLang="en-US" b="1" dirty="0">
                <a:solidFill>
                  <a:schemeClr val="tx1"/>
                </a:solidFill>
                <a:latin typeface="黑体" panose="02010609060101010101" pitchFamily="49" charset="-122"/>
                <a:ea typeface="黑体" panose="02010609060101010101" pitchFamily="49" charset="-122"/>
              </a:rPr>
              <a:t>或单个细胞包埋于基本组织（叶肉内石细胞）；</a:t>
            </a:r>
          </a:p>
          <a:p>
            <a:pPr marL="1371600" lvl="3" indent="0" eaLnBrk="1" hangingPunct="1">
              <a:lnSpc>
                <a:spcPct val="80000"/>
              </a:lnSpc>
              <a:buNone/>
            </a:pPr>
            <a:r>
              <a:rPr lang="zh-CN" altLang="en-US" b="1" dirty="0">
                <a:solidFill>
                  <a:schemeClr val="tx1"/>
                </a:solidFill>
                <a:latin typeface="黑体" panose="02010609060101010101" pitchFamily="49" charset="-122"/>
                <a:ea typeface="黑体" panose="02010609060101010101" pitchFamily="49" charset="-122"/>
              </a:rPr>
              <a:t>或紧密结合成簇包埋于基本组织中（</a:t>
            </a:r>
            <a:r>
              <a:rPr lang="zh-CN" altLang="en-US" b="1" dirty="0">
                <a:solidFill>
                  <a:srgbClr val="FF0000"/>
                </a:solidFill>
                <a:latin typeface="黑体" panose="02010609060101010101" pitchFamily="49" charset="-122"/>
                <a:ea typeface="黑体" panose="02010609060101010101" pitchFamily="49" charset="-122"/>
              </a:rPr>
              <a:t>梨果肉中的“砂粒”</a:t>
            </a:r>
            <a:r>
              <a:rPr lang="zh-CN" altLang="en-US" b="1" dirty="0">
                <a:solidFill>
                  <a:schemeClr val="tx1"/>
                </a:solidFill>
                <a:latin typeface="黑体" panose="02010609060101010101" pitchFamily="49" charset="-122"/>
                <a:ea typeface="黑体" panose="02010609060101010101" pitchFamily="49" charset="-122"/>
              </a:rPr>
              <a:t>）；或多层连续的石细胞组成果皮（</a:t>
            </a:r>
            <a:r>
              <a:rPr lang="zh-CN" altLang="en-US" b="1" dirty="0">
                <a:solidFill>
                  <a:srgbClr val="FF0000"/>
                </a:solidFill>
                <a:latin typeface="黑体" panose="02010609060101010101" pitchFamily="49" charset="-122"/>
                <a:ea typeface="黑体" panose="02010609060101010101" pitchFamily="49" charset="-122"/>
              </a:rPr>
              <a:t>核果的内果皮</a:t>
            </a:r>
            <a:r>
              <a:rPr lang="zh-CN" altLang="en-US" b="1" dirty="0">
                <a:solidFill>
                  <a:schemeClr val="tx1"/>
                </a:solidFill>
                <a:latin typeface="黑体" panose="02010609060101010101" pitchFamily="49" charset="-122"/>
                <a:ea typeface="黑体" panose="02010609060101010101" pitchFamily="49" charset="-122"/>
              </a:rPr>
              <a:t>）；</a:t>
            </a:r>
          </a:p>
          <a:p>
            <a:pPr marL="1371600" lvl="3" indent="0" eaLnBrk="1" hangingPunct="1">
              <a:lnSpc>
                <a:spcPct val="70000"/>
              </a:lnSpc>
              <a:buNone/>
            </a:pPr>
            <a:r>
              <a:rPr lang="zh-CN" altLang="en-US" b="1" dirty="0">
                <a:solidFill>
                  <a:schemeClr val="tx1"/>
                </a:solidFill>
                <a:latin typeface="黑体" panose="02010609060101010101" pitchFamily="49" charset="-122"/>
                <a:ea typeface="黑体" panose="02010609060101010101" pitchFamily="49" charset="-122"/>
              </a:rPr>
              <a:t>或紧密排列成束（根、茎等器官内的纤维束）。</a:t>
            </a:r>
          </a:p>
          <a:p>
            <a:pPr lvl="1" eaLnBrk="1" hangingPunct="1">
              <a:lnSpc>
                <a:spcPct val="80000"/>
              </a:lnSpc>
            </a:pPr>
            <a:r>
              <a:rPr lang="zh-CN" altLang="en-US" b="1" dirty="0">
                <a:solidFill>
                  <a:srgbClr val="FF3300"/>
                </a:solidFill>
                <a:latin typeface="黑体" panose="02010609060101010101" pitchFamily="49" charset="-122"/>
                <a:ea typeface="黑体" panose="02010609060101010101" pitchFamily="49" charset="-122"/>
              </a:rPr>
              <a:t>功能：</a:t>
            </a:r>
            <a:r>
              <a:rPr lang="zh-CN" altLang="en-US" b="1" dirty="0">
                <a:latin typeface="黑体" panose="02010609060101010101" pitchFamily="49" charset="-122"/>
                <a:ea typeface="黑体" panose="02010609060101010101" pitchFamily="49" charset="-122"/>
              </a:rPr>
              <a:t>石细胞增加器官</a:t>
            </a:r>
            <a:r>
              <a:rPr lang="zh-CN" altLang="en-US" b="1" dirty="0">
                <a:solidFill>
                  <a:srgbClr val="FF0000"/>
                </a:solidFill>
                <a:latin typeface="黑体" panose="02010609060101010101" pitchFamily="49" charset="-122"/>
                <a:ea typeface="黑体" panose="02010609060101010101" pitchFamily="49" charset="-122"/>
              </a:rPr>
              <a:t>硬度</a:t>
            </a:r>
            <a:r>
              <a:rPr lang="zh-CN" altLang="en-US" b="1" dirty="0">
                <a:latin typeface="黑体" panose="02010609060101010101" pitchFamily="49" charset="-122"/>
                <a:ea typeface="黑体" panose="02010609060101010101" pitchFamily="49" charset="-122"/>
              </a:rPr>
              <a:t>，纤维增加</a:t>
            </a:r>
            <a:r>
              <a:rPr lang="zh-CN" altLang="en-US" b="1" dirty="0">
                <a:solidFill>
                  <a:srgbClr val="FF0000"/>
                </a:solidFill>
                <a:latin typeface="黑体" panose="02010609060101010101" pitchFamily="49" charset="-122"/>
                <a:ea typeface="黑体" panose="02010609060101010101" pitchFamily="49" charset="-122"/>
              </a:rPr>
              <a:t>支持能力</a:t>
            </a:r>
            <a:r>
              <a:rPr lang="zh-CN" altLang="en-US" b="1" dirty="0">
                <a:latin typeface="黑体" panose="02010609060101010101" pitchFamily="49" charset="-122"/>
                <a:ea typeface="黑体" panose="02010609060101010101" pitchFamily="49" charset="-122"/>
              </a:rPr>
              <a:t>。</a:t>
            </a:r>
          </a:p>
          <a:p>
            <a:pPr lvl="1" eaLnBrk="1" hangingPunct="1">
              <a:lnSpc>
                <a:spcPct val="80000"/>
              </a:lnSpc>
            </a:pPr>
            <a:r>
              <a:rPr lang="zh-CN" altLang="en-US" b="1" dirty="0">
                <a:solidFill>
                  <a:srgbClr val="FF3300"/>
                </a:solidFill>
                <a:latin typeface="黑体" panose="02010609060101010101" pitchFamily="49" charset="-122"/>
                <a:ea typeface="黑体" panose="02010609060101010101" pitchFamily="49" charset="-122"/>
              </a:rPr>
              <a:t>发育方向：</a:t>
            </a:r>
            <a:r>
              <a:rPr lang="zh-CN" altLang="en-US" b="1" dirty="0">
                <a:latin typeface="黑体" panose="02010609060101010101" pitchFamily="49" charset="-122"/>
                <a:ea typeface="黑体" panose="02010609060101010101" pitchFamily="49" charset="-122"/>
              </a:rPr>
              <a:t>不会再有任何发育（</a:t>
            </a:r>
            <a:r>
              <a:rPr lang="zh-CN" altLang="en-US" b="1" dirty="0">
                <a:solidFill>
                  <a:srgbClr val="FF0000"/>
                </a:solidFill>
                <a:latin typeface="黑体" panose="02010609060101010101" pitchFamily="49" charset="-122"/>
                <a:ea typeface="黑体" panose="02010609060101010101" pitchFamily="49" charset="-122"/>
              </a:rPr>
              <a:t>死细胞</a:t>
            </a:r>
            <a:r>
              <a:rPr lang="zh-CN" altLang="en-US" b="1" dirty="0">
                <a:latin typeface="黑体" panose="02010609060101010101" pitchFamily="49" charset="-122"/>
                <a:ea typeface="黑体" panose="02010609060101010101" pitchFamily="49" charset="-122"/>
              </a:rPr>
              <a:t>）。 </a:t>
            </a:r>
          </a:p>
        </p:txBody>
      </p:sp>
      <p:sp>
        <p:nvSpPr>
          <p:cNvPr id="453634" name="Rectangle 5"/>
          <p:cNvSpPr>
            <a:spLocks noGrp="1"/>
          </p:cNvSpPr>
          <p:nvPr>
            <p:ph type="title"/>
          </p:nvPr>
        </p:nvSpPr>
        <p:spPr>
          <a:xfrm>
            <a:off x="0" y="-22225"/>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995926" y="0"/>
            <a:ext cx="800100" cy="2952750"/>
          </a:xfrm>
          <a:prstGeom prst="rect">
            <a:avLst/>
          </a:prstGeom>
          <a:solidFill>
            <a:srgbClr val="FF0066"/>
          </a:solidFill>
        </p:spPr>
        <p:txBody>
          <a:bodyPr vert="horz" wrap="square" lIns="0" tIns="11430" rIns="0" bIns="0" rtlCol="0">
            <a:spAutoFit/>
          </a:bodyPr>
          <a:lstStyle/>
          <a:p>
            <a:pPr marL="137160" marR="147320">
              <a:lnSpc>
                <a:spcPts val="6940"/>
              </a:lnSpc>
              <a:spcBef>
                <a:spcPts val="90"/>
              </a:spcBef>
            </a:pPr>
            <a:r>
              <a:rPr sz="4000" b="1" spc="-50" dirty="0">
                <a:solidFill>
                  <a:srgbClr val="FFFFFF"/>
                </a:solidFill>
                <a:latin typeface="Microsoft JhengHei"/>
                <a:cs typeface="Microsoft JhengHei"/>
              </a:rPr>
              <a:t>石细</a:t>
            </a:r>
            <a:endParaRPr sz="4000">
              <a:latin typeface="Microsoft JhengHei"/>
              <a:cs typeface="Microsoft JhengHei"/>
            </a:endParaRPr>
          </a:p>
          <a:p>
            <a:pPr marL="137160">
              <a:lnSpc>
                <a:spcPct val="100000"/>
              </a:lnSpc>
              <a:spcBef>
                <a:spcPts val="2555"/>
              </a:spcBef>
            </a:pPr>
            <a:r>
              <a:rPr sz="4000" b="1" spc="-50" dirty="0">
                <a:solidFill>
                  <a:srgbClr val="FFFFFF"/>
                </a:solidFill>
                <a:latin typeface="Microsoft JhengHei"/>
                <a:cs typeface="Microsoft JhengHei"/>
              </a:rPr>
              <a:t>胞</a:t>
            </a:r>
            <a:endParaRPr sz="4000">
              <a:latin typeface="Microsoft JhengHei"/>
              <a:cs typeface="Microsoft JhengHei"/>
            </a:endParaRPr>
          </a:p>
        </p:txBody>
      </p:sp>
      <p:grpSp>
        <p:nvGrpSpPr>
          <p:cNvPr id="4" name="object 4"/>
          <p:cNvGrpSpPr/>
          <p:nvPr/>
        </p:nvGrpSpPr>
        <p:grpSpPr>
          <a:xfrm>
            <a:off x="5652134" y="0"/>
            <a:ext cx="3491865" cy="5468620"/>
            <a:chOff x="5652134" y="0"/>
            <a:chExt cx="3491865" cy="5468620"/>
          </a:xfrm>
        </p:grpSpPr>
        <p:pic>
          <p:nvPicPr>
            <p:cNvPr id="5" name="object 5"/>
            <p:cNvPicPr/>
            <p:nvPr/>
          </p:nvPicPr>
          <p:blipFill>
            <a:blip r:embed="rId2" cstate="print"/>
            <a:stretch>
              <a:fillRect/>
            </a:stretch>
          </p:blipFill>
          <p:spPr>
            <a:xfrm>
              <a:off x="5652134" y="2939033"/>
              <a:ext cx="3491865" cy="2529078"/>
            </a:xfrm>
            <a:prstGeom prst="rect">
              <a:avLst/>
            </a:prstGeom>
          </p:spPr>
        </p:pic>
        <p:pic>
          <p:nvPicPr>
            <p:cNvPr id="6" name="object 6"/>
            <p:cNvPicPr/>
            <p:nvPr/>
          </p:nvPicPr>
          <p:blipFill>
            <a:blip r:embed="rId3" cstate="print"/>
            <a:stretch>
              <a:fillRect/>
            </a:stretch>
          </p:blipFill>
          <p:spPr>
            <a:xfrm>
              <a:off x="8115299" y="0"/>
              <a:ext cx="1028700" cy="3230499"/>
            </a:xfrm>
            <a:prstGeom prst="rect">
              <a:avLst/>
            </a:prstGeom>
          </p:spPr>
        </p:pic>
        <p:pic>
          <p:nvPicPr>
            <p:cNvPr id="7" name="object 7"/>
            <p:cNvPicPr/>
            <p:nvPr/>
          </p:nvPicPr>
          <p:blipFill>
            <a:blip r:embed="rId4" cstate="print"/>
            <a:stretch>
              <a:fillRect/>
            </a:stretch>
          </p:blipFill>
          <p:spPr>
            <a:xfrm>
              <a:off x="5864224" y="44576"/>
              <a:ext cx="2235200" cy="2852801"/>
            </a:xfrm>
            <a:prstGeom prst="rect">
              <a:avLst/>
            </a:prstGeom>
          </p:spPr>
        </p:pic>
      </p:grpSp>
      <p:sp>
        <p:nvSpPr>
          <p:cNvPr id="8" name="object 8"/>
          <p:cNvSpPr txBox="1"/>
          <p:nvPr/>
        </p:nvSpPr>
        <p:spPr>
          <a:xfrm>
            <a:off x="2707004" y="2737180"/>
            <a:ext cx="2169795"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00"/>
                </a:solidFill>
                <a:latin typeface="Microsoft JhengHei"/>
                <a:cs typeface="Microsoft JhengHei"/>
              </a:rPr>
              <a:t>梨果肉中石细胞</a:t>
            </a:r>
            <a:endParaRPr sz="2400">
              <a:latin typeface="Microsoft JhengHei"/>
              <a:cs typeface="Microsoft JhengHei"/>
            </a:endParaRPr>
          </a:p>
        </p:txBody>
      </p:sp>
      <p:sp>
        <p:nvSpPr>
          <p:cNvPr id="9" name="object 9"/>
          <p:cNvSpPr txBox="1"/>
          <p:nvPr/>
        </p:nvSpPr>
        <p:spPr>
          <a:xfrm>
            <a:off x="6305169" y="5648045"/>
            <a:ext cx="2476500"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006FC0"/>
                </a:solidFill>
                <a:latin typeface="Microsoft JhengHei"/>
                <a:cs typeface="Microsoft JhengHei"/>
              </a:rPr>
              <a:t>蚕豆种皮中石细胞</a:t>
            </a:r>
            <a:endParaRPr sz="2400">
              <a:latin typeface="Microsoft JhengHei"/>
              <a:cs typeface="Microsoft JhengHei"/>
            </a:endParaRPr>
          </a:p>
        </p:txBody>
      </p:sp>
      <p:sp>
        <p:nvSpPr>
          <p:cNvPr id="10" name="object 10"/>
          <p:cNvSpPr txBox="1"/>
          <p:nvPr/>
        </p:nvSpPr>
        <p:spPr>
          <a:xfrm>
            <a:off x="-2336" y="6424980"/>
            <a:ext cx="2782570"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00"/>
                </a:solidFill>
                <a:latin typeface="Microsoft JhengHei"/>
                <a:cs typeface="Microsoft JhengHei"/>
              </a:rPr>
              <a:t>桂花叶片内的石细胞</a:t>
            </a:r>
            <a:endParaRPr sz="2400">
              <a:latin typeface="Microsoft JhengHei"/>
              <a:cs typeface="Microsoft JhengHei"/>
            </a:endParaRPr>
          </a:p>
        </p:txBody>
      </p:sp>
      <p:grpSp>
        <p:nvGrpSpPr>
          <p:cNvPr id="11" name="object 11"/>
          <p:cNvGrpSpPr/>
          <p:nvPr/>
        </p:nvGrpSpPr>
        <p:grpSpPr>
          <a:xfrm>
            <a:off x="596061" y="0"/>
            <a:ext cx="4284345" cy="2421255"/>
            <a:chOff x="596061" y="0"/>
            <a:chExt cx="4284345" cy="2421255"/>
          </a:xfrm>
        </p:grpSpPr>
        <p:pic>
          <p:nvPicPr>
            <p:cNvPr id="12" name="object 12"/>
            <p:cNvPicPr/>
            <p:nvPr/>
          </p:nvPicPr>
          <p:blipFill>
            <a:blip r:embed="rId5" cstate="print"/>
            <a:stretch>
              <a:fillRect/>
            </a:stretch>
          </p:blipFill>
          <p:spPr>
            <a:xfrm>
              <a:off x="3224275" y="0"/>
              <a:ext cx="1655699" cy="2420874"/>
            </a:xfrm>
            <a:prstGeom prst="rect">
              <a:avLst/>
            </a:prstGeom>
          </p:spPr>
        </p:pic>
        <p:sp>
          <p:nvSpPr>
            <p:cNvPr id="13" name="object 13"/>
            <p:cNvSpPr/>
            <p:nvPr/>
          </p:nvSpPr>
          <p:spPr>
            <a:xfrm>
              <a:off x="596061" y="704494"/>
              <a:ext cx="2030095" cy="1151890"/>
            </a:xfrm>
            <a:custGeom>
              <a:avLst/>
              <a:gdLst/>
              <a:ahLst/>
              <a:cxnLst/>
              <a:rect l="l" t="t" r="r" b="b"/>
              <a:pathLst>
                <a:path w="2030095" h="1151889">
                  <a:moveTo>
                    <a:pt x="375589" y="493877"/>
                  </a:moveTo>
                  <a:lnTo>
                    <a:pt x="225107" y="561568"/>
                  </a:lnTo>
                  <a:lnTo>
                    <a:pt x="218960" y="565988"/>
                  </a:lnTo>
                  <a:lnTo>
                    <a:pt x="215112" y="572198"/>
                  </a:lnTo>
                  <a:lnTo>
                    <a:pt x="213868" y="579386"/>
                  </a:lnTo>
                  <a:lnTo>
                    <a:pt x="215544" y="586714"/>
                  </a:lnTo>
                  <a:lnTo>
                    <a:pt x="219951" y="592886"/>
                  </a:lnTo>
                  <a:lnTo>
                    <a:pt x="226148" y="596722"/>
                  </a:lnTo>
                  <a:lnTo>
                    <a:pt x="233349" y="597941"/>
                  </a:lnTo>
                  <a:lnTo>
                    <a:pt x="240728" y="596239"/>
                  </a:lnTo>
                  <a:lnTo>
                    <a:pt x="297180" y="570877"/>
                  </a:lnTo>
                  <a:lnTo>
                    <a:pt x="0" y="987018"/>
                  </a:lnTo>
                  <a:lnTo>
                    <a:pt x="31000" y="1009116"/>
                  </a:lnTo>
                  <a:lnTo>
                    <a:pt x="328155" y="593128"/>
                  </a:lnTo>
                  <a:lnTo>
                    <a:pt x="322465" y="654659"/>
                  </a:lnTo>
                  <a:lnTo>
                    <a:pt x="323265" y="662216"/>
                  </a:lnTo>
                  <a:lnTo>
                    <a:pt x="326783" y="668629"/>
                  </a:lnTo>
                  <a:lnTo>
                    <a:pt x="332435" y="673239"/>
                  </a:lnTo>
                  <a:lnTo>
                    <a:pt x="339686" y="675360"/>
                  </a:lnTo>
                  <a:lnTo>
                    <a:pt x="347192" y="674585"/>
                  </a:lnTo>
                  <a:lnTo>
                    <a:pt x="353606" y="671080"/>
                  </a:lnTo>
                  <a:lnTo>
                    <a:pt x="358216" y="665441"/>
                  </a:lnTo>
                  <a:lnTo>
                    <a:pt x="360400" y="658215"/>
                  </a:lnTo>
                  <a:lnTo>
                    <a:pt x="373761" y="513562"/>
                  </a:lnTo>
                  <a:lnTo>
                    <a:pt x="375589" y="493877"/>
                  </a:lnTo>
                  <a:close/>
                </a:path>
                <a:path w="2030095" h="1151889">
                  <a:moveTo>
                    <a:pt x="1167714" y="636244"/>
                  </a:moveTo>
                  <a:lnTo>
                    <a:pt x="1017219" y="703808"/>
                  </a:lnTo>
                  <a:lnTo>
                    <a:pt x="1011047" y="708228"/>
                  </a:lnTo>
                  <a:lnTo>
                    <a:pt x="1007211" y="714451"/>
                  </a:lnTo>
                  <a:lnTo>
                    <a:pt x="1005992" y="721677"/>
                  </a:lnTo>
                  <a:lnTo>
                    <a:pt x="1007694" y="729081"/>
                  </a:lnTo>
                  <a:lnTo>
                    <a:pt x="1012075" y="735203"/>
                  </a:lnTo>
                  <a:lnTo>
                    <a:pt x="1018260" y="739038"/>
                  </a:lnTo>
                  <a:lnTo>
                    <a:pt x="1025436" y="740283"/>
                  </a:lnTo>
                  <a:lnTo>
                    <a:pt x="1032827" y="738606"/>
                  </a:lnTo>
                  <a:lnTo>
                    <a:pt x="1089304" y="713232"/>
                  </a:lnTo>
                  <a:lnTo>
                    <a:pt x="792048" y="1129258"/>
                  </a:lnTo>
                  <a:lnTo>
                    <a:pt x="823036" y="1151356"/>
                  </a:lnTo>
                  <a:lnTo>
                    <a:pt x="1120190" y="735469"/>
                  </a:lnTo>
                  <a:lnTo>
                    <a:pt x="1114501" y="797026"/>
                  </a:lnTo>
                  <a:lnTo>
                    <a:pt x="1115339" y="804519"/>
                  </a:lnTo>
                  <a:lnTo>
                    <a:pt x="1118844" y="810907"/>
                  </a:lnTo>
                  <a:lnTo>
                    <a:pt x="1124496" y="815530"/>
                  </a:lnTo>
                  <a:lnTo>
                    <a:pt x="1131773" y="817727"/>
                  </a:lnTo>
                  <a:lnTo>
                    <a:pt x="1139266" y="816889"/>
                  </a:lnTo>
                  <a:lnTo>
                    <a:pt x="1145692" y="813384"/>
                  </a:lnTo>
                  <a:lnTo>
                    <a:pt x="1150327" y="807732"/>
                  </a:lnTo>
                  <a:lnTo>
                    <a:pt x="1152474" y="800455"/>
                  </a:lnTo>
                  <a:lnTo>
                    <a:pt x="1165885" y="655929"/>
                  </a:lnTo>
                  <a:lnTo>
                    <a:pt x="1167714" y="636244"/>
                  </a:lnTo>
                  <a:close/>
                </a:path>
                <a:path w="2030095" h="1151889">
                  <a:moveTo>
                    <a:pt x="2029663" y="39344"/>
                  </a:moveTo>
                  <a:lnTo>
                    <a:pt x="2021916" y="2133"/>
                  </a:lnTo>
                  <a:lnTo>
                    <a:pt x="1676628" y="74663"/>
                  </a:lnTo>
                  <a:lnTo>
                    <a:pt x="1722577" y="33121"/>
                  </a:lnTo>
                  <a:lnTo>
                    <a:pt x="1710740" y="0"/>
                  </a:lnTo>
                  <a:lnTo>
                    <a:pt x="1703514" y="1041"/>
                  </a:lnTo>
                  <a:lnTo>
                    <a:pt x="1697050" y="4927"/>
                  </a:lnTo>
                  <a:lnTo>
                    <a:pt x="1574622" y="115544"/>
                  </a:lnTo>
                  <a:lnTo>
                    <a:pt x="1731213" y="167614"/>
                  </a:lnTo>
                  <a:lnTo>
                    <a:pt x="1738731" y="168516"/>
                  </a:lnTo>
                  <a:lnTo>
                    <a:pt x="1745742" y="166547"/>
                  </a:lnTo>
                  <a:lnTo>
                    <a:pt x="1751533" y="162090"/>
                  </a:lnTo>
                  <a:lnTo>
                    <a:pt x="1755343" y="155549"/>
                  </a:lnTo>
                  <a:lnTo>
                    <a:pt x="1756232" y="148018"/>
                  </a:lnTo>
                  <a:lnTo>
                    <a:pt x="1754263" y="140970"/>
                  </a:lnTo>
                  <a:lnTo>
                    <a:pt x="1749806" y="135178"/>
                  </a:lnTo>
                  <a:lnTo>
                    <a:pt x="1743278" y="131419"/>
                  </a:lnTo>
                  <a:lnTo>
                    <a:pt x="1728000" y="126339"/>
                  </a:lnTo>
                  <a:lnTo>
                    <a:pt x="1684464" y="111861"/>
                  </a:lnTo>
                  <a:lnTo>
                    <a:pt x="2029663" y="39344"/>
                  </a:lnTo>
                  <a:close/>
                </a:path>
              </a:pathLst>
            </a:custGeom>
            <a:solidFill>
              <a:srgbClr val="000000"/>
            </a:solidFill>
          </p:spPr>
          <p:txBody>
            <a:bodyPr wrap="square" lIns="0" tIns="0" rIns="0" bIns="0" rtlCol="0"/>
            <a:lstStyle/>
            <a:p>
              <a:endParaRPr/>
            </a:p>
          </p:txBody>
        </p:sp>
      </p:grpSp>
      <p:sp>
        <p:nvSpPr>
          <p:cNvPr id="14" name="object 14"/>
          <p:cNvSpPr txBox="1"/>
          <p:nvPr/>
        </p:nvSpPr>
        <p:spPr>
          <a:xfrm>
            <a:off x="1463421" y="1873758"/>
            <a:ext cx="716280" cy="29972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Microsoft JhengHei"/>
                <a:cs typeface="Microsoft JhengHei"/>
              </a:rPr>
              <a:t>细胞腔</a:t>
            </a:r>
            <a:endParaRPr sz="1800">
              <a:latin typeface="Microsoft JhengHei"/>
              <a:cs typeface="Microsoft JhengHei"/>
            </a:endParaRPr>
          </a:p>
        </p:txBody>
      </p:sp>
      <p:sp>
        <p:nvSpPr>
          <p:cNvPr id="15" name="object 15"/>
          <p:cNvSpPr txBox="1"/>
          <p:nvPr/>
        </p:nvSpPr>
        <p:spPr>
          <a:xfrm>
            <a:off x="431698" y="1656079"/>
            <a:ext cx="716915" cy="29972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Microsoft JhengHei"/>
                <a:cs typeface="Microsoft JhengHei"/>
              </a:rPr>
              <a:t>细胞壁</a:t>
            </a:r>
            <a:endParaRPr sz="1800">
              <a:latin typeface="Microsoft JhengHei"/>
              <a:cs typeface="Microsoft JhengHei"/>
            </a:endParaRPr>
          </a:p>
        </p:txBody>
      </p:sp>
      <p:sp>
        <p:nvSpPr>
          <p:cNvPr id="16" name="object 16"/>
          <p:cNvSpPr txBox="1"/>
          <p:nvPr/>
        </p:nvSpPr>
        <p:spPr>
          <a:xfrm>
            <a:off x="1481455" y="222250"/>
            <a:ext cx="140652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分枝的纹孔沟</a:t>
            </a:r>
            <a:endParaRPr sz="1800">
              <a:latin typeface="Microsoft JhengHei"/>
              <a:cs typeface="Microsoft JhengHei"/>
            </a:endParaRPr>
          </a:p>
        </p:txBody>
      </p:sp>
      <p:sp>
        <p:nvSpPr>
          <p:cNvPr id="17" name="object 17"/>
          <p:cNvSpPr/>
          <p:nvPr/>
        </p:nvSpPr>
        <p:spPr>
          <a:xfrm>
            <a:off x="524052" y="4620767"/>
            <a:ext cx="1875789" cy="515620"/>
          </a:xfrm>
          <a:custGeom>
            <a:avLst/>
            <a:gdLst/>
            <a:ahLst/>
            <a:cxnLst/>
            <a:rect l="l" t="t" r="r" b="b"/>
            <a:pathLst>
              <a:path w="1875789" h="515620">
                <a:moveTo>
                  <a:pt x="375589" y="0"/>
                </a:moveTo>
                <a:lnTo>
                  <a:pt x="225107" y="67564"/>
                </a:lnTo>
                <a:lnTo>
                  <a:pt x="218960" y="71983"/>
                </a:lnTo>
                <a:lnTo>
                  <a:pt x="215112" y="78206"/>
                </a:lnTo>
                <a:lnTo>
                  <a:pt x="213868" y="85432"/>
                </a:lnTo>
                <a:lnTo>
                  <a:pt x="215544" y="92837"/>
                </a:lnTo>
                <a:lnTo>
                  <a:pt x="219951" y="98958"/>
                </a:lnTo>
                <a:lnTo>
                  <a:pt x="226148" y="102793"/>
                </a:lnTo>
                <a:lnTo>
                  <a:pt x="233349" y="104038"/>
                </a:lnTo>
                <a:lnTo>
                  <a:pt x="240728" y="102362"/>
                </a:lnTo>
                <a:lnTo>
                  <a:pt x="297154" y="77012"/>
                </a:lnTo>
                <a:lnTo>
                  <a:pt x="0" y="493014"/>
                </a:lnTo>
                <a:lnTo>
                  <a:pt x="31000" y="515112"/>
                </a:lnTo>
                <a:lnTo>
                  <a:pt x="328142" y="99123"/>
                </a:lnTo>
                <a:lnTo>
                  <a:pt x="322465" y="160782"/>
                </a:lnTo>
                <a:lnTo>
                  <a:pt x="323265" y="168275"/>
                </a:lnTo>
                <a:lnTo>
                  <a:pt x="326783" y="174663"/>
                </a:lnTo>
                <a:lnTo>
                  <a:pt x="332435" y="179285"/>
                </a:lnTo>
                <a:lnTo>
                  <a:pt x="339686" y="181483"/>
                </a:lnTo>
                <a:lnTo>
                  <a:pt x="347205" y="180644"/>
                </a:lnTo>
                <a:lnTo>
                  <a:pt x="353606" y="177139"/>
                </a:lnTo>
                <a:lnTo>
                  <a:pt x="358228" y="171488"/>
                </a:lnTo>
                <a:lnTo>
                  <a:pt x="360400" y="164211"/>
                </a:lnTo>
                <a:lnTo>
                  <a:pt x="373761" y="19685"/>
                </a:lnTo>
                <a:lnTo>
                  <a:pt x="375589" y="0"/>
                </a:lnTo>
                <a:close/>
              </a:path>
              <a:path w="1875789" h="515620">
                <a:moveTo>
                  <a:pt x="1875231" y="0"/>
                </a:moveTo>
                <a:lnTo>
                  <a:pt x="1724863" y="67564"/>
                </a:lnTo>
                <a:lnTo>
                  <a:pt x="1718665" y="71983"/>
                </a:lnTo>
                <a:lnTo>
                  <a:pt x="1714792" y="78206"/>
                </a:lnTo>
                <a:lnTo>
                  <a:pt x="1713534" y="85432"/>
                </a:lnTo>
                <a:lnTo>
                  <a:pt x="1715211" y="92837"/>
                </a:lnTo>
                <a:lnTo>
                  <a:pt x="1719770" y="99047"/>
                </a:lnTo>
                <a:lnTo>
                  <a:pt x="1725841" y="102793"/>
                </a:lnTo>
                <a:lnTo>
                  <a:pt x="1733067" y="104038"/>
                </a:lnTo>
                <a:lnTo>
                  <a:pt x="1740484" y="102362"/>
                </a:lnTo>
                <a:lnTo>
                  <a:pt x="1796783" y="77063"/>
                </a:lnTo>
                <a:lnTo>
                  <a:pt x="1499692" y="493014"/>
                </a:lnTo>
                <a:lnTo>
                  <a:pt x="1530680" y="515112"/>
                </a:lnTo>
                <a:lnTo>
                  <a:pt x="1827847" y="99047"/>
                </a:lnTo>
                <a:lnTo>
                  <a:pt x="1822145" y="160782"/>
                </a:lnTo>
                <a:lnTo>
                  <a:pt x="1822983" y="168275"/>
                </a:lnTo>
                <a:lnTo>
                  <a:pt x="1826488" y="174663"/>
                </a:lnTo>
                <a:lnTo>
                  <a:pt x="1832140" y="179285"/>
                </a:lnTo>
                <a:lnTo>
                  <a:pt x="1839417" y="181483"/>
                </a:lnTo>
                <a:lnTo>
                  <a:pt x="1846897" y="180644"/>
                </a:lnTo>
                <a:lnTo>
                  <a:pt x="1853285" y="177139"/>
                </a:lnTo>
                <a:lnTo>
                  <a:pt x="1857908" y="171488"/>
                </a:lnTo>
                <a:lnTo>
                  <a:pt x="1860118" y="164211"/>
                </a:lnTo>
                <a:lnTo>
                  <a:pt x="1873415" y="19685"/>
                </a:lnTo>
                <a:lnTo>
                  <a:pt x="1875231" y="0"/>
                </a:lnTo>
                <a:close/>
              </a:path>
            </a:pathLst>
          </a:custGeom>
          <a:solidFill>
            <a:srgbClr val="000000"/>
          </a:solidFill>
        </p:spPr>
        <p:txBody>
          <a:bodyPr wrap="square" lIns="0" tIns="0" rIns="0" bIns="0" rtlCol="0"/>
          <a:lstStyle/>
          <a:p>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54366" y="6449678"/>
            <a:ext cx="1117600" cy="342900"/>
          </a:xfrm>
          <a:prstGeom prst="rect">
            <a:avLst/>
          </a:prstGeom>
        </p:spPr>
        <p:txBody>
          <a:bodyPr vert="horz" wrap="square" lIns="0" tIns="0" rIns="0" bIns="0" rtlCol="0">
            <a:spAutoFit/>
          </a:bodyPr>
          <a:lstStyle/>
          <a:p>
            <a:pPr marL="176530">
              <a:lnSpc>
                <a:spcPts val="1325"/>
              </a:lnSpc>
            </a:pPr>
            <a:r>
              <a:rPr sz="1200" b="1" spc="85" dirty="0">
                <a:solidFill>
                  <a:srgbClr val="62CA96"/>
                </a:solidFill>
                <a:latin typeface="Microsoft JhengHei"/>
                <a:cs typeface="Microsoft JhengHei"/>
              </a:rPr>
              <a:t>植物学</a:t>
            </a:r>
            <a:r>
              <a:rPr sz="1200" b="1" spc="-50" dirty="0">
                <a:solidFill>
                  <a:srgbClr val="62CA96"/>
                </a:solidFill>
                <a:latin typeface="Arial"/>
                <a:cs typeface="Arial"/>
              </a:rPr>
              <a:t>A</a:t>
            </a:r>
            <a:endParaRPr sz="1200">
              <a:latin typeface="Arial"/>
              <a:cs typeface="Arial"/>
            </a:endParaRPr>
          </a:p>
          <a:p>
            <a:pPr>
              <a:lnSpc>
                <a:spcPts val="1370"/>
              </a:lnSpc>
            </a:pPr>
            <a:r>
              <a:rPr sz="1200" b="1" spc="-10" dirty="0">
                <a:solidFill>
                  <a:srgbClr val="62CA96"/>
                </a:solidFill>
                <a:latin typeface="Microsoft JhengHei"/>
                <a:cs typeface="Microsoft JhengHei"/>
              </a:rPr>
              <a:t>第三章 植物组织</a:t>
            </a:r>
            <a:endParaRPr sz="1200">
              <a:latin typeface="Microsoft JhengHei"/>
              <a:cs typeface="Microsoft JhengHei"/>
            </a:endParaRPr>
          </a:p>
        </p:txBody>
      </p:sp>
      <p:grpSp>
        <p:nvGrpSpPr>
          <p:cNvPr id="3" name="object 3"/>
          <p:cNvGrpSpPr/>
          <p:nvPr/>
        </p:nvGrpSpPr>
        <p:grpSpPr>
          <a:xfrm>
            <a:off x="0" y="3237"/>
            <a:ext cx="9144000" cy="6850380"/>
            <a:chOff x="0" y="3237"/>
            <a:chExt cx="9144000" cy="6850380"/>
          </a:xfrm>
        </p:grpSpPr>
        <p:pic>
          <p:nvPicPr>
            <p:cNvPr id="4" name="object 4"/>
            <p:cNvPicPr/>
            <p:nvPr/>
          </p:nvPicPr>
          <p:blipFill>
            <a:blip r:embed="rId2" cstate="print"/>
            <a:stretch>
              <a:fillRect/>
            </a:stretch>
          </p:blipFill>
          <p:spPr>
            <a:xfrm>
              <a:off x="0" y="3237"/>
              <a:ext cx="9144000" cy="6849999"/>
            </a:xfrm>
            <a:prstGeom prst="rect">
              <a:avLst/>
            </a:prstGeom>
          </p:spPr>
        </p:pic>
        <p:pic>
          <p:nvPicPr>
            <p:cNvPr id="5" name="object 5"/>
            <p:cNvPicPr/>
            <p:nvPr/>
          </p:nvPicPr>
          <p:blipFill>
            <a:blip r:embed="rId3" cstate="print"/>
            <a:stretch>
              <a:fillRect/>
            </a:stretch>
          </p:blipFill>
          <p:spPr>
            <a:xfrm>
              <a:off x="5148071" y="817791"/>
              <a:ext cx="3707003" cy="5037582"/>
            </a:xfrm>
            <a:prstGeom prst="rect">
              <a:avLst/>
            </a:prstGeom>
          </p:spPr>
        </p:pic>
      </p:grpSp>
      <p:sp>
        <p:nvSpPr>
          <p:cNvPr id="6" name="object 6"/>
          <p:cNvSpPr txBox="1">
            <a:spLocks noGrp="1"/>
          </p:cNvSpPr>
          <p:nvPr>
            <p:ph type="title"/>
          </p:nvPr>
        </p:nvSpPr>
        <p:spPr>
          <a:xfrm>
            <a:off x="2009775" y="11023"/>
            <a:ext cx="2583180" cy="646430"/>
          </a:xfrm>
          <a:prstGeom prst="rect">
            <a:avLst/>
          </a:prstGeom>
          <a:solidFill>
            <a:srgbClr val="FFFFFF"/>
          </a:solidFill>
        </p:spPr>
        <p:txBody>
          <a:bodyPr vert="horz" wrap="square" lIns="0" tIns="38100" rIns="0" bIns="0" rtlCol="0">
            <a:spAutoFit/>
          </a:bodyPr>
          <a:lstStyle/>
          <a:p>
            <a:pPr marL="260985">
              <a:lnSpc>
                <a:spcPct val="100000"/>
              </a:lnSpc>
              <a:spcBef>
                <a:spcPts val="300"/>
              </a:spcBef>
              <a:tabLst>
                <a:tab pos="1863089" algn="l"/>
              </a:tabLst>
            </a:pPr>
            <a:r>
              <a:rPr sz="3600" spc="-50" dirty="0"/>
              <a:t>纤</a:t>
            </a:r>
            <a:r>
              <a:rPr sz="3600" dirty="0"/>
              <a:t>	</a:t>
            </a:r>
            <a:r>
              <a:rPr sz="3600" spc="-50" dirty="0"/>
              <a:t>维</a:t>
            </a:r>
            <a:endParaRPr sz="3600"/>
          </a:p>
        </p:txBody>
      </p:sp>
      <p:sp>
        <p:nvSpPr>
          <p:cNvPr id="7" name="object 7"/>
          <p:cNvSpPr/>
          <p:nvPr/>
        </p:nvSpPr>
        <p:spPr>
          <a:xfrm>
            <a:off x="1778000" y="817841"/>
            <a:ext cx="3030220" cy="424815"/>
          </a:xfrm>
          <a:custGeom>
            <a:avLst/>
            <a:gdLst/>
            <a:ahLst/>
            <a:cxnLst/>
            <a:rect l="l" t="t" r="r" b="b"/>
            <a:pathLst>
              <a:path w="3030220" h="424815">
                <a:moveTo>
                  <a:pt x="3029712" y="0"/>
                </a:moveTo>
                <a:lnTo>
                  <a:pt x="0" y="0"/>
                </a:lnTo>
                <a:lnTo>
                  <a:pt x="0" y="424726"/>
                </a:lnTo>
                <a:lnTo>
                  <a:pt x="3029712" y="424726"/>
                </a:lnTo>
                <a:lnTo>
                  <a:pt x="3029712" y="0"/>
                </a:lnTo>
                <a:close/>
              </a:path>
            </a:pathLst>
          </a:custGeom>
          <a:solidFill>
            <a:srgbClr val="FFFFFF"/>
          </a:solidFill>
        </p:spPr>
        <p:txBody>
          <a:bodyPr wrap="square" lIns="0" tIns="0" rIns="0" bIns="0" rtlCol="0"/>
          <a:lstStyle/>
          <a:p>
            <a:endParaRPr/>
          </a:p>
        </p:txBody>
      </p:sp>
      <p:sp>
        <p:nvSpPr>
          <p:cNvPr id="8" name="object 8"/>
          <p:cNvSpPr txBox="1"/>
          <p:nvPr/>
        </p:nvSpPr>
        <p:spPr>
          <a:xfrm>
            <a:off x="1857248" y="823721"/>
            <a:ext cx="30886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6FC0"/>
                </a:solidFill>
                <a:latin typeface="Microsoft JhengHei"/>
                <a:cs typeface="Microsoft JhengHei"/>
              </a:rPr>
              <a:t>（木纤维和韧皮纤维</a:t>
            </a:r>
            <a:r>
              <a:rPr sz="2400" b="1" spc="-50" dirty="0">
                <a:solidFill>
                  <a:srgbClr val="006FC0"/>
                </a:solidFill>
                <a:latin typeface="Microsoft JhengHei"/>
                <a:cs typeface="Microsoft JhengHei"/>
              </a:rPr>
              <a:t>）</a:t>
            </a:r>
            <a:endParaRPr sz="2400">
              <a:latin typeface="Microsoft JhengHei"/>
              <a:cs typeface="Microsoft JhengHei"/>
            </a:endParaRPr>
          </a:p>
        </p:txBody>
      </p:sp>
      <p:grpSp>
        <p:nvGrpSpPr>
          <p:cNvPr id="9" name="object 9"/>
          <p:cNvGrpSpPr/>
          <p:nvPr/>
        </p:nvGrpSpPr>
        <p:grpSpPr>
          <a:xfrm>
            <a:off x="594144" y="1549438"/>
            <a:ext cx="4531995" cy="4320540"/>
            <a:chOff x="594144" y="1549438"/>
            <a:chExt cx="4531995" cy="4320540"/>
          </a:xfrm>
        </p:grpSpPr>
        <p:pic>
          <p:nvPicPr>
            <p:cNvPr id="10" name="object 10"/>
            <p:cNvPicPr/>
            <p:nvPr/>
          </p:nvPicPr>
          <p:blipFill>
            <a:blip r:embed="rId4" cstate="print"/>
            <a:stretch>
              <a:fillRect/>
            </a:stretch>
          </p:blipFill>
          <p:spPr>
            <a:xfrm>
              <a:off x="594144" y="1549438"/>
              <a:ext cx="580555" cy="4320032"/>
            </a:xfrm>
            <a:prstGeom prst="rect">
              <a:avLst/>
            </a:prstGeom>
          </p:spPr>
        </p:pic>
        <p:sp>
          <p:nvSpPr>
            <p:cNvPr id="11" name="object 11"/>
            <p:cNvSpPr/>
            <p:nvPr/>
          </p:nvSpPr>
          <p:spPr>
            <a:xfrm>
              <a:off x="2843783" y="2420873"/>
              <a:ext cx="1224280" cy="2736850"/>
            </a:xfrm>
            <a:custGeom>
              <a:avLst/>
              <a:gdLst/>
              <a:ahLst/>
              <a:cxnLst/>
              <a:rect l="l" t="t" r="r" b="b"/>
              <a:pathLst>
                <a:path w="1224279" h="2736850">
                  <a:moveTo>
                    <a:pt x="0" y="2376297"/>
                  </a:moveTo>
                  <a:lnTo>
                    <a:pt x="11037" y="2307870"/>
                  </a:lnTo>
                  <a:lnTo>
                    <a:pt x="42783" y="2243782"/>
                  </a:lnTo>
                  <a:lnTo>
                    <a:pt x="93183" y="2185238"/>
                  </a:lnTo>
                  <a:lnTo>
                    <a:pt x="124738" y="2158423"/>
                  </a:lnTo>
                  <a:lnTo>
                    <a:pt x="160187" y="2133445"/>
                  </a:lnTo>
                  <a:lnTo>
                    <a:pt x="199274" y="2110457"/>
                  </a:lnTo>
                  <a:lnTo>
                    <a:pt x="241742" y="2089609"/>
                  </a:lnTo>
                  <a:lnTo>
                    <a:pt x="287334" y="2071051"/>
                  </a:lnTo>
                  <a:lnTo>
                    <a:pt x="335794" y="2054935"/>
                  </a:lnTo>
                  <a:lnTo>
                    <a:pt x="386866" y="2041411"/>
                  </a:lnTo>
                  <a:lnTo>
                    <a:pt x="440294" y="2030630"/>
                  </a:lnTo>
                  <a:lnTo>
                    <a:pt x="495819" y="2022742"/>
                  </a:lnTo>
                  <a:lnTo>
                    <a:pt x="553187" y="2017899"/>
                  </a:lnTo>
                  <a:lnTo>
                    <a:pt x="612140" y="2016252"/>
                  </a:lnTo>
                  <a:lnTo>
                    <a:pt x="671071" y="2017899"/>
                  </a:lnTo>
                  <a:lnTo>
                    <a:pt x="728420" y="2022742"/>
                  </a:lnTo>
                  <a:lnTo>
                    <a:pt x="783929" y="2030630"/>
                  </a:lnTo>
                  <a:lnTo>
                    <a:pt x="837342" y="2041411"/>
                  </a:lnTo>
                  <a:lnTo>
                    <a:pt x="888402" y="2054935"/>
                  </a:lnTo>
                  <a:lnTo>
                    <a:pt x="936852" y="2071051"/>
                  </a:lnTo>
                  <a:lnTo>
                    <a:pt x="982436" y="2089609"/>
                  </a:lnTo>
                  <a:lnTo>
                    <a:pt x="1024897" y="2110457"/>
                  </a:lnTo>
                  <a:lnTo>
                    <a:pt x="1063978" y="2133445"/>
                  </a:lnTo>
                  <a:lnTo>
                    <a:pt x="1099423" y="2158423"/>
                  </a:lnTo>
                  <a:lnTo>
                    <a:pt x="1130974" y="2185238"/>
                  </a:lnTo>
                  <a:lnTo>
                    <a:pt x="1158376" y="2213742"/>
                  </a:lnTo>
                  <a:lnTo>
                    <a:pt x="1199703" y="2275208"/>
                  </a:lnTo>
                  <a:lnTo>
                    <a:pt x="1221350" y="2341616"/>
                  </a:lnTo>
                  <a:lnTo>
                    <a:pt x="1224153" y="2376297"/>
                  </a:lnTo>
                  <a:lnTo>
                    <a:pt x="1221350" y="2410977"/>
                  </a:lnTo>
                  <a:lnTo>
                    <a:pt x="1199703" y="2477385"/>
                  </a:lnTo>
                  <a:lnTo>
                    <a:pt x="1158376" y="2538851"/>
                  </a:lnTo>
                  <a:lnTo>
                    <a:pt x="1130974" y="2567355"/>
                  </a:lnTo>
                  <a:lnTo>
                    <a:pt x="1099423" y="2594170"/>
                  </a:lnTo>
                  <a:lnTo>
                    <a:pt x="1063978" y="2619148"/>
                  </a:lnTo>
                  <a:lnTo>
                    <a:pt x="1024897" y="2642136"/>
                  </a:lnTo>
                  <a:lnTo>
                    <a:pt x="982436" y="2662984"/>
                  </a:lnTo>
                  <a:lnTo>
                    <a:pt x="936852" y="2681542"/>
                  </a:lnTo>
                  <a:lnTo>
                    <a:pt x="888402" y="2697658"/>
                  </a:lnTo>
                  <a:lnTo>
                    <a:pt x="837342" y="2711182"/>
                  </a:lnTo>
                  <a:lnTo>
                    <a:pt x="783929" y="2721963"/>
                  </a:lnTo>
                  <a:lnTo>
                    <a:pt x="728420" y="2729851"/>
                  </a:lnTo>
                  <a:lnTo>
                    <a:pt x="671071" y="2734694"/>
                  </a:lnTo>
                  <a:lnTo>
                    <a:pt x="612140" y="2736342"/>
                  </a:lnTo>
                  <a:lnTo>
                    <a:pt x="553187" y="2734694"/>
                  </a:lnTo>
                  <a:lnTo>
                    <a:pt x="495819" y="2729851"/>
                  </a:lnTo>
                  <a:lnTo>
                    <a:pt x="440294" y="2721963"/>
                  </a:lnTo>
                  <a:lnTo>
                    <a:pt x="386866" y="2711182"/>
                  </a:lnTo>
                  <a:lnTo>
                    <a:pt x="335794" y="2697658"/>
                  </a:lnTo>
                  <a:lnTo>
                    <a:pt x="287334" y="2681542"/>
                  </a:lnTo>
                  <a:lnTo>
                    <a:pt x="241742" y="2662984"/>
                  </a:lnTo>
                  <a:lnTo>
                    <a:pt x="199274" y="2642136"/>
                  </a:lnTo>
                  <a:lnTo>
                    <a:pt x="160187" y="2619148"/>
                  </a:lnTo>
                  <a:lnTo>
                    <a:pt x="124738" y="2594170"/>
                  </a:lnTo>
                  <a:lnTo>
                    <a:pt x="93183" y="2567355"/>
                  </a:lnTo>
                  <a:lnTo>
                    <a:pt x="65779" y="2538851"/>
                  </a:lnTo>
                  <a:lnTo>
                    <a:pt x="24450" y="2477385"/>
                  </a:lnTo>
                  <a:lnTo>
                    <a:pt x="2802" y="2410977"/>
                  </a:lnTo>
                  <a:lnTo>
                    <a:pt x="0" y="2376297"/>
                  </a:lnTo>
                  <a:close/>
                </a:path>
                <a:path w="1224279" h="2736850">
                  <a:moveTo>
                    <a:pt x="0" y="360045"/>
                  </a:moveTo>
                  <a:lnTo>
                    <a:pt x="3148" y="318049"/>
                  </a:lnTo>
                  <a:lnTo>
                    <a:pt x="12361" y="277479"/>
                  </a:lnTo>
                  <a:lnTo>
                    <a:pt x="27287" y="238602"/>
                  </a:lnTo>
                  <a:lnTo>
                    <a:pt x="47574" y="201691"/>
                  </a:lnTo>
                  <a:lnTo>
                    <a:pt x="72872" y="167013"/>
                  </a:lnTo>
                  <a:lnTo>
                    <a:pt x="102830" y="134840"/>
                  </a:lnTo>
                  <a:lnTo>
                    <a:pt x="137096" y="105441"/>
                  </a:lnTo>
                  <a:lnTo>
                    <a:pt x="175320" y="79086"/>
                  </a:lnTo>
                  <a:lnTo>
                    <a:pt x="217151" y="56046"/>
                  </a:lnTo>
                  <a:lnTo>
                    <a:pt x="262238" y="36589"/>
                  </a:lnTo>
                  <a:lnTo>
                    <a:pt x="310229" y="20986"/>
                  </a:lnTo>
                  <a:lnTo>
                    <a:pt x="360774" y="9507"/>
                  </a:lnTo>
                  <a:lnTo>
                    <a:pt x="413522" y="2421"/>
                  </a:lnTo>
                  <a:lnTo>
                    <a:pt x="468121" y="0"/>
                  </a:lnTo>
                  <a:lnTo>
                    <a:pt x="522696" y="2421"/>
                  </a:lnTo>
                  <a:lnTo>
                    <a:pt x="575422" y="9507"/>
                  </a:lnTo>
                  <a:lnTo>
                    <a:pt x="625948" y="20986"/>
                  </a:lnTo>
                  <a:lnTo>
                    <a:pt x="673924" y="36589"/>
                  </a:lnTo>
                  <a:lnTo>
                    <a:pt x="718999" y="56046"/>
                  </a:lnTo>
                  <a:lnTo>
                    <a:pt x="760819" y="79086"/>
                  </a:lnTo>
                  <a:lnTo>
                    <a:pt x="799036" y="105441"/>
                  </a:lnTo>
                  <a:lnTo>
                    <a:pt x="833296" y="134840"/>
                  </a:lnTo>
                  <a:lnTo>
                    <a:pt x="863250" y="167013"/>
                  </a:lnTo>
                  <a:lnTo>
                    <a:pt x="888545" y="201691"/>
                  </a:lnTo>
                  <a:lnTo>
                    <a:pt x="908831" y="238602"/>
                  </a:lnTo>
                  <a:lnTo>
                    <a:pt x="923755" y="277479"/>
                  </a:lnTo>
                  <a:lnTo>
                    <a:pt x="932968" y="318049"/>
                  </a:lnTo>
                  <a:lnTo>
                    <a:pt x="936117" y="360045"/>
                  </a:lnTo>
                  <a:lnTo>
                    <a:pt x="932968" y="402040"/>
                  </a:lnTo>
                  <a:lnTo>
                    <a:pt x="923755" y="442610"/>
                  </a:lnTo>
                  <a:lnTo>
                    <a:pt x="908831" y="481487"/>
                  </a:lnTo>
                  <a:lnTo>
                    <a:pt x="888545" y="518398"/>
                  </a:lnTo>
                  <a:lnTo>
                    <a:pt x="863250" y="553076"/>
                  </a:lnTo>
                  <a:lnTo>
                    <a:pt x="833296" y="585249"/>
                  </a:lnTo>
                  <a:lnTo>
                    <a:pt x="799036" y="614648"/>
                  </a:lnTo>
                  <a:lnTo>
                    <a:pt x="760819" y="641003"/>
                  </a:lnTo>
                  <a:lnTo>
                    <a:pt x="718999" y="664043"/>
                  </a:lnTo>
                  <a:lnTo>
                    <a:pt x="673924" y="683500"/>
                  </a:lnTo>
                  <a:lnTo>
                    <a:pt x="625948" y="699103"/>
                  </a:lnTo>
                  <a:lnTo>
                    <a:pt x="575422" y="710582"/>
                  </a:lnTo>
                  <a:lnTo>
                    <a:pt x="522696" y="717668"/>
                  </a:lnTo>
                  <a:lnTo>
                    <a:pt x="468121" y="720089"/>
                  </a:lnTo>
                  <a:lnTo>
                    <a:pt x="413522" y="717668"/>
                  </a:lnTo>
                  <a:lnTo>
                    <a:pt x="360774" y="710582"/>
                  </a:lnTo>
                  <a:lnTo>
                    <a:pt x="310229" y="699103"/>
                  </a:lnTo>
                  <a:lnTo>
                    <a:pt x="262238" y="683500"/>
                  </a:lnTo>
                  <a:lnTo>
                    <a:pt x="217151" y="664043"/>
                  </a:lnTo>
                  <a:lnTo>
                    <a:pt x="175320" y="641003"/>
                  </a:lnTo>
                  <a:lnTo>
                    <a:pt x="137096" y="614648"/>
                  </a:lnTo>
                  <a:lnTo>
                    <a:pt x="102830" y="585249"/>
                  </a:lnTo>
                  <a:lnTo>
                    <a:pt x="72872" y="553076"/>
                  </a:lnTo>
                  <a:lnTo>
                    <a:pt x="47574" y="518398"/>
                  </a:lnTo>
                  <a:lnTo>
                    <a:pt x="27287" y="481487"/>
                  </a:lnTo>
                  <a:lnTo>
                    <a:pt x="12361" y="442610"/>
                  </a:lnTo>
                  <a:lnTo>
                    <a:pt x="3148" y="402040"/>
                  </a:lnTo>
                  <a:lnTo>
                    <a:pt x="0" y="360045"/>
                  </a:lnTo>
                  <a:close/>
                </a:path>
              </a:pathLst>
            </a:custGeom>
            <a:ln w="38100">
              <a:solidFill>
                <a:srgbClr val="FF0000"/>
              </a:solidFill>
            </a:ln>
          </p:spPr>
          <p:txBody>
            <a:bodyPr wrap="square" lIns="0" tIns="0" rIns="0" bIns="0" rtlCol="0"/>
            <a:lstStyle/>
            <a:p>
              <a:endParaRPr/>
            </a:p>
          </p:txBody>
        </p:sp>
        <p:pic>
          <p:nvPicPr>
            <p:cNvPr id="12" name="object 12"/>
            <p:cNvPicPr/>
            <p:nvPr/>
          </p:nvPicPr>
          <p:blipFill>
            <a:blip r:embed="rId5" cstate="print"/>
            <a:stretch>
              <a:fillRect/>
            </a:stretch>
          </p:blipFill>
          <p:spPr>
            <a:xfrm>
              <a:off x="1459865" y="1549526"/>
              <a:ext cx="3665982" cy="4005072"/>
            </a:xfrm>
            <a:prstGeom prst="rect">
              <a:avLst/>
            </a:prstGeom>
          </p:spPr>
        </p:pic>
        <p:sp>
          <p:nvSpPr>
            <p:cNvPr id="13" name="object 13"/>
            <p:cNvSpPr/>
            <p:nvPr/>
          </p:nvSpPr>
          <p:spPr>
            <a:xfrm>
              <a:off x="1447038" y="2564891"/>
              <a:ext cx="3284220" cy="1522730"/>
            </a:xfrm>
            <a:custGeom>
              <a:avLst/>
              <a:gdLst/>
              <a:ahLst/>
              <a:cxnLst/>
              <a:rect l="l" t="t" r="r" b="b"/>
              <a:pathLst>
                <a:path w="3284220" h="1522729">
                  <a:moveTo>
                    <a:pt x="331089" y="0"/>
                  </a:moveTo>
                  <a:lnTo>
                    <a:pt x="169672" y="33909"/>
                  </a:lnTo>
                  <a:lnTo>
                    <a:pt x="162725" y="36969"/>
                  </a:lnTo>
                  <a:lnTo>
                    <a:pt x="157632" y="42214"/>
                  </a:lnTo>
                  <a:lnTo>
                    <a:pt x="154876" y="48971"/>
                  </a:lnTo>
                  <a:lnTo>
                    <a:pt x="154940" y="56515"/>
                  </a:lnTo>
                  <a:lnTo>
                    <a:pt x="157911" y="63461"/>
                  </a:lnTo>
                  <a:lnTo>
                    <a:pt x="163144" y="68554"/>
                  </a:lnTo>
                  <a:lnTo>
                    <a:pt x="169913" y="71310"/>
                  </a:lnTo>
                  <a:lnTo>
                    <a:pt x="177279" y="71310"/>
                  </a:lnTo>
                  <a:lnTo>
                    <a:pt x="238048" y="58483"/>
                  </a:lnTo>
                  <a:lnTo>
                    <a:pt x="0" y="273939"/>
                  </a:lnTo>
                  <a:lnTo>
                    <a:pt x="25654" y="302133"/>
                  </a:lnTo>
                  <a:lnTo>
                    <a:pt x="263499" y="86868"/>
                  </a:lnTo>
                  <a:lnTo>
                    <a:pt x="244856" y="145669"/>
                  </a:lnTo>
                  <a:lnTo>
                    <a:pt x="264807" y="170484"/>
                  </a:lnTo>
                  <a:lnTo>
                    <a:pt x="271805" y="168402"/>
                  </a:lnTo>
                  <a:lnTo>
                    <a:pt x="277507" y="163855"/>
                  </a:lnTo>
                  <a:lnTo>
                    <a:pt x="281178" y="157226"/>
                  </a:lnTo>
                  <a:lnTo>
                    <a:pt x="327533" y="11176"/>
                  </a:lnTo>
                  <a:lnTo>
                    <a:pt x="331089" y="0"/>
                  </a:lnTo>
                  <a:close/>
                </a:path>
                <a:path w="3284220" h="1522729">
                  <a:moveTo>
                    <a:pt x="2420874" y="1501775"/>
                  </a:moveTo>
                  <a:lnTo>
                    <a:pt x="2239238" y="1224622"/>
                  </a:lnTo>
                  <a:lnTo>
                    <a:pt x="2294636" y="1252220"/>
                  </a:lnTo>
                  <a:lnTo>
                    <a:pt x="2301925" y="1254201"/>
                  </a:lnTo>
                  <a:lnTo>
                    <a:pt x="2309152" y="1253261"/>
                  </a:lnTo>
                  <a:lnTo>
                    <a:pt x="2315502" y="1249667"/>
                  </a:lnTo>
                  <a:lnTo>
                    <a:pt x="2320163" y="1243711"/>
                  </a:lnTo>
                  <a:lnTo>
                    <a:pt x="2322131" y="1236421"/>
                  </a:lnTo>
                  <a:lnTo>
                    <a:pt x="2321191" y="1229194"/>
                  </a:lnTo>
                  <a:lnTo>
                    <a:pt x="2317597" y="1222844"/>
                  </a:lnTo>
                  <a:lnTo>
                    <a:pt x="2311654" y="1218184"/>
                  </a:lnTo>
                  <a:lnTo>
                    <a:pt x="2206472" y="1165733"/>
                  </a:lnTo>
                  <a:lnTo>
                    <a:pt x="2163953" y="1144524"/>
                  </a:lnTo>
                  <a:lnTo>
                    <a:pt x="2172487" y="1307338"/>
                  </a:lnTo>
                  <a:lnTo>
                    <a:pt x="2192528" y="1327277"/>
                  </a:lnTo>
                  <a:lnTo>
                    <a:pt x="2199881" y="1325422"/>
                  </a:lnTo>
                  <a:lnTo>
                    <a:pt x="2205736" y="1321028"/>
                  </a:lnTo>
                  <a:lnTo>
                    <a:pt x="2209482" y="1314780"/>
                  </a:lnTo>
                  <a:lnTo>
                    <a:pt x="2210562" y="1307338"/>
                  </a:lnTo>
                  <a:lnTo>
                    <a:pt x="2207349" y="1245425"/>
                  </a:lnTo>
                  <a:lnTo>
                    <a:pt x="2205393" y="1207744"/>
                  </a:lnTo>
                  <a:lnTo>
                    <a:pt x="2207260" y="1243711"/>
                  </a:lnTo>
                  <a:lnTo>
                    <a:pt x="2207349" y="1245425"/>
                  </a:lnTo>
                  <a:lnTo>
                    <a:pt x="2388997" y="1522603"/>
                  </a:lnTo>
                  <a:lnTo>
                    <a:pt x="2420874" y="1501775"/>
                  </a:lnTo>
                  <a:close/>
                </a:path>
                <a:path w="3284220" h="1522729">
                  <a:moveTo>
                    <a:pt x="3284093" y="964704"/>
                  </a:moveTo>
                  <a:lnTo>
                    <a:pt x="3137535" y="1040384"/>
                  </a:lnTo>
                  <a:lnTo>
                    <a:pt x="3131591" y="1045108"/>
                  </a:lnTo>
                  <a:lnTo>
                    <a:pt x="3128073" y="1051496"/>
                  </a:lnTo>
                  <a:lnTo>
                    <a:pt x="3127210" y="1058748"/>
                  </a:lnTo>
                  <a:lnTo>
                    <a:pt x="3129280" y="1066038"/>
                  </a:lnTo>
                  <a:lnTo>
                    <a:pt x="3134017" y="1071905"/>
                  </a:lnTo>
                  <a:lnTo>
                    <a:pt x="3140430" y="1075397"/>
                  </a:lnTo>
                  <a:lnTo>
                    <a:pt x="3147682" y="1076236"/>
                  </a:lnTo>
                  <a:lnTo>
                    <a:pt x="3154934" y="1074166"/>
                  </a:lnTo>
                  <a:lnTo>
                    <a:pt x="3209950" y="1045768"/>
                  </a:lnTo>
                  <a:lnTo>
                    <a:pt x="3036824" y="1318133"/>
                  </a:lnTo>
                  <a:lnTo>
                    <a:pt x="3069082" y="1338580"/>
                  </a:lnTo>
                  <a:lnTo>
                    <a:pt x="3242081" y="1066266"/>
                  </a:lnTo>
                  <a:lnTo>
                    <a:pt x="3239770" y="1128014"/>
                  </a:lnTo>
                  <a:lnTo>
                    <a:pt x="3240976" y="1135507"/>
                  </a:lnTo>
                  <a:lnTo>
                    <a:pt x="3244812" y="1141730"/>
                  </a:lnTo>
                  <a:lnTo>
                    <a:pt x="3250692" y="1146060"/>
                  </a:lnTo>
                  <a:lnTo>
                    <a:pt x="3258058" y="1147826"/>
                  </a:lnTo>
                  <a:lnTo>
                    <a:pt x="3265525" y="1146594"/>
                  </a:lnTo>
                  <a:lnTo>
                    <a:pt x="3271723" y="1142733"/>
                  </a:lnTo>
                  <a:lnTo>
                    <a:pt x="3276041" y="1136853"/>
                  </a:lnTo>
                  <a:lnTo>
                    <a:pt x="3277870" y="1129538"/>
                  </a:lnTo>
                  <a:lnTo>
                    <a:pt x="3283267" y="986282"/>
                  </a:lnTo>
                  <a:lnTo>
                    <a:pt x="3284093" y="964704"/>
                  </a:lnTo>
                  <a:close/>
                </a:path>
              </a:pathLst>
            </a:custGeom>
            <a:solidFill>
              <a:srgbClr val="FF0000"/>
            </a:solidFill>
          </p:spPr>
          <p:txBody>
            <a:bodyPr wrap="square" lIns="0" tIns="0" rIns="0" bIns="0" rtlCol="0"/>
            <a:lstStyle/>
            <a:p>
              <a:endParaRPr/>
            </a:p>
          </p:txBody>
        </p:sp>
      </p:grpSp>
      <p:sp>
        <p:nvSpPr>
          <p:cNvPr id="14" name="object 14"/>
          <p:cNvSpPr txBox="1"/>
          <p:nvPr/>
        </p:nvSpPr>
        <p:spPr>
          <a:xfrm>
            <a:off x="2418969" y="5687974"/>
            <a:ext cx="1250950" cy="513715"/>
          </a:xfrm>
          <a:prstGeom prst="rect">
            <a:avLst/>
          </a:prstGeom>
        </p:spPr>
        <p:txBody>
          <a:bodyPr vert="horz" wrap="square" lIns="0" tIns="12700" rIns="0" bIns="0" rtlCol="0">
            <a:spAutoFit/>
          </a:bodyPr>
          <a:lstStyle/>
          <a:p>
            <a:pPr marL="12700">
              <a:lnSpc>
                <a:spcPct val="100000"/>
              </a:lnSpc>
              <a:spcBef>
                <a:spcPts val="100"/>
              </a:spcBef>
            </a:pPr>
            <a:r>
              <a:rPr sz="3200" b="1" spc="-20" dirty="0">
                <a:latin typeface="Microsoft JhengHei"/>
                <a:cs typeface="Microsoft JhengHei"/>
              </a:rPr>
              <a:t>木纤维</a:t>
            </a:r>
            <a:endParaRPr sz="3200">
              <a:latin typeface="Microsoft JhengHei"/>
              <a:cs typeface="Microsoft JhengHei"/>
            </a:endParaRPr>
          </a:p>
        </p:txBody>
      </p:sp>
      <p:sp>
        <p:nvSpPr>
          <p:cNvPr id="15" name="object 15"/>
          <p:cNvSpPr txBox="1"/>
          <p:nvPr/>
        </p:nvSpPr>
        <p:spPr>
          <a:xfrm>
            <a:off x="3452240" y="3714241"/>
            <a:ext cx="1385570" cy="764540"/>
          </a:xfrm>
          <a:prstGeom prst="rect">
            <a:avLst/>
          </a:prstGeom>
        </p:spPr>
        <p:txBody>
          <a:bodyPr vert="horz" wrap="square" lIns="0" tIns="12700" rIns="0" bIns="0" rtlCol="0">
            <a:spAutoFit/>
          </a:bodyPr>
          <a:lstStyle/>
          <a:p>
            <a:pPr marL="12700" marR="5080" indent="669290">
              <a:lnSpc>
                <a:spcPct val="134600"/>
              </a:lnSpc>
              <a:spcBef>
                <a:spcPts val="100"/>
              </a:spcBef>
            </a:pPr>
            <a:r>
              <a:rPr sz="1800" b="1" spc="-20" dirty="0">
                <a:latin typeface="Microsoft JhengHei"/>
                <a:cs typeface="Microsoft JhengHei"/>
              </a:rPr>
              <a:t>细胞腔</a:t>
            </a:r>
            <a:r>
              <a:rPr sz="1800" b="1" spc="-10" dirty="0">
                <a:latin typeface="Microsoft JhengHei"/>
                <a:cs typeface="Microsoft JhengHei"/>
              </a:rPr>
              <a:t>厚的细胞壁</a:t>
            </a:r>
            <a:endParaRPr sz="1800">
              <a:latin typeface="Microsoft JhengHei"/>
              <a:cs typeface="Microsoft JhengHei"/>
            </a:endParaRPr>
          </a:p>
        </p:txBody>
      </p:sp>
      <p:sp>
        <p:nvSpPr>
          <p:cNvPr id="16" name="object 16"/>
          <p:cNvSpPr txBox="1"/>
          <p:nvPr/>
        </p:nvSpPr>
        <p:spPr>
          <a:xfrm>
            <a:off x="1275333" y="2880740"/>
            <a:ext cx="485775" cy="29972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Microsoft JhengHei"/>
                <a:cs typeface="Microsoft JhengHei"/>
              </a:rPr>
              <a:t>纹孔</a:t>
            </a:r>
            <a:endParaRPr sz="1800">
              <a:latin typeface="Microsoft JhengHei"/>
              <a:cs typeface="Microsoft JhengHei"/>
            </a:endParaRPr>
          </a:p>
        </p:txBody>
      </p:sp>
      <p:sp>
        <p:nvSpPr>
          <p:cNvPr id="17" name="object 17"/>
          <p:cNvSpPr/>
          <p:nvPr/>
        </p:nvSpPr>
        <p:spPr>
          <a:xfrm>
            <a:off x="7652257" y="3428110"/>
            <a:ext cx="247650" cy="374015"/>
          </a:xfrm>
          <a:custGeom>
            <a:avLst/>
            <a:gdLst/>
            <a:ahLst/>
            <a:cxnLst/>
            <a:rect l="l" t="t" r="r" b="b"/>
            <a:pathLst>
              <a:path w="247650" h="374014">
                <a:moveTo>
                  <a:pt x="206644" y="63899"/>
                </a:moveTo>
                <a:lnTo>
                  <a:pt x="172983" y="81275"/>
                </a:lnTo>
                <a:lnTo>
                  <a:pt x="0" y="353568"/>
                </a:lnTo>
                <a:lnTo>
                  <a:pt x="32131" y="374014"/>
                </a:lnTo>
                <a:lnTo>
                  <a:pt x="205189" y="101768"/>
                </a:lnTo>
                <a:lnTo>
                  <a:pt x="206644" y="63899"/>
                </a:lnTo>
                <a:close/>
              </a:path>
              <a:path w="247650" h="374014">
                <a:moveTo>
                  <a:pt x="246432" y="21716"/>
                </a:moveTo>
                <a:lnTo>
                  <a:pt x="210820" y="21716"/>
                </a:lnTo>
                <a:lnTo>
                  <a:pt x="243077" y="42163"/>
                </a:lnTo>
                <a:lnTo>
                  <a:pt x="205189" y="101768"/>
                </a:lnTo>
                <a:lnTo>
                  <a:pt x="202819" y="163449"/>
                </a:lnTo>
                <a:lnTo>
                  <a:pt x="204053" y="170918"/>
                </a:lnTo>
                <a:lnTo>
                  <a:pt x="207930" y="177101"/>
                </a:lnTo>
                <a:lnTo>
                  <a:pt x="213856" y="181379"/>
                </a:lnTo>
                <a:lnTo>
                  <a:pt x="221234" y="183133"/>
                </a:lnTo>
                <a:lnTo>
                  <a:pt x="228649" y="181973"/>
                </a:lnTo>
                <a:lnTo>
                  <a:pt x="234838" y="178133"/>
                </a:lnTo>
                <a:lnTo>
                  <a:pt x="239146" y="172221"/>
                </a:lnTo>
                <a:lnTo>
                  <a:pt x="240919" y="164846"/>
                </a:lnTo>
                <a:lnTo>
                  <a:pt x="246432" y="21716"/>
                </a:lnTo>
                <a:close/>
              </a:path>
              <a:path w="247650" h="374014">
                <a:moveTo>
                  <a:pt x="247269" y="0"/>
                </a:moveTo>
                <a:lnTo>
                  <a:pt x="100584" y="75691"/>
                </a:lnTo>
                <a:lnTo>
                  <a:pt x="94724" y="80432"/>
                </a:lnTo>
                <a:lnTo>
                  <a:pt x="91233" y="86852"/>
                </a:lnTo>
                <a:lnTo>
                  <a:pt x="90386" y="94105"/>
                </a:lnTo>
                <a:lnTo>
                  <a:pt x="92456" y="101346"/>
                </a:lnTo>
                <a:lnTo>
                  <a:pt x="97178" y="107279"/>
                </a:lnTo>
                <a:lnTo>
                  <a:pt x="103568" y="110807"/>
                </a:lnTo>
                <a:lnTo>
                  <a:pt x="110815" y="111668"/>
                </a:lnTo>
                <a:lnTo>
                  <a:pt x="118110" y="109600"/>
                </a:lnTo>
                <a:lnTo>
                  <a:pt x="172983" y="81275"/>
                </a:lnTo>
                <a:lnTo>
                  <a:pt x="210820" y="21716"/>
                </a:lnTo>
                <a:lnTo>
                  <a:pt x="246432" y="21716"/>
                </a:lnTo>
                <a:lnTo>
                  <a:pt x="247269" y="0"/>
                </a:lnTo>
                <a:close/>
              </a:path>
              <a:path w="247650" h="374014">
                <a:moveTo>
                  <a:pt x="225847" y="31241"/>
                </a:moveTo>
                <a:lnTo>
                  <a:pt x="207899" y="31241"/>
                </a:lnTo>
                <a:lnTo>
                  <a:pt x="235712" y="48894"/>
                </a:lnTo>
                <a:lnTo>
                  <a:pt x="206644" y="63899"/>
                </a:lnTo>
                <a:lnTo>
                  <a:pt x="205205" y="101346"/>
                </a:lnTo>
                <a:lnTo>
                  <a:pt x="205189" y="101768"/>
                </a:lnTo>
                <a:lnTo>
                  <a:pt x="243077" y="42163"/>
                </a:lnTo>
                <a:lnTo>
                  <a:pt x="225847" y="31241"/>
                </a:lnTo>
                <a:close/>
              </a:path>
              <a:path w="247650" h="374014">
                <a:moveTo>
                  <a:pt x="210820" y="21716"/>
                </a:moveTo>
                <a:lnTo>
                  <a:pt x="172983" y="81275"/>
                </a:lnTo>
                <a:lnTo>
                  <a:pt x="206644" y="63899"/>
                </a:lnTo>
                <a:lnTo>
                  <a:pt x="207899" y="31241"/>
                </a:lnTo>
                <a:lnTo>
                  <a:pt x="225847" y="31241"/>
                </a:lnTo>
                <a:lnTo>
                  <a:pt x="210820" y="21716"/>
                </a:lnTo>
                <a:close/>
              </a:path>
              <a:path w="247650" h="374014">
                <a:moveTo>
                  <a:pt x="207899" y="31241"/>
                </a:moveTo>
                <a:lnTo>
                  <a:pt x="206644" y="63899"/>
                </a:lnTo>
                <a:lnTo>
                  <a:pt x="235712" y="48894"/>
                </a:lnTo>
                <a:lnTo>
                  <a:pt x="207899" y="31241"/>
                </a:lnTo>
                <a:close/>
              </a:path>
            </a:pathLst>
          </a:custGeom>
          <a:solidFill>
            <a:srgbClr val="FF0000"/>
          </a:solidFill>
        </p:spPr>
        <p:txBody>
          <a:bodyPr wrap="square" lIns="0" tIns="0" rIns="0" bIns="0" rtlCol="0"/>
          <a:lstStyle/>
          <a:p>
            <a:endParaRPr/>
          </a:p>
        </p:txBody>
      </p:sp>
      <p:sp>
        <p:nvSpPr>
          <p:cNvPr id="18" name="object 18"/>
          <p:cNvSpPr txBox="1"/>
          <p:nvPr/>
        </p:nvSpPr>
        <p:spPr>
          <a:xfrm>
            <a:off x="6884289" y="3826891"/>
            <a:ext cx="140652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纤维素微纤丝</a:t>
            </a:r>
            <a:endParaRPr sz="1800">
              <a:latin typeface="Microsoft JhengHei"/>
              <a:cs typeface="Microsoft JhengHei"/>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4657" name="Rectangle 3"/>
          <p:cNvSpPr>
            <a:spLocks noGrp="1"/>
          </p:cNvSpPr>
          <p:nvPr>
            <p:ph idx="1"/>
          </p:nvPr>
        </p:nvSpPr>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机械组织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厚角组织与厚壁组织细胞的比较</a:t>
            </a:r>
          </a:p>
        </p:txBody>
      </p:sp>
      <p:graphicFrame>
        <p:nvGraphicFramePr>
          <p:cNvPr id="249889" name="Group 33"/>
          <p:cNvGraphicFramePr>
            <a:graphicFrameLocks noGrp="1"/>
          </p:cNvGraphicFramePr>
          <p:nvPr/>
        </p:nvGraphicFramePr>
        <p:xfrm>
          <a:off x="179388" y="1828800"/>
          <a:ext cx="8713787" cy="4543427"/>
        </p:xfrm>
        <a:graphic>
          <a:graphicData uri="http://schemas.openxmlformats.org/drawingml/2006/table">
            <a:tbl>
              <a:tblPr/>
              <a:tblGrid>
                <a:gridCol w="2178447">
                  <a:extLst>
                    <a:ext uri="{9D8B030D-6E8A-4147-A177-3AD203B41FA5}">
                      <a16:colId xmlns:a16="http://schemas.microsoft.com/office/drawing/2014/main" val="20000"/>
                    </a:ext>
                  </a:extLst>
                </a:gridCol>
                <a:gridCol w="3630744">
                  <a:extLst>
                    <a:ext uri="{9D8B030D-6E8A-4147-A177-3AD203B41FA5}">
                      <a16:colId xmlns:a16="http://schemas.microsoft.com/office/drawing/2014/main" val="20001"/>
                    </a:ext>
                  </a:extLst>
                </a:gridCol>
                <a:gridCol w="2904596">
                  <a:extLst>
                    <a:ext uri="{9D8B030D-6E8A-4147-A177-3AD203B41FA5}">
                      <a16:colId xmlns:a16="http://schemas.microsoft.com/office/drawing/2014/main" val="20002"/>
                    </a:ext>
                  </a:extLst>
                </a:gridCol>
              </a:tblGrid>
              <a:tr h="798513">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1" lang="zh-CN" altLang="zh-CN" sz="2100" b="0" i="0" u="none" strike="noStrike" cap="none" normalizeH="0" baseline="0">
                        <a:ln>
                          <a:noFill/>
                        </a:ln>
                        <a:solidFill>
                          <a:srgbClr val="0000FF"/>
                        </a:solidFill>
                        <a:effectLst/>
                        <a:latin typeface="Tahoma" panose="020B0604030504040204" pitchFamily="34" charset="0"/>
                        <a:ea typeface="华文新魏" panose="02010800040101010101" pitchFamily="2" charset="-122"/>
                      </a:endParaRPr>
                    </a:p>
                  </a:txBody>
                  <a:tcPr marL="91449" marR="9144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5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厚角组织</a:t>
                      </a:r>
                    </a:p>
                  </a:txBody>
                  <a:tcPr marL="91449" marR="914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5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厚壁组织</a:t>
                      </a:r>
                    </a:p>
                  </a:txBody>
                  <a:tcPr marL="91449" marR="9144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9325">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500" b="1" i="0" u="none" strike="noStrike" cap="none" normalizeH="0" baseline="0">
                          <a:ln>
                            <a:noFill/>
                          </a:ln>
                          <a:solidFill>
                            <a:srgbClr val="0000FF"/>
                          </a:solidFill>
                          <a:effectLst/>
                          <a:latin typeface="黑体" panose="02010609060101010101" pitchFamily="49" charset="-122"/>
                          <a:ea typeface="黑体" panose="02010609060101010101" pitchFamily="49" charset="-122"/>
                        </a:rPr>
                        <a:t>壁加厚方式</a:t>
                      </a:r>
                    </a:p>
                  </a:txBody>
                  <a:tcPr marL="91449" marR="9144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初生壁性质</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局部加厚</a:t>
                      </a:r>
                    </a:p>
                  </a:txBody>
                  <a:tcPr marL="91449" marR="914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次生壁全面加厚</a:t>
                      </a:r>
                    </a:p>
                  </a:txBody>
                  <a:tcPr marL="91449" marR="9144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2813">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500" b="1" i="0" u="none" strike="noStrike" cap="none" normalizeH="0" baseline="0">
                          <a:ln>
                            <a:noFill/>
                          </a:ln>
                          <a:solidFill>
                            <a:srgbClr val="0000FF"/>
                          </a:solidFill>
                          <a:effectLst/>
                          <a:latin typeface="黑体" panose="02010609060101010101" pitchFamily="49" charset="-122"/>
                          <a:ea typeface="黑体" panose="02010609060101010101" pitchFamily="49" charset="-122"/>
                        </a:rPr>
                        <a:t>细胞壁成份</a:t>
                      </a:r>
                    </a:p>
                  </a:txBody>
                  <a:tcPr marL="91449" marR="9144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以纤维素为主</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无木质素</a:t>
                      </a:r>
                    </a:p>
                  </a:txBody>
                  <a:tcPr marL="91449" marR="914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以纤维素为主</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具木质素</a:t>
                      </a:r>
                    </a:p>
                  </a:txBody>
                  <a:tcPr marL="91449" marR="9144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1388">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500" b="1" i="0" u="none" strike="noStrike" cap="none" normalizeH="0" baseline="0">
                          <a:ln>
                            <a:noFill/>
                          </a:ln>
                          <a:solidFill>
                            <a:srgbClr val="0000FF"/>
                          </a:solidFill>
                          <a:effectLst/>
                          <a:latin typeface="黑体" panose="02010609060101010101" pitchFamily="49" charset="-122"/>
                          <a:ea typeface="黑体" panose="02010609060101010101" pitchFamily="49" charset="-122"/>
                        </a:rPr>
                        <a:t>生活状态</a:t>
                      </a:r>
                    </a:p>
                  </a:txBody>
                  <a:tcPr marL="91449" marR="9144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成熟细胞为活细胞</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可继续生长</a:t>
                      </a:r>
                    </a:p>
                  </a:txBody>
                  <a:tcPr marL="91449" marR="914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成熟状态为死细胞</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无生长能力</a:t>
                      </a:r>
                    </a:p>
                  </a:txBody>
                  <a:tcPr marL="91449" marR="9144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1388">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5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发育方向</a:t>
                      </a:r>
                    </a:p>
                  </a:txBody>
                  <a:tcPr marL="91449" marR="9144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具正常原生质体</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具脱分化潜能</a:t>
                      </a:r>
                    </a:p>
                  </a:txBody>
                  <a:tcPr marL="91449" marR="914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kumimoji="1" sz="2100">
                          <a:solidFill>
                            <a:srgbClr val="0000FF"/>
                          </a:solidFill>
                          <a:latin typeface="Tahoma" panose="020B0604030504040204" pitchFamily="34" charset="0"/>
                          <a:ea typeface="华文新魏" panose="02010800040101010101" pitchFamily="2" charset="-122"/>
                        </a:defRPr>
                      </a:lvl1pPr>
                      <a:lvl2pPr>
                        <a:spcBef>
                          <a:spcPct val="20000"/>
                        </a:spcBef>
                        <a:buClr>
                          <a:schemeClr val="hlink"/>
                        </a:buClr>
                        <a:buFont typeface="Wingdings" panose="05000000000000000000" pitchFamily="2" charset="2"/>
                        <a:defRPr kumimoji="1" sz="2000">
                          <a:solidFill>
                            <a:srgbClr val="000000"/>
                          </a:solidFill>
                          <a:latin typeface="Tahoma" panose="020B0604030504040204" pitchFamily="34" charset="0"/>
                          <a:ea typeface="华文新魏" panose="02010800040101010101" pitchFamily="2" charset="-122"/>
                        </a:defRPr>
                      </a:lvl2pPr>
                      <a:lvl3pPr>
                        <a:spcBef>
                          <a:spcPct val="20000"/>
                        </a:spcBef>
                        <a:buClr>
                          <a:srgbClr val="FF3300"/>
                        </a:buClr>
                        <a:buFont typeface="Wingdings" panose="05000000000000000000" pitchFamily="2" charset="2"/>
                        <a:defRPr kumimoji="1" sz="2100">
                          <a:solidFill>
                            <a:srgbClr val="FF3300"/>
                          </a:solidFill>
                          <a:latin typeface="Tahoma" panose="020B0604030504040204" pitchFamily="34" charset="0"/>
                          <a:ea typeface="华文新魏" panose="02010800040101010101" pitchFamily="2" charset="-122"/>
                        </a:defRPr>
                      </a:lvl3pPr>
                      <a:lvl4pPr>
                        <a:spcBef>
                          <a:spcPct val="20000"/>
                        </a:spcBef>
                        <a:buClr>
                          <a:schemeClr val="accent2"/>
                        </a:buClr>
                        <a:buSzPct val="55000"/>
                        <a:buFont typeface="Wingdings" panose="05000000000000000000" pitchFamily="2" charset="2"/>
                        <a:defRPr kumimoji="1" sz="2100">
                          <a:solidFill>
                            <a:srgbClr val="3333FF"/>
                          </a:solidFill>
                          <a:latin typeface="Tahoma" panose="020B0604030504040204" pitchFamily="34" charset="0"/>
                          <a:ea typeface="华文新魏" panose="0201080004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无进一步</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3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分化潜能</a:t>
                      </a:r>
                    </a:p>
                  </a:txBody>
                  <a:tcPr marL="91449" marR="9144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54684"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5681" name="Rectangle 3"/>
          <p:cNvSpPr>
            <a:spLocks noGrp="1"/>
          </p:cNvSpPr>
          <p:nvPr>
            <p:ph idx="1"/>
          </p:nvPr>
        </p:nvSpPr>
        <p:spPr>
          <a:xfrm>
            <a:off x="125413" y="1195388"/>
            <a:ext cx="8623300"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输导组织</a:t>
            </a:r>
          </a:p>
          <a:p>
            <a:pPr lvl="1" eaLnBrk="1" hangingPunct="1">
              <a:lnSpc>
                <a:spcPct val="140000"/>
              </a:lnSpc>
            </a:pPr>
            <a:r>
              <a:rPr lang="zh-CN" altLang="en-US" b="1" dirty="0">
                <a:latin typeface="黑体" panose="02010609060101010101" pitchFamily="49" charset="-122"/>
                <a:ea typeface="黑体" panose="02010609060101010101" pitchFamily="49" charset="-122"/>
              </a:rPr>
              <a:t>输导组织是植物体内担负物质运输和起支持作用的最主要组织。它们将根吸收的水分和无机盐运送到地上部分，将光合产物运送到根、茎、花、果实中去。植物体各部之间进行的物质的重新分配和转移，也由输导组织来进行。</a:t>
            </a:r>
          </a:p>
          <a:p>
            <a:pPr lvl="1" eaLnBrk="1" hangingPunct="1">
              <a:lnSpc>
                <a:spcPct val="140000"/>
              </a:lnSpc>
            </a:pPr>
            <a:r>
              <a:rPr lang="zh-CN" altLang="en-US" b="1" dirty="0">
                <a:latin typeface="黑体" panose="02010609060101010101" pitchFamily="49" charset="-122"/>
                <a:ea typeface="黑体" panose="02010609060101010101" pitchFamily="49" charset="-122"/>
              </a:rPr>
              <a:t>植物体水分的运输和有机物的转移，分别由二类输导组织承担，即运输水分和无机盐的</a:t>
            </a:r>
            <a:r>
              <a:rPr lang="zh-CN" altLang="en-US" b="1" dirty="0">
                <a:solidFill>
                  <a:srgbClr val="FF0000"/>
                </a:solidFill>
                <a:latin typeface="黑体" panose="02010609060101010101" pitchFamily="49" charset="-122"/>
                <a:ea typeface="黑体" panose="02010609060101010101" pitchFamily="49" charset="-122"/>
              </a:rPr>
              <a:t>木质部</a:t>
            </a:r>
            <a:r>
              <a:rPr lang="zh-CN" altLang="en-US" b="1" dirty="0">
                <a:latin typeface="黑体" panose="02010609060101010101" pitchFamily="49" charset="-122"/>
                <a:ea typeface="黑体" panose="02010609060101010101" pitchFamily="49" charset="-122"/>
              </a:rPr>
              <a:t>和运输有机物质的</a:t>
            </a:r>
            <a:r>
              <a:rPr lang="zh-CN" altLang="en-US" b="1" dirty="0">
                <a:solidFill>
                  <a:srgbClr val="FF0000"/>
                </a:solidFill>
                <a:latin typeface="黑体" panose="02010609060101010101" pitchFamily="49" charset="-122"/>
                <a:ea typeface="黑体" panose="02010609060101010101" pitchFamily="49" charset="-122"/>
              </a:rPr>
              <a:t>韧皮部</a:t>
            </a:r>
            <a:r>
              <a:rPr lang="zh-CN" altLang="en-US" b="1" dirty="0">
                <a:latin typeface="黑体" panose="02010609060101010101" pitchFamily="49" charset="-122"/>
                <a:ea typeface="黑体" panose="02010609060101010101" pitchFamily="49" charset="-122"/>
              </a:rPr>
              <a:t>。 </a:t>
            </a:r>
          </a:p>
        </p:txBody>
      </p:sp>
      <p:sp>
        <p:nvSpPr>
          <p:cNvPr id="455682"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6705" name="Rectangle 3"/>
          <p:cNvSpPr>
            <a:spLocks noGrp="1"/>
          </p:cNvSpPr>
          <p:nvPr>
            <p:ph idx="1"/>
          </p:nvPr>
        </p:nvSpPr>
        <p:spPr>
          <a:xfrm>
            <a:off x="125413" y="1250950"/>
            <a:ext cx="8893175"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输导组织</a:t>
            </a:r>
            <a:r>
              <a:rPr lang="en-US" altLang="zh-CN" b="1" dirty="0">
                <a:latin typeface="黑体" panose="02010609060101010101" pitchFamily="49" charset="-122"/>
                <a:ea typeface="黑体" panose="02010609060101010101" pitchFamily="49" charset="-122"/>
              </a:rPr>
              <a:t>——⑴ </a:t>
            </a:r>
            <a:r>
              <a:rPr lang="zh-CN" altLang="en-US" b="1" dirty="0">
                <a:solidFill>
                  <a:srgbClr val="FF0000"/>
                </a:solidFill>
                <a:latin typeface="黑体" panose="02010609060101010101" pitchFamily="49" charset="-122"/>
                <a:ea typeface="黑体" panose="02010609060101010101" pitchFamily="49" charset="-122"/>
              </a:rPr>
              <a:t>木质部</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位置和来源</a:t>
            </a:r>
          </a:p>
          <a:p>
            <a:pPr lvl="1" eaLnBrk="1" hangingPunct="1">
              <a:lnSpc>
                <a:spcPct val="180000"/>
              </a:lnSpc>
            </a:pPr>
            <a:r>
              <a:rPr lang="zh-CN" altLang="en-US" b="1" dirty="0">
                <a:latin typeface="黑体" panose="02010609060101010101" pitchFamily="49" charset="-122"/>
                <a:ea typeface="黑体" panose="02010609060101010101" pitchFamily="49" charset="-122"/>
              </a:rPr>
              <a:t>存在维管组织内，来源于</a:t>
            </a:r>
            <a:r>
              <a:rPr lang="zh-CN" altLang="en-US" b="1" dirty="0">
                <a:solidFill>
                  <a:srgbClr val="FF0000"/>
                </a:solidFill>
                <a:latin typeface="黑体" panose="02010609060101010101" pitchFamily="49" charset="-122"/>
                <a:ea typeface="黑体" panose="02010609060101010101" pitchFamily="49" charset="-122"/>
              </a:rPr>
              <a:t>原形成层（为初生木质部）或维管形成层（为次生木质部）</a:t>
            </a:r>
            <a:r>
              <a:rPr lang="zh-CN" altLang="en-US" b="1" dirty="0">
                <a:latin typeface="黑体" panose="02010609060101010101" pitchFamily="49" charset="-122"/>
                <a:ea typeface="黑体" panose="02010609060101010101" pitchFamily="49" charset="-122"/>
              </a:rPr>
              <a:t>。 </a:t>
            </a:r>
          </a:p>
        </p:txBody>
      </p:sp>
      <p:sp>
        <p:nvSpPr>
          <p:cNvPr id="45670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7729" name="Rectangle 3"/>
          <p:cNvSpPr>
            <a:spLocks noGrp="1"/>
          </p:cNvSpPr>
          <p:nvPr>
            <p:ph idx="1"/>
          </p:nvPr>
        </p:nvSpPr>
        <p:spPr>
          <a:xfrm>
            <a:off x="0" y="1295400"/>
            <a:ext cx="9144000" cy="5257800"/>
          </a:xfrm>
        </p:spPr>
        <p:txBody>
          <a:bodyPr vert="horz" wrap="square" lIns="91440" tIns="45720" rIns="91440" bIns="45720" anchor="t" anchorCtr="0"/>
          <a:lstStyle/>
          <a:p>
            <a:pPr eaLnBrk="1" hangingPunct="1">
              <a:buNone/>
            </a:pPr>
            <a:r>
              <a:rPr lang="en-US" altLang="zh-CN"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输导组织</a:t>
            </a:r>
            <a:r>
              <a:rPr lang="en-US" altLang="zh-CN" b="1" dirty="0">
                <a:latin typeface="黑体" panose="02010609060101010101" pitchFamily="49" charset="-122"/>
                <a:ea typeface="黑体" panose="02010609060101010101" pitchFamily="49" charset="-122"/>
              </a:rPr>
              <a:t>——⑴ </a:t>
            </a:r>
            <a:r>
              <a:rPr lang="zh-CN" altLang="en-US" b="1" dirty="0">
                <a:latin typeface="黑体" panose="02010609060101010101" pitchFamily="49" charset="-122"/>
                <a:ea typeface="黑体" panose="02010609060101010101" pitchFamily="49" charset="-122"/>
                <a:hlinkClick r:id="rId3" action="ppaction://hlinksldjump"/>
              </a:rPr>
              <a:t>木质部</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组织特征</a:t>
            </a:r>
          </a:p>
          <a:p>
            <a:pPr lvl="1" eaLnBrk="1" hangingPunct="1">
              <a:lnSpc>
                <a:spcPct val="130000"/>
              </a:lnSpc>
            </a:pPr>
            <a:r>
              <a:rPr lang="zh-CN" altLang="en-US" b="1" dirty="0">
                <a:latin typeface="黑体" panose="02010609060101010101" pitchFamily="49" charset="-122"/>
                <a:ea typeface="黑体" panose="02010609060101010101" pitchFamily="49" charset="-122"/>
              </a:rPr>
              <a:t>细胞类型及特征：</a:t>
            </a:r>
          </a:p>
          <a:p>
            <a:pPr lvl="2" eaLnBrk="1" hangingPunct="1">
              <a:lnSpc>
                <a:spcPct val="130000"/>
              </a:lnSpc>
            </a:pPr>
            <a:r>
              <a:rPr lang="zh-CN" altLang="en-US" b="1" dirty="0">
                <a:solidFill>
                  <a:srgbClr val="FF0000"/>
                </a:solidFill>
                <a:latin typeface="黑体" panose="02010609060101010101" pitchFamily="49" charset="-122"/>
                <a:ea typeface="黑体" panose="02010609060101010101" pitchFamily="49" charset="-122"/>
                <a:hlinkClick r:id="rId3" action="ppaction://hlinksldjump"/>
              </a:rPr>
              <a:t>管胞</a:t>
            </a:r>
            <a:r>
              <a:rPr lang="zh-CN" altLang="en-US"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hlinkClick r:id="rId3" action="ppaction://hlinksldjump"/>
              </a:rPr>
              <a:t>导管</a:t>
            </a:r>
            <a:r>
              <a:rPr lang="zh-CN" altLang="en-US" b="1" dirty="0">
                <a:solidFill>
                  <a:schemeClr val="tx1"/>
                </a:solidFill>
                <a:latin typeface="黑体" panose="02010609060101010101" pitchFamily="49" charset="-122"/>
                <a:ea typeface="黑体" panose="02010609060101010101" pitchFamily="49" charset="-122"/>
              </a:rPr>
              <a:t>；</a:t>
            </a:r>
            <a:endParaRPr lang="en-US" altLang="zh-CN" b="1" dirty="0">
              <a:solidFill>
                <a:schemeClr val="tx1"/>
              </a:solidFill>
              <a:latin typeface="黑体" panose="02010609060101010101" pitchFamily="49" charset="-122"/>
              <a:ea typeface="黑体" panose="02010609060101010101" pitchFamily="49" charset="-122"/>
            </a:endParaRPr>
          </a:p>
          <a:p>
            <a:pPr lvl="2" eaLnBrk="1" hangingPunct="1">
              <a:lnSpc>
                <a:spcPct val="130000"/>
              </a:lnSpc>
            </a:pPr>
            <a:r>
              <a:rPr lang="zh-CN" altLang="en-US" b="1" u="sng" dirty="0">
                <a:solidFill>
                  <a:srgbClr val="FF0000"/>
                </a:solidFill>
                <a:latin typeface="黑体" panose="02010609060101010101" pitchFamily="49" charset="-122"/>
                <a:ea typeface="黑体" panose="02010609060101010101" pitchFamily="49" charset="-122"/>
                <a:hlinkClick r:id="rId3" action="ppaction://hlinksldjump"/>
              </a:rPr>
              <a:t>木纤维</a:t>
            </a:r>
            <a:r>
              <a:rPr lang="zh-CN" altLang="en-US" b="1" dirty="0">
                <a:solidFill>
                  <a:srgbClr val="FF0000"/>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是末端尖锐的伸长细胞，一般比管胞有较厚的壁，且强烈木质化，成熟时原生质体死亡，排列与管胞相似，木纤维的存在使木质部具有支持作用。</a:t>
            </a:r>
          </a:p>
          <a:p>
            <a:pPr lvl="2" eaLnBrk="1" hangingPunct="1">
              <a:lnSpc>
                <a:spcPct val="130000"/>
              </a:lnSpc>
            </a:pPr>
            <a:r>
              <a:rPr lang="zh-CN" altLang="en-US" b="1" u="sng" dirty="0">
                <a:solidFill>
                  <a:srgbClr val="FF0000"/>
                </a:solidFill>
                <a:latin typeface="黑体" panose="02010609060101010101" pitchFamily="49" charset="-122"/>
                <a:ea typeface="黑体" panose="02010609060101010101" pitchFamily="49" charset="-122"/>
              </a:rPr>
              <a:t>木薄壁细胞</a:t>
            </a:r>
            <a:r>
              <a:rPr lang="zh-CN" altLang="en-US" b="1" dirty="0">
                <a:solidFill>
                  <a:srgbClr val="FF0000"/>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木质部中的薄壁细胞即为木薄壁细胞。它们的壁在发育的后期通常也木质化，这些细胞常含有淀粉和结晶，具有储藏的功能。另外，木薄壁细胞还有横向运输作用。</a:t>
            </a:r>
          </a:p>
          <a:p>
            <a:pPr lvl="1" eaLnBrk="1" hangingPunct="1">
              <a:lnSpc>
                <a:spcPct val="130000"/>
              </a:lnSpc>
            </a:pPr>
            <a:r>
              <a:rPr lang="zh-CN" altLang="en-US" b="1" dirty="0">
                <a:latin typeface="黑体" panose="02010609060101010101" pitchFamily="49" charset="-122"/>
                <a:ea typeface="黑体" panose="02010609060101010101" pitchFamily="49" charset="-122"/>
              </a:rPr>
              <a:t>排列方式：裸子植物木质部中，纵轴方向以管胞为主，无纤维和导管，木薄壁细胞主要沿横向排列（射线）。  </a:t>
            </a:r>
          </a:p>
        </p:txBody>
      </p:sp>
      <p:pic>
        <p:nvPicPr>
          <p:cNvPr id="252934" name="Picture 6" descr="D:\刘宗才\植物学素材\教学素材\植物学插图上册\t1-50.jpg"/>
          <p:cNvPicPr>
            <a:picLocks noChangeAspect="1"/>
          </p:cNvPicPr>
          <p:nvPr/>
        </p:nvPicPr>
        <p:blipFill>
          <a:blip r:embed="rId4"/>
          <a:stretch>
            <a:fillRect/>
          </a:stretch>
        </p:blipFill>
        <p:spPr>
          <a:xfrm>
            <a:off x="531813" y="1428750"/>
            <a:ext cx="4141787" cy="5181600"/>
          </a:xfrm>
          <a:prstGeom prst="rect">
            <a:avLst/>
          </a:prstGeom>
          <a:noFill/>
          <a:ln w="38100" cap="flat" cmpd="sng">
            <a:solidFill>
              <a:srgbClr val="0000FF"/>
            </a:solidFill>
            <a:prstDash val="solid"/>
            <a:miter/>
            <a:headEnd type="none" w="med" len="med"/>
            <a:tailEnd type="none" w="med" len="med"/>
          </a:ln>
        </p:spPr>
      </p:pic>
      <p:pic>
        <p:nvPicPr>
          <p:cNvPr id="252935" name="Picture 7" descr="D:\刘宗才\植物学素材\教学素材\植物学插图上册\t1-51.jpg"/>
          <p:cNvPicPr>
            <a:picLocks noChangeAspect="1"/>
          </p:cNvPicPr>
          <p:nvPr/>
        </p:nvPicPr>
        <p:blipFill>
          <a:blip r:embed="rId5"/>
          <a:stretch>
            <a:fillRect/>
          </a:stretch>
        </p:blipFill>
        <p:spPr>
          <a:xfrm>
            <a:off x="468313" y="1498600"/>
            <a:ext cx="4648200" cy="5181600"/>
          </a:xfrm>
          <a:prstGeom prst="rect">
            <a:avLst/>
          </a:prstGeom>
          <a:noFill/>
          <a:ln w="38100" cap="flat" cmpd="sng">
            <a:solidFill>
              <a:srgbClr val="0000FF"/>
            </a:solidFill>
            <a:prstDash val="solid"/>
            <a:miter/>
            <a:headEnd type="none" w="med" len="med"/>
            <a:tailEnd type="none" w="med" len="med"/>
          </a:ln>
        </p:spPr>
      </p:pic>
      <p:pic>
        <p:nvPicPr>
          <p:cNvPr id="252936" name="Picture 8" descr="D:\刘宗才\植物学素材\教学素材\营养器官\各类导管.JPG.JPG"/>
          <p:cNvPicPr>
            <a:picLocks noChangeAspect="1"/>
          </p:cNvPicPr>
          <p:nvPr/>
        </p:nvPicPr>
        <p:blipFill>
          <a:blip r:embed="rId6"/>
          <a:stretch>
            <a:fillRect/>
          </a:stretch>
        </p:blipFill>
        <p:spPr>
          <a:xfrm>
            <a:off x="508000" y="1473200"/>
            <a:ext cx="6934200" cy="5200650"/>
          </a:xfrm>
          <a:prstGeom prst="rect">
            <a:avLst/>
          </a:prstGeom>
          <a:noFill/>
          <a:ln w="38100" cap="flat" cmpd="sng">
            <a:solidFill>
              <a:srgbClr val="0000FF"/>
            </a:solidFill>
            <a:prstDash val="solid"/>
            <a:miter/>
            <a:headEnd type="none" w="med" len="med"/>
            <a:tailEnd type="none" w="med" len="med"/>
          </a:ln>
        </p:spPr>
      </p:pic>
      <p:sp>
        <p:nvSpPr>
          <p:cNvPr id="252937" name="Text Box 9"/>
          <p:cNvSpPr txBox="1"/>
          <p:nvPr/>
        </p:nvSpPr>
        <p:spPr>
          <a:xfrm>
            <a:off x="7559675" y="1333500"/>
            <a:ext cx="558800" cy="1447800"/>
          </a:xfrm>
          <a:prstGeom prst="rect">
            <a:avLst/>
          </a:prstGeom>
          <a:solidFill>
            <a:srgbClr val="FFFF00"/>
          </a:solidFill>
          <a:ln w="9525" cap="flat" cmpd="sng">
            <a:solidFill>
              <a:srgbClr val="0000FF"/>
            </a:solidFill>
            <a:prstDash val="solid"/>
            <a:miter/>
            <a:headEnd type="none" w="med" len="med"/>
            <a:tailEnd type="none" w="med" len="med"/>
          </a:ln>
        </p:spPr>
        <p:txBody>
          <a:bodyPr vert="eaVert" anchor="t" anchorCtr="0">
            <a:spAutoFit/>
          </a:bodyPr>
          <a:lstStyle/>
          <a:p>
            <a:pPr algn="ctr">
              <a:spcBef>
                <a:spcPct val="50000"/>
              </a:spcBef>
            </a:pPr>
            <a:r>
              <a:rPr lang="zh-CN" altLang="en-US" dirty="0">
                <a:solidFill>
                  <a:srgbClr val="0000FF"/>
                </a:solidFill>
                <a:latin typeface="Tahoma" panose="020B0604030504040204" pitchFamily="34" charset="0"/>
                <a:ea typeface="华文新魏" panose="02010800040101010101" pitchFamily="2" charset="-122"/>
              </a:rPr>
              <a:t>各类导管</a:t>
            </a:r>
          </a:p>
        </p:txBody>
      </p:sp>
      <p:sp>
        <p:nvSpPr>
          <p:cNvPr id="457734" name="Rectangle 5"/>
          <p:cNvSpPr>
            <a:spLocks noGrp="1"/>
          </p:cNvSpPr>
          <p:nvPr>
            <p:ph type="title"/>
          </p:nvPr>
        </p:nvSpPr>
        <p:spPr>
          <a:xfrm>
            <a:off x="101600" y="123825"/>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2934"/>
                                        </p:tgtEl>
                                        <p:attrNameLst>
                                          <p:attrName>style.visibility</p:attrName>
                                        </p:attrNameLst>
                                      </p:cBhvr>
                                      <p:to>
                                        <p:strVal val="visible"/>
                                      </p:to>
                                    </p:set>
                                    <p:animEffect transition="in" filter="dissolve">
                                      <p:cBhvr>
                                        <p:cTn id="7" dur="500"/>
                                        <p:tgtEl>
                                          <p:spTgt spid="252934"/>
                                        </p:tgtEl>
                                      </p:cBhvr>
                                    </p:animEffect>
                                  </p:childTnLst>
                                  <p:subTnLst>
                                    <p:set>
                                      <p:cBhvr override="childStyle">
                                        <p:cTn dur="1" fill="hold" display="0" masterRel="nextClick" afterEffect="1"/>
                                        <p:tgtEl>
                                          <p:spTgt spid="252934"/>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52935"/>
                                        </p:tgtEl>
                                        <p:attrNameLst>
                                          <p:attrName>style.visibility</p:attrName>
                                        </p:attrNameLst>
                                      </p:cBhvr>
                                      <p:to>
                                        <p:strVal val="visible"/>
                                      </p:to>
                                    </p:set>
                                    <p:anim calcmode="lin" valueType="num">
                                      <p:cBhvr>
                                        <p:cTn id="12" dur="500" fill="hold"/>
                                        <p:tgtEl>
                                          <p:spTgt spid="252935"/>
                                        </p:tgtEl>
                                        <p:attrNameLst>
                                          <p:attrName>ppt_w</p:attrName>
                                        </p:attrNameLst>
                                      </p:cBhvr>
                                      <p:tavLst>
                                        <p:tav tm="0">
                                          <p:val>
                                            <p:fltVal val="0"/>
                                          </p:val>
                                        </p:tav>
                                        <p:tav tm="100000">
                                          <p:val>
                                            <p:strVal val="#ppt_w"/>
                                          </p:val>
                                        </p:tav>
                                      </p:tavLst>
                                    </p:anim>
                                    <p:anim calcmode="lin" valueType="num">
                                      <p:cBhvr>
                                        <p:cTn id="13" dur="500" fill="hold"/>
                                        <p:tgtEl>
                                          <p:spTgt spid="25293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52936"/>
                                        </p:tgtEl>
                                        <p:attrNameLst>
                                          <p:attrName>style.visibility</p:attrName>
                                        </p:attrNameLst>
                                      </p:cBhvr>
                                      <p:to>
                                        <p:strVal val="visible"/>
                                      </p:to>
                                    </p:set>
                                    <p:animEffect transition="in" filter="dissolve">
                                      <p:cBhvr>
                                        <p:cTn id="18" dur="500"/>
                                        <p:tgtEl>
                                          <p:spTgt spid="252936"/>
                                        </p:tgtEl>
                                      </p:cBhvr>
                                    </p:animEffect>
                                  </p:childTnLst>
                                  <p:subTnLst>
                                    <p:audio>
                                      <p:cMediaNode>
                                        <p:cTn display="0" masterRel="sameClick">
                                          <p:stCondLst>
                                            <p:cond evt="begin" delay="0">
                                              <p:tn val="16"/>
                                            </p:cond>
                                          </p:stCondLst>
                                          <p:endCondLst>
                                            <p:cond evt="onStopAudio" delay="0">
                                              <p:tgtEl>
                                                <p:sldTgt/>
                                              </p:tgtEl>
                                            </p:cond>
                                          </p:endCondLst>
                                        </p:cTn>
                                        <p:tgtEl>
                                          <p:sndTgt r:embed="rId2" name="chimes.wav"/>
                                        </p:tgtEl>
                                      </p:cMediaNode>
                                    </p:audio>
                                  </p:sub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252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7"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3" name="Rectangle 4"/>
          <p:cNvSpPr>
            <a:spLocks noGrp="1"/>
          </p:cNvSpPr>
          <p:nvPr>
            <p:ph idx="1"/>
          </p:nvPr>
        </p:nvSpPr>
        <p:spPr>
          <a:xfrm>
            <a:off x="179388" y="1241425"/>
            <a:ext cx="9144000"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输导组织</a:t>
            </a:r>
            <a:r>
              <a:rPr lang="en-US" altLang="zh-CN" b="1" dirty="0">
                <a:latin typeface="黑体" panose="02010609060101010101" pitchFamily="49" charset="-122"/>
                <a:ea typeface="黑体" panose="02010609060101010101" pitchFamily="49" charset="-122"/>
              </a:rPr>
              <a:t>——⑴ </a:t>
            </a:r>
            <a:r>
              <a:rPr lang="zh-CN" altLang="en-US" b="1" dirty="0">
                <a:latin typeface="黑体" panose="02010609060101010101" pitchFamily="49" charset="-122"/>
                <a:ea typeface="黑体" panose="02010609060101010101" pitchFamily="49" charset="-122"/>
              </a:rPr>
              <a:t>木质部</a:t>
            </a:r>
          </a:p>
          <a:p>
            <a:pPr eaLnBrk="1" hangingPunct="1"/>
            <a:endParaRPr lang="en-US" altLang="zh-CN" dirty="0">
              <a:latin typeface="华文新魏" panose="02010800040101010101" pitchFamily="2" charset="-122"/>
            </a:endParaRPr>
          </a:p>
        </p:txBody>
      </p:sp>
      <p:pic>
        <p:nvPicPr>
          <p:cNvPr id="458754" name="Picture 6" descr="D:\lzc\植物学教学材料\植物学教学资料收集\挂图\植物组织\导管.jpg"/>
          <p:cNvPicPr>
            <a:picLocks noChangeAspect="1"/>
          </p:cNvPicPr>
          <p:nvPr/>
        </p:nvPicPr>
        <p:blipFill>
          <a:blip r:embed="rId2"/>
          <a:stretch>
            <a:fillRect/>
          </a:stretch>
        </p:blipFill>
        <p:spPr>
          <a:xfrm>
            <a:off x="5657850" y="2590800"/>
            <a:ext cx="3124200" cy="2814638"/>
          </a:xfrm>
          <a:prstGeom prst="rect">
            <a:avLst/>
          </a:prstGeom>
          <a:noFill/>
          <a:ln w="9525">
            <a:noFill/>
          </a:ln>
        </p:spPr>
      </p:pic>
      <p:pic>
        <p:nvPicPr>
          <p:cNvPr id="458755" name="Picture 9" descr="D:\刘宗才\植物学素材\教学素材\细胞与组织\藕和藕丝.jpg"/>
          <p:cNvPicPr>
            <a:picLocks noChangeAspect="1"/>
          </p:cNvPicPr>
          <p:nvPr/>
        </p:nvPicPr>
        <p:blipFill>
          <a:blip r:embed="rId3"/>
          <a:stretch>
            <a:fillRect/>
          </a:stretch>
        </p:blipFill>
        <p:spPr>
          <a:xfrm>
            <a:off x="400050" y="2590800"/>
            <a:ext cx="2722563" cy="2816225"/>
          </a:xfrm>
          <a:prstGeom prst="rect">
            <a:avLst/>
          </a:prstGeom>
          <a:noFill/>
          <a:ln w="9525">
            <a:noFill/>
          </a:ln>
        </p:spPr>
      </p:pic>
      <p:pic>
        <p:nvPicPr>
          <p:cNvPr id="458756" name="Picture 10" descr="D:\刘宗才\植物学素材\教学素材\细胞与组织\藕丝电镜扫描照片.jpg"/>
          <p:cNvPicPr>
            <a:picLocks noChangeAspect="1"/>
          </p:cNvPicPr>
          <p:nvPr/>
        </p:nvPicPr>
        <p:blipFill>
          <a:blip r:embed="rId4"/>
          <a:stretch>
            <a:fillRect/>
          </a:stretch>
        </p:blipFill>
        <p:spPr>
          <a:xfrm>
            <a:off x="3122613" y="2590800"/>
            <a:ext cx="2543175" cy="2819400"/>
          </a:xfrm>
          <a:prstGeom prst="rect">
            <a:avLst/>
          </a:prstGeom>
          <a:noFill/>
          <a:ln w="9525">
            <a:noFill/>
          </a:ln>
        </p:spPr>
      </p:pic>
      <p:sp>
        <p:nvSpPr>
          <p:cNvPr id="458757"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9777" name="图片 4"/>
          <p:cNvPicPr>
            <a:picLocks noChangeAspect="1"/>
          </p:cNvPicPr>
          <p:nvPr/>
        </p:nvPicPr>
        <p:blipFill>
          <a:blip r:embed="rId2"/>
          <a:stretch>
            <a:fillRect/>
          </a:stretch>
        </p:blipFill>
        <p:spPr>
          <a:xfrm>
            <a:off x="42863" y="200025"/>
            <a:ext cx="9058275" cy="64579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日期占位符 3"/>
          <p:cNvSpPr txBox="1">
            <a:spLocks noGrp="1"/>
          </p:cNvSpPr>
          <p:nvPr>
            <p:ph type="dt" sz="half" idx="2"/>
          </p:nvPr>
        </p:nvSpPr>
        <p:spPr bwMode="auto"/>
        <p:txBody>
          <a:bodyPr wrap="square" lIns="91440" tIns="45720" rIns="91440" bIns="45720" numCol="1" anchor="b" anchorCtr="0" compatLnSpc="1"/>
          <a:lstStyle/>
          <a:p>
            <a:pPr marL="0" marR="0" lvl="0" indent="0" algn="l" defTabSz="914400" rtl="0" eaLnBrk="1" fontAlgn="base" latinLnBrk="0" hangingPunct="1">
              <a:lnSpc>
                <a:spcPct val="10000"/>
              </a:lnSpc>
              <a:spcBef>
                <a:spcPct val="0"/>
              </a:spcBef>
              <a:spcAft>
                <a:spcPct val="0"/>
              </a:spcAft>
              <a:buClrTx/>
              <a:buSzTx/>
              <a:buFontTx/>
              <a:buNone/>
              <a:defRPr/>
            </a:pPr>
            <a:fld id="{1FB7C151-3A75-4ACD-A773-D96AB03EFD15}"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460802" name="灯片编号占位符 5"/>
          <p:cNvSpPr>
            <a:spLocks noGrp="1"/>
          </p:cNvSpPr>
          <p:nvPr>
            <p:ph type="sldNum" sz="quarter" idx="4"/>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5pPr>
          </a:lstStyle>
          <a:p>
            <a:pPr lvl="0" algn="r">
              <a:lnSpc>
                <a:spcPct val="10000"/>
              </a:lnSpc>
            </a:pPr>
            <a:fld id="{9A0DB2DC-4C9A-4742-B13C-FB6460FD3503}" type="slidenum">
              <a:rPr lang="en-US" altLang="zh-CN" sz="2000" dirty="0">
                <a:solidFill>
                  <a:srgbClr val="FF0000"/>
                </a:solidFill>
                <a:latin typeface="华文新魏" panose="02010800040101010101" pitchFamily="2" charset="-122"/>
              </a:rPr>
              <a:t>69</a:t>
            </a:fld>
            <a:r>
              <a:rPr lang="en-US" altLang="zh-CN" sz="2000" dirty="0">
                <a:solidFill>
                  <a:srgbClr val="FF0000"/>
                </a:solidFill>
                <a:latin typeface="华文新魏" panose="02010800040101010101" pitchFamily="2" charset="-122"/>
              </a:rPr>
              <a:t>/172</a:t>
            </a:r>
          </a:p>
        </p:txBody>
      </p:sp>
      <p:pic>
        <p:nvPicPr>
          <p:cNvPr id="460803" name="Picture 2" descr="D:\lzc\植物学教学材料\植物学教学资料收集\挂图\植物组织\维管组织.jpg"/>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60804" name="Rectangle 4"/>
          <p:cNvSpPr>
            <a:spLocks noGrp="1"/>
          </p:cNvSpPr>
          <p:nvPr>
            <p:ph idx="1"/>
          </p:nvPr>
        </p:nvSpPr>
        <p:spPr>
          <a:xfrm>
            <a:off x="0" y="1752600"/>
            <a:ext cx="9144000" cy="5105400"/>
          </a:xfrm>
        </p:spPr>
        <p:txBody>
          <a:bodyPr vert="horz" wrap="square" lIns="91440" tIns="45720" rIns="91440" bIns="45720" anchor="t" anchorCtr="0"/>
          <a:lstStyle/>
          <a:p>
            <a:pPr eaLnBrk="1" hangingPunct="1"/>
            <a:endParaRPr lang="en-US" altLang="zh-CN" dirty="0">
              <a:latin typeface="华文新魏" panose="02010800040101010101" pitchFamily="2" charset="-122"/>
            </a:endParaRPr>
          </a:p>
          <a:p>
            <a:pPr eaLnBrk="1" hangingPunct="1"/>
            <a:endParaRPr lang="en-US" altLang="zh-CN" dirty="0">
              <a:latin typeface="华文新魏" panose="02010800040101010101" pitchFamily="2" charset="-122"/>
            </a:endParaRPr>
          </a:p>
        </p:txBody>
      </p:sp>
      <p:sp>
        <p:nvSpPr>
          <p:cNvPr id="460805" name="Text Box 5"/>
          <p:cNvSpPr txBox="1"/>
          <p:nvPr/>
        </p:nvSpPr>
        <p:spPr>
          <a:xfrm>
            <a:off x="4572000" y="2819400"/>
            <a:ext cx="1295400" cy="488950"/>
          </a:xfrm>
          <a:prstGeom prst="rect">
            <a:avLst/>
          </a:prstGeom>
          <a:solidFill>
            <a:srgbClr val="FFFFFF"/>
          </a:solidFill>
          <a:ln w="9525">
            <a:noFill/>
          </a:ln>
        </p:spPr>
        <p:txBody>
          <a:bodyPr anchor="t" anchorCtr="0">
            <a:spAutoFit/>
          </a:bodyPr>
          <a:lstStyle/>
          <a:p>
            <a:pPr>
              <a:spcBef>
                <a:spcPct val="50000"/>
              </a:spcBef>
            </a:pPr>
            <a:r>
              <a:rPr lang="en-US" altLang="zh-CN" dirty="0">
                <a:solidFill>
                  <a:srgbClr val="FF3300"/>
                </a:solidFill>
                <a:latin typeface="华文新魏" panose="02010800040101010101" pitchFamily="2" charset="-122"/>
                <a:ea typeface="华文新魏" panose="02010800040101010101" pitchFamily="2" charset="-122"/>
              </a:rPr>
              <a:t>    </a:t>
            </a:r>
            <a:r>
              <a:rPr lang="zh-CN" altLang="en-US" sz="2600" dirty="0">
                <a:solidFill>
                  <a:srgbClr val="FF3300"/>
                </a:solidFill>
                <a:latin typeface="华文新魏" panose="02010800040101010101" pitchFamily="2" charset="-122"/>
                <a:ea typeface="华文新魏" panose="02010800040101010101" pitchFamily="2" charset="-122"/>
              </a:rPr>
              <a:t>伴胞</a:t>
            </a:r>
          </a:p>
        </p:txBody>
      </p:sp>
      <p:sp>
        <p:nvSpPr>
          <p:cNvPr id="460806" name="Rectangle 6"/>
          <p:cNvSpPr/>
          <p:nvPr/>
        </p:nvSpPr>
        <p:spPr>
          <a:xfrm>
            <a:off x="4648200" y="3276600"/>
            <a:ext cx="685800" cy="152400"/>
          </a:xfrm>
          <a:prstGeom prst="rect">
            <a:avLst/>
          </a:prstGeom>
          <a:solidFill>
            <a:srgbClr val="FFFFFF"/>
          </a:solidFill>
          <a:ln w="9525" cap="flat" cmpd="sng">
            <a:solidFill>
              <a:srgbClr val="FFFF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60807" name="Text Box 7"/>
          <p:cNvSpPr txBox="1"/>
          <p:nvPr/>
        </p:nvSpPr>
        <p:spPr>
          <a:xfrm>
            <a:off x="7391400" y="2590800"/>
            <a:ext cx="685800" cy="822325"/>
          </a:xfrm>
          <a:prstGeom prst="rect">
            <a:avLst/>
          </a:prstGeom>
          <a:solidFill>
            <a:srgbClr val="FFFFFF"/>
          </a:solid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筛域</a:t>
            </a:r>
          </a:p>
        </p:txBody>
      </p:sp>
      <p:sp>
        <p:nvSpPr>
          <p:cNvPr id="460808" name="Text Box 8"/>
          <p:cNvSpPr txBox="1"/>
          <p:nvPr/>
        </p:nvSpPr>
        <p:spPr>
          <a:xfrm>
            <a:off x="6324600" y="914400"/>
            <a:ext cx="1066800" cy="457200"/>
          </a:xfrm>
          <a:prstGeom prst="rect">
            <a:avLst/>
          </a:prstGeom>
          <a:solidFill>
            <a:srgbClr val="FFFFFF"/>
          </a:solidFill>
          <a:ln w="9525">
            <a:noFill/>
          </a:ln>
        </p:spPr>
        <p:txBody>
          <a:bodyPr anchor="t" anchorCtr="0">
            <a:spAutoFit/>
          </a:bodyPr>
          <a:lstStyle/>
          <a:p>
            <a:pPr>
              <a:spcBef>
                <a:spcPct val="50000"/>
              </a:spcBef>
            </a:pPr>
            <a:r>
              <a:rPr lang="en-US" altLang="zh-CN" dirty="0">
                <a:solidFill>
                  <a:srgbClr val="FF3300"/>
                </a:solidFill>
                <a:latin typeface="华文新魏" panose="02010800040101010101" pitchFamily="2" charset="-122"/>
                <a:ea typeface="华文新魏" panose="02010800040101010101" pitchFamily="2" charset="-122"/>
              </a:rPr>
              <a:t> </a:t>
            </a:r>
            <a:r>
              <a:rPr lang="zh-CN" altLang="en-US" dirty="0">
                <a:solidFill>
                  <a:srgbClr val="FF3300"/>
                </a:solidFill>
                <a:latin typeface="华文新魏" panose="02010800040101010101" pitchFamily="2" charset="-122"/>
                <a:ea typeface="华文新魏" panose="02010800040101010101" pitchFamily="2" charset="-122"/>
              </a:rPr>
              <a:t>筛板</a:t>
            </a:r>
          </a:p>
        </p:txBody>
      </p:sp>
      <p:sp>
        <p:nvSpPr>
          <p:cNvPr id="460809" name="Text Box 9"/>
          <p:cNvSpPr txBox="1"/>
          <p:nvPr/>
        </p:nvSpPr>
        <p:spPr>
          <a:xfrm>
            <a:off x="6553200" y="304800"/>
            <a:ext cx="1219200" cy="457200"/>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460810" name="Text Box 10"/>
          <p:cNvSpPr txBox="1"/>
          <p:nvPr/>
        </p:nvSpPr>
        <p:spPr>
          <a:xfrm>
            <a:off x="6324600" y="381000"/>
            <a:ext cx="1524000" cy="457200"/>
          </a:xfrm>
          <a:prstGeom prst="rect">
            <a:avLst/>
          </a:prstGeom>
          <a:solidFill>
            <a:srgbClr val="FFFFFF"/>
          </a:solidFill>
          <a:ln w="9525">
            <a:noFill/>
          </a:ln>
        </p:spPr>
        <p:txBody>
          <a:bodyPr anchor="t" anchorCtr="0">
            <a:spAutoFit/>
          </a:bodyPr>
          <a:lstStyle/>
          <a:p>
            <a:pPr>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韧皮纤维</a:t>
            </a:r>
          </a:p>
        </p:txBody>
      </p:sp>
      <p:sp>
        <p:nvSpPr>
          <p:cNvPr id="460811" name="Rectangle 11"/>
          <p:cNvSpPr/>
          <p:nvPr/>
        </p:nvSpPr>
        <p:spPr>
          <a:xfrm>
            <a:off x="6477000" y="762000"/>
            <a:ext cx="762000" cy="152400"/>
          </a:xfrm>
          <a:prstGeom prst="rect">
            <a:avLst/>
          </a:prstGeom>
          <a:solidFill>
            <a:srgbClr val="FFFFFF"/>
          </a:solidFill>
          <a:ln w="9525" cap="flat" cmpd="sng">
            <a:solidFill>
              <a:srgbClr val="FFFF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60812" name="Text Box 12"/>
          <p:cNvSpPr txBox="1"/>
          <p:nvPr/>
        </p:nvSpPr>
        <p:spPr>
          <a:xfrm>
            <a:off x="1066800" y="5562600"/>
            <a:ext cx="1295400" cy="457200"/>
          </a:xfrm>
          <a:prstGeom prst="rect">
            <a:avLst/>
          </a:prstGeom>
          <a:solidFill>
            <a:srgbClr val="FFFFFF"/>
          </a:solidFill>
          <a:ln w="9525">
            <a:noFill/>
          </a:ln>
        </p:spPr>
        <p:txBody>
          <a:bodyPr anchor="t" anchorCtr="0">
            <a:spAutoFit/>
          </a:bodyPr>
          <a:lstStyle/>
          <a:p>
            <a:pPr>
              <a:spcBef>
                <a:spcPct val="50000"/>
              </a:spcBef>
            </a:pPr>
            <a:r>
              <a:rPr lang="en-US" altLang="zh-CN" dirty="0">
                <a:solidFill>
                  <a:srgbClr val="FF3300"/>
                </a:solidFill>
                <a:latin typeface="华文新魏" panose="02010800040101010101" pitchFamily="2" charset="-122"/>
                <a:ea typeface="华文新魏" panose="02010800040101010101" pitchFamily="2" charset="-122"/>
              </a:rPr>
              <a:t>      </a:t>
            </a:r>
            <a:r>
              <a:rPr lang="zh-CN" altLang="en-US" dirty="0">
                <a:solidFill>
                  <a:srgbClr val="FF3300"/>
                </a:solidFill>
                <a:latin typeface="华文新魏" panose="02010800040101010101" pitchFamily="2" charset="-122"/>
                <a:ea typeface="华文新魏" panose="02010800040101010101" pitchFamily="2" charset="-122"/>
              </a:rPr>
              <a:t>管胞</a:t>
            </a:r>
          </a:p>
        </p:txBody>
      </p:sp>
      <p:sp>
        <p:nvSpPr>
          <p:cNvPr id="460813" name="Text Box 13"/>
          <p:cNvSpPr txBox="1"/>
          <p:nvPr/>
        </p:nvSpPr>
        <p:spPr>
          <a:xfrm>
            <a:off x="304800" y="3276600"/>
            <a:ext cx="914400" cy="603250"/>
          </a:xfrm>
          <a:prstGeom prst="rect">
            <a:avLst/>
          </a:prstGeom>
          <a:solidFill>
            <a:srgbClr val="FFFFFF"/>
          </a:solid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华文新魏" panose="02010800040101010101" pitchFamily="2" charset="-122"/>
                <a:hlinkClick r:id="rId3" action="ppaction://hlinksldjump"/>
              </a:rPr>
              <a:t>导管</a:t>
            </a:r>
            <a:endParaRPr lang="zh-CN" altLang="en-US" dirty="0">
              <a:latin typeface="Times New Roman" panose="02020603050405020304" pitchFamily="18" charset="0"/>
              <a:ea typeface="华文新魏" panose="02010800040101010101" pitchFamily="2" charset="-122"/>
            </a:endParaRPr>
          </a:p>
        </p:txBody>
      </p:sp>
      <p:sp>
        <p:nvSpPr>
          <p:cNvPr id="460814" name="Rectangle 14"/>
          <p:cNvSpPr/>
          <p:nvPr/>
        </p:nvSpPr>
        <p:spPr>
          <a:xfrm>
            <a:off x="4648200" y="0"/>
            <a:ext cx="1066800" cy="609600"/>
          </a:xfrm>
          <a:prstGeom prst="rect">
            <a:avLst/>
          </a:prstGeom>
          <a:solidFill>
            <a:srgbClr val="FFFFFF"/>
          </a:solidFill>
          <a:ln w="9525" cap="flat" cmpd="sng">
            <a:solidFill>
              <a:srgbClr val="FFFF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60815" name="Rectangle 15"/>
          <p:cNvSpPr/>
          <p:nvPr/>
        </p:nvSpPr>
        <p:spPr>
          <a:xfrm>
            <a:off x="0" y="0"/>
            <a:ext cx="1295400" cy="762000"/>
          </a:xfrm>
          <a:prstGeom prst="rect">
            <a:avLst/>
          </a:prstGeom>
          <a:solidFill>
            <a:srgbClr val="FFFFFF"/>
          </a:solidFill>
          <a:ln w="9525" cap="flat" cmpd="sng">
            <a:solidFill>
              <a:srgbClr val="FFFF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60816" name="Rectangle 16"/>
          <p:cNvSpPr/>
          <p:nvPr/>
        </p:nvSpPr>
        <p:spPr>
          <a:xfrm>
            <a:off x="1524000" y="762000"/>
            <a:ext cx="1524000" cy="838200"/>
          </a:xfrm>
          <a:prstGeom prst="rect">
            <a:avLst/>
          </a:prstGeom>
          <a:solidFill>
            <a:srgbClr val="FFFFFF"/>
          </a:solidFill>
          <a:ln w="9525" cap="flat" cmpd="sng">
            <a:solidFill>
              <a:srgbClr val="FFFF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60817" name="Text Box 17"/>
          <p:cNvSpPr txBox="1"/>
          <p:nvPr/>
        </p:nvSpPr>
        <p:spPr>
          <a:xfrm>
            <a:off x="4419600" y="381000"/>
            <a:ext cx="13716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华文新魏" panose="02010800040101010101" pitchFamily="2" charset="-122"/>
                <a:hlinkClick r:id="rId3" action="ppaction://hlinksldjump"/>
              </a:rPr>
              <a:t>木纤维</a:t>
            </a:r>
            <a:endParaRPr lang="zh-CN" altLang="en-US" dirty="0">
              <a:latin typeface="Times New Roman" panose="02020603050405020304" pitchFamily="18" charset="0"/>
              <a:ea typeface="华文新魏" panose="02010800040101010101" pitchFamily="2" charset="-122"/>
            </a:endParaRPr>
          </a:p>
        </p:txBody>
      </p:sp>
      <p:sp>
        <p:nvSpPr>
          <p:cNvPr id="460818" name="Line 18"/>
          <p:cNvSpPr/>
          <p:nvPr/>
        </p:nvSpPr>
        <p:spPr>
          <a:xfrm>
            <a:off x="4191000" y="609600"/>
            <a:ext cx="304800" cy="0"/>
          </a:xfrm>
          <a:prstGeom prst="line">
            <a:avLst/>
          </a:prstGeom>
          <a:ln w="38100" cap="flat" cmpd="sng">
            <a:solidFill>
              <a:schemeClr val="tx1"/>
            </a:solidFill>
            <a:prstDash val="solid"/>
            <a:round/>
            <a:headEnd type="none" w="med" len="med"/>
            <a:tailEnd type="none" w="med" len="med"/>
          </a:ln>
        </p:spPr>
        <p:txBody>
          <a:bodyPr/>
          <a:lstStyle/>
          <a:p>
            <a:endParaRPr lang="zh-CN" altLang="en-US"/>
          </a:p>
        </p:txBody>
      </p:sp>
      <p:sp>
        <p:nvSpPr>
          <p:cNvPr id="460819" name="Text Box 19"/>
          <p:cNvSpPr txBox="1"/>
          <p:nvPr/>
        </p:nvSpPr>
        <p:spPr>
          <a:xfrm>
            <a:off x="0" y="6324600"/>
            <a:ext cx="4038600" cy="466725"/>
          </a:xfrm>
          <a:prstGeom prst="rect">
            <a:avLst/>
          </a:prstGeom>
          <a:solidFill>
            <a:srgbClr val="FFFFFF"/>
          </a:solidFill>
          <a:ln w="9525" cap="flat" cmpd="sng">
            <a:solidFill>
              <a:srgbClr val="FFFFFF"/>
            </a:solidFill>
            <a:prstDash val="solid"/>
            <a:miter/>
            <a:headEnd type="none" w="med" len="med"/>
            <a:tailEnd type="none" w="med" len="med"/>
          </a:ln>
        </p:spPr>
        <p:txBody>
          <a:bodyPr anchor="t" anchorCtr="0">
            <a:spAutoFit/>
          </a:bodyPr>
          <a:lstStyle/>
          <a:p>
            <a:pPr algn="ctr">
              <a:spcBef>
                <a:spcPct val="50000"/>
              </a:spcBef>
            </a:pPr>
            <a:r>
              <a:rPr lang="zh-CN" altLang="en-US" u="sng" dirty="0">
                <a:solidFill>
                  <a:srgbClr val="0000FF"/>
                </a:solidFill>
                <a:latin typeface="华文新魏" panose="02010800040101010101" pitchFamily="2" charset="-122"/>
                <a:ea typeface="华文新魏" panose="02010800040101010101" pitchFamily="2" charset="-122"/>
                <a:hlinkClick r:id="rId3" action="ppaction://hlinksldjump"/>
              </a:rPr>
              <a:t>木        质        部</a:t>
            </a:r>
            <a:endParaRPr lang="zh-CN" altLang="en-US" u="sng" dirty="0">
              <a:solidFill>
                <a:srgbClr val="0000FF"/>
              </a:solidFill>
              <a:latin typeface="华文新魏" panose="02010800040101010101" pitchFamily="2" charset="-122"/>
              <a:ea typeface="华文新魏" panose="02010800040101010101" pitchFamily="2" charset="-122"/>
            </a:endParaRPr>
          </a:p>
        </p:txBody>
      </p:sp>
      <p:sp>
        <p:nvSpPr>
          <p:cNvPr id="460820" name="Text Box 20"/>
          <p:cNvSpPr txBox="1"/>
          <p:nvPr/>
        </p:nvSpPr>
        <p:spPr>
          <a:xfrm>
            <a:off x="5943600" y="6324600"/>
            <a:ext cx="2438400" cy="466725"/>
          </a:xfrm>
          <a:prstGeom prst="rect">
            <a:avLst/>
          </a:prstGeom>
          <a:solidFill>
            <a:srgbClr val="FFFFFF"/>
          </a:solidFill>
          <a:ln w="9525" cap="flat" cmpd="sng">
            <a:solidFill>
              <a:srgbClr val="FFFFFF"/>
            </a:solidFill>
            <a:prstDash val="solid"/>
            <a:miter/>
            <a:headEnd type="none" w="med" len="med"/>
            <a:tailEnd type="none" w="med" len="med"/>
          </a:ln>
        </p:spPr>
        <p:txBody>
          <a:bodyPr anchor="t" anchorCtr="0">
            <a:spAutoFit/>
          </a:bodyPr>
          <a:lstStyle/>
          <a:p>
            <a:pPr algn="ctr">
              <a:spcBef>
                <a:spcPct val="50000"/>
              </a:spcBef>
            </a:pPr>
            <a:r>
              <a:rPr lang="zh-CN" altLang="en-US" u="sng" dirty="0">
                <a:solidFill>
                  <a:srgbClr val="0000FF"/>
                </a:solidFill>
                <a:latin typeface="华文新魏" panose="02010800040101010101" pitchFamily="2" charset="-122"/>
                <a:ea typeface="华文新魏" panose="02010800040101010101" pitchFamily="2" charset="-122"/>
                <a:hlinkClick r:id="rId4" action="ppaction://hlinksldjump"/>
              </a:rPr>
              <a:t>韧      皮      部</a:t>
            </a:r>
            <a:endParaRPr lang="zh-CN" altLang="en-US" u="sng" dirty="0">
              <a:solidFill>
                <a:srgbClr val="0000FF"/>
              </a:solidFill>
              <a:latin typeface="华文新魏" panose="02010800040101010101" pitchFamily="2" charset="-122"/>
              <a:ea typeface="华文新魏" panose="02010800040101010101" pitchFamily="2" charset="-122"/>
            </a:endParaRPr>
          </a:p>
        </p:txBody>
      </p:sp>
      <p:sp>
        <p:nvSpPr>
          <p:cNvPr id="460821" name="Text Box 21"/>
          <p:cNvSpPr txBox="1"/>
          <p:nvPr/>
        </p:nvSpPr>
        <p:spPr>
          <a:xfrm>
            <a:off x="6324600" y="5638800"/>
            <a:ext cx="1295400" cy="493713"/>
          </a:xfrm>
          <a:prstGeom prst="rect">
            <a:avLst/>
          </a:prstGeom>
          <a:solidFill>
            <a:srgbClr val="FFFFFF"/>
          </a:solidFill>
          <a:ln w="9525">
            <a:noFill/>
          </a:ln>
        </p:spPr>
        <p:txBody>
          <a:bodyPr anchor="t" anchorCtr="0">
            <a:spAutoFit/>
          </a:bodyPr>
          <a:lstStyle/>
          <a:p>
            <a:pPr>
              <a:lnSpc>
                <a:spcPct val="11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华文新魏" panose="02010800040101010101" pitchFamily="2" charset="-122"/>
                <a:hlinkClick r:id="rId4" action="ppaction://hlinksldjump"/>
              </a:rPr>
              <a:t>筛管</a:t>
            </a: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3"/>
          <p:cNvSpPr>
            <a:spLocks noGrp="1" noChangeArrowheads="1"/>
          </p:cNvSpPr>
          <p:nvPr>
            <p:ph idx="1"/>
          </p:nvPr>
        </p:nvSpPr>
        <p:spPr>
          <a:xfrm>
            <a:off x="0" y="1295400"/>
            <a:ext cx="9144000" cy="5029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4.</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输导组织</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——⑴ </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木质部</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功能</a:t>
            </a:r>
            <a:endPar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742950" marR="0" lvl="1" indent="-285750" algn="l" defTabSz="914400" rtl="0" eaLnBrk="1" fontAlgn="base" latinLnBrk="0" hangingPunct="1">
              <a:lnSpc>
                <a:spcPct val="14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功能：</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最主要的功能是输导水分和无机盐；除此之外还具有支持作用；另有一定的贮存用（木薄壁细胞）。</a:t>
            </a:r>
          </a:p>
          <a:p>
            <a:pPr marL="457200" marR="0" lvl="1"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defRPr/>
            </a:pPr>
            <a:endPar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endParaRPr>
          </a:p>
        </p:txBody>
      </p:sp>
      <p:sp>
        <p:nvSpPr>
          <p:cNvPr id="46182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2849" name="Rectangle 3"/>
          <p:cNvSpPr>
            <a:spLocks noGrp="1"/>
          </p:cNvSpPr>
          <p:nvPr>
            <p:ph idx="1"/>
          </p:nvPr>
        </p:nvSpPr>
        <p:spPr>
          <a:xfrm>
            <a:off x="1588" y="1195388"/>
            <a:ext cx="9144000"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输导组织</a:t>
            </a:r>
            <a:r>
              <a:rPr lang="en-US" altLang="zh-CN" b="1" dirty="0">
                <a:latin typeface="黑体" panose="02010609060101010101" pitchFamily="49" charset="-122"/>
                <a:ea typeface="黑体" panose="02010609060101010101" pitchFamily="49" charset="-122"/>
              </a:rPr>
              <a:t>——⑵ </a:t>
            </a:r>
            <a:r>
              <a:rPr lang="zh-CN" altLang="en-US" b="1" dirty="0">
                <a:latin typeface="黑体" panose="02010609060101010101" pitchFamily="49" charset="-122"/>
                <a:ea typeface="黑体" panose="02010609060101010101" pitchFamily="49" charset="-122"/>
                <a:hlinkClick r:id="rId3" action="ppaction://hlinksldjump"/>
              </a:rPr>
              <a:t>韧皮部</a:t>
            </a:r>
            <a:endParaRPr lang="zh-CN" altLang="en-US" b="1" dirty="0">
              <a:latin typeface="黑体" panose="02010609060101010101" pitchFamily="49" charset="-122"/>
              <a:ea typeface="黑体" panose="02010609060101010101" pitchFamily="49" charset="-122"/>
            </a:endParaRPr>
          </a:p>
          <a:p>
            <a:pPr lvl="1" eaLnBrk="1" hangingPunct="1"/>
            <a:r>
              <a:rPr lang="zh-CN" altLang="en-US" b="1" dirty="0">
                <a:solidFill>
                  <a:schemeClr val="tx1"/>
                </a:solidFill>
                <a:latin typeface="黑体" panose="02010609060101010101" pitchFamily="49" charset="-122"/>
                <a:ea typeface="黑体" panose="02010609060101010101" pitchFamily="49" charset="-122"/>
              </a:rPr>
              <a:t>位置及来源：</a:t>
            </a:r>
            <a:r>
              <a:rPr lang="zh-CN" altLang="en-US" b="1" dirty="0">
                <a:latin typeface="黑体" panose="02010609060101010101" pitchFamily="49" charset="-122"/>
                <a:ea typeface="黑体" panose="02010609060101010101" pitchFamily="49" charset="-122"/>
              </a:rPr>
              <a:t>与木质部相同。</a:t>
            </a:r>
          </a:p>
          <a:p>
            <a:pPr lvl="1" eaLnBrk="1" hangingPunct="1">
              <a:lnSpc>
                <a:spcPct val="80000"/>
              </a:lnSpc>
            </a:pPr>
            <a:r>
              <a:rPr lang="zh-CN" altLang="en-US" b="1" dirty="0">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组织特征   </a:t>
            </a:r>
          </a:p>
          <a:p>
            <a:pPr lvl="2" eaLnBrk="1" hangingPunct="1"/>
            <a:r>
              <a:rPr lang="zh-CN" altLang="en-US" sz="1900" b="1" dirty="0">
                <a:solidFill>
                  <a:srgbClr val="0000FF"/>
                </a:solidFill>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hlinkClick r:id="rId4" action="ppaction://hlinksldjump"/>
              </a:rPr>
              <a:t>韧皮部</a:t>
            </a:r>
            <a:r>
              <a:rPr lang="zh-CN" altLang="en-US" b="1" dirty="0">
                <a:solidFill>
                  <a:srgbClr val="0000FF"/>
                </a:solidFill>
                <a:latin typeface="黑体" panose="02010609060101010101" pitchFamily="49" charset="-122"/>
                <a:ea typeface="黑体" panose="02010609060101010101" pitchFamily="49" charset="-122"/>
              </a:rPr>
              <a:t>细胞类型及特征</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hlinkClick r:id="rId4" action="ppaction://hlinksldjump"/>
              </a:rPr>
              <a:t>筛管</a:t>
            </a:r>
            <a:r>
              <a:rPr lang="zh-CN" altLang="en-US" b="1" dirty="0">
                <a:solidFill>
                  <a:schemeClr val="tx1"/>
                </a:solidFill>
                <a:latin typeface="黑体" panose="02010609060101010101" pitchFamily="49" charset="-122"/>
                <a:ea typeface="黑体" panose="02010609060101010101" pitchFamily="49" charset="-122"/>
              </a:rPr>
              <a:t>（或筛胞）和伴胞是韧皮部输导有机物的细胞，单个筛管细胞称筛管分子，蕨类、裸子植物无筛管、伴胞。</a:t>
            </a:r>
            <a:endParaRPr lang="en-US" altLang="zh-CN" b="1" dirty="0">
              <a:solidFill>
                <a:schemeClr val="tx1"/>
              </a:solidFill>
              <a:latin typeface="黑体" panose="02010609060101010101" pitchFamily="49" charset="-122"/>
              <a:ea typeface="黑体" panose="02010609060101010101" pitchFamily="49" charset="-122"/>
            </a:endParaRPr>
          </a:p>
          <a:p>
            <a:pPr lvl="2" eaLnBrk="1" hangingPunct="1"/>
            <a:r>
              <a:rPr lang="zh-CN" altLang="en-US" b="1" dirty="0">
                <a:solidFill>
                  <a:srgbClr val="0000FF"/>
                </a:solidFill>
                <a:latin typeface="黑体" panose="02010609060101010101" pitchFamily="49" charset="-122"/>
                <a:ea typeface="黑体" panose="02010609060101010101" pitchFamily="49" charset="-122"/>
              </a:rPr>
              <a:t>排列方式</a:t>
            </a:r>
            <a:r>
              <a:rPr lang="zh-CN" altLang="en-US" b="1" dirty="0">
                <a:solidFill>
                  <a:schemeClr val="tx1"/>
                </a:solidFill>
                <a:latin typeface="黑体" panose="02010609060101010101" pitchFamily="49" charset="-122"/>
                <a:ea typeface="黑体" panose="02010609060101010101" pitchFamily="49" charset="-122"/>
              </a:rPr>
              <a:t>：筛管伴胞、纤维以纵轴方向排列，薄壁细胞以横向排列。横切面上，筛管分散排列，纤维成束存在，薄壁细胞填充于其中。</a:t>
            </a:r>
          </a:p>
          <a:p>
            <a:pPr lvl="1" eaLnBrk="1" hangingPunct="1">
              <a:lnSpc>
                <a:spcPct val="80000"/>
              </a:lnSpc>
            </a:pPr>
            <a:r>
              <a:rPr lang="zh-CN" altLang="en-US" b="1" dirty="0">
                <a:solidFill>
                  <a:srgbClr val="FF3300"/>
                </a:solidFill>
                <a:latin typeface="黑体" panose="02010609060101010101" pitchFamily="49" charset="-122"/>
                <a:ea typeface="黑体" panose="02010609060101010101" pitchFamily="49" charset="-122"/>
              </a:rPr>
              <a:t>功能：</a:t>
            </a:r>
            <a:r>
              <a:rPr lang="zh-CN" altLang="en-US" b="1" dirty="0">
                <a:latin typeface="黑体" panose="02010609060101010101" pitchFamily="49" charset="-122"/>
                <a:ea typeface="黑体" panose="02010609060101010101" pitchFamily="49" charset="-122"/>
              </a:rPr>
              <a:t>输导有机物。</a:t>
            </a:r>
          </a:p>
          <a:p>
            <a:pPr lvl="1" eaLnBrk="1" hangingPunct="1">
              <a:lnSpc>
                <a:spcPct val="80000"/>
              </a:lnSpc>
            </a:pPr>
            <a:r>
              <a:rPr lang="zh-CN" altLang="en-US" b="1" dirty="0">
                <a:solidFill>
                  <a:srgbClr val="FF3300"/>
                </a:solidFill>
                <a:latin typeface="黑体" panose="02010609060101010101" pitchFamily="49" charset="-122"/>
                <a:ea typeface="黑体" panose="02010609060101010101" pitchFamily="49" charset="-122"/>
              </a:rPr>
              <a:t>发育方向：</a:t>
            </a:r>
            <a:r>
              <a:rPr lang="zh-CN" altLang="en-US" b="1" dirty="0">
                <a:latin typeface="黑体" panose="02010609060101010101" pitchFamily="49" charset="-122"/>
                <a:ea typeface="黑体" panose="02010609060101010101" pitchFamily="49" charset="-122"/>
              </a:rPr>
              <a:t>韧皮薄壁细胞则具有脱分化而参与维管形成层、木栓形成层形成的潜能。  </a:t>
            </a:r>
          </a:p>
        </p:txBody>
      </p:sp>
      <p:pic>
        <p:nvPicPr>
          <p:cNvPr id="258054" name="Picture 6" descr="D:\刘宗才\植物学素材\教学素材\植物学插图上册\t1-53.jpg"/>
          <p:cNvPicPr>
            <a:picLocks noChangeAspect="1"/>
          </p:cNvPicPr>
          <p:nvPr/>
        </p:nvPicPr>
        <p:blipFill>
          <a:blip r:embed="rId5"/>
          <a:stretch>
            <a:fillRect/>
          </a:stretch>
        </p:blipFill>
        <p:spPr>
          <a:xfrm>
            <a:off x="3197225" y="1376363"/>
            <a:ext cx="3419475" cy="4705350"/>
          </a:xfrm>
          <a:prstGeom prst="rect">
            <a:avLst/>
          </a:prstGeom>
          <a:noFill/>
          <a:ln w="38100" cap="flat" cmpd="sng">
            <a:solidFill>
              <a:srgbClr val="0000FF"/>
            </a:solidFill>
            <a:prstDash val="solid"/>
            <a:miter/>
            <a:headEnd type="none" w="med" len="med"/>
            <a:tailEnd type="none" w="med" len="med"/>
          </a:ln>
        </p:spPr>
      </p:pic>
      <p:sp>
        <p:nvSpPr>
          <p:cNvPr id="462851"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8054"/>
                                        </p:tgtEl>
                                        <p:attrNameLst>
                                          <p:attrName>style.visibility</p:attrName>
                                        </p:attrNameLst>
                                      </p:cBhvr>
                                      <p:to>
                                        <p:strVal val="visible"/>
                                      </p:to>
                                    </p:set>
                                    <p:animEffect transition="in" filter="dissolve">
                                      <p:cBhvr>
                                        <p:cTn id="7" dur="500"/>
                                        <p:tgtEl>
                                          <p:spTgt spid="25805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3873" name="Picture 5" descr="D:\Documents and Settings\LiuZC\桌面\教学素材\营养器官\茎\茎的初生结构\南瓜茎纵切（400）1.jpg"/>
          <p:cNvPicPr>
            <a:picLocks noChangeAspect="1"/>
          </p:cNvPicPr>
          <p:nvPr/>
        </p:nvPicPr>
        <p:blipFill>
          <a:blip r:embed="rId2"/>
          <a:stretch>
            <a:fillRect/>
          </a:stretch>
        </p:blipFill>
        <p:spPr>
          <a:xfrm>
            <a:off x="0" y="0"/>
            <a:ext cx="4648200" cy="6553200"/>
          </a:xfrm>
          <a:prstGeom prst="rect">
            <a:avLst/>
          </a:prstGeom>
          <a:noFill/>
          <a:ln w="9525" cap="flat" cmpd="sng">
            <a:solidFill>
              <a:srgbClr val="FF3300"/>
            </a:solidFill>
            <a:prstDash val="solid"/>
            <a:miter/>
            <a:headEnd type="none" w="med" len="med"/>
            <a:tailEnd type="none" w="med" len="med"/>
          </a:ln>
        </p:spPr>
      </p:pic>
      <p:pic>
        <p:nvPicPr>
          <p:cNvPr id="463874" name="Picture 6" descr="D:\Documents and Settings\LiuZC\桌面\教学素材\营养器官\茎\茎的初生结构\南瓜茎纵切（400）2.jpg"/>
          <p:cNvPicPr>
            <a:picLocks noChangeAspect="1"/>
          </p:cNvPicPr>
          <p:nvPr/>
        </p:nvPicPr>
        <p:blipFill>
          <a:blip r:embed="rId3"/>
          <a:stretch>
            <a:fillRect/>
          </a:stretch>
        </p:blipFill>
        <p:spPr>
          <a:xfrm>
            <a:off x="4648200" y="0"/>
            <a:ext cx="4495800" cy="6553200"/>
          </a:xfrm>
          <a:prstGeom prst="rect">
            <a:avLst/>
          </a:prstGeom>
          <a:noFill/>
          <a:ln w="9525" cap="flat" cmpd="sng">
            <a:solidFill>
              <a:srgbClr val="0000FF"/>
            </a:solidFill>
            <a:prstDash val="solid"/>
            <a:miter/>
            <a:headEnd type="none" w="med" len="med"/>
            <a:tailEnd type="none" w="med" len="med"/>
          </a:ln>
        </p:spPr>
      </p:pic>
      <p:sp>
        <p:nvSpPr>
          <p:cNvPr id="463875" name="Text Box 7"/>
          <p:cNvSpPr txBox="1"/>
          <p:nvPr/>
        </p:nvSpPr>
        <p:spPr>
          <a:xfrm>
            <a:off x="3752850" y="6096000"/>
            <a:ext cx="1752600" cy="457200"/>
          </a:xfrm>
          <a:prstGeom prst="rect">
            <a:avLst/>
          </a:prstGeom>
          <a:noFill/>
          <a:ln w="9525">
            <a:noFill/>
          </a:ln>
        </p:spPr>
        <p:txBody>
          <a:bodyPr anchor="t" anchorCtr="0">
            <a:spAutoFit/>
          </a:bodyPr>
          <a:lstStyle/>
          <a:p>
            <a:pPr>
              <a:spcBef>
                <a:spcPct val="50000"/>
              </a:spcBef>
            </a:pPr>
            <a:r>
              <a:rPr lang="zh-CN" altLang="en-US" dirty="0">
                <a:solidFill>
                  <a:srgbClr val="FFFF00"/>
                </a:solidFill>
                <a:latin typeface="Tahoma" panose="020B0604030504040204" pitchFamily="34" charset="0"/>
                <a:ea typeface="华文新魏" panose="02010800040101010101" pitchFamily="2" charset="-122"/>
              </a:rPr>
              <a:t>南瓜茎纵切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sz="half" idx="2"/>
          </p:nvPr>
        </p:nvSpPr>
        <p:spPr>
          <a:prstGeom prst="rect">
            <a:avLst/>
          </a:prstGeom>
        </p:spPr>
        <p:txBody>
          <a:bodyPr vert="horz" wrap="square" lIns="0" tIns="12065" rIns="0" bIns="0" rtlCol="0">
            <a:spAutoFit/>
          </a:bodyPr>
          <a:lstStyle/>
          <a:p>
            <a:pPr marL="12700" marR="6985" indent="342265">
              <a:lnSpc>
                <a:spcPct val="100000"/>
              </a:lnSpc>
              <a:spcBef>
                <a:spcPts val="95"/>
              </a:spcBef>
              <a:buFont typeface="SimSun"/>
              <a:buChar char="•"/>
              <a:tabLst>
                <a:tab pos="354965" algn="l"/>
                <a:tab pos="907415" algn="l"/>
                <a:tab pos="2882900" algn="l"/>
                <a:tab pos="3048635" algn="l"/>
              </a:tabLst>
            </a:pPr>
            <a:r>
              <a:rPr spc="-10" dirty="0"/>
              <a:t>筛</a:t>
            </a:r>
            <a:r>
              <a:rPr spc="-30" dirty="0"/>
              <a:t>管分</a:t>
            </a:r>
            <a:r>
              <a:rPr spc="-10" dirty="0"/>
              <a:t>子</a:t>
            </a:r>
            <a:r>
              <a:rPr spc="275" dirty="0">
                <a:latin typeface="Times New Roman"/>
                <a:cs typeface="Times New Roman"/>
              </a:rPr>
              <a:t>(sieve </a:t>
            </a:r>
            <a:r>
              <a:rPr spc="50" dirty="0">
                <a:latin typeface="Times New Roman"/>
                <a:cs typeface="Times New Roman"/>
              </a:rPr>
              <a:t>tube</a:t>
            </a:r>
            <a:r>
              <a:rPr dirty="0">
                <a:latin typeface="Times New Roman"/>
                <a:cs typeface="Times New Roman"/>
              </a:rPr>
              <a:t>	</a:t>
            </a:r>
            <a:r>
              <a:rPr spc="95" dirty="0">
                <a:latin typeface="Times New Roman"/>
                <a:cs typeface="Times New Roman"/>
              </a:rPr>
              <a:t>element)</a:t>
            </a:r>
            <a:r>
              <a:rPr spc="95" dirty="0"/>
              <a:t>：</a:t>
            </a:r>
            <a:r>
              <a:rPr dirty="0"/>
              <a:t>	</a:t>
            </a:r>
            <a:r>
              <a:rPr spc="-50" dirty="0"/>
              <a:t>具</a:t>
            </a:r>
            <a:r>
              <a:rPr spc="-10" dirty="0"/>
              <a:t>初</a:t>
            </a:r>
            <a:r>
              <a:rPr spc="-30" dirty="0"/>
              <a:t>生壁、</a:t>
            </a:r>
            <a:r>
              <a:rPr spc="-10" dirty="0"/>
              <a:t>端</a:t>
            </a:r>
            <a:r>
              <a:rPr spc="-30" dirty="0"/>
              <a:t>壁具筛</a:t>
            </a:r>
            <a:r>
              <a:rPr spc="-50" dirty="0"/>
              <a:t>板</a:t>
            </a:r>
            <a:r>
              <a:rPr spc="-10" dirty="0"/>
              <a:t>的</a:t>
            </a:r>
            <a:r>
              <a:rPr spc="-30" dirty="0"/>
              <a:t>管状无</a:t>
            </a:r>
            <a:r>
              <a:rPr spc="-10" dirty="0"/>
              <a:t>核</a:t>
            </a:r>
            <a:r>
              <a:rPr spc="-30" dirty="0"/>
              <a:t>活细</a:t>
            </a:r>
            <a:r>
              <a:rPr spc="-50" dirty="0"/>
              <a:t>胞</a:t>
            </a:r>
            <a:r>
              <a:rPr dirty="0"/>
              <a:t>		</a:t>
            </a:r>
            <a:r>
              <a:rPr spc="-50" dirty="0"/>
              <a:t>，</a:t>
            </a:r>
            <a:r>
              <a:rPr spc="-10" dirty="0"/>
              <a:t>侧</a:t>
            </a:r>
            <a:r>
              <a:rPr spc="-30" dirty="0"/>
              <a:t>壁具筛</a:t>
            </a:r>
            <a:r>
              <a:rPr spc="-10" dirty="0"/>
              <a:t>域</a:t>
            </a:r>
            <a:r>
              <a:rPr spc="-50" dirty="0"/>
              <a:t>。</a:t>
            </a:r>
          </a:p>
          <a:p>
            <a:pPr marL="12700" marR="5080" indent="342265">
              <a:lnSpc>
                <a:spcPct val="100000"/>
              </a:lnSpc>
              <a:spcBef>
                <a:spcPts val="1000"/>
              </a:spcBef>
              <a:buFont typeface="SimSun"/>
              <a:buChar char="•"/>
              <a:tabLst>
                <a:tab pos="354965" algn="l"/>
              </a:tabLst>
            </a:pPr>
            <a:r>
              <a:rPr spc="-20" dirty="0"/>
              <a:t>伴胞</a:t>
            </a:r>
            <a:r>
              <a:rPr spc="-10" dirty="0">
                <a:latin typeface="Times New Roman"/>
                <a:cs typeface="Times New Roman"/>
              </a:rPr>
              <a:t>(companion </a:t>
            </a:r>
            <a:r>
              <a:rPr spc="335" dirty="0">
                <a:latin typeface="Times New Roman"/>
                <a:cs typeface="Times New Roman"/>
              </a:rPr>
              <a:t>cell)</a:t>
            </a:r>
            <a:r>
              <a:rPr spc="15" dirty="0"/>
              <a:t>：与筛管分子由</a:t>
            </a:r>
            <a:r>
              <a:rPr spc="-35" dirty="0"/>
              <a:t>同一母细胞不等纵裂形成，维持筛管分子活性。</a:t>
            </a:r>
          </a:p>
        </p:txBody>
      </p:sp>
      <p:sp>
        <p:nvSpPr>
          <p:cNvPr id="5" name="object 5"/>
          <p:cNvSpPr txBox="1"/>
          <p:nvPr/>
        </p:nvSpPr>
        <p:spPr>
          <a:xfrm>
            <a:off x="3642486" y="1675002"/>
            <a:ext cx="739140" cy="452120"/>
          </a:xfrm>
          <a:prstGeom prst="rect">
            <a:avLst/>
          </a:prstGeom>
        </p:spPr>
        <p:txBody>
          <a:bodyPr vert="horz" wrap="square" lIns="0" tIns="12065" rIns="0" bIns="0" rtlCol="0">
            <a:spAutoFit/>
          </a:bodyPr>
          <a:lstStyle/>
          <a:p>
            <a:pPr marL="12700">
              <a:lnSpc>
                <a:spcPct val="100000"/>
              </a:lnSpc>
              <a:spcBef>
                <a:spcPts val="95"/>
              </a:spcBef>
            </a:pPr>
            <a:r>
              <a:rPr sz="2800" b="1" spc="-40" dirty="0">
                <a:solidFill>
                  <a:srgbClr val="FF0000"/>
                </a:solidFill>
                <a:latin typeface="Microsoft JhengHei"/>
                <a:cs typeface="Microsoft JhengHei"/>
              </a:rPr>
              <a:t>筛板</a:t>
            </a:r>
            <a:endParaRPr sz="2800">
              <a:latin typeface="Microsoft JhengHei"/>
              <a:cs typeface="Microsoft JhengHei"/>
            </a:endParaRPr>
          </a:p>
        </p:txBody>
      </p:sp>
      <p:sp>
        <p:nvSpPr>
          <p:cNvPr id="6" name="object 6"/>
          <p:cNvSpPr txBox="1"/>
          <p:nvPr/>
        </p:nvSpPr>
        <p:spPr>
          <a:xfrm>
            <a:off x="4307840" y="5647740"/>
            <a:ext cx="638175" cy="391795"/>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0000"/>
                </a:solidFill>
                <a:latin typeface="Microsoft JhengHei"/>
                <a:cs typeface="Microsoft JhengHei"/>
              </a:rPr>
              <a:t>筛孔</a:t>
            </a:r>
            <a:endParaRPr sz="2400">
              <a:latin typeface="Microsoft JhengHei"/>
              <a:cs typeface="Microsoft JhengHei"/>
            </a:endParaRPr>
          </a:p>
        </p:txBody>
      </p:sp>
      <p:grpSp>
        <p:nvGrpSpPr>
          <p:cNvPr id="7" name="object 7"/>
          <p:cNvGrpSpPr/>
          <p:nvPr/>
        </p:nvGrpSpPr>
        <p:grpSpPr>
          <a:xfrm>
            <a:off x="3633741" y="2056638"/>
            <a:ext cx="3461385" cy="3808095"/>
            <a:chOff x="3633741" y="2056638"/>
            <a:chExt cx="3461385" cy="3808095"/>
          </a:xfrm>
        </p:grpSpPr>
        <p:sp>
          <p:nvSpPr>
            <p:cNvPr id="8" name="object 8"/>
            <p:cNvSpPr/>
            <p:nvPr/>
          </p:nvSpPr>
          <p:spPr>
            <a:xfrm>
              <a:off x="4390136" y="2056637"/>
              <a:ext cx="2705100" cy="3808095"/>
            </a:xfrm>
            <a:custGeom>
              <a:avLst/>
              <a:gdLst/>
              <a:ahLst/>
              <a:cxnLst/>
              <a:rect l="l" t="t" r="r" b="b"/>
              <a:pathLst>
                <a:path w="2705100" h="3808095">
                  <a:moveTo>
                    <a:pt x="2704846" y="2812542"/>
                  </a:moveTo>
                  <a:lnTo>
                    <a:pt x="2577211" y="2805938"/>
                  </a:lnTo>
                  <a:lnTo>
                    <a:pt x="2592438" y="2840863"/>
                  </a:lnTo>
                  <a:lnTo>
                    <a:pt x="462280" y="3772662"/>
                  </a:lnTo>
                  <a:lnTo>
                    <a:pt x="477520" y="3807574"/>
                  </a:lnTo>
                  <a:lnTo>
                    <a:pt x="2607703" y="2875838"/>
                  </a:lnTo>
                  <a:lnTo>
                    <a:pt x="2622931" y="2910713"/>
                  </a:lnTo>
                  <a:lnTo>
                    <a:pt x="2687561" y="2833243"/>
                  </a:lnTo>
                  <a:lnTo>
                    <a:pt x="2704846" y="2812542"/>
                  </a:lnTo>
                  <a:close/>
                </a:path>
                <a:path w="2705100" h="3808095">
                  <a:moveTo>
                    <a:pt x="2704846" y="2002155"/>
                  </a:moveTo>
                  <a:lnTo>
                    <a:pt x="2683853" y="1961007"/>
                  </a:lnTo>
                  <a:lnTo>
                    <a:pt x="2646807" y="1888363"/>
                  </a:lnTo>
                  <a:lnTo>
                    <a:pt x="2624163" y="1919008"/>
                  </a:lnTo>
                  <a:lnTo>
                    <a:pt x="22606" y="0"/>
                  </a:lnTo>
                  <a:lnTo>
                    <a:pt x="0" y="30607"/>
                  </a:lnTo>
                  <a:lnTo>
                    <a:pt x="2601480" y="1949691"/>
                  </a:lnTo>
                  <a:lnTo>
                    <a:pt x="2578862" y="1980311"/>
                  </a:lnTo>
                  <a:lnTo>
                    <a:pt x="2704846" y="2002155"/>
                  </a:lnTo>
                  <a:close/>
                </a:path>
              </a:pathLst>
            </a:custGeom>
            <a:solidFill>
              <a:srgbClr val="FF0066"/>
            </a:solidFill>
          </p:spPr>
          <p:txBody>
            <a:bodyPr wrap="square" lIns="0" tIns="0" rIns="0" bIns="0" rtlCol="0"/>
            <a:lstStyle/>
            <a:p>
              <a:endParaRPr/>
            </a:p>
          </p:txBody>
        </p:sp>
        <p:sp>
          <p:nvSpPr>
            <p:cNvPr id="9" name="object 9"/>
            <p:cNvSpPr/>
            <p:nvPr/>
          </p:nvSpPr>
          <p:spPr>
            <a:xfrm>
              <a:off x="3646441" y="2171036"/>
              <a:ext cx="830580" cy="476884"/>
            </a:xfrm>
            <a:custGeom>
              <a:avLst/>
              <a:gdLst/>
              <a:ahLst/>
              <a:cxnLst/>
              <a:rect l="l" t="t" r="r" b="b"/>
              <a:pathLst>
                <a:path w="830579" h="476885">
                  <a:moveTo>
                    <a:pt x="5824" y="409730"/>
                  </a:moveTo>
                  <a:lnTo>
                    <a:pt x="0" y="383368"/>
                  </a:lnTo>
                  <a:lnTo>
                    <a:pt x="3096" y="354574"/>
                  </a:lnTo>
                  <a:lnTo>
                    <a:pt x="14587" y="323873"/>
                  </a:lnTo>
                  <a:lnTo>
                    <a:pt x="60653" y="258836"/>
                  </a:lnTo>
                  <a:lnTo>
                    <a:pt x="94176" y="225546"/>
                  </a:lnTo>
                  <a:lnTo>
                    <a:pt x="133992" y="192439"/>
                  </a:lnTo>
                  <a:lnTo>
                    <a:pt x="179576" y="160038"/>
                  </a:lnTo>
                  <a:lnTo>
                    <a:pt x="230402" y="128864"/>
                  </a:lnTo>
                  <a:lnTo>
                    <a:pt x="285944" y="99441"/>
                  </a:lnTo>
                  <a:lnTo>
                    <a:pt x="345676" y="72291"/>
                  </a:lnTo>
                  <a:lnTo>
                    <a:pt x="406916" y="48771"/>
                  </a:lnTo>
                  <a:lnTo>
                    <a:pt x="466835" y="29827"/>
                  </a:lnTo>
                  <a:lnTo>
                    <a:pt x="524693" y="15468"/>
                  </a:lnTo>
                  <a:lnTo>
                    <a:pt x="579750" y="5704"/>
                  </a:lnTo>
                  <a:lnTo>
                    <a:pt x="631264" y="545"/>
                  </a:lnTo>
                  <a:lnTo>
                    <a:pt x="678494" y="0"/>
                  </a:lnTo>
                  <a:lnTo>
                    <a:pt x="720701" y="4078"/>
                  </a:lnTo>
                  <a:lnTo>
                    <a:pt x="787077" y="26148"/>
                  </a:lnTo>
                  <a:lnTo>
                    <a:pt x="824466" y="66830"/>
                  </a:lnTo>
                  <a:lnTo>
                    <a:pt x="830291" y="93193"/>
                  </a:lnTo>
                  <a:lnTo>
                    <a:pt x="827195" y="121986"/>
                  </a:lnTo>
                  <a:lnTo>
                    <a:pt x="796343" y="184774"/>
                  </a:lnTo>
                  <a:lnTo>
                    <a:pt x="769638" y="217724"/>
                  </a:lnTo>
                  <a:lnTo>
                    <a:pt x="736114" y="251014"/>
                  </a:lnTo>
                  <a:lnTo>
                    <a:pt x="696298" y="284121"/>
                  </a:lnTo>
                  <a:lnTo>
                    <a:pt x="650714" y="316523"/>
                  </a:lnTo>
                  <a:lnTo>
                    <a:pt x="599889" y="347696"/>
                  </a:lnTo>
                  <a:lnTo>
                    <a:pt x="544347" y="377119"/>
                  </a:lnTo>
                  <a:lnTo>
                    <a:pt x="484614" y="404269"/>
                  </a:lnTo>
                  <a:lnTo>
                    <a:pt x="423375" y="427789"/>
                  </a:lnTo>
                  <a:lnTo>
                    <a:pt x="363455" y="446733"/>
                  </a:lnTo>
                  <a:lnTo>
                    <a:pt x="305597" y="461092"/>
                  </a:lnTo>
                  <a:lnTo>
                    <a:pt x="250540" y="470856"/>
                  </a:lnTo>
                  <a:lnTo>
                    <a:pt x="199026" y="476015"/>
                  </a:lnTo>
                  <a:lnTo>
                    <a:pt x="151796" y="476561"/>
                  </a:lnTo>
                  <a:lnTo>
                    <a:pt x="109590" y="472482"/>
                  </a:lnTo>
                  <a:lnTo>
                    <a:pt x="73149" y="463769"/>
                  </a:lnTo>
                  <a:lnTo>
                    <a:pt x="43213" y="450412"/>
                  </a:lnTo>
                  <a:lnTo>
                    <a:pt x="20525" y="432403"/>
                  </a:lnTo>
                  <a:lnTo>
                    <a:pt x="5824" y="409730"/>
                  </a:lnTo>
                  <a:close/>
                </a:path>
              </a:pathLst>
            </a:custGeom>
            <a:ln w="25400">
              <a:solidFill>
                <a:srgbClr val="FF0000"/>
              </a:solidFill>
            </a:ln>
          </p:spPr>
          <p:txBody>
            <a:bodyPr wrap="square" lIns="0" tIns="0" rIns="0" bIns="0" rtlCol="0"/>
            <a:lstStyle/>
            <a:p>
              <a:endParaRPr/>
            </a:p>
          </p:txBody>
        </p:sp>
      </p:grpSp>
      <p:sp>
        <p:nvSpPr>
          <p:cNvPr id="10" name="object 10"/>
          <p:cNvSpPr txBox="1"/>
          <p:nvPr/>
        </p:nvSpPr>
        <p:spPr>
          <a:xfrm>
            <a:off x="3781425" y="4017645"/>
            <a:ext cx="330200" cy="995044"/>
          </a:xfrm>
          <a:prstGeom prst="rect">
            <a:avLst/>
          </a:prstGeom>
        </p:spPr>
        <p:txBody>
          <a:bodyPr vert="horz" wrap="square" lIns="0" tIns="75565" rIns="0" bIns="0" rtlCol="0">
            <a:spAutoFit/>
          </a:bodyPr>
          <a:lstStyle/>
          <a:p>
            <a:pPr marL="12700" marR="5080" algn="just">
              <a:lnSpc>
                <a:spcPts val="2380"/>
              </a:lnSpc>
              <a:spcBef>
                <a:spcPts val="595"/>
              </a:spcBef>
            </a:pPr>
            <a:r>
              <a:rPr sz="2400" b="1" spc="-50" dirty="0">
                <a:latin typeface="Microsoft JhengHei"/>
                <a:cs typeface="Microsoft JhengHei"/>
              </a:rPr>
              <a:t>筛分子</a:t>
            </a:r>
            <a:endParaRPr sz="2400">
              <a:latin typeface="Microsoft JhengHei"/>
              <a:cs typeface="Microsoft JhengHei"/>
            </a:endParaRPr>
          </a:p>
        </p:txBody>
      </p:sp>
      <p:sp>
        <p:nvSpPr>
          <p:cNvPr id="11" name="object 11"/>
          <p:cNvSpPr txBox="1"/>
          <p:nvPr/>
        </p:nvSpPr>
        <p:spPr>
          <a:xfrm>
            <a:off x="6471920" y="5889447"/>
            <a:ext cx="944880" cy="391160"/>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Microsoft JhengHei"/>
                <a:cs typeface="Microsoft JhengHei"/>
              </a:rPr>
              <a:t>筛分子</a:t>
            </a:r>
            <a:endParaRPr sz="2400">
              <a:latin typeface="Microsoft JhengHei"/>
              <a:cs typeface="Microsoft JhengHei"/>
            </a:endParaRPr>
          </a:p>
        </p:txBody>
      </p:sp>
      <p:sp>
        <p:nvSpPr>
          <p:cNvPr id="12" name="object 12"/>
          <p:cNvSpPr txBox="1"/>
          <p:nvPr/>
        </p:nvSpPr>
        <p:spPr>
          <a:xfrm>
            <a:off x="7820406" y="4271517"/>
            <a:ext cx="638175" cy="391160"/>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0000"/>
                </a:solidFill>
                <a:latin typeface="Microsoft JhengHei"/>
                <a:cs typeface="Microsoft JhengHei"/>
              </a:rPr>
              <a:t>伴胞</a:t>
            </a:r>
            <a:endParaRPr sz="2400">
              <a:latin typeface="Microsoft JhengHei"/>
              <a:cs typeface="Microsoft JhengHei"/>
            </a:endParaRPr>
          </a:p>
        </p:txBody>
      </p:sp>
      <p:sp>
        <p:nvSpPr>
          <p:cNvPr id="13" name="object 13"/>
          <p:cNvSpPr txBox="1"/>
          <p:nvPr/>
        </p:nvSpPr>
        <p:spPr>
          <a:xfrm>
            <a:off x="4914265" y="2965526"/>
            <a:ext cx="4135120" cy="582295"/>
          </a:xfrm>
          <a:prstGeom prst="rect">
            <a:avLst/>
          </a:prstGeom>
        </p:spPr>
        <p:txBody>
          <a:bodyPr vert="horz" wrap="square" lIns="0" tIns="12700" rIns="0" bIns="0" rtlCol="0">
            <a:spAutoFit/>
          </a:bodyPr>
          <a:lstStyle/>
          <a:p>
            <a:pPr marL="38100">
              <a:lnSpc>
                <a:spcPts val="2190"/>
              </a:lnSpc>
              <a:spcBef>
                <a:spcPts val="100"/>
              </a:spcBef>
            </a:pPr>
            <a:r>
              <a:rPr sz="2400" b="1" spc="-50" dirty="0">
                <a:solidFill>
                  <a:srgbClr val="FF0000"/>
                </a:solidFill>
                <a:latin typeface="Microsoft JhengHei"/>
                <a:cs typeface="Microsoft JhengHei"/>
              </a:rPr>
              <a:t>伴</a:t>
            </a:r>
            <a:endParaRPr sz="2400">
              <a:latin typeface="Microsoft JhengHei"/>
              <a:cs typeface="Microsoft JhengHei"/>
            </a:endParaRPr>
          </a:p>
          <a:p>
            <a:pPr marL="38100">
              <a:lnSpc>
                <a:spcPts val="2190"/>
              </a:lnSpc>
            </a:pPr>
            <a:r>
              <a:rPr sz="3600" b="1" spc="839" baseline="-28935" dirty="0">
                <a:solidFill>
                  <a:srgbClr val="FF0000"/>
                </a:solidFill>
                <a:latin typeface="Microsoft JhengHei"/>
                <a:cs typeface="Microsoft JhengHei"/>
              </a:rPr>
              <a:t>胞</a:t>
            </a:r>
            <a:r>
              <a:rPr sz="1800" b="1" spc="-5" dirty="0">
                <a:latin typeface="Microsoft JhengHei"/>
                <a:cs typeface="Microsoft JhengHei"/>
              </a:rPr>
              <a:t>电镜下蚕豆叶片小叶脉的筛管和伴胞</a:t>
            </a:r>
            <a:endParaRPr sz="1800">
              <a:latin typeface="Microsoft JhengHei"/>
              <a:cs typeface="Microsoft JhengHei"/>
            </a:endParaRPr>
          </a:p>
        </p:txBody>
      </p:sp>
      <p:grpSp>
        <p:nvGrpSpPr>
          <p:cNvPr id="14" name="object 14"/>
          <p:cNvGrpSpPr/>
          <p:nvPr/>
        </p:nvGrpSpPr>
        <p:grpSpPr>
          <a:xfrm>
            <a:off x="7198232" y="1365122"/>
            <a:ext cx="814069" cy="786130"/>
            <a:chOff x="7198232" y="1365122"/>
            <a:chExt cx="814069" cy="786130"/>
          </a:xfrm>
        </p:grpSpPr>
        <p:sp>
          <p:nvSpPr>
            <p:cNvPr id="15" name="object 15"/>
            <p:cNvSpPr/>
            <p:nvPr/>
          </p:nvSpPr>
          <p:spPr>
            <a:xfrm>
              <a:off x="7198232" y="2004567"/>
              <a:ext cx="376555" cy="146685"/>
            </a:xfrm>
            <a:custGeom>
              <a:avLst/>
              <a:gdLst/>
              <a:ahLst/>
              <a:cxnLst/>
              <a:rect l="l" t="t" r="r" b="b"/>
              <a:pathLst>
                <a:path w="376554" h="146685">
                  <a:moveTo>
                    <a:pt x="82189" y="42128"/>
                  </a:moveTo>
                  <a:lnTo>
                    <a:pt x="54946" y="49772"/>
                  </a:lnTo>
                  <a:lnTo>
                    <a:pt x="75149" y="69866"/>
                  </a:lnTo>
                  <a:lnTo>
                    <a:pt x="369189" y="146431"/>
                  </a:lnTo>
                  <a:lnTo>
                    <a:pt x="376427" y="118745"/>
                  </a:lnTo>
                  <a:lnTo>
                    <a:pt x="82189" y="42128"/>
                  </a:lnTo>
                  <a:close/>
                </a:path>
                <a:path w="376554" h="146685">
                  <a:moveTo>
                    <a:pt x="126746" y="0"/>
                  </a:moveTo>
                  <a:lnTo>
                    <a:pt x="0" y="35560"/>
                  </a:lnTo>
                  <a:lnTo>
                    <a:pt x="93345" y="128397"/>
                  </a:lnTo>
                  <a:lnTo>
                    <a:pt x="102235" y="128397"/>
                  </a:lnTo>
                  <a:lnTo>
                    <a:pt x="113538" y="117094"/>
                  </a:lnTo>
                  <a:lnTo>
                    <a:pt x="113538" y="108077"/>
                  </a:lnTo>
                  <a:lnTo>
                    <a:pt x="75149" y="69866"/>
                  </a:lnTo>
                  <a:lnTo>
                    <a:pt x="23875" y="56515"/>
                  </a:lnTo>
                  <a:lnTo>
                    <a:pt x="31115" y="28829"/>
                  </a:lnTo>
                  <a:lnTo>
                    <a:pt x="129562" y="28829"/>
                  </a:lnTo>
                  <a:lnTo>
                    <a:pt x="134493" y="27432"/>
                  </a:lnTo>
                  <a:lnTo>
                    <a:pt x="138938" y="19558"/>
                  </a:lnTo>
                  <a:lnTo>
                    <a:pt x="136778" y="12065"/>
                  </a:lnTo>
                  <a:lnTo>
                    <a:pt x="134620" y="4445"/>
                  </a:lnTo>
                  <a:lnTo>
                    <a:pt x="126746" y="0"/>
                  </a:lnTo>
                  <a:close/>
                </a:path>
                <a:path w="376554" h="146685">
                  <a:moveTo>
                    <a:pt x="31115" y="28829"/>
                  </a:moveTo>
                  <a:lnTo>
                    <a:pt x="23909" y="56387"/>
                  </a:lnTo>
                  <a:lnTo>
                    <a:pt x="23875" y="56515"/>
                  </a:lnTo>
                  <a:lnTo>
                    <a:pt x="75149" y="69866"/>
                  </a:lnTo>
                  <a:lnTo>
                    <a:pt x="61597" y="56387"/>
                  </a:lnTo>
                  <a:lnTo>
                    <a:pt x="31369" y="56387"/>
                  </a:lnTo>
                  <a:lnTo>
                    <a:pt x="37592" y="32512"/>
                  </a:lnTo>
                  <a:lnTo>
                    <a:pt x="45259" y="32512"/>
                  </a:lnTo>
                  <a:lnTo>
                    <a:pt x="31115" y="28829"/>
                  </a:lnTo>
                  <a:close/>
                </a:path>
                <a:path w="376554" h="146685">
                  <a:moveTo>
                    <a:pt x="37592" y="32512"/>
                  </a:moveTo>
                  <a:lnTo>
                    <a:pt x="31369" y="56387"/>
                  </a:lnTo>
                  <a:lnTo>
                    <a:pt x="54946" y="49772"/>
                  </a:lnTo>
                  <a:lnTo>
                    <a:pt x="37592" y="32512"/>
                  </a:lnTo>
                  <a:close/>
                </a:path>
                <a:path w="376554" h="146685">
                  <a:moveTo>
                    <a:pt x="54946" y="49772"/>
                  </a:moveTo>
                  <a:lnTo>
                    <a:pt x="31369" y="56387"/>
                  </a:lnTo>
                  <a:lnTo>
                    <a:pt x="61597" y="56387"/>
                  </a:lnTo>
                  <a:lnTo>
                    <a:pt x="54946" y="49772"/>
                  </a:lnTo>
                  <a:close/>
                </a:path>
                <a:path w="376554" h="146685">
                  <a:moveTo>
                    <a:pt x="45259" y="32512"/>
                  </a:moveTo>
                  <a:lnTo>
                    <a:pt x="37592" y="32512"/>
                  </a:lnTo>
                  <a:lnTo>
                    <a:pt x="54946" y="49772"/>
                  </a:lnTo>
                  <a:lnTo>
                    <a:pt x="82189" y="42128"/>
                  </a:lnTo>
                  <a:lnTo>
                    <a:pt x="45259" y="32512"/>
                  </a:lnTo>
                  <a:close/>
                </a:path>
                <a:path w="376554" h="146685">
                  <a:moveTo>
                    <a:pt x="129562" y="28829"/>
                  </a:moveTo>
                  <a:lnTo>
                    <a:pt x="31115" y="28829"/>
                  </a:lnTo>
                  <a:lnTo>
                    <a:pt x="82189" y="42128"/>
                  </a:lnTo>
                  <a:lnTo>
                    <a:pt x="129562" y="28829"/>
                  </a:lnTo>
                  <a:close/>
                </a:path>
              </a:pathLst>
            </a:custGeom>
            <a:solidFill>
              <a:srgbClr val="00AF50"/>
            </a:solidFill>
          </p:spPr>
          <p:txBody>
            <a:bodyPr wrap="square" lIns="0" tIns="0" rIns="0" bIns="0" rtlCol="0"/>
            <a:lstStyle/>
            <a:p>
              <a:endParaRPr/>
            </a:p>
          </p:txBody>
        </p:sp>
        <p:sp>
          <p:nvSpPr>
            <p:cNvPr id="16" name="object 16"/>
            <p:cNvSpPr/>
            <p:nvPr/>
          </p:nvSpPr>
          <p:spPr>
            <a:xfrm>
              <a:off x="7671688" y="1365122"/>
              <a:ext cx="340995" cy="194310"/>
            </a:xfrm>
            <a:custGeom>
              <a:avLst/>
              <a:gdLst/>
              <a:ahLst/>
              <a:cxnLst/>
              <a:rect l="l" t="t" r="r" b="b"/>
              <a:pathLst>
                <a:path w="340995" h="194309">
                  <a:moveTo>
                    <a:pt x="78612" y="74294"/>
                  </a:moveTo>
                  <a:lnTo>
                    <a:pt x="69850" y="76326"/>
                  </a:lnTo>
                  <a:lnTo>
                    <a:pt x="0" y="187960"/>
                  </a:lnTo>
                  <a:lnTo>
                    <a:pt x="131571" y="193801"/>
                  </a:lnTo>
                  <a:lnTo>
                    <a:pt x="138175" y="187705"/>
                  </a:lnTo>
                  <a:lnTo>
                    <a:pt x="138188" y="187451"/>
                  </a:lnTo>
                  <a:lnTo>
                    <a:pt x="31750" y="187451"/>
                  </a:lnTo>
                  <a:lnTo>
                    <a:pt x="18541" y="162051"/>
                  </a:lnTo>
                  <a:lnTo>
                    <a:pt x="65298" y="137500"/>
                  </a:lnTo>
                  <a:lnTo>
                    <a:pt x="89915" y="98171"/>
                  </a:lnTo>
                  <a:lnTo>
                    <a:pt x="94106" y="91566"/>
                  </a:lnTo>
                  <a:lnTo>
                    <a:pt x="92162" y="83057"/>
                  </a:lnTo>
                  <a:lnTo>
                    <a:pt x="92075" y="82676"/>
                  </a:lnTo>
                  <a:lnTo>
                    <a:pt x="78612" y="74294"/>
                  </a:lnTo>
                  <a:close/>
                </a:path>
                <a:path w="340995" h="194309">
                  <a:moveTo>
                    <a:pt x="65298" y="137500"/>
                  </a:moveTo>
                  <a:lnTo>
                    <a:pt x="18541" y="162051"/>
                  </a:lnTo>
                  <a:lnTo>
                    <a:pt x="31750" y="187451"/>
                  </a:lnTo>
                  <a:lnTo>
                    <a:pt x="41428" y="182372"/>
                  </a:lnTo>
                  <a:lnTo>
                    <a:pt x="37210" y="182372"/>
                  </a:lnTo>
                  <a:lnTo>
                    <a:pt x="25780" y="160527"/>
                  </a:lnTo>
                  <a:lnTo>
                    <a:pt x="50884" y="160527"/>
                  </a:lnTo>
                  <a:lnTo>
                    <a:pt x="65298" y="137500"/>
                  </a:lnTo>
                  <a:close/>
                </a:path>
                <a:path w="340995" h="194309">
                  <a:moveTo>
                    <a:pt x="78540" y="162892"/>
                  </a:moveTo>
                  <a:lnTo>
                    <a:pt x="31750" y="187451"/>
                  </a:lnTo>
                  <a:lnTo>
                    <a:pt x="138188" y="187451"/>
                  </a:lnTo>
                  <a:lnTo>
                    <a:pt x="138937" y="171957"/>
                  </a:lnTo>
                  <a:lnTo>
                    <a:pt x="132841" y="165226"/>
                  </a:lnTo>
                  <a:lnTo>
                    <a:pt x="124967" y="164973"/>
                  </a:lnTo>
                  <a:lnTo>
                    <a:pt x="78540" y="162892"/>
                  </a:lnTo>
                  <a:close/>
                </a:path>
                <a:path w="340995" h="194309">
                  <a:moveTo>
                    <a:pt x="25780" y="160527"/>
                  </a:moveTo>
                  <a:lnTo>
                    <a:pt x="37210" y="182372"/>
                  </a:lnTo>
                  <a:lnTo>
                    <a:pt x="50199" y="161622"/>
                  </a:lnTo>
                  <a:lnTo>
                    <a:pt x="25780" y="160527"/>
                  </a:lnTo>
                  <a:close/>
                </a:path>
                <a:path w="340995" h="194309">
                  <a:moveTo>
                    <a:pt x="50199" y="161622"/>
                  </a:moveTo>
                  <a:lnTo>
                    <a:pt x="37210" y="182372"/>
                  </a:lnTo>
                  <a:lnTo>
                    <a:pt x="41428" y="182372"/>
                  </a:lnTo>
                  <a:lnTo>
                    <a:pt x="78540" y="162892"/>
                  </a:lnTo>
                  <a:lnTo>
                    <a:pt x="50199" y="161622"/>
                  </a:lnTo>
                  <a:close/>
                </a:path>
                <a:path w="340995" h="194309">
                  <a:moveTo>
                    <a:pt x="327151" y="0"/>
                  </a:moveTo>
                  <a:lnTo>
                    <a:pt x="65298" y="137500"/>
                  </a:lnTo>
                  <a:lnTo>
                    <a:pt x="50199" y="161622"/>
                  </a:lnTo>
                  <a:lnTo>
                    <a:pt x="78540" y="162892"/>
                  </a:lnTo>
                  <a:lnTo>
                    <a:pt x="340486" y="25400"/>
                  </a:lnTo>
                  <a:lnTo>
                    <a:pt x="327151" y="0"/>
                  </a:lnTo>
                  <a:close/>
                </a:path>
                <a:path w="340995" h="194309">
                  <a:moveTo>
                    <a:pt x="50884" y="160527"/>
                  </a:moveTo>
                  <a:lnTo>
                    <a:pt x="25780" y="160527"/>
                  </a:lnTo>
                  <a:lnTo>
                    <a:pt x="50199" y="161622"/>
                  </a:lnTo>
                  <a:lnTo>
                    <a:pt x="50884" y="160527"/>
                  </a:lnTo>
                  <a:close/>
                </a:path>
              </a:pathLst>
            </a:custGeom>
            <a:solidFill>
              <a:srgbClr val="FF0000"/>
            </a:solidFill>
          </p:spPr>
          <p:txBody>
            <a:bodyPr wrap="square" lIns="0" tIns="0" rIns="0" bIns="0" rtlCol="0"/>
            <a:lstStyle/>
            <a:p>
              <a:endParaRPr/>
            </a:p>
          </p:txBody>
        </p:sp>
      </p:grpSp>
      <p:sp>
        <p:nvSpPr>
          <p:cNvPr id="17" name="object 17"/>
          <p:cNvSpPr txBox="1"/>
          <p:nvPr/>
        </p:nvSpPr>
        <p:spPr>
          <a:xfrm>
            <a:off x="7481696" y="2436621"/>
            <a:ext cx="17843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Arial MT"/>
                <a:cs typeface="Arial MT"/>
              </a:rPr>
              <a:t>P</a:t>
            </a:r>
            <a:endParaRPr sz="1800">
              <a:latin typeface="Arial MT"/>
              <a:cs typeface="Arial MT"/>
            </a:endParaRPr>
          </a:p>
        </p:txBody>
      </p:sp>
      <p:sp>
        <p:nvSpPr>
          <p:cNvPr id="21" name="object 21"/>
          <p:cNvSpPr txBox="1"/>
          <p:nvPr/>
        </p:nvSpPr>
        <p:spPr>
          <a:xfrm>
            <a:off x="7741666" y="6436978"/>
            <a:ext cx="1143000" cy="368300"/>
          </a:xfrm>
          <a:prstGeom prst="rect">
            <a:avLst/>
          </a:prstGeom>
        </p:spPr>
        <p:txBody>
          <a:bodyPr vert="horz" wrap="square" lIns="0" tIns="0" rIns="0" bIns="0" rtlCol="0">
            <a:spAutoFit/>
          </a:bodyPr>
          <a:lstStyle/>
          <a:p>
            <a:pPr marL="189230">
              <a:lnSpc>
                <a:spcPts val="1425"/>
              </a:lnSpc>
            </a:pPr>
            <a:r>
              <a:rPr sz="1200" b="1" spc="85" dirty="0">
                <a:solidFill>
                  <a:srgbClr val="62CA96"/>
                </a:solidFill>
                <a:latin typeface="Microsoft JhengHei"/>
                <a:cs typeface="Microsoft JhengHei"/>
              </a:rPr>
              <a:t>植物学</a:t>
            </a:r>
            <a:r>
              <a:rPr sz="1200" b="1" spc="-50" dirty="0">
                <a:solidFill>
                  <a:srgbClr val="62CA96"/>
                </a:solidFill>
                <a:latin typeface="Arial"/>
                <a:cs typeface="Arial"/>
              </a:rPr>
              <a:t>A</a:t>
            </a:r>
            <a:endParaRPr sz="1200" dirty="0">
              <a:latin typeface="Arial"/>
              <a:cs typeface="Arial"/>
            </a:endParaRPr>
          </a:p>
          <a:p>
            <a:pPr marL="12700">
              <a:lnSpc>
                <a:spcPct val="100000"/>
              </a:lnSpc>
            </a:pPr>
            <a:r>
              <a:rPr sz="1200" b="1" spc="-10" dirty="0">
                <a:solidFill>
                  <a:srgbClr val="62CA96"/>
                </a:solidFill>
                <a:latin typeface="Microsoft JhengHei"/>
                <a:cs typeface="Microsoft JhengHei"/>
              </a:rPr>
              <a:t>第三章 植物组织</a:t>
            </a:r>
            <a:endParaRPr sz="1200" dirty="0">
              <a:latin typeface="Microsoft JhengHei"/>
              <a:cs typeface="Microsoft JhengHei"/>
            </a:endParaRPr>
          </a:p>
        </p:txBody>
      </p:sp>
      <p:sp>
        <p:nvSpPr>
          <p:cNvPr id="18" name="object 18"/>
          <p:cNvSpPr txBox="1"/>
          <p:nvPr/>
        </p:nvSpPr>
        <p:spPr>
          <a:xfrm>
            <a:off x="7971790" y="1122426"/>
            <a:ext cx="6350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MT"/>
                <a:cs typeface="Arial MT"/>
              </a:rPr>
              <a:t>P</a:t>
            </a:r>
            <a:r>
              <a:rPr sz="1800" spc="-25" dirty="0">
                <a:latin typeface="SimSun"/>
                <a:cs typeface="SimSun"/>
              </a:rPr>
              <a:t>蛋白</a:t>
            </a:r>
            <a:endParaRPr sz="1800">
              <a:latin typeface="SimSun"/>
              <a:cs typeface="SimSun"/>
            </a:endParaRPr>
          </a:p>
        </p:txBody>
      </p:sp>
      <p:sp>
        <p:nvSpPr>
          <p:cNvPr id="19" name="object 19"/>
          <p:cNvSpPr txBox="1"/>
          <p:nvPr/>
        </p:nvSpPr>
        <p:spPr>
          <a:xfrm>
            <a:off x="7651242" y="198132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SimSun"/>
                <a:cs typeface="SimSun"/>
              </a:rPr>
              <a:t>胞间连丝</a:t>
            </a:r>
            <a:endParaRPr sz="1800">
              <a:latin typeface="SimSun"/>
              <a:cs typeface="SimSun"/>
            </a:endParaRPr>
          </a:p>
        </p:txBody>
      </p:sp>
      <p:sp>
        <p:nvSpPr>
          <p:cNvPr id="20" name="object 20"/>
          <p:cNvSpPr txBox="1"/>
          <p:nvPr/>
        </p:nvSpPr>
        <p:spPr>
          <a:xfrm>
            <a:off x="5798565" y="1900174"/>
            <a:ext cx="843280" cy="513715"/>
          </a:xfrm>
          <a:prstGeom prst="rect">
            <a:avLst/>
          </a:prstGeom>
        </p:spPr>
        <p:txBody>
          <a:bodyPr vert="horz" wrap="square" lIns="0" tIns="13335" rIns="0" bIns="0" rtlCol="0">
            <a:spAutoFit/>
          </a:bodyPr>
          <a:lstStyle/>
          <a:p>
            <a:pPr marL="12700">
              <a:lnSpc>
                <a:spcPct val="100000"/>
              </a:lnSpc>
              <a:spcBef>
                <a:spcPts val="105"/>
              </a:spcBef>
            </a:pPr>
            <a:r>
              <a:rPr sz="3200" b="1" spc="-30" dirty="0">
                <a:solidFill>
                  <a:srgbClr val="FFFF00"/>
                </a:solidFill>
                <a:latin typeface="Microsoft JhengHei"/>
                <a:cs typeface="Microsoft JhengHei"/>
              </a:rPr>
              <a:t>伴胞</a:t>
            </a:r>
            <a:endParaRPr sz="3200">
              <a:latin typeface="Microsoft JhengHei"/>
              <a:cs typeface="Microsoft JhengHei"/>
            </a:endParaRPr>
          </a:p>
        </p:txBody>
      </p:sp>
      <p:sp>
        <p:nvSpPr>
          <p:cNvPr id="22" name="矩形 21">
            <a:extLst>
              <a:ext uri="{FF2B5EF4-FFF2-40B4-BE49-F238E27FC236}">
                <a16:creationId xmlns:a16="http://schemas.microsoft.com/office/drawing/2014/main" id="{9E9F7B6F-E64D-07AC-9135-F41D5F71A207}"/>
              </a:ext>
            </a:extLst>
          </p:cNvPr>
          <p:cNvSpPr/>
          <p:nvPr/>
        </p:nvSpPr>
        <p:spPr bwMode="auto">
          <a:xfrm>
            <a:off x="0" y="0"/>
            <a:ext cx="2195736" cy="764704"/>
          </a:xfrm>
          <a:prstGeom prst="rect">
            <a:avLst/>
          </a:prstGeom>
          <a:solidFill>
            <a:schemeClr val="bg1"/>
          </a:solidFill>
          <a:ln w="9525" cap="flat" cmpd="sng" algn="ctr">
            <a:no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华文新魏" panose="02010800040101010101" pitchFamily="2" charset="-122"/>
            </a:endParaRPr>
          </a:p>
        </p:txBody>
      </p:sp>
      <p:sp>
        <p:nvSpPr>
          <p:cNvPr id="4" name="object 4"/>
          <p:cNvSpPr txBox="1">
            <a:spLocks noGrp="1"/>
          </p:cNvSpPr>
          <p:nvPr>
            <p:ph type="title"/>
          </p:nvPr>
        </p:nvSpPr>
        <p:spPr>
          <a:xfrm>
            <a:off x="187230" y="164732"/>
            <a:ext cx="6351270" cy="513715"/>
          </a:xfrm>
          <a:prstGeom prst="rect">
            <a:avLst/>
          </a:prstGeom>
        </p:spPr>
        <p:txBody>
          <a:bodyPr vert="horz" wrap="square" lIns="0" tIns="12700" rIns="0" bIns="0" rtlCol="0">
            <a:spAutoFit/>
          </a:bodyPr>
          <a:lstStyle/>
          <a:p>
            <a:pPr marL="12700">
              <a:lnSpc>
                <a:spcPct val="100000"/>
              </a:lnSpc>
              <a:spcBef>
                <a:spcPts val="100"/>
              </a:spcBef>
            </a:pPr>
            <a:r>
              <a:rPr sz="3200" dirty="0"/>
              <a:t>运输同化产物的筛分子</a:t>
            </a:r>
            <a:r>
              <a:rPr sz="3200" spc="-165" dirty="0"/>
              <a:t>1</a:t>
            </a:r>
            <a:r>
              <a:rPr sz="3200" spc="-50" dirty="0"/>
              <a:t>：筛管分子</a:t>
            </a:r>
            <a:endParaRPr sz="3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41438" y="6422542"/>
            <a:ext cx="1598295" cy="391795"/>
          </a:xfrm>
          <a:prstGeom prst="rect">
            <a:avLst/>
          </a:prstGeom>
        </p:spPr>
        <p:txBody>
          <a:bodyPr vert="horz" wrap="square" lIns="0" tIns="12700" rIns="0" bIns="0" rtlCol="0">
            <a:spAutoFit/>
          </a:bodyPr>
          <a:lstStyle/>
          <a:p>
            <a:pPr marL="154305">
              <a:lnSpc>
                <a:spcPct val="100000"/>
              </a:lnSpc>
              <a:spcBef>
                <a:spcPts val="100"/>
              </a:spcBef>
            </a:pPr>
            <a:r>
              <a:rPr sz="1200" b="1" dirty="0">
                <a:solidFill>
                  <a:srgbClr val="62CA96"/>
                </a:solidFill>
                <a:latin typeface="Arial"/>
                <a:cs typeface="Arial"/>
              </a:rPr>
              <a:t>2018</a:t>
            </a:r>
            <a:r>
              <a:rPr sz="1200" b="1" spc="65" dirty="0">
                <a:solidFill>
                  <a:srgbClr val="62CA96"/>
                </a:solidFill>
                <a:latin typeface="Microsoft JhengHei"/>
                <a:cs typeface="Microsoft JhengHei"/>
              </a:rPr>
              <a:t>秋植物学 </a:t>
            </a:r>
            <a:r>
              <a:rPr sz="1200" b="1" spc="-50" dirty="0">
                <a:solidFill>
                  <a:srgbClr val="62CA96"/>
                </a:solidFill>
                <a:latin typeface="Arial"/>
                <a:cs typeface="Arial"/>
              </a:rPr>
              <a:t>c</a:t>
            </a:r>
            <a:endParaRPr sz="1200">
              <a:latin typeface="Arial"/>
              <a:cs typeface="Arial"/>
            </a:endParaRPr>
          </a:p>
          <a:p>
            <a:pPr marL="12700">
              <a:lnSpc>
                <a:spcPct val="100000"/>
              </a:lnSpc>
            </a:pPr>
            <a:r>
              <a:rPr sz="1200" b="1" spc="-5" dirty="0">
                <a:solidFill>
                  <a:srgbClr val="62CA96"/>
                </a:solidFill>
                <a:latin typeface="Microsoft JhengHei"/>
                <a:cs typeface="Microsoft JhengHei"/>
              </a:rPr>
              <a:t>第一章 植物细胞与组织</a:t>
            </a:r>
            <a:endParaRPr sz="1200">
              <a:latin typeface="Microsoft JhengHei"/>
              <a:cs typeface="Microsoft JhengHei"/>
            </a:endParaRPr>
          </a:p>
        </p:txBody>
      </p:sp>
      <p:grpSp>
        <p:nvGrpSpPr>
          <p:cNvPr id="4" name="object 4"/>
          <p:cNvGrpSpPr/>
          <p:nvPr/>
        </p:nvGrpSpPr>
        <p:grpSpPr>
          <a:xfrm>
            <a:off x="1678813" y="1268730"/>
            <a:ext cx="3113405" cy="3843020"/>
            <a:chOff x="1678813" y="1268730"/>
            <a:chExt cx="3113405" cy="3843020"/>
          </a:xfrm>
        </p:grpSpPr>
        <p:pic>
          <p:nvPicPr>
            <p:cNvPr id="5" name="object 5"/>
            <p:cNvPicPr/>
            <p:nvPr/>
          </p:nvPicPr>
          <p:blipFill>
            <a:blip r:embed="rId2" cstate="print"/>
            <a:stretch>
              <a:fillRect/>
            </a:stretch>
          </p:blipFill>
          <p:spPr>
            <a:xfrm>
              <a:off x="1678813" y="1268730"/>
              <a:ext cx="1740789" cy="3842892"/>
            </a:xfrm>
            <a:prstGeom prst="rect">
              <a:avLst/>
            </a:prstGeom>
          </p:spPr>
        </p:pic>
        <p:sp>
          <p:nvSpPr>
            <p:cNvPr id="6" name="object 6"/>
            <p:cNvSpPr/>
            <p:nvPr/>
          </p:nvSpPr>
          <p:spPr>
            <a:xfrm>
              <a:off x="3923538" y="1510919"/>
              <a:ext cx="863600" cy="2447925"/>
            </a:xfrm>
            <a:custGeom>
              <a:avLst/>
              <a:gdLst/>
              <a:ahLst/>
              <a:cxnLst/>
              <a:rect l="l" t="t" r="r" b="b"/>
              <a:pathLst>
                <a:path w="863600" h="2447925">
                  <a:moveTo>
                    <a:pt x="431800" y="0"/>
                  </a:moveTo>
                  <a:lnTo>
                    <a:pt x="383147" y="7681"/>
                  </a:lnTo>
                  <a:lnTo>
                    <a:pt x="336076" y="30174"/>
                  </a:lnTo>
                  <a:lnTo>
                    <a:pt x="290879" y="66653"/>
                  </a:lnTo>
                  <a:lnTo>
                    <a:pt x="247846" y="116289"/>
                  </a:lnTo>
                  <a:lnTo>
                    <a:pt x="207269" y="178257"/>
                  </a:lnTo>
                  <a:lnTo>
                    <a:pt x="187992" y="213607"/>
                  </a:lnTo>
                  <a:lnTo>
                    <a:pt x="169439" y="251730"/>
                  </a:lnTo>
                  <a:lnTo>
                    <a:pt x="151646" y="292522"/>
                  </a:lnTo>
                  <a:lnTo>
                    <a:pt x="134648" y="335880"/>
                  </a:lnTo>
                  <a:lnTo>
                    <a:pt x="118484" y="381701"/>
                  </a:lnTo>
                  <a:lnTo>
                    <a:pt x="103188" y="429881"/>
                  </a:lnTo>
                  <a:lnTo>
                    <a:pt x="88798" y="480317"/>
                  </a:lnTo>
                  <a:lnTo>
                    <a:pt x="75349" y="532906"/>
                  </a:lnTo>
                  <a:lnTo>
                    <a:pt x="62879" y="587544"/>
                  </a:lnTo>
                  <a:lnTo>
                    <a:pt x="51424" y="644128"/>
                  </a:lnTo>
                  <a:lnTo>
                    <a:pt x="41020" y="702554"/>
                  </a:lnTo>
                  <a:lnTo>
                    <a:pt x="31703" y="762720"/>
                  </a:lnTo>
                  <a:lnTo>
                    <a:pt x="23511" y="824522"/>
                  </a:lnTo>
                  <a:lnTo>
                    <a:pt x="16478" y="887856"/>
                  </a:lnTo>
                  <a:lnTo>
                    <a:pt x="10643" y="952620"/>
                  </a:lnTo>
                  <a:lnTo>
                    <a:pt x="6041" y="1018709"/>
                  </a:lnTo>
                  <a:lnTo>
                    <a:pt x="2709" y="1086021"/>
                  </a:lnTo>
                  <a:lnTo>
                    <a:pt x="683" y="1154452"/>
                  </a:lnTo>
                  <a:lnTo>
                    <a:pt x="0" y="1223898"/>
                  </a:lnTo>
                  <a:lnTo>
                    <a:pt x="683" y="1293358"/>
                  </a:lnTo>
                  <a:lnTo>
                    <a:pt x="2709" y="1361801"/>
                  </a:lnTo>
                  <a:lnTo>
                    <a:pt x="6041" y="1429123"/>
                  </a:lnTo>
                  <a:lnTo>
                    <a:pt x="10643" y="1495223"/>
                  </a:lnTo>
                  <a:lnTo>
                    <a:pt x="16478" y="1559996"/>
                  </a:lnTo>
                  <a:lnTo>
                    <a:pt x="23511" y="1623339"/>
                  </a:lnTo>
                  <a:lnTo>
                    <a:pt x="31703" y="1685148"/>
                  </a:lnTo>
                  <a:lnTo>
                    <a:pt x="41020" y="1745321"/>
                  </a:lnTo>
                  <a:lnTo>
                    <a:pt x="51424" y="1803755"/>
                  </a:lnTo>
                  <a:lnTo>
                    <a:pt x="62879" y="1860345"/>
                  </a:lnTo>
                  <a:lnTo>
                    <a:pt x="75349" y="1914988"/>
                  </a:lnTo>
                  <a:lnTo>
                    <a:pt x="88798" y="1967582"/>
                  </a:lnTo>
                  <a:lnTo>
                    <a:pt x="103188" y="2018022"/>
                  </a:lnTo>
                  <a:lnTo>
                    <a:pt x="118484" y="2066206"/>
                  </a:lnTo>
                  <a:lnTo>
                    <a:pt x="134648" y="2112030"/>
                  </a:lnTo>
                  <a:lnTo>
                    <a:pt x="151646" y="2155391"/>
                  </a:lnTo>
                  <a:lnTo>
                    <a:pt x="169439" y="2196185"/>
                  </a:lnTo>
                  <a:lnTo>
                    <a:pt x="187992" y="2234310"/>
                  </a:lnTo>
                  <a:lnTo>
                    <a:pt x="207269" y="2269662"/>
                  </a:lnTo>
                  <a:lnTo>
                    <a:pt x="227232" y="2302137"/>
                  </a:lnTo>
                  <a:lnTo>
                    <a:pt x="269074" y="2358044"/>
                  </a:lnTo>
                  <a:lnTo>
                    <a:pt x="313225" y="2401206"/>
                  </a:lnTo>
                  <a:lnTo>
                    <a:pt x="359396" y="2430796"/>
                  </a:lnTo>
                  <a:lnTo>
                    <a:pt x="407294" y="2445987"/>
                  </a:lnTo>
                  <a:lnTo>
                    <a:pt x="431800" y="2447924"/>
                  </a:lnTo>
                  <a:lnTo>
                    <a:pt x="456305" y="2445987"/>
                  </a:lnTo>
                  <a:lnTo>
                    <a:pt x="504203" y="2430796"/>
                  </a:lnTo>
                  <a:lnTo>
                    <a:pt x="550374" y="2401206"/>
                  </a:lnTo>
                  <a:lnTo>
                    <a:pt x="594525" y="2358044"/>
                  </a:lnTo>
                  <a:lnTo>
                    <a:pt x="636367" y="2302137"/>
                  </a:lnTo>
                  <a:lnTo>
                    <a:pt x="656330" y="2269662"/>
                  </a:lnTo>
                  <a:lnTo>
                    <a:pt x="675607" y="2234310"/>
                  </a:lnTo>
                  <a:lnTo>
                    <a:pt x="694160" y="2196185"/>
                  </a:lnTo>
                  <a:lnTo>
                    <a:pt x="711953" y="2155391"/>
                  </a:lnTo>
                  <a:lnTo>
                    <a:pt x="728951" y="2112030"/>
                  </a:lnTo>
                  <a:lnTo>
                    <a:pt x="745115" y="2066206"/>
                  </a:lnTo>
                  <a:lnTo>
                    <a:pt x="760411" y="2018022"/>
                  </a:lnTo>
                  <a:lnTo>
                    <a:pt x="774801" y="1967582"/>
                  </a:lnTo>
                  <a:lnTo>
                    <a:pt x="788250" y="1914988"/>
                  </a:lnTo>
                  <a:lnTo>
                    <a:pt x="800720" y="1860345"/>
                  </a:lnTo>
                  <a:lnTo>
                    <a:pt x="812175" y="1803755"/>
                  </a:lnTo>
                  <a:lnTo>
                    <a:pt x="822579" y="1745321"/>
                  </a:lnTo>
                  <a:lnTo>
                    <a:pt x="831896" y="1685148"/>
                  </a:lnTo>
                  <a:lnTo>
                    <a:pt x="840088" y="1623339"/>
                  </a:lnTo>
                  <a:lnTo>
                    <a:pt x="847121" y="1559996"/>
                  </a:lnTo>
                  <a:lnTo>
                    <a:pt x="852956" y="1495223"/>
                  </a:lnTo>
                  <a:lnTo>
                    <a:pt x="857558" y="1429123"/>
                  </a:lnTo>
                  <a:lnTo>
                    <a:pt x="860890" y="1361801"/>
                  </a:lnTo>
                  <a:lnTo>
                    <a:pt x="862916" y="1293358"/>
                  </a:lnTo>
                  <a:lnTo>
                    <a:pt x="863600" y="1223898"/>
                  </a:lnTo>
                  <a:lnTo>
                    <a:pt x="862916" y="1154452"/>
                  </a:lnTo>
                  <a:lnTo>
                    <a:pt x="860890" y="1086021"/>
                  </a:lnTo>
                  <a:lnTo>
                    <a:pt x="857558" y="1018709"/>
                  </a:lnTo>
                  <a:lnTo>
                    <a:pt x="852956" y="952620"/>
                  </a:lnTo>
                  <a:lnTo>
                    <a:pt x="847121" y="887856"/>
                  </a:lnTo>
                  <a:lnTo>
                    <a:pt x="840088" y="824522"/>
                  </a:lnTo>
                  <a:lnTo>
                    <a:pt x="831896" y="762720"/>
                  </a:lnTo>
                  <a:lnTo>
                    <a:pt x="822579" y="702554"/>
                  </a:lnTo>
                  <a:lnTo>
                    <a:pt x="812175" y="644128"/>
                  </a:lnTo>
                  <a:lnTo>
                    <a:pt x="800720" y="587544"/>
                  </a:lnTo>
                  <a:lnTo>
                    <a:pt x="788250" y="532906"/>
                  </a:lnTo>
                  <a:lnTo>
                    <a:pt x="774801" y="480317"/>
                  </a:lnTo>
                  <a:lnTo>
                    <a:pt x="760411" y="429881"/>
                  </a:lnTo>
                  <a:lnTo>
                    <a:pt x="745115" y="381701"/>
                  </a:lnTo>
                  <a:lnTo>
                    <a:pt x="728951" y="335880"/>
                  </a:lnTo>
                  <a:lnTo>
                    <a:pt x="711953" y="292522"/>
                  </a:lnTo>
                  <a:lnTo>
                    <a:pt x="694160" y="251730"/>
                  </a:lnTo>
                  <a:lnTo>
                    <a:pt x="675607" y="213607"/>
                  </a:lnTo>
                  <a:lnTo>
                    <a:pt x="656330" y="178257"/>
                  </a:lnTo>
                  <a:lnTo>
                    <a:pt x="636367" y="145784"/>
                  </a:lnTo>
                  <a:lnTo>
                    <a:pt x="594525" y="89878"/>
                  </a:lnTo>
                  <a:lnTo>
                    <a:pt x="550374" y="46717"/>
                  </a:lnTo>
                  <a:lnTo>
                    <a:pt x="504203" y="17128"/>
                  </a:lnTo>
                  <a:lnTo>
                    <a:pt x="456305" y="1937"/>
                  </a:lnTo>
                  <a:lnTo>
                    <a:pt x="431800" y="0"/>
                  </a:lnTo>
                  <a:close/>
                </a:path>
              </a:pathLst>
            </a:custGeom>
            <a:solidFill>
              <a:srgbClr val="00AFEF"/>
            </a:solidFill>
          </p:spPr>
          <p:txBody>
            <a:bodyPr wrap="square" lIns="0" tIns="0" rIns="0" bIns="0" rtlCol="0"/>
            <a:lstStyle/>
            <a:p>
              <a:endParaRPr/>
            </a:p>
          </p:txBody>
        </p:sp>
        <p:sp>
          <p:nvSpPr>
            <p:cNvPr id="7" name="object 7"/>
            <p:cNvSpPr/>
            <p:nvPr/>
          </p:nvSpPr>
          <p:spPr>
            <a:xfrm>
              <a:off x="3923538" y="1510919"/>
              <a:ext cx="863600" cy="2447925"/>
            </a:xfrm>
            <a:custGeom>
              <a:avLst/>
              <a:gdLst/>
              <a:ahLst/>
              <a:cxnLst/>
              <a:rect l="l" t="t" r="r" b="b"/>
              <a:pathLst>
                <a:path w="863600" h="2447925">
                  <a:moveTo>
                    <a:pt x="0" y="1223898"/>
                  </a:moveTo>
                  <a:lnTo>
                    <a:pt x="683" y="1154452"/>
                  </a:lnTo>
                  <a:lnTo>
                    <a:pt x="2709" y="1086021"/>
                  </a:lnTo>
                  <a:lnTo>
                    <a:pt x="6041" y="1018709"/>
                  </a:lnTo>
                  <a:lnTo>
                    <a:pt x="10643" y="952620"/>
                  </a:lnTo>
                  <a:lnTo>
                    <a:pt x="16478" y="887856"/>
                  </a:lnTo>
                  <a:lnTo>
                    <a:pt x="23511" y="824522"/>
                  </a:lnTo>
                  <a:lnTo>
                    <a:pt x="31703" y="762720"/>
                  </a:lnTo>
                  <a:lnTo>
                    <a:pt x="41020" y="702554"/>
                  </a:lnTo>
                  <a:lnTo>
                    <a:pt x="51424" y="644128"/>
                  </a:lnTo>
                  <a:lnTo>
                    <a:pt x="62879" y="587544"/>
                  </a:lnTo>
                  <a:lnTo>
                    <a:pt x="75349" y="532906"/>
                  </a:lnTo>
                  <a:lnTo>
                    <a:pt x="88798" y="480317"/>
                  </a:lnTo>
                  <a:lnTo>
                    <a:pt x="103188" y="429881"/>
                  </a:lnTo>
                  <a:lnTo>
                    <a:pt x="118484" y="381701"/>
                  </a:lnTo>
                  <a:lnTo>
                    <a:pt x="134648" y="335880"/>
                  </a:lnTo>
                  <a:lnTo>
                    <a:pt x="151646" y="292522"/>
                  </a:lnTo>
                  <a:lnTo>
                    <a:pt x="169439" y="251730"/>
                  </a:lnTo>
                  <a:lnTo>
                    <a:pt x="187992" y="213607"/>
                  </a:lnTo>
                  <a:lnTo>
                    <a:pt x="207269" y="178257"/>
                  </a:lnTo>
                  <a:lnTo>
                    <a:pt x="227232" y="145784"/>
                  </a:lnTo>
                  <a:lnTo>
                    <a:pt x="269074" y="89878"/>
                  </a:lnTo>
                  <a:lnTo>
                    <a:pt x="313225" y="46717"/>
                  </a:lnTo>
                  <a:lnTo>
                    <a:pt x="359396" y="17128"/>
                  </a:lnTo>
                  <a:lnTo>
                    <a:pt x="407294" y="1937"/>
                  </a:lnTo>
                  <a:lnTo>
                    <a:pt x="431800" y="0"/>
                  </a:lnTo>
                  <a:lnTo>
                    <a:pt x="456305" y="1937"/>
                  </a:lnTo>
                  <a:lnTo>
                    <a:pt x="504203" y="17128"/>
                  </a:lnTo>
                  <a:lnTo>
                    <a:pt x="550374" y="46717"/>
                  </a:lnTo>
                  <a:lnTo>
                    <a:pt x="594525" y="89878"/>
                  </a:lnTo>
                  <a:lnTo>
                    <a:pt x="636367" y="145784"/>
                  </a:lnTo>
                  <a:lnTo>
                    <a:pt x="656330" y="178257"/>
                  </a:lnTo>
                  <a:lnTo>
                    <a:pt x="675607" y="213607"/>
                  </a:lnTo>
                  <a:lnTo>
                    <a:pt x="694160" y="251730"/>
                  </a:lnTo>
                  <a:lnTo>
                    <a:pt x="711953" y="292522"/>
                  </a:lnTo>
                  <a:lnTo>
                    <a:pt x="728951" y="335880"/>
                  </a:lnTo>
                  <a:lnTo>
                    <a:pt x="745115" y="381701"/>
                  </a:lnTo>
                  <a:lnTo>
                    <a:pt x="760411" y="429881"/>
                  </a:lnTo>
                  <a:lnTo>
                    <a:pt x="774801" y="480317"/>
                  </a:lnTo>
                  <a:lnTo>
                    <a:pt x="788250" y="532906"/>
                  </a:lnTo>
                  <a:lnTo>
                    <a:pt x="800720" y="587544"/>
                  </a:lnTo>
                  <a:lnTo>
                    <a:pt x="812175" y="644128"/>
                  </a:lnTo>
                  <a:lnTo>
                    <a:pt x="822579" y="702554"/>
                  </a:lnTo>
                  <a:lnTo>
                    <a:pt x="831896" y="762720"/>
                  </a:lnTo>
                  <a:lnTo>
                    <a:pt x="840088" y="824522"/>
                  </a:lnTo>
                  <a:lnTo>
                    <a:pt x="847121" y="887856"/>
                  </a:lnTo>
                  <a:lnTo>
                    <a:pt x="852956" y="952620"/>
                  </a:lnTo>
                  <a:lnTo>
                    <a:pt x="857558" y="1018709"/>
                  </a:lnTo>
                  <a:lnTo>
                    <a:pt x="860890" y="1086021"/>
                  </a:lnTo>
                  <a:lnTo>
                    <a:pt x="862916" y="1154452"/>
                  </a:lnTo>
                  <a:lnTo>
                    <a:pt x="863600" y="1223898"/>
                  </a:lnTo>
                  <a:lnTo>
                    <a:pt x="862916" y="1293358"/>
                  </a:lnTo>
                  <a:lnTo>
                    <a:pt x="860890" y="1361801"/>
                  </a:lnTo>
                  <a:lnTo>
                    <a:pt x="857558" y="1429123"/>
                  </a:lnTo>
                  <a:lnTo>
                    <a:pt x="852956" y="1495223"/>
                  </a:lnTo>
                  <a:lnTo>
                    <a:pt x="847121" y="1559996"/>
                  </a:lnTo>
                  <a:lnTo>
                    <a:pt x="840088" y="1623339"/>
                  </a:lnTo>
                  <a:lnTo>
                    <a:pt x="831896" y="1685148"/>
                  </a:lnTo>
                  <a:lnTo>
                    <a:pt x="822579" y="1745321"/>
                  </a:lnTo>
                  <a:lnTo>
                    <a:pt x="812175" y="1803755"/>
                  </a:lnTo>
                  <a:lnTo>
                    <a:pt x="800720" y="1860345"/>
                  </a:lnTo>
                  <a:lnTo>
                    <a:pt x="788250" y="1914988"/>
                  </a:lnTo>
                  <a:lnTo>
                    <a:pt x="774801" y="1967582"/>
                  </a:lnTo>
                  <a:lnTo>
                    <a:pt x="760411" y="2018022"/>
                  </a:lnTo>
                  <a:lnTo>
                    <a:pt x="745115" y="2066206"/>
                  </a:lnTo>
                  <a:lnTo>
                    <a:pt x="728951" y="2112030"/>
                  </a:lnTo>
                  <a:lnTo>
                    <a:pt x="711953" y="2155391"/>
                  </a:lnTo>
                  <a:lnTo>
                    <a:pt x="694160" y="2196185"/>
                  </a:lnTo>
                  <a:lnTo>
                    <a:pt x="675607" y="2234310"/>
                  </a:lnTo>
                  <a:lnTo>
                    <a:pt x="656330" y="2269662"/>
                  </a:lnTo>
                  <a:lnTo>
                    <a:pt x="636367" y="2302137"/>
                  </a:lnTo>
                  <a:lnTo>
                    <a:pt x="594525" y="2358044"/>
                  </a:lnTo>
                  <a:lnTo>
                    <a:pt x="550374" y="2401206"/>
                  </a:lnTo>
                  <a:lnTo>
                    <a:pt x="504203" y="2430796"/>
                  </a:lnTo>
                  <a:lnTo>
                    <a:pt x="456305" y="2445987"/>
                  </a:lnTo>
                  <a:lnTo>
                    <a:pt x="431800" y="2447924"/>
                  </a:lnTo>
                  <a:lnTo>
                    <a:pt x="407294" y="2445987"/>
                  </a:lnTo>
                  <a:lnTo>
                    <a:pt x="359396" y="2430796"/>
                  </a:lnTo>
                  <a:lnTo>
                    <a:pt x="313225" y="2401206"/>
                  </a:lnTo>
                  <a:lnTo>
                    <a:pt x="269074" y="2358044"/>
                  </a:lnTo>
                  <a:lnTo>
                    <a:pt x="227232" y="2302137"/>
                  </a:lnTo>
                  <a:lnTo>
                    <a:pt x="207269" y="2269662"/>
                  </a:lnTo>
                  <a:lnTo>
                    <a:pt x="187992" y="2234310"/>
                  </a:lnTo>
                  <a:lnTo>
                    <a:pt x="169439" y="2196185"/>
                  </a:lnTo>
                  <a:lnTo>
                    <a:pt x="151646" y="2155391"/>
                  </a:lnTo>
                  <a:lnTo>
                    <a:pt x="134648" y="2112030"/>
                  </a:lnTo>
                  <a:lnTo>
                    <a:pt x="118484" y="2066206"/>
                  </a:lnTo>
                  <a:lnTo>
                    <a:pt x="103188" y="2018022"/>
                  </a:lnTo>
                  <a:lnTo>
                    <a:pt x="88798" y="1967582"/>
                  </a:lnTo>
                  <a:lnTo>
                    <a:pt x="75349" y="1914988"/>
                  </a:lnTo>
                  <a:lnTo>
                    <a:pt x="62879" y="1860345"/>
                  </a:lnTo>
                  <a:lnTo>
                    <a:pt x="51424" y="1803755"/>
                  </a:lnTo>
                  <a:lnTo>
                    <a:pt x="41020" y="1745321"/>
                  </a:lnTo>
                  <a:lnTo>
                    <a:pt x="31703" y="1685148"/>
                  </a:lnTo>
                  <a:lnTo>
                    <a:pt x="23511" y="1623339"/>
                  </a:lnTo>
                  <a:lnTo>
                    <a:pt x="16478" y="1559996"/>
                  </a:lnTo>
                  <a:lnTo>
                    <a:pt x="10643" y="1495223"/>
                  </a:lnTo>
                  <a:lnTo>
                    <a:pt x="6041" y="1429123"/>
                  </a:lnTo>
                  <a:lnTo>
                    <a:pt x="2709" y="1361801"/>
                  </a:lnTo>
                  <a:lnTo>
                    <a:pt x="683" y="1293358"/>
                  </a:lnTo>
                  <a:lnTo>
                    <a:pt x="0" y="1223898"/>
                  </a:lnTo>
                  <a:close/>
                </a:path>
              </a:pathLst>
            </a:custGeom>
            <a:ln w="9525">
              <a:solidFill>
                <a:srgbClr val="FF0000"/>
              </a:solidFill>
            </a:ln>
          </p:spPr>
          <p:txBody>
            <a:bodyPr wrap="square" lIns="0" tIns="0" rIns="0" bIns="0" rtlCol="0"/>
            <a:lstStyle/>
            <a:p>
              <a:endParaRPr/>
            </a:p>
          </p:txBody>
        </p:sp>
      </p:grpSp>
      <p:sp>
        <p:nvSpPr>
          <p:cNvPr id="8" name="object 8"/>
          <p:cNvSpPr txBox="1"/>
          <p:nvPr/>
        </p:nvSpPr>
        <p:spPr>
          <a:xfrm>
            <a:off x="4129532" y="1968905"/>
            <a:ext cx="381000" cy="1306195"/>
          </a:xfrm>
          <a:prstGeom prst="rect">
            <a:avLst/>
          </a:prstGeom>
        </p:spPr>
        <p:txBody>
          <a:bodyPr vert="horz" wrap="square" lIns="0" tIns="12700" rIns="0" bIns="0" rtlCol="0">
            <a:spAutoFit/>
          </a:bodyPr>
          <a:lstStyle/>
          <a:p>
            <a:pPr marL="12700" marR="5080">
              <a:lnSpc>
                <a:spcPct val="150100"/>
              </a:lnSpc>
              <a:spcBef>
                <a:spcPts val="100"/>
              </a:spcBef>
            </a:pPr>
            <a:r>
              <a:rPr sz="2800" b="1" spc="-50" dirty="0">
                <a:solidFill>
                  <a:srgbClr val="FFFFFF"/>
                </a:solidFill>
                <a:latin typeface="Microsoft JhengHei"/>
                <a:cs typeface="Microsoft JhengHei"/>
              </a:rPr>
              <a:t>筛域</a:t>
            </a:r>
            <a:endParaRPr sz="2800">
              <a:latin typeface="Microsoft JhengHei"/>
              <a:cs typeface="Microsoft JhengHei"/>
            </a:endParaRPr>
          </a:p>
        </p:txBody>
      </p:sp>
      <p:grpSp>
        <p:nvGrpSpPr>
          <p:cNvPr id="9" name="object 9"/>
          <p:cNvGrpSpPr/>
          <p:nvPr/>
        </p:nvGrpSpPr>
        <p:grpSpPr>
          <a:xfrm>
            <a:off x="318770" y="1461452"/>
            <a:ext cx="441325" cy="3799204"/>
            <a:chOff x="318770" y="1461452"/>
            <a:chExt cx="441325" cy="3799204"/>
          </a:xfrm>
        </p:grpSpPr>
        <p:sp>
          <p:nvSpPr>
            <p:cNvPr id="10" name="object 10"/>
            <p:cNvSpPr/>
            <p:nvPr/>
          </p:nvSpPr>
          <p:spPr>
            <a:xfrm>
              <a:off x="323532" y="1466214"/>
              <a:ext cx="287655" cy="2235200"/>
            </a:xfrm>
            <a:custGeom>
              <a:avLst/>
              <a:gdLst/>
              <a:ahLst/>
              <a:cxnLst/>
              <a:rect l="l" t="t" r="r" b="b"/>
              <a:pathLst>
                <a:path w="287655" h="2235200">
                  <a:moveTo>
                    <a:pt x="143662" y="0"/>
                  </a:moveTo>
                  <a:lnTo>
                    <a:pt x="105468" y="39922"/>
                  </a:lnTo>
                  <a:lnTo>
                    <a:pt x="87739" y="87828"/>
                  </a:lnTo>
                  <a:lnTo>
                    <a:pt x="71150" y="152588"/>
                  </a:lnTo>
                  <a:lnTo>
                    <a:pt x="63336" y="190872"/>
                  </a:lnTo>
                  <a:lnTo>
                    <a:pt x="55871" y="232870"/>
                  </a:lnTo>
                  <a:lnTo>
                    <a:pt x="48777" y="278415"/>
                  </a:lnTo>
                  <a:lnTo>
                    <a:pt x="42075" y="327342"/>
                  </a:lnTo>
                  <a:lnTo>
                    <a:pt x="35786" y="379483"/>
                  </a:lnTo>
                  <a:lnTo>
                    <a:pt x="29931" y="434673"/>
                  </a:lnTo>
                  <a:lnTo>
                    <a:pt x="24533" y="492745"/>
                  </a:lnTo>
                  <a:lnTo>
                    <a:pt x="19612" y="553531"/>
                  </a:lnTo>
                  <a:lnTo>
                    <a:pt x="15190" y="616867"/>
                  </a:lnTo>
                  <a:lnTo>
                    <a:pt x="11288" y="682585"/>
                  </a:lnTo>
                  <a:lnTo>
                    <a:pt x="7928" y="750519"/>
                  </a:lnTo>
                  <a:lnTo>
                    <a:pt x="5131" y="820502"/>
                  </a:lnTo>
                  <a:lnTo>
                    <a:pt x="2918" y="892368"/>
                  </a:lnTo>
                  <a:lnTo>
                    <a:pt x="1311" y="965951"/>
                  </a:lnTo>
                  <a:lnTo>
                    <a:pt x="331" y="1041083"/>
                  </a:lnTo>
                  <a:lnTo>
                    <a:pt x="0" y="1117600"/>
                  </a:lnTo>
                  <a:lnTo>
                    <a:pt x="331" y="1194116"/>
                  </a:lnTo>
                  <a:lnTo>
                    <a:pt x="1311" y="1269248"/>
                  </a:lnTo>
                  <a:lnTo>
                    <a:pt x="2918" y="1342831"/>
                  </a:lnTo>
                  <a:lnTo>
                    <a:pt x="5131" y="1414697"/>
                  </a:lnTo>
                  <a:lnTo>
                    <a:pt x="7928" y="1484680"/>
                  </a:lnTo>
                  <a:lnTo>
                    <a:pt x="11288" y="1552614"/>
                  </a:lnTo>
                  <a:lnTo>
                    <a:pt x="15190" y="1618332"/>
                  </a:lnTo>
                  <a:lnTo>
                    <a:pt x="19612" y="1681668"/>
                  </a:lnTo>
                  <a:lnTo>
                    <a:pt x="24533" y="1742454"/>
                  </a:lnTo>
                  <a:lnTo>
                    <a:pt x="29931" y="1800526"/>
                  </a:lnTo>
                  <a:lnTo>
                    <a:pt x="35786" y="1855716"/>
                  </a:lnTo>
                  <a:lnTo>
                    <a:pt x="42075" y="1907857"/>
                  </a:lnTo>
                  <a:lnTo>
                    <a:pt x="48777" y="1956784"/>
                  </a:lnTo>
                  <a:lnTo>
                    <a:pt x="55871" y="2002329"/>
                  </a:lnTo>
                  <a:lnTo>
                    <a:pt x="63336" y="2044327"/>
                  </a:lnTo>
                  <a:lnTo>
                    <a:pt x="71150" y="2082611"/>
                  </a:lnTo>
                  <a:lnTo>
                    <a:pt x="87739" y="2147371"/>
                  </a:lnTo>
                  <a:lnTo>
                    <a:pt x="105468" y="2195277"/>
                  </a:lnTo>
                  <a:lnTo>
                    <a:pt x="133825" y="2232621"/>
                  </a:lnTo>
                  <a:lnTo>
                    <a:pt x="143662" y="2235200"/>
                  </a:lnTo>
                  <a:lnTo>
                    <a:pt x="153499" y="2232621"/>
                  </a:lnTo>
                  <a:lnTo>
                    <a:pt x="181856" y="2195277"/>
                  </a:lnTo>
                  <a:lnTo>
                    <a:pt x="199587" y="2147371"/>
                  </a:lnTo>
                  <a:lnTo>
                    <a:pt x="216177" y="2082611"/>
                  </a:lnTo>
                  <a:lnTo>
                    <a:pt x="223992" y="2044327"/>
                  </a:lnTo>
                  <a:lnTo>
                    <a:pt x="231457" y="2002329"/>
                  </a:lnTo>
                  <a:lnTo>
                    <a:pt x="238552" y="1956784"/>
                  </a:lnTo>
                  <a:lnTo>
                    <a:pt x="245256" y="1907857"/>
                  </a:lnTo>
                  <a:lnTo>
                    <a:pt x="251545" y="1855716"/>
                  </a:lnTo>
                  <a:lnTo>
                    <a:pt x="257400" y="1800526"/>
                  </a:lnTo>
                  <a:lnTo>
                    <a:pt x="262800" y="1742454"/>
                  </a:lnTo>
                  <a:lnTo>
                    <a:pt x="267721" y="1681668"/>
                  </a:lnTo>
                  <a:lnTo>
                    <a:pt x="272144" y="1618332"/>
                  </a:lnTo>
                  <a:lnTo>
                    <a:pt x="276046" y="1552614"/>
                  </a:lnTo>
                  <a:lnTo>
                    <a:pt x="279407" y="1484680"/>
                  </a:lnTo>
                  <a:lnTo>
                    <a:pt x="282205" y="1414697"/>
                  </a:lnTo>
                  <a:lnTo>
                    <a:pt x="284418" y="1342831"/>
                  </a:lnTo>
                  <a:lnTo>
                    <a:pt x="286025" y="1269248"/>
                  </a:lnTo>
                  <a:lnTo>
                    <a:pt x="287006" y="1194116"/>
                  </a:lnTo>
                  <a:lnTo>
                    <a:pt x="287337" y="1117600"/>
                  </a:lnTo>
                  <a:lnTo>
                    <a:pt x="287006" y="1041083"/>
                  </a:lnTo>
                  <a:lnTo>
                    <a:pt x="286025" y="965951"/>
                  </a:lnTo>
                  <a:lnTo>
                    <a:pt x="284418" y="892368"/>
                  </a:lnTo>
                  <a:lnTo>
                    <a:pt x="282205" y="820502"/>
                  </a:lnTo>
                  <a:lnTo>
                    <a:pt x="279407" y="750519"/>
                  </a:lnTo>
                  <a:lnTo>
                    <a:pt x="276046" y="682585"/>
                  </a:lnTo>
                  <a:lnTo>
                    <a:pt x="272144" y="616867"/>
                  </a:lnTo>
                  <a:lnTo>
                    <a:pt x="267721" y="553531"/>
                  </a:lnTo>
                  <a:lnTo>
                    <a:pt x="262800" y="492745"/>
                  </a:lnTo>
                  <a:lnTo>
                    <a:pt x="257400" y="434673"/>
                  </a:lnTo>
                  <a:lnTo>
                    <a:pt x="251545" y="379483"/>
                  </a:lnTo>
                  <a:lnTo>
                    <a:pt x="245256" y="327342"/>
                  </a:lnTo>
                  <a:lnTo>
                    <a:pt x="238552" y="278415"/>
                  </a:lnTo>
                  <a:lnTo>
                    <a:pt x="231457" y="232870"/>
                  </a:lnTo>
                  <a:lnTo>
                    <a:pt x="223992" y="190872"/>
                  </a:lnTo>
                  <a:lnTo>
                    <a:pt x="216177" y="152588"/>
                  </a:lnTo>
                  <a:lnTo>
                    <a:pt x="199587" y="87828"/>
                  </a:lnTo>
                  <a:lnTo>
                    <a:pt x="181856" y="39922"/>
                  </a:lnTo>
                  <a:lnTo>
                    <a:pt x="153499" y="2578"/>
                  </a:lnTo>
                  <a:lnTo>
                    <a:pt x="143662" y="0"/>
                  </a:lnTo>
                  <a:close/>
                </a:path>
              </a:pathLst>
            </a:custGeom>
            <a:solidFill>
              <a:srgbClr val="00AFEF"/>
            </a:solidFill>
          </p:spPr>
          <p:txBody>
            <a:bodyPr wrap="square" lIns="0" tIns="0" rIns="0" bIns="0" rtlCol="0"/>
            <a:lstStyle/>
            <a:p>
              <a:endParaRPr/>
            </a:p>
          </p:txBody>
        </p:sp>
        <p:sp>
          <p:nvSpPr>
            <p:cNvPr id="11" name="object 11"/>
            <p:cNvSpPr/>
            <p:nvPr/>
          </p:nvSpPr>
          <p:spPr>
            <a:xfrm>
              <a:off x="323532" y="1466214"/>
              <a:ext cx="287655" cy="2235200"/>
            </a:xfrm>
            <a:custGeom>
              <a:avLst/>
              <a:gdLst/>
              <a:ahLst/>
              <a:cxnLst/>
              <a:rect l="l" t="t" r="r" b="b"/>
              <a:pathLst>
                <a:path w="287655" h="2235200">
                  <a:moveTo>
                    <a:pt x="0" y="1117600"/>
                  </a:moveTo>
                  <a:lnTo>
                    <a:pt x="331" y="1041083"/>
                  </a:lnTo>
                  <a:lnTo>
                    <a:pt x="1311" y="965951"/>
                  </a:lnTo>
                  <a:lnTo>
                    <a:pt x="2918" y="892368"/>
                  </a:lnTo>
                  <a:lnTo>
                    <a:pt x="5131" y="820502"/>
                  </a:lnTo>
                  <a:lnTo>
                    <a:pt x="7928" y="750519"/>
                  </a:lnTo>
                  <a:lnTo>
                    <a:pt x="11288" y="682585"/>
                  </a:lnTo>
                  <a:lnTo>
                    <a:pt x="15190" y="616867"/>
                  </a:lnTo>
                  <a:lnTo>
                    <a:pt x="19612" y="553531"/>
                  </a:lnTo>
                  <a:lnTo>
                    <a:pt x="24533" y="492745"/>
                  </a:lnTo>
                  <a:lnTo>
                    <a:pt x="29931" y="434673"/>
                  </a:lnTo>
                  <a:lnTo>
                    <a:pt x="35786" y="379483"/>
                  </a:lnTo>
                  <a:lnTo>
                    <a:pt x="42075" y="327342"/>
                  </a:lnTo>
                  <a:lnTo>
                    <a:pt x="48777" y="278415"/>
                  </a:lnTo>
                  <a:lnTo>
                    <a:pt x="55871" y="232870"/>
                  </a:lnTo>
                  <a:lnTo>
                    <a:pt x="63336" y="190872"/>
                  </a:lnTo>
                  <a:lnTo>
                    <a:pt x="71150" y="152588"/>
                  </a:lnTo>
                  <a:lnTo>
                    <a:pt x="87739" y="87828"/>
                  </a:lnTo>
                  <a:lnTo>
                    <a:pt x="105468" y="39922"/>
                  </a:lnTo>
                  <a:lnTo>
                    <a:pt x="133825" y="2578"/>
                  </a:lnTo>
                  <a:lnTo>
                    <a:pt x="143662" y="0"/>
                  </a:lnTo>
                  <a:lnTo>
                    <a:pt x="153499" y="2578"/>
                  </a:lnTo>
                  <a:lnTo>
                    <a:pt x="181856" y="39922"/>
                  </a:lnTo>
                  <a:lnTo>
                    <a:pt x="199587" y="87828"/>
                  </a:lnTo>
                  <a:lnTo>
                    <a:pt x="216177" y="152588"/>
                  </a:lnTo>
                  <a:lnTo>
                    <a:pt x="223992" y="190872"/>
                  </a:lnTo>
                  <a:lnTo>
                    <a:pt x="231457" y="232870"/>
                  </a:lnTo>
                  <a:lnTo>
                    <a:pt x="238552" y="278415"/>
                  </a:lnTo>
                  <a:lnTo>
                    <a:pt x="245256" y="327342"/>
                  </a:lnTo>
                  <a:lnTo>
                    <a:pt x="251545" y="379483"/>
                  </a:lnTo>
                  <a:lnTo>
                    <a:pt x="257400" y="434673"/>
                  </a:lnTo>
                  <a:lnTo>
                    <a:pt x="262800" y="492745"/>
                  </a:lnTo>
                  <a:lnTo>
                    <a:pt x="267721" y="553531"/>
                  </a:lnTo>
                  <a:lnTo>
                    <a:pt x="272144" y="616867"/>
                  </a:lnTo>
                  <a:lnTo>
                    <a:pt x="276046" y="682585"/>
                  </a:lnTo>
                  <a:lnTo>
                    <a:pt x="279407" y="750519"/>
                  </a:lnTo>
                  <a:lnTo>
                    <a:pt x="282205" y="820502"/>
                  </a:lnTo>
                  <a:lnTo>
                    <a:pt x="284418" y="892368"/>
                  </a:lnTo>
                  <a:lnTo>
                    <a:pt x="286025" y="965951"/>
                  </a:lnTo>
                  <a:lnTo>
                    <a:pt x="287006" y="1041083"/>
                  </a:lnTo>
                  <a:lnTo>
                    <a:pt x="287337" y="1117600"/>
                  </a:lnTo>
                  <a:lnTo>
                    <a:pt x="287006" y="1194116"/>
                  </a:lnTo>
                  <a:lnTo>
                    <a:pt x="286025" y="1269248"/>
                  </a:lnTo>
                  <a:lnTo>
                    <a:pt x="284418" y="1342831"/>
                  </a:lnTo>
                  <a:lnTo>
                    <a:pt x="282205" y="1414697"/>
                  </a:lnTo>
                  <a:lnTo>
                    <a:pt x="279407" y="1484680"/>
                  </a:lnTo>
                  <a:lnTo>
                    <a:pt x="276046" y="1552614"/>
                  </a:lnTo>
                  <a:lnTo>
                    <a:pt x="272144" y="1618332"/>
                  </a:lnTo>
                  <a:lnTo>
                    <a:pt x="267721" y="1681668"/>
                  </a:lnTo>
                  <a:lnTo>
                    <a:pt x="262800" y="1742454"/>
                  </a:lnTo>
                  <a:lnTo>
                    <a:pt x="257400" y="1800526"/>
                  </a:lnTo>
                  <a:lnTo>
                    <a:pt x="251545" y="1855716"/>
                  </a:lnTo>
                  <a:lnTo>
                    <a:pt x="245256" y="1907857"/>
                  </a:lnTo>
                  <a:lnTo>
                    <a:pt x="238552" y="1956784"/>
                  </a:lnTo>
                  <a:lnTo>
                    <a:pt x="231457" y="2002329"/>
                  </a:lnTo>
                  <a:lnTo>
                    <a:pt x="223992" y="2044327"/>
                  </a:lnTo>
                  <a:lnTo>
                    <a:pt x="216177" y="2082611"/>
                  </a:lnTo>
                  <a:lnTo>
                    <a:pt x="199587" y="2147371"/>
                  </a:lnTo>
                  <a:lnTo>
                    <a:pt x="181856" y="2195277"/>
                  </a:lnTo>
                  <a:lnTo>
                    <a:pt x="153499" y="2232621"/>
                  </a:lnTo>
                  <a:lnTo>
                    <a:pt x="143662" y="2235200"/>
                  </a:lnTo>
                  <a:lnTo>
                    <a:pt x="133825" y="2232621"/>
                  </a:lnTo>
                  <a:lnTo>
                    <a:pt x="105468" y="2195277"/>
                  </a:lnTo>
                  <a:lnTo>
                    <a:pt x="87739" y="2147371"/>
                  </a:lnTo>
                  <a:lnTo>
                    <a:pt x="71150" y="2082611"/>
                  </a:lnTo>
                  <a:lnTo>
                    <a:pt x="63336" y="2044327"/>
                  </a:lnTo>
                  <a:lnTo>
                    <a:pt x="55871" y="2002329"/>
                  </a:lnTo>
                  <a:lnTo>
                    <a:pt x="48777" y="1956784"/>
                  </a:lnTo>
                  <a:lnTo>
                    <a:pt x="42075" y="1907857"/>
                  </a:lnTo>
                  <a:lnTo>
                    <a:pt x="35786" y="1855716"/>
                  </a:lnTo>
                  <a:lnTo>
                    <a:pt x="29931" y="1800526"/>
                  </a:lnTo>
                  <a:lnTo>
                    <a:pt x="24533" y="1742454"/>
                  </a:lnTo>
                  <a:lnTo>
                    <a:pt x="19612" y="1681668"/>
                  </a:lnTo>
                  <a:lnTo>
                    <a:pt x="15190" y="1618332"/>
                  </a:lnTo>
                  <a:lnTo>
                    <a:pt x="11288" y="1552614"/>
                  </a:lnTo>
                  <a:lnTo>
                    <a:pt x="7928" y="1484680"/>
                  </a:lnTo>
                  <a:lnTo>
                    <a:pt x="5131" y="1414697"/>
                  </a:lnTo>
                  <a:lnTo>
                    <a:pt x="2918" y="1342831"/>
                  </a:lnTo>
                  <a:lnTo>
                    <a:pt x="1311" y="1269248"/>
                  </a:lnTo>
                  <a:lnTo>
                    <a:pt x="331" y="1194116"/>
                  </a:lnTo>
                  <a:lnTo>
                    <a:pt x="0" y="1117600"/>
                  </a:lnTo>
                  <a:close/>
                </a:path>
              </a:pathLst>
            </a:custGeom>
            <a:ln w="9525">
              <a:solidFill>
                <a:srgbClr val="000000"/>
              </a:solidFill>
            </a:ln>
          </p:spPr>
          <p:txBody>
            <a:bodyPr wrap="square" lIns="0" tIns="0" rIns="0" bIns="0" rtlCol="0"/>
            <a:lstStyle/>
            <a:p>
              <a:endParaRPr/>
            </a:p>
          </p:txBody>
        </p:sp>
        <p:sp>
          <p:nvSpPr>
            <p:cNvPr id="12" name="object 12"/>
            <p:cNvSpPr/>
            <p:nvPr/>
          </p:nvSpPr>
          <p:spPr>
            <a:xfrm>
              <a:off x="466407" y="2993389"/>
              <a:ext cx="288925" cy="2262505"/>
            </a:xfrm>
            <a:custGeom>
              <a:avLst/>
              <a:gdLst/>
              <a:ahLst/>
              <a:cxnLst/>
              <a:rect l="l" t="t" r="r" b="b"/>
              <a:pathLst>
                <a:path w="288925" h="2262504">
                  <a:moveTo>
                    <a:pt x="144462" y="0"/>
                  </a:moveTo>
                  <a:lnTo>
                    <a:pt x="106055" y="40408"/>
                  </a:lnTo>
                  <a:lnTo>
                    <a:pt x="88227" y="88898"/>
                  </a:lnTo>
                  <a:lnTo>
                    <a:pt x="71545" y="154446"/>
                  </a:lnTo>
                  <a:lnTo>
                    <a:pt x="63687" y="193196"/>
                  </a:lnTo>
                  <a:lnTo>
                    <a:pt x="56181" y="235705"/>
                  </a:lnTo>
                  <a:lnTo>
                    <a:pt x="49048" y="281805"/>
                  </a:lnTo>
                  <a:lnTo>
                    <a:pt x="42308" y="331327"/>
                  </a:lnTo>
                  <a:lnTo>
                    <a:pt x="35984" y="384102"/>
                  </a:lnTo>
                  <a:lnTo>
                    <a:pt x="30097" y="439963"/>
                  </a:lnTo>
                  <a:lnTo>
                    <a:pt x="24669" y="498741"/>
                  </a:lnTo>
                  <a:lnTo>
                    <a:pt x="19721" y="560267"/>
                  </a:lnTo>
                  <a:lnTo>
                    <a:pt x="15274" y="624373"/>
                  </a:lnTo>
                  <a:lnTo>
                    <a:pt x="11351" y="690889"/>
                  </a:lnTo>
                  <a:lnTo>
                    <a:pt x="7972" y="759649"/>
                  </a:lnTo>
                  <a:lnTo>
                    <a:pt x="5159" y="830482"/>
                  </a:lnTo>
                  <a:lnTo>
                    <a:pt x="2934" y="903222"/>
                  </a:lnTo>
                  <a:lnTo>
                    <a:pt x="1318" y="977698"/>
                  </a:lnTo>
                  <a:lnTo>
                    <a:pt x="333" y="1053743"/>
                  </a:lnTo>
                  <a:lnTo>
                    <a:pt x="0" y="1131189"/>
                  </a:lnTo>
                  <a:lnTo>
                    <a:pt x="333" y="1208619"/>
                  </a:lnTo>
                  <a:lnTo>
                    <a:pt x="1318" y="1284650"/>
                  </a:lnTo>
                  <a:lnTo>
                    <a:pt x="2934" y="1359113"/>
                  </a:lnTo>
                  <a:lnTo>
                    <a:pt x="5159" y="1431841"/>
                  </a:lnTo>
                  <a:lnTo>
                    <a:pt x="7972" y="1502664"/>
                  </a:lnTo>
                  <a:lnTo>
                    <a:pt x="11351" y="1571414"/>
                  </a:lnTo>
                  <a:lnTo>
                    <a:pt x="15274" y="1637922"/>
                  </a:lnTo>
                  <a:lnTo>
                    <a:pt x="19721" y="1702021"/>
                  </a:lnTo>
                  <a:lnTo>
                    <a:pt x="24669" y="1763540"/>
                  </a:lnTo>
                  <a:lnTo>
                    <a:pt x="30097" y="1822312"/>
                  </a:lnTo>
                  <a:lnTo>
                    <a:pt x="35984" y="1878168"/>
                  </a:lnTo>
                  <a:lnTo>
                    <a:pt x="42308" y="1930939"/>
                  </a:lnTo>
                  <a:lnTo>
                    <a:pt x="49048" y="1980458"/>
                  </a:lnTo>
                  <a:lnTo>
                    <a:pt x="56181" y="2026555"/>
                  </a:lnTo>
                  <a:lnTo>
                    <a:pt x="63687" y="2069061"/>
                  </a:lnTo>
                  <a:lnTo>
                    <a:pt x="71545" y="2107809"/>
                  </a:lnTo>
                  <a:lnTo>
                    <a:pt x="88227" y="2173354"/>
                  </a:lnTo>
                  <a:lnTo>
                    <a:pt x="106055" y="2221842"/>
                  </a:lnTo>
                  <a:lnTo>
                    <a:pt x="134570" y="2259641"/>
                  </a:lnTo>
                  <a:lnTo>
                    <a:pt x="144462" y="2262251"/>
                  </a:lnTo>
                  <a:lnTo>
                    <a:pt x="154352" y="2259641"/>
                  </a:lnTo>
                  <a:lnTo>
                    <a:pt x="182865" y="2221842"/>
                  </a:lnTo>
                  <a:lnTo>
                    <a:pt x="200692" y="2173354"/>
                  </a:lnTo>
                  <a:lnTo>
                    <a:pt x="217374" y="2107809"/>
                  </a:lnTo>
                  <a:lnTo>
                    <a:pt x="225231" y="2069061"/>
                  </a:lnTo>
                  <a:lnTo>
                    <a:pt x="232737" y="2026555"/>
                  </a:lnTo>
                  <a:lnTo>
                    <a:pt x="239871" y="1980458"/>
                  </a:lnTo>
                  <a:lnTo>
                    <a:pt x="246611" y="1930939"/>
                  </a:lnTo>
                  <a:lnTo>
                    <a:pt x="252936" y="1878168"/>
                  </a:lnTo>
                  <a:lnTo>
                    <a:pt x="258823" y="1822312"/>
                  </a:lnTo>
                  <a:lnTo>
                    <a:pt x="264252" y="1763540"/>
                  </a:lnTo>
                  <a:lnTo>
                    <a:pt x="269200" y="1702021"/>
                  </a:lnTo>
                  <a:lnTo>
                    <a:pt x="273648" y="1637922"/>
                  </a:lnTo>
                  <a:lnTo>
                    <a:pt x="277571" y="1571414"/>
                  </a:lnTo>
                  <a:lnTo>
                    <a:pt x="280951" y="1502664"/>
                  </a:lnTo>
                  <a:lnTo>
                    <a:pt x="283764" y="1431841"/>
                  </a:lnTo>
                  <a:lnTo>
                    <a:pt x="285989" y="1359113"/>
                  </a:lnTo>
                  <a:lnTo>
                    <a:pt x="287606" y="1284650"/>
                  </a:lnTo>
                  <a:lnTo>
                    <a:pt x="288591" y="1208619"/>
                  </a:lnTo>
                  <a:lnTo>
                    <a:pt x="288925" y="1131189"/>
                  </a:lnTo>
                  <a:lnTo>
                    <a:pt x="288591" y="1053743"/>
                  </a:lnTo>
                  <a:lnTo>
                    <a:pt x="287606" y="977698"/>
                  </a:lnTo>
                  <a:lnTo>
                    <a:pt x="285989" y="903222"/>
                  </a:lnTo>
                  <a:lnTo>
                    <a:pt x="283764" y="830482"/>
                  </a:lnTo>
                  <a:lnTo>
                    <a:pt x="280951" y="759649"/>
                  </a:lnTo>
                  <a:lnTo>
                    <a:pt x="277571" y="690889"/>
                  </a:lnTo>
                  <a:lnTo>
                    <a:pt x="273648" y="624373"/>
                  </a:lnTo>
                  <a:lnTo>
                    <a:pt x="269200" y="560267"/>
                  </a:lnTo>
                  <a:lnTo>
                    <a:pt x="264252" y="498741"/>
                  </a:lnTo>
                  <a:lnTo>
                    <a:pt x="258823" y="439963"/>
                  </a:lnTo>
                  <a:lnTo>
                    <a:pt x="252936" y="384102"/>
                  </a:lnTo>
                  <a:lnTo>
                    <a:pt x="246611" y="331327"/>
                  </a:lnTo>
                  <a:lnTo>
                    <a:pt x="239871" y="281805"/>
                  </a:lnTo>
                  <a:lnTo>
                    <a:pt x="232737" y="235705"/>
                  </a:lnTo>
                  <a:lnTo>
                    <a:pt x="225231" y="193196"/>
                  </a:lnTo>
                  <a:lnTo>
                    <a:pt x="217374" y="154446"/>
                  </a:lnTo>
                  <a:lnTo>
                    <a:pt x="200692" y="88898"/>
                  </a:lnTo>
                  <a:lnTo>
                    <a:pt x="182865" y="40408"/>
                  </a:lnTo>
                  <a:lnTo>
                    <a:pt x="154352" y="2609"/>
                  </a:lnTo>
                  <a:lnTo>
                    <a:pt x="144462" y="0"/>
                  </a:lnTo>
                  <a:close/>
                </a:path>
              </a:pathLst>
            </a:custGeom>
            <a:solidFill>
              <a:srgbClr val="00AFEF"/>
            </a:solidFill>
          </p:spPr>
          <p:txBody>
            <a:bodyPr wrap="square" lIns="0" tIns="0" rIns="0" bIns="0" rtlCol="0"/>
            <a:lstStyle/>
            <a:p>
              <a:endParaRPr/>
            </a:p>
          </p:txBody>
        </p:sp>
        <p:sp>
          <p:nvSpPr>
            <p:cNvPr id="13" name="object 13"/>
            <p:cNvSpPr/>
            <p:nvPr/>
          </p:nvSpPr>
          <p:spPr>
            <a:xfrm>
              <a:off x="466407" y="2993389"/>
              <a:ext cx="288925" cy="2262505"/>
            </a:xfrm>
            <a:custGeom>
              <a:avLst/>
              <a:gdLst/>
              <a:ahLst/>
              <a:cxnLst/>
              <a:rect l="l" t="t" r="r" b="b"/>
              <a:pathLst>
                <a:path w="288925" h="2262504">
                  <a:moveTo>
                    <a:pt x="0" y="1131189"/>
                  </a:moveTo>
                  <a:lnTo>
                    <a:pt x="333" y="1053743"/>
                  </a:lnTo>
                  <a:lnTo>
                    <a:pt x="1318" y="977698"/>
                  </a:lnTo>
                  <a:lnTo>
                    <a:pt x="2934" y="903222"/>
                  </a:lnTo>
                  <a:lnTo>
                    <a:pt x="5159" y="830482"/>
                  </a:lnTo>
                  <a:lnTo>
                    <a:pt x="7972" y="759649"/>
                  </a:lnTo>
                  <a:lnTo>
                    <a:pt x="11351" y="690889"/>
                  </a:lnTo>
                  <a:lnTo>
                    <a:pt x="15274" y="624373"/>
                  </a:lnTo>
                  <a:lnTo>
                    <a:pt x="19721" y="560267"/>
                  </a:lnTo>
                  <a:lnTo>
                    <a:pt x="24669" y="498741"/>
                  </a:lnTo>
                  <a:lnTo>
                    <a:pt x="30097" y="439963"/>
                  </a:lnTo>
                  <a:lnTo>
                    <a:pt x="35984" y="384102"/>
                  </a:lnTo>
                  <a:lnTo>
                    <a:pt x="42308" y="331327"/>
                  </a:lnTo>
                  <a:lnTo>
                    <a:pt x="49048" y="281805"/>
                  </a:lnTo>
                  <a:lnTo>
                    <a:pt x="56181" y="235705"/>
                  </a:lnTo>
                  <a:lnTo>
                    <a:pt x="63687" y="193196"/>
                  </a:lnTo>
                  <a:lnTo>
                    <a:pt x="71545" y="154446"/>
                  </a:lnTo>
                  <a:lnTo>
                    <a:pt x="88227" y="88898"/>
                  </a:lnTo>
                  <a:lnTo>
                    <a:pt x="106055" y="40408"/>
                  </a:lnTo>
                  <a:lnTo>
                    <a:pt x="134570" y="2609"/>
                  </a:lnTo>
                  <a:lnTo>
                    <a:pt x="144462" y="0"/>
                  </a:lnTo>
                  <a:lnTo>
                    <a:pt x="154352" y="2609"/>
                  </a:lnTo>
                  <a:lnTo>
                    <a:pt x="182865" y="40408"/>
                  </a:lnTo>
                  <a:lnTo>
                    <a:pt x="200692" y="88898"/>
                  </a:lnTo>
                  <a:lnTo>
                    <a:pt x="217374" y="154446"/>
                  </a:lnTo>
                  <a:lnTo>
                    <a:pt x="225231" y="193196"/>
                  </a:lnTo>
                  <a:lnTo>
                    <a:pt x="232737" y="235705"/>
                  </a:lnTo>
                  <a:lnTo>
                    <a:pt x="239871" y="281805"/>
                  </a:lnTo>
                  <a:lnTo>
                    <a:pt x="246611" y="331327"/>
                  </a:lnTo>
                  <a:lnTo>
                    <a:pt x="252936" y="384102"/>
                  </a:lnTo>
                  <a:lnTo>
                    <a:pt x="258823" y="439963"/>
                  </a:lnTo>
                  <a:lnTo>
                    <a:pt x="264252" y="498741"/>
                  </a:lnTo>
                  <a:lnTo>
                    <a:pt x="269200" y="560267"/>
                  </a:lnTo>
                  <a:lnTo>
                    <a:pt x="273648" y="624373"/>
                  </a:lnTo>
                  <a:lnTo>
                    <a:pt x="277571" y="690889"/>
                  </a:lnTo>
                  <a:lnTo>
                    <a:pt x="280951" y="759649"/>
                  </a:lnTo>
                  <a:lnTo>
                    <a:pt x="283764" y="830482"/>
                  </a:lnTo>
                  <a:lnTo>
                    <a:pt x="285989" y="903222"/>
                  </a:lnTo>
                  <a:lnTo>
                    <a:pt x="287606" y="977698"/>
                  </a:lnTo>
                  <a:lnTo>
                    <a:pt x="288591" y="1053743"/>
                  </a:lnTo>
                  <a:lnTo>
                    <a:pt x="288925" y="1131189"/>
                  </a:lnTo>
                  <a:lnTo>
                    <a:pt x="288591" y="1208619"/>
                  </a:lnTo>
                  <a:lnTo>
                    <a:pt x="287606" y="1284650"/>
                  </a:lnTo>
                  <a:lnTo>
                    <a:pt x="285989" y="1359113"/>
                  </a:lnTo>
                  <a:lnTo>
                    <a:pt x="283764" y="1431841"/>
                  </a:lnTo>
                  <a:lnTo>
                    <a:pt x="280951" y="1502664"/>
                  </a:lnTo>
                  <a:lnTo>
                    <a:pt x="277571" y="1571414"/>
                  </a:lnTo>
                  <a:lnTo>
                    <a:pt x="273648" y="1637922"/>
                  </a:lnTo>
                  <a:lnTo>
                    <a:pt x="269200" y="1702021"/>
                  </a:lnTo>
                  <a:lnTo>
                    <a:pt x="264252" y="1763540"/>
                  </a:lnTo>
                  <a:lnTo>
                    <a:pt x="258823" y="1822312"/>
                  </a:lnTo>
                  <a:lnTo>
                    <a:pt x="252936" y="1878168"/>
                  </a:lnTo>
                  <a:lnTo>
                    <a:pt x="246611" y="1930939"/>
                  </a:lnTo>
                  <a:lnTo>
                    <a:pt x="239871" y="1980458"/>
                  </a:lnTo>
                  <a:lnTo>
                    <a:pt x="232737" y="2026555"/>
                  </a:lnTo>
                  <a:lnTo>
                    <a:pt x="225231" y="2069061"/>
                  </a:lnTo>
                  <a:lnTo>
                    <a:pt x="217374" y="2107809"/>
                  </a:lnTo>
                  <a:lnTo>
                    <a:pt x="200692" y="2173354"/>
                  </a:lnTo>
                  <a:lnTo>
                    <a:pt x="182865" y="2221842"/>
                  </a:lnTo>
                  <a:lnTo>
                    <a:pt x="154352" y="2259641"/>
                  </a:lnTo>
                  <a:lnTo>
                    <a:pt x="144462" y="2262251"/>
                  </a:lnTo>
                  <a:lnTo>
                    <a:pt x="134570" y="2259641"/>
                  </a:lnTo>
                  <a:lnTo>
                    <a:pt x="106055" y="2221842"/>
                  </a:lnTo>
                  <a:lnTo>
                    <a:pt x="88227" y="2173354"/>
                  </a:lnTo>
                  <a:lnTo>
                    <a:pt x="71545" y="2107809"/>
                  </a:lnTo>
                  <a:lnTo>
                    <a:pt x="63687" y="2069061"/>
                  </a:lnTo>
                  <a:lnTo>
                    <a:pt x="56181" y="2026555"/>
                  </a:lnTo>
                  <a:lnTo>
                    <a:pt x="49048" y="1980458"/>
                  </a:lnTo>
                  <a:lnTo>
                    <a:pt x="42308" y="1930939"/>
                  </a:lnTo>
                  <a:lnTo>
                    <a:pt x="35984" y="1878168"/>
                  </a:lnTo>
                  <a:lnTo>
                    <a:pt x="30097" y="1822312"/>
                  </a:lnTo>
                  <a:lnTo>
                    <a:pt x="24669" y="1763540"/>
                  </a:lnTo>
                  <a:lnTo>
                    <a:pt x="19721" y="1702021"/>
                  </a:lnTo>
                  <a:lnTo>
                    <a:pt x="15274" y="1637922"/>
                  </a:lnTo>
                  <a:lnTo>
                    <a:pt x="11351" y="1571414"/>
                  </a:lnTo>
                  <a:lnTo>
                    <a:pt x="7972" y="1502664"/>
                  </a:lnTo>
                  <a:lnTo>
                    <a:pt x="5159" y="1431841"/>
                  </a:lnTo>
                  <a:lnTo>
                    <a:pt x="2934" y="1359113"/>
                  </a:lnTo>
                  <a:lnTo>
                    <a:pt x="1318" y="1284650"/>
                  </a:lnTo>
                  <a:lnTo>
                    <a:pt x="333" y="1208619"/>
                  </a:lnTo>
                  <a:lnTo>
                    <a:pt x="0" y="1131189"/>
                  </a:lnTo>
                  <a:close/>
                </a:path>
              </a:pathLst>
            </a:custGeom>
            <a:ln w="9525">
              <a:solidFill>
                <a:srgbClr val="000000"/>
              </a:solidFill>
            </a:ln>
          </p:spPr>
          <p:txBody>
            <a:bodyPr wrap="square" lIns="0" tIns="0" rIns="0" bIns="0" rtlCol="0"/>
            <a:lstStyle/>
            <a:p>
              <a:endParaRPr/>
            </a:p>
          </p:txBody>
        </p:sp>
      </p:grpSp>
      <p:sp>
        <p:nvSpPr>
          <p:cNvPr id="14" name="object 14"/>
          <p:cNvSpPr/>
          <p:nvPr/>
        </p:nvSpPr>
        <p:spPr>
          <a:xfrm>
            <a:off x="2820162" y="1859533"/>
            <a:ext cx="1331595" cy="2135505"/>
          </a:xfrm>
          <a:custGeom>
            <a:avLst/>
            <a:gdLst/>
            <a:ahLst/>
            <a:cxnLst/>
            <a:rect l="l" t="t" r="r" b="b"/>
            <a:pathLst>
              <a:path w="1331595" h="2135504">
                <a:moveTo>
                  <a:pt x="1180465" y="503428"/>
                </a:moveTo>
                <a:lnTo>
                  <a:pt x="80543" y="35140"/>
                </a:lnTo>
                <a:lnTo>
                  <a:pt x="134239" y="28321"/>
                </a:lnTo>
                <a:lnTo>
                  <a:pt x="139700" y="21209"/>
                </a:lnTo>
                <a:lnTo>
                  <a:pt x="138925" y="14351"/>
                </a:lnTo>
                <a:lnTo>
                  <a:pt x="138811" y="13335"/>
                </a:lnTo>
                <a:lnTo>
                  <a:pt x="137795" y="5461"/>
                </a:lnTo>
                <a:lnTo>
                  <a:pt x="130556" y="0"/>
                </a:lnTo>
                <a:lnTo>
                  <a:pt x="122809" y="889"/>
                </a:lnTo>
                <a:lnTo>
                  <a:pt x="0" y="16510"/>
                </a:lnTo>
                <a:lnTo>
                  <a:pt x="78613" y="122047"/>
                </a:lnTo>
                <a:lnTo>
                  <a:pt x="87630" y="123317"/>
                </a:lnTo>
                <a:lnTo>
                  <a:pt x="93980" y="118618"/>
                </a:lnTo>
                <a:lnTo>
                  <a:pt x="100203" y="113919"/>
                </a:lnTo>
                <a:lnTo>
                  <a:pt x="101600" y="104902"/>
                </a:lnTo>
                <a:lnTo>
                  <a:pt x="96901" y="98552"/>
                </a:lnTo>
                <a:lnTo>
                  <a:pt x="69164" y="61391"/>
                </a:lnTo>
                <a:lnTo>
                  <a:pt x="1169289" y="529717"/>
                </a:lnTo>
                <a:lnTo>
                  <a:pt x="1180465" y="503428"/>
                </a:lnTo>
                <a:close/>
              </a:path>
              <a:path w="1331595" h="2135504">
                <a:moveTo>
                  <a:pt x="1185418" y="741934"/>
                </a:moveTo>
                <a:lnTo>
                  <a:pt x="1164209" y="722884"/>
                </a:lnTo>
                <a:lnTo>
                  <a:pt x="427062" y="1543164"/>
                </a:lnTo>
                <a:lnTo>
                  <a:pt x="436499" y="1497711"/>
                </a:lnTo>
                <a:lnTo>
                  <a:pt x="438023" y="1490091"/>
                </a:lnTo>
                <a:lnTo>
                  <a:pt x="433070" y="1482471"/>
                </a:lnTo>
                <a:lnTo>
                  <a:pt x="425323" y="1480820"/>
                </a:lnTo>
                <a:lnTo>
                  <a:pt x="417576" y="1479296"/>
                </a:lnTo>
                <a:lnTo>
                  <a:pt x="410083" y="1484249"/>
                </a:lnTo>
                <a:lnTo>
                  <a:pt x="408432" y="1491996"/>
                </a:lnTo>
                <a:lnTo>
                  <a:pt x="383413" y="1613154"/>
                </a:lnTo>
                <a:lnTo>
                  <a:pt x="419392" y="1601597"/>
                </a:lnTo>
                <a:lnTo>
                  <a:pt x="508762" y="1572895"/>
                </a:lnTo>
                <a:lnTo>
                  <a:pt x="512826" y="1564894"/>
                </a:lnTo>
                <a:lnTo>
                  <a:pt x="510413" y="1557401"/>
                </a:lnTo>
                <a:lnTo>
                  <a:pt x="508000" y="1549781"/>
                </a:lnTo>
                <a:lnTo>
                  <a:pt x="499999" y="1545717"/>
                </a:lnTo>
                <a:lnTo>
                  <a:pt x="448271" y="1562341"/>
                </a:lnTo>
                <a:lnTo>
                  <a:pt x="1185418" y="741934"/>
                </a:lnTo>
                <a:close/>
              </a:path>
              <a:path w="1331595" h="2135504">
                <a:moveTo>
                  <a:pt x="1331468" y="1100709"/>
                </a:moveTo>
                <a:lnTo>
                  <a:pt x="1310259" y="1081659"/>
                </a:lnTo>
                <a:lnTo>
                  <a:pt x="426999" y="2065058"/>
                </a:lnTo>
                <a:lnTo>
                  <a:pt x="436372" y="2019681"/>
                </a:lnTo>
                <a:lnTo>
                  <a:pt x="438023" y="2011934"/>
                </a:lnTo>
                <a:lnTo>
                  <a:pt x="433070" y="2004314"/>
                </a:lnTo>
                <a:lnTo>
                  <a:pt x="425323" y="2002790"/>
                </a:lnTo>
                <a:lnTo>
                  <a:pt x="417576" y="2001139"/>
                </a:lnTo>
                <a:lnTo>
                  <a:pt x="410083" y="2006092"/>
                </a:lnTo>
                <a:lnTo>
                  <a:pt x="408432" y="2013839"/>
                </a:lnTo>
                <a:lnTo>
                  <a:pt x="383413" y="2134997"/>
                </a:lnTo>
                <a:lnTo>
                  <a:pt x="419354" y="2123440"/>
                </a:lnTo>
                <a:lnTo>
                  <a:pt x="508762" y="2094738"/>
                </a:lnTo>
                <a:lnTo>
                  <a:pt x="512826" y="2086737"/>
                </a:lnTo>
                <a:lnTo>
                  <a:pt x="508000" y="2071751"/>
                </a:lnTo>
                <a:lnTo>
                  <a:pt x="499999" y="2067560"/>
                </a:lnTo>
                <a:lnTo>
                  <a:pt x="448246" y="2084184"/>
                </a:lnTo>
                <a:lnTo>
                  <a:pt x="1331468" y="1100709"/>
                </a:lnTo>
                <a:close/>
              </a:path>
            </a:pathLst>
          </a:custGeom>
          <a:solidFill>
            <a:srgbClr val="FF0000"/>
          </a:solidFill>
        </p:spPr>
        <p:txBody>
          <a:bodyPr wrap="square" lIns="0" tIns="0" rIns="0" bIns="0" rtlCol="0"/>
          <a:lstStyle/>
          <a:p>
            <a:endParaRPr/>
          </a:p>
        </p:txBody>
      </p:sp>
      <p:sp>
        <p:nvSpPr>
          <p:cNvPr id="15" name="object 15"/>
          <p:cNvSpPr txBox="1"/>
          <p:nvPr/>
        </p:nvSpPr>
        <p:spPr>
          <a:xfrm>
            <a:off x="5083555" y="1246784"/>
            <a:ext cx="3611245" cy="4598670"/>
          </a:xfrm>
          <a:prstGeom prst="rect">
            <a:avLst/>
          </a:prstGeom>
        </p:spPr>
        <p:txBody>
          <a:bodyPr vert="horz" wrap="square" lIns="0" tIns="12065" rIns="0" bIns="0" rtlCol="0">
            <a:spAutoFit/>
          </a:bodyPr>
          <a:lstStyle/>
          <a:p>
            <a:pPr marL="12700" marR="5080" algn="just">
              <a:lnSpc>
                <a:spcPct val="119100"/>
              </a:lnSpc>
              <a:spcBef>
                <a:spcPts val="95"/>
              </a:spcBef>
            </a:pPr>
            <a:r>
              <a:rPr sz="2800" b="1" spc="-20" dirty="0">
                <a:solidFill>
                  <a:srgbClr val="18184D"/>
                </a:solidFill>
                <a:latin typeface="Microsoft JhengHei"/>
                <a:cs typeface="Microsoft JhengHei"/>
              </a:rPr>
              <a:t>筛胞</a:t>
            </a:r>
            <a:r>
              <a:rPr sz="2800" b="1" spc="290" dirty="0">
                <a:solidFill>
                  <a:srgbClr val="18184D"/>
                </a:solidFill>
                <a:latin typeface="Times New Roman"/>
                <a:cs typeface="Times New Roman"/>
              </a:rPr>
              <a:t>(sieve </a:t>
            </a:r>
            <a:r>
              <a:rPr sz="2800" b="1" spc="340" dirty="0">
                <a:solidFill>
                  <a:srgbClr val="18184D"/>
                </a:solidFill>
                <a:latin typeface="Times New Roman"/>
                <a:cs typeface="Times New Roman"/>
              </a:rPr>
              <a:t>cell)</a:t>
            </a:r>
            <a:r>
              <a:rPr sz="2800" b="1" spc="140" dirty="0">
                <a:solidFill>
                  <a:srgbClr val="18184D"/>
                </a:solidFill>
                <a:latin typeface="Microsoft JhengHei"/>
                <a:cs typeface="Microsoft JhengHei"/>
              </a:rPr>
              <a:t>：存</a:t>
            </a:r>
            <a:r>
              <a:rPr sz="2800" b="1" spc="-30" dirty="0">
                <a:solidFill>
                  <a:srgbClr val="18184D"/>
                </a:solidFill>
                <a:latin typeface="Microsoft JhengHei"/>
                <a:cs typeface="Microsoft JhengHei"/>
              </a:rPr>
              <a:t>在于蕨类和裸子植物韧</a:t>
            </a:r>
            <a:r>
              <a:rPr sz="2800" b="1" spc="-35" dirty="0">
                <a:solidFill>
                  <a:srgbClr val="18184D"/>
                </a:solidFill>
                <a:latin typeface="Microsoft JhengHei"/>
                <a:cs typeface="Microsoft JhengHei"/>
              </a:rPr>
              <a:t>皮部中的输导分子。具</a:t>
            </a:r>
            <a:r>
              <a:rPr sz="2800" b="1" spc="-30" dirty="0">
                <a:solidFill>
                  <a:srgbClr val="18184D"/>
                </a:solidFill>
                <a:latin typeface="Microsoft JhengHei"/>
                <a:cs typeface="Microsoft JhengHei"/>
              </a:rPr>
              <a:t>初生壁的细长、两端尖斜的管状活细胞，不形</a:t>
            </a:r>
            <a:r>
              <a:rPr sz="2800" b="1" spc="-35" dirty="0">
                <a:solidFill>
                  <a:srgbClr val="18184D"/>
                </a:solidFill>
                <a:latin typeface="Microsoft JhengHei"/>
                <a:cs typeface="Microsoft JhengHei"/>
              </a:rPr>
              <a:t>成筛板，侧壁上形成筛</a:t>
            </a:r>
            <a:r>
              <a:rPr sz="2800" b="1" spc="-30" dirty="0">
                <a:solidFill>
                  <a:srgbClr val="18184D"/>
                </a:solidFill>
                <a:latin typeface="Microsoft JhengHei"/>
                <a:cs typeface="Microsoft JhengHei"/>
              </a:rPr>
              <a:t>域。筛胞间末端侧壁重叠，通过筛域进行物质</a:t>
            </a:r>
            <a:r>
              <a:rPr sz="2800" b="1" spc="-35" dirty="0">
                <a:solidFill>
                  <a:srgbClr val="18184D"/>
                </a:solidFill>
                <a:latin typeface="Microsoft JhengHei"/>
                <a:cs typeface="Microsoft JhengHei"/>
              </a:rPr>
              <a:t>运输。</a:t>
            </a:r>
            <a:endParaRPr sz="2800">
              <a:latin typeface="Microsoft JhengHei"/>
              <a:cs typeface="Microsoft JhengHei"/>
            </a:endParaRPr>
          </a:p>
        </p:txBody>
      </p:sp>
      <p:sp>
        <p:nvSpPr>
          <p:cNvPr id="16" name="object 16"/>
          <p:cNvSpPr txBox="1">
            <a:spLocks noGrp="1"/>
          </p:cNvSpPr>
          <p:nvPr>
            <p:ph type="title"/>
          </p:nvPr>
        </p:nvSpPr>
        <p:spPr>
          <a:xfrm>
            <a:off x="78739" y="151892"/>
            <a:ext cx="5532120" cy="513715"/>
          </a:xfrm>
          <a:prstGeom prst="rect">
            <a:avLst/>
          </a:prstGeom>
        </p:spPr>
        <p:txBody>
          <a:bodyPr vert="horz" wrap="square" lIns="0" tIns="12700" rIns="0" bIns="0" rtlCol="0">
            <a:spAutoFit/>
          </a:bodyPr>
          <a:lstStyle/>
          <a:p>
            <a:pPr marL="12700">
              <a:lnSpc>
                <a:spcPct val="100000"/>
              </a:lnSpc>
              <a:spcBef>
                <a:spcPts val="100"/>
              </a:spcBef>
            </a:pPr>
            <a:r>
              <a:rPr sz="3200" b="1" dirty="0">
                <a:solidFill>
                  <a:schemeClr val="tx1"/>
                </a:solidFill>
              </a:rPr>
              <a:t>运输同化产物的筛分子</a:t>
            </a:r>
            <a:r>
              <a:rPr sz="3200" b="1" spc="-165" dirty="0">
                <a:solidFill>
                  <a:schemeClr val="tx1"/>
                </a:solidFill>
              </a:rPr>
              <a:t>2</a:t>
            </a:r>
            <a:r>
              <a:rPr sz="3200" b="1" spc="-75" dirty="0">
                <a:solidFill>
                  <a:schemeClr val="tx1"/>
                </a:solidFill>
              </a:rPr>
              <a:t>：筛胞</a:t>
            </a:r>
            <a:endParaRPr sz="3200" b="1"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4897" name="Rectangle 3"/>
          <p:cNvSpPr>
            <a:spLocks noGrp="1"/>
          </p:cNvSpPr>
          <p:nvPr>
            <p:ph idx="1"/>
          </p:nvPr>
        </p:nvSpPr>
        <p:spPr>
          <a:xfrm>
            <a:off x="0" y="1295400"/>
            <a:ext cx="9036050" cy="52578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5.</a:t>
            </a:r>
            <a:r>
              <a:rPr lang="zh-CN" altLang="en-US" b="1" dirty="0">
                <a:latin typeface="黑体" panose="02010609060101010101" pitchFamily="49" charset="-122"/>
                <a:ea typeface="黑体" panose="02010609060101010101" pitchFamily="49" charset="-122"/>
              </a:rPr>
              <a:t>分泌结构</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特征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分泌结构的位置、来源、种类及作用</a:t>
            </a:r>
            <a:r>
              <a:rPr lang="zh-CN" altLang="en-US" sz="2100" b="1" dirty="0">
                <a:latin typeface="黑体" panose="02010609060101010101" pitchFamily="49" charset="-122"/>
                <a:ea typeface="黑体" panose="02010609060101010101" pitchFamily="49" charset="-122"/>
              </a:rPr>
              <a:t> </a:t>
            </a:r>
            <a:r>
              <a:rPr lang="en-US" altLang="zh-CN" sz="2100" b="1" dirty="0">
                <a:latin typeface="黑体" panose="02010609060101010101" pitchFamily="49" charset="-122"/>
                <a:ea typeface="黑体" panose="02010609060101010101" pitchFamily="49" charset="-122"/>
              </a:rPr>
              <a:t>)</a:t>
            </a:r>
          </a:p>
          <a:p>
            <a:pPr lvl="1" eaLnBrk="1" hangingPunct="1">
              <a:lnSpc>
                <a:spcPct val="120000"/>
              </a:lnSpc>
            </a:pPr>
            <a:r>
              <a:rPr lang="zh-CN" altLang="en-US" b="1" dirty="0">
                <a:solidFill>
                  <a:srgbClr val="FF0000"/>
                </a:solidFill>
                <a:latin typeface="黑体" panose="02010609060101010101" pitchFamily="49" charset="-122"/>
                <a:ea typeface="黑体" panose="02010609060101010101" pitchFamily="49" charset="-122"/>
              </a:rPr>
              <a:t>定义：</a:t>
            </a:r>
            <a:r>
              <a:rPr lang="zh-CN" altLang="en-US" b="1" dirty="0">
                <a:latin typeface="黑体" panose="02010609060101010101" pitchFamily="49" charset="-122"/>
                <a:ea typeface="黑体" panose="02010609060101010101" pitchFamily="49" charset="-122"/>
              </a:rPr>
              <a:t>某些细胞能合成特殊的有机物或无机物，并排出体外、细胞外或积累于细胞内，称为</a:t>
            </a:r>
            <a:r>
              <a:rPr lang="zh-CN" altLang="en-US" b="1" dirty="0">
                <a:solidFill>
                  <a:srgbClr val="FF0000"/>
                </a:solidFill>
                <a:latin typeface="黑体" panose="02010609060101010101" pitchFamily="49" charset="-122"/>
                <a:ea typeface="黑体" panose="02010609060101010101" pitchFamily="49" charset="-122"/>
              </a:rPr>
              <a:t>分泌现象</a:t>
            </a:r>
            <a:r>
              <a:rPr lang="zh-CN" altLang="en-US" b="1" dirty="0">
                <a:latin typeface="黑体" panose="02010609060101010101" pitchFamily="49" charset="-122"/>
                <a:ea typeface="黑体" panose="02010609060101010101" pitchFamily="49" charset="-122"/>
              </a:rPr>
              <a:t>。具有分泌功能的细胞称为</a:t>
            </a:r>
            <a:r>
              <a:rPr lang="zh-CN" altLang="en-US" b="1" dirty="0">
                <a:solidFill>
                  <a:srgbClr val="FF0000"/>
                </a:solidFill>
                <a:latin typeface="黑体" panose="02010609060101010101" pitchFamily="49" charset="-122"/>
                <a:ea typeface="黑体" panose="02010609060101010101" pitchFamily="49" charset="-122"/>
              </a:rPr>
              <a:t>分泌细胞</a:t>
            </a:r>
            <a:r>
              <a:rPr lang="zh-CN" altLang="en-US" b="1" dirty="0">
                <a:latin typeface="黑体" panose="02010609060101010101" pitchFamily="49" charset="-122"/>
                <a:ea typeface="黑体" panose="02010609060101010101" pitchFamily="49" charset="-122"/>
              </a:rPr>
              <a:t>。 </a:t>
            </a:r>
          </a:p>
          <a:p>
            <a:pPr lvl="1" eaLnBrk="1" hangingPunct="1">
              <a:lnSpc>
                <a:spcPct val="120000"/>
              </a:lnSpc>
            </a:pPr>
            <a:r>
              <a:rPr lang="zh-CN" altLang="en-US" b="1" dirty="0">
                <a:latin typeface="黑体" panose="02010609060101010101" pitchFamily="49" charset="-122"/>
                <a:ea typeface="黑体" panose="02010609060101010101" pitchFamily="49" charset="-122"/>
              </a:rPr>
              <a:t>位置及来源：分散于其他组织中或集中分布，或特化成一定结构，统称</a:t>
            </a:r>
            <a:r>
              <a:rPr lang="zh-CN" altLang="en-US" b="1" dirty="0">
                <a:solidFill>
                  <a:srgbClr val="FF0000"/>
                </a:solidFill>
                <a:latin typeface="黑体" panose="02010609060101010101" pitchFamily="49" charset="-122"/>
                <a:ea typeface="黑体" panose="02010609060101010101" pitchFamily="49" charset="-122"/>
              </a:rPr>
              <a:t>分泌结构</a:t>
            </a:r>
            <a:r>
              <a:rPr lang="zh-CN" altLang="en-US" b="1" dirty="0">
                <a:latin typeface="黑体" panose="02010609060101010101" pitchFamily="49" charset="-122"/>
                <a:ea typeface="黑体" panose="02010609060101010101" pitchFamily="49" charset="-122"/>
              </a:rPr>
              <a:t>。 来源各异。</a:t>
            </a:r>
          </a:p>
          <a:p>
            <a:pPr lvl="1" eaLnBrk="1" hangingPunct="1">
              <a:lnSpc>
                <a:spcPct val="110000"/>
              </a:lnSpc>
            </a:pPr>
            <a:r>
              <a:rPr lang="zh-CN" altLang="en-US" b="1" dirty="0">
                <a:solidFill>
                  <a:srgbClr val="FF0000"/>
                </a:solidFill>
                <a:latin typeface="黑体" panose="02010609060101010101" pitchFamily="49" charset="-122"/>
                <a:ea typeface="黑体" panose="02010609060101010101" pitchFamily="49" charset="-122"/>
              </a:rPr>
              <a:t>种类及作用：</a:t>
            </a:r>
            <a:r>
              <a:rPr lang="zh-CN" altLang="en-US" b="1" dirty="0">
                <a:latin typeface="黑体" panose="02010609060101010101" pitchFamily="49" charset="-122"/>
                <a:ea typeface="黑体" panose="02010609060101010101" pitchFamily="49" charset="-122"/>
              </a:rPr>
              <a:t>植物分泌物的种类繁多，有糖类、挥发油、有机酸、生物碱、单宁、树脂、油类、蛋白质、酶、杀菌素、生长素及多种无机盐等。它们在植物体内起着多种作用。许多植物的分泌物具有重要的经价值，如橡胶、生漆、芳香油、蜜汁等。</a:t>
            </a:r>
            <a:r>
              <a:rPr lang="zh-CN" altLang="en-US" sz="2000" b="1" dirty="0">
                <a:latin typeface="黑体" panose="02010609060101010101" pitchFamily="49" charset="-122"/>
                <a:ea typeface="黑体" panose="02010609060101010101" pitchFamily="49" charset="-122"/>
              </a:rPr>
              <a:t> </a:t>
            </a:r>
          </a:p>
        </p:txBody>
      </p:sp>
      <p:sp>
        <p:nvSpPr>
          <p:cNvPr id="464898"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5921" name="Rectangle 3"/>
          <p:cNvSpPr>
            <a:spLocks noGrp="1"/>
          </p:cNvSpPr>
          <p:nvPr>
            <p:ph idx="1"/>
          </p:nvPr>
        </p:nvSpPr>
        <p:spPr>
          <a:xfrm>
            <a:off x="112713" y="1219200"/>
            <a:ext cx="9144000" cy="5257800"/>
          </a:xfrm>
        </p:spPr>
        <p:txBody>
          <a:bodyPr vert="horz" wrap="square" lIns="91440" tIns="45720" rIns="91440" bIns="45720" anchor="t" anchorCtr="0"/>
          <a:lstStyle/>
          <a:p>
            <a:pPr eaLnBrk="1" hangingPunct="1">
              <a:lnSpc>
                <a:spcPct val="90000"/>
              </a:lnSpc>
              <a:buNone/>
            </a:pPr>
            <a:r>
              <a:rPr lang="en-US" altLang="zh-CN" b="1" dirty="0">
                <a:latin typeface="黑体" panose="02010609060101010101" pitchFamily="49" charset="-122"/>
                <a:ea typeface="黑体" panose="02010609060101010101" pitchFamily="49" charset="-122"/>
              </a:rPr>
              <a:t>5. </a:t>
            </a:r>
            <a:r>
              <a:rPr lang="zh-CN" altLang="en-US" b="1" dirty="0">
                <a:latin typeface="黑体" panose="02010609060101010101" pitchFamily="49" charset="-122"/>
                <a:ea typeface="黑体" panose="02010609060101010101" pitchFamily="49" charset="-122"/>
              </a:rPr>
              <a:t>分泌结构特征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外分泌结构 </a:t>
            </a:r>
          </a:p>
          <a:p>
            <a:pPr lvl="1" eaLnBrk="1" hangingPunct="1"/>
            <a:r>
              <a:rPr lang="zh-CN" altLang="en-US" b="1" dirty="0">
                <a:latin typeface="黑体" panose="02010609060101010101" pitchFamily="49" charset="-122"/>
                <a:ea typeface="黑体" panose="02010609060101010101" pitchFamily="49" charset="-122"/>
              </a:rPr>
              <a:t>分泌物排出体外的分泌结构称</a:t>
            </a:r>
            <a:r>
              <a:rPr lang="zh-CN" altLang="en-US" b="1" dirty="0">
                <a:solidFill>
                  <a:srgbClr val="FF0000"/>
                </a:solidFill>
                <a:latin typeface="黑体" panose="02010609060101010101" pitchFamily="49" charset="-122"/>
                <a:ea typeface="黑体" panose="02010609060101010101" pitchFamily="49" charset="-122"/>
              </a:rPr>
              <a:t>外分泌结构</a:t>
            </a:r>
            <a:r>
              <a:rPr lang="zh-CN" altLang="en-US" b="1" dirty="0">
                <a:latin typeface="黑体" panose="02010609060101010101" pitchFamily="49" charset="-122"/>
                <a:ea typeface="黑体" panose="02010609060101010101" pitchFamily="49" charset="-122"/>
              </a:rPr>
              <a:t>。</a:t>
            </a:r>
          </a:p>
          <a:p>
            <a:pPr lvl="1" eaLnBrk="1" hangingPunct="1"/>
            <a:r>
              <a:rPr lang="zh-CN" altLang="en-US" b="1" dirty="0">
                <a:solidFill>
                  <a:srgbClr val="FF0000"/>
                </a:solidFill>
                <a:latin typeface="黑体" panose="02010609060101010101" pitchFamily="49" charset="-122"/>
                <a:ea typeface="黑体" panose="02010609060101010101" pitchFamily="49" charset="-122"/>
              </a:rPr>
              <a:t>腺表皮：</a:t>
            </a:r>
            <a:r>
              <a:rPr lang="zh-CN" altLang="en-US" b="1" dirty="0">
                <a:solidFill>
                  <a:srgbClr val="0000FF"/>
                </a:solidFill>
                <a:latin typeface="黑体" panose="02010609060101010101" pitchFamily="49" charset="-122"/>
                <a:ea typeface="黑体" panose="02010609060101010101" pitchFamily="49" charset="-122"/>
              </a:rPr>
              <a:t>具有分泌功能的表皮细胞</a:t>
            </a:r>
            <a:r>
              <a:rPr lang="zh-CN" altLang="en-US" b="1" dirty="0">
                <a:latin typeface="黑体" panose="02010609060101010101" pitchFamily="49" charset="-122"/>
                <a:ea typeface="黑体" panose="02010609060101010101" pitchFamily="49" charset="-122"/>
              </a:rPr>
              <a:t>。细胞特征为：细胞质浓厚，分泌糖、氨基酸、酚类等化合物以组成的</a:t>
            </a:r>
            <a:r>
              <a:rPr lang="zh-CN" altLang="en-US" b="1" u="sng" dirty="0">
                <a:latin typeface="黑体" panose="02010609060101010101" pitchFamily="49" charset="-122"/>
                <a:ea typeface="黑体" panose="02010609060101010101" pitchFamily="49" charset="-122"/>
              </a:rPr>
              <a:t>柱头液</a:t>
            </a:r>
            <a:r>
              <a:rPr lang="zh-CN" altLang="en-US" b="1" dirty="0">
                <a:latin typeface="黑体" panose="02010609060101010101" pitchFamily="49" charset="-122"/>
                <a:ea typeface="黑体" panose="02010609060101010101" pitchFamily="49" charset="-122"/>
              </a:rPr>
              <a:t>，利于传粉和控制花粉萌发。矮牵牛、漆树花的柱头是腺表皮，细胞成乳头状突起。</a:t>
            </a:r>
          </a:p>
          <a:p>
            <a:pPr lvl="1" eaLnBrk="1" hangingPunct="1"/>
            <a:r>
              <a:rPr lang="zh-CN" altLang="en-US" b="1" dirty="0">
                <a:solidFill>
                  <a:srgbClr val="FF0000"/>
                </a:solidFill>
                <a:latin typeface="黑体" panose="02010609060101010101" pitchFamily="49" charset="-122"/>
                <a:ea typeface="黑体" panose="02010609060101010101" pitchFamily="49" charset="-122"/>
              </a:rPr>
              <a:t>腺毛：</a:t>
            </a:r>
            <a:r>
              <a:rPr lang="zh-CN" altLang="en-US" b="1" dirty="0">
                <a:solidFill>
                  <a:srgbClr val="0000FF"/>
                </a:solidFill>
                <a:latin typeface="黑体" panose="02010609060101010101" pitchFamily="49" charset="-122"/>
                <a:ea typeface="黑体" panose="02010609060101010101" pitchFamily="49" charset="-122"/>
              </a:rPr>
              <a:t>具有分泌功能的表皮毛状附属物</a:t>
            </a:r>
            <a:r>
              <a:rPr lang="zh-CN" altLang="en-US" b="1" dirty="0">
                <a:latin typeface="黑体" panose="02010609060101010101" pitchFamily="49" charset="-122"/>
                <a:ea typeface="黑体" panose="02010609060101010101" pitchFamily="49" charset="-122"/>
              </a:rPr>
              <a:t>。由头部和柄部构成，头部由单个或多个分泌细胞组成。柄由不具分泌功能的薄壁细胞组成。如烟草体表面的腺毛。</a:t>
            </a:r>
          </a:p>
          <a:p>
            <a:pPr lvl="1" eaLnBrk="1" hangingPunct="1"/>
            <a:r>
              <a:rPr lang="zh-CN" altLang="en-US" b="1" dirty="0">
                <a:solidFill>
                  <a:srgbClr val="FF0000"/>
                </a:solidFill>
                <a:latin typeface="黑体" panose="02010609060101010101" pitchFamily="49" charset="-122"/>
                <a:ea typeface="黑体" panose="02010609060101010101" pitchFamily="49" charset="-122"/>
              </a:rPr>
              <a:t>蛰毛：</a:t>
            </a:r>
            <a:r>
              <a:rPr lang="zh-CN" altLang="en-US" b="1" dirty="0">
                <a:solidFill>
                  <a:srgbClr val="0000FF"/>
                </a:solidFill>
                <a:latin typeface="黑体" panose="02010609060101010101" pitchFamily="49" charset="-122"/>
                <a:ea typeface="黑体" panose="02010609060101010101" pitchFamily="49" charset="-122"/>
              </a:rPr>
              <a:t>是单个分泌细胞，似一个基部膨大的毛细管，顶部封闭为小圆球状</a:t>
            </a:r>
            <a:r>
              <a:rPr lang="zh-CN" altLang="en-US" b="1" dirty="0">
                <a:latin typeface="黑体" panose="02010609060101010101" pitchFamily="49" charset="-122"/>
                <a:ea typeface="黑体" panose="02010609060101010101" pitchFamily="49" charset="-122"/>
              </a:rPr>
              <a:t>。与皮肤接触时，圆球顶部原有的缝线破裂，露出锋利的边缘，刺进皮肤，泡状基部将蚁酸和组织胺等挤进伤口。</a:t>
            </a:r>
          </a:p>
        </p:txBody>
      </p:sp>
      <p:sp>
        <p:nvSpPr>
          <p:cNvPr id="465922"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6945" name="Rectangle 3"/>
          <p:cNvSpPr>
            <a:spLocks noGrp="1"/>
          </p:cNvSpPr>
          <p:nvPr>
            <p:ph idx="1"/>
          </p:nvPr>
        </p:nvSpPr>
        <p:spPr>
          <a:xfrm>
            <a:off x="0" y="1295400"/>
            <a:ext cx="9144000" cy="5257800"/>
          </a:xfrm>
        </p:spPr>
        <p:txBody>
          <a:bodyPr vert="horz" wrap="square" lIns="91440" tIns="45720" rIns="91440" bIns="45720" anchor="t" anchorCtr="0"/>
          <a:lstStyle/>
          <a:p>
            <a:pPr eaLnBrk="1" hangingPunct="1">
              <a:lnSpc>
                <a:spcPct val="90000"/>
              </a:lnSpc>
              <a:buNone/>
            </a:pPr>
            <a:r>
              <a:rPr lang="en-US" altLang="zh-CN" b="1" dirty="0">
                <a:latin typeface="黑体" panose="02010609060101010101" pitchFamily="49" charset="-122"/>
                <a:ea typeface="黑体" panose="02010609060101010101" pitchFamily="49" charset="-122"/>
              </a:rPr>
              <a:t>5. </a:t>
            </a:r>
            <a:r>
              <a:rPr lang="zh-CN" altLang="en-US" b="1" dirty="0">
                <a:latin typeface="黑体" panose="02010609060101010101" pitchFamily="49" charset="-122"/>
                <a:ea typeface="黑体" panose="02010609060101010101" pitchFamily="49" charset="-122"/>
              </a:rPr>
              <a:t>分泌结构特征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外分泌结构</a:t>
            </a:r>
            <a:endParaRPr lang="zh-CN" altLang="en-US" sz="2100" b="1" dirty="0">
              <a:latin typeface="黑体" panose="02010609060101010101" pitchFamily="49" charset="-122"/>
              <a:ea typeface="黑体" panose="02010609060101010101" pitchFamily="49" charset="-122"/>
            </a:endParaRPr>
          </a:p>
          <a:p>
            <a:pPr lvl="1" eaLnBrk="1" hangingPunct="1"/>
            <a:r>
              <a:rPr lang="zh-CN" altLang="en-US" b="1" dirty="0">
                <a:solidFill>
                  <a:srgbClr val="FF3300"/>
                </a:solidFill>
                <a:latin typeface="黑体" panose="02010609060101010101" pitchFamily="49" charset="-122"/>
                <a:ea typeface="黑体" panose="02010609060101010101" pitchFamily="49" charset="-122"/>
              </a:rPr>
              <a:t>排水器：</a:t>
            </a:r>
            <a:r>
              <a:rPr lang="zh-CN" altLang="en-US" b="1" dirty="0">
                <a:latin typeface="黑体" panose="02010609060101010101" pitchFamily="49" charset="-122"/>
                <a:ea typeface="黑体" panose="02010609060101010101" pitchFamily="49" charset="-122"/>
              </a:rPr>
              <a:t>植物将体过剩的水分排出到体表的结构。其过程为</a:t>
            </a:r>
            <a:r>
              <a:rPr lang="zh-CN" altLang="en-US" b="1" dirty="0">
                <a:solidFill>
                  <a:srgbClr val="FF0000"/>
                </a:solidFill>
                <a:latin typeface="黑体" panose="02010609060101010101" pitchFamily="49" charset="-122"/>
                <a:ea typeface="黑体" panose="02010609060101010101" pitchFamily="49" charset="-122"/>
              </a:rPr>
              <a:t>吐水</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排水器由水孔、通水组织和维管束组成</a:t>
            </a:r>
            <a:r>
              <a:rPr lang="zh-CN" altLang="en-US" b="1" dirty="0">
                <a:latin typeface="黑体" panose="02010609060101010101" pitchFamily="49" charset="-122"/>
                <a:ea typeface="黑体" panose="02010609060101010101" pitchFamily="49" charset="-122"/>
              </a:rPr>
              <a:t>，水孔位于叶尖或叶缘，为无关闭功能的变态的气孔。通水组织是水孔下一团排列疏松的变态叶肉组织，无叶绿体。水分多余时，水通过小叶脉末端的管胞，流经通水组织的胞间隙，从水孔排出，形成吐水。许多植物有的吐水现象。水生植物中更为普遍。</a:t>
            </a:r>
          </a:p>
          <a:p>
            <a:pPr lvl="1" eaLnBrk="1" hangingPunct="1"/>
            <a:r>
              <a:rPr lang="zh-CN" altLang="en-US" b="1" dirty="0">
                <a:solidFill>
                  <a:srgbClr val="FF3300"/>
                </a:solidFill>
                <a:latin typeface="黑体" panose="02010609060101010101" pitchFamily="49" charset="-122"/>
                <a:ea typeface="黑体" panose="02010609060101010101" pitchFamily="49" charset="-122"/>
              </a:rPr>
              <a:t>蜜腺：</a:t>
            </a:r>
            <a:r>
              <a:rPr lang="zh-CN" altLang="en-US" b="1" dirty="0">
                <a:solidFill>
                  <a:srgbClr val="0000FF"/>
                </a:solidFill>
                <a:latin typeface="黑体" panose="02010609060101010101" pitchFamily="49" charset="-122"/>
                <a:ea typeface="黑体" panose="02010609060101010101" pitchFamily="49" charset="-122"/>
              </a:rPr>
              <a:t>分泌糖液的外分泌结构，存在于虫媒植物花部</a:t>
            </a:r>
            <a:r>
              <a:rPr lang="zh-CN" altLang="en-US" b="1" dirty="0">
                <a:latin typeface="黑体" panose="02010609060101010101" pitchFamily="49" charset="-122"/>
                <a:ea typeface="黑体" panose="02010609060101010101" pitchFamily="49" charset="-122"/>
              </a:rPr>
              <a:t>。分泌花蜜，这类蜜腺称</a:t>
            </a:r>
            <a:r>
              <a:rPr lang="zh-CN" altLang="en-US" b="1" dirty="0">
                <a:solidFill>
                  <a:srgbClr val="FF0000"/>
                </a:solidFill>
                <a:latin typeface="黑体" panose="02010609060101010101" pitchFamily="49" charset="-122"/>
                <a:ea typeface="黑体" panose="02010609060101010101" pitchFamily="49" charset="-122"/>
              </a:rPr>
              <a:t>花蜜腺</a:t>
            </a:r>
            <a:r>
              <a:rPr lang="zh-CN" altLang="en-US" b="1" dirty="0">
                <a:latin typeface="黑体" panose="02010609060101010101" pitchFamily="49" charset="-122"/>
                <a:ea typeface="黑体" panose="02010609060101010101" pitchFamily="49" charset="-122"/>
              </a:rPr>
              <a:t>。植物营养体地上部分（如茎、叶、叶柄等）部位的蜜腺称</a:t>
            </a:r>
            <a:r>
              <a:rPr lang="zh-CN" altLang="en-US" b="1" dirty="0">
                <a:solidFill>
                  <a:srgbClr val="FF0000"/>
                </a:solidFill>
                <a:latin typeface="黑体" panose="02010609060101010101" pitchFamily="49" charset="-122"/>
                <a:ea typeface="黑体" panose="02010609060101010101" pitchFamily="49" charset="-122"/>
              </a:rPr>
              <a:t>花外蜜腺</a:t>
            </a:r>
            <a:r>
              <a:rPr lang="zh-CN" altLang="en-US" b="1" dirty="0">
                <a:latin typeface="黑体" panose="02010609060101010101" pitchFamily="49" charset="-122"/>
                <a:ea typeface="黑体" panose="02010609060101010101" pitchFamily="49" charset="-122"/>
              </a:rPr>
              <a:t>。可能与植物进化过程中为招引蚂蚁，以避免其他食草害虫的危害有关。</a:t>
            </a:r>
          </a:p>
        </p:txBody>
      </p:sp>
      <p:sp>
        <p:nvSpPr>
          <p:cNvPr id="466946" name="Rectangle 5"/>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7969" name="Rectangle 3"/>
          <p:cNvSpPr>
            <a:spLocks noGrp="1"/>
          </p:cNvSpPr>
          <p:nvPr>
            <p:ph idx="1"/>
          </p:nvPr>
        </p:nvSpPr>
        <p:spPr>
          <a:xfrm>
            <a:off x="0" y="1295400"/>
            <a:ext cx="9144000" cy="51054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5. </a:t>
            </a:r>
            <a:r>
              <a:rPr lang="zh-CN" altLang="en-US" b="1" dirty="0">
                <a:latin typeface="黑体" panose="02010609060101010101" pitchFamily="49" charset="-122"/>
                <a:ea typeface="黑体" panose="02010609060101010101" pitchFamily="49" charset="-122"/>
              </a:rPr>
              <a:t>分泌结构特征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内分泌结构</a:t>
            </a:r>
          </a:p>
          <a:p>
            <a:pPr lvl="1" eaLnBrk="1" hangingPunct="1">
              <a:lnSpc>
                <a:spcPct val="110000"/>
              </a:lnSpc>
            </a:pPr>
            <a:r>
              <a:rPr lang="zh-CN" altLang="en-US" b="1" dirty="0">
                <a:latin typeface="黑体" panose="02010609060101010101" pitchFamily="49" charset="-122"/>
                <a:ea typeface="黑体" panose="02010609060101010101" pitchFamily="49" charset="-122"/>
              </a:rPr>
              <a:t>分泌物不排出体外的分泌结构称</a:t>
            </a:r>
            <a:r>
              <a:rPr lang="zh-CN" altLang="en-US" b="1" dirty="0">
                <a:solidFill>
                  <a:srgbClr val="FF3300"/>
                </a:solidFill>
                <a:latin typeface="黑体" panose="02010609060101010101" pitchFamily="49" charset="-122"/>
                <a:ea typeface="黑体" panose="02010609060101010101" pitchFamily="49" charset="-122"/>
              </a:rPr>
              <a:t>内分泌结构</a:t>
            </a:r>
            <a:r>
              <a:rPr lang="zh-CN" altLang="en-US" sz="2000" b="1" dirty="0">
                <a:latin typeface="黑体" panose="02010609060101010101" pitchFamily="49" charset="-122"/>
                <a:ea typeface="黑体" panose="02010609060101010101" pitchFamily="49" charset="-122"/>
              </a:rPr>
              <a:t>。</a:t>
            </a:r>
          </a:p>
          <a:p>
            <a:pPr lvl="1" eaLnBrk="1" hangingPunct="1">
              <a:lnSpc>
                <a:spcPct val="110000"/>
              </a:lnSpc>
            </a:pPr>
            <a:r>
              <a:rPr lang="zh-CN" altLang="en-US" b="1" dirty="0">
                <a:solidFill>
                  <a:srgbClr val="FF3300"/>
                </a:solidFill>
                <a:latin typeface="黑体" panose="02010609060101010101" pitchFamily="49" charset="-122"/>
                <a:ea typeface="黑体" panose="02010609060101010101" pitchFamily="49" charset="-122"/>
              </a:rPr>
              <a:t>分泌细胞</a:t>
            </a:r>
            <a:r>
              <a:rPr lang="zh-CN" altLang="en-US" b="1" dirty="0">
                <a:latin typeface="黑体" panose="02010609060101010101" pitchFamily="49" charset="-122"/>
                <a:ea typeface="黑体" panose="02010609060101010101" pitchFamily="49" charset="-122"/>
              </a:rPr>
              <a:t> ：生活细胞或非生活细胞，但细胞腔内都积聚有特殊分泌物。多为薄壁细胞，单个分散于其他组织中，体积明显大于周围细胞（长度上更为显著），容易识别。</a:t>
            </a:r>
          </a:p>
          <a:p>
            <a:pPr lvl="1" eaLnBrk="1" hangingPunct="1">
              <a:lnSpc>
                <a:spcPct val="120000"/>
              </a:lnSpc>
            </a:pPr>
            <a:r>
              <a:rPr lang="zh-CN" altLang="en-US" b="1" dirty="0">
                <a:solidFill>
                  <a:srgbClr val="FF3300"/>
                </a:solidFill>
                <a:latin typeface="黑体" panose="02010609060101010101" pitchFamily="49" charset="-122"/>
                <a:ea typeface="黑体" panose="02010609060101010101" pitchFamily="49" charset="-122"/>
              </a:rPr>
              <a:t>分泌腔和分泌道：</a:t>
            </a:r>
            <a:r>
              <a:rPr lang="zh-CN" altLang="en-US" b="1" dirty="0">
                <a:latin typeface="黑体" panose="02010609060101010101" pitchFamily="49" charset="-122"/>
                <a:ea typeface="黑体" panose="02010609060101010101" pitchFamily="49" charset="-122"/>
              </a:rPr>
              <a:t> 贮藏分泌物的</a:t>
            </a:r>
            <a:r>
              <a:rPr lang="zh-CN" altLang="en-US" dirty="0">
                <a:latin typeface="黑体" panose="02010609060101010101" pitchFamily="49" charset="-122"/>
                <a:ea typeface="黑体" panose="02010609060101010101" pitchFamily="49" charset="-122"/>
              </a:rPr>
              <a:t>腔或管道。</a:t>
            </a:r>
          </a:p>
        </p:txBody>
      </p:sp>
      <p:sp>
        <p:nvSpPr>
          <p:cNvPr id="467971" name="Rectangle 5"/>
          <p:cNvSpPr>
            <a:spLocks noGrp="1"/>
          </p:cNvSpPr>
          <p:nvPr>
            <p:ph type="title"/>
          </p:nvPr>
        </p:nvSpPr>
        <p:spPr>
          <a:xfrm>
            <a:off x="0" y="152400"/>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8993" name="Rectangle 3"/>
          <p:cNvSpPr>
            <a:spLocks noGrp="1"/>
          </p:cNvSpPr>
          <p:nvPr>
            <p:ph idx="1"/>
          </p:nvPr>
        </p:nvSpPr>
        <p:spPr>
          <a:xfrm>
            <a:off x="0" y="1295400"/>
            <a:ext cx="8820150" cy="518160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5. </a:t>
            </a:r>
            <a:r>
              <a:rPr lang="zh-CN" altLang="en-US" b="1" dirty="0">
                <a:latin typeface="黑体" panose="02010609060101010101" pitchFamily="49" charset="-122"/>
                <a:ea typeface="黑体" panose="02010609060101010101" pitchFamily="49" charset="-122"/>
              </a:rPr>
              <a:t>分泌结构特征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内分泌结构</a:t>
            </a:r>
          </a:p>
          <a:p>
            <a:pPr eaLnBrk="1" hangingPunct="1">
              <a:lnSpc>
                <a:spcPct val="110000"/>
              </a:lnSpc>
            </a:pPr>
            <a:r>
              <a:rPr lang="zh-CN" altLang="en-US" b="1" dirty="0">
                <a:latin typeface="黑体" panose="02010609060101010101" pitchFamily="49" charset="-122"/>
                <a:ea typeface="黑体" panose="02010609060101010101" pitchFamily="49" charset="-122"/>
              </a:rPr>
              <a:t>乳汁管：</a:t>
            </a:r>
            <a:r>
              <a:rPr lang="zh-CN" altLang="en-US" b="1" dirty="0">
                <a:solidFill>
                  <a:schemeClr val="tx1"/>
                </a:solidFill>
                <a:latin typeface="黑体" panose="02010609060101010101" pitchFamily="49" charset="-122"/>
                <a:ea typeface="黑体" panose="02010609060101010101" pitchFamily="49" charset="-122"/>
              </a:rPr>
              <a:t>分泌乳汁的管状细胞。</a:t>
            </a:r>
          </a:p>
          <a:p>
            <a:pPr lvl="1" eaLnBrk="1" hangingPunct="1">
              <a:lnSpc>
                <a:spcPct val="110000"/>
              </a:lnSpc>
            </a:pPr>
            <a:r>
              <a:rPr lang="zh-CN" altLang="en-US" b="1" dirty="0">
                <a:solidFill>
                  <a:srgbClr val="FF3300"/>
                </a:solidFill>
                <a:latin typeface="黑体" panose="02010609060101010101" pitchFamily="49" charset="-122"/>
                <a:ea typeface="黑体" panose="02010609060101010101" pitchFamily="49" charset="-122"/>
              </a:rPr>
              <a:t>无节乳汁管：</a:t>
            </a:r>
            <a:r>
              <a:rPr lang="zh-CN" altLang="en-US" b="1" dirty="0">
                <a:latin typeface="黑体" panose="02010609060101010101" pitchFamily="49" charset="-122"/>
                <a:ea typeface="黑体" panose="02010609060101010101" pitchFamily="49" charset="-122"/>
              </a:rPr>
              <a:t>由一个细胞随植物体的生长不断伸长和分枝而形成，长可达几米。如夹竹桃、桑科和大戟科植物的乳汁管。</a:t>
            </a:r>
          </a:p>
          <a:p>
            <a:pPr lvl="1" eaLnBrk="1" hangingPunct="1">
              <a:lnSpc>
                <a:spcPct val="110000"/>
              </a:lnSpc>
            </a:pPr>
            <a:r>
              <a:rPr lang="zh-CN" altLang="en-US" b="1" dirty="0">
                <a:solidFill>
                  <a:srgbClr val="FF3300"/>
                </a:solidFill>
                <a:latin typeface="黑体" panose="02010609060101010101" pitchFamily="49" charset="-122"/>
                <a:ea typeface="黑体" panose="02010609060101010101" pitchFamily="49" charset="-122"/>
              </a:rPr>
              <a:t>有节乳汁管：</a:t>
            </a:r>
            <a:r>
              <a:rPr lang="zh-CN" altLang="en-US" b="1" dirty="0">
                <a:latin typeface="黑体" panose="02010609060101010101" pitchFamily="49" charset="-122"/>
                <a:ea typeface="黑体" panose="02010609060101010101" pitchFamily="49" charset="-122"/>
              </a:rPr>
              <a:t>由许多管状细胞在发育过程中彼此相连，连接壁融化消失而形成。如菊科、罂粟科、旋花科等植物的乳汁管。</a:t>
            </a:r>
          </a:p>
        </p:txBody>
      </p:sp>
      <p:sp>
        <p:nvSpPr>
          <p:cNvPr id="468994" name="Rectangle 5"/>
          <p:cNvSpPr>
            <a:spLocks noGrp="1"/>
          </p:cNvSpPr>
          <p:nvPr>
            <p:ph type="title"/>
          </p:nvPr>
        </p:nvSpPr>
        <p:spPr>
          <a:xfrm>
            <a:off x="34925" y="152400"/>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一、植物组织的类型</a:t>
            </a:r>
            <a:br>
              <a:rPr lang="zh-CN" altLang="en-US" sz="2500" b="1" dirty="0">
                <a:latin typeface="黑体" panose="02010609060101010101" pitchFamily="49" charset="-122"/>
                <a:ea typeface="黑体" panose="02010609060101010101" pitchFamily="49" charset="-122"/>
              </a:rPr>
            </a:br>
            <a:r>
              <a:rPr lang="en-US" altLang="zh-CN" sz="2500" b="1" dirty="0">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㈡ 成熟组织</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3424301" cy="3455924"/>
          </a:xfrm>
          <a:prstGeom prst="rect">
            <a:avLst/>
          </a:prstGeom>
        </p:spPr>
      </p:pic>
      <p:sp>
        <p:nvSpPr>
          <p:cNvPr id="4" name="object 4"/>
          <p:cNvSpPr txBox="1">
            <a:spLocks noGrp="1"/>
          </p:cNvSpPr>
          <p:nvPr>
            <p:ph type="title"/>
          </p:nvPr>
        </p:nvSpPr>
        <p:spPr>
          <a:xfrm>
            <a:off x="8278876" y="85725"/>
            <a:ext cx="685800" cy="2838450"/>
          </a:xfrm>
          <a:prstGeom prst="rect">
            <a:avLst/>
          </a:prstGeom>
          <a:solidFill>
            <a:srgbClr val="FF0000"/>
          </a:solidFill>
        </p:spPr>
        <p:txBody>
          <a:bodyPr vert="horz" wrap="square" lIns="0" tIns="59690" rIns="0" bIns="0" rtlCol="0">
            <a:spAutoFit/>
          </a:bodyPr>
          <a:lstStyle/>
          <a:p>
            <a:pPr marL="92075" marR="127635" algn="just">
              <a:lnSpc>
                <a:spcPct val="100000"/>
              </a:lnSpc>
              <a:spcBef>
                <a:spcPts val="470"/>
              </a:spcBef>
            </a:pPr>
            <a:r>
              <a:rPr sz="3600" spc="-50" dirty="0">
                <a:solidFill>
                  <a:srgbClr val="FFFFFF"/>
                </a:solidFill>
              </a:rPr>
              <a:t>内分泌结构</a:t>
            </a:r>
            <a:endParaRPr sz="3600"/>
          </a:p>
        </p:txBody>
      </p:sp>
      <p:sp>
        <p:nvSpPr>
          <p:cNvPr id="5" name="object 5"/>
          <p:cNvSpPr txBox="1"/>
          <p:nvPr/>
        </p:nvSpPr>
        <p:spPr>
          <a:xfrm>
            <a:off x="3434334" y="807465"/>
            <a:ext cx="330835" cy="2205990"/>
          </a:xfrm>
          <a:prstGeom prst="rect">
            <a:avLst/>
          </a:prstGeom>
        </p:spPr>
        <p:txBody>
          <a:bodyPr vert="horz" wrap="square" lIns="0" tIns="15240" rIns="0" bIns="0" rtlCol="0">
            <a:spAutoFit/>
          </a:bodyPr>
          <a:lstStyle/>
          <a:p>
            <a:pPr marL="12700" marR="5080" algn="just">
              <a:lnSpc>
                <a:spcPct val="99200"/>
              </a:lnSpc>
              <a:spcBef>
                <a:spcPts val="120"/>
              </a:spcBef>
            </a:pPr>
            <a:r>
              <a:rPr sz="2400" b="1" spc="-50" dirty="0">
                <a:solidFill>
                  <a:srgbClr val="006600"/>
                </a:solidFill>
                <a:latin typeface="Microsoft JhengHei"/>
                <a:cs typeface="Microsoft JhengHei"/>
              </a:rPr>
              <a:t>桔果皮分泌腔</a:t>
            </a:r>
            <a:endParaRPr sz="2400">
              <a:latin typeface="Microsoft JhengHei"/>
              <a:cs typeface="Microsoft JhengHei"/>
            </a:endParaRPr>
          </a:p>
        </p:txBody>
      </p:sp>
      <p:grpSp>
        <p:nvGrpSpPr>
          <p:cNvPr id="6" name="object 6"/>
          <p:cNvGrpSpPr/>
          <p:nvPr/>
        </p:nvGrpSpPr>
        <p:grpSpPr>
          <a:xfrm>
            <a:off x="0" y="3573526"/>
            <a:ext cx="3996054" cy="3284854"/>
            <a:chOff x="0" y="3573526"/>
            <a:chExt cx="3996054" cy="3284854"/>
          </a:xfrm>
        </p:grpSpPr>
        <p:pic>
          <p:nvPicPr>
            <p:cNvPr id="7" name="object 7"/>
            <p:cNvPicPr/>
            <p:nvPr/>
          </p:nvPicPr>
          <p:blipFill>
            <a:blip r:embed="rId3" cstate="print"/>
            <a:stretch>
              <a:fillRect/>
            </a:stretch>
          </p:blipFill>
          <p:spPr>
            <a:xfrm>
              <a:off x="0" y="3573526"/>
              <a:ext cx="3995801" cy="3284474"/>
            </a:xfrm>
            <a:prstGeom prst="rect">
              <a:avLst/>
            </a:prstGeom>
          </p:spPr>
        </p:pic>
        <p:pic>
          <p:nvPicPr>
            <p:cNvPr id="8" name="object 8"/>
            <p:cNvPicPr/>
            <p:nvPr/>
          </p:nvPicPr>
          <p:blipFill>
            <a:blip r:embed="rId4" cstate="print"/>
            <a:stretch>
              <a:fillRect/>
            </a:stretch>
          </p:blipFill>
          <p:spPr>
            <a:xfrm>
              <a:off x="2128901" y="4193908"/>
              <a:ext cx="1628775" cy="1476375"/>
            </a:xfrm>
            <a:prstGeom prst="rect">
              <a:avLst/>
            </a:prstGeom>
          </p:spPr>
        </p:pic>
      </p:grpSp>
      <p:sp>
        <p:nvSpPr>
          <p:cNvPr id="9" name="object 9"/>
          <p:cNvSpPr txBox="1"/>
          <p:nvPr/>
        </p:nvSpPr>
        <p:spPr>
          <a:xfrm>
            <a:off x="4040251" y="3894201"/>
            <a:ext cx="381000" cy="2567940"/>
          </a:xfrm>
          <a:prstGeom prst="rect">
            <a:avLst/>
          </a:prstGeom>
        </p:spPr>
        <p:txBody>
          <a:bodyPr vert="horz" wrap="square" lIns="0" tIns="15240" rIns="0" bIns="0" rtlCol="0">
            <a:spAutoFit/>
          </a:bodyPr>
          <a:lstStyle/>
          <a:p>
            <a:pPr marL="12700" marR="5080" algn="just">
              <a:lnSpc>
                <a:spcPct val="99200"/>
              </a:lnSpc>
              <a:spcBef>
                <a:spcPts val="120"/>
              </a:spcBef>
            </a:pPr>
            <a:r>
              <a:rPr sz="2800" b="1" spc="-50" dirty="0">
                <a:solidFill>
                  <a:srgbClr val="009999"/>
                </a:solidFill>
                <a:latin typeface="Microsoft JhengHei"/>
                <a:cs typeface="Microsoft JhengHei"/>
              </a:rPr>
              <a:t>松针叶树脂道</a:t>
            </a:r>
            <a:endParaRPr sz="2800">
              <a:latin typeface="Microsoft JhengHei"/>
              <a:cs typeface="Microsoft JhengHei"/>
            </a:endParaRPr>
          </a:p>
        </p:txBody>
      </p:sp>
      <p:pic>
        <p:nvPicPr>
          <p:cNvPr id="10" name="object 10"/>
          <p:cNvPicPr/>
          <p:nvPr/>
        </p:nvPicPr>
        <p:blipFill>
          <a:blip r:embed="rId5" cstate="print"/>
          <a:stretch>
            <a:fillRect/>
          </a:stretch>
        </p:blipFill>
        <p:spPr>
          <a:xfrm>
            <a:off x="4716526" y="3644900"/>
            <a:ext cx="3386074" cy="2540000"/>
          </a:xfrm>
          <a:prstGeom prst="rect">
            <a:avLst/>
          </a:prstGeom>
        </p:spPr>
      </p:pic>
      <p:sp>
        <p:nvSpPr>
          <p:cNvPr id="11" name="object 11"/>
          <p:cNvSpPr txBox="1"/>
          <p:nvPr/>
        </p:nvSpPr>
        <p:spPr>
          <a:xfrm>
            <a:off x="4867402" y="6121095"/>
            <a:ext cx="2878455"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009999"/>
                </a:solidFill>
                <a:latin typeface="Microsoft JhengHei"/>
                <a:cs typeface="Microsoft JhengHei"/>
              </a:rPr>
              <a:t>蒲公英有节乳汁管</a:t>
            </a:r>
            <a:endParaRPr sz="2800">
              <a:latin typeface="Microsoft JhengHei"/>
              <a:cs typeface="Microsoft JhengHei"/>
            </a:endParaRPr>
          </a:p>
        </p:txBody>
      </p:sp>
      <p:sp>
        <p:nvSpPr>
          <p:cNvPr id="12" name="object 12"/>
          <p:cNvSpPr txBox="1"/>
          <p:nvPr/>
        </p:nvSpPr>
        <p:spPr>
          <a:xfrm>
            <a:off x="4428871" y="401955"/>
            <a:ext cx="280035" cy="2595245"/>
          </a:xfrm>
          <a:prstGeom prst="rect">
            <a:avLst/>
          </a:prstGeom>
        </p:spPr>
        <p:txBody>
          <a:bodyPr vert="horz" wrap="square" lIns="0" tIns="66675" rIns="0" bIns="0" rtlCol="0">
            <a:spAutoFit/>
          </a:bodyPr>
          <a:lstStyle/>
          <a:p>
            <a:pPr marL="12700" marR="5080" algn="just">
              <a:lnSpc>
                <a:spcPct val="82500"/>
              </a:lnSpc>
              <a:spcBef>
                <a:spcPts val="525"/>
              </a:spcBef>
            </a:pPr>
            <a:r>
              <a:rPr sz="2000" b="1" spc="-50" dirty="0">
                <a:solidFill>
                  <a:srgbClr val="006600"/>
                </a:solidFill>
                <a:latin typeface="Microsoft JhengHei"/>
                <a:cs typeface="Microsoft JhengHei"/>
              </a:rPr>
              <a:t>大戟科植物茎中的乳汁</a:t>
            </a:r>
            <a:endParaRPr sz="2000">
              <a:latin typeface="Microsoft JhengHei"/>
              <a:cs typeface="Microsoft JhengHei"/>
            </a:endParaRPr>
          </a:p>
        </p:txBody>
      </p:sp>
      <p:pic>
        <p:nvPicPr>
          <p:cNvPr id="13" name="object 13"/>
          <p:cNvPicPr/>
          <p:nvPr/>
        </p:nvPicPr>
        <p:blipFill>
          <a:blip r:embed="rId6" cstate="print"/>
          <a:stretch>
            <a:fillRect/>
          </a:stretch>
        </p:blipFill>
        <p:spPr>
          <a:xfrm>
            <a:off x="4835525" y="0"/>
            <a:ext cx="3336925" cy="36036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7" name="Rectangle 2"/>
          <p:cNvSpPr>
            <a:spLocks noGrp="1"/>
          </p:cNvSpPr>
          <p:nvPr>
            <p:ph type="title"/>
          </p:nvPr>
        </p:nvSpPr>
        <p:spPr>
          <a:xfrm>
            <a:off x="107950" y="333375"/>
            <a:ext cx="9144000" cy="709613"/>
          </a:xfrm>
        </p:spPr>
        <p:txBody>
          <a:bodyPr vert="horz" wrap="square" lIns="91440" tIns="45720" rIns="91440" bIns="45720" anchor="b" anchorCtr="0"/>
          <a:lstStyle/>
          <a:p>
            <a:pPr eaLnBrk="1" hangingPunct="1"/>
            <a:r>
              <a:rPr lang="zh-CN" altLang="en-US" b="1" dirty="0">
                <a:solidFill>
                  <a:schemeClr val="tx1"/>
                </a:solidFill>
                <a:latin typeface="黑体" panose="02010609060101010101" pitchFamily="49" charset="-122"/>
                <a:ea typeface="黑体" panose="02010609060101010101" pitchFamily="49" charset="-122"/>
              </a:rPr>
              <a:t>器官基本概念</a:t>
            </a:r>
            <a:r>
              <a:rPr lang="en-US" altLang="zh-CN" b="1" dirty="0">
                <a:solidFill>
                  <a:schemeClr val="tx1"/>
                </a:solidFill>
                <a:latin typeface="黑体" panose="02010609060101010101" pitchFamily="49" charset="-122"/>
                <a:ea typeface="黑体" panose="02010609060101010101" pitchFamily="49" charset="-122"/>
              </a:rPr>
              <a:t>:</a:t>
            </a:r>
            <a:endParaRPr lang="zh-CN" altLang="en-US" b="1" dirty="0">
              <a:solidFill>
                <a:schemeClr val="tx1"/>
              </a:solidFill>
              <a:latin typeface="黑体" panose="02010609060101010101" pitchFamily="49" charset="-122"/>
              <a:ea typeface="黑体" panose="02010609060101010101" pitchFamily="49" charset="-122"/>
            </a:endParaRPr>
          </a:p>
        </p:txBody>
      </p:sp>
      <p:sp>
        <p:nvSpPr>
          <p:cNvPr id="470018" name="Rectangle 3"/>
          <p:cNvSpPr>
            <a:spLocks noGrp="1"/>
          </p:cNvSpPr>
          <p:nvPr>
            <p:ph idx="1"/>
          </p:nvPr>
        </p:nvSpPr>
        <p:spPr>
          <a:xfrm>
            <a:off x="125413" y="1104900"/>
            <a:ext cx="8893175" cy="5562600"/>
          </a:xfrm>
        </p:spPr>
        <p:txBody>
          <a:bodyPr vert="horz" wrap="square" lIns="91440" tIns="45720" rIns="91440" bIns="45720" anchor="t" anchorCtr="0"/>
          <a:lstStyle/>
          <a:p>
            <a:pPr eaLnBrk="1" hangingPunct="1">
              <a:lnSpc>
                <a:spcPct val="180000"/>
              </a:lnSpc>
            </a:pPr>
            <a:r>
              <a:rPr lang="zh-CN" altLang="en-US" b="1" dirty="0">
                <a:solidFill>
                  <a:srgbClr val="FF3300"/>
                </a:solidFill>
                <a:latin typeface="黑体" panose="02010609060101010101" pitchFamily="49" charset="-122"/>
                <a:ea typeface="黑体" panose="02010609060101010101" pitchFamily="49" charset="-122"/>
              </a:rPr>
              <a:t>器官：</a:t>
            </a:r>
            <a:r>
              <a:rPr lang="zh-CN" altLang="en-US" b="1" dirty="0">
                <a:solidFill>
                  <a:schemeClr val="tx1"/>
                </a:solidFill>
                <a:latin typeface="黑体" panose="02010609060101010101" pitchFamily="49" charset="-122"/>
                <a:ea typeface="黑体" panose="02010609060101010101" pitchFamily="49" charset="-122"/>
              </a:rPr>
              <a:t>由多种组织组成，具有显著形态特征和特定功能、易于区分的结构，称为器官（</a:t>
            </a:r>
            <a:r>
              <a:rPr lang="en-US" altLang="zh-CN" b="1" dirty="0">
                <a:solidFill>
                  <a:schemeClr val="tx1"/>
                </a:solidFill>
                <a:latin typeface="黑体" panose="02010609060101010101" pitchFamily="49" charset="-122"/>
                <a:ea typeface="黑体" panose="02010609060101010101" pitchFamily="49" charset="-122"/>
              </a:rPr>
              <a:t>organ</a:t>
            </a:r>
            <a:r>
              <a:rPr lang="zh-CN" altLang="en-US" b="1" dirty="0">
                <a:solidFill>
                  <a:schemeClr val="tx1"/>
                </a:solidFill>
                <a:latin typeface="黑体" panose="02010609060101010101" pitchFamily="49" charset="-122"/>
                <a:ea typeface="黑体" panose="02010609060101010101" pitchFamily="49" charset="-122"/>
              </a:rPr>
              <a:t>）。 </a:t>
            </a:r>
          </a:p>
          <a:p>
            <a:pPr eaLnBrk="1" hangingPunct="1">
              <a:lnSpc>
                <a:spcPct val="180000"/>
              </a:lnSpc>
            </a:pPr>
            <a:r>
              <a:rPr lang="zh-CN" altLang="en-US" b="1" dirty="0">
                <a:solidFill>
                  <a:srgbClr val="FF3300"/>
                </a:solidFill>
                <a:latin typeface="黑体" panose="02010609060101010101" pitchFamily="49" charset="-122"/>
                <a:ea typeface="黑体" panose="02010609060101010101" pitchFamily="49" charset="-122"/>
              </a:rPr>
              <a:t>营养器官：</a:t>
            </a:r>
            <a:r>
              <a:rPr lang="zh-CN" altLang="en-US" b="1" dirty="0">
                <a:solidFill>
                  <a:schemeClr val="tx1"/>
                </a:solidFill>
                <a:latin typeface="黑体" panose="02010609060101010101" pitchFamily="49" charset="-122"/>
                <a:ea typeface="黑体" panose="02010609060101010101" pitchFamily="49" charset="-122"/>
              </a:rPr>
              <a:t>担负植物体营养生长的器官统称为营养器官（</a:t>
            </a:r>
            <a:r>
              <a:rPr lang="en-US" altLang="zh-CN" b="1" dirty="0">
                <a:solidFill>
                  <a:schemeClr val="tx1"/>
                </a:solidFill>
                <a:latin typeface="黑体" panose="02010609060101010101" pitchFamily="49" charset="-122"/>
                <a:ea typeface="黑体" panose="02010609060101010101" pitchFamily="49" charset="-122"/>
              </a:rPr>
              <a:t>vegetative organ</a:t>
            </a:r>
            <a:r>
              <a:rPr lang="zh-CN" altLang="en-US" b="1" dirty="0">
                <a:solidFill>
                  <a:schemeClr val="tx1"/>
                </a:solidFill>
                <a:latin typeface="黑体" panose="02010609060101010101" pitchFamily="49" charset="-122"/>
                <a:ea typeface="黑体" panose="02010609060101010101" pitchFamily="49" charset="-122"/>
              </a:rPr>
              <a:t>）。 </a:t>
            </a:r>
          </a:p>
          <a:p>
            <a:pPr lvl="1" eaLnBrk="1" hangingPunct="1">
              <a:lnSpc>
                <a:spcPct val="180000"/>
              </a:lnSpc>
            </a:pPr>
            <a:r>
              <a:rPr lang="zh-CN" altLang="en-US" b="1" dirty="0">
                <a:solidFill>
                  <a:schemeClr val="tx1"/>
                </a:solidFill>
                <a:latin typeface="黑体" panose="02010609060101010101" pitchFamily="49" charset="-122"/>
                <a:ea typeface="黑体" panose="02010609060101010101" pitchFamily="49" charset="-122"/>
              </a:rPr>
              <a:t>器官由</a:t>
            </a:r>
            <a:r>
              <a:rPr lang="zh-CN" altLang="en-US" b="1" dirty="0">
                <a:solidFill>
                  <a:srgbClr val="FF0000"/>
                </a:solidFill>
                <a:latin typeface="黑体" panose="02010609060101010101" pitchFamily="49" charset="-122"/>
                <a:ea typeface="黑体" panose="02010609060101010101" pitchFamily="49" charset="-122"/>
              </a:rPr>
              <a:t>营养器官</a:t>
            </a:r>
            <a:r>
              <a:rPr lang="zh-CN" altLang="en-US" b="1" dirty="0">
                <a:solidFill>
                  <a:schemeClr val="tx1"/>
                </a:solidFill>
                <a:latin typeface="黑体" panose="02010609060101010101" pitchFamily="49" charset="-122"/>
                <a:ea typeface="黑体" panose="02010609060101010101" pitchFamily="49" charset="-122"/>
              </a:rPr>
              <a:t>和</a:t>
            </a:r>
            <a:r>
              <a:rPr lang="zh-CN" altLang="en-US" b="1" dirty="0">
                <a:solidFill>
                  <a:srgbClr val="FF0000"/>
                </a:solidFill>
                <a:latin typeface="黑体" panose="02010609060101010101" pitchFamily="49" charset="-122"/>
                <a:ea typeface="黑体" panose="02010609060101010101" pitchFamily="49" charset="-122"/>
              </a:rPr>
              <a:t>繁殖器官</a:t>
            </a:r>
            <a:r>
              <a:rPr lang="zh-CN" altLang="en-US" b="1" dirty="0">
                <a:solidFill>
                  <a:schemeClr val="tx1"/>
                </a:solidFill>
                <a:latin typeface="黑体" panose="02010609060101010101" pitchFamily="49" charset="-122"/>
                <a:ea typeface="黑体" panose="02010609060101010101" pitchFamily="49" charset="-122"/>
              </a:rPr>
              <a:t>二大类，</a:t>
            </a:r>
            <a:r>
              <a:rPr lang="zh-CN" altLang="en-US" b="1" dirty="0">
                <a:solidFill>
                  <a:srgbClr val="0000FF"/>
                </a:solidFill>
                <a:latin typeface="黑体" panose="02010609060101010101" pitchFamily="49" charset="-122"/>
                <a:ea typeface="黑体" panose="02010609060101010101" pitchFamily="49" charset="-122"/>
              </a:rPr>
              <a:t>营养器官包括根、茎和叶三类</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繁殖器官由花、果实和种子三类</a:t>
            </a:r>
            <a:r>
              <a:rPr lang="zh-CN" altLang="en-US" b="1" dirty="0">
                <a:solidFill>
                  <a:schemeClr val="tx1"/>
                </a:solidFill>
                <a:latin typeface="黑体" panose="02010609060101010101" pitchFamily="49" charset="-122"/>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1" name="Rectangle 2"/>
          <p:cNvSpPr>
            <a:spLocks noGrp="1"/>
          </p:cNvSpPr>
          <p:nvPr>
            <p:ph type="title"/>
          </p:nvPr>
        </p:nvSpPr>
        <p:spPr>
          <a:xfrm>
            <a:off x="0" y="25400"/>
            <a:ext cx="9144000" cy="598488"/>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p>
        </p:txBody>
      </p:sp>
      <p:sp>
        <p:nvSpPr>
          <p:cNvPr id="471042" name="Rectangle 3"/>
          <p:cNvSpPr>
            <a:spLocks noGrp="1"/>
          </p:cNvSpPr>
          <p:nvPr>
            <p:ph idx="1"/>
          </p:nvPr>
        </p:nvSpPr>
        <p:spPr>
          <a:xfrm>
            <a:off x="323850" y="1155700"/>
            <a:ext cx="9036050" cy="5562600"/>
          </a:xfrm>
        </p:spPr>
        <p:txBody>
          <a:bodyPr vert="horz" wrap="square" lIns="91440" tIns="45720" rIns="91440" bIns="45720" anchor="t" anchorCtr="0"/>
          <a:lstStyle/>
          <a:p>
            <a:pPr marL="0" indent="0" eaLnBrk="1" hangingPunct="1">
              <a:lnSpc>
                <a:spcPct val="110000"/>
              </a:lnSpc>
              <a:buNone/>
            </a:pPr>
            <a:r>
              <a:rPr lang="zh-CN" altLang="en-US" sz="2400" b="1" dirty="0">
                <a:latin typeface="黑体" panose="02010609060101010101" pitchFamily="49" charset="-122"/>
                <a:ea typeface="黑体" panose="02010609060101010101" pitchFamily="49" charset="-122"/>
              </a:rPr>
              <a:t>①吸收作用：</a:t>
            </a:r>
            <a:r>
              <a:rPr lang="zh-CN" altLang="en-US" sz="2400" b="1" dirty="0">
                <a:solidFill>
                  <a:schemeClr val="tx1"/>
                </a:solidFill>
                <a:latin typeface="黑体" panose="02010609060101010101" pitchFamily="49" charset="-122"/>
                <a:ea typeface="黑体" panose="02010609060101010101" pitchFamily="49" charset="-122"/>
              </a:rPr>
              <a:t>吸收土壤中的水和无机盐类。</a:t>
            </a:r>
            <a:endParaRPr lang="en-US" altLang="zh-CN" sz="2400" b="1" dirty="0">
              <a:solidFill>
                <a:schemeClr val="tx1"/>
              </a:solidFill>
              <a:latin typeface="黑体" panose="02010609060101010101" pitchFamily="49" charset="-122"/>
              <a:ea typeface="黑体" panose="02010609060101010101" pitchFamily="49" charset="-122"/>
            </a:endParaRPr>
          </a:p>
          <a:p>
            <a:pPr marL="0" indent="0" eaLnBrk="1" hangingPunct="1">
              <a:lnSpc>
                <a:spcPct val="110000"/>
              </a:lnSpc>
              <a:buNone/>
            </a:pPr>
            <a:r>
              <a:rPr lang="zh-CN" altLang="en-US" sz="2400" b="1" dirty="0">
                <a:latin typeface="黑体" panose="02010609060101010101" pitchFamily="49" charset="-122"/>
                <a:ea typeface="黑体" panose="02010609060101010101" pitchFamily="49" charset="-122"/>
              </a:rPr>
              <a:t>②固着、支持作用：</a:t>
            </a:r>
            <a:r>
              <a:rPr lang="zh-CN" altLang="en-US" sz="2400" b="1" dirty="0">
                <a:solidFill>
                  <a:schemeClr val="tx1"/>
                </a:solidFill>
                <a:latin typeface="黑体" panose="02010609060101010101" pitchFamily="49" charset="-122"/>
                <a:ea typeface="黑体" panose="02010609060101010101" pitchFamily="49" charset="-122"/>
              </a:rPr>
              <a:t>植物体有反复分枝、深入土壤的庞大根系，以及根内牢固的机械组织和维管组织的共同作用，足以固着和支持地上的枝叶系统。 </a:t>
            </a:r>
          </a:p>
          <a:p>
            <a:pPr marL="0" indent="0" eaLnBrk="1" hangingPunct="1">
              <a:lnSpc>
                <a:spcPct val="110000"/>
              </a:lnSpc>
              <a:buNone/>
            </a:pPr>
            <a:r>
              <a:rPr lang="zh-CN" altLang="en-US" sz="2400" b="1" dirty="0">
                <a:latin typeface="黑体" panose="02010609060101010101" pitchFamily="49" charset="-122"/>
                <a:ea typeface="黑体" panose="02010609060101010101" pitchFamily="49" charset="-122"/>
              </a:rPr>
              <a:t>③输导作用：</a:t>
            </a:r>
            <a:r>
              <a:rPr lang="zh-CN" altLang="en-US" sz="2400" b="1" dirty="0">
                <a:solidFill>
                  <a:schemeClr val="tx1"/>
                </a:solidFill>
                <a:latin typeface="黑体" panose="02010609060101010101" pitchFamily="49" charset="-122"/>
                <a:ea typeface="黑体" panose="02010609060101010101" pitchFamily="49" charset="-122"/>
              </a:rPr>
              <a:t>根吸收的水分和无机盐，通过其维管组织输送到地上部分，叶制造的有机养料由茎到根，再经根的维管组织输送到其各部分，以维持根的生长和生活的需要。 </a:t>
            </a:r>
          </a:p>
          <a:p>
            <a:pPr marL="0" indent="0" eaLnBrk="1" hangingPunct="1">
              <a:lnSpc>
                <a:spcPct val="110000"/>
              </a:lnSpc>
              <a:buNone/>
            </a:pPr>
            <a:r>
              <a:rPr lang="zh-CN" altLang="en-US" sz="2400" b="1" dirty="0">
                <a:latin typeface="黑体" panose="02010609060101010101" pitchFamily="49" charset="-122"/>
                <a:ea typeface="黑体" panose="02010609060101010101" pitchFamily="49" charset="-122"/>
              </a:rPr>
              <a:t>④合成功能：</a:t>
            </a:r>
            <a:r>
              <a:rPr lang="zh-CN" altLang="en-US" sz="2400" b="1" dirty="0">
                <a:solidFill>
                  <a:schemeClr val="tx1"/>
                </a:solidFill>
                <a:latin typeface="黑体" panose="02010609060101010101" pitchFamily="49" charset="-122"/>
                <a:ea typeface="黑体" panose="02010609060101010101" pitchFamily="49" charset="-122"/>
              </a:rPr>
              <a:t>根能合成各种激素、植物碱、氨基酸。</a:t>
            </a:r>
          </a:p>
          <a:p>
            <a:pPr marL="0" indent="0" eaLnBrk="1" hangingPunct="1">
              <a:lnSpc>
                <a:spcPct val="110000"/>
              </a:lnSpc>
              <a:buNone/>
            </a:pPr>
            <a:r>
              <a:rPr lang="zh-CN" altLang="en-US" sz="2400" b="1" dirty="0">
                <a:latin typeface="黑体" panose="02010609060101010101" pitchFamily="49" charset="-122"/>
                <a:ea typeface="黑体" panose="02010609060101010101" pitchFamily="49" charset="-122"/>
              </a:rPr>
              <a:t>⑤贮藏功能：</a:t>
            </a:r>
            <a:r>
              <a:rPr lang="zh-CN" altLang="en-US" sz="2400" b="1" dirty="0">
                <a:solidFill>
                  <a:schemeClr val="tx1"/>
                </a:solidFill>
                <a:latin typeface="黑体" panose="02010609060101010101" pitchFamily="49" charset="-122"/>
                <a:ea typeface="黑体" panose="02010609060101010101" pitchFamily="49" charset="-122"/>
              </a:rPr>
              <a:t>根内有较发达的薄壁组织，主要行使贮藏功能。</a:t>
            </a:r>
          </a:p>
          <a:p>
            <a:pPr marL="0" indent="0" eaLnBrk="1" hangingPunct="1">
              <a:lnSpc>
                <a:spcPct val="110000"/>
              </a:lnSpc>
              <a:buNone/>
            </a:pPr>
            <a:r>
              <a:rPr lang="zh-CN" altLang="en-US" sz="2400" b="1" dirty="0">
                <a:latin typeface="黑体" panose="02010609060101010101" pitchFamily="49" charset="-122"/>
                <a:ea typeface="黑体" panose="02010609060101010101" pitchFamily="49" charset="-122"/>
              </a:rPr>
              <a:t>⑥繁殖功能：</a:t>
            </a:r>
            <a:r>
              <a:rPr lang="zh-CN" altLang="en-US" sz="2400" b="1" dirty="0">
                <a:solidFill>
                  <a:schemeClr val="tx1"/>
                </a:solidFill>
                <a:latin typeface="黑体" panose="02010609060101010101" pitchFamily="49" charset="-122"/>
                <a:ea typeface="黑体" panose="02010609060101010101" pitchFamily="49" charset="-122"/>
              </a:rPr>
              <a:t>主要以形成</a:t>
            </a:r>
            <a:r>
              <a:rPr lang="zh-CN" altLang="en-US" sz="2400" b="1" dirty="0">
                <a:solidFill>
                  <a:srgbClr val="FF0000"/>
                </a:solidFill>
                <a:latin typeface="黑体" panose="02010609060101010101" pitchFamily="49" charset="-122"/>
                <a:ea typeface="黑体" panose="02010609060101010101" pitchFamily="49" charset="-122"/>
              </a:rPr>
              <a:t>不定芽</a:t>
            </a:r>
            <a:r>
              <a:rPr lang="zh-CN" altLang="en-US" sz="2400" b="1" dirty="0">
                <a:solidFill>
                  <a:schemeClr val="tx1"/>
                </a:solidFill>
                <a:latin typeface="黑体" panose="02010609060101010101" pitchFamily="49" charset="-122"/>
                <a:ea typeface="黑体" panose="02010609060101010101" pitchFamily="49" charset="-122"/>
              </a:rPr>
              <a:t>的方式进行。  </a:t>
            </a:r>
          </a:p>
        </p:txBody>
      </p:sp>
      <p:sp>
        <p:nvSpPr>
          <p:cNvPr id="471043" name="文本框 1"/>
          <p:cNvSpPr txBox="1"/>
          <p:nvPr/>
        </p:nvSpPr>
        <p:spPr>
          <a:xfrm>
            <a:off x="323850" y="603250"/>
            <a:ext cx="1979613" cy="522288"/>
          </a:xfrm>
          <a:prstGeom prst="rect">
            <a:avLst/>
          </a:prstGeom>
          <a:noFill/>
          <a:ln w="9525">
            <a:noFill/>
          </a:ln>
        </p:spPr>
        <p:txBody>
          <a:bodyPr wrap="none" anchor="t" anchorCtr="0">
            <a:spAutoFit/>
          </a:bodyPr>
          <a:lstStyle/>
          <a:p>
            <a:pPr eaLnBrk="0" hangingPunct="0"/>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根的功能</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5" name="Rectangle 2"/>
          <p:cNvSpPr>
            <a:spLocks noGrp="1"/>
          </p:cNvSpPr>
          <p:nvPr>
            <p:ph type="title"/>
          </p:nvPr>
        </p:nvSpPr>
        <p:spPr>
          <a:xfrm>
            <a:off x="0" y="76200"/>
            <a:ext cx="9144000" cy="133667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3333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根尖的结构</a:t>
            </a:r>
          </a:p>
        </p:txBody>
      </p:sp>
      <p:sp>
        <p:nvSpPr>
          <p:cNvPr id="472066" name="Rectangle 3"/>
          <p:cNvSpPr>
            <a:spLocks noGrp="1"/>
          </p:cNvSpPr>
          <p:nvPr>
            <p:ph idx="1"/>
          </p:nvPr>
        </p:nvSpPr>
        <p:spPr>
          <a:xfrm>
            <a:off x="107950" y="1341438"/>
            <a:ext cx="9144000" cy="4824412"/>
          </a:xfrm>
        </p:spPr>
        <p:txBody>
          <a:bodyPr vert="horz" wrap="square" lIns="91440" tIns="45720" rIns="91440" bIns="45720" anchor="t" anchorCtr="0"/>
          <a:lstStyle/>
          <a:p>
            <a:pPr marL="0" indent="0" eaLnBrk="1" hangingPunct="1">
              <a:lnSpc>
                <a:spcPct val="140000"/>
              </a:lnSpc>
              <a:buNone/>
            </a:pPr>
            <a:r>
              <a:rPr lang="en-US" altLang="zh-CN" dirty="0">
                <a:solidFill>
                  <a:srgbClr val="FF0000"/>
                </a:solidFill>
                <a:latin typeface="华文新魏" panose="02010800040101010101" pitchFamily="2" charset="-122"/>
              </a:rPr>
              <a:t>  </a:t>
            </a:r>
            <a:r>
              <a:rPr lang="zh-CN" altLang="en-US" b="1" dirty="0">
                <a:solidFill>
                  <a:srgbClr val="FF0000"/>
                </a:solidFill>
                <a:latin typeface="黑体" panose="02010609060101010101" pitchFamily="49" charset="-122"/>
                <a:ea typeface="黑体" panose="02010609060101010101" pitchFamily="49" charset="-122"/>
              </a:rPr>
              <a:t>定义：</a:t>
            </a:r>
            <a:r>
              <a:rPr lang="zh-CN" altLang="en-US" b="1" dirty="0">
                <a:solidFill>
                  <a:schemeClr val="tx1"/>
                </a:solidFill>
                <a:latin typeface="黑体" panose="02010609060101010101" pitchFamily="49" charset="-122"/>
                <a:ea typeface="黑体" panose="02010609060101010101" pitchFamily="49" charset="-122"/>
              </a:rPr>
              <a:t>从根的最尖端到着生根毛的部分（包括所有根毛所在的区域）由根冠、分生区、伸长区和成熟区构成。</a:t>
            </a:r>
          </a:p>
          <a:p>
            <a:pPr marL="0" indent="0" eaLnBrk="1" hangingPunct="1">
              <a:lnSpc>
                <a:spcPct val="140000"/>
              </a:lnSpc>
              <a:buNone/>
            </a:pPr>
            <a:r>
              <a:rPr lang="zh-CN" altLang="en-US" b="1" dirty="0">
                <a:solidFill>
                  <a:srgbClr val="FF0000"/>
                </a:solidFill>
                <a:latin typeface="黑体" panose="02010609060101010101" pitchFamily="49" charset="-122"/>
                <a:ea typeface="黑体" panose="02010609060101010101" pitchFamily="49" charset="-122"/>
              </a:rPr>
              <a:t>知识点：</a:t>
            </a:r>
            <a:r>
              <a:rPr lang="zh-CN" altLang="en-US" sz="2400" b="1" dirty="0">
                <a:latin typeface="黑体" panose="02010609060101010101" pitchFamily="49" charset="-122"/>
                <a:ea typeface="黑体" panose="02010609060101010101" pitchFamily="49" charset="-122"/>
              </a:rPr>
              <a:t>①各区的范围界定（识别）</a:t>
            </a:r>
          </a:p>
          <a:p>
            <a:pPr marL="457200" lvl="1" indent="0" eaLnBrk="1" hangingPunct="1">
              <a:lnSpc>
                <a:spcPct val="140000"/>
              </a:lnSpc>
              <a:buNone/>
            </a:pPr>
            <a:r>
              <a:rPr lang="zh-CN" altLang="en-US" b="1" dirty="0">
                <a:solidFill>
                  <a:srgbClr val="0000FF"/>
                </a:solidFill>
                <a:latin typeface="黑体" panose="02010609060101010101" pitchFamily="49" charset="-122"/>
                <a:ea typeface="黑体" panose="02010609060101010101" pitchFamily="49" charset="-122"/>
              </a:rPr>
              <a:t>     ②特征</a:t>
            </a:r>
          </a:p>
          <a:p>
            <a:pPr marL="457200" lvl="1" indent="0" eaLnBrk="1" hangingPunct="1">
              <a:lnSpc>
                <a:spcPct val="140000"/>
              </a:lnSpc>
              <a:buNone/>
            </a:pPr>
            <a:r>
              <a:rPr lang="zh-CN" altLang="en-US" b="1" dirty="0">
                <a:solidFill>
                  <a:srgbClr val="0000FF"/>
                </a:solidFill>
                <a:latin typeface="黑体" panose="02010609060101010101" pitchFamily="49" charset="-122"/>
                <a:ea typeface="黑体" panose="02010609060101010101" pitchFamily="49" charset="-122"/>
              </a:rPr>
              <a:t>     ③变化</a:t>
            </a:r>
          </a:p>
          <a:p>
            <a:pPr marL="457200" lvl="1" indent="0" eaLnBrk="1" hangingPunct="1">
              <a:lnSpc>
                <a:spcPct val="140000"/>
              </a:lnSpc>
              <a:buNone/>
            </a:pPr>
            <a:r>
              <a:rPr lang="zh-CN" altLang="en-US" b="1" dirty="0">
                <a:solidFill>
                  <a:srgbClr val="0000FF"/>
                </a:solidFill>
                <a:latin typeface="黑体" panose="02010609060101010101" pitchFamily="49" charset="-122"/>
                <a:ea typeface="黑体" panose="02010609060101010101" pitchFamily="49" charset="-122"/>
              </a:rPr>
              <a:t>     ④功能</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3089" name="Picture 18" descr="D:\刘宗才\植物学素材\教学素材\营养器官\根毛.JPG.JPG"/>
          <p:cNvPicPr>
            <a:picLocks noChangeAspect="1"/>
          </p:cNvPicPr>
          <p:nvPr/>
        </p:nvPicPr>
        <p:blipFill>
          <a:blip r:embed="rId2"/>
          <a:stretch>
            <a:fillRect/>
          </a:stretch>
        </p:blipFill>
        <p:spPr>
          <a:xfrm>
            <a:off x="19050" y="3062288"/>
            <a:ext cx="4476750" cy="3357562"/>
          </a:xfrm>
          <a:prstGeom prst="rect">
            <a:avLst/>
          </a:prstGeom>
          <a:noFill/>
          <a:ln w="9525">
            <a:noFill/>
          </a:ln>
        </p:spPr>
      </p:pic>
      <p:sp>
        <p:nvSpPr>
          <p:cNvPr id="473090" name="Text Box 6"/>
          <p:cNvSpPr txBox="1"/>
          <p:nvPr/>
        </p:nvSpPr>
        <p:spPr>
          <a:xfrm>
            <a:off x="7621588" y="5013325"/>
            <a:ext cx="1524000" cy="1668463"/>
          </a:xfrm>
          <a:prstGeom prst="rect">
            <a:avLst/>
          </a:prstGeom>
          <a:noFill/>
          <a:ln w="9525">
            <a:noFill/>
          </a:ln>
        </p:spPr>
        <p:txBody>
          <a:bodyPr anchor="t" anchorCtr="0">
            <a:spAutoFit/>
          </a:bodyPr>
          <a:lstStyle/>
          <a:p>
            <a:pPr algn="ctr">
              <a:lnSpc>
                <a:spcPct val="80000"/>
              </a:lnSpc>
              <a:spcBef>
                <a:spcPct val="50000"/>
              </a:spcBef>
            </a:pPr>
            <a:r>
              <a:rPr lang="zh-CN" altLang="en-US" sz="2200" dirty="0">
                <a:solidFill>
                  <a:srgbClr val="0000FF"/>
                </a:solidFill>
                <a:latin typeface="Times New Roman" panose="02020603050405020304" pitchFamily="18" charset="0"/>
                <a:ea typeface="华文新魏" panose="02010800040101010101" pitchFamily="2" charset="-122"/>
              </a:rPr>
              <a:t>生长点</a:t>
            </a:r>
          </a:p>
          <a:p>
            <a:pPr algn="ctr">
              <a:lnSpc>
                <a:spcPct val="40000"/>
              </a:lnSpc>
              <a:spcBef>
                <a:spcPct val="50000"/>
              </a:spcBef>
            </a:pPr>
            <a:r>
              <a:rPr lang="zh-CN" altLang="en-US" sz="2200" dirty="0">
                <a:solidFill>
                  <a:srgbClr val="0000FF"/>
                </a:solidFill>
                <a:latin typeface="Times New Roman" panose="02020603050405020304" pitchFamily="18" charset="0"/>
                <a:ea typeface="华文新魏" panose="02010800040101010101" pitchFamily="2" charset="-122"/>
              </a:rPr>
              <a:t>（分生区）</a:t>
            </a:r>
          </a:p>
          <a:p>
            <a:pPr algn="ctr">
              <a:spcBef>
                <a:spcPct val="50000"/>
              </a:spcBef>
            </a:pPr>
            <a:r>
              <a:rPr lang="zh-CN" altLang="en-US" sz="2200" dirty="0">
                <a:latin typeface="Times New Roman" panose="02020603050405020304" pitchFamily="18" charset="0"/>
                <a:ea typeface="华文新魏" panose="02010800040101010101" pitchFamily="2" charset="-122"/>
              </a:rPr>
              <a:t>根冠</a:t>
            </a:r>
          </a:p>
          <a:p>
            <a:pPr algn="ctr">
              <a:spcBef>
                <a:spcPct val="50000"/>
              </a:spcBef>
            </a:pPr>
            <a:endParaRPr lang="en-US" altLang="zh-CN" sz="2200" dirty="0">
              <a:latin typeface="Times New Roman" panose="02020603050405020304" pitchFamily="18" charset="0"/>
              <a:ea typeface="华文新魏" panose="02010800040101010101" pitchFamily="2" charset="-122"/>
            </a:endParaRPr>
          </a:p>
        </p:txBody>
      </p:sp>
      <p:sp>
        <p:nvSpPr>
          <p:cNvPr id="473091" name="AutoShape 7"/>
          <p:cNvSpPr/>
          <p:nvPr/>
        </p:nvSpPr>
        <p:spPr>
          <a:xfrm>
            <a:off x="7620000" y="4914900"/>
            <a:ext cx="152400" cy="838200"/>
          </a:xfrm>
          <a:prstGeom prst="rightBrace">
            <a:avLst>
              <a:gd name="adj1" fmla="val 45476"/>
              <a:gd name="adj2" fmla="val 50000"/>
            </a:avLst>
          </a:prstGeom>
          <a:noFill/>
          <a:ln w="38100"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73092" name="AutoShape 8"/>
          <p:cNvSpPr/>
          <p:nvPr/>
        </p:nvSpPr>
        <p:spPr>
          <a:xfrm>
            <a:off x="7677150" y="5772150"/>
            <a:ext cx="76200" cy="609600"/>
          </a:xfrm>
          <a:prstGeom prst="rightBrace">
            <a:avLst>
              <a:gd name="adj1" fmla="val 66148"/>
              <a:gd name="adj2" fmla="val 50000"/>
            </a:avLst>
          </a:prstGeom>
          <a:noFill/>
          <a:ln w="38100" cap="flat" cmpd="sng">
            <a:solidFill>
              <a:srgbClr val="0000FF"/>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73093" name="Text Box 9"/>
          <p:cNvSpPr txBox="1"/>
          <p:nvPr/>
        </p:nvSpPr>
        <p:spPr>
          <a:xfrm>
            <a:off x="7696200" y="3763963"/>
            <a:ext cx="1219200" cy="427037"/>
          </a:xfrm>
          <a:prstGeom prst="rect">
            <a:avLst/>
          </a:prstGeom>
          <a:noFill/>
          <a:ln w="9525">
            <a:noFill/>
          </a:ln>
        </p:spPr>
        <p:txBody>
          <a:bodyPr anchor="t" anchorCtr="0">
            <a:spAutoFit/>
          </a:bodyPr>
          <a:lstStyle/>
          <a:p>
            <a:pPr>
              <a:spcBef>
                <a:spcPct val="50000"/>
              </a:spcBef>
            </a:pPr>
            <a:r>
              <a:rPr lang="zh-CN" altLang="en-US" sz="2200" dirty="0">
                <a:solidFill>
                  <a:srgbClr val="FF0000"/>
                </a:solidFill>
                <a:latin typeface="Times New Roman" panose="02020603050405020304" pitchFamily="18" charset="0"/>
                <a:ea typeface="华文新魏" panose="02010800040101010101" pitchFamily="2" charset="-122"/>
              </a:rPr>
              <a:t>伸长区</a:t>
            </a:r>
            <a:endParaRPr lang="zh-CN" altLang="en-US" dirty="0">
              <a:latin typeface="Times New Roman" panose="02020603050405020304" pitchFamily="18" charset="0"/>
              <a:ea typeface="华文新魏" panose="02010800040101010101" pitchFamily="2" charset="-122"/>
            </a:endParaRPr>
          </a:p>
        </p:txBody>
      </p:sp>
      <p:sp>
        <p:nvSpPr>
          <p:cNvPr id="473094" name="Text Box 10"/>
          <p:cNvSpPr txBox="1"/>
          <p:nvPr/>
        </p:nvSpPr>
        <p:spPr>
          <a:xfrm>
            <a:off x="7467600" y="1600200"/>
            <a:ext cx="1524000" cy="1041400"/>
          </a:xfrm>
          <a:prstGeom prst="rect">
            <a:avLst/>
          </a:prstGeom>
          <a:noFill/>
          <a:ln w="9525">
            <a:noFill/>
          </a:ln>
        </p:spPr>
        <p:txBody>
          <a:bodyPr anchor="t" anchorCtr="0">
            <a:spAutoFit/>
          </a:bodyPr>
          <a:lstStyle/>
          <a:p>
            <a:pPr algn="ctr">
              <a:lnSpc>
                <a:spcPct val="90000"/>
              </a:lnSpc>
              <a:spcBef>
                <a:spcPct val="50000"/>
              </a:spcBef>
            </a:pPr>
            <a:r>
              <a:rPr lang="zh-CN" altLang="en-US" sz="2300" dirty="0">
                <a:latin typeface="Times New Roman" panose="02020603050405020304" pitchFamily="18" charset="0"/>
                <a:ea typeface="华文新魏" panose="02010800040101010101" pitchFamily="2" charset="-122"/>
              </a:rPr>
              <a:t>成熟区</a:t>
            </a:r>
          </a:p>
          <a:p>
            <a:pPr>
              <a:lnSpc>
                <a:spcPct val="50000"/>
              </a:lnSpc>
              <a:spcBef>
                <a:spcPct val="50000"/>
              </a:spcBef>
            </a:pPr>
            <a:r>
              <a:rPr lang="zh-CN" altLang="en-US" sz="2300" dirty="0">
                <a:latin typeface="Times New Roman" panose="02020603050405020304" pitchFamily="18" charset="0"/>
                <a:ea typeface="华文新魏" panose="02010800040101010101" pitchFamily="2" charset="-122"/>
              </a:rPr>
              <a:t>（根毛区）</a:t>
            </a:r>
          </a:p>
          <a:p>
            <a:pPr>
              <a:lnSpc>
                <a:spcPct val="30000"/>
              </a:lnSpc>
              <a:spcBef>
                <a:spcPct val="50000"/>
              </a:spcBef>
            </a:pPr>
            <a:endParaRPr lang="en-US" altLang="zh-CN" sz="2300" dirty="0">
              <a:latin typeface="Times New Roman" panose="02020603050405020304" pitchFamily="18" charset="0"/>
              <a:ea typeface="华文新魏" panose="02010800040101010101" pitchFamily="2" charset="-122"/>
            </a:endParaRPr>
          </a:p>
        </p:txBody>
      </p:sp>
      <p:sp>
        <p:nvSpPr>
          <p:cNvPr id="473095" name="AutoShape 11"/>
          <p:cNvSpPr/>
          <p:nvPr/>
        </p:nvSpPr>
        <p:spPr>
          <a:xfrm>
            <a:off x="457200" y="2590800"/>
            <a:ext cx="1295400" cy="457200"/>
          </a:xfrm>
          <a:prstGeom prst="wedgeRoundRectCallout">
            <a:avLst>
              <a:gd name="adj1" fmla="val 46444"/>
              <a:gd name="adj2" fmla="val 235764"/>
              <a:gd name="adj3" fmla="val 16667"/>
            </a:avLst>
          </a:prstGeom>
          <a:noFill/>
          <a:ln w="9525" cap="flat" cmpd="sng">
            <a:solidFill>
              <a:srgbClr val="FF0000"/>
            </a:solidFill>
            <a:prstDash val="solid"/>
            <a:miter/>
            <a:headEnd type="none" w="med" len="med"/>
            <a:tailEnd type="none" w="med" len="med"/>
          </a:ln>
        </p:spPr>
        <p:txBody>
          <a:bodyPr anchor="t" anchorCtr="0"/>
          <a:lstStyle/>
          <a:p>
            <a:pPr algn="ctr">
              <a:lnSpc>
                <a:spcPct val="90000"/>
              </a:lnSpc>
            </a:pPr>
            <a:r>
              <a:rPr lang="zh-CN" altLang="en-US" dirty="0">
                <a:solidFill>
                  <a:srgbClr val="0000FF"/>
                </a:solidFill>
                <a:latin typeface="Times New Roman" panose="02020603050405020304" pitchFamily="18" charset="0"/>
                <a:ea typeface="华文新魏" panose="02010800040101010101" pitchFamily="2" charset="-122"/>
              </a:rPr>
              <a:t>根毛</a:t>
            </a:r>
          </a:p>
        </p:txBody>
      </p:sp>
      <p:sp>
        <p:nvSpPr>
          <p:cNvPr id="473096" name="AutoShape 12"/>
          <p:cNvSpPr/>
          <p:nvPr/>
        </p:nvSpPr>
        <p:spPr>
          <a:xfrm>
            <a:off x="1905000" y="2590800"/>
            <a:ext cx="1143000" cy="457200"/>
          </a:xfrm>
          <a:prstGeom prst="wedgeRoundRectCallout">
            <a:avLst>
              <a:gd name="adj1" fmla="val -38056"/>
              <a:gd name="adj2" fmla="val 370139"/>
              <a:gd name="adj3" fmla="val 16667"/>
            </a:avLst>
          </a:prstGeom>
          <a:noFill/>
          <a:ln w="9525" cap="flat" cmpd="sng">
            <a:solidFill>
              <a:srgbClr val="FF0000"/>
            </a:solidFill>
            <a:prstDash val="solid"/>
            <a:miter/>
            <a:headEnd type="none" w="med" len="med"/>
            <a:tailEnd type="none" w="med" len="med"/>
          </a:ln>
        </p:spPr>
        <p:txBody>
          <a:bodyPr anchor="t" anchorCtr="0"/>
          <a:lstStyle/>
          <a:p>
            <a:pPr algn="ctr">
              <a:lnSpc>
                <a:spcPct val="90000"/>
              </a:lnSpc>
            </a:pPr>
            <a:r>
              <a:rPr lang="zh-CN" altLang="en-US" dirty="0">
                <a:solidFill>
                  <a:srgbClr val="FF0000"/>
                </a:solidFill>
                <a:latin typeface="Times New Roman" panose="02020603050405020304" pitchFamily="18" charset="0"/>
                <a:ea typeface="华文新魏" panose="02010800040101010101" pitchFamily="2" charset="-122"/>
              </a:rPr>
              <a:t>表皮</a:t>
            </a:r>
          </a:p>
        </p:txBody>
      </p:sp>
      <p:sp>
        <p:nvSpPr>
          <p:cNvPr id="473097" name="AutoShape 13"/>
          <p:cNvSpPr/>
          <p:nvPr/>
        </p:nvSpPr>
        <p:spPr>
          <a:xfrm>
            <a:off x="3124200" y="2590800"/>
            <a:ext cx="1295400" cy="457200"/>
          </a:xfrm>
          <a:prstGeom prst="wedgeRoundRectCallout">
            <a:avLst>
              <a:gd name="adj1" fmla="val -20588"/>
              <a:gd name="adj2" fmla="val 466319"/>
              <a:gd name="adj3" fmla="val 16667"/>
            </a:avLst>
          </a:prstGeom>
          <a:noFill/>
          <a:ln w="9525" cap="flat" cmpd="sng">
            <a:solidFill>
              <a:srgbClr val="FF0000"/>
            </a:solidFill>
            <a:prstDash val="solid"/>
            <a:miter/>
            <a:headEnd type="none" w="med" len="med"/>
            <a:tailEnd type="none" w="med" len="med"/>
          </a:ln>
        </p:spPr>
        <p:txBody>
          <a:bodyPr anchor="t" anchorCtr="0"/>
          <a:lstStyle/>
          <a:p>
            <a:pPr algn="ctr">
              <a:lnSpc>
                <a:spcPct val="90000"/>
              </a:lnSpc>
            </a:pPr>
            <a:r>
              <a:rPr lang="zh-CN" altLang="en-US" dirty="0">
                <a:solidFill>
                  <a:srgbClr val="FF0000"/>
                </a:solidFill>
                <a:latin typeface="Times New Roman" panose="02020603050405020304" pitchFamily="18" charset="0"/>
                <a:ea typeface="华文新魏" panose="02010800040101010101" pitchFamily="2" charset="-122"/>
              </a:rPr>
              <a:t>外皮层</a:t>
            </a:r>
          </a:p>
        </p:txBody>
      </p:sp>
      <p:sp>
        <p:nvSpPr>
          <p:cNvPr id="473098"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根尖的结构</a:t>
            </a:r>
          </a:p>
        </p:txBody>
      </p:sp>
      <p:pic>
        <p:nvPicPr>
          <p:cNvPr id="473099" name="Picture 17" descr="D:\刘宗才\植物学素材\教学素材\营养器官\玉米根尖分区纵切.JPG"/>
          <p:cNvPicPr>
            <a:picLocks noChangeAspect="1"/>
          </p:cNvPicPr>
          <p:nvPr/>
        </p:nvPicPr>
        <p:blipFill>
          <a:blip r:embed="rId3"/>
          <a:stretch>
            <a:fillRect/>
          </a:stretch>
        </p:blipFill>
        <p:spPr>
          <a:xfrm>
            <a:off x="4495800" y="1295400"/>
            <a:ext cx="3165475" cy="51625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4113" name="图片 1"/>
          <p:cNvPicPr>
            <a:picLocks noChangeAspect="1"/>
          </p:cNvPicPr>
          <p:nvPr/>
        </p:nvPicPr>
        <p:blipFill>
          <a:blip r:embed="rId2"/>
          <a:stretch>
            <a:fillRect/>
          </a:stretch>
        </p:blipFill>
        <p:spPr>
          <a:xfrm>
            <a:off x="585788" y="709613"/>
            <a:ext cx="7972425" cy="54387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5137" name="图片 1"/>
          <p:cNvPicPr>
            <a:picLocks noChangeAspect="1"/>
          </p:cNvPicPr>
          <p:nvPr/>
        </p:nvPicPr>
        <p:blipFill>
          <a:blip r:embed="rId2"/>
          <a:stretch>
            <a:fillRect/>
          </a:stretch>
        </p:blipFill>
        <p:spPr>
          <a:xfrm>
            <a:off x="609600" y="1919288"/>
            <a:ext cx="7924800" cy="30194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6161" name="图片 1"/>
          <p:cNvPicPr>
            <a:picLocks noChangeAspect="1"/>
          </p:cNvPicPr>
          <p:nvPr/>
        </p:nvPicPr>
        <p:blipFill>
          <a:blip r:embed="rId2"/>
          <a:stretch>
            <a:fillRect/>
          </a:stretch>
        </p:blipFill>
        <p:spPr>
          <a:xfrm>
            <a:off x="581025" y="390525"/>
            <a:ext cx="7981950" cy="60769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7185" name="图片 1"/>
          <p:cNvPicPr>
            <a:picLocks noChangeAspect="1"/>
          </p:cNvPicPr>
          <p:nvPr/>
        </p:nvPicPr>
        <p:blipFill>
          <a:blip r:embed="rId2"/>
          <a:stretch>
            <a:fillRect/>
          </a:stretch>
        </p:blipFill>
        <p:spPr>
          <a:xfrm>
            <a:off x="38100" y="90488"/>
            <a:ext cx="9067800" cy="66770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09" name="Rectangle 2"/>
          <p:cNvSpPr>
            <a:spLocks noGrp="1"/>
          </p:cNvSpPr>
          <p:nvPr>
            <p:ph type="title"/>
          </p:nvPr>
        </p:nvSpPr>
        <p:spPr>
          <a:xfrm>
            <a:off x="0" y="188913"/>
            <a:ext cx="9144000" cy="1030287"/>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en-US" altLang="zh-CN" sz="2800" b="1" dirty="0">
                <a:latin typeface="黑体" panose="02010609060101010101" pitchFamily="49" charset="-122"/>
                <a:ea typeface="黑体" panose="02010609060101010101" pitchFamily="49" charset="-122"/>
              </a:rPr>
            </a:br>
            <a:r>
              <a:rPr lang="en-US" altLang="zh-CN" sz="2800" b="1" dirty="0">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 </a:t>
            </a:r>
          </a:p>
        </p:txBody>
      </p:sp>
      <p:sp>
        <p:nvSpPr>
          <p:cNvPr id="2253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基本概念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2" action="ppaction://hlinksldjump"/>
              </a:rPr>
              <a:t>表皮</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2" action="ppaction://hlinksldjump"/>
              </a:rPr>
              <a:t>（一）双子叶植物根</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3" action="ppaction://hlinksldjump"/>
              </a:rPr>
              <a:t>皮层</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位置 来源</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4" action="ppaction://hlinksldjump"/>
              </a:rPr>
              <a:t>中柱鞘</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5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2" action="ppaction://hlinksldjump"/>
              </a:rPr>
              <a:t>的初生结构</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p>
          <a:p>
            <a:pPr marL="342900" marR="0" lvl="0" indent="-342900" algn="l" defTabSz="914400" rtl="0" eaLnBrk="1" fontAlgn="base" latinLnBrk="0" hangingPunct="1">
              <a:lnSpc>
                <a:spcPct val="5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维管柱</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4" action="ppaction://hlinksldjump"/>
              </a:rPr>
              <a:t>结构特征</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7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5" action="ppaction://hlinksldjump"/>
              </a:rPr>
              <a:t>功能</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rId6" action="ppaction://hlinksldjump"/>
              </a:rPr>
              <a:t>初生维管组织</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表皮</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皮层</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结构</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维管柱</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（二）单子叶植物</a:t>
            </a: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髓</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4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根的结构</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500" b="0" i="0" u="none" strike="noStrike" kern="0" cap="none" spc="0" normalizeH="0" baseline="0" noProof="0" dirty="0">
                <a:ln>
                  <a:noFill/>
                </a:ln>
                <a:solidFill>
                  <a:srgbClr val="0000FF"/>
                </a:solidFill>
                <a:effectLst/>
                <a:uLnTx/>
                <a:uFillTx/>
                <a:latin typeface="+mn-lt"/>
                <a:ea typeface="+mn-ea"/>
                <a:cs typeface="+mn-cs"/>
                <a:hlinkClick r:id="" action="ppaction://noaction"/>
              </a:rPr>
              <a:t>结构特点</a:t>
            </a:r>
            <a:endParaRPr kumimoji="0" lang="zh-CN" altLang="en-US" sz="2500" b="0" i="0" u="none" strike="noStrike" kern="0" cap="none" spc="0" normalizeH="0" baseline="0" noProof="0" dirty="0">
              <a:ln>
                <a:noFill/>
              </a:ln>
              <a:solidFill>
                <a:srgbClr val="0000FF"/>
              </a:solidFill>
              <a:effectLst/>
              <a:uLnTx/>
              <a:uFillTx/>
              <a:latin typeface="+mn-lt"/>
              <a:ea typeface="+mn-ea"/>
              <a:cs typeface="+mn-cs"/>
            </a:endParaRPr>
          </a:p>
        </p:txBody>
      </p:sp>
      <p:sp>
        <p:nvSpPr>
          <p:cNvPr id="478211" name="AutoShape 4"/>
          <p:cNvSpPr/>
          <p:nvPr/>
        </p:nvSpPr>
        <p:spPr>
          <a:xfrm>
            <a:off x="3370263" y="1371600"/>
            <a:ext cx="228600" cy="1371600"/>
          </a:xfrm>
          <a:prstGeom prst="leftBrace">
            <a:avLst>
              <a:gd name="adj1" fmla="val 50000"/>
              <a:gd name="adj2" fmla="val 50000"/>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78212" name="AutoShape 5"/>
          <p:cNvSpPr/>
          <p:nvPr/>
        </p:nvSpPr>
        <p:spPr>
          <a:xfrm>
            <a:off x="4648200" y="1905000"/>
            <a:ext cx="228600" cy="1371600"/>
          </a:xfrm>
          <a:prstGeom prst="leftBrace">
            <a:avLst>
              <a:gd name="adj1" fmla="val 50000"/>
              <a:gd name="adj2" fmla="val 50000"/>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78213" name="AutoShape 6"/>
          <p:cNvSpPr/>
          <p:nvPr/>
        </p:nvSpPr>
        <p:spPr>
          <a:xfrm>
            <a:off x="6324600" y="1922463"/>
            <a:ext cx="228600" cy="1371600"/>
          </a:xfrm>
          <a:prstGeom prst="leftBrace">
            <a:avLst>
              <a:gd name="adj1" fmla="val 50000"/>
              <a:gd name="adj2" fmla="val 50000"/>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78214" name="AutoShape 7"/>
          <p:cNvSpPr/>
          <p:nvPr/>
        </p:nvSpPr>
        <p:spPr>
          <a:xfrm>
            <a:off x="4343400" y="3563938"/>
            <a:ext cx="304800" cy="1676400"/>
          </a:xfrm>
          <a:prstGeom prst="leftBrace">
            <a:avLst>
              <a:gd name="adj1" fmla="val 45476"/>
              <a:gd name="adj2" fmla="val 62782"/>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78215" name="AutoShape 8"/>
          <p:cNvSpPr/>
          <p:nvPr/>
        </p:nvSpPr>
        <p:spPr>
          <a:xfrm>
            <a:off x="3241675" y="4513263"/>
            <a:ext cx="228600" cy="1371600"/>
          </a:xfrm>
          <a:prstGeom prst="leftBrace">
            <a:avLst>
              <a:gd name="adj1" fmla="val 50000"/>
              <a:gd name="adj2" fmla="val 50000"/>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3" name="Rectangle 3"/>
          <p:cNvSpPr>
            <a:spLocks noGrp="1"/>
          </p:cNvSpPr>
          <p:nvPr>
            <p:ph idx="1"/>
          </p:nvPr>
        </p:nvSpPr>
        <p:spPr>
          <a:xfrm>
            <a:off x="0" y="1295400"/>
            <a:ext cx="8893175" cy="3141663"/>
          </a:xfrm>
        </p:spPr>
        <p:txBody>
          <a:bodyPr vert="horz" wrap="square" lIns="91440" tIns="45720" rIns="91440" bIns="45720" anchor="t" anchorCtr="0"/>
          <a:lstStyle/>
          <a:p>
            <a:pPr marL="0" indent="0" eaLnBrk="1" hangingPunct="1">
              <a:buNone/>
            </a:pPr>
            <a:r>
              <a:rPr lang="en-US" altLang="zh-CN" b="1" dirty="0">
                <a:solidFill>
                  <a:srgbClr val="FF3300"/>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初生生长：</a:t>
            </a:r>
            <a:r>
              <a:rPr lang="zh-CN" altLang="en-US" b="1" dirty="0">
                <a:solidFill>
                  <a:schemeClr val="tx1"/>
                </a:solidFill>
                <a:latin typeface="黑体" panose="02010609060101010101" pitchFamily="49" charset="-122"/>
                <a:ea typeface="黑体" panose="02010609060101010101" pitchFamily="49" charset="-122"/>
              </a:rPr>
              <a:t>初生分生组织细胞经分裂、生长、分化，产生初生成熟组织并形成初生结构的过程即为初生生长。</a:t>
            </a:r>
          </a:p>
          <a:p>
            <a:pPr marL="0" indent="0" eaLnBrk="1" hangingPunct="1">
              <a:buNone/>
            </a:pPr>
            <a:r>
              <a:rPr lang="en-US" altLang="zh-CN" b="1" dirty="0">
                <a:solidFill>
                  <a:srgbClr val="FF3300"/>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初生结构：</a:t>
            </a:r>
            <a:r>
              <a:rPr lang="zh-CN" altLang="en-US" b="1" dirty="0">
                <a:solidFill>
                  <a:schemeClr val="tx1"/>
                </a:solidFill>
                <a:latin typeface="黑体" panose="02010609060101010101" pitchFamily="49" charset="-122"/>
                <a:ea typeface="黑体" panose="02010609060101010101" pitchFamily="49" charset="-122"/>
              </a:rPr>
              <a:t>由初生分生组织产生经初生生长产生的各种成熟组织即为</a:t>
            </a:r>
            <a:r>
              <a:rPr lang="zh-CN" altLang="en-US" b="1" u="sng" dirty="0">
                <a:latin typeface="黑体" panose="02010609060101010101" pitchFamily="49" charset="-122"/>
                <a:ea typeface="黑体" panose="02010609060101010101" pitchFamily="49" charset="-122"/>
              </a:rPr>
              <a:t>初生成熟组织</a:t>
            </a:r>
            <a:r>
              <a:rPr lang="zh-CN" altLang="en-US" b="1" dirty="0">
                <a:solidFill>
                  <a:schemeClr val="tx1"/>
                </a:solidFill>
                <a:latin typeface="黑体" panose="02010609060101010101" pitchFamily="49" charset="-122"/>
                <a:ea typeface="黑体" panose="02010609060101010101" pitchFamily="49" charset="-122"/>
              </a:rPr>
              <a:t>（亦称初生组织）。由初生组织构成的结构称为</a:t>
            </a:r>
            <a:r>
              <a:rPr lang="zh-CN" altLang="en-US" b="1" u="sng" dirty="0">
                <a:latin typeface="黑体" panose="02010609060101010101" pitchFamily="49" charset="-122"/>
                <a:ea typeface="黑体" panose="02010609060101010101" pitchFamily="49" charset="-122"/>
              </a:rPr>
              <a:t>初生成熟结构</a:t>
            </a:r>
            <a:r>
              <a:rPr lang="zh-CN" altLang="en-US" b="1" dirty="0">
                <a:solidFill>
                  <a:schemeClr val="tx1"/>
                </a:solidFill>
                <a:latin typeface="黑体" panose="02010609060101010101" pitchFamily="49" charset="-122"/>
                <a:ea typeface="黑体" panose="02010609060101010101" pitchFamily="49" charset="-122"/>
              </a:rPr>
              <a:t>（简称初生结构）。</a:t>
            </a:r>
          </a:p>
          <a:p>
            <a:pPr marL="0" indent="0" eaLnBrk="1" hangingPunct="1">
              <a:buNone/>
            </a:pPr>
            <a:r>
              <a:rPr lang="en-US" altLang="zh-CN" b="1" dirty="0">
                <a:solidFill>
                  <a:srgbClr val="FF3300"/>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初生结构的位置：</a:t>
            </a:r>
            <a:r>
              <a:rPr lang="zh-CN" altLang="en-US" b="1" dirty="0">
                <a:latin typeface="黑体" panose="02010609060101010101" pitchFamily="49" charset="-122"/>
                <a:ea typeface="黑体" panose="02010609060101010101" pitchFamily="49" charset="-122"/>
              </a:rPr>
              <a:t>成熟区内的结构就是成熟结构，因此，在成熟区做横切面，就可观察根的初生结构。 </a:t>
            </a:r>
          </a:p>
        </p:txBody>
      </p:sp>
      <p:sp>
        <p:nvSpPr>
          <p:cNvPr id="479234" name="Rectangle 16"/>
          <p:cNvSpPr>
            <a:spLocks noGrp="1"/>
          </p:cNvSpPr>
          <p:nvPr>
            <p:ph type="title"/>
          </p:nvPr>
        </p:nvSpPr>
        <p:spPr>
          <a:xfrm>
            <a:off x="107950" y="142875"/>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7" name="Rectangle 3"/>
          <p:cNvSpPr>
            <a:spLocks noGrp="1"/>
          </p:cNvSpPr>
          <p:nvPr>
            <p:ph idx="1"/>
          </p:nvPr>
        </p:nvSpPr>
        <p:spPr>
          <a:xfrm>
            <a:off x="34925" y="1219200"/>
            <a:ext cx="8964613" cy="508635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(1)</a:t>
            </a:r>
            <a:r>
              <a:rPr lang="zh-CN" altLang="en-US" b="1" dirty="0">
                <a:latin typeface="黑体" panose="02010609060101010101" pitchFamily="49" charset="-122"/>
                <a:ea typeface="黑体" panose="02010609060101010101" pitchFamily="49" charset="-122"/>
              </a:rPr>
              <a:t>表皮</a:t>
            </a:r>
          </a:p>
          <a:p>
            <a:pPr lvl="1" eaLnBrk="1" hangingPunct="1"/>
            <a:r>
              <a:rPr lang="zh-CN" altLang="en-US" b="1" dirty="0">
                <a:solidFill>
                  <a:srgbClr val="FF0000"/>
                </a:solidFill>
                <a:latin typeface="黑体" panose="02010609060101010101" pitchFamily="49" charset="-122"/>
                <a:ea typeface="黑体" panose="02010609060101010101" pitchFamily="49" charset="-122"/>
              </a:rPr>
              <a:t>位置、来源：</a:t>
            </a:r>
            <a:r>
              <a:rPr lang="zh-CN" altLang="en-US" b="1" dirty="0">
                <a:solidFill>
                  <a:schemeClr val="bg2"/>
                </a:solidFill>
                <a:latin typeface="黑体" panose="02010609060101010101" pitchFamily="49" charset="-122"/>
                <a:ea typeface="黑体" panose="02010609060101010101" pitchFamily="49" charset="-122"/>
              </a:rPr>
              <a:t>来自初生分生组织中的原表皮，位于根的外表。</a:t>
            </a:r>
          </a:p>
          <a:p>
            <a:pPr lvl="1" eaLnBrk="1" hangingPunct="1"/>
            <a:r>
              <a:rPr lang="zh-CN" altLang="en-US" b="1" dirty="0">
                <a:solidFill>
                  <a:srgbClr val="FF0000"/>
                </a:solidFill>
                <a:latin typeface="黑体" panose="02010609060101010101" pitchFamily="49" charset="-122"/>
                <a:ea typeface="黑体" panose="02010609060101010101" pitchFamily="49" charset="-122"/>
              </a:rPr>
              <a:t>结构特征：</a:t>
            </a:r>
            <a:r>
              <a:rPr lang="zh-CN" altLang="en-US" b="1" dirty="0">
                <a:solidFill>
                  <a:schemeClr val="bg2"/>
                </a:solidFill>
                <a:latin typeface="黑体" panose="02010609060101010101" pitchFamily="49" charset="-122"/>
                <a:ea typeface="黑体" panose="02010609060101010101" pitchFamily="49" charset="-122"/>
              </a:rPr>
              <a:t>多由一层细胞构成。表皮细胞近似长方形，其长轴和根的纵轴平行，排列整齐紧密，和茎、叶等地上部分表皮相似。</a:t>
            </a:r>
          </a:p>
          <a:p>
            <a:pPr lvl="2" eaLnBrk="1" hangingPunct="1"/>
            <a:r>
              <a:rPr lang="zh-CN" altLang="en-US" b="1" dirty="0">
                <a:solidFill>
                  <a:srgbClr val="FF0000"/>
                </a:solidFill>
                <a:latin typeface="黑体" panose="02010609060101010101" pitchFamily="49" charset="-122"/>
                <a:ea typeface="黑体" panose="02010609060101010101" pitchFamily="49" charset="-122"/>
              </a:rPr>
              <a:t>根表皮的独特性：</a:t>
            </a:r>
            <a:r>
              <a:rPr lang="zh-CN" altLang="en-US" b="1" u="sng" dirty="0">
                <a:solidFill>
                  <a:srgbClr val="0000FF"/>
                </a:solidFill>
                <a:latin typeface="黑体" panose="02010609060101010101" pitchFamily="49" charset="-122"/>
                <a:ea typeface="黑体" panose="02010609060101010101" pitchFamily="49" charset="-122"/>
              </a:rPr>
              <a:t>细胞壁薄</a:t>
            </a:r>
            <a:r>
              <a:rPr lang="zh-CN" altLang="en-US" b="1" dirty="0">
                <a:solidFill>
                  <a:srgbClr val="0000FF"/>
                </a:solidFill>
                <a:latin typeface="黑体" panose="02010609060101010101" pitchFamily="49" charset="-122"/>
                <a:ea typeface="黑体" panose="02010609060101010101" pitchFamily="49" charset="-122"/>
              </a:rPr>
              <a:t>，</a:t>
            </a:r>
            <a:r>
              <a:rPr lang="zh-CN" altLang="en-US" b="1" u="sng" dirty="0">
                <a:solidFill>
                  <a:srgbClr val="0000FF"/>
                </a:solidFill>
                <a:latin typeface="黑体" panose="02010609060101010101" pitchFamily="49" charset="-122"/>
                <a:ea typeface="黑体" panose="02010609060101010101" pitchFamily="49" charset="-122"/>
              </a:rPr>
              <a:t>角质层极薄</a:t>
            </a:r>
            <a:r>
              <a:rPr lang="zh-CN" altLang="en-US" b="1" dirty="0">
                <a:solidFill>
                  <a:srgbClr val="0000FF"/>
                </a:solidFill>
                <a:latin typeface="黑体" panose="02010609060101010101" pitchFamily="49" charset="-122"/>
                <a:ea typeface="黑体" panose="02010609060101010101" pitchFamily="49" charset="-122"/>
              </a:rPr>
              <a:t>，</a:t>
            </a:r>
            <a:r>
              <a:rPr lang="zh-CN" altLang="en-US" b="1" u="sng" dirty="0">
                <a:solidFill>
                  <a:srgbClr val="0000FF"/>
                </a:solidFill>
                <a:latin typeface="黑体" panose="02010609060101010101" pitchFamily="49" charset="-122"/>
                <a:ea typeface="黑体" panose="02010609060101010101" pitchFamily="49" charset="-122"/>
              </a:rPr>
              <a:t>不具气孔</a:t>
            </a:r>
            <a:r>
              <a:rPr lang="zh-CN" altLang="en-US" b="1" dirty="0">
                <a:solidFill>
                  <a:srgbClr val="0000FF"/>
                </a:solidFill>
                <a:latin typeface="黑体" panose="02010609060101010101" pitchFamily="49" charset="-122"/>
                <a:ea typeface="黑体" panose="02010609060101010101" pitchFamily="49" charset="-122"/>
              </a:rPr>
              <a:t>，部分表皮细胞的外壁向外凸起，延伸</a:t>
            </a:r>
            <a:r>
              <a:rPr lang="zh-CN" altLang="en-US" b="1" u="sng" dirty="0">
                <a:solidFill>
                  <a:srgbClr val="0000FF"/>
                </a:solidFill>
                <a:latin typeface="黑体" panose="02010609060101010101" pitchFamily="49" charset="-122"/>
                <a:ea typeface="黑体" panose="02010609060101010101" pitchFamily="49" charset="-122"/>
              </a:rPr>
              <a:t>形成根毛</a:t>
            </a:r>
            <a:r>
              <a:rPr lang="zh-CN" altLang="en-US" b="1" dirty="0">
                <a:solidFill>
                  <a:srgbClr val="0000FF"/>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四大特征</a:t>
            </a:r>
            <a:r>
              <a:rPr lang="zh-CN" altLang="en-US" b="1" dirty="0">
                <a:solidFill>
                  <a:srgbClr val="0000FF"/>
                </a:solidFill>
                <a:latin typeface="黑体" panose="02010609060101010101" pitchFamily="49" charset="-122"/>
                <a:ea typeface="黑体" panose="02010609060101010101" pitchFamily="49" charset="-122"/>
              </a:rPr>
              <a:t>）。</a:t>
            </a:r>
          </a:p>
          <a:p>
            <a:pPr lvl="1" eaLnBrk="1" hangingPunct="1"/>
            <a:r>
              <a:rPr lang="zh-CN" altLang="en-US" b="1" dirty="0">
                <a:solidFill>
                  <a:srgbClr val="FF0000"/>
                </a:solidFill>
                <a:latin typeface="黑体" panose="02010609060101010101" pitchFamily="49" charset="-122"/>
                <a:ea typeface="黑体" panose="02010609060101010101" pitchFamily="49" charset="-122"/>
              </a:rPr>
              <a:t>功能：</a:t>
            </a:r>
            <a:r>
              <a:rPr lang="zh-CN" altLang="en-US" b="1" dirty="0">
                <a:solidFill>
                  <a:schemeClr val="bg2"/>
                </a:solidFill>
                <a:latin typeface="黑体" panose="02010609060101010101" pitchFamily="49" charset="-122"/>
                <a:ea typeface="黑体" panose="02010609060101010101" pitchFamily="49" charset="-122"/>
              </a:rPr>
              <a:t>主要为吸收作用，其次为保护作用。 </a:t>
            </a:r>
          </a:p>
        </p:txBody>
      </p:sp>
      <p:sp>
        <p:nvSpPr>
          <p:cNvPr id="480258"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1" name="Rectangle 3"/>
          <p:cNvSpPr>
            <a:spLocks noGrp="1"/>
          </p:cNvSpPr>
          <p:nvPr>
            <p:ph idx="1"/>
          </p:nvPr>
        </p:nvSpPr>
        <p:spPr>
          <a:xfrm>
            <a:off x="0" y="1295400"/>
            <a:ext cx="8964613" cy="5086350"/>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皮层</a:t>
            </a:r>
          </a:p>
          <a:p>
            <a:pPr lvl="1" eaLnBrk="1" hangingPunct="1">
              <a:lnSpc>
                <a:spcPct val="110000"/>
              </a:lnSpc>
            </a:pPr>
            <a:r>
              <a:rPr lang="zh-CN" altLang="en-US" b="1" dirty="0">
                <a:solidFill>
                  <a:srgbClr val="FF0000"/>
                </a:solidFill>
                <a:latin typeface="黑体" panose="02010609060101010101" pitchFamily="49" charset="-122"/>
                <a:ea typeface="黑体" panose="02010609060101010101" pitchFamily="49" charset="-122"/>
              </a:rPr>
              <a:t>位置、来源：</a:t>
            </a:r>
            <a:r>
              <a:rPr lang="zh-CN" altLang="en-US" b="1" dirty="0">
                <a:solidFill>
                  <a:schemeClr val="tx1"/>
                </a:solidFill>
                <a:latin typeface="黑体" panose="02010609060101010101" pitchFamily="49" charset="-122"/>
                <a:ea typeface="黑体" panose="02010609060101010101" pitchFamily="49" charset="-122"/>
              </a:rPr>
              <a:t>位于表皮以内、维管柱的中柱鞘以外。来源于初生分生组织中的基本分生组织。</a:t>
            </a:r>
          </a:p>
          <a:p>
            <a:pPr lvl="1" eaLnBrk="1" hangingPunct="1">
              <a:lnSpc>
                <a:spcPct val="110000"/>
              </a:lnSpc>
            </a:pPr>
            <a:r>
              <a:rPr lang="zh-CN" altLang="en-US" b="1" dirty="0">
                <a:solidFill>
                  <a:srgbClr val="FF0000"/>
                </a:solidFill>
                <a:latin typeface="黑体" panose="02010609060101010101" pitchFamily="49" charset="-122"/>
                <a:ea typeface="黑体" panose="02010609060101010101" pitchFamily="49" charset="-122"/>
              </a:rPr>
              <a:t>结构特征：</a:t>
            </a:r>
            <a:r>
              <a:rPr lang="zh-CN" altLang="en-US" b="1" dirty="0">
                <a:solidFill>
                  <a:schemeClr val="tx1"/>
                </a:solidFill>
                <a:latin typeface="黑体" panose="02010609060101010101" pitchFamily="49" charset="-122"/>
                <a:ea typeface="黑体" panose="02010609060101010101" pitchFamily="49" charset="-122"/>
              </a:rPr>
              <a:t>在大部分植物根的初生结构中，皮层占据最大的空间，由多层细胞组成。皮层一般由三个结构层次。</a:t>
            </a:r>
          </a:p>
          <a:p>
            <a:pPr lvl="2" eaLnBrk="1" hangingPunct="1">
              <a:lnSpc>
                <a:spcPct val="110000"/>
              </a:lnSpc>
            </a:pPr>
            <a:r>
              <a:rPr lang="zh-CN" altLang="en-US" b="1" dirty="0">
                <a:solidFill>
                  <a:srgbClr val="FF0000"/>
                </a:solidFill>
                <a:latin typeface="黑体" panose="02010609060101010101" pitchFamily="49" charset="-122"/>
                <a:ea typeface="黑体" panose="02010609060101010101" pitchFamily="49" charset="-122"/>
              </a:rPr>
              <a:t>外皮层：</a:t>
            </a:r>
            <a:r>
              <a:rPr lang="zh-CN" altLang="en-US" b="1" dirty="0">
                <a:solidFill>
                  <a:schemeClr val="tx1"/>
                </a:solidFill>
                <a:latin typeface="黑体" panose="02010609060101010101" pitchFamily="49" charset="-122"/>
                <a:ea typeface="黑体" panose="02010609060101010101" pitchFamily="49" charset="-122"/>
              </a:rPr>
              <a:t>位于皮层的最外方，紧贴表皮，由一层或几层细胞组成。其特点为细胞体积较小，壁较厚（但非厚壁细胞），排列紧密，无间隙，成为连续的一层或几层。这就是</a:t>
            </a:r>
            <a:r>
              <a:rPr lang="zh-CN" altLang="en-US" b="1" u="sng" dirty="0">
                <a:solidFill>
                  <a:schemeClr val="tx1"/>
                </a:solidFill>
                <a:latin typeface="黑体" panose="02010609060101010101" pitchFamily="49" charset="-122"/>
                <a:ea typeface="黑体" panose="02010609060101010101" pitchFamily="49" charset="-122"/>
              </a:rPr>
              <a:t>外皮层</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内皮层：</a:t>
            </a:r>
            <a:r>
              <a:rPr lang="zh-CN" altLang="en-US" b="1" dirty="0">
                <a:solidFill>
                  <a:srgbClr val="0000FF"/>
                </a:solidFill>
                <a:latin typeface="黑体" panose="02010609060101010101" pitchFamily="49" charset="-122"/>
                <a:ea typeface="黑体" panose="02010609060101010101" pitchFamily="49" charset="-122"/>
              </a:rPr>
              <a:t>皮层最内、紧贴中柱鞘的一层细胞</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排列整齐紧密，无胞间隙</a:t>
            </a:r>
            <a:r>
              <a:rPr lang="zh-CN" altLang="en-US" b="1" dirty="0">
                <a:solidFill>
                  <a:schemeClr val="tx1"/>
                </a:solidFill>
                <a:latin typeface="黑体" panose="02010609060101010101" pitchFamily="49" charset="-122"/>
                <a:ea typeface="黑体" panose="02010609060101010101" pitchFamily="49" charset="-122"/>
              </a:rPr>
              <a:t>。</a:t>
            </a:r>
          </a:p>
        </p:txBody>
      </p:sp>
      <p:sp>
        <p:nvSpPr>
          <p:cNvPr id="481282" name="Rectangle 16"/>
          <p:cNvSpPr>
            <a:spLocks noGrp="1"/>
          </p:cNvSpPr>
          <p:nvPr>
            <p:ph type="title"/>
          </p:nvPr>
        </p:nvSpPr>
        <p:spPr>
          <a:xfrm>
            <a:off x="-9525" y="152400"/>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5" name="Rectangle 3"/>
          <p:cNvSpPr>
            <a:spLocks noGrp="1"/>
          </p:cNvSpPr>
          <p:nvPr>
            <p:ph idx="1"/>
          </p:nvPr>
        </p:nvSpPr>
        <p:spPr>
          <a:xfrm>
            <a:off x="0" y="1295400"/>
            <a:ext cx="9144000" cy="5229225"/>
          </a:xfrm>
        </p:spPr>
        <p:txBody>
          <a:bodyPr vert="horz" wrap="square" lIns="91440" tIns="45720" rIns="91440" bIns="45720" anchor="t" anchorCtr="0"/>
          <a:lstStyle/>
          <a:p>
            <a:pPr eaLnBrk="1" hangingPunct="1">
              <a:lnSpc>
                <a:spcPct val="110000"/>
              </a:lnSpc>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皮层</a:t>
            </a:r>
          </a:p>
          <a:p>
            <a:pPr lvl="2" eaLnBrk="1" hangingPunct="1">
              <a:lnSpc>
                <a:spcPct val="130000"/>
              </a:lnSpc>
            </a:pPr>
            <a:r>
              <a:rPr lang="zh-CN" altLang="en-US" b="1" dirty="0">
                <a:solidFill>
                  <a:srgbClr val="0000FF"/>
                </a:solidFill>
                <a:latin typeface="黑体" panose="02010609060101010101" pitchFamily="49" charset="-122"/>
                <a:ea typeface="黑体" panose="02010609060101010101" pitchFamily="49" charset="-122"/>
                <a:hlinkClick r:id="rId3" action="ppaction://hlinksldjump"/>
              </a:rPr>
              <a:t>内皮层</a:t>
            </a:r>
            <a:r>
              <a:rPr lang="zh-CN" altLang="en-US" b="1" dirty="0">
                <a:solidFill>
                  <a:srgbClr val="0000FF"/>
                </a:solidFill>
                <a:latin typeface="黑体" panose="02010609060101010101" pitchFamily="49" charset="-122"/>
                <a:ea typeface="黑体" panose="02010609060101010101" pitchFamily="49" charset="-122"/>
              </a:rPr>
              <a:t>特征：一层排列整齐的薄壁细胞，其</a:t>
            </a:r>
            <a:r>
              <a:rPr lang="zh-CN" altLang="en-US" b="1" u="sng" dirty="0">
                <a:solidFill>
                  <a:srgbClr val="0000FF"/>
                </a:solidFill>
                <a:latin typeface="黑体" panose="02010609060101010101" pitchFamily="49" charset="-122"/>
                <a:ea typeface="黑体" panose="02010609060101010101" pitchFamily="49" charset="-122"/>
              </a:rPr>
              <a:t>细胞的两个横向壁和两个径向壁上</a:t>
            </a:r>
            <a:r>
              <a:rPr lang="zh-CN" altLang="en-US" b="1" dirty="0">
                <a:solidFill>
                  <a:srgbClr val="0000FF"/>
                </a:solidFill>
                <a:latin typeface="黑体" panose="02010609060101010101" pitchFamily="49" charset="-122"/>
                <a:ea typeface="黑体" panose="02010609060101010101" pitchFamily="49" charset="-122"/>
              </a:rPr>
              <a:t>，</a:t>
            </a:r>
            <a:r>
              <a:rPr lang="zh-CN" altLang="en-US" b="1" u="sng" dirty="0">
                <a:solidFill>
                  <a:srgbClr val="0000FF"/>
                </a:solidFill>
                <a:latin typeface="黑体" panose="02010609060101010101" pitchFamily="49" charset="-122"/>
                <a:ea typeface="黑体" panose="02010609060101010101" pitchFamily="49" charset="-122"/>
              </a:rPr>
              <a:t>有栓化和木质化增厚成带状的壁结构环绕，成一整圈，称凯氏带。在横切面上，只能在两个径向壁上看到其横切的形象，称为</a:t>
            </a:r>
            <a:r>
              <a:rPr lang="zh-CN" altLang="en-US" b="1" u="sng" dirty="0">
                <a:solidFill>
                  <a:srgbClr val="0000FF"/>
                </a:solidFill>
                <a:latin typeface="黑体" panose="02010609060101010101" pitchFamily="49" charset="-122"/>
                <a:ea typeface="黑体" panose="02010609060101010101" pitchFamily="49" charset="-122"/>
                <a:hlinkClick r:id="rId3" action="ppaction://hlinksldjump"/>
              </a:rPr>
              <a:t>凯氏点</a:t>
            </a:r>
            <a:r>
              <a:rPr lang="zh-CN" altLang="en-US" b="1" dirty="0">
                <a:solidFill>
                  <a:srgbClr val="0000FF"/>
                </a:solidFill>
                <a:latin typeface="黑体" panose="02010609060101010101" pitchFamily="49" charset="-122"/>
                <a:ea typeface="黑体" panose="02010609060101010101" pitchFamily="49" charset="-122"/>
              </a:rPr>
              <a:t>。凯氏带在根内对水分和溶质进入维管柱内有限制作用。凯氏带形成后，内皮层的质膜与凯氏带间紧密连接，水分和离子必须经过质膜的选择，才能进入维管柱。</a:t>
            </a:r>
          </a:p>
          <a:p>
            <a:pPr lvl="2" eaLnBrk="1" hangingPunct="1">
              <a:lnSpc>
                <a:spcPct val="120000"/>
              </a:lnSpc>
            </a:pPr>
            <a:r>
              <a:rPr lang="zh-CN" altLang="en-US" b="1" dirty="0">
                <a:latin typeface="黑体" panose="02010609060101010101" pitchFamily="49" charset="-122"/>
                <a:ea typeface="黑体" panose="02010609060101010101" pitchFamily="49" charset="-122"/>
              </a:rPr>
              <a:t>皮层薄壁组织：</a:t>
            </a:r>
            <a:r>
              <a:rPr lang="zh-CN" altLang="en-US" b="1" dirty="0">
                <a:solidFill>
                  <a:srgbClr val="0000FF"/>
                </a:solidFill>
                <a:latin typeface="黑体" panose="02010609060101010101" pitchFamily="49" charset="-122"/>
                <a:ea typeface="黑体" panose="02010609060101010101" pitchFamily="49" charset="-122"/>
              </a:rPr>
              <a:t>外皮层和内皮层之间的多层薄壁细胞。是由大型薄壁细胞构成的典型的薄壁组织，行使贮藏功能。</a:t>
            </a:r>
          </a:p>
          <a:p>
            <a:pPr lvl="1" eaLnBrk="1" hangingPunct="1">
              <a:lnSpc>
                <a:spcPct val="120000"/>
              </a:lnSpc>
            </a:pPr>
            <a:r>
              <a:rPr lang="zh-CN" altLang="en-US" b="1" dirty="0">
                <a:solidFill>
                  <a:srgbClr val="FF3300"/>
                </a:solidFill>
                <a:latin typeface="黑体" panose="02010609060101010101" pitchFamily="49" charset="-122"/>
                <a:ea typeface="黑体" panose="02010609060101010101" pitchFamily="49" charset="-122"/>
              </a:rPr>
              <a:t>功能：</a:t>
            </a:r>
            <a:r>
              <a:rPr lang="zh-CN" altLang="en-US" b="1" dirty="0">
                <a:latin typeface="黑体" panose="02010609060101010101" pitchFamily="49" charset="-122"/>
                <a:ea typeface="黑体" panose="02010609060101010101" pitchFamily="49" charset="-122"/>
              </a:rPr>
              <a:t>保护作用、贮藏作用和横向运输功能。 </a:t>
            </a:r>
          </a:p>
        </p:txBody>
      </p:sp>
      <p:pic>
        <p:nvPicPr>
          <p:cNvPr id="327686" name="Picture 6" descr="D:\Documents and Settings\LiuZC\桌面\教学素材\营养器官\根\凯氏点.JPG.JPG"/>
          <p:cNvPicPr>
            <a:picLocks noChangeAspect="1"/>
          </p:cNvPicPr>
          <p:nvPr/>
        </p:nvPicPr>
        <p:blipFill>
          <a:blip r:embed="rId4"/>
          <a:stretch>
            <a:fillRect/>
          </a:stretch>
        </p:blipFill>
        <p:spPr>
          <a:xfrm>
            <a:off x="1763713" y="1628775"/>
            <a:ext cx="6248400" cy="4686300"/>
          </a:xfrm>
          <a:prstGeom prst="rect">
            <a:avLst/>
          </a:prstGeom>
          <a:noFill/>
          <a:ln w="38100" cap="flat" cmpd="sng">
            <a:solidFill>
              <a:srgbClr val="CC00CC"/>
            </a:solidFill>
            <a:prstDash val="solid"/>
            <a:miter/>
            <a:headEnd type="none" w="med" len="med"/>
            <a:tailEnd type="none" w="med" len="med"/>
          </a:ln>
        </p:spPr>
      </p:pic>
      <p:sp>
        <p:nvSpPr>
          <p:cNvPr id="327687" name="Line 7">
            <a:hlinkHover r:id="" action="ppaction://noaction">
              <a:snd r:embed="rId2" name="chimes.wav"/>
            </a:hlinkHover>
          </p:cNvPr>
          <p:cNvSpPr/>
          <p:nvPr/>
        </p:nvSpPr>
        <p:spPr>
          <a:xfrm>
            <a:off x="6300788" y="1700213"/>
            <a:ext cx="0" cy="685800"/>
          </a:xfrm>
          <a:prstGeom prst="line">
            <a:avLst/>
          </a:prstGeom>
          <a:ln w="38100" cap="flat" cmpd="sng">
            <a:solidFill>
              <a:srgbClr val="FF3300"/>
            </a:solidFill>
            <a:prstDash val="solid"/>
            <a:miter/>
            <a:headEnd type="none" w="med" len="med"/>
            <a:tailEnd type="triangle" w="med" len="med"/>
          </a:ln>
        </p:spPr>
        <p:txBody>
          <a:bodyPr/>
          <a:lstStyle/>
          <a:p>
            <a:endParaRPr lang="zh-CN" altLang="en-US"/>
          </a:p>
        </p:txBody>
      </p:sp>
      <p:pic>
        <p:nvPicPr>
          <p:cNvPr id="327688" name="Picture 8" descr="D:\刘宗才\植物学素材\教学素材\植物学插图上册\t3-10.jpg"/>
          <p:cNvPicPr>
            <a:picLocks noChangeAspect="1"/>
          </p:cNvPicPr>
          <p:nvPr/>
        </p:nvPicPr>
        <p:blipFill>
          <a:blip r:embed="rId5"/>
          <a:stretch>
            <a:fillRect/>
          </a:stretch>
        </p:blipFill>
        <p:spPr>
          <a:xfrm>
            <a:off x="1835150" y="2719388"/>
            <a:ext cx="6248400" cy="2981325"/>
          </a:xfrm>
          <a:prstGeom prst="rect">
            <a:avLst/>
          </a:prstGeom>
          <a:noFill/>
          <a:ln w="9525">
            <a:noFill/>
          </a:ln>
        </p:spPr>
      </p:pic>
      <p:sp>
        <p:nvSpPr>
          <p:cNvPr id="482309"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7686"/>
                                        </p:tgtEl>
                                        <p:attrNameLst>
                                          <p:attrName>style.visibility</p:attrName>
                                        </p:attrNameLst>
                                      </p:cBhvr>
                                      <p:to>
                                        <p:strVal val="visible"/>
                                      </p:to>
                                    </p:set>
                                    <p:animEffect transition="in" filter="dissolve">
                                      <p:cBhvr>
                                        <p:cTn id="7" dur="500"/>
                                        <p:tgtEl>
                                          <p:spTgt spid="327686"/>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276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27688"/>
                                        </p:tgtEl>
                                        <p:attrNameLst>
                                          <p:attrName>style.visibility</p:attrName>
                                        </p:attrNameLst>
                                      </p:cBhvr>
                                      <p:to>
                                        <p:strVal val="visible"/>
                                      </p:to>
                                    </p:set>
                                    <p:animEffect transition="in" filter="wipe(left)">
                                      <p:cBhvr>
                                        <p:cTn id="15" dur="500"/>
                                        <p:tgtEl>
                                          <p:spTgt spid="327688"/>
                                        </p:tgtEl>
                                      </p:cBhvr>
                                    </p:animEffect>
                                  </p:childTnLst>
                                  <p:subTnLst>
                                    <p:audio>
                                      <p:cMediaNode>
                                        <p:cTn display="0" masterRel="sameClick">
                                          <p:stCondLst>
                                            <p:cond evt="begin" delay="0">
                                              <p:tn val="13"/>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3329" name="Picture 14" descr="D:\刘宗才\植物学素材\教学素材\营养器官\蚕豆幼根横切.JPG"/>
          <p:cNvPicPr>
            <a:picLocks noChangeAspect="1"/>
          </p:cNvPicPr>
          <p:nvPr/>
        </p:nvPicPr>
        <p:blipFill>
          <a:blip r:embed="rId2"/>
          <a:stretch>
            <a:fillRect/>
          </a:stretch>
        </p:blipFill>
        <p:spPr>
          <a:xfrm>
            <a:off x="0" y="1741488"/>
            <a:ext cx="7162800" cy="4678362"/>
          </a:xfrm>
          <a:prstGeom prst="rect">
            <a:avLst/>
          </a:prstGeom>
          <a:noFill/>
          <a:ln w="9525">
            <a:noFill/>
          </a:ln>
        </p:spPr>
      </p:pic>
      <p:sp>
        <p:nvSpPr>
          <p:cNvPr id="70659" name="Rectangle 4"/>
          <p:cNvSpPr>
            <a:spLocks noGrp="1" noChangeArrowheads="1"/>
          </p:cNvSpPr>
          <p:nvPr>
            <p:ph idx="1"/>
          </p:nvPr>
        </p:nvSpPr>
        <p:spPr>
          <a:xfrm>
            <a:off x="0" y="1295400"/>
            <a:ext cx="9144000" cy="5229225"/>
          </a:xfrm>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双子叶植物根初生结构照片</a:t>
            </a:r>
            <a:endParaRPr kumimoji="0" lang="zh-CN" altLang="en-US" sz="18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18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endPar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r" defTabSz="914400" rtl="0" eaLnBrk="1" fontAlgn="base" latinLnBrk="0" hangingPunct="1">
              <a:lnSpc>
                <a:spcPct val="11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表皮</a:t>
            </a:r>
          </a:p>
          <a:p>
            <a:pPr marL="342900" marR="0" lvl="0" indent="-342900" algn="l"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外皮层</a:t>
            </a:r>
          </a:p>
          <a:p>
            <a:pPr marL="342900" marR="0" lvl="0" indent="-342900" algn="r"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endPar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皮层薄壁组织    </a:t>
            </a:r>
          </a:p>
          <a:p>
            <a:pPr marL="342900" marR="0" lvl="0" indent="-342900" algn="r"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皮层</a:t>
            </a:r>
          </a:p>
          <a:p>
            <a:pPr marL="342900" marR="0" lvl="0" indent="-342900" algn="r"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endPar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内皮层</a:t>
            </a:r>
          </a:p>
          <a:p>
            <a:pPr marL="342900" marR="0" lvl="0" indent="-342900" algn="r" defTabSz="914400" rtl="0" eaLnBrk="1" fontAlgn="base" latinLnBrk="0" hangingPunct="1">
              <a:lnSpc>
                <a:spcPct val="70000"/>
              </a:lnSpc>
              <a:spcBef>
                <a:spcPct val="20000"/>
              </a:spcBef>
              <a:spcAft>
                <a:spcPct val="0"/>
              </a:spcAft>
              <a:buClr>
                <a:schemeClr val="folHlink"/>
              </a:buClr>
              <a:buSzTx/>
              <a:buFont typeface="Wingdings" panose="05000000000000000000" pitchFamily="2" charset="2"/>
              <a:buNone/>
              <a:defRPr/>
            </a:pPr>
            <a:endPar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r" defTabSz="914400" rtl="0" eaLnBrk="1" fontAlgn="base" latinLnBrk="0" hangingPunct="1">
              <a:lnSpc>
                <a:spcPct val="7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维管柱</a:t>
            </a:r>
          </a:p>
        </p:txBody>
      </p:sp>
      <p:sp>
        <p:nvSpPr>
          <p:cNvPr id="483331" name="Line 5"/>
          <p:cNvSpPr/>
          <p:nvPr/>
        </p:nvSpPr>
        <p:spPr>
          <a:xfrm flipV="1">
            <a:off x="3810000" y="2286000"/>
            <a:ext cx="43434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3332" name="Line 6"/>
          <p:cNvSpPr/>
          <p:nvPr/>
        </p:nvSpPr>
        <p:spPr>
          <a:xfrm flipV="1">
            <a:off x="4572000" y="2590800"/>
            <a:ext cx="24384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3333" name="Line 7"/>
          <p:cNvSpPr/>
          <p:nvPr/>
        </p:nvSpPr>
        <p:spPr>
          <a:xfrm flipV="1">
            <a:off x="3581400" y="3200400"/>
            <a:ext cx="25908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3334" name="AutoShape 8"/>
          <p:cNvSpPr/>
          <p:nvPr/>
        </p:nvSpPr>
        <p:spPr>
          <a:xfrm>
            <a:off x="3581400" y="4572000"/>
            <a:ext cx="228600" cy="1524000"/>
          </a:xfrm>
          <a:prstGeom prst="rightBrace">
            <a:avLst>
              <a:gd name="adj1" fmla="val 55123"/>
              <a:gd name="adj2" fmla="val 23440"/>
            </a:avLst>
          </a:prstGeom>
          <a:noFill/>
          <a:ln w="38100" cap="flat" cmpd="sng">
            <a:solidFill>
              <a:srgbClr val="FFFF00"/>
            </a:solidFill>
            <a:prstDash val="solid"/>
            <a:round/>
            <a:headEnd type="none" w="med" len="med"/>
            <a:tailEnd type="none" w="med" len="med"/>
          </a:ln>
        </p:spPr>
        <p:txBody>
          <a:bodyPr anchor="t" anchorCtr="0"/>
          <a:lstStyle/>
          <a:p>
            <a:endParaRPr lang="zh-CN" altLang="en-US" dirty="0">
              <a:latin typeface="Tahoma" panose="020B0604030504040204" pitchFamily="34" charset="0"/>
              <a:ea typeface="华文新魏" panose="02010800040101010101" pitchFamily="2" charset="-122"/>
            </a:endParaRPr>
          </a:p>
        </p:txBody>
      </p:sp>
      <p:sp>
        <p:nvSpPr>
          <p:cNvPr id="483335" name="Line 9"/>
          <p:cNvSpPr/>
          <p:nvPr/>
        </p:nvSpPr>
        <p:spPr>
          <a:xfrm flipV="1">
            <a:off x="3886200" y="4953000"/>
            <a:ext cx="41910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3336" name="Line 10"/>
          <p:cNvSpPr/>
          <p:nvPr/>
        </p:nvSpPr>
        <p:spPr>
          <a:xfrm>
            <a:off x="3429000" y="4267200"/>
            <a:ext cx="35052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3337" name="AutoShape 11"/>
          <p:cNvSpPr/>
          <p:nvPr/>
        </p:nvSpPr>
        <p:spPr>
          <a:xfrm>
            <a:off x="7924800" y="2438400"/>
            <a:ext cx="304800" cy="1905000"/>
          </a:xfrm>
          <a:prstGeom prst="rightBrace">
            <a:avLst>
              <a:gd name="adj1" fmla="val 51678"/>
              <a:gd name="adj2" fmla="val 50000"/>
            </a:avLst>
          </a:prstGeom>
          <a:noFill/>
          <a:ln w="38100" cap="flat" cmpd="sng">
            <a:solidFill>
              <a:srgbClr val="FF0000"/>
            </a:solidFill>
            <a:prstDash val="solid"/>
            <a:round/>
            <a:headEnd type="none" w="med" len="med"/>
            <a:tailEnd type="none" w="med" len="med"/>
          </a:ln>
        </p:spPr>
        <p:txBody>
          <a:bodyPr anchor="t" anchorCtr="0"/>
          <a:lstStyle/>
          <a:p>
            <a:endParaRPr lang="zh-CN" altLang="en-US" dirty="0">
              <a:latin typeface="Tahoma" panose="020B0604030504040204" pitchFamily="34" charset="0"/>
              <a:ea typeface="华文新魏" panose="02010800040101010101" pitchFamily="2" charset="-122"/>
            </a:endParaRPr>
          </a:p>
        </p:txBody>
      </p:sp>
      <p:sp>
        <p:nvSpPr>
          <p:cNvPr id="483338" name="Rectangle 16"/>
          <p:cNvSpPr>
            <a:spLocks noGrp="1"/>
          </p:cNvSpPr>
          <p:nvPr>
            <p:ph type="title"/>
          </p:nvPr>
        </p:nvSpPr>
        <p:spPr>
          <a:xfrm>
            <a:off x="0" y="65088"/>
            <a:ext cx="9144000" cy="1143000"/>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4353" name="Picture 21" descr="D:\刘宗才\植物学素材\教学素材\营养器官\蚕豆幼根横切1.jpg"/>
          <p:cNvPicPr>
            <a:picLocks noChangeAspect="1"/>
          </p:cNvPicPr>
          <p:nvPr/>
        </p:nvPicPr>
        <p:blipFill>
          <a:blip r:embed="rId2"/>
          <a:stretch>
            <a:fillRect/>
          </a:stretch>
        </p:blipFill>
        <p:spPr>
          <a:xfrm>
            <a:off x="0" y="1312863"/>
            <a:ext cx="8458200" cy="5240337"/>
          </a:xfrm>
          <a:prstGeom prst="rect">
            <a:avLst/>
          </a:prstGeom>
          <a:noFill/>
          <a:ln w="9525">
            <a:noFill/>
          </a:ln>
        </p:spPr>
      </p:pic>
      <p:sp>
        <p:nvSpPr>
          <p:cNvPr id="484354" name="Rectangle 4"/>
          <p:cNvSpPr>
            <a:spLocks noGrp="1"/>
          </p:cNvSpPr>
          <p:nvPr>
            <p:ph idx="1"/>
          </p:nvPr>
        </p:nvSpPr>
        <p:spPr>
          <a:xfrm>
            <a:off x="0" y="1981200"/>
            <a:ext cx="9144000" cy="4638675"/>
          </a:xfrm>
        </p:spPr>
        <p:txBody>
          <a:bodyPr vert="horz" wrap="square" lIns="91440" tIns="45720" rIns="91440" bIns="45720" anchor="t" anchorCtr="0"/>
          <a:lstStyle/>
          <a:p>
            <a:pPr eaLnBrk="1" hangingPunct="1"/>
            <a:endParaRPr lang="en-US" altLang="zh-CN" sz="1900" dirty="0">
              <a:solidFill>
                <a:schemeClr val="tx2"/>
              </a:solidFill>
              <a:latin typeface="华文新魏" panose="02010800040101010101" pitchFamily="2" charset="-122"/>
            </a:endParaRPr>
          </a:p>
          <a:p>
            <a:pPr eaLnBrk="1" hangingPunct="1"/>
            <a:endParaRPr lang="en-US" altLang="zh-CN" sz="1900" dirty="0">
              <a:solidFill>
                <a:schemeClr val="tx2"/>
              </a:solidFill>
              <a:latin typeface="华文新魏" panose="02010800040101010101" pitchFamily="2" charset="-122"/>
            </a:endParaRPr>
          </a:p>
        </p:txBody>
      </p:sp>
      <p:sp>
        <p:nvSpPr>
          <p:cNvPr id="484355" name="AutoShape 5"/>
          <p:cNvSpPr/>
          <p:nvPr/>
        </p:nvSpPr>
        <p:spPr>
          <a:xfrm>
            <a:off x="5105400" y="533400"/>
            <a:ext cx="2895600" cy="533400"/>
          </a:xfrm>
          <a:prstGeom prst="wedgeRoundRectCallout">
            <a:avLst>
              <a:gd name="adj1" fmla="val -65023"/>
              <a:gd name="adj2" fmla="val 143454"/>
              <a:gd name="adj3" fmla="val 16667"/>
            </a:avLst>
          </a:prstGeom>
          <a:noFill/>
          <a:ln w="38100" cap="flat" cmpd="sng">
            <a:solidFill>
              <a:srgbClr val="FF0000"/>
            </a:solidFill>
            <a:prstDash val="solid"/>
            <a:miter/>
            <a:headEnd type="none" w="med" len="med"/>
            <a:tailEnd type="none" w="med" len="med"/>
          </a:ln>
        </p:spPr>
        <p:txBody>
          <a:bodyPr anchor="t" anchorCtr="0"/>
          <a:lstStyle/>
          <a:p>
            <a:pPr algn="ctr"/>
            <a:r>
              <a:rPr lang="zh-CN" altLang="en-US" sz="2000" dirty="0">
                <a:solidFill>
                  <a:srgbClr val="FF0000"/>
                </a:solidFill>
                <a:latin typeface="华文新魏" panose="02010800040101010101" pitchFamily="2" charset="-122"/>
                <a:ea typeface="华文新魏" panose="02010800040101010101" pitchFamily="2" charset="-122"/>
                <a:hlinkClick r:id="rId3" action="ppaction://hlinksldjump"/>
              </a:rPr>
              <a:t>内皮层</a:t>
            </a:r>
            <a:r>
              <a:rPr lang="zh-CN" altLang="en-US" sz="2000" dirty="0">
                <a:solidFill>
                  <a:srgbClr val="FF0000"/>
                </a:solidFill>
                <a:latin typeface="华文新魏" panose="02010800040101010101" pitchFamily="2" charset="-122"/>
                <a:ea typeface="华文新魏" panose="02010800040101010101" pitchFamily="2" charset="-122"/>
              </a:rPr>
              <a:t>细胞的</a:t>
            </a:r>
            <a:r>
              <a:rPr lang="zh-CN" altLang="en-US" dirty="0">
                <a:solidFill>
                  <a:srgbClr val="FF0000"/>
                </a:solidFill>
                <a:latin typeface="华文新魏" panose="02010800040101010101" pitchFamily="2" charset="-122"/>
                <a:ea typeface="华文新魏" panose="02010800040101010101" pitchFamily="2" charset="-122"/>
                <a:hlinkClick r:id="rId3" action="ppaction://hlinksldjump"/>
              </a:rPr>
              <a:t>凯氏点</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484356" name="AutoShape 6"/>
          <p:cNvSpPr/>
          <p:nvPr/>
        </p:nvSpPr>
        <p:spPr>
          <a:xfrm>
            <a:off x="7391400" y="1295400"/>
            <a:ext cx="1295400" cy="457200"/>
          </a:xfrm>
          <a:prstGeom prst="wedgeRoundRectCallout">
            <a:avLst>
              <a:gd name="adj1" fmla="val -233088"/>
              <a:gd name="adj2" fmla="val 57292"/>
              <a:gd name="adj3" fmla="val 16667"/>
            </a:avLst>
          </a:prstGeom>
          <a:noFill/>
          <a:ln w="38100" cap="flat" cmpd="sng">
            <a:solidFill>
              <a:srgbClr val="FF0000"/>
            </a:solidFill>
            <a:prstDash val="solid"/>
            <a:miter/>
            <a:headEnd type="none" w="med" len="med"/>
            <a:tailEnd type="none" w="med" len="med"/>
          </a:ln>
        </p:spPr>
        <p:txBody>
          <a:bodyPr anchor="t" anchorCtr="0"/>
          <a:lstStyle/>
          <a:p>
            <a:pPr algn="ctr"/>
            <a:r>
              <a:rPr lang="zh-CN" altLang="en-US" dirty="0">
                <a:solidFill>
                  <a:srgbClr val="FF0000"/>
                </a:solidFill>
                <a:latin typeface="华文新魏" panose="02010800040101010101" pitchFamily="2" charset="-122"/>
                <a:ea typeface="华文新魏" panose="02010800040101010101" pitchFamily="2" charset="-122"/>
                <a:hlinkClick r:id="rId4" action="ppaction://hlinksldjump"/>
              </a:rPr>
              <a:t>中柱鞘</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484357" name="Line 7"/>
          <p:cNvSpPr/>
          <p:nvPr/>
        </p:nvSpPr>
        <p:spPr>
          <a:xfrm>
            <a:off x="4419600" y="2133600"/>
            <a:ext cx="8382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4358" name="Line 8"/>
          <p:cNvSpPr/>
          <p:nvPr/>
        </p:nvSpPr>
        <p:spPr>
          <a:xfrm>
            <a:off x="4419600" y="2819400"/>
            <a:ext cx="838200"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484359" name="Text Box 9"/>
          <p:cNvSpPr txBox="1"/>
          <p:nvPr/>
        </p:nvSpPr>
        <p:spPr>
          <a:xfrm>
            <a:off x="5257800" y="1905000"/>
            <a:ext cx="2514600" cy="1012825"/>
          </a:xfrm>
          <a:prstGeom prst="rect">
            <a:avLst/>
          </a:prstGeom>
          <a:noFill/>
          <a:ln w="9525">
            <a:noFill/>
          </a:ln>
        </p:spPr>
        <p:txBody>
          <a:bodyPr anchor="t" anchorCtr="0">
            <a:spAutoFit/>
          </a:bodyPr>
          <a:lstStyle/>
          <a:p>
            <a:pPr>
              <a:lnSpc>
                <a:spcPct val="90000"/>
              </a:lnSpc>
              <a:spcBef>
                <a:spcPct val="50000"/>
              </a:spcBef>
            </a:pPr>
            <a:r>
              <a:rPr lang="zh-CN" altLang="en-US" sz="1600" dirty="0">
                <a:solidFill>
                  <a:srgbClr val="FF0000"/>
                </a:solidFill>
                <a:latin typeface="华文新魏" panose="02010800040101010101" pitchFamily="2" charset="-122"/>
                <a:ea typeface="华文新魏" panose="02010800040101010101" pitchFamily="2" charset="-122"/>
              </a:rPr>
              <a:t>原生木质部</a:t>
            </a:r>
          </a:p>
          <a:p>
            <a:pPr>
              <a:lnSpc>
                <a:spcPct val="80000"/>
              </a:lnSpc>
              <a:spcBef>
                <a:spcPct val="50000"/>
              </a:spcBef>
            </a:pPr>
            <a:r>
              <a:rPr lang="zh-CN" altLang="en-US" sz="1800" dirty="0">
                <a:latin typeface="华文新魏" panose="02010800040101010101" pitchFamily="2" charset="-122"/>
                <a:ea typeface="华文新魏" panose="02010800040101010101" pitchFamily="2" charset="-122"/>
              </a:rPr>
              <a:t>                     </a:t>
            </a:r>
            <a:r>
              <a:rPr lang="zh-CN" altLang="en-US" sz="1700" dirty="0">
                <a:solidFill>
                  <a:srgbClr val="FF0000"/>
                </a:solidFill>
                <a:latin typeface="华文新魏" panose="02010800040101010101" pitchFamily="2" charset="-122"/>
                <a:ea typeface="华文新魏" panose="02010800040101010101" pitchFamily="2" charset="-122"/>
                <a:hlinkClick r:id="rId5" action="ppaction://hlinksldjump"/>
              </a:rPr>
              <a:t>初生木质部</a:t>
            </a:r>
            <a:endParaRPr lang="zh-CN" altLang="en-US" sz="1700" dirty="0">
              <a:solidFill>
                <a:srgbClr val="FF0000"/>
              </a:solidFill>
              <a:latin typeface="华文新魏" panose="02010800040101010101" pitchFamily="2" charset="-122"/>
              <a:ea typeface="华文新魏" panose="02010800040101010101" pitchFamily="2" charset="-122"/>
            </a:endParaRPr>
          </a:p>
          <a:p>
            <a:pPr>
              <a:lnSpc>
                <a:spcPct val="90000"/>
              </a:lnSpc>
              <a:spcBef>
                <a:spcPct val="50000"/>
              </a:spcBef>
            </a:pPr>
            <a:r>
              <a:rPr lang="zh-CN" altLang="en-US" sz="1600" dirty="0">
                <a:solidFill>
                  <a:srgbClr val="FF0000"/>
                </a:solidFill>
                <a:latin typeface="华文新魏" panose="02010800040101010101" pitchFamily="2" charset="-122"/>
                <a:ea typeface="华文新魏" panose="02010800040101010101" pitchFamily="2" charset="-122"/>
              </a:rPr>
              <a:t>后生木质部</a:t>
            </a:r>
          </a:p>
        </p:txBody>
      </p:sp>
      <p:sp>
        <p:nvSpPr>
          <p:cNvPr id="484360" name="AutoShape 10"/>
          <p:cNvSpPr/>
          <p:nvPr/>
        </p:nvSpPr>
        <p:spPr>
          <a:xfrm>
            <a:off x="6400800" y="1981200"/>
            <a:ext cx="152400" cy="914400"/>
          </a:xfrm>
          <a:prstGeom prst="rightBrace">
            <a:avLst>
              <a:gd name="adj1" fmla="val 50000"/>
              <a:gd name="adj2" fmla="val 50000"/>
            </a:avLst>
          </a:prstGeom>
          <a:noFill/>
          <a:ln w="38100"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84361" name="AutoShape 11"/>
          <p:cNvSpPr/>
          <p:nvPr/>
        </p:nvSpPr>
        <p:spPr>
          <a:xfrm rot="2825831">
            <a:off x="6019800" y="4114800"/>
            <a:ext cx="304800" cy="2286000"/>
          </a:xfrm>
          <a:prstGeom prst="rightBrace">
            <a:avLst>
              <a:gd name="adj1" fmla="val 62500"/>
              <a:gd name="adj2" fmla="val 50000"/>
            </a:avLst>
          </a:prstGeom>
          <a:noFill/>
          <a:ln w="38100"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84362" name="Text Box 12"/>
          <p:cNvSpPr txBox="1"/>
          <p:nvPr/>
        </p:nvSpPr>
        <p:spPr>
          <a:xfrm>
            <a:off x="6400800" y="5105400"/>
            <a:ext cx="1295400" cy="350838"/>
          </a:xfrm>
          <a:prstGeom prst="rect">
            <a:avLst/>
          </a:prstGeom>
          <a:noFill/>
          <a:ln w="9525">
            <a:noFill/>
          </a:ln>
        </p:spPr>
        <p:txBody>
          <a:bodyPr anchor="t" anchorCtr="0">
            <a:spAutoFit/>
          </a:bodyPr>
          <a:lstStyle/>
          <a:p>
            <a:pPr>
              <a:spcBef>
                <a:spcPct val="50000"/>
              </a:spcBef>
            </a:pPr>
            <a:r>
              <a:rPr lang="zh-CN" altLang="en-US" sz="1700" dirty="0">
                <a:solidFill>
                  <a:srgbClr val="FF0000"/>
                </a:solidFill>
                <a:latin typeface="华文新魏" panose="02010800040101010101" pitchFamily="2" charset="-122"/>
                <a:ea typeface="华文新魏" panose="02010800040101010101" pitchFamily="2" charset="-122"/>
              </a:rPr>
              <a:t>初生韧皮部</a:t>
            </a:r>
          </a:p>
        </p:txBody>
      </p:sp>
      <p:sp>
        <p:nvSpPr>
          <p:cNvPr id="484363" name="Freeform 13">
            <a:hlinkClick r:id="rId6" action="ppaction://hlinksldjump"/>
            <a:hlinkHover r:id="" action="ppaction://noaction">
              <a:snd r:embed="rId7" name="chimes.wav"/>
            </a:hlinkHover>
          </p:cNvPr>
          <p:cNvSpPr/>
          <p:nvPr/>
        </p:nvSpPr>
        <p:spPr>
          <a:xfrm>
            <a:off x="4724400" y="3733800"/>
            <a:ext cx="2133600" cy="2286000"/>
          </a:xfrm>
          <a:custGeom>
            <a:avLst/>
            <a:gdLst/>
            <a:ahLst/>
            <a:cxnLst>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1344" h="1440">
                <a:moveTo>
                  <a:pt x="48" y="1440"/>
                </a:moveTo>
                <a:cubicBezTo>
                  <a:pt x="52" y="1300"/>
                  <a:pt x="56" y="1160"/>
                  <a:pt x="48" y="1056"/>
                </a:cubicBezTo>
                <a:cubicBezTo>
                  <a:pt x="40" y="952"/>
                  <a:pt x="0" y="896"/>
                  <a:pt x="0" y="816"/>
                </a:cubicBezTo>
                <a:cubicBezTo>
                  <a:pt x="0" y="736"/>
                  <a:pt x="8" y="648"/>
                  <a:pt x="48" y="576"/>
                </a:cubicBezTo>
                <a:cubicBezTo>
                  <a:pt x="88" y="504"/>
                  <a:pt x="176" y="440"/>
                  <a:pt x="240" y="384"/>
                </a:cubicBezTo>
                <a:cubicBezTo>
                  <a:pt x="304" y="328"/>
                  <a:pt x="344" y="280"/>
                  <a:pt x="432" y="240"/>
                </a:cubicBezTo>
                <a:cubicBezTo>
                  <a:pt x="520" y="200"/>
                  <a:pt x="664" y="168"/>
                  <a:pt x="768" y="144"/>
                </a:cubicBezTo>
                <a:cubicBezTo>
                  <a:pt x="872" y="120"/>
                  <a:pt x="960" y="120"/>
                  <a:pt x="1056" y="96"/>
                </a:cubicBezTo>
                <a:cubicBezTo>
                  <a:pt x="1152" y="72"/>
                  <a:pt x="1248" y="36"/>
                  <a:pt x="1344" y="0"/>
                </a:cubicBezTo>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484364" name="Text Box 14"/>
          <p:cNvSpPr txBox="1"/>
          <p:nvPr/>
        </p:nvSpPr>
        <p:spPr>
          <a:xfrm>
            <a:off x="6934200" y="3429000"/>
            <a:ext cx="990600" cy="701675"/>
          </a:xfrm>
          <a:prstGeom prst="rect">
            <a:avLst/>
          </a:prstGeom>
          <a:noFill/>
          <a:ln w="9525">
            <a:noFill/>
          </a:ln>
        </p:spPr>
        <p:txBody>
          <a:bodyPr anchor="t" anchorCtr="0">
            <a:spAutoFit/>
          </a:bodyPr>
          <a:lstStyle/>
          <a:p>
            <a:pPr algn="ctr">
              <a:spcBef>
                <a:spcPct val="50000"/>
              </a:spcBef>
            </a:pPr>
            <a:r>
              <a:rPr lang="zh-CN" altLang="en-US" sz="2000" dirty="0">
                <a:solidFill>
                  <a:srgbClr val="FFFF00"/>
                </a:solidFill>
                <a:latin typeface="华文新魏" panose="02010800040101010101" pitchFamily="2" charset="-122"/>
                <a:ea typeface="华文新魏" panose="02010800040101010101" pitchFamily="2" charset="-122"/>
                <a:hlinkClick r:id="rId8" action="ppaction://hlinksldjump"/>
              </a:rPr>
              <a:t>束间薄壁组织</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484365" name="AutoShape 15"/>
          <p:cNvSpPr/>
          <p:nvPr/>
        </p:nvSpPr>
        <p:spPr>
          <a:xfrm>
            <a:off x="7696200" y="2362200"/>
            <a:ext cx="304800" cy="3048000"/>
          </a:xfrm>
          <a:prstGeom prst="rightBrace">
            <a:avLst>
              <a:gd name="adj1" fmla="val 82685"/>
              <a:gd name="adj2" fmla="val 50000"/>
            </a:avLst>
          </a:prstGeom>
          <a:noFill/>
          <a:ln w="57150"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84366" name="Text Box 16"/>
          <p:cNvSpPr txBox="1"/>
          <p:nvPr/>
        </p:nvSpPr>
        <p:spPr>
          <a:xfrm>
            <a:off x="7908925" y="2362200"/>
            <a:ext cx="549275" cy="2895600"/>
          </a:xfrm>
          <a:prstGeom prst="rect">
            <a:avLst/>
          </a:prstGeom>
          <a:noFill/>
          <a:ln w="9525">
            <a:noFill/>
          </a:ln>
        </p:spPr>
        <p:txBody>
          <a:bodyPr vert="eaVert" anchor="t" anchorCtr="0">
            <a:spAutoFit/>
          </a:bodyPr>
          <a:lstStyle/>
          <a:p>
            <a:pPr algn="ctr">
              <a:spcBef>
                <a:spcPct val="50000"/>
              </a:spcBef>
            </a:pPr>
            <a:r>
              <a:rPr lang="zh-CN" altLang="en-US" dirty="0">
                <a:solidFill>
                  <a:srgbClr val="FF0000"/>
                </a:solidFill>
                <a:latin typeface="华文新魏" panose="02010800040101010101" pitchFamily="2" charset="-122"/>
                <a:ea typeface="华文新魏" panose="02010800040101010101" pitchFamily="2" charset="-122"/>
                <a:hlinkClick r:id="rId9" action="ppaction://hlinksldjump"/>
              </a:rPr>
              <a:t>初生维管组织</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484367" name="Text Box 17"/>
          <p:cNvSpPr txBox="1"/>
          <p:nvPr/>
        </p:nvSpPr>
        <p:spPr>
          <a:xfrm>
            <a:off x="0" y="4572000"/>
            <a:ext cx="2895600" cy="1536700"/>
          </a:xfrm>
          <a:prstGeom prst="rect">
            <a:avLst/>
          </a:prstGeom>
          <a:noFill/>
          <a:ln w="9525">
            <a:noFill/>
          </a:ln>
        </p:spPr>
        <p:txBody>
          <a:bodyPr anchor="t" anchorCtr="0">
            <a:spAutoFit/>
          </a:bodyPr>
          <a:lstStyle/>
          <a:p>
            <a:pPr>
              <a:lnSpc>
                <a:spcPct val="120000"/>
              </a:lnSpc>
              <a:spcBef>
                <a:spcPct val="50000"/>
              </a:spcBef>
            </a:pPr>
            <a:r>
              <a:rPr lang="en-US" altLang="zh-CN" sz="2200" dirty="0">
                <a:latin typeface="Times New Roman" panose="02020603050405020304" pitchFamily="18" charset="0"/>
                <a:ea typeface="宋体" panose="02010600030101010101" pitchFamily="2" charset="-122"/>
              </a:rPr>
              <a:t>         </a:t>
            </a:r>
            <a:r>
              <a:rPr lang="zh-CN" altLang="en-US" sz="2000" b="1" dirty="0">
                <a:solidFill>
                  <a:srgbClr val="FF0000"/>
                </a:solidFill>
                <a:latin typeface="Times New Roman" panose="02020603050405020304" pitchFamily="18" charset="0"/>
                <a:ea typeface="宋体" panose="02010600030101010101" pitchFamily="2" charset="-122"/>
              </a:rPr>
              <a:t>中柱鞘</a:t>
            </a:r>
            <a:endParaRPr lang="zh-CN" altLang="en-US" sz="2200" b="1" dirty="0">
              <a:solidFill>
                <a:srgbClr val="FF0000"/>
              </a:solidFill>
              <a:latin typeface="Times New Roman" panose="02020603050405020304" pitchFamily="18" charset="0"/>
              <a:ea typeface="宋体" panose="02010600030101010101" pitchFamily="2" charset="-122"/>
            </a:endParaRPr>
          </a:p>
          <a:p>
            <a:pPr>
              <a:lnSpc>
                <a:spcPct val="60000"/>
              </a:lnSpc>
              <a:spcBef>
                <a:spcPct val="50000"/>
              </a:spcBef>
            </a:pPr>
            <a:r>
              <a:rPr lang="zh-CN" altLang="en-US" sz="2200" b="1" dirty="0">
                <a:solidFill>
                  <a:srgbClr val="FF0000"/>
                </a:solidFill>
                <a:latin typeface="Times New Roman" panose="02020603050405020304" pitchFamily="18" charset="0"/>
                <a:ea typeface="宋体" panose="02010600030101010101" pitchFamily="2" charset="-122"/>
              </a:rPr>
              <a:t>维                   </a:t>
            </a:r>
            <a:r>
              <a:rPr lang="zh-CN" altLang="en-US" sz="1700" b="1" dirty="0">
                <a:solidFill>
                  <a:srgbClr val="FF0000"/>
                </a:solidFill>
                <a:latin typeface="Times New Roman" panose="02020603050405020304" pitchFamily="18" charset="0"/>
                <a:ea typeface="宋体" panose="02010600030101010101" pitchFamily="2" charset="-122"/>
              </a:rPr>
              <a:t>初生木质部</a:t>
            </a:r>
          </a:p>
          <a:p>
            <a:pPr>
              <a:lnSpc>
                <a:spcPct val="50000"/>
              </a:lnSpc>
              <a:spcBef>
                <a:spcPct val="50000"/>
              </a:spcBef>
            </a:pPr>
            <a:r>
              <a:rPr lang="zh-CN" altLang="en-US" sz="2200" b="1" dirty="0">
                <a:solidFill>
                  <a:srgbClr val="FF0000"/>
                </a:solidFill>
                <a:latin typeface="Times New Roman" panose="02020603050405020304" pitchFamily="18" charset="0"/>
                <a:ea typeface="宋体" panose="02010600030101010101" pitchFamily="2" charset="-122"/>
              </a:rPr>
              <a:t>管     </a:t>
            </a:r>
            <a:r>
              <a:rPr lang="zh-CN" altLang="en-US" sz="2000" b="1" dirty="0">
                <a:solidFill>
                  <a:srgbClr val="FF0000"/>
                </a:solidFill>
                <a:latin typeface="Times New Roman" panose="02020603050405020304" pitchFamily="18" charset="0"/>
                <a:ea typeface="宋体" panose="02010600030101010101" pitchFamily="2" charset="-122"/>
              </a:rPr>
              <a:t>初生维    </a:t>
            </a:r>
            <a:r>
              <a:rPr lang="zh-CN" altLang="en-US" sz="1700" b="1" dirty="0">
                <a:solidFill>
                  <a:srgbClr val="FF0000"/>
                </a:solidFill>
                <a:latin typeface="Times New Roman" panose="02020603050405020304" pitchFamily="18" charset="0"/>
                <a:ea typeface="宋体" panose="02010600030101010101" pitchFamily="2" charset="-122"/>
              </a:rPr>
              <a:t>薄壁组织</a:t>
            </a:r>
          </a:p>
          <a:p>
            <a:pPr>
              <a:lnSpc>
                <a:spcPct val="50000"/>
              </a:lnSpc>
              <a:spcBef>
                <a:spcPct val="50000"/>
              </a:spcBef>
            </a:pPr>
            <a:r>
              <a:rPr lang="zh-CN" altLang="en-US" sz="2200" b="1" dirty="0">
                <a:solidFill>
                  <a:srgbClr val="FF0000"/>
                </a:solidFill>
                <a:latin typeface="Times New Roman" panose="02020603050405020304" pitchFamily="18" charset="0"/>
                <a:ea typeface="宋体" panose="02010600030101010101" pitchFamily="2" charset="-122"/>
              </a:rPr>
              <a:t>柱     </a:t>
            </a:r>
            <a:r>
              <a:rPr lang="zh-CN" altLang="en-US" sz="2000" b="1" dirty="0">
                <a:solidFill>
                  <a:srgbClr val="FF0000"/>
                </a:solidFill>
                <a:latin typeface="Times New Roman" panose="02020603050405020304" pitchFamily="18" charset="0"/>
                <a:ea typeface="宋体" panose="02010600030101010101" pitchFamily="2" charset="-122"/>
              </a:rPr>
              <a:t>管组织   </a:t>
            </a:r>
            <a:r>
              <a:rPr lang="zh-CN" altLang="en-US" sz="1700" b="1" dirty="0">
                <a:solidFill>
                  <a:srgbClr val="FF0000"/>
                </a:solidFill>
                <a:latin typeface="Times New Roman" panose="02020603050405020304" pitchFamily="18" charset="0"/>
                <a:ea typeface="宋体" panose="02010600030101010101" pitchFamily="2" charset="-122"/>
              </a:rPr>
              <a:t>初生韧皮部</a:t>
            </a:r>
            <a:endParaRPr lang="zh-CN" altLang="en-US" sz="2200" dirty="0">
              <a:latin typeface="Times New Roman" panose="02020603050405020304" pitchFamily="18" charset="0"/>
              <a:ea typeface="宋体" panose="02010600030101010101" pitchFamily="2" charset="-122"/>
            </a:endParaRPr>
          </a:p>
        </p:txBody>
      </p:sp>
      <p:sp>
        <p:nvSpPr>
          <p:cNvPr id="484368" name="AutoShape 18"/>
          <p:cNvSpPr/>
          <p:nvPr/>
        </p:nvSpPr>
        <p:spPr>
          <a:xfrm>
            <a:off x="381000" y="4724400"/>
            <a:ext cx="228600" cy="1295400"/>
          </a:xfrm>
          <a:prstGeom prst="leftBrace">
            <a:avLst>
              <a:gd name="adj1" fmla="val 46854"/>
              <a:gd name="adj2" fmla="val 61153"/>
            </a:avLst>
          </a:prstGeom>
          <a:noFill/>
          <a:ln w="9525"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84369" name="AutoShape 19"/>
          <p:cNvSpPr/>
          <p:nvPr/>
        </p:nvSpPr>
        <p:spPr>
          <a:xfrm>
            <a:off x="1524000" y="5257800"/>
            <a:ext cx="152400" cy="838200"/>
          </a:xfrm>
          <a:prstGeom prst="leftBrace">
            <a:avLst>
              <a:gd name="adj1" fmla="val 45476"/>
              <a:gd name="adj2" fmla="val 50000"/>
            </a:avLst>
          </a:prstGeom>
          <a:noFill/>
          <a:ln w="9525" cap="flat" cmpd="sng">
            <a:solidFill>
              <a:srgbClr val="FF00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84370"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5377" name="Picture 1031" descr="D:\刘宗才\植物学素材\教学素材\营养器官\双子叶植物幼根横切示维管柱.jpg"/>
          <p:cNvPicPr>
            <a:picLocks noChangeAspect="1"/>
          </p:cNvPicPr>
          <p:nvPr/>
        </p:nvPicPr>
        <p:blipFill>
          <a:blip r:embed="rId2"/>
          <a:stretch>
            <a:fillRect/>
          </a:stretch>
        </p:blipFill>
        <p:spPr>
          <a:xfrm>
            <a:off x="0" y="0"/>
            <a:ext cx="9144000" cy="6477000"/>
          </a:xfrm>
          <a:prstGeom prst="rect">
            <a:avLst/>
          </a:prstGeom>
          <a:noFill/>
          <a:ln w="9525">
            <a:noFill/>
          </a:ln>
        </p:spPr>
      </p:pic>
      <p:sp>
        <p:nvSpPr>
          <p:cNvPr id="485378" name="Oval 1027">
            <a:hlinkHover r:id="" action="ppaction://noaction">
              <a:snd r:embed="rId3" name="camera.wav"/>
            </a:hlinkHover>
          </p:cNvPr>
          <p:cNvSpPr/>
          <p:nvPr/>
        </p:nvSpPr>
        <p:spPr>
          <a:xfrm>
            <a:off x="6477000" y="2286000"/>
            <a:ext cx="838200" cy="1600200"/>
          </a:xfrm>
          <a:prstGeom prst="ellipse">
            <a:avLst/>
          </a:prstGeom>
          <a:noFill/>
          <a:ln w="57150" cap="flat" cmpd="sng">
            <a:solidFill>
              <a:srgbClr val="FF0000"/>
            </a:solidFill>
            <a:prstDash val="lgDash"/>
            <a:round/>
            <a:headEnd type="none" w="med" len="med"/>
            <a:tailEnd type="none" w="med" len="med"/>
          </a:ln>
        </p:spPr>
        <p:txBody>
          <a:bodyPr anchor="t" anchorCtr="0"/>
          <a:lstStyle/>
          <a:p>
            <a:endParaRPr lang="zh-CN" altLang="en-US" dirty="0">
              <a:latin typeface="Tahoma" panose="020B0604030504040204" pitchFamily="34" charset="0"/>
              <a:ea typeface="华文新魏" panose="02010800040101010101" pitchFamily="2" charset="-122"/>
            </a:endParaRPr>
          </a:p>
        </p:txBody>
      </p:sp>
      <p:sp>
        <p:nvSpPr>
          <p:cNvPr id="485379" name="Freeform 1028">
            <a:hlinkHover r:id="" action="ppaction://noaction">
              <a:snd r:embed="rId3" name="camera.wav"/>
            </a:hlinkHover>
          </p:cNvPr>
          <p:cNvSpPr/>
          <p:nvPr/>
        </p:nvSpPr>
        <p:spPr>
          <a:xfrm>
            <a:off x="2794000" y="1663700"/>
            <a:ext cx="4622800" cy="45339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912" h="2856">
                <a:moveTo>
                  <a:pt x="2320" y="248"/>
                </a:moveTo>
                <a:cubicBezTo>
                  <a:pt x="2344" y="296"/>
                  <a:pt x="2328" y="384"/>
                  <a:pt x="2320" y="440"/>
                </a:cubicBezTo>
                <a:cubicBezTo>
                  <a:pt x="2312" y="496"/>
                  <a:pt x="2288" y="536"/>
                  <a:pt x="2272" y="584"/>
                </a:cubicBezTo>
                <a:cubicBezTo>
                  <a:pt x="2256" y="632"/>
                  <a:pt x="2232" y="664"/>
                  <a:pt x="2224" y="728"/>
                </a:cubicBezTo>
                <a:cubicBezTo>
                  <a:pt x="2216" y="792"/>
                  <a:pt x="2216" y="904"/>
                  <a:pt x="2224" y="968"/>
                </a:cubicBezTo>
                <a:cubicBezTo>
                  <a:pt x="2232" y="1032"/>
                  <a:pt x="2256" y="1072"/>
                  <a:pt x="2272" y="1112"/>
                </a:cubicBezTo>
                <a:cubicBezTo>
                  <a:pt x="2288" y="1152"/>
                  <a:pt x="2304" y="1176"/>
                  <a:pt x="2320" y="1208"/>
                </a:cubicBezTo>
                <a:cubicBezTo>
                  <a:pt x="2336" y="1240"/>
                  <a:pt x="2344" y="1264"/>
                  <a:pt x="2368" y="1304"/>
                </a:cubicBezTo>
                <a:cubicBezTo>
                  <a:pt x="2392" y="1344"/>
                  <a:pt x="2408" y="1416"/>
                  <a:pt x="2464" y="1448"/>
                </a:cubicBezTo>
                <a:cubicBezTo>
                  <a:pt x="2520" y="1480"/>
                  <a:pt x="2648" y="1472"/>
                  <a:pt x="2704" y="1496"/>
                </a:cubicBezTo>
                <a:cubicBezTo>
                  <a:pt x="2760" y="1520"/>
                  <a:pt x="2768" y="1568"/>
                  <a:pt x="2800" y="1592"/>
                </a:cubicBezTo>
                <a:cubicBezTo>
                  <a:pt x="2832" y="1616"/>
                  <a:pt x="2880" y="1608"/>
                  <a:pt x="2896" y="1640"/>
                </a:cubicBezTo>
                <a:cubicBezTo>
                  <a:pt x="2912" y="1672"/>
                  <a:pt x="2904" y="1736"/>
                  <a:pt x="2896" y="1784"/>
                </a:cubicBezTo>
                <a:cubicBezTo>
                  <a:pt x="2888" y="1832"/>
                  <a:pt x="2856" y="1888"/>
                  <a:pt x="2848" y="1928"/>
                </a:cubicBezTo>
                <a:cubicBezTo>
                  <a:pt x="2840" y="1968"/>
                  <a:pt x="2872" y="1984"/>
                  <a:pt x="2848" y="2024"/>
                </a:cubicBezTo>
                <a:cubicBezTo>
                  <a:pt x="2824" y="2064"/>
                  <a:pt x="2752" y="2136"/>
                  <a:pt x="2704" y="2168"/>
                </a:cubicBezTo>
                <a:cubicBezTo>
                  <a:pt x="2656" y="2200"/>
                  <a:pt x="2616" y="2208"/>
                  <a:pt x="2560" y="2216"/>
                </a:cubicBezTo>
                <a:cubicBezTo>
                  <a:pt x="2504" y="2224"/>
                  <a:pt x="2448" y="2224"/>
                  <a:pt x="2368" y="2216"/>
                </a:cubicBezTo>
                <a:cubicBezTo>
                  <a:pt x="2288" y="2208"/>
                  <a:pt x="2144" y="2192"/>
                  <a:pt x="2080" y="2168"/>
                </a:cubicBezTo>
                <a:cubicBezTo>
                  <a:pt x="2016" y="2144"/>
                  <a:pt x="2024" y="2112"/>
                  <a:pt x="1984" y="2072"/>
                </a:cubicBezTo>
                <a:cubicBezTo>
                  <a:pt x="1944" y="2032"/>
                  <a:pt x="1880" y="1952"/>
                  <a:pt x="1840" y="1928"/>
                </a:cubicBezTo>
                <a:cubicBezTo>
                  <a:pt x="1800" y="1904"/>
                  <a:pt x="1784" y="1904"/>
                  <a:pt x="1744" y="1928"/>
                </a:cubicBezTo>
                <a:cubicBezTo>
                  <a:pt x="1704" y="1952"/>
                  <a:pt x="1640" y="2008"/>
                  <a:pt x="1600" y="2072"/>
                </a:cubicBezTo>
                <a:cubicBezTo>
                  <a:pt x="1560" y="2136"/>
                  <a:pt x="1544" y="2240"/>
                  <a:pt x="1504" y="2312"/>
                </a:cubicBezTo>
                <a:cubicBezTo>
                  <a:pt x="1464" y="2384"/>
                  <a:pt x="1400" y="2440"/>
                  <a:pt x="1360" y="2504"/>
                </a:cubicBezTo>
                <a:cubicBezTo>
                  <a:pt x="1320" y="2568"/>
                  <a:pt x="1304" y="2640"/>
                  <a:pt x="1264" y="2696"/>
                </a:cubicBezTo>
                <a:cubicBezTo>
                  <a:pt x="1224" y="2752"/>
                  <a:pt x="1168" y="2824"/>
                  <a:pt x="1120" y="2840"/>
                </a:cubicBezTo>
                <a:cubicBezTo>
                  <a:pt x="1072" y="2856"/>
                  <a:pt x="1024" y="2808"/>
                  <a:pt x="976" y="2792"/>
                </a:cubicBezTo>
                <a:cubicBezTo>
                  <a:pt x="928" y="2776"/>
                  <a:pt x="880" y="2776"/>
                  <a:pt x="832" y="2744"/>
                </a:cubicBezTo>
                <a:cubicBezTo>
                  <a:pt x="784" y="2712"/>
                  <a:pt x="728" y="2640"/>
                  <a:pt x="688" y="2600"/>
                </a:cubicBezTo>
                <a:cubicBezTo>
                  <a:pt x="648" y="2560"/>
                  <a:pt x="616" y="2544"/>
                  <a:pt x="592" y="2504"/>
                </a:cubicBezTo>
                <a:cubicBezTo>
                  <a:pt x="568" y="2464"/>
                  <a:pt x="544" y="2416"/>
                  <a:pt x="544" y="2360"/>
                </a:cubicBezTo>
                <a:cubicBezTo>
                  <a:pt x="544" y="2304"/>
                  <a:pt x="560" y="2224"/>
                  <a:pt x="592" y="2168"/>
                </a:cubicBezTo>
                <a:cubicBezTo>
                  <a:pt x="624" y="2112"/>
                  <a:pt x="704" y="2072"/>
                  <a:pt x="736" y="2024"/>
                </a:cubicBezTo>
                <a:cubicBezTo>
                  <a:pt x="768" y="1976"/>
                  <a:pt x="784" y="1936"/>
                  <a:pt x="784" y="1880"/>
                </a:cubicBezTo>
                <a:cubicBezTo>
                  <a:pt x="784" y="1824"/>
                  <a:pt x="768" y="1728"/>
                  <a:pt x="736" y="1688"/>
                </a:cubicBezTo>
                <a:cubicBezTo>
                  <a:pt x="704" y="1648"/>
                  <a:pt x="640" y="1664"/>
                  <a:pt x="592" y="1640"/>
                </a:cubicBezTo>
                <a:cubicBezTo>
                  <a:pt x="544" y="1616"/>
                  <a:pt x="488" y="1568"/>
                  <a:pt x="448" y="1544"/>
                </a:cubicBezTo>
                <a:cubicBezTo>
                  <a:pt x="408" y="1520"/>
                  <a:pt x="392" y="1512"/>
                  <a:pt x="352" y="1496"/>
                </a:cubicBezTo>
                <a:cubicBezTo>
                  <a:pt x="312" y="1480"/>
                  <a:pt x="248" y="1480"/>
                  <a:pt x="208" y="1448"/>
                </a:cubicBezTo>
                <a:cubicBezTo>
                  <a:pt x="168" y="1416"/>
                  <a:pt x="144" y="1384"/>
                  <a:pt x="112" y="1304"/>
                </a:cubicBezTo>
                <a:cubicBezTo>
                  <a:pt x="80" y="1224"/>
                  <a:pt x="32" y="1056"/>
                  <a:pt x="16" y="968"/>
                </a:cubicBezTo>
                <a:cubicBezTo>
                  <a:pt x="0" y="880"/>
                  <a:pt x="0" y="840"/>
                  <a:pt x="16" y="776"/>
                </a:cubicBezTo>
                <a:cubicBezTo>
                  <a:pt x="32" y="712"/>
                  <a:pt x="80" y="624"/>
                  <a:pt x="112" y="584"/>
                </a:cubicBezTo>
                <a:cubicBezTo>
                  <a:pt x="144" y="544"/>
                  <a:pt x="168" y="552"/>
                  <a:pt x="208" y="536"/>
                </a:cubicBezTo>
                <a:cubicBezTo>
                  <a:pt x="248" y="520"/>
                  <a:pt x="280" y="496"/>
                  <a:pt x="352" y="488"/>
                </a:cubicBezTo>
                <a:cubicBezTo>
                  <a:pt x="424" y="480"/>
                  <a:pt x="576" y="464"/>
                  <a:pt x="640" y="488"/>
                </a:cubicBezTo>
                <a:cubicBezTo>
                  <a:pt x="704" y="512"/>
                  <a:pt x="688" y="592"/>
                  <a:pt x="736" y="632"/>
                </a:cubicBezTo>
                <a:cubicBezTo>
                  <a:pt x="784" y="672"/>
                  <a:pt x="872" y="696"/>
                  <a:pt x="928" y="728"/>
                </a:cubicBezTo>
                <a:cubicBezTo>
                  <a:pt x="984" y="760"/>
                  <a:pt x="1016" y="808"/>
                  <a:pt x="1072" y="824"/>
                </a:cubicBezTo>
                <a:cubicBezTo>
                  <a:pt x="1128" y="840"/>
                  <a:pt x="1208" y="848"/>
                  <a:pt x="1264" y="824"/>
                </a:cubicBezTo>
                <a:cubicBezTo>
                  <a:pt x="1320" y="800"/>
                  <a:pt x="1376" y="736"/>
                  <a:pt x="1408" y="680"/>
                </a:cubicBezTo>
                <a:cubicBezTo>
                  <a:pt x="1440" y="624"/>
                  <a:pt x="1448" y="552"/>
                  <a:pt x="1456" y="488"/>
                </a:cubicBezTo>
                <a:cubicBezTo>
                  <a:pt x="1464" y="424"/>
                  <a:pt x="1448" y="352"/>
                  <a:pt x="1456" y="296"/>
                </a:cubicBezTo>
                <a:cubicBezTo>
                  <a:pt x="1464" y="240"/>
                  <a:pt x="1472" y="192"/>
                  <a:pt x="1504" y="152"/>
                </a:cubicBezTo>
                <a:cubicBezTo>
                  <a:pt x="1536" y="112"/>
                  <a:pt x="1600" y="80"/>
                  <a:pt x="1648" y="56"/>
                </a:cubicBezTo>
                <a:cubicBezTo>
                  <a:pt x="1696" y="32"/>
                  <a:pt x="1744" y="16"/>
                  <a:pt x="1792" y="8"/>
                </a:cubicBezTo>
                <a:cubicBezTo>
                  <a:pt x="1840" y="0"/>
                  <a:pt x="1880" y="0"/>
                  <a:pt x="1936" y="8"/>
                </a:cubicBezTo>
                <a:cubicBezTo>
                  <a:pt x="1992" y="16"/>
                  <a:pt x="2088" y="32"/>
                  <a:pt x="2128" y="56"/>
                </a:cubicBezTo>
                <a:cubicBezTo>
                  <a:pt x="2168" y="80"/>
                  <a:pt x="2144" y="120"/>
                  <a:pt x="2176" y="152"/>
                </a:cubicBezTo>
                <a:cubicBezTo>
                  <a:pt x="2208" y="184"/>
                  <a:pt x="2296" y="200"/>
                  <a:pt x="2320" y="248"/>
                </a:cubicBezTo>
                <a:close/>
              </a:path>
            </a:pathLst>
          </a:custGeom>
          <a:noFill/>
          <a:ln w="57150" cap="flat" cmpd="sng">
            <a:solidFill>
              <a:srgbClr val="FF0000"/>
            </a:solidFill>
            <a:prstDash val="lgDash"/>
            <a:round/>
            <a:headEnd type="none" w="med" len="med"/>
            <a:tailEnd type="none" w="med" len="med"/>
          </a:ln>
        </p:spPr>
        <p:txBody>
          <a:bodyPr/>
          <a:lstStyle/>
          <a:p>
            <a:endParaRPr lang="zh-CN" altLang="en-US"/>
          </a:p>
        </p:txBody>
      </p:sp>
      <p:sp>
        <p:nvSpPr>
          <p:cNvPr id="485380" name="AutoShape 1029"/>
          <p:cNvSpPr/>
          <p:nvPr/>
        </p:nvSpPr>
        <p:spPr>
          <a:xfrm>
            <a:off x="7696200" y="1981200"/>
            <a:ext cx="1447800" cy="685800"/>
          </a:xfrm>
          <a:prstGeom prst="wedgeRoundRectCallout">
            <a:avLst>
              <a:gd name="adj1" fmla="val -94847"/>
              <a:gd name="adj2" fmla="val 98148"/>
              <a:gd name="adj3" fmla="val 16667"/>
            </a:avLst>
          </a:prstGeom>
          <a:noFill/>
          <a:ln w="38100" cap="flat" cmpd="sng">
            <a:solidFill>
              <a:srgbClr val="FF0000"/>
            </a:solidFill>
            <a:prstDash val="solid"/>
            <a:miter/>
            <a:headEnd type="none" w="med" len="med"/>
            <a:tailEnd type="none" w="med" len="med"/>
          </a:ln>
        </p:spPr>
        <p:txBody>
          <a:bodyPr anchor="t" anchorCtr="0"/>
          <a:lstStyle/>
          <a:p>
            <a:pPr algn="ctr"/>
            <a:r>
              <a:rPr lang="zh-CN" altLang="en-US" sz="2000" b="1" dirty="0">
                <a:solidFill>
                  <a:srgbClr val="FF0000"/>
                </a:solidFill>
                <a:latin typeface="Times New Roman" panose="02020603050405020304" pitchFamily="18" charset="0"/>
                <a:ea typeface="宋体" panose="02010600030101010101" pitchFamily="2" charset="-122"/>
              </a:rPr>
              <a:t>初     生</a:t>
            </a:r>
          </a:p>
          <a:p>
            <a:pPr algn="ctr"/>
            <a:r>
              <a:rPr lang="zh-CN" altLang="en-US" sz="2000" b="1" dirty="0">
                <a:solidFill>
                  <a:srgbClr val="FF0000"/>
                </a:solidFill>
                <a:latin typeface="Times New Roman" panose="02020603050405020304" pitchFamily="18" charset="0"/>
                <a:ea typeface="宋体" panose="02010600030101010101" pitchFamily="2" charset="-122"/>
              </a:rPr>
              <a:t>韧皮部</a:t>
            </a:r>
          </a:p>
        </p:txBody>
      </p:sp>
      <p:sp>
        <p:nvSpPr>
          <p:cNvPr id="485381" name="AutoShape 1030"/>
          <p:cNvSpPr/>
          <p:nvPr/>
        </p:nvSpPr>
        <p:spPr>
          <a:xfrm>
            <a:off x="7696200" y="3886200"/>
            <a:ext cx="1447800" cy="533400"/>
          </a:xfrm>
          <a:prstGeom prst="wedgeRoundRectCallout">
            <a:avLst>
              <a:gd name="adj1" fmla="val -66556"/>
              <a:gd name="adj2" fmla="val 44940"/>
              <a:gd name="adj3" fmla="val 16667"/>
            </a:avLst>
          </a:prstGeom>
          <a:noFill/>
          <a:ln w="38100" cap="flat" cmpd="sng">
            <a:solidFill>
              <a:srgbClr val="FF0000"/>
            </a:solidFill>
            <a:prstDash val="solid"/>
            <a:miter/>
            <a:headEnd type="none" w="med" len="med"/>
            <a:tailEnd type="none" w="med" len="med"/>
          </a:ln>
        </p:spPr>
        <p:txBody>
          <a:bodyPr anchor="t" anchorCtr="0"/>
          <a:lstStyle/>
          <a:p>
            <a:pPr algn="ctr"/>
            <a:r>
              <a:rPr lang="zh-CN" altLang="en-US" sz="2000" b="1" dirty="0">
                <a:solidFill>
                  <a:srgbClr val="FF0000"/>
                </a:solidFill>
                <a:latin typeface="Times New Roman" panose="02020603050405020304" pitchFamily="18" charset="0"/>
                <a:ea typeface="宋体" panose="02010600030101010101" pitchFamily="2" charset="-122"/>
                <a:hlinkClick r:id="rId4" action="ppaction://hlinksldjump"/>
              </a:rPr>
              <a:t>形成层环</a:t>
            </a:r>
            <a:endParaRPr lang="zh-CN" altLang="en-US" sz="20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1" name="Rectangle 3"/>
          <p:cNvSpPr>
            <a:spLocks noGrp="1"/>
          </p:cNvSpPr>
          <p:nvPr>
            <p:ph idx="1"/>
          </p:nvPr>
        </p:nvSpPr>
        <p:spPr>
          <a:xfrm>
            <a:off x="107950" y="2613025"/>
            <a:ext cx="8928100" cy="4149725"/>
          </a:xfrm>
        </p:spPr>
        <p:txBody>
          <a:bodyPr vert="horz" wrap="square" lIns="91440" tIns="45720" rIns="91440" bIns="45720" anchor="t" anchorCtr="0"/>
          <a:lstStyle/>
          <a:p>
            <a:pPr eaLnBrk="1" hangingPunct="1">
              <a:buNone/>
            </a:pPr>
            <a:r>
              <a:rPr lang="en-US" altLang="zh-CN" sz="2400" b="1" dirty="0">
                <a:latin typeface="黑体" panose="02010609060101010101" pitchFamily="49" charset="-122"/>
                <a:ea typeface="黑体" panose="02010609060101010101" pitchFamily="49" charset="-122"/>
              </a:rPr>
              <a:t>  (3)</a:t>
            </a:r>
            <a:r>
              <a:rPr lang="zh-CN" altLang="en-US" sz="2400" b="1" dirty="0">
                <a:latin typeface="黑体" panose="02010609060101010101" pitchFamily="49" charset="-122"/>
                <a:ea typeface="黑体" panose="02010609060101010101" pitchFamily="49" charset="-122"/>
              </a:rPr>
              <a:t>维管柱</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结构特征</a:t>
            </a:r>
            <a:r>
              <a:rPr lang="en-US" altLang="zh-CN" sz="2400" b="1" dirty="0">
                <a:latin typeface="黑体" panose="02010609060101010101" pitchFamily="49" charset="-122"/>
                <a:ea typeface="黑体" panose="02010609060101010101" pitchFamily="49" charset="-122"/>
              </a:rPr>
              <a:t>——①</a:t>
            </a:r>
            <a:r>
              <a:rPr lang="zh-CN" altLang="en-US" sz="2400" b="1" dirty="0">
                <a:solidFill>
                  <a:srgbClr val="FF0000"/>
                </a:solidFill>
                <a:latin typeface="黑体" panose="02010609060101010101" pitchFamily="49" charset="-122"/>
                <a:ea typeface="黑体" panose="02010609060101010101" pitchFamily="49" charset="-122"/>
              </a:rPr>
              <a:t>中柱鞘</a:t>
            </a:r>
            <a:r>
              <a:rPr lang="zh-CN" altLang="en-US" sz="2400" b="1" dirty="0">
                <a:latin typeface="黑体" panose="02010609060101010101" pitchFamily="49" charset="-122"/>
                <a:ea typeface="黑体" panose="02010609060101010101" pitchFamily="49" charset="-122"/>
                <a:hlinkClick r:id="rId2" action="ppaction://hlinksldjump"/>
              </a:rPr>
              <a:t> </a:t>
            </a:r>
            <a:endParaRPr lang="zh-CN" altLang="en-US" sz="2400" b="1" dirty="0">
              <a:latin typeface="黑体" panose="02010609060101010101" pitchFamily="49" charset="-122"/>
              <a:ea typeface="黑体" panose="02010609060101010101" pitchFamily="49" charset="-122"/>
            </a:endParaRPr>
          </a:p>
          <a:p>
            <a:pPr marL="457200" lvl="1" indent="0" eaLnBrk="1" hangingPunct="1">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中柱鞘是维管柱的外层组织，一层细胞构成，少为二层或多层细胞，其外紧贴着内皮层，内接初生维管组织。它是由原形成层的细胞发育而成，分化程度低，保持着潜在的分生能力，</a:t>
            </a:r>
            <a:r>
              <a:rPr lang="zh-CN" altLang="en-US" b="1" dirty="0">
                <a:solidFill>
                  <a:srgbClr val="FF0000"/>
                </a:solidFill>
                <a:latin typeface="黑体" panose="02010609060101010101" pitchFamily="49" charset="-122"/>
                <a:ea typeface="黑体" panose="02010609060101010101" pitchFamily="49" charset="-122"/>
              </a:rPr>
              <a:t>维管形成层（部分）、木栓形成层、不定芽、侧根和不定根，都可能由中柱鞘的细胞产生</a:t>
            </a:r>
            <a:r>
              <a:rPr lang="zh-CN" altLang="en-US" b="1" dirty="0">
                <a:latin typeface="黑体" panose="02010609060101010101" pitchFamily="49" charset="-122"/>
                <a:ea typeface="黑体" panose="02010609060101010101" pitchFamily="49" charset="-122"/>
              </a:rPr>
              <a:t>。 </a:t>
            </a:r>
          </a:p>
        </p:txBody>
      </p:sp>
      <p:sp>
        <p:nvSpPr>
          <p:cNvPr id="486402"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
        <p:nvSpPr>
          <p:cNvPr id="8" name="Rectangle 3"/>
          <p:cNvSpPr txBox="1">
            <a:spLocks noChangeArrowheads="1"/>
          </p:cNvSpPr>
          <p:nvPr/>
        </p:nvSpPr>
        <p:spPr bwMode="auto">
          <a:xfrm>
            <a:off x="107950" y="1238250"/>
            <a:ext cx="8785225" cy="90963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Font typeface="Wingdings" panose="05000000000000000000" pitchFamily="2" charset="2"/>
              <a:buBlip>
                <a:blip r:embed="rId3"/>
              </a:buBlip>
              <a:defRPr sz="25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Blip>
                <a:blip r:embed="rId4"/>
              </a:buBlip>
              <a:defRPr sz="2400">
                <a:solidFill>
                  <a:srgbClr val="000000"/>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
              <a:defRPr sz="2300">
                <a:solidFill>
                  <a:srgbClr val="FF33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300">
                <a:solidFill>
                  <a:srgbClr val="3333FF"/>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(3)</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维管柱</a:t>
            </a:r>
            <a:r>
              <a:rPr kumimoji="0"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位置、来源</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内皮层以内的结构即为维管柱。</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来源于初生组织中的原形成层。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5" name="Rectangle 3"/>
          <p:cNvSpPr>
            <a:spLocks noGrp="1"/>
          </p:cNvSpPr>
          <p:nvPr>
            <p:ph idx="1"/>
          </p:nvPr>
        </p:nvSpPr>
        <p:spPr>
          <a:xfrm>
            <a:off x="0" y="1295400"/>
            <a:ext cx="8893175" cy="4797425"/>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(3)</a:t>
            </a:r>
            <a:r>
              <a:rPr lang="zh-CN" altLang="en-US" b="1" dirty="0">
                <a:latin typeface="黑体" panose="02010609060101010101" pitchFamily="49" charset="-122"/>
                <a:ea typeface="黑体" panose="02010609060101010101" pitchFamily="49" charset="-122"/>
              </a:rPr>
              <a:t>维管柱</a:t>
            </a:r>
            <a:r>
              <a:rPr lang="en-US" altLang="zh-CN" sz="20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结构特征</a:t>
            </a:r>
            <a:r>
              <a:rPr lang="en-US" altLang="zh-CN" sz="20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②</a:t>
            </a:r>
            <a:r>
              <a:rPr lang="zh-CN" altLang="en-US" b="1" dirty="0">
                <a:latin typeface="黑体" panose="02010609060101010101" pitchFamily="49" charset="-122"/>
                <a:ea typeface="黑体" panose="02010609060101010101" pitchFamily="49" charset="-122"/>
              </a:rPr>
              <a:t>初生维管组织</a:t>
            </a:r>
            <a:r>
              <a:rPr lang="en-US" altLang="zh-CN" sz="20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hlinkClick r:id="rId2" action="ppaction://hlinksldjump"/>
              </a:rPr>
              <a:t>初生木质部 </a:t>
            </a:r>
            <a:endParaRPr lang="zh-CN" altLang="en-US" b="1" dirty="0">
              <a:latin typeface="黑体" panose="02010609060101010101" pitchFamily="49" charset="-122"/>
              <a:ea typeface="黑体" panose="02010609060101010101" pitchFamily="49" charset="-122"/>
            </a:endParaRPr>
          </a:p>
          <a:p>
            <a:pPr lvl="1" eaLnBrk="1" hangingPunct="1"/>
            <a:r>
              <a:rPr lang="zh-CN" altLang="en-US" b="1" dirty="0">
                <a:solidFill>
                  <a:srgbClr val="FF0000"/>
                </a:solidFill>
                <a:latin typeface="黑体" panose="02010609060101010101" pitchFamily="49" charset="-122"/>
                <a:ea typeface="黑体" panose="02010609060101010101" pitchFamily="49" charset="-122"/>
              </a:rPr>
              <a:t>结构特征：</a:t>
            </a:r>
            <a:r>
              <a:rPr lang="zh-CN" altLang="en-US" b="1" dirty="0">
                <a:solidFill>
                  <a:srgbClr val="0000FF"/>
                </a:solidFill>
                <a:latin typeface="黑体" panose="02010609060101010101" pitchFamily="49" charset="-122"/>
                <a:ea typeface="黑体" panose="02010609060101010101" pitchFamily="49" charset="-122"/>
              </a:rPr>
              <a:t>由原生木质部和后生木质部构成</a:t>
            </a:r>
            <a:r>
              <a:rPr lang="zh-CN" altLang="en-US" b="1" dirty="0">
                <a:solidFill>
                  <a:schemeClr val="tx1"/>
                </a:solidFill>
                <a:latin typeface="黑体" panose="02010609060101010101" pitchFamily="49" charset="-122"/>
                <a:ea typeface="黑体" panose="02010609060101010101" pitchFamily="49" charset="-122"/>
              </a:rPr>
              <a:t>，两者连为一体，成为辐射角形（星芒状）。</a:t>
            </a:r>
            <a:r>
              <a:rPr lang="zh-CN" altLang="en-US" b="1" dirty="0">
                <a:solidFill>
                  <a:srgbClr val="0000FF"/>
                </a:solidFill>
                <a:latin typeface="黑体" panose="02010609060101010101" pitchFamily="49" charset="-122"/>
                <a:ea typeface="黑体" panose="02010609060101010101" pitchFamily="49" charset="-122"/>
              </a:rPr>
              <a:t>位于辐射角外方，最早形成的导管构成原生木质部。位于内方，后来形成的导管构成后生木质部</a:t>
            </a:r>
            <a:r>
              <a:rPr lang="zh-CN" altLang="en-US" b="1" dirty="0">
                <a:solidFill>
                  <a:schemeClr val="tx1"/>
                </a:solidFill>
                <a:latin typeface="黑体" panose="02010609060101010101" pitchFamily="49" charset="-122"/>
                <a:ea typeface="黑体" panose="02010609060101010101" pitchFamily="49" charset="-122"/>
              </a:rPr>
              <a:t>。这种木质部由外向内发育的方式称为</a:t>
            </a:r>
            <a:r>
              <a:rPr lang="zh-CN" altLang="en-US" b="1" dirty="0">
                <a:solidFill>
                  <a:srgbClr val="FF0000"/>
                </a:solidFill>
                <a:latin typeface="黑体" panose="02010609060101010101" pitchFamily="49" charset="-122"/>
                <a:ea typeface="黑体" panose="02010609060101010101" pitchFamily="49" charset="-122"/>
              </a:rPr>
              <a:t>外始式发育</a:t>
            </a:r>
            <a:r>
              <a:rPr lang="zh-CN" altLang="en-US" b="1" dirty="0">
                <a:solidFill>
                  <a:schemeClr val="tx1"/>
                </a:solidFill>
                <a:latin typeface="黑体" panose="02010609060101010101" pitchFamily="49" charset="-122"/>
                <a:ea typeface="黑体" panose="02010609060101010101" pitchFamily="49" charset="-122"/>
              </a:rPr>
              <a:t>。</a:t>
            </a:r>
          </a:p>
          <a:p>
            <a:pPr lvl="2" eaLnBrk="1" hangingPunct="1"/>
            <a:r>
              <a:rPr lang="zh-CN" altLang="en-US" b="1" dirty="0">
                <a:solidFill>
                  <a:srgbClr val="0000FF"/>
                </a:solidFill>
                <a:latin typeface="黑体" panose="02010609060101010101" pitchFamily="49" charset="-122"/>
                <a:ea typeface="黑体" panose="02010609060101010101" pitchFamily="49" charset="-122"/>
              </a:rPr>
              <a:t>双子叶植物根的木质部一般都能发育到中央，</a:t>
            </a:r>
            <a:r>
              <a:rPr lang="zh-CN" altLang="en-US" b="1" dirty="0">
                <a:solidFill>
                  <a:srgbClr val="FF0000"/>
                </a:solidFill>
                <a:latin typeface="黑体" panose="02010609060101010101" pitchFamily="49" charset="-122"/>
                <a:ea typeface="黑体" panose="02010609060101010101" pitchFamily="49" charset="-122"/>
              </a:rPr>
              <a:t>故不会在中央形成由薄壁组织构成的</a:t>
            </a:r>
            <a:r>
              <a:rPr lang="zh-CN" altLang="en-US" b="1" u="sng" dirty="0">
                <a:solidFill>
                  <a:srgbClr val="FF0000"/>
                </a:solidFill>
                <a:latin typeface="黑体" panose="02010609060101010101" pitchFamily="49" charset="-122"/>
                <a:ea typeface="黑体" panose="02010609060101010101" pitchFamily="49" charset="-122"/>
              </a:rPr>
              <a:t>髓</a:t>
            </a:r>
            <a:r>
              <a:rPr lang="zh-CN" altLang="en-US" b="1" dirty="0">
                <a:solidFill>
                  <a:srgbClr val="0000FF"/>
                </a:solidFill>
                <a:latin typeface="黑体" panose="02010609060101010101" pitchFamily="49" charset="-122"/>
                <a:ea typeface="黑体" panose="02010609060101010101" pitchFamily="49" charset="-122"/>
              </a:rPr>
              <a:t>。原生木质部束（辐射角）数是固定的，如萝卜是二原型的。</a:t>
            </a:r>
          </a:p>
          <a:p>
            <a:pPr lvl="1" eaLnBrk="1" hangingPunct="1"/>
            <a:r>
              <a:rPr lang="zh-CN" altLang="en-US" b="1" dirty="0">
                <a:solidFill>
                  <a:schemeClr val="tx1"/>
                </a:solidFill>
                <a:latin typeface="黑体" panose="02010609060101010101" pitchFamily="49" charset="-122"/>
                <a:ea typeface="黑体" panose="02010609060101010101" pitchFamily="49" charset="-122"/>
              </a:rPr>
              <a:t>细胞组成：木质部为复合组织，由导管、管胞、木纤维和木薄壁细胞构成。</a:t>
            </a:r>
            <a:r>
              <a:rPr lang="zh-CN" altLang="en-US" b="1" dirty="0">
                <a:solidFill>
                  <a:srgbClr val="0000FF"/>
                </a:solidFill>
                <a:latin typeface="黑体" panose="02010609060101010101" pitchFamily="49" charset="-122"/>
                <a:ea typeface="黑体" panose="02010609060101010101" pitchFamily="49" charset="-122"/>
              </a:rPr>
              <a:t>原生木质部导管的口径较小，多为环纹导管、螺纹导管</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后生木质部多为大口径的网纹、梯纹和孔纹导管</a:t>
            </a:r>
            <a:r>
              <a:rPr lang="zh-CN" altLang="en-US" b="1" dirty="0">
                <a:solidFill>
                  <a:schemeClr val="tx1"/>
                </a:solidFill>
                <a:latin typeface="黑体" panose="02010609060101010101" pitchFamily="49" charset="-122"/>
                <a:ea typeface="黑体" panose="02010609060101010101" pitchFamily="49" charset="-122"/>
              </a:rPr>
              <a:t>。 </a:t>
            </a:r>
          </a:p>
        </p:txBody>
      </p:sp>
      <p:sp>
        <p:nvSpPr>
          <p:cNvPr id="487426"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49" name="Rectangle 3"/>
          <p:cNvSpPr>
            <a:spLocks noGrp="1"/>
          </p:cNvSpPr>
          <p:nvPr>
            <p:ph idx="1"/>
          </p:nvPr>
        </p:nvSpPr>
        <p:spPr>
          <a:xfrm>
            <a:off x="0" y="1295400"/>
            <a:ext cx="9036050" cy="4510088"/>
          </a:xfrm>
        </p:spPr>
        <p:txBody>
          <a:bodyPr vert="horz" wrap="square" lIns="91440" tIns="45720" rIns="91440" bIns="45720" anchor="t" anchorCtr="0"/>
          <a:lstStyle/>
          <a:p>
            <a:pPr>
              <a:spcBef>
                <a:spcPct val="0"/>
              </a:spcBef>
              <a:buClrTx/>
              <a:buNone/>
            </a:pPr>
            <a:r>
              <a:rPr lang="en-US" altLang="zh-CN" b="1" dirty="0">
                <a:latin typeface="黑体" panose="02010609060101010101" pitchFamily="49" charset="-122"/>
                <a:ea typeface="黑体" panose="02010609060101010101" pitchFamily="49" charset="-122"/>
              </a:rPr>
              <a:t>   (3)</a:t>
            </a:r>
            <a:r>
              <a:rPr lang="zh-CN" altLang="en-US" b="1" dirty="0">
                <a:latin typeface="黑体" panose="02010609060101010101" pitchFamily="49" charset="-122"/>
                <a:ea typeface="黑体" panose="02010609060101010101" pitchFamily="49" charset="-122"/>
              </a:rPr>
              <a:t>维管柱</a:t>
            </a:r>
            <a:r>
              <a:rPr lang="en-US" altLang="zh-CN" sz="20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结构特征</a:t>
            </a:r>
            <a:r>
              <a:rPr lang="en-US" altLang="zh-CN" sz="2000"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②</a:t>
            </a:r>
            <a:r>
              <a:rPr lang="zh-CN" altLang="en-US" b="1" dirty="0">
                <a:latin typeface="黑体" panose="02010609060101010101" pitchFamily="49" charset="-122"/>
                <a:ea typeface="黑体" panose="02010609060101010101" pitchFamily="49" charset="-122"/>
              </a:rPr>
              <a:t>初生维管组织</a:t>
            </a:r>
            <a:r>
              <a:rPr lang="en-US" altLang="zh-CN" sz="20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hlinkClick r:id="rId2" action="ppaction://hlinksldjump"/>
              </a:rPr>
              <a:t>初生韧皮部</a:t>
            </a:r>
            <a:endParaRPr lang="zh-CN" altLang="en-US" b="1" dirty="0">
              <a:solidFill>
                <a:schemeClr val="tx2"/>
              </a:solidFill>
              <a:latin typeface="黑体" panose="02010609060101010101" pitchFamily="49" charset="-122"/>
              <a:ea typeface="黑体" panose="02010609060101010101" pitchFamily="49" charset="-122"/>
            </a:endParaRPr>
          </a:p>
          <a:p>
            <a:pPr lvl="1" eaLnBrk="1" hangingPunct="1"/>
            <a:r>
              <a:rPr lang="zh-CN" altLang="en-US" b="1" dirty="0">
                <a:solidFill>
                  <a:srgbClr val="0000FF"/>
                </a:solidFill>
                <a:latin typeface="黑体" panose="02010609060101010101" pitchFamily="49" charset="-122"/>
                <a:ea typeface="黑体" panose="02010609060101010101" pitchFamily="49" charset="-122"/>
              </a:rPr>
              <a:t>结构特征：</a:t>
            </a:r>
            <a:r>
              <a:rPr lang="zh-CN" altLang="en-US" b="1" dirty="0">
                <a:latin typeface="黑体" panose="02010609060101010101" pitchFamily="49" charset="-122"/>
                <a:ea typeface="黑体" panose="02010609060101010101" pitchFamily="49" charset="-122"/>
              </a:rPr>
              <a:t>位于初生木质部辐射角之间，因此初生韧皮部束数与辐射角相同，</a:t>
            </a:r>
            <a:r>
              <a:rPr lang="zh-CN" altLang="en-US" b="1" dirty="0">
                <a:solidFill>
                  <a:srgbClr val="FF0000"/>
                </a:solidFill>
                <a:latin typeface="黑体" panose="02010609060101010101" pitchFamily="49" charset="-122"/>
                <a:ea typeface="黑体" panose="02010609060101010101" pitchFamily="49" charset="-122"/>
              </a:rPr>
              <a:t>由位于外方的</a:t>
            </a:r>
            <a:r>
              <a:rPr lang="zh-CN" altLang="en-US" b="1" u="sng" dirty="0">
                <a:solidFill>
                  <a:srgbClr val="FF0000"/>
                </a:solidFill>
                <a:latin typeface="黑体" panose="02010609060101010101" pitchFamily="49" charset="-122"/>
                <a:ea typeface="黑体" panose="02010609060101010101" pitchFamily="49" charset="-122"/>
              </a:rPr>
              <a:t>原生韧皮部</a:t>
            </a:r>
            <a:r>
              <a:rPr lang="zh-CN" altLang="en-US" b="1" dirty="0">
                <a:solidFill>
                  <a:srgbClr val="FF0000"/>
                </a:solidFill>
                <a:latin typeface="黑体" panose="02010609060101010101" pitchFamily="49" charset="-122"/>
                <a:ea typeface="黑体" panose="02010609060101010101" pitchFamily="49" charset="-122"/>
              </a:rPr>
              <a:t>和位于内方的</a:t>
            </a:r>
            <a:r>
              <a:rPr lang="zh-CN" altLang="en-US" b="1" u="sng" dirty="0">
                <a:solidFill>
                  <a:srgbClr val="FF0000"/>
                </a:solidFill>
                <a:latin typeface="黑体" panose="02010609060101010101" pitchFamily="49" charset="-122"/>
                <a:ea typeface="黑体" panose="02010609060101010101" pitchFamily="49" charset="-122"/>
              </a:rPr>
              <a:t>后生韧皮部</a:t>
            </a:r>
            <a:r>
              <a:rPr lang="zh-CN" altLang="en-US" b="1" dirty="0">
                <a:solidFill>
                  <a:srgbClr val="FF0000"/>
                </a:solidFill>
                <a:latin typeface="黑体" panose="02010609060101010101" pitchFamily="49" charset="-122"/>
                <a:ea typeface="黑体" panose="02010609060101010101" pitchFamily="49" charset="-122"/>
              </a:rPr>
              <a:t>构成，也为</a:t>
            </a:r>
            <a:r>
              <a:rPr lang="zh-CN" altLang="en-US" b="1" u="sng" dirty="0">
                <a:solidFill>
                  <a:srgbClr val="FF0000"/>
                </a:solidFill>
                <a:latin typeface="黑体" panose="02010609060101010101" pitchFamily="49" charset="-122"/>
                <a:ea typeface="黑体" panose="02010609060101010101" pitchFamily="49" charset="-122"/>
              </a:rPr>
              <a:t>外始式发育</a:t>
            </a:r>
            <a:r>
              <a:rPr lang="zh-CN" altLang="en-US" b="1" dirty="0">
                <a:latin typeface="黑体" panose="02010609060101010101" pitchFamily="49" charset="-122"/>
                <a:ea typeface="黑体" panose="02010609060101010101" pitchFamily="49" charset="-122"/>
              </a:rPr>
              <a:t>。</a:t>
            </a:r>
          </a:p>
          <a:p>
            <a:pPr lvl="1" eaLnBrk="1" hangingPunct="1"/>
            <a:r>
              <a:rPr lang="zh-CN" altLang="en-US" b="1" dirty="0">
                <a:solidFill>
                  <a:srgbClr val="0000FF"/>
                </a:solidFill>
                <a:latin typeface="黑体" panose="02010609060101010101" pitchFamily="49" charset="-122"/>
                <a:ea typeface="黑体" panose="02010609060101010101" pitchFamily="49" charset="-122"/>
              </a:rPr>
              <a:t>细胞组成：</a:t>
            </a:r>
            <a:r>
              <a:rPr lang="zh-CN" altLang="en-US" b="1" dirty="0">
                <a:latin typeface="黑体" panose="02010609060101010101" pitchFamily="49" charset="-122"/>
                <a:ea typeface="黑体" panose="02010609060101010101" pitchFamily="49" charset="-122"/>
              </a:rPr>
              <a:t>筛管（筛胞）、伴胞、韧皮纤维和韧皮薄壁细胞组成。</a:t>
            </a:r>
          </a:p>
          <a:p>
            <a:pPr lvl="1" eaLnBrk="1" hangingPunct="1"/>
            <a:r>
              <a:rPr lang="zh-CN" altLang="en-US" b="1" dirty="0">
                <a:solidFill>
                  <a:srgbClr val="0000FF"/>
                </a:solidFill>
                <a:latin typeface="黑体" panose="02010609060101010101" pitchFamily="49" charset="-122"/>
                <a:ea typeface="黑体" panose="02010609060101010101" pitchFamily="49" charset="-122"/>
              </a:rPr>
              <a:t>初生木质部和初生韧皮部的关系：</a:t>
            </a:r>
            <a:r>
              <a:rPr lang="zh-CN" altLang="en-US" b="1" dirty="0">
                <a:latin typeface="黑体" panose="02010609060101010101" pitchFamily="49" charset="-122"/>
                <a:ea typeface="黑体" panose="02010609060101010101" pitchFamily="49" charset="-122"/>
              </a:rPr>
              <a:t>两者相间排列、各自成束，均为外始式发育。 </a:t>
            </a:r>
          </a:p>
        </p:txBody>
      </p:sp>
      <p:sp>
        <p:nvSpPr>
          <p:cNvPr id="488450"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idx="1"/>
          </p:nvPr>
        </p:nvSpPr>
        <p:spPr>
          <a:xfrm>
            <a:off x="0" y="1295400"/>
            <a:ext cx="9109075" cy="14128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1"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(3)</a:t>
            </a:r>
            <a:r>
              <a:rPr kumimoji="1"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维管柱</a:t>
            </a:r>
            <a:r>
              <a:rPr kumimoji="1" lang="en-US" altLang="zh-CN" sz="20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1"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结构特征</a:t>
            </a:r>
            <a:r>
              <a:rPr kumimoji="1" lang="en-US" altLang="zh-CN" sz="20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1"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②</a:t>
            </a:r>
            <a:r>
              <a:rPr kumimoji="1"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初生维管组织</a:t>
            </a:r>
            <a:r>
              <a:rPr kumimoji="1" lang="en-US" altLang="zh-CN" sz="20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1"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hlinkClick r:id="rId2" action="ppaction://hlinksldjump"/>
              </a:rPr>
              <a:t>束间薄壁组织</a:t>
            </a:r>
            <a:endParaRPr kumimoji="1"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1"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a:t>
            </a:r>
            <a:r>
              <a:rPr kumimoji="1" lang="zh-CN" altLang="en-US" sz="25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次生生长开始时，参与维管形成层和木栓形成层的产生，是由原形成层留下的具有较强分裂潜能的一层细胞。</a:t>
            </a:r>
          </a:p>
        </p:txBody>
      </p:sp>
      <p:sp>
        <p:nvSpPr>
          <p:cNvPr id="489474"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7" name="Rectangle 3"/>
          <p:cNvSpPr>
            <a:spLocks noGrp="1"/>
          </p:cNvSpPr>
          <p:nvPr>
            <p:ph idx="1"/>
          </p:nvPr>
        </p:nvSpPr>
        <p:spPr>
          <a:xfrm>
            <a:off x="0" y="1295400"/>
            <a:ext cx="9144000" cy="4870450"/>
          </a:xfrm>
        </p:spPr>
        <p:txBody>
          <a:bodyPr vert="horz" wrap="square" lIns="91440" tIns="45720" rIns="91440" bIns="45720" anchor="t" anchorCtr="0"/>
          <a:lstStyle/>
          <a:p>
            <a:pPr eaLnBrk="1" hangingPunct="1">
              <a:buNone/>
            </a:pPr>
            <a:r>
              <a:rPr lang="en-US" altLang="zh-CN"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维管柱</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功能</a:t>
            </a:r>
          </a:p>
          <a:p>
            <a:pPr lvl="1" eaLnBrk="1" hangingPunct="1"/>
            <a:r>
              <a:rPr lang="zh-CN" altLang="en-US" b="1" dirty="0">
                <a:solidFill>
                  <a:srgbClr val="0000FF"/>
                </a:solidFill>
                <a:latin typeface="黑体" panose="02010609060101010101" pitchFamily="49" charset="-122"/>
                <a:ea typeface="黑体" panose="02010609060101010101" pitchFamily="49" charset="-122"/>
              </a:rPr>
              <a:t>输导作用：</a:t>
            </a:r>
            <a:r>
              <a:rPr lang="zh-CN" altLang="en-US" b="1" dirty="0">
                <a:latin typeface="黑体" panose="02010609060101010101" pitchFamily="49" charset="-122"/>
                <a:ea typeface="黑体" panose="02010609060101010101" pitchFamily="49" charset="-122"/>
              </a:rPr>
              <a:t>维管柱中的初生木质部将根从土壤中吸收的水分和无机盐输送到其他需要的器官或组织中，初生韧皮部将地上部分供应的有机营养输送到根的各部位。 </a:t>
            </a:r>
          </a:p>
          <a:p>
            <a:pPr lvl="1" eaLnBrk="1" hangingPunct="1"/>
            <a:r>
              <a:rPr lang="zh-CN" altLang="en-US" b="1" dirty="0">
                <a:solidFill>
                  <a:srgbClr val="0000FF"/>
                </a:solidFill>
                <a:latin typeface="黑体" panose="02010609060101010101" pitchFamily="49" charset="-122"/>
                <a:ea typeface="黑体" panose="02010609060101010101" pitchFamily="49" charset="-122"/>
              </a:rPr>
              <a:t>支持作用：</a:t>
            </a:r>
            <a:r>
              <a:rPr lang="zh-CN" altLang="en-US" b="1" dirty="0">
                <a:latin typeface="黑体" panose="02010609060101010101" pitchFamily="49" charset="-122"/>
                <a:ea typeface="黑体" panose="02010609060101010101" pitchFamily="49" charset="-122"/>
              </a:rPr>
              <a:t>木质部的导管、管胞和纤维及韧皮部纤维是维持植物体起立的主要支撑结构。</a:t>
            </a:r>
          </a:p>
        </p:txBody>
      </p:sp>
      <p:sp>
        <p:nvSpPr>
          <p:cNvPr id="490498"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3.</a:t>
            </a:r>
            <a:r>
              <a:rPr lang="zh-CN" altLang="en-US" sz="2800" b="1" dirty="0">
                <a:solidFill>
                  <a:srgbClr val="FF0000"/>
                </a:solidFill>
                <a:latin typeface="黑体" panose="02010609060101010101" pitchFamily="49" charset="-122"/>
                <a:ea typeface="黑体" panose="02010609060101010101" pitchFamily="49" charset="-122"/>
              </a:rPr>
              <a:t>根的初生结构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endParaRPr kumimoji="0" lang="en-US" altLang="zh-CN"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0" marR="0" lvl="0" indent="0" algn="l"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基本概念</a:t>
            </a: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en-US" altLang="zh-CN"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1.</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维管形成层的发生</a:t>
            </a:r>
            <a:r>
              <a:rPr kumimoji="0" lang="zh-CN" altLang="en-US" sz="24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3" action="ppaction://hlinksldjump"/>
              </a:rPr>
              <a:t>维管形成层的活动规律</a:t>
            </a:r>
            <a:endPar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Blip>
                <a:blip r:embed="rId4"/>
              </a:buBlip>
              <a:defRPr/>
            </a:pPr>
            <a:r>
              <a:rPr kumimoji="0" lang="en-US" altLang="zh-CN"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一</a:t>
            </a:r>
            <a:r>
              <a:rPr kumimoji="0" lang="en-US" altLang="zh-CN"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维管形成层的</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en-US" altLang="zh-CN"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3" action="ppaction://hlinksldjump"/>
              </a:rPr>
              <a:t>2.</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3" action="ppaction://hlinksldjump"/>
              </a:rPr>
              <a:t>维管形成层的活动</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 action="ppaction://noaction"/>
              </a:rPr>
              <a:t>次生结构的形成</a:t>
            </a:r>
            <a:endPar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5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2" action="ppaction://hlinksldjump"/>
              </a:rPr>
              <a:t>发生和它的活动</a:t>
            </a:r>
            <a:endPar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4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en-US" altLang="zh-CN"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5" action="ppaction://hlinksldjump"/>
              </a:rPr>
              <a:t>3.</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5" action="ppaction://hlinksldjump"/>
              </a:rPr>
              <a:t>次生维管组织的特点</a:t>
            </a:r>
            <a:endPar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en-US" altLang="zh-CN"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1.</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木栓形成层的发生</a:t>
            </a:r>
            <a:endPar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Blip>
                <a:blip r:embed="rId4"/>
              </a:buBlip>
              <a:defRPr/>
            </a:pPr>
            <a:r>
              <a:rPr kumimoji="0" lang="en-US" altLang="zh-CN"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二</a:t>
            </a:r>
            <a:r>
              <a:rPr kumimoji="0" lang="en-US" altLang="zh-CN"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木栓形成层的发生</a:t>
            </a:r>
            <a:endPar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342900" marR="0" lvl="0" indent="-342900" algn="l"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6" action="ppaction://hlinksldjump"/>
              </a:rPr>
              <a:t>活动及周皮的形成</a:t>
            </a:r>
            <a:r>
              <a:rPr kumimoji="0" lang="zh-CN" altLang="en-US"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rPr>
              <a:t>      </a:t>
            </a:r>
            <a:r>
              <a:rPr kumimoji="0" lang="en-US" altLang="zh-CN" sz="25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7" action="ppaction://hlinksldjump"/>
              </a:rPr>
              <a:t>2.</a:t>
            </a:r>
            <a:r>
              <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hlinkClick r:id="rId7" action="ppaction://hlinksldjump"/>
              </a:rPr>
              <a:t>木栓形成层的活动及周皮的形成</a:t>
            </a:r>
            <a:endPar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2300" b="0" i="0" u="none" strike="noStrike" kern="0" cap="none" spc="0" normalizeH="0" baseline="0" noProof="0" dirty="0">
              <a:ln>
                <a:noFill/>
              </a:ln>
              <a:solidFill>
                <a:srgbClr val="0000FF"/>
              </a:solidFill>
              <a:effectLst/>
              <a:uLnTx/>
              <a:uFillTx/>
              <a:latin typeface="华文新魏" panose="02010800040101010101" pitchFamily="2" charset="-122"/>
              <a:ea typeface="+mn-ea"/>
              <a:cs typeface="+mn-cs"/>
            </a:endParaRPr>
          </a:p>
        </p:txBody>
      </p:sp>
      <p:sp>
        <p:nvSpPr>
          <p:cNvPr id="491522" name="AutoShape 4"/>
          <p:cNvSpPr/>
          <p:nvPr/>
        </p:nvSpPr>
        <p:spPr>
          <a:xfrm>
            <a:off x="3048000" y="1981200"/>
            <a:ext cx="152400" cy="1295400"/>
          </a:xfrm>
          <a:prstGeom prst="leftBrace">
            <a:avLst>
              <a:gd name="adj1" fmla="val 70282"/>
              <a:gd name="adj2" fmla="val 50000"/>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91523" name="AutoShape 5"/>
          <p:cNvSpPr/>
          <p:nvPr/>
        </p:nvSpPr>
        <p:spPr>
          <a:xfrm>
            <a:off x="5867400" y="2057400"/>
            <a:ext cx="152400" cy="685800"/>
          </a:xfrm>
          <a:prstGeom prst="leftBrace">
            <a:avLst>
              <a:gd name="adj1" fmla="val 37500"/>
              <a:gd name="adj2" fmla="val 81250"/>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91524" name="AutoShape 6"/>
          <p:cNvSpPr/>
          <p:nvPr/>
        </p:nvSpPr>
        <p:spPr>
          <a:xfrm>
            <a:off x="3657600" y="3411538"/>
            <a:ext cx="152400" cy="990600"/>
          </a:xfrm>
          <a:prstGeom prst="leftBrace">
            <a:avLst>
              <a:gd name="adj1" fmla="val 53745"/>
              <a:gd name="adj2" fmla="val 59134"/>
            </a:avLst>
          </a:prstGeom>
          <a:noFill/>
          <a:ln w="28575" cap="flat" cmpd="sng">
            <a:solidFill>
              <a:srgbClr val="3333FF"/>
            </a:solidFill>
            <a:prstDash val="solid"/>
            <a:miter/>
            <a:headEnd type="none" w="med" len="med"/>
            <a:tailEnd type="none" w="med" len="med"/>
          </a:ln>
        </p:spPr>
        <p:txBody>
          <a:bodyPr wrap="none" anchor="ctr" anchorCtr="0"/>
          <a:lstStyle/>
          <a:p>
            <a:pPr algn="ctr"/>
            <a:endParaRPr lang="zh-CN" altLang="zh-CN" dirty="0">
              <a:latin typeface="Tahoma" panose="020B0604030504040204" pitchFamily="34" charset="0"/>
              <a:ea typeface="华文新魏" panose="02010800040101010101" pitchFamily="2" charset="-122"/>
            </a:endParaRPr>
          </a:p>
        </p:txBody>
      </p:sp>
      <p:sp>
        <p:nvSpPr>
          <p:cNvPr id="491525"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5" name="Rectangle 3"/>
          <p:cNvSpPr>
            <a:spLocks noGrp="1"/>
          </p:cNvSpPr>
          <p:nvPr>
            <p:ph idx="1"/>
          </p:nvPr>
        </p:nvSpPr>
        <p:spPr>
          <a:xfrm>
            <a:off x="0" y="1295400"/>
            <a:ext cx="8964613" cy="5013325"/>
          </a:xfrm>
        </p:spPr>
        <p:txBody>
          <a:bodyPr vert="horz" wrap="square" lIns="91440" tIns="45720" rIns="91440" bIns="45720" anchor="t" anchorCtr="0"/>
          <a:lstStyle/>
          <a:p>
            <a:pPr marL="457200" lvl="1" indent="0" eaLnBrk="1" hangingPunct="1">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初生结构成熟后，位于初生木质部和初生韧皮部之间的束间薄壁组织，恢复分裂分化为维管形成层，经分裂、生长、分化而产生次生成熟组织，构成次生结构。</a:t>
            </a:r>
          </a:p>
          <a:p>
            <a:pPr marL="0" indent="0" eaLnBrk="1" hangingPunct="1">
              <a:buNone/>
            </a:pPr>
            <a:r>
              <a:rPr lang="en-US" altLang="zh-CN" b="1" dirty="0">
                <a:solidFill>
                  <a:srgbClr val="FF3300"/>
                </a:solidFill>
                <a:latin typeface="黑体" panose="02010609060101010101" pitchFamily="49" charset="-122"/>
                <a:ea typeface="黑体" panose="02010609060101010101" pitchFamily="49" charset="-122"/>
              </a:rPr>
              <a:t>	</a:t>
            </a:r>
            <a:r>
              <a:rPr lang="zh-CN" altLang="en-US" b="1" dirty="0">
                <a:solidFill>
                  <a:srgbClr val="FF3300"/>
                </a:solidFill>
                <a:latin typeface="黑体" panose="02010609060101010101" pitchFamily="49" charset="-122"/>
                <a:ea typeface="黑体" panose="02010609060101010101" pitchFamily="49" charset="-122"/>
              </a:rPr>
              <a:t>次生生长：</a:t>
            </a:r>
            <a:r>
              <a:rPr lang="zh-CN" altLang="en-US" b="1" dirty="0">
                <a:latin typeface="黑体" panose="02010609060101010101" pitchFamily="49" charset="-122"/>
                <a:ea typeface="黑体" panose="02010609060101010101" pitchFamily="49" charset="-122"/>
              </a:rPr>
              <a:t>维管形成层的活动，使根加粗的生长过程，称为次生生长。或者说，由维管形成层分裂分化产生次生成熟组织，并形成次生结构的过程称次生生长。</a:t>
            </a:r>
          </a:p>
          <a:p>
            <a:pPr marL="0" indent="0" eaLnBrk="1" hangingPunct="1">
              <a:buNone/>
            </a:pPr>
            <a:r>
              <a:rPr lang="en-US" altLang="zh-CN" b="1" dirty="0">
                <a:solidFill>
                  <a:srgbClr val="FF3300"/>
                </a:solidFill>
                <a:latin typeface="黑体" panose="02010609060101010101" pitchFamily="49" charset="-122"/>
                <a:ea typeface="黑体" panose="02010609060101010101" pitchFamily="49" charset="-122"/>
              </a:rPr>
              <a:t>	</a:t>
            </a:r>
            <a:r>
              <a:rPr lang="zh-CN" altLang="en-US" b="1" dirty="0">
                <a:solidFill>
                  <a:srgbClr val="FF3300"/>
                </a:solidFill>
                <a:latin typeface="黑体" panose="02010609060101010101" pitchFamily="49" charset="-122"/>
                <a:ea typeface="黑体" panose="02010609060101010101" pitchFamily="49" charset="-122"/>
              </a:rPr>
              <a:t>次生结构：</a:t>
            </a:r>
            <a:r>
              <a:rPr lang="zh-CN" altLang="en-US" b="1" dirty="0">
                <a:latin typeface="黑体" panose="02010609060101010101" pitchFamily="49" charset="-122"/>
                <a:ea typeface="黑体" panose="02010609060101010101" pitchFamily="49" charset="-122"/>
              </a:rPr>
              <a:t>维管形成层分裂、生长和分化所形成的成熟组织称次生成熟组织。由次生成熟组织构成的结构称次生结构。</a:t>
            </a:r>
          </a:p>
          <a:p>
            <a:pPr marL="457200" lvl="1" indent="0" eaLnBrk="1" hangingPunct="1">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由于根的加粗，使表皮撑破，由另一种侧生分生组织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木栓形成层形成产生新的保护组织，即次生保护组织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周皮。</a:t>
            </a:r>
          </a:p>
          <a:p>
            <a:pPr marL="457200" lvl="1" indent="0" eaLnBrk="1" hangingPunct="1">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根的次生结构就是由次生维管组织和次生保护组织（周皮）所构成的结构。</a:t>
            </a:r>
          </a:p>
        </p:txBody>
      </p:sp>
      <p:sp>
        <p:nvSpPr>
          <p:cNvPr id="492546"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69" name="Rectangle 3"/>
          <p:cNvSpPr>
            <a:spLocks noGrp="1"/>
          </p:cNvSpPr>
          <p:nvPr>
            <p:ph idx="1"/>
          </p:nvPr>
        </p:nvSpPr>
        <p:spPr>
          <a:xfrm>
            <a:off x="0" y="1295400"/>
            <a:ext cx="8964613" cy="3862388"/>
          </a:xfrm>
        </p:spPr>
        <p:txBody>
          <a:bodyPr vert="horz" wrap="square" lIns="91440" tIns="45720" rIns="91440" bIns="45720" anchor="t" anchorCtr="0"/>
          <a:lstStyle/>
          <a:p>
            <a:pPr eaLnBrk="1" hangingPunct="1">
              <a:buNone/>
            </a:pPr>
            <a:r>
              <a:rPr lang="zh-CN" altLang="en-US" sz="2100" b="1" dirty="0">
                <a:latin typeface="黑体" panose="02010609060101010101" pitchFamily="49" charset="-122"/>
                <a:ea typeface="黑体" panose="02010609060101010101" pitchFamily="49" charset="-122"/>
              </a:rPr>
              <a:t>   （</a:t>
            </a:r>
            <a:r>
              <a:rPr lang="en-US" altLang="zh-CN" sz="2100" b="1" dirty="0">
                <a:latin typeface="黑体" panose="02010609060101010101" pitchFamily="49" charset="-122"/>
                <a:ea typeface="黑体" panose="02010609060101010101" pitchFamily="49" charset="-122"/>
              </a:rPr>
              <a:t>1</a:t>
            </a:r>
            <a:r>
              <a:rPr lang="zh-CN" altLang="en-US" sz="21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维管形成层的发生 </a:t>
            </a:r>
          </a:p>
          <a:p>
            <a:pPr lvl="1" eaLnBrk="1" hangingPunct="1"/>
            <a:r>
              <a:rPr lang="zh-CN" altLang="en-US" b="1" dirty="0">
                <a:solidFill>
                  <a:srgbClr val="0000FF"/>
                </a:solidFill>
                <a:latin typeface="黑体" panose="02010609060101010101" pitchFamily="49" charset="-122"/>
                <a:ea typeface="黑体" panose="02010609060101010101" pitchFamily="49" charset="-122"/>
              </a:rPr>
              <a:t>发生部位：</a:t>
            </a:r>
            <a:r>
              <a:rPr lang="zh-CN" altLang="en-US" b="1" dirty="0">
                <a:solidFill>
                  <a:srgbClr val="FF0000"/>
                </a:solidFill>
                <a:latin typeface="黑体" panose="02010609060101010101" pitchFamily="49" charset="-122"/>
                <a:ea typeface="黑体" panose="02010609060101010101" pitchFamily="49" charset="-122"/>
              </a:rPr>
              <a:t>束间薄壁组织</a:t>
            </a:r>
            <a:r>
              <a:rPr lang="zh-CN" altLang="en-US" b="1" dirty="0">
                <a:latin typeface="黑体" panose="02010609060101010101" pitchFamily="49" charset="-122"/>
                <a:ea typeface="黑体" panose="02010609060101010101" pitchFamily="49" charset="-122"/>
              </a:rPr>
              <a:t>及</a:t>
            </a:r>
            <a:r>
              <a:rPr lang="zh-CN" altLang="en-US" b="1" dirty="0">
                <a:solidFill>
                  <a:srgbClr val="FF0000"/>
                </a:solidFill>
                <a:latin typeface="黑体" panose="02010609060101010101" pitchFamily="49" charset="-122"/>
                <a:ea typeface="黑体" panose="02010609060101010101" pitchFamily="49" charset="-122"/>
              </a:rPr>
              <a:t>部分中柱鞘细胞</a:t>
            </a:r>
            <a:r>
              <a:rPr lang="zh-CN" altLang="en-US" b="1" dirty="0">
                <a:latin typeface="黑体" panose="02010609060101010101" pitchFamily="49" charset="-122"/>
                <a:ea typeface="黑体" panose="02010609060101010101" pitchFamily="49" charset="-122"/>
              </a:rPr>
              <a:t>。</a:t>
            </a:r>
          </a:p>
          <a:p>
            <a:pPr lvl="1" eaLnBrk="1" hangingPunct="1"/>
            <a:r>
              <a:rPr lang="zh-CN" altLang="en-US" b="1" dirty="0">
                <a:solidFill>
                  <a:srgbClr val="0000FF"/>
                </a:solidFill>
                <a:latin typeface="黑体" panose="02010609060101010101" pitchFamily="49" charset="-122"/>
                <a:ea typeface="黑体" panose="02010609060101010101" pitchFamily="49" charset="-122"/>
              </a:rPr>
              <a:t>发生过程：</a:t>
            </a:r>
            <a:r>
              <a:rPr lang="zh-CN" altLang="en-US" b="1" dirty="0">
                <a:latin typeface="黑体" panose="02010609060101010101" pitchFamily="49" charset="-122"/>
                <a:ea typeface="黑体" panose="02010609060101010101" pitchFamily="49" charset="-122"/>
              </a:rPr>
              <a:t>首先，束间薄壁组织细胞开始活动，逐渐向两侧推移，直到与原生木质部顶端的中柱鞘细胞相连，这样，就形成了</a:t>
            </a:r>
            <a:r>
              <a:rPr lang="zh-CN" altLang="en-US" b="1" dirty="0">
                <a:solidFill>
                  <a:srgbClr val="0000FF"/>
                </a:solidFill>
                <a:latin typeface="黑体" panose="02010609060101010101" pitchFamily="49" charset="-122"/>
                <a:ea typeface="黑体" panose="02010609060101010101" pitchFamily="49" charset="-122"/>
              </a:rPr>
              <a:t>形成层环</a:t>
            </a:r>
            <a:r>
              <a:rPr lang="zh-CN" altLang="en-US"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刚开始，形成层不是圆的，为什么？</a:t>
            </a:r>
          </a:p>
          <a:p>
            <a:pPr marL="914400" lvl="2" indent="0" eaLnBrk="1" hangingPunct="1">
              <a:buNone/>
            </a:pP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从个体发育学角度看，维管形成层并非真正的次生分生组织，因为其大部分为束间薄壁组织（初生分生组织衍生细胞直接保留下来的，不存在“脱分化”问题），仅原生木质部顶端中柱鞘部分恢复分裂后的细胞才算次生分生组织。</a:t>
            </a:r>
          </a:p>
        </p:txBody>
      </p:sp>
      <p:sp>
        <p:nvSpPr>
          <p:cNvPr id="493570"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Grp="1" noChangeArrowheads="1"/>
          </p:cNvSpPr>
          <p:nvPr>
            <p:ph idx="1"/>
          </p:nvPr>
        </p:nvSpPr>
        <p:spPr>
          <a:xfrm>
            <a:off x="125413" y="1290638"/>
            <a:ext cx="8893175" cy="53244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2</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）维管形成层的活动规律及次生结构的形成</a:t>
            </a:r>
            <a:r>
              <a:rPr kumimoji="0" lang="en-US" altLang="zh-CN"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维管形成层的活动规律 </a:t>
            </a:r>
          </a:p>
          <a:p>
            <a:pPr marL="0" marR="0" lvl="0" indent="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主要是进行</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切向分裂</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。向内分裂产生的细胞形成新的木质部，加在初生木质部的外方，称为</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次生木质部</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；向外分裂所生的细胞形成新的韧皮部，加在初生韧皮部的内方，称为</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次生韧皮部</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次生木质部和次生韧皮部合称</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次生维管组织，</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是次生结构的主要部分。</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在具有次生生长的根中，次生木质部和次生韧皮部间始终存在着形成层。    </a:t>
            </a:r>
          </a:p>
          <a:p>
            <a:pPr marL="342900" marR="0" lvl="0" indent="-342900" algn="just" defTabSz="914400" rtl="0" eaLnBrk="1" fontAlgn="base" latinLnBrk="0" hangingPunct="1">
              <a:lnSpc>
                <a:spcPct val="8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3333FF"/>
                </a:solidFill>
                <a:effectLst/>
                <a:uLnTx/>
                <a:uFillTx/>
                <a:latin typeface="华文新魏" panose="02010800040101010101" pitchFamily="2" charset="-122"/>
                <a:ea typeface="+mn-ea"/>
                <a:cs typeface="+mn-cs"/>
              </a:rPr>
              <a:t>                                            次生韧皮部</a:t>
            </a:r>
          </a:p>
          <a:p>
            <a:pPr marL="342900" marR="0" lvl="0" indent="-342900" algn="just"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3333FF"/>
                </a:solidFill>
                <a:effectLst/>
                <a:uLnTx/>
                <a:uFillTx/>
                <a:latin typeface="华文新魏" panose="02010800040101010101" pitchFamily="2" charset="-122"/>
                <a:ea typeface="+mn-ea"/>
                <a:cs typeface="+mn-cs"/>
              </a:rPr>
              <a:t>                               </a:t>
            </a:r>
            <a:r>
              <a:rPr kumimoji="0" lang="zh-CN" altLang="en-US" sz="2400" b="0" i="0" u="none" strike="noStrike" kern="0" cap="none" spc="0" normalizeH="0" baseline="0" noProof="0" dirty="0">
                <a:ln>
                  <a:noFill/>
                </a:ln>
                <a:solidFill>
                  <a:srgbClr val="FF3300"/>
                </a:solidFill>
                <a:effectLst/>
                <a:uLnTx/>
                <a:uFillTx/>
                <a:latin typeface="华文新魏" panose="02010800040101010101" pitchFamily="2" charset="-122"/>
                <a:ea typeface="+mn-ea"/>
                <a:cs typeface="+mn-cs"/>
              </a:rPr>
              <a:t>向  外</a:t>
            </a:r>
          </a:p>
          <a:p>
            <a:pPr marL="342900" marR="0" lvl="0" indent="-342900" algn="just"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3333FF"/>
                </a:solidFill>
                <a:effectLst/>
                <a:uLnTx/>
                <a:uFillTx/>
                <a:latin typeface="华文新魏" panose="02010800040101010101" pitchFamily="2" charset="-122"/>
                <a:ea typeface="+mn-ea"/>
                <a:cs typeface="+mn-cs"/>
              </a:rPr>
              <a:t>  维管形成层</a:t>
            </a:r>
          </a:p>
          <a:p>
            <a:pPr marL="342900" marR="0" lvl="0" indent="-342900" algn="just"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3333FF"/>
                </a:solidFill>
                <a:effectLst/>
                <a:uLnTx/>
                <a:uFillTx/>
                <a:latin typeface="华文新魏" panose="02010800040101010101" pitchFamily="2" charset="-122"/>
                <a:ea typeface="+mn-ea"/>
                <a:cs typeface="+mn-cs"/>
              </a:rPr>
              <a:t>                               </a:t>
            </a:r>
            <a:r>
              <a:rPr kumimoji="0" lang="zh-CN" altLang="en-US" sz="2400" b="0" i="0" u="none" strike="noStrike" kern="0" cap="none" spc="0" normalizeH="0" baseline="0" noProof="0" dirty="0">
                <a:ln>
                  <a:noFill/>
                </a:ln>
                <a:solidFill>
                  <a:srgbClr val="FF3300"/>
                </a:solidFill>
                <a:effectLst/>
                <a:uLnTx/>
                <a:uFillTx/>
                <a:latin typeface="华文新魏" panose="02010800040101010101" pitchFamily="2" charset="-122"/>
                <a:ea typeface="+mn-ea"/>
                <a:cs typeface="+mn-cs"/>
              </a:rPr>
              <a:t>向  内</a:t>
            </a:r>
            <a:r>
              <a:rPr kumimoji="0" lang="zh-CN" altLang="en-US" sz="2400" b="0" i="0" u="none" strike="noStrike" kern="0" cap="none" spc="0" normalizeH="0" baseline="0" noProof="0" dirty="0">
                <a:ln>
                  <a:noFill/>
                </a:ln>
                <a:solidFill>
                  <a:srgbClr val="3333FF"/>
                </a:solidFill>
                <a:effectLst/>
                <a:uLnTx/>
                <a:uFillTx/>
                <a:latin typeface="华文新魏" panose="02010800040101010101" pitchFamily="2" charset="-122"/>
                <a:ea typeface="+mn-ea"/>
                <a:cs typeface="+mn-cs"/>
              </a:rPr>
              <a:t>  </a:t>
            </a:r>
          </a:p>
          <a:p>
            <a:pPr marL="342900" marR="0" lvl="0" indent="-342900" algn="just" defTabSz="914400" rtl="0" eaLnBrk="1" fontAlgn="base" latinLnBrk="0" hangingPunct="1">
              <a:lnSpc>
                <a:spcPct val="60000"/>
              </a:lnSpc>
              <a:spcBef>
                <a:spcPct val="20000"/>
              </a:spcBef>
              <a:spcAft>
                <a:spcPct val="0"/>
              </a:spcAft>
              <a:buClr>
                <a:schemeClr val="folHlink"/>
              </a:buClr>
              <a:buSzTx/>
              <a:buFont typeface="Wingdings" panose="05000000000000000000" pitchFamily="2" charset="2"/>
              <a:buNone/>
              <a:defRPr/>
            </a:pPr>
            <a:r>
              <a:rPr kumimoji="0" lang="zh-CN" altLang="en-US" sz="2400" b="0" i="0" u="none" strike="noStrike" kern="0" cap="none" spc="0" normalizeH="0" baseline="0" noProof="0" dirty="0">
                <a:ln>
                  <a:noFill/>
                </a:ln>
                <a:solidFill>
                  <a:srgbClr val="3333FF"/>
                </a:solidFill>
                <a:effectLst/>
                <a:uLnTx/>
                <a:uFillTx/>
                <a:latin typeface="华文新魏" panose="02010800040101010101" pitchFamily="2" charset="-122"/>
                <a:ea typeface="+mn-ea"/>
                <a:cs typeface="+mn-cs"/>
              </a:rPr>
              <a:t>                                            次生木质部</a:t>
            </a:r>
          </a:p>
        </p:txBody>
      </p:sp>
      <p:sp>
        <p:nvSpPr>
          <p:cNvPr id="494594" name="Line 4"/>
          <p:cNvSpPr/>
          <p:nvPr/>
        </p:nvSpPr>
        <p:spPr>
          <a:xfrm flipV="1">
            <a:off x="1828800" y="5029200"/>
            <a:ext cx="1447800" cy="533400"/>
          </a:xfrm>
          <a:prstGeom prst="line">
            <a:avLst/>
          </a:prstGeom>
          <a:ln w="9525" cap="flat" cmpd="sng">
            <a:solidFill>
              <a:srgbClr val="FF3300"/>
            </a:solidFill>
            <a:prstDash val="solid"/>
            <a:round/>
            <a:headEnd type="none" w="med" len="med"/>
            <a:tailEnd type="triangle" w="med" len="med"/>
          </a:ln>
        </p:spPr>
        <p:txBody>
          <a:bodyPr/>
          <a:lstStyle/>
          <a:p>
            <a:endParaRPr lang="zh-CN" altLang="en-US"/>
          </a:p>
        </p:txBody>
      </p:sp>
      <p:sp>
        <p:nvSpPr>
          <p:cNvPr id="494595" name="Line 5"/>
          <p:cNvSpPr/>
          <p:nvPr/>
        </p:nvSpPr>
        <p:spPr>
          <a:xfrm>
            <a:off x="1905000" y="5638800"/>
            <a:ext cx="1447800" cy="533400"/>
          </a:xfrm>
          <a:prstGeom prst="line">
            <a:avLst/>
          </a:prstGeom>
          <a:ln w="9525" cap="flat" cmpd="sng">
            <a:solidFill>
              <a:srgbClr val="FF3300"/>
            </a:solidFill>
            <a:prstDash val="solid"/>
            <a:round/>
            <a:headEnd type="none" w="med" len="med"/>
            <a:tailEnd type="triangle" w="med" len="med"/>
          </a:ln>
        </p:spPr>
        <p:txBody>
          <a:bodyPr/>
          <a:lstStyle/>
          <a:p>
            <a:endParaRPr lang="zh-CN" altLang="en-US"/>
          </a:p>
        </p:txBody>
      </p:sp>
      <p:sp>
        <p:nvSpPr>
          <p:cNvPr id="494596"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0" y="1295400"/>
            <a:ext cx="8964613" cy="47259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2</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）维管形成层的活动规律及次生结构的形成</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次生结构的形成 </a:t>
            </a: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                </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径向系统：</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维管射线（木射线和韧皮射线）</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cs typeface="+mn-cs"/>
              </a:rPr>
              <a:t>  次生维管组织</a:t>
            </a:r>
            <a:r>
              <a:rPr kumimoji="0" lang="zh-CN" altLang="en-US" sz="2400" b="1" i="0" u="none" strike="noStrike" kern="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 </a:t>
            </a: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                </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轴向系统：</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导管、管胞、筛管、伴胞</a:t>
            </a: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次生生长是裸子植物和大多数双子叶植物所特有的。</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因此，生长季节内，形成层的活动，必然产生新的次生维管组织。这样，根也就一年一年地长粗，这就是形成层活动规律和结果。 </a:t>
            </a:r>
          </a:p>
        </p:txBody>
      </p:sp>
      <p:sp>
        <p:nvSpPr>
          <p:cNvPr id="495618" name="AutoShape 4"/>
          <p:cNvSpPr/>
          <p:nvPr/>
        </p:nvSpPr>
        <p:spPr>
          <a:xfrm>
            <a:off x="2327275" y="2362200"/>
            <a:ext cx="152400" cy="914400"/>
          </a:xfrm>
          <a:prstGeom prst="leftBrace">
            <a:avLst>
              <a:gd name="adj1" fmla="val 50000"/>
              <a:gd name="adj2" fmla="val 50000"/>
            </a:avLst>
          </a:prstGeom>
          <a:noFill/>
          <a:ln w="38100" cap="flat" cmpd="sng">
            <a:solidFill>
              <a:srgbClr val="FF3300"/>
            </a:solidFill>
            <a:prstDash val="solid"/>
            <a:round/>
            <a:headEnd type="none" w="med" len="med"/>
            <a:tailEnd type="none" w="med" len="med"/>
          </a:ln>
        </p:spPr>
        <p:txBody>
          <a:bodyPr wrap="none" anchor="ctr" anchorCtr="0"/>
          <a:lstStyle/>
          <a:p>
            <a:endParaRPr lang="zh-CN" altLang="en-US" dirty="0">
              <a:latin typeface="Tahoma" panose="020B0604030504040204" pitchFamily="34" charset="0"/>
              <a:ea typeface="华文新魏" panose="02010800040101010101" pitchFamily="2" charset="-122"/>
            </a:endParaRPr>
          </a:p>
        </p:txBody>
      </p:sp>
      <p:sp>
        <p:nvSpPr>
          <p:cNvPr id="495619"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1" name="Rectangle 3"/>
          <p:cNvSpPr>
            <a:spLocks noGrp="1"/>
          </p:cNvSpPr>
          <p:nvPr>
            <p:ph idx="1"/>
          </p:nvPr>
        </p:nvSpPr>
        <p:spPr>
          <a:xfrm>
            <a:off x="0" y="1295400"/>
            <a:ext cx="8893175" cy="4365625"/>
          </a:xfrm>
        </p:spPr>
        <p:txBody>
          <a:bodyPr vert="horz" wrap="square" lIns="91440" tIns="45720" rIns="91440" bIns="45720" anchor="t" anchorCtr="0"/>
          <a:lstStyle/>
          <a:p>
            <a:pPr eaLnBrk="1" hangingPunct="1">
              <a:buNone/>
            </a:pPr>
            <a:r>
              <a:rPr lang="zh-CN" altLang="en-US" b="1" dirty="0">
                <a:solidFill>
                  <a:srgbClr val="3333FF"/>
                </a:solidFill>
                <a:latin typeface="黑体" panose="02010609060101010101" pitchFamily="49" charset="-122"/>
                <a:ea typeface="黑体" panose="02010609060101010101" pitchFamily="49" charset="-122"/>
              </a:rPr>
              <a:t>（</a:t>
            </a:r>
            <a:r>
              <a:rPr lang="en-US" altLang="zh-CN" b="1" dirty="0">
                <a:solidFill>
                  <a:srgbClr val="3333FF"/>
                </a:solidFill>
                <a:latin typeface="黑体" panose="02010609060101010101" pitchFamily="49" charset="-122"/>
                <a:ea typeface="黑体" panose="02010609060101010101" pitchFamily="49" charset="-122"/>
              </a:rPr>
              <a:t>3</a:t>
            </a:r>
            <a:r>
              <a:rPr lang="zh-CN" altLang="en-US" b="1" dirty="0">
                <a:solidFill>
                  <a:srgbClr val="3333FF"/>
                </a:solidFill>
                <a:latin typeface="黑体" panose="02010609060101010101" pitchFamily="49" charset="-122"/>
                <a:ea typeface="黑体" panose="02010609060101010101" pitchFamily="49" charset="-122"/>
              </a:rPr>
              <a:t>）次生维管组织的结构特点 </a:t>
            </a:r>
          </a:p>
          <a:p>
            <a:pPr lvl="1" eaLnBrk="1" hangingPunct="1"/>
            <a:r>
              <a:rPr lang="zh-CN" altLang="en-US" b="1" dirty="0">
                <a:solidFill>
                  <a:schemeClr val="bg2"/>
                </a:solidFill>
                <a:latin typeface="黑体" panose="02010609060101010101" pitchFamily="49" charset="-122"/>
                <a:ea typeface="黑体" panose="02010609060101010101" pitchFamily="49" charset="-122"/>
              </a:rPr>
              <a:t>次生木质部居内，次生韧皮部居外，相对排列，与初生结构中两者相间排列不同。</a:t>
            </a:r>
          </a:p>
          <a:p>
            <a:pPr lvl="1" eaLnBrk="1" hangingPunct="1"/>
            <a:r>
              <a:rPr lang="zh-CN" altLang="en-US" b="1" dirty="0">
                <a:solidFill>
                  <a:srgbClr val="FF0000"/>
                </a:solidFill>
                <a:latin typeface="黑体" panose="02010609060101010101" pitchFamily="49" charset="-122"/>
                <a:ea typeface="黑体" panose="02010609060101010101" pitchFamily="49" charset="-122"/>
              </a:rPr>
              <a:t>维管射线构成了次生结构中的横向系统</a:t>
            </a:r>
            <a:r>
              <a:rPr lang="zh-CN" altLang="en-US" b="1" dirty="0">
                <a:solidFill>
                  <a:schemeClr val="bg2"/>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初生结构中无横向系统</a:t>
            </a:r>
            <a:r>
              <a:rPr lang="zh-CN" altLang="en-US" b="1" dirty="0">
                <a:solidFill>
                  <a:schemeClr val="bg2"/>
                </a:solidFill>
                <a:latin typeface="黑体" panose="02010609060101010101" pitchFamily="49" charset="-122"/>
                <a:ea typeface="黑体" panose="02010609060101010101" pitchFamily="49" charset="-122"/>
              </a:rPr>
              <a:t>。</a:t>
            </a:r>
          </a:p>
          <a:p>
            <a:pPr lvl="1" eaLnBrk="1" hangingPunct="1"/>
            <a:r>
              <a:rPr lang="zh-CN" altLang="en-US" b="1" dirty="0">
                <a:solidFill>
                  <a:schemeClr val="bg2"/>
                </a:solidFill>
                <a:latin typeface="黑体" panose="02010609060101010101" pitchFamily="49" charset="-122"/>
                <a:ea typeface="黑体" panose="02010609060101010101" pitchFamily="49" charset="-122"/>
              </a:rPr>
              <a:t>形成层的切向分裂活动使根的直径增粗，这样使得形成层不断外移，但随着增粗，周径的扩大，因此亦有径向分裂和横向分裂。</a:t>
            </a:r>
          </a:p>
          <a:p>
            <a:pPr lvl="1" eaLnBrk="1" hangingPunct="1"/>
            <a:r>
              <a:rPr lang="zh-CN" altLang="en-US" b="1" dirty="0">
                <a:solidFill>
                  <a:schemeClr val="bg2"/>
                </a:solidFill>
                <a:latin typeface="黑体" panose="02010609060101010101" pitchFamily="49" charset="-122"/>
                <a:ea typeface="黑体" panose="02010609060101010101" pitchFamily="49" charset="-122"/>
              </a:rPr>
              <a:t>以次生木质部为主，韧皮部比例较小。因为木质部在内，较坚硬，向外加粗，挤压韧皮部，使韧皮部的外围不断损坏。 </a:t>
            </a:r>
          </a:p>
        </p:txBody>
      </p:sp>
      <p:sp>
        <p:nvSpPr>
          <p:cNvPr id="496642"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5" name="Rectangle 3"/>
          <p:cNvSpPr>
            <a:spLocks noGrp="1"/>
          </p:cNvSpPr>
          <p:nvPr>
            <p:ph idx="1"/>
          </p:nvPr>
        </p:nvSpPr>
        <p:spPr>
          <a:xfrm>
            <a:off x="0" y="1295400"/>
            <a:ext cx="9144000" cy="3141663"/>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）木栓形成层的发生 </a:t>
            </a:r>
          </a:p>
          <a:p>
            <a:pPr lvl="1" eaLnBrk="1" hangingPunct="1"/>
            <a:r>
              <a:rPr lang="zh-CN" altLang="en-US" b="1" dirty="0">
                <a:solidFill>
                  <a:schemeClr val="bg2"/>
                </a:solidFill>
                <a:latin typeface="黑体" panose="02010609060101010101" pitchFamily="49" charset="-122"/>
                <a:ea typeface="黑体" panose="02010609060101010101" pitchFamily="49" charset="-122"/>
              </a:rPr>
              <a:t>维管形成层的活动使次生维管组织不断增加，根直径不断扩大，而中柱鞘以外部分则无分裂能力，不能增加，因此不能适应中柱鞘以内次生维管组织的增粗而解体。</a:t>
            </a:r>
          </a:p>
          <a:p>
            <a:pPr lvl="1" eaLnBrk="1" hangingPunct="1"/>
            <a:r>
              <a:rPr lang="zh-CN" altLang="en-US" b="1" dirty="0">
                <a:solidFill>
                  <a:schemeClr val="bg2"/>
                </a:solidFill>
                <a:latin typeface="黑体" panose="02010609060101010101" pitchFamily="49" charset="-122"/>
                <a:ea typeface="黑体" panose="02010609060101010101" pitchFamily="49" charset="-122"/>
              </a:rPr>
              <a:t>发生位置：</a:t>
            </a:r>
            <a:r>
              <a:rPr lang="zh-CN" altLang="en-US" b="1" dirty="0">
                <a:solidFill>
                  <a:srgbClr val="FF0000"/>
                </a:solidFill>
                <a:latin typeface="黑体" panose="02010609060101010101" pitchFamily="49" charset="-122"/>
                <a:ea typeface="黑体" panose="02010609060101010101" pitchFamily="49" charset="-122"/>
              </a:rPr>
              <a:t>主要是中柱鞘</a:t>
            </a:r>
            <a:r>
              <a:rPr lang="zh-CN" altLang="en-US" b="1" dirty="0">
                <a:solidFill>
                  <a:schemeClr val="bg2"/>
                </a:solidFill>
                <a:latin typeface="黑体" panose="02010609060101010101" pitchFamily="49" charset="-122"/>
                <a:ea typeface="黑体" panose="02010609060101010101" pitchFamily="49" charset="-122"/>
              </a:rPr>
              <a:t>。次生维管组织达到一定程度后，</a:t>
            </a:r>
            <a:r>
              <a:rPr lang="zh-CN" altLang="en-US" b="1" dirty="0">
                <a:solidFill>
                  <a:srgbClr val="FF3300"/>
                </a:solidFill>
                <a:latin typeface="黑体" panose="02010609060101010101" pitchFamily="49" charset="-122"/>
                <a:ea typeface="黑体" panose="02010609060101010101" pitchFamily="49" charset="-122"/>
              </a:rPr>
              <a:t>中柱鞘</a:t>
            </a:r>
            <a:r>
              <a:rPr lang="zh-CN" altLang="en-US" b="1" dirty="0">
                <a:solidFill>
                  <a:schemeClr val="bg2"/>
                </a:solidFill>
                <a:latin typeface="黑体" panose="02010609060101010101" pitchFamily="49" charset="-122"/>
                <a:ea typeface="黑体" panose="02010609060101010101" pitchFamily="49" charset="-122"/>
              </a:rPr>
              <a:t>细胞脱分化，进行切向分裂和径向分裂而形成</a:t>
            </a:r>
            <a:r>
              <a:rPr lang="zh-CN" altLang="en-US" b="1" u="sng" dirty="0">
                <a:solidFill>
                  <a:srgbClr val="FF3300"/>
                </a:solidFill>
                <a:latin typeface="黑体" panose="02010609060101010101" pitchFamily="49" charset="-122"/>
                <a:ea typeface="黑体" panose="02010609060101010101" pitchFamily="49" charset="-122"/>
              </a:rPr>
              <a:t>木栓形成层</a:t>
            </a:r>
            <a:r>
              <a:rPr lang="zh-CN" altLang="en-US" b="1" dirty="0">
                <a:solidFill>
                  <a:schemeClr val="bg2"/>
                </a:solidFill>
                <a:latin typeface="黑体" panose="02010609060101010101" pitchFamily="49" charset="-122"/>
                <a:ea typeface="黑体" panose="02010609060101010101" pitchFamily="49" charset="-122"/>
              </a:rPr>
              <a:t>。</a:t>
            </a:r>
          </a:p>
        </p:txBody>
      </p:sp>
      <p:sp>
        <p:nvSpPr>
          <p:cNvPr id="497666"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89" name="Rectangle 3"/>
          <p:cNvSpPr>
            <a:spLocks noGrp="1"/>
          </p:cNvSpPr>
          <p:nvPr>
            <p:ph idx="1"/>
          </p:nvPr>
        </p:nvSpPr>
        <p:spPr>
          <a:xfrm>
            <a:off x="0" y="1295400"/>
            <a:ext cx="8893175" cy="4654550"/>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）木栓形成层活动（规律）及周皮的形成</a:t>
            </a:r>
            <a:r>
              <a:rPr lang="zh-CN" altLang="en-US" b="1" dirty="0">
                <a:solidFill>
                  <a:schemeClr val="tx2"/>
                </a:solidFill>
                <a:latin typeface="黑体" panose="02010609060101010101" pitchFamily="49" charset="-122"/>
                <a:ea typeface="黑体" panose="02010609060101010101" pitchFamily="49" charset="-122"/>
              </a:rPr>
              <a:t> </a:t>
            </a:r>
          </a:p>
          <a:p>
            <a:pPr lvl="1" eaLnBrk="1" hangingPunct="1">
              <a:lnSpc>
                <a:spcPct val="120000"/>
              </a:lnSpc>
            </a:pPr>
            <a:r>
              <a:rPr lang="zh-CN" altLang="en-US" b="1" dirty="0">
                <a:solidFill>
                  <a:schemeClr val="tx1"/>
                </a:solidFill>
                <a:latin typeface="黑体" panose="02010609060101010101" pitchFamily="49" charset="-122"/>
                <a:ea typeface="黑体" panose="02010609060101010101" pitchFamily="49" charset="-122"/>
              </a:rPr>
              <a:t>活动规律：以切向分裂为主，主要是向（</a:t>
            </a:r>
            <a:r>
              <a:rPr lang="zh-CN" altLang="en-US" b="1" dirty="0">
                <a:solidFill>
                  <a:srgbClr val="0000FF"/>
                </a:solidFill>
                <a:latin typeface="黑体" panose="02010609060101010101" pitchFamily="49" charset="-122"/>
                <a:ea typeface="黑体" panose="02010609060101010101" pitchFamily="49" charset="-122"/>
              </a:rPr>
              <a:t>木栓形成层</a:t>
            </a:r>
            <a:r>
              <a:rPr lang="zh-CN" altLang="en-US" b="1" dirty="0">
                <a:solidFill>
                  <a:schemeClr val="tx1"/>
                </a:solidFill>
                <a:latin typeface="黑体" panose="02010609060101010101" pitchFamily="49" charset="-122"/>
                <a:ea typeface="黑体" panose="02010609060101010101" pitchFamily="49" charset="-122"/>
              </a:rPr>
              <a:t>）外方形成大量木栓细胞（</a:t>
            </a:r>
            <a:r>
              <a:rPr lang="zh-CN" altLang="en-US" b="1" dirty="0">
                <a:solidFill>
                  <a:srgbClr val="0000FF"/>
                </a:solidFill>
                <a:latin typeface="黑体" panose="02010609060101010101" pitchFamily="49" charset="-122"/>
                <a:ea typeface="黑体" panose="02010609060101010101" pitchFamily="49" charset="-122"/>
              </a:rPr>
              <a:t>木栓层</a:t>
            </a:r>
            <a:r>
              <a:rPr lang="zh-CN" altLang="en-US" b="1" dirty="0">
                <a:solidFill>
                  <a:schemeClr val="tx1"/>
                </a:solidFill>
                <a:latin typeface="黑体" panose="02010609060101010101" pitchFamily="49" charset="-122"/>
                <a:ea typeface="黑体" panose="02010609060101010101" pitchFamily="49" charset="-122"/>
              </a:rPr>
              <a:t>），覆盖在根的表面，起保护作用；向内形成少量薄壁组织，即</a:t>
            </a:r>
            <a:r>
              <a:rPr lang="zh-CN" altLang="en-US" b="1" dirty="0">
                <a:solidFill>
                  <a:srgbClr val="0000FF"/>
                </a:solidFill>
                <a:latin typeface="黑体" panose="02010609060101010101" pitchFamily="49" charset="-122"/>
                <a:ea typeface="黑体" panose="02010609060101010101" pitchFamily="49" charset="-122"/>
              </a:rPr>
              <a:t>栓内层</a:t>
            </a:r>
            <a:r>
              <a:rPr lang="zh-CN" altLang="en-US" b="1" dirty="0">
                <a:solidFill>
                  <a:schemeClr val="tx1"/>
                </a:solidFill>
                <a:latin typeface="黑体" panose="02010609060101010101" pitchFamily="49" charset="-122"/>
                <a:ea typeface="黑体" panose="02010609060101010101" pitchFamily="49" charset="-122"/>
              </a:rPr>
              <a:t>。</a:t>
            </a:r>
          </a:p>
          <a:p>
            <a:pPr lvl="1" eaLnBrk="1" hangingPunct="1">
              <a:lnSpc>
                <a:spcPct val="120000"/>
              </a:lnSpc>
            </a:pPr>
            <a:r>
              <a:rPr lang="zh-CN" altLang="en-US" b="1" dirty="0">
                <a:solidFill>
                  <a:schemeClr val="tx1"/>
                </a:solidFill>
                <a:latin typeface="黑体" panose="02010609060101010101" pitchFamily="49" charset="-122"/>
                <a:ea typeface="黑体" panose="02010609060101010101" pitchFamily="49" charset="-122"/>
              </a:rPr>
              <a:t>活动周期：</a:t>
            </a:r>
            <a:r>
              <a:rPr lang="zh-CN" altLang="en-US" b="1" dirty="0">
                <a:solidFill>
                  <a:srgbClr val="0000FF"/>
                </a:solidFill>
                <a:latin typeface="黑体" panose="02010609060101010101" pitchFamily="49" charset="-122"/>
                <a:ea typeface="黑体" panose="02010609060101010101" pitchFamily="49" charset="-122"/>
              </a:rPr>
              <a:t>最早的木栓形成层由中柱鞘形成，但它的作用到一定时期就终止的了。以后，新木栓形成层的发生就逐渐内移，可深达次生韧皮部的外方，因此根的外面始终有木栓覆盖。</a:t>
            </a:r>
          </a:p>
          <a:p>
            <a:pPr lvl="1" eaLnBrk="1" hangingPunct="1">
              <a:lnSpc>
                <a:spcPct val="120000"/>
              </a:lnSpc>
            </a:pPr>
            <a:r>
              <a:rPr lang="zh-CN" altLang="en-US" b="1" dirty="0">
                <a:solidFill>
                  <a:schemeClr val="tx1"/>
                </a:solidFill>
                <a:latin typeface="黑体" panose="02010609060101010101" pitchFamily="49" charset="-122"/>
                <a:ea typeface="黑体" panose="02010609060101010101" pitchFamily="49" charset="-122"/>
              </a:rPr>
              <a:t>木栓形成层所形成的木栓层和栓内层总称</a:t>
            </a:r>
            <a:r>
              <a:rPr lang="zh-CN" altLang="en-US" b="1" dirty="0">
                <a:solidFill>
                  <a:srgbClr val="0000FF"/>
                </a:solidFill>
                <a:latin typeface="黑体" panose="02010609060101010101" pitchFamily="49" charset="-122"/>
                <a:ea typeface="黑体" panose="02010609060101010101" pitchFamily="49" charset="-122"/>
              </a:rPr>
              <a:t>周皮</a:t>
            </a:r>
            <a:r>
              <a:rPr lang="zh-CN" altLang="en-US" b="1" dirty="0">
                <a:solidFill>
                  <a:schemeClr val="tx1"/>
                </a:solidFill>
                <a:latin typeface="黑体" panose="02010609060101010101" pitchFamily="49" charset="-122"/>
                <a:ea typeface="黑体" panose="02010609060101010101" pitchFamily="49" charset="-122"/>
              </a:rPr>
              <a:t>，是根加粗后所形成的</a:t>
            </a:r>
            <a:r>
              <a:rPr lang="zh-CN" altLang="en-US" b="1" dirty="0">
                <a:solidFill>
                  <a:srgbClr val="0000FF"/>
                </a:solidFill>
                <a:latin typeface="黑体" panose="02010609060101010101" pitchFamily="49" charset="-122"/>
                <a:ea typeface="黑体" panose="02010609060101010101" pitchFamily="49" charset="-122"/>
              </a:rPr>
              <a:t>次生保护组织</a:t>
            </a:r>
            <a:r>
              <a:rPr lang="zh-CN" altLang="en-US" b="1" dirty="0">
                <a:solidFill>
                  <a:schemeClr val="tx1"/>
                </a:solidFill>
                <a:latin typeface="黑体" panose="02010609060101010101" pitchFamily="49" charset="-122"/>
                <a:ea typeface="黑体" panose="02010609060101010101" pitchFamily="49" charset="-122"/>
              </a:rPr>
              <a:t>。</a:t>
            </a:r>
          </a:p>
        </p:txBody>
      </p:sp>
      <p:sp>
        <p:nvSpPr>
          <p:cNvPr id="498690" name="Rectangle 16"/>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二、根的结构</a:t>
            </a:r>
            <a:br>
              <a:rPr lang="zh-CN" altLang="en-US" sz="2800" b="1" dirty="0">
                <a:solidFill>
                  <a:srgbClr val="3333FF"/>
                </a:solidFill>
                <a:latin typeface="黑体" panose="02010609060101010101" pitchFamily="49" charset="-122"/>
                <a:ea typeface="黑体" panose="02010609060101010101" pitchFamily="49" charset="-122"/>
              </a:rPr>
            </a:br>
            <a:r>
              <a:rPr lang="zh-CN" altLang="en-US" sz="280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根的次生结构</a:t>
            </a:r>
            <a:r>
              <a:rPr lang="zh-CN" altLang="en-US" sz="2800" b="1" dirty="0">
                <a:solidFill>
                  <a:schemeClr val="tx1"/>
                </a:solidFill>
                <a:latin typeface="黑体" panose="02010609060101010101" pitchFamily="49" charset="-122"/>
                <a:ea typeface="黑体" panose="02010609060101010101" pitchFamily="49" charset="-122"/>
              </a:rPr>
              <a:t>（以双子叶植物根的初生结构为例）</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9713" name="图片 4"/>
          <p:cNvPicPr>
            <a:picLocks noChangeAspect="1"/>
          </p:cNvPicPr>
          <p:nvPr/>
        </p:nvPicPr>
        <p:blipFill>
          <a:blip r:embed="rId2"/>
          <a:stretch>
            <a:fillRect/>
          </a:stretch>
        </p:blipFill>
        <p:spPr>
          <a:xfrm>
            <a:off x="485775" y="9525"/>
            <a:ext cx="8172450" cy="68389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0737" name="图片 4"/>
          <p:cNvPicPr>
            <a:picLocks noChangeAspect="1"/>
          </p:cNvPicPr>
          <p:nvPr>
            <p:custDataLst>
              <p:tags r:id="rId1"/>
            </p:custDataLst>
          </p:nvPr>
        </p:nvPicPr>
        <p:blipFill>
          <a:blip r:embed="rId3"/>
          <a:stretch>
            <a:fillRect/>
          </a:stretch>
        </p:blipFill>
        <p:spPr>
          <a:xfrm>
            <a:off x="33338" y="723900"/>
            <a:ext cx="9077325" cy="54102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1"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501762" name="Rectangle 3"/>
          <p:cNvSpPr>
            <a:spLocks noGrp="1"/>
          </p:cNvSpPr>
          <p:nvPr>
            <p:ph idx="1"/>
          </p:nvPr>
        </p:nvSpPr>
        <p:spPr/>
        <p:txBody>
          <a:bodyPr vert="horz" wrap="square" lIns="91440" tIns="45720" rIns="91440" bIns="45720" anchor="t" anchorCtr="0"/>
          <a:lstStyle/>
          <a:p>
            <a:pPr eaLnBrk="1" hangingPunct="1">
              <a:lnSpc>
                <a:spcPct val="90000"/>
              </a:lnSpc>
              <a:buNone/>
            </a:pPr>
            <a:r>
              <a:rPr lang="zh-CN" altLang="en-US" dirty="0"/>
              <a:t>　　　　　　　　　　　　　</a:t>
            </a:r>
            <a:r>
              <a:rPr lang="zh-CN" altLang="en-US" dirty="0">
                <a:hlinkClick r:id="rId2" action="ppaction://hlinksldjump"/>
              </a:rPr>
              <a:t>概述</a:t>
            </a:r>
            <a:r>
              <a:rPr lang="zh-CN" altLang="en-US" dirty="0"/>
              <a:t>                 </a:t>
            </a:r>
            <a:r>
              <a:rPr lang="zh-CN" altLang="en-US" dirty="0">
                <a:hlinkClick r:id="rId3" action="ppaction://hlinksldjump"/>
              </a:rPr>
              <a:t>表皮</a:t>
            </a:r>
            <a:endParaRPr lang="zh-CN" altLang="en-US" dirty="0"/>
          </a:p>
          <a:p>
            <a:pPr eaLnBrk="1" hangingPunct="1">
              <a:lnSpc>
                <a:spcPct val="90000"/>
              </a:lnSpc>
              <a:buNone/>
            </a:pPr>
            <a:r>
              <a:rPr lang="zh-CN" altLang="en-US" dirty="0"/>
              <a:t>　　　　　　　　　　　　 </a:t>
            </a:r>
            <a:r>
              <a:rPr lang="en-US" altLang="zh-CN" dirty="0">
                <a:latin typeface="华文新魏" panose="02010800040101010101" pitchFamily="2" charset="-122"/>
                <a:hlinkClick r:id="rId3" action="ppaction://hlinksldjump"/>
              </a:rPr>
              <a:t>1.</a:t>
            </a:r>
            <a:r>
              <a:rPr lang="zh-CN" altLang="en-US" dirty="0">
                <a:hlinkClick r:id="rId3" action="ppaction://hlinksldjump"/>
              </a:rPr>
              <a:t>双子叶植物茎</a:t>
            </a:r>
            <a:r>
              <a:rPr lang="zh-CN" altLang="en-US" dirty="0"/>
              <a:t>    </a:t>
            </a:r>
            <a:r>
              <a:rPr lang="zh-CN" altLang="en-US" dirty="0">
                <a:hlinkClick r:id="rId4" action="ppaction://hlinksldjump"/>
              </a:rPr>
              <a:t>皮层</a:t>
            </a:r>
            <a:endParaRPr lang="zh-CN" altLang="en-US" dirty="0"/>
          </a:p>
          <a:p>
            <a:pPr eaLnBrk="1" hangingPunct="1">
              <a:lnSpc>
                <a:spcPct val="60000"/>
              </a:lnSpc>
              <a:buNone/>
            </a:pPr>
            <a:r>
              <a:rPr lang="zh-CN" altLang="en-US" dirty="0"/>
              <a:t>                                            </a:t>
            </a:r>
            <a:r>
              <a:rPr lang="zh-CN" altLang="en-US" dirty="0">
                <a:hlinkClick r:id="rId3" action="ppaction://hlinksldjump"/>
              </a:rPr>
              <a:t>的初生结构</a:t>
            </a:r>
            <a:r>
              <a:rPr lang="zh-CN" altLang="en-US" dirty="0"/>
              <a:t>     </a:t>
            </a:r>
            <a:r>
              <a:rPr lang="zh-CN" altLang="en-US" dirty="0">
                <a:hlinkClick r:id="rId5" action="ppaction://hlinksldjump"/>
              </a:rPr>
              <a:t>维管柱</a:t>
            </a:r>
            <a:endParaRPr lang="zh-CN" altLang="en-US" dirty="0"/>
          </a:p>
          <a:p>
            <a:pPr eaLnBrk="1" hangingPunct="1">
              <a:lnSpc>
                <a:spcPct val="90000"/>
              </a:lnSpc>
              <a:buNone/>
            </a:pPr>
            <a:r>
              <a:rPr lang="zh-CN" altLang="en-US" dirty="0">
                <a:hlinkClick r:id="rId2" action="ppaction://hlinksldjump"/>
              </a:rPr>
              <a:t>（一）双子叶植物和裸子</a:t>
            </a:r>
            <a:r>
              <a:rPr lang="zh-CN" altLang="en-US" dirty="0"/>
              <a:t>                              </a:t>
            </a:r>
            <a:r>
              <a:rPr lang="zh-CN" altLang="en-US" dirty="0">
                <a:hlinkClick r:id="rId6" action="ppaction://hlinksldjump"/>
              </a:rPr>
              <a:t>髓和髓射线</a:t>
            </a:r>
            <a:endParaRPr lang="zh-CN" altLang="en-US" dirty="0"/>
          </a:p>
          <a:p>
            <a:pPr eaLnBrk="1" hangingPunct="1">
              <a:lnSpc>
                <a:spcPct val="60000"/>
              </a:lnSpc>
              <a:buNone/>
            </a:pPr>
            <a:r>
              <a:rPr lang="zh-CN" altLang="en-US" dirty="0"/>
              <a:t>　　　</a:t>
            </a:r>
            <a:r>
              <a:rPr lang="zh-CN" altLang="en-US" dirty="0">
                <a:hlinkClick r:id="rId2" action="ppaction://hlinksldjump"/>
              </a:rPr>
              <a:t>植物茎的初生结构</a:t>
            </a:r>
            <a:r>
              <a:rPr lang="zh-CN" altLang="en-US" dirty="0"/>
              <a:t>    </a:t>
            </a:r>
            <a:r>
              <a:rPr lang="en-US" altLang="zh-CN" dirty="0">
                <a:latin typeface="华文新魏" panose="02010800040101010101" pitchFamily="2" charset="-122"/>
              </a:rPr>
              <a:t>2.</a:t>
            </a:r>
            <a:r>
              <a:rPr lang="zh-CN" altLang="en-US" dirty="0"/>
              <a:t>裸子植物茎的初生结构</a:t>
            </a:r>
          </a:p>
          <a:p>
            <a:pPr eaLnBrk="1" hangingPunct="1">
              <a:lnSpc>
                <a:spcPct val="90000"/>
              </a:lnSpc>
              <a:buNone/>
            </a:pPr>
            <a:r>
              <a:rPr lang="zh-CN" altLang="en-US" dirty="0"/>
              <a:t>                                       </a:t>
            </a:r>
            <a:r>
              <a:rPr lang="en-US" altLang="zh-CN" dirty="0">
                <a:latin typeface="华文新魏" panose="02010800040101010101" pitchFamily="2" charset="-122"/>
              </a:rPr>
              <a:t>3.</a:t>
            </a:r>
            <a:r>
              <a:rPr lang="zh-CN" altLang="en-US" dirty="0"/>
              <a:t>双子叶植物根和茎初生结构比较</a:t>
            </a:r>
          </a:p>
          <a:p>
            <a:pPr eaLnBrk="1" hangingPunct="1">
              <a:lnSpc>
                <a:spcPct val="90000"/>
              </a:lnSpc>
              <a:buNone/>
            </a:pPr>
            <a:r>
              <a:rPr lang="zh-CN" altLang="en-US" dirty="0"/>
              <a:t>                                                概述</a:t>
            </a:r>
          </a:p>
          <a:p>
            <a:pPr eaLnBrk="1" hangingPunct="1">
              <a:lnSpc>
                <a:spcPct val="80000"/>
              </a:lnSpc>
              <a:buNone/>
            </a:pPr>
            <a:r>
              <a:rPr lang="zh-CN" altLang="en-US" dirty="0"/>
              <a:t>                                                </a:t>
            </a:r>
            <a:r>
              <a:rPr lang="en-US" altLang="zh-CN" dirty="0">
                <a:latin typeface="华文新魏" panose="02010800040101010101" pitchFamily="2" charset="-122"/>
              </a:rPr>
              <a:t>1.</a:t>
            </a:r>
            <a:r>
              <a:rPr lang="zh-CN" altLang="en-US" dirty="0"/>
              <a:t>表皮</a:t>
            </a:r>
          </a:p>
          <a:p>
            <a:pPr eaLnBrk="1" hangingPunct="1">
              <a:lnSpc>
                <a:spcPct val="80000"/>
              </a:lnSpc>
              <a:buNone/>
            </a:pPr>
            <a:r>
              <a:rPr lang="zh-CN" altLang="en-US" dirty="0"/>
              <a:t>（二）单子叶植物茎的初生结构    </a:t>
            </a:r>
            <a:r>
              <a:rPr lang="en-US" altLang="zh-CN" dirty="0">
                <a:latin typeface="华文新魏" panose="02010800040101010101" pitchFamily="2" charset="-122"/>
              </a:rPr>
              <a:t>2.</a:t>
            </a:r>
            <a:r>
              <a:rPr lang="zh-CN" altLang="en-US" dirty="0"/>
              <a:t>基本组织</a:t>
            </a:r>
          </a:p>
          <a:p>
            <a:pPr eaLnBrk="1" hangingPunct="1">
              <a:lnSpc>
                <a:spcPct val="80000"/>
              </a:lnSpc>
              <a:buNone/>
            </a:pPr>
            <a:r>
              <a:rPr lang="zh-CN" altLang="en-US" dirty="0"/>
              <a:t>                                                </a:t>
            </a:r>
            <a:r>
              <a:rPr lang="en-US" altLang="zh-CN" dirty="0">
                <a:latin typeface="华文新魏" panose="02010800040101010101" pitchFamily="2" charset="-122"/>
              </a:rPr>
              <a:t>3.</a:t>
            </a:r>
            <a:r>
              <a:rPr lang="zh-CN" altLang="en-US" dirty="0"/>
              <a:t>维管束</a:t>
            </a:r>
          </a:p>
          <a:p>
            <a:pPr eaLnBrk="1" hangingPunct="1">
              <a:lnSpc>
                <a:spcPct val="80000"/>
              </a:lnSpc>
              <a:buNone/>
            </a:pPr>
            <a:r>
              <a:rPr lang="zh-CN" altLang="en-US" dirty="0"/>
              <a:t>                                                </a:t>
            </a:r>
            <a:r>
              <a:rPr lang="en-US" altLang="zh-CN" dirty="0">
                <a:latin typeface="华文新魏" panose="02010800040101010101" pitchFamily="2" charset="-122"/>
              </a:rPr>
              <a:t>4.</a:t>
            </a:r>
            <a:r>
              <a:rPr lang="zh-CN" altLang="en-US" dirty="0"/>
              <a:t>竹茎结构</a:t>
            </a:r>
          </a:p>
          <a:p>
            <a:pPr eaLnBrk="1" hangingPunct="1">
              <a:lnSpc>
                <a:spcPct val="80000"/>
              </a:lnSpc>
              <a:buNone/>
            </a:pPr>
            <a:r>
              <a:rPr lang="zh-CN" altLang="en-US" dirty="0"/>
              <a:t>                                                </a:t>
            </a:r>
            <a:r>
              <a:rPr lang="en-US" altLang="zh-CN" dirty="0">
                <a:latin typeface="华文新魏" panose="02010800040101010101" pitchFamily="2" charset="-122"/>
              </a:rPr>
              <a:t>5.</a:t>
            </a:r>
            <a:r>
              <a:rPr lang="zh-CN" altLang="en-US" dirty="0"/>
              <a:t>单子叶植物茎的结构特点</a:t>
            </a:r>
          </a:p>
          <a:p>
            <a:pPr eaLnBrk="1" hangingPunct="1">
              <a:lnSpc>
                <a:spcPct val="80000"/>
              </a:lnSpc>
              <a:buNone/>
            </a:pPr>
            <a:r>
              <a:rPr lang="zh-CN" altLang="en-US" dirty="0"/>
              <a:t>                                                </a:t>
            </a:r>
            <a:r>
              <a:rPr lang="en-US" altLang="zh-CN" dirty="0">
                <a:latin typeface="华文新魏" panose="02010800040101010101" pitchFamily="2" charset="-122"/>
              </a:rPr>
              <a:t>6.</a:t>
            </a:r>
            <a:r>
              <a:rPr lang="zh-CN" altLang="en-US" dirty="0"/>
              <a:t>单子叶植物茎的增粗</a:t>
            </a:r>
          </a:p>
        </p:txBody>
      </p:sp>
      <p:sp>
        <p:nvSpPr>
          <p:cNvPr id="501763" name="AutoShape 4"/>
          <p:cNvSpPr/>
          <p:nvPr/>
        </p:nvSpPr>
        <p:spPr>
          <a:xfrm>
            <a:off x="3657600" y="1371600"/>
            <a:ext cx="304800" cy="2209800"/>
          </a:xfrm>
          <a:prstGeom prst="leftBrace">
            <a:avLst>
              <a:gd name="adj1" fmla="val 59946"/>
              <a:gd name="adj2" fmla="val 57593"/>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01764" name="AutoShape 5"/>
          <p:cNvSpPr/>
          <p:nvPr/>
        </p:nvSpPr>
        <p:spPr>
          <a:xfrm>
            <a:off x="6248400" y="1406525"/>
            <a:ext cx="304800" cy="1489075"/>
          </a:xfrm>
          <a:prstGeom prst="leftBrace">
            <a:avLst>
              <a:gd name="adj1" fmla="val 40395"/>
              <a:gd name="adj2" fmla="val 50000"/>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01765" name="AutoShape 6"/>
          <p:cNvSpPr/>
          <p:nvPr/>
        </p:nvSpPr>
        <p:spPr>
          <a:xfrm>
            <a:off x="4530725" y="3657600"/>
            <a:ext cx="381000" cy="2590800"/>
          </a:xfrm>
          <a:prstGeom prst="leftBrace">
            <a:avLst>
              <a:gd name="adj1" fmla="val 56225"/>
              <a:gd name="adj2" fmla="val 36213"/>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5" name="Rectangle 3"/>
          <p:cNvSpPr>
            <a:spLocks noGrp="1"/>
          </p:cNvSpPr>
          <p:nvPr>
            <p:ph idx="1"/>
          </p:nvPr>
        </p:nvSpPr>
        <p:spPr>
          <a:xfrm>
            <a:off x="0" y="1295400"/>
            <a:ext cx="9144000" cy="4797425"/>
          </a:xfrm>
        </p:spPr>
        <p:txBody>
          <a:bodyPr vert="horz" wrap="square" lIns="91440" tIns="45720" rIns="91440" bIns="45720" anchor="t" anchorCtr="0"/>
          <a:lstStyle/>
          <a:p>
            <a:pPr marL="0" indent="0" eaLnBrk="1" hangingPunct="1">
              <a:buNone/>
            </a:pPr>
            <a:r>
              <a:rPr lang="zh-CN" altLang="en-US" sz="2400" b="1" dirty="0">
                <a:latin typeface="黑体" panose="02010609060101010101" pitchFamily="49" charset="-122"/>
                <a:ea typeface="黑体" panose="02010609060101010101" pitchFamily="49" charset="-122"/>
              </a:rPr>
              <a:t>  概述：</a:t>
            </a:r>
            <a:r>
              <a:rPr lang="zh-CN" altLang="en-US" sz="2400" b="1" dirty="0">
                <a:solidFill>
                  <a:schemeClr val="tx1"/>
                </a:solidFill>
                <a:latin typeface="黑体" panose="02010609060101010101" pitchFamily="49" charset="-122"/>
                <a:ea typeface="黑体" panose="02010609060101010101" pitchFamily="49" charset="-122"/>
              </a:rPr>
              <a:t>与根一样，双子叶植物茎的初生结构也包括</a:t>
            </a:r>
            <a:r>
              <a:rPr lang="zh-CN" altLang="en-US" sz="2400" b="1" dirty="0">
                <a:solidFill>
                  <a:srgbClr val="FF0000"/>
                </a:solidFill>
                <a:latin typeface="黑体" panose="02010609060101010101" pitchFamily="49" charset="-122"/>
                <a:ea typeface="黑体" panose="02010609060101010101" pitchFamily="49" charset="-122"/>
              </a:rPr>
              <a:t>表皮</a:t>
            </a:r>
            <a:r>
              <a:rPr lang="zh-CN" altLang="en-US" sz="2400" b="1" dirty="0">
                <a:solidFill>
                  <a:schemeClr val="tx1"/>
                </a:solidFill>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皮层</a:t>
            </a:r>
            <a:r>
              <a:rPr lang="zh-CN" altLang="en-US" sz="2400" b="1" dirty="0">
                <a:solidFill>
                  <a:schemeClr val="tx1"/>
                </a:solidFill>
                <a:latin typeface="黑体" panose="02010609060101010101" pitchFamily="49" charset="-122"/>
                <a:ea typeface="黑体" panose="02010609060101010101" pitchFamily="49" charset="-122"/>
              </a:rPr>
              <a:t>和</a:t>
            </a:r>
            <a:r>
              <a:rPr lang="zh-CN" altLang="en-US" sz="2400" b="1" dirty="0">
                <a:solidFill>
                  <a:srgbClr val="FF0000"/>
                </a:solidFill>
                <a:latin typeface="黑体" panose="02010609060101010101" pitchFamily="49" charset="-122"/>
                <a:ea typeface="黑体" panose="02010609060101010101" pitchFamily="49" charset="-122"/>
              </a:rPr>
              <a:t>维管柱</a:t>
            </a:r>
            <a:r>
              <a:rPr lang="zh-CN" altLang="en-US" sz="2400" b="1" dirty="0">
                <a:solidFill>
                  <a:schemeClr val="tx1"/>
                </a:solidFill>
                <a:latin typeface="黑体" panose="02010609060101010101" pitchFamily="49" charset="-122"/>
                <a:ea typeface="黑体" panose="02010609060101010101" pitchFamily="49" charset="-122"/>
              </a:rPr>
              <a:t>三部分，但各层结构有所不同。</a:t>
            </a:r>
          </a:p>
          <a:p>
            <a:pPr marL="0" indent="0" eaLnBrk="1" hangingPunct="1">
              <a:lnSpc>
                <a:spcPct val="90000"/>
              </a:lnSpc>
              <a:buNone/>
            </a:pPr>
            <a:endParaRPr lang="zh-CN" altLang="en-US" sz="2400" dirty="0">
              <a:latin typeface="华文新魏" panose="02010800040101010101" pitchFamily="2" charset="-122"/>
            </a:endParaRPr>
          </a:p>
          <a:p>
            <a:pPr marL="0" indent="0" eaLnBrk="1" hangingPunct="1">
              <a:lnSpc>
                <a:spcPct val="90000"/>
              </a:lnSpc>
              <a:buNone/>
            </a:pPr>
            <a:r>
              <a:rPr lang="zh-CN" altLang="en-US" sz="2400" dirty="0">
                <a:solidFill>
                  <a:schemeClr val="tx2"/>
                </a:solidFill>
                <a:latin typeface="华文新魏" panose="02010800040101010101" pitchFamily="2" charset="-122"/>
              </a:rPr>
              <a:t>        </a:t>
            </a:r>
            <a:r>
              <a:rPr lang="zh-CN" altLang="en-US" sz="2400" dirty="0">
                <a:solidFill>
                  <a:schemeClr val="tx2"/>
                </a:solidFill>
                <a:latin typeface="华文新魏" panose="02010800040101010101" pitchFamily="2" charset="-122"/>
                <a:hlinkClick r:id="rId2" action="ppaction://hlinksldjump"/>
              </a:rPr>
              <a:t>表    皮</a:t>
            </a:r>
            <a:endParaRPr lang="zh-CN" altLang="en-US" sz="2400" dirty="0">
              <a:solidFill>
                <a:schemeClr val="tx2"/>
              </a:solidFill>
              <a:latin typeface="华文新魏" panose="02010800040101010101" pitchFamily="2" charset="-122"/>
            </a:endParaRPr>
          </a:p>
          <a:p>
            <a:pPr marL="0" indent="0" eaLnBrk="1" hangingPunct="1">
              <a:lnSpc>
                <a:spcPct val="90000"/>
              </a:lnSpc>
              <a:buNone/>
            </a:pPr>
            <a:r>
              <a:rPr lang="zh-CN" altLang="en-US" sz="2400" dirty="0">
                <a:solidFill>
                  <a:schemeClr val="tx2"/>
                </a:solidFill>
                <a:latin typeface="华文新魏" panose="02010800040101010101" pitchFamily="2" charset="-122"/>
              </a:rPr>
              <a:t>        </a:t>
            </a:r>
            <a:r>
              <a:rPr lang="zh-CN" altLang="en-US" sz="2400" dirty="0">
                <a:solidFill>
                  <a:schemeClr val="tx2"/>
                </a:solidFill>
                <a:latin typeface="华文新魏" panose="02010800040101010101" pitchFamily="2" charset="-122"/>
                <a:hlinkClick r:id="rId2" action="ppaction://hlinksldjump"/>
              </a:rPr>
              <a:t>皮    层</a:t>
            </a:r>
            <a:r>
              <a:rPr lang="zh-CN" altLang="en-US" sz="2400" dirty="0">
                <a:solidFill>
                  <a:schemeClr val="tx2"/>
                </a:solidFill>
                <a:latin typeface="华文新魏" panose="02010800040101010101" pitchFamily="2" charset="-122"/>
              </a:rPr>
              <a:t>：</a:t>
            </a:r>
            <a:r>
              <a:rPr lang="zh-CN" altLang="en-US" sz="2400" dirty="0">
                <a:latin typeface="华文新魏" panose="02010800040101010101" pitchFamily="2" charset="-122"/>
              </a:rPr>
              <a:t>无外皮层（但外围有机械组织或同化组织）和内皮层</a:t>
            </a:r>
          </a:p>
          <a:p>
            <a:pPr marL="0" indent="0" eaLnBrk="1" hangingPunct="1">
              <a:lnSpc>
                <a:spcPct val="90000"/>
              </a:lnSpc>
              <a:buNone/>
            </a:pPr>
            <a:r>
              <a:rPr lang="zh-CN" altLang="en-US" sz="2400" dirty="0">
                <a:latin typeface="华文新魏" panose="02010800040101010101" pitchFamily="2" charset="-122"/>
              </a:rPr>
              <a:t>                                                          初生木质部（形成层之内）</a:t>
            </a:r>
          </a:p>
          <a:p>
            <a:pPr marL="0" indent="0" eaLnBrk="1" hangingPunct="1">
              <a:lnSpc>
                <a:spcPct val="90000"/>
              </a:lnSpc>
              <a:buNone/>
            </a:pPr>
            <a:r>
              <a:rPr lang="zh-CN" altLang="en-US" sz="2400" dirty="0">
                <a:solidFill>
                  <a:srgbClr val="FF0000"/>
                </a:solidFill>
                <a:latin typeface="华文新魏" panose="02010800040101010101" pitchFamily="2" charset="-122"/>
                <a:hlinkClick r:id="rId2" action="ppaction://hlinksldjump"/>
              </a:rPr>
              <a:t>茎</a:t>
            </a:r>
            <a:r>
              <a:rPr lang="zh-CN" altLang="en-US" sz="2400" dirty="0">
                <a:solidFill>
                  <a:schemeClr val="tx2"/>
                </a:solidFill>
                <a:latin typeface="华文新魏" panose="02010800040101010101" pitchFamily="2" charset="-122"/>
              </a:rPr>
              <a:t>    </a:t>
            </a:r>
            <a:r>
              <a:rPr lang="zh-CN" altLang="en-US" sz="2400" dirty="0">
                <a:solidFill>
                  <a:schemeClr val="tx2"/>
                </a:solidFill>
                <a:latin typeface="华文新魏" panose="02010800040101010101" pitchFamily="2" charset="-122"/>
                <a:hlinkClick r:id="rId2" action="ppaction://hlinksldjump"/>
              </a:rPr>
              <a:t>维管柱</a:t>
            </a:r>
            <a:r>
              <a:rPr lang="zh-CN" altLang="en-US" sz="2400" dirty="0">
                <a:solidFill>
                  <a:schemeClr val="tx2"/>
                </a:solidFill>
                <a:latin typeface="华文新魏" panose="02010800040101010101" pitchFamily="2" charset="-122"/>
              </a:rPr>
              <a:t>：</a:t>
            </a:r>
            <a:r>
              <a:rPr lang="zh-CN" altLang="en-US" sz="2400" dirty="0">
                <a:solidFill>
                  <a:schemeClr val="tx2"/>
                </a:solidFill>
                <a:latin typeface="华文新魏" panose="02010800040101010101" pitchFamily="2" charset="-122"/>
                <a:hlinkClick r:id="rId2" action="ppaction://hlinksldjump"/>
              </a:rPr>
              <a:t>维管束</a:t>
            </a:r>
            <a:r>
              <a:rPr lang="zh-CN" altLang="en-US" sz="2400" dirty="0">
                <a:latin typeface="华文新魏" panose="02010800040101010101" pitchFamily="2" charset="-122"/>
              </a:rPr>
              <a:t>排成一环     束中形成层</a:t>
            </a:r>
          </a:p>
          <a:p>
            <a:pPr marL="0" indent="0" eaLnBrk="1" hangingPunct="1">
              <a:lnSpc>
                <a:spcPct val="90000"/>
              </a:lnSpc>
              <a:buNone/>
            </a:pPr>
            <a:r>
              <a:rPr lang="zh-CN" altLang="en-US" sz="2400" dirty="0">
                <a:latin typeface="华文新魏" panose="02010800040101010101" pitchFamily="2" charset="-122"/>
              </a:rPr>
              <a:t>                                                          初生韧皮部（形成层之外）</a:t>
            </a:r>
          </a:p>
          <a:p>
            <a:pPr marL="0" indent="0" eaLnBrk="1" hangingPunct="1">
              <a:lnSpc>
                <a:spcPct val="90000"/>
              </a:lnSpc>
              <a:buNone/>
            </a:pPr>
            <a:r>
              <a:rPr lang="zh-CN" altLang="en-US" sz="2400" dirty="0">
                <a:solidFill>
                  <a:schemeClr val="tx2"/>
                </a:solidFill>
                <a:latin typeface="华文新魏" panose="02010800040101010101" pitchFamily="2" charset="-122"/>
              </a:rPr>
              <a:t>        </a:t>
            </a:r>
            <a:r>
              <a:rPr lang="zh-CN" altLang="en-US" sz="2400" dirty="0">
                <a:solidFill>
                  <a:schemeClr val="tx2"/>
                </a:solidFill>
                <a:latin typeface="华文新魏" panose="02010800040101010101" pitchFamily="2" charset="-122"/>
                <a:hlinkClick r:id="rId2" action="ppaction://hlinksldjump"/>
              </a:rPr>
              <a:t>髓</a:t>
            </a:r>
            <a:r>
              <a:rPr lang="zh-CN" altLang="en-US" sz="2400" dirty="0">
                <a:solidFill>
                  <a:schemeClr val="tx2"/>
                </a:solidFill>
                <a:latin typeface="华文新魏" panose="02010800040101010101" pitchFamily="2" charset="-122"/>
              </a:rPr>
              <a:t>      </a:t>
            </a:r>
            <a:r>
              <a:rPr lang="zh-CN" altLang="en-US" sz="2400" dirty="0">
                <a:latin typeface="华文新魏" panose="02010800040101010101" pitchFamily="2" charset="-122"/>
              </a:rPr>
              <a:t>维管柱以内的薄壁组织，行使贮藏功能</a:t>
            </a:r>
          </a:p>
          <a:p>
            <a:pPr marL="0" indent="0" eaLnBrk="1" hangingPunct="1">
              <a:lnSpc>
                <a:spcPct val="90000"/>
              </a:lnSpc>
              <a:buNone/>
            </a:pPr>
            <a:r>
              <a:rPr lang="zh-CN" altLang="en-US" sz="2400" dirty="0">
                <a:solidFill>
                  <a:schemeClr val="tx2"/>
                </a:solidFill>
                <a:latin typeface="华文新魏" panose="02010800040101010101" pitchFamily="2" charset="-122"/>
              </a:rPr>
              <a:t>        </a:t>
            </a:r>
            <a:r>
              <a:rPr lang="zh-CN" altLang="en-US" sz="2400" dirty="0">
                <a:solidFill>
                  <a:schemeClr val="tx2"/>
                </a:solidFill>
                <a:latin typeface="华文新魏" panose="02010800040101010101" pitchFamily="2" charset="-122"/>
                <a:hlinkClick r:id="rId2" action="ppaction://hlinksldjump"/>
              </a:rPr>
              <a:t>髓射线</a:t>
            </a:r>
            <a:r>
              <a:rPr lang="zh-CN" altLang="en-US" sz="2400" dirty="0">
                <a:solidFill>
                  <a:schemeClr val="tx2"/>
                </a:solidFill>
                <a:latin typeface="华文新魏" panose="02010800040101010101" pitchFamily="2" charset="-122"/>
              </a:rPr>
              <a:t>：</a:t>
            </a:r>
            <a:r>
              <a:rPr lang="zh-CN" altLang="en-US" sz="2400" dirty="0">
                <a:latin typeface="华文新魏" panose="02010800040101010101" pitchFamily="2" charset="-122"/>
              </a:rPr>
              <a:t>位于维管束之间，外连皮层、内与髓相连的薄壁组织，</a:t>
            </a:r>
          </a:p>
          <a:p>
            <a:pPr marL="0" indent="0" eaLnBrk="1" hangingPunct="1">
              <a:lnSpc>
                <a:spcPct val="90000"/>
              </a:lnSpc>
              <a:buNone/>
            </a:pPr>
            <a:r>
              <a:rPr lang="zh-CN" altLang="en-US" sz="2400" dirty="0">
                <a:latin typeface="华文新魏" panose="02010800040101010101" pitchFamily="2" charset="-122"/>
              </a:rPr>
              <a:t>            具贮藏和横向运输作用。</a:t>
            </a:r>
          </a:p>
        </p:txBody>
      </p:sp>
      <p:sp>
        <p:nvSpPr>
          <p:cNvPr id="502786" name="AutoShape 4"/>
          <p:cNvSpPr/>
          <p:nvPr/>
        </p:nvSpPr>
        <p:spPr>
          <a:xfrm>
            <a:off x="4140200" y="3500438"/>
            <a:ext cx="228600" cy="865187"/>
          </a:xfrm>
          <a:prstGeom prst="leftBrace">
            <a:avLst>
              <a:gd name="adj1" fmla="val 35902"/>
              <a:gd name="adj2" fmla="val 50000"/>
            </a:avLst>
          </a:prstGeom>
          <a:noFill/>
          <a:ln w="38100"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02787" name="AutoShape 5"/>
          <p:cNvSpPr/>
          <p:nvPr/>
        </p:nvSpPr>
        <p:spPr>
          <a:xfrm>
            <a:off x="468313" y="2636838"/>
            <a:ext cx="228600" cy="2592387"/>
          </a:xfrm>
          <a:prstGeom prst="leftBrace">
            <a:avLst>
              <a:gd name="adj1" fmla="val 102062"/>
              <a:gd name="adj2" fmla="val 50000"/>
            </a:avLst>
          </a:prstGeom>
          <a:noFill/>
          <a:ln w="38100" cap="flat" cmpd="sng">
            <a:solidFill>
              <a:srgbClr val="FF3300"/>
            </a:solidFill>
            <a:prstDash val="solid"/>
            <a:round/>
            <a:headEnd type="none" w="med" len="med"/>
            <a:tailEnd type="none" w="med" len="med"/>
          </a:ln>
        </p:spPr>
        <p:txBody>
          <a:bodyPr wrap="none" anchor="ctr" anchorCtr="0"/>
          <a:lstStyle/>
          <a:p>
            <a:pPr algn="ctr" eaLnBrk="0" hangingPunct="0"/>
            <a:endParaRPr lang="zh-CN" altLang="zh-CN" dirty="0">
              <a:solidFill>
                <a:srgbClr val="0000FF"/>
              </a:solidFill>
              <a:latin typeface="Tahoma" panose="020B0604030504040204" pitchFamily="34" charset="0"/>
              <a:ea typeface="华文新魏" panose="02010800040101010101" pitchFamily="2" charset="-122"/>
            </a:endParaRPr>
          </a:p>
        </p:txBody>
      </p:sp>
      <p:sp>
        <p:nvSpPr>
          <p:cNvPr id="502788"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0" y="1295400"/>
            <a:ext cx="9144000" cy="40052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）双子叶植物茎的初生结构</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hlinkClick r:id="rId2" action="ppaction://hlinksldjump"/>
              </a:rPr>
              <a:t>表皮</a:t>
            </a:r>
            <a:endPar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特征：</a:t>
            </a:r>
          </a:p>
          <a:p>
            <a:pPr marL="742950" marR="0" lvl="1" indent="-285750" algn="l" defTabSz="914400" rtl="0" eaLnBrk="1" fontAlgn="base" latinLnBrk="0" hangingPunct="1">
              <a:lnSpc>
                <a:spcPct val="14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细胞特征：</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由原表皮发育而来。细胞多呈长方体形，无叶绿体，横切面上呈长方形或正方形，其长轴与茎的轴向方向一致。细胞外切向壁常加厚并角质化，具一层连续的角质膜。</a:t>
            </a:r>
          </a:p>
          <a:p>
            <a:pPr marL="742950" marR="0" lvl="1" indent="-28575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排列：</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一层细胞，排列紧密，无胞间隙，具少数气孔。</a:t>
            </a:r>
          </a:p>
          <a:p>
            <a:pPr marL="742950" marR="0" lvl="1" indent="-28575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表皮具各种附属物</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a:t>
            </a:r>
          </a:p>
          <a:p>
            <a:pPr marL="742950" marR="0" lvl="1" indent="-28575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具特殊颜色的幼茎</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：主要是因为其表皮细胞液泡内具花青素。</a:t>
            </a:r>
          </a:p>
        </p:txBody>
      </p:sp>
      <p:sp>
        <p:nvSpPr>
          <p:cNvPr id="503810"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4833" name="Picture 1036" descr="D:\Documents and Settings\LiuZC\桌面\教学素材\营养器官\茎\茎的初生结构\向日葵茎横切.jpg"/>
          <p:cNvPicPr>
            <a:picLocks noChangeAspect="1"/>
          </p:cNvPicPr>
          <p:nvPr/>
        </p:nvPicPr>
        <p:blipFill>
          <a:blip r:embed="rId2"/>
          <a:stretch>
            <a:fillRect/>
          </a:stretch>
        </p:blipFill>
        <p:spPr>
          <a:xfrm>
            <a:off x="0" y="-3175"/>
            <a:ext cx="9144000" cy="6556375"/>
          </a:xfrm>
          <a:prstGeom prst="rect">
            <a:avLst/>
          </a:prstGeom>
          <a:noFill/>
          <a:ln w="9525">
            <a:noFill/>
          </a:ln>
        </p:spPr>
      </p:pic>
      <p:sp>
        <p:nvSpPr>
          <p:cNvPr id="504834" name="Text Box 1027"/>
          <p:cNvSpPr txBox="1"/>
          <p:nvPr/>
        </p:nvSpPr>
        <p:spPr>
          <a:xfrm rot="2602353">
            <a:off x="1238250" y="2882900"/>
            <a:ext cx="1922463" cy="750888"/>
          </a:xfrm>
          <a:prstGeom prst="rect">
            <a:avLst/>
          </a:prstGeom>
          <a:noFill/>
          <a:ln w="38100" cap="flat" cmpd="sng">
            <a:solidFill>
              <a:srgbClr val="FF0000"/>
            </a:solidFill>
            <a:prstDash val="lgDash"/>
            <a:miter/>
            <a:headEnd type="none" w="med" len="med"/>
            <a:tailEnd type="none" w="med" len="med"/>
          </a:ln>
        </p:spPr>
        <p:txBody>
          <a:bodyPr anchor="t" anchorCtr="0">
            <a:spAutoFit/>
          </a:bodyPr>
          <a:lstStyle/>
          <a:p>
            <a:pPr eaLnBrk="0" hangingPunct="0">
              <a:lnSpc>
                <a:spcPct val="170000"/>
              </a:lnSpc>
              <a:spcBef>
                <a:spcPct val="50000"/>
              </a:spcBef>
            </a:pPr>
            <a:r>
              <a:rPr lang="zh-CN" altLang="en-US" dirty="0">
                <a:solidFill>
                  <a:srgbClr val="FFFF00"/>
                </a:solidFill>
                <a:latin typeface="Times New Roman" panose="02020603050405020304" pitchFamily="18" charset="0"/>
                <a:ea typeface="华文新魏" panose="02010800040101010101" pitchFamily="2" charset="-122"/>
              </a:rPr>
              <a:t>髓射线</a:t>
            </a:r>
          </a:p>
        </p:txBody>
      </p:sp>
      <p:sp>
        <p:nvSpPr>
          <p:cNvPr id="504835" name="Freeform 1028"/>
          <p:cNvSpPr/>
          <p:nvPr/>
        </p:nvSpPr>
        <p:spPr>
          <a:xfrm>
            <a:off x="1981200" y="3124200"/>
            <a:ext cx="7162800" cy="34290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4064" h="2688">
                <a:moveTo>
                  <a:pt x="16" y="2640"/>
                </a:moveTo>
                <a:cubicBezTo>
                  <a:pt x="8" y="2568"/>
                  <a:pt x="0" y="2496"/>
                  <a:pt x="16" y="2352"/>
                </a:cubicBezTo>
                <a:cubicBezTo>
                  <a:pt x="32" y="2208"/>
                  <a:pt x="72" y="1976"/>
                  <a:pt x="112" y="1776"/>
                </a:cubicBezTo>
                <a:cubicBezTo>
                  <a:pt x="152" y="1576"/>
                  <a:pt x="192" y="1328"/>
                  <a:pt x="256" y="1152"/>
                </a:cubicBezTo>
                <a:cubicBezTo>
                  <a:pt x="320" y="976"/>
                  <a:pt x="416" y="848"/>
                  <a:pt x="496" y="720"/>
                </a:cubicBezTo>
                <a:cubicBezTo>
                  <a:pt x="576" y="592"/>
                  <a:pt x="648" y="464"/>
                  <a:pt x="736" y="384"/>
                </a:cubicBezTo>
                <a:cubicBezTo>
                  <a:pt x="824" y="304"/>
                  <a:pt x="896" y="280"/>
                  <a:pt x="1024" y="240"/>
                </a:cubicBezTo>
                <a:cubicBezTo>
                  <a:pt x="1152" y="200"/>
                  <a:pt x="1376" y="168"/>
                  <a:pt x="1504" y="144"/>
                </a:cubicBezTo>
                <a:cubicBezTo>
                  <a:pt x="1632" y="120"/>
                  <a:pt x="1664" y="120"/>
                  <a:pt x="1792" y="96"/>
                </a:cubicBezTo>
                <a:cubicBezTo>
                  <a:pt x="1920" y="72"/>
                  <a:pt x="2104" y="0"/>
                  <a:pt x="2272" y="0"/>
                </a:cubicBezTo>
                <a:cubicBezTo>
                  <a:pt x="2440" y="0"/>
                  <a:pt x="2632" y="32"/>
                  <a:pt x="2800" y="96"/>
                </a:cubicBezTo>
                <a:cubicBezTo>
                  <a:pt x="2968" y="160"/>
                  <a:pt x="3152" y="272"/>
                  <a:pt x="3280" y="384"/>
                </a:cubicBezTo>
                <a:cubicBezTo>
                  <a:pt x="3408" y="496"/>
                  <a:pt x="3488" y="624"/>
                  <a:pt x="3568" y="768"/>
                </a:cubicBezTo>
                <a:cubicBezTo>
                  <a:pt x="3648" y="912"/>
                  <a:pt x="3704" y="1096"/>
                  <a:pt x="3760" y="1248"/>
                </a:cubicBezTo>
                <a:cubicBezTo>
                  <a:pt x="3816" y="1400"/>
                  <a:pt x="3872" y="1536"/>
                  <a:pt x="3904" y="1680"/>
                </a:cubicBezTo>
                <a:cubicBezTo>
                  <a:pt x="3936" y="1824"/>
                  <a:pt x="3928" y="1976"/>
                  <a:pt x="3952" y="2112"/>
                </a:cubicBezTo>
                <a:cubicBezTo>
                  <a:pt x="3976" y="2248"/>
                  <a:pt x="4032" y="2400"/>
                  <a:pt x="4048" y="2496"/>
                </a:cubicBezTo>
                <a:cubicBezTo>
                  <a:pt x="4064" y="2592"/>
                  <a:pt x="4056" y="2640"/>
                  <a:pt x="4048" y="2688"/>
                </a:cubicBezTo>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4836" name="Text Box 1029"/>
          <p:cNvSpPr txBox="1"/>
          <p:nvPr/>
        </p:nvSpPr>
        <p:spPr>
          <a:xfrm>
            <a:off x="3886200" y="4724400"/>
            <a:ext cx="1143000" cy="579438"/>
          </a:xfrm>
          <a:prstGeom prst="rect">
            <a:avLst/>
          </a:prstGeom>
          <a:noFill/>
          <a:ln w="9525">
            <a:noFill/>
          </a:ln>
        </p:spPr>
        <p:txBody>
          <a:bodyPr anchor="t" anchorCtr="0">
            <a:spAutoFit/>
          </a:bodyPr>
          <a:lstStyle/>
          <a:p>
            <a:pPr algn="ctr" eaLnBrk="0" hangingPunct="0">
              <a:spcBef>
                <a:spcPct val="50000"/>
              </a:spcBef>
            </a:pPr>
            <a:r>
              <a:rPr lang="zh-CN" altLang="en-US" sz="3200" dirty="0">
                <a:solidFill>
                  <a:srgbClr val="F55C3D"/>
                </a:solidFill>
                <a:latin typeface="Times New Roman" panose="02020603050405020304" pitchFamily="18" charset="0"/>
                <a:ea typeface="华文新魏" panose="02010800040101010101" pitchFamily="2" charset="-122"/>
                <a:hlinkClick r:id="rId3" action="ppaction://hlinksldjump"/>
              </a:rPr>
              <a:t>髓</a:t>
            </a:r>
            <a:endParaRPr lang="zh-CN" altLang="en-US" sz="3200" dirty="0">
              <a:solidFill>
                <a:srgbClr val="F55C3D"/>
              </a:solidFill>
              <a:latin typeface="Times New Roman" panose="02020603050405020304" pitchFamily="18" charset="0"/>
              <a:ea typeface="华文新魏" panose="02010800040101010101" pitchFamily="2" charset="-122"/>
            </a:endParaRPr>
          </a:p>
        </p:txBody>
      </p:sp>
      <p:sp>
        <p:nvSpPr>
          <p:cNvPr id="504837" name="AutoShape 1030"/>
          <p:cNvSpPr/>
          <p:nvPr/>
        </p:nvSpPr>
        <p:spPr>
          <a:xfrm rot="7856881">
            <a:off x="1344613" y="2106613"/>
            <a:ext cx="104775" cy="403225"/>
          </a:xfrm>
          <a:prstGeom prst="leftBrace">
            <a:avLst>
              <a:gd name="adj1" fmla="val 31821"/>
              <a:gd name="adj2" fmla="val 61620"/>
            </a:avLst>
          </a:prstGeom>
          <a:noFill/>
          <a:ln w="38100" cap="flat" cmpd="sng">
            <a:solidFill>
              <a:srgbClr val="FF00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04838" name="AutoShape 1031"/>
          <p:cNvSpPr/>
          <p:nvPr/>
        </p:nvSpPr>
        <p:spPr>
          <a:xfrm>
            <a:off x="1066800" y="1066800"/>
            <a:ext cx="990600" cy="533400"/>
          </a:xfrm>
          <a:prstGeom prst="wedgeRoundRectCallout">
            <a:avLst>
              <a:gd name="adj1" fmla="val -14903"/>
              <a:gd name="adj2" fmla="val 155954"/>
              <a:gd name="adj3" fmla="val 16667"/>
            </a:avLst>
          </a:prstGeom>
          <a:noFill/>
          <a:ln w="38100" cap="flat" cmpd="sng">
            <a:solidFill>
              <a:srgbClr val="FFFF99"/>
            </a:solidFill>
            <a:prstDash val="solid"/>
            <a:miter/>
            <a:headEnd type="none" w="med" len="med"/>
            <a:tailEnd type="none" w="med" len="med"/>
          </a:ln>
        </p:spPr>
        <p:txBody>
          <a:bodyPr anchor="t" anchorCtr="0"/>
          <a:lstStyle/>
          <a:p>
            <a:pPr algn="ctr" eaLnBrk="0" hangingPunct="0"/>
            <a:r>
              <a:rPr lang="zh-CN" altLang="en-US" dirty="0">
                <a:solidFill>
                  <a:srgbClr val="FFFF00"/>
                </a:solidFill>
                <a:latin typeface="Times New Roman" panose="02020603050405020304" pitchFamily="18" charset="0"/>
                <a:ea typeface="华文新魏" panose="02010800040101010101" pitchFamily="2" charset="-122"/>
              </a:rPr>
              <a:t>皮层</a:t>
            </a:r>
          </a:p>
        </p:txBody>
      </p:sp>
      <p:sp>
        <p:nvSpPr>
          <p:cNvPr id="504839" name="Freeform 1032"/>
          <p:cNvSpPr/>
          <p:nvPr/>
        </p:nvSpPr>
        <p:spPr>
          <a:xfrm>
            <a:off x="4343400" y="1066800"/>
            <a:ext cx="1219200" cy="2209800"/>
          </a:xfrm>
          <a:custGeom>
            <a:avLst/>
            <a:gdLst/>
            <a:ahLst/>
            <a:cxnLst>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632" h="1072">
                <a:moveTo>
                  <a:pt x="48" y="104"/>
                </a:moveTo>
                <a:cubicBezTo>
                  <a:pt x="24" y="128"/>
                  <a:pt x="0" y="152"/>
                  <a:pt x="0" y="200"/>
                </a:cubicBezTo>
                <a:cubicBezTo>
                  <a:pt x="0" y="248"/>
                  <a:pt x="32" y="328"/>
                  <a:pt x="48" y="392"/>
                </a:cubicBezTo>
                <a:cubicBezTo>
                  <a:pt x="64" y="456"/>
                  <a:pt x="88" y="528"/>
                  <a:pt x="96" y="584"/>
                </a:cubicBezTo>
                <a:cubicBezTo>
                  <a:pt x="104" y="640"/>
                  <a:pt x="88" y="680"/>
                  <a:pt x="96" y="728"/>
                </a:cubicBezTo>
                <a:cubicBezTo>
                  <a:pt x="104" y="776"/>
                  <a:pt x="128" y="824"/>
                  <a:pt x="144" y="872"/>
                </a:cubicBezTo>
                <a:cubicBezTo>
                  <a:pt x="160" y="920"/>
                  <a:pt x="168" y="984"/>
                  <a:pt x="192" y="1016"/>
                </a:cubicBezTo>
                <a:cubicBezTo>
                  <a:pt x="216" y="1048"/>
                  <a:pt x="248" y="1056"/>
                  <a:pt x="288" y="1064"/>
                </a:cubicBezTo>
                <a:cubicBezTo>
                  <a:pt x="328" y="1072"/>
                  <a:pt x="384" y="1072"/>
                  <a:pt x="432" y="1064"/>
                </a:cubicBezTo>
                <a:cubicBezTo>
                  <a:pt x="480" y="1056"/>
                  <a:pt x="544" y="1040"/>
                  <a:pt x="576" y="1016"/>
                </a:cubicBezTo>
                <a:cubicBezTo>
                  <a:pt x="608" y="992"/>
                  <a:pt x="616" y="952"/>
                  <a:pt x="624" y="920"/>
                </a:cubicBezTo>
                <a:cubicBezTo>
                  <a:pt x="632" y="888"/>
                  <a:pt x="624" y="864"/>
                  <a:pt x="624" y="824"/>
                </a:cubicBezTo>
                <a:cubicBezTo>
                  <a:pt x="624" y="784"/>
                  <a:pt x="632" y="744"/>
                  <a:pt x="624" y="680"/>
                </a:cubicBezTo>
                <a:cubicBezTo>
                  <a:pt x="616" y="616"/>
                  <a:pt x="584" y="504"/>
                  <a:pt x="576" y="440"/>
                </a:cubicBezTo>
                <a:cubicBezTo>
                  <a:pt x="568" y="376"/>
                  <a:pt x="576" y="336"/>
                  <a:pt x="576" y="296"/>
                </a:cubicBezTo>
                <a:cubicBezTo>
                  <a:pt x="576" y="256"/>
                  <a:pt x="584" y="232"/>
                  <a:pt x="576" y="200"/>
                </a:cubicBezTo>
                <a:cubicBezTo>
                  <a:pt x="568" y="168"/>
                  <a:pt x="552" y="128"/>
                  <a:pt x="528" y="104"/>
                </a:cubicBezTo>
                <a:cubicBezTo>
                  <a:pt x="504" y="80"/>
                  <a:pt x="464" y="72"/>
                  <a:pt x="432" y="56"/>
                </a:cubicBezTo>
                <a:cubicBezTo>
                  <a:pt x="400" y="40"/>
                  <a:pt x="368" y="16"/>
                  <a:pt x="336" y="8"/>
                </a:cubicBezTo>
                <a:cubicBezTo>
                  <a:pt x="304" y="0"/>
                  <a:pt x="272" y="0"/>
                  <a:pt x="240" y="8"/>
                </a:cubicBezTo>
                <a:cubicBezTo>
                  <a:pt x="208" y="16"/>
                  <a:pt x="184" y="40"/>
                  <a:pt x="144" y="56"/>
                </a:cubicBezTo>
                <a:cubicBezTo>
                  <a:pt x="104" y="72"/>
                  <a:pt x="72" y="80"/>
                  <a:pt x="48" y="104"/>
                </a:cubicBezTo>
                <a:close/>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4840" name="AutoShape 1033"/>
          <p:cNvSpPr/>
          <p:nvPr/>
        </p:nvSpPr>
        <p:spPr>
          <a:xfrm>
            <a:off x="4343400" y="228600"/>
            <a:ext cx="4800600" cy="457200"/>
          </a:xfrm>
          <a:prstGeom prst="wedgeRoundRectCallout">
            <a:avLst>
              <a:gd name="adj1" fmla="val -39551"/>
              <a:gd name="adj2" fmla="val 140278"/>
              <a:gd name="adj3" fmla="val 16667"/>
            </a:avLst>
          </a:prstGeom>
          <a:noFill/>
          <a:ln w="38100" cap="flat" cmpd="sng">
            <a:solidFill>
              <a:srgbClr val="FFFF99"/>
            </a:solidFill>
            <a:prstDash val="solid"/>
            <a:miter/>
            <a:headEnd type="none" w="med" len="med"/>
            <a:tailEnd type="none" w="med" len="med"/>
          </a:ln>
        </p:spPr>
        <p:txBody>
          <a:bodyPr anchor="t" anchorCtr="0"/>
          <a:lstStyle/>
          <a:p>
            <a:pPr algn="ctr" eaLnBrk="0" hangingPunct="0">
              <a:lnSpc>
                <a:spcPct val="90000"/>
              </a:lnSpc>
            </a:pPr>
            <a:r>
              <a:rPr lang="zh-CN" altLang="en-US" sz="2300" dirty="0">
                <a:solidFill>
                  <a:srgbClr val="FFFF00"/>
                </a:solidFill>
                <a:latin typeface="Times New Roman" panose="02020603050405020304" pitchFamily="18" charset="0"/>
                <a:ea typeface="华文新魏" panose="02010800040101010101" pitchFamily="2" charset="-122"/>
              </a:rPr>
              <a:t>维管束</a:t>
            </a:r>
            <a:r>
              <a:rPr lang="zh-CN" altLang="en-US" sz="2300" dirty="0">
                <a:solidFill>
                  <a:srgbClr val="FFFF99"/>
                </a:solidFill>
                <a:latin typeface="Times New Roman" panose="02020603050405020304" pitchFamily="18" charset="0"/>
                <a:ea typeface="华文新魏" panose="02010800040101010101" pitchFamily="2" charset="-122"/>
              </a:rPr>
              <a:t>（排成一环）构成</a:t>
            </a:r>
            <a:r>
              <a:rPr lang="zh-CN" altLang="en-US" sz="2300" dirty="0">
                <a:solidFill>
                  <a:srgbClr val="FFFF00"/>
                </a:solidFill>
                <a:latin typeface="Times New Roman" panose="02020603050405020304" pitchFamily="18" charset="0"/>
                <a:ea typeface="华文新魏" panose="02010800040101010101" pitchFamily="2" charset="-122"/>
              </a:rPr>
              <a:t>维管柱</a:t>
            </a:r>
          </a:p>
        </p:txBody>
      </p:sp>
      <p:sp>
        <p:nvSpPr>
          <p:cNvPr id="504841" name="AutoShape 1034"/>
          <p:cNvSpPr/>
          <p:nvPr/>
        </p:nvSpPr>
        <p:spPr>
          <a:xfrm>
            <a:off x="1066800" y="304800"/>
            <a:ext cx="990600" cy="533400"/>
          </a:xfrm>
          <a:prstGeom prst="wedgeRoundRectCallout">
            <a:avLst>
              <a:gd name="adj1" fmla="val 106889"/>
              <a:gd name="adj2" fmla="val 60417"/>
              <a:gd name="adj3" fmla="val 16667"/>
            </a:avLst>
          </a:prstGeom>
          <a:noFill/>
          <a:ln w="38100" cap="flat" cmpd="sng">
            <a:solidFill>
              <a:srgbClr val="FFFF99"/>
            </a:solidFill>
            <a:prstDash val="solid"/>
            <a:miter/>
            <a:headEnd type="none" w="med" len="med"/>
            <a:tailEnd type="none" w="med" len="med"/>
          </a:ln>
        </p:spPr>
        <p:txBody>
          <a:bodyPr anchor="t" anchorCtr="0"/>
          <a:lstStyle/>
          <a:p>
            <a:pPr algn="ctr" eaLnBrk="0" hangingPunct="0"/>
            <a:r>
              <a:rPr lang="zh-CN" altLang="en-US" dirty="0">
                <a:solidFill>
                  <a:srgbClr val="FFFF00"/>
                </a:solidFill>
                <a:latin typeface="Times New Roman" panose="02020603050405020304" pitchFamily="18" charset="0"/>
                <a:ea typeface="华文新魏" panose="02010800040101010101" pitchFamily="2" charset="-122"/>
              </a:rPr>
              <a:t>表皮</a:t>
            </a:r>
          </a:p>
        </p:txBody>
      </p:sp>
      <p:sp>
        <p:nvSpPr>
          <p:cNvPr id="504842" name="Text Box 1035"/>
          <p:cNvSpPr txBox="1"/>
          <p:nvPr/>
        </p:nvSpPr>
        <p:spPr>
          <a:xfrm>
            <a:off x="3657600" y="6096000"/>
            <a:ext cx="2209800" cy="457200"/>
          </a:xfrm>
          <a:prstGeom prst="rect">
            <a:avLst/>
          </a:prstGeom>
          <a:solidFill>
            <a:schemeClr val="bg1"/>
          </a:solidFill>
          <a:ln w="9525">
            <a:noFill/>
          </a:ln>
        </p:spPr>
        <p:txBody>
          <a:bodyPr anchor="t" anchorCtr="0">
            <a:spAutoFit/>
          </a:bodyPr>
          <a:lstStyle/>
          <a:p>
            <a:pPr algn="ctr" eaLnBrk="0" hangingPunct="0">
              <a:spcBef>
                <a:spcPct val="50000"/>
              </a:spcBef>
            </a:pPr>
            <a:r>
              <a:rPr lang="zh-CN" altLang="en-US" dirty="0">
                <a:latin typeface="Times New Roman" panose="02020603050405020304" pitchFamily="18" charset="0"/>
                <a:ea typeface="华文新魏" panose="02010800040101010101" pitchFamily="2" charset="-122"/>
                <a:hlinkClick r:id="rId3" action="ppaction://hlinksldjump"/>
              </a:rPr>
              <a:t>茎</a:t>
            </a:r>
            <a:r>
              <a:rPr lang="zh-CN" altLang="en-US" dirty="0">
                <a:latin typeface="Times New Roman" panose="02020603050405020304" pitchFamily="18" charset="0"/>
                <a:ea typeface="华文新魏" panose="02010800040101010101" pitchFamily="2" charset="-122"/>
              </a:rPr>
              <a:t>的结构</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5857" name="Picture 1042" descr="D:\Documents and Settings\LiuZC\桌面\教学素材\营养器官\茎\茎的初生结构\向日葵茎横切（100）.jpg"/>
          <p:cNvPicPr>
            <a:picLocks noChangeAspect="1"/>
          </p:cNvPicPr>
          <p:nvPr/>
        </p:nvPicPr>
        <p:blipFill>
          <a:blip r:embed="rId2"/>
          <a:stretch>
            <a:fillRect/>
          </a:stretch>
        </p:blipFill>
        <p:spPr>
          <a:xfrm>
            <a:off x="0" y="0"/>
            <a:ext cx="9144000" cy="6478588"/>
          </a:xfrm>
          <a:prstGeom prst="rect">
            <a:avLst/>
          </a:prstGeom>
          <a:noFill/>
          <a:ln w="9525">
            <a:noFill/>
          </a:ln>
        </p:spPr>
      </p:pic>
      <p:sp>
        <p:nvSpPr>
          <p:cNvPr id="505858" name="AutoShape 1028"/>
          <p:cNvSpPr/>
          <p:nvPr/>
        </p:nvSpPr>
        <p:spPr>
          <a:xfrm>
            <a:off x="8305800" y="5867400"/>
            <a:ext cx="838200" cy="457200"/>
          </a:xfrm>
          <a:prstGeom prst="wedgeRectCallout">
            <a:avLst>
              <a:gd name="adj1" fmla="val -11176"/>
              <a:gd name="adj2" fmla="val -258681"/>
            </a:avLst>
          </a:prstGeom>
          <a:noFill/>
          <a:ln w="38100" cap="flat" cmpd="sng">
            <a:solidFill>
              <a:srgbClr val="FF0000"/>
            </a:solidFill>
            <a:prstDash val="solid"/>
            <a:miter/>
            <a:headEnd type="none" w="med" len="med"/>
            <a:tailEnd type="none" w="med" len="med"/>
          </a:ln>
        </p:spPr>
        <p:txBody>
          <a:bodyPr anchor="t" anchorCtr="0"/>
          <a:lstStyle/>
          <a:p>
            <a:pPr algn="ctr" eaLnBrk="0" hangingPunct="0">
              <a:lnSpc>
                <a:spcPct val="80000"/>
              </a:lnSpc>
            </a:pPr>
            <a:r>
              <a:rPr lang="zh-CN" altLang="en-US" dirty="0">
                <a:solidFill>
                  <a:srgbClr val="0000FF"/>
                </a:solidFill>
                <a:latin typeface="华文新魏" panose="02010800040101010101" pitchFamily="2" charset="-122"/>
                <a:ea typeface="华文新魏" panose="02010800040101010101" pitchFamily="2" charset="-122"/>
              </a:rPr>
              <a:t>表皮</a:t>
            </a:r>
          </a:p>
        </p:txBody>
      </p:sp>
      <p:sp>
        <p:nvSpPr>
          <p:cNvPr id="505859" name="Text Box 1029"/>
          <p:cNvSpPr txBox="1"/>
          <p:nvPr/>
        </p:nvSpPr>
        <p:spPr>
          <a:xfrm>
            <a:off x="0" y="990600"/>
            <a:ext cx="990600" cy="579438"/>
          </a:xfrm>
          <a:prstGeom prst="rect">
            <a:avLst/>
          </a:prstGeom>
          <a:noFill/>
          <a:ln w="9525">
            <a:noFill/>
          </a:ln>
        </p:spPr>
        <p:txBody>
          <a:bodyPr anchor="t" anchorCtr="0">
            <a:spAutoFit/>
          </a:bodyPr>
          <a:lstStyle/>
          <a:p>
            <a:pPr eaLnBrk="0" hangingPunct="0">
              <a:spcBef>
                <a:spcPct val="50000"/>
              </a:spcBef>
            </a:pPr>
            <a:endParaRPr lang="zh-CN" altLang="zh-CN" sz="3200" dirty="0">
              <a:latin typeface="华文新魏" panose="02010800040101010101" pitchFamily="2" charset="-122"/>
              <a:ea typeface="华文新魏" panose="02010800040101010101" pitchFamily="2" charset="-122"/>
            </a:endParaRPr>
          </a:p>
        </p:txBody>
      </p:sp>
      <p:sp>
        <p:nvSpPr>
          <p:cNvPr id="505860" name="Text Box 1030">
            <a:hlinkHover r:id="" action="ppaction://noaction">
              <a:snd r:embed="rId3" name="camera.wav"/>
            </a:hlinkHover>
          </p:cNvPr>
          <p:cNvSpPr txBox="1"/>
          <p:nvPr/>
        </p:nvSpPr>
        <p:spPr>
          <a:xfrm>
            <a:off x="1143000" y="2590800"/>
            <a:ext cx="762000" cy="701675"/>
          </a:xfrm>
          <a:prstGeom prst="rect">
            <a:avLst/>
          </a:prstGeom>
          <a:noFill/>
          <a:ln w="3175">
            <a:noFill/>
          </a:ln>
        </p:spPr>
        <p:txBody>
          <a:bodyPr anchor="t" anchorCtr="0">
            <a:spAutoFit/>
          </a:bodyPr>
          <a:lstStyle/>
          <a:p>
            <a:pPr algn="ctr" eaLnBrk="0" hangingPunct="0">
              <a:spcBef>
                <a:spcPct val="50000"/>
              </a:spcBef>
            </a:pPr>
            <a:r>
              <a:rPr lang="zh-CN" altLang="en-US" sz="4000" dirty="0">
                <a:solidFill>
                  <a:srgbClr val="0000FF"/>
                </a:solidFill>
                <a:latin typeface="华文新魏" panose="02010800040101010101" pitchFamily="2" charset="-122"/>
                <a:ea typeface="华文新魏" panose="02010800040101010101" pitchFamily="2" charset="-122"/>
              </a:rPr>
              <a:t>髓</a:t>
            </a:r>
          </a:p>
        </p:txBody>
      </p:sp>
      <p:sp>
        <p:nvSpPr>
          <p:cNvPr id="505861" name="Freeform 1031"/>
          <p:cNvSpPr/>
          <p:nvPr/>
        </p:nvSpPr>
        <p:spPr>
          <a:xfrm>
            <a:off x="3911600" y="1625600"/>
            <a:ext cx="3098800" cy="30988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952" h="1976">
                <a:moveTo>
                  <a:pt x="112" y="264"/>
                </a:moveTo>
                <a:cubicBezTo>
                  <a:pt x="72" y="292"/>
                  <a:pt x="32" y="320"/>
                  <a:pt x="16" y="360"/>
                </a:cubicBezTo>
                <a:cubicBezTo>
                  <a:pt x="0" y="400"/>
                  <a:pt x="16" y="440"/>
                  <a:pt x="16" y="504"/>
                </a:cubicBezTo>
                <a:cubicBezTo>
                  <a:pt x="16" y="568"/>
                  <a:pt x="16" y="664"/>
                  <a:pt x="16" y="744"/>
                </a:cubicBezTo>
                <a:cubicBezTo>
                  <a:pt x="16" y="824"/>
                  <a:pt x="16" y="888"/>
                  <a:pt x="16" y="984"/>
                </a:cubicBezTo>
                <a:cubicBezTo>
                  <a:pt x="16" y="1080"/>
                  <a:pt x="8" y="1240"/>
                  <a:pt x="16" y="1320"/>
                </a:cubicBezTo>
                <a:cubicBezTo>
                  <a:pt x="24" y="1400"/>
                  <a:pt x="40" y="1432"/>
                  <a:pt x="64" y="1464"/>
                </a:cubicBezTo>
                <a:cubicBezTo>
                  <a:pt x="88" y="1496"/>
                  <a:pt x="112" y="1520"/>
                  <a:pt x="160" y="1512"/>
                </a:cubicBezTo>
                <a:cubicBezTo>
                  <a:pt x="208" y="1504"/>
                  <a:pt x="288" y="1440"/>
                  <a:pt x="352" y="1416"/>
                </a:cubicBezTo>
                <a:cubicBezTo>
                  <a:pt x="416" y="1392"/>
                  <a:pt x="480" y="1384"/>
                  <a:pt x="544" y="1368"/>
                </a:cubicBezTo>
                <a:cubicBezTo>
                  <a:pt x="608" y="1352"/>
                  <a:pt x="680" y="1328"/>
                  <a:pt x="736" y="1320"/>
                </a:cubicBezTo>
                <a:cubicBezTo>
                  <a:pt x="792" y="1312"/>
                  <a:pt x="832" y="1312"/>
                  <a:pt x="880" y="1320"/>
                </a:cubicBezTo>
                <a:cubicBezTo>
                  <a:pt x="928" y="1328"/>
                  <a:pt x="984" y="1344"/>
                  <a:pt x="1024" y="1368"/>
                </a:cubicBezTo>
                <a:cubicBezTo>
                  <a:pt x="1064" y="1392"/>
                  <a:pt x="1064" y="1416"/>
                  <a:pt x="1120" y="1464"/>
                </a:cubicBezTo>
                <a:cubicBezTo>
                  <a:pt x="1176" y="1512"/>
                  <a:pt x="1288" y="1592"/>
                  <a:pt x="1360" y="1656"/>
                </a:cubicBezTo>
                <a:cubicBezTo>
                  <a:pt x="1432" y="1720"/>
                  <a:pt x="1496" y="1800"/>
                  <a:pt x="1552" y="1848"/>
                </a:cubicBezTo>
                <a:cubicBezTo>
                  <a:pt x="1608" y="1896"/>
                  <a:pt x="1664" y="1976"/>
                  <a:pt x="1696" y="1944"/>
                </a:cubicBezTo>
                <a:cubicBezTo>
                  <a:pt x="1728" y="1912"/>
                  <a:pt x="1720" y="1760"/>
                  <a:pt x="1744" y="1656"/>
                </a:cubicBezTo>
                <a:cubicBezTo>
                  <a:pt x="1768" y="1552"/>
                  <a:pt x="1816" y="1432"/>
                  <a:pt x="1840" y="1320"/>
                </a:cubicBezTo>
                <a:cubicBezTo>
                  <a:pt x="1864" y="1208"/>
                  <a:pt x="1872" y="1088"/>
                  <a:pt x="1888" y="984"/>
                </a:cubicBezTo>
                <a:cubicBezTo>
                  <a:pt x="1904" y="880"/>
                  <a:pt x="1928" y="800"/>
                  <a:pt x="1936" y="696"/>
                </a:cubicBezTo>
                <a:cubicBezTo>
                  <a:pt x="1944" y="592"/>
                  <a:pt x="1936" y="472"/>
                  <a:pt x="1936" y="360"/>
                </a:cubicBezTo>
                <a:cubicBezTo>
                  <a:pt x="1936" y="248"/>
                  <a:pt x="1952" y="48"/>
                  <a:pt x="1936" y="24"/>
                </a:cubicBezTo>
                <a:cubicBezTo>
                  <a:pt x="1920" y="0"/>
                  <a:pt x="1872" y="168"/>
                  <a:pt x="1840" y="216"/>
                </a:cubicBezTo>
                <a:cubicBezTo>
                  <a:pt x="1808" y="264"/>
                  <a:pt x="1792" y="280"/>
                  <a:pt x="1744" y="312"/>
                </a:cubicBezTo>
                <a:cubicBezTo>
                  <a:pt x="1696" y="344"/>
                  <a:pt x="1624" y="376"/>
                  <a:pt x="1552" y="408"/>
                </a:cubicBezTo>
                <a:cubicBezTo>
                  <a:pt x="1480" y="440"/>
                  <a:pt x="1384" y="480"/>
                  <a:pt x="1312" y="504"/>
                </a:cubicBezTo>
                <a:cubicBezTo>
                  <a:pt x="1240" y="528"/>
                  <a:pt x="1184" y="544"/>
                  <a:pt x="1120" y="552"/>
                </a:cubicBezTo>
                <a:cubicBezTo>
                  <a:pt x="1056" y="560"/>
                  <a:pt x="984" y="552"/>
                  <a:pt x="928" y="552"/>
                </a:cubicBezTo>
                <a:cubicBezTo>
                  <a:pt x="872" y="552"/>
                  <a:pt x="840" y="544"/>
                  <a:pt x="784" y="552"/>
                </a:cubicBezTo>
                <a:cubicBezTo>
                  <a:pt x="728" y="560"/>
                  <a:pt x="656" y="608"/>
                  <a:pt x="592" y="600"/>
                </a:cubicBezTo>
                <a:cubicBezTo>
                  <a:pt x="528" y="592"/>
                  <a:pt x="456" y="544"/>
                  <a:pt x="400" y="504"/>
                </a:cubicBezTo>
                <a:cubicBezTo>
                  <a:pt x="344" y="464"/>
                  <a:pt x="288" y="400"/>
                  <a:pt x="256" y="360"/>
                </a:cubicBezTo>
                <a:cubicBezTo>
                  <a:pt x="224" y="320"/>
                  <a:pt x="224" y="280"/>
                  <a:pt x="208" y="264"/>
                </a:cubicBezTo>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5862" name="Text Box 1032"/>
          <p:cNvSpPr txBox="1"/>
          <p:nvPr/>
        </p:nvSpPr>
        <p:spPr>
          <a:xfrm>
            <a:off x="4876800" y="2757488"/>
            <a:ext cx="1295400" cy="519112"/>
          </a:xfrm>
          <a:prstGeom prst="rect">
            <a:avLst/>
          </a:prstGeom>
          <a:noFill/>
          <a:ln w="9525">
            <a:noFill/>
          </a:ln>
        </p:spPr>
        <p:txBody>
          <a:bodyPr anchor="t" anchorCtr="0">
            <a:spAutoFit/>
          </a:bodyPr>
          <a:lstStyle/>
          <a:p>
            <a:pPr algn="ctr" eaLnBrk="0" hangingPunct="0">
              <a:spcBef>
                <a:spcPct val="50000"/>
              </a:spcBef>
            </a:pPr>
            <a:r>
              <a:rPr lang="zh-CN" altLang="en-US" sz="2800" dirty="0">
                <a:solidFill>
                  <a:srgbClr val="F55C3D"/>
                </a:solidFill>
                <a:latin typeface="华文新魏" panose="02010800040101010101" pitchFamily="2" charset="-122"/>
                <a:ea typeface="华文新魏" panose="02010800040101010101" pitchFamily="2" charset="-122"/>
              </a:rPr>
              <a:t>髓射线</a:t>
            </a:r>
          </a:p>
        </p:txBody>
      </p:sp>
      <p:sp>
        <p:nvSpPr>
          <p:cNvPr id="505863" name="AutoShape 1033"/>
          <p:cNvSpPr/>
          <p:nvPr/>
        </p:nvSpPr>
        <p:spPr>
          <a:xfrm rot="-5105623" flipV="1">
            <a:off x="7600950" y="3082925"/>
            <a:ext cx="301625" cy="1709738"/>
          </a:xfrm>
          <a:prstGeom prst="leftBrace">
            <a:avLst>
              <a:gd name="adj1" fmla="val 46869"/>
              <a:gd name="adj2" fmla="val 47315"/>
            </a:avLst>
          </a:prstGeom>
          <a:noFill/>
          <a:ln w="38100" cap="flat" cmpd="sng">
            <a:solidFill>
              <a:srgbClr val="FF00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05864" name="Text Box 1034"/>
          <p:cNvSpPr txBox="1"/>
          <p:nvPr/>
        </p:nvSpPr>
        <p:spPr>
          <a:xfrm>
            <a:off x="7239000" y="4114800"/>
            <a:ext cx="1143000" cy="433388"/>
          </a:xfrm>
          <a:prstGeom prst="rect">
            <a:avLst/>
          </a:prstGeom>
          <a:noFill/>
          <a:ln w="9525">
            <a:noFill/>
          </a:ln>
        </p:spPr>
        <p:txBody>
          <a:bodyPr anchor="t" anchorCtr="0">
            <a:spAutoFit/>
          </a:bodyPr>
          <a:lstStyle/>
          <a:p>
            <a:pPr algn="ctr" eaLnBrk="0" hangingPunct="0">
              <a:lnSpc>
                <a:spcPct val="80000"/>
              </a:lnSpc>
              <a:spcBef>
                <a:spcPct val="50000"/>
              </a:spcBef>
            </a:pPr>
            <a:r>
              <a:rPr lang="zh-CN" altLang="en-US" sz="2800" dirty="0">
                <a:solidFill>
                  <a:srgbClr val="0000FF"/>
                </a:solidFill>
                <a:latin typeface="华文新魏" panose="02010800040101010101" pitchFamily="2" charset="-122"/>
                <a:ea typeface="华文新魏" panose="02010800040101010101" pitchFamily="2" charset="-122"/>
              </a:rPr>
              <a:t>皮层</a:t>
            </a:r>
          </a:p>
        </p:txBody>
      </p:sp>
      <p:sp>
        <p:nvSpPr>
          <p:cNvPr id="505865" name="Freeform 1035"/>
          <p:cNvSpPr/>
          <p:nvPr/>
        </p:nvSpPr>
        <p:spPr>
          <a:xfrm>
            <a:off x="4041775" y="762000"/>
            <a:ext cx="1444625" cy="15906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910" h="1002">
                <a:moveTo>
                  <a:pt x="9" y="499"/>
                </a:moveTo>
                <a:cubicBezTo>
                  <a:pt x="36" y="418"/>
                  <a:pt x="0" y="327"/>
                  <a:pt x="62" y="263"/>
                </a:cubicBezTo>
                <a:cubicBezTo>
                  <a:pt x="95" y="165"/>
                  <a:pt x="47" y="282"/>
                  <a:pt x="114" y="198"/>
                </a:cubicBezTo>
                <a:cubicBezTo>
                  <a:pt x="123" y="187"/>
                  <a:pt x="117" y="169"/>
                  <a:pt x="127" y="159"/>
                </a:cubicBezTo>
                <a:cubicBezTo>
                  <a:pt x="134" y="152"/>
                  <a:pt x="219" y="133"/>
                  <a:pt x="219" y="133"/>
                </a:cubicBezTo>
                <a:cubicBezTo>
                  <a:pt x="228" y="124"/>
                  <a:pt x="234" y="113"/>
                  <a:pt x="245" y="106"/>
                </a:cubicBezTo>
                <a:cubicBezTo>
                  <a:pt x="257" y="99"/>
                  <a:pt x="273" y="102"/>
                  <a:pt x="284" y="93"/>
                </a:cubicBezTo>
                <a:cubicBezTo>
                  <a:pt x="296" y="83"/>
                  <a:pt x="298" y="64"/>
                  <a:pt x="310" y="54"/>
                </a:cubicBezTo>
                <a:cubicBezTo>
                  <a:pt x="345" y="27"/>
                  <a:pt x="458" y="18"/>
                  <a:pt x="507" y="2"/>
                </a:cubicBezTo>
                <a:cubicBezTo>
                  <a:pt x="616" y="6"/>
                  <a:pt x="726" y="0"/>
                  <a:pt x="834" y="15"/>
                </a:cubicBezTo>
                <a:cubicBezTo>
                  <a:pt x="849" y="17"/>
                  <a:pt x="806" y="30"/>
                  <a:pt x="795" y="41"/>
                </a:cubicBezTo>
                <a:cubicBezTo>
                  <a:pt x="762" y="74"/>
                  <a:pt x="762" y="113"/>
                  <a:pt x="729" y="146"/>
                </a:cubicBezTo>
                <a:cubicBezTo>
                  <a:pt x="733" y="277"/>
                  <a:pt x="734" y="408"/>
                  <a:pt x="742" y="538"/>
                </a:cubicBezTo>
                <a:cubicBezTo>
                  <a:pt x="743" y="556"/>
                  <a:pt x="753" y="573"/>
                  <a:pt x="756" y="591"/>
                </a:cubicBezTo>
                <a:cubicBezTo>
                  <a:pt x="772" y="702"/>
                  <a:pt x="759" y="812"/>
                  <a:pt x="860" y="879"/>
                </a:cubicBezTo>
                <a:cubicBezTo>
                  <a:pt x="861" y="880"/>
                  <a:pt x="910" y="947"/>
                  <a:pt x="900" y="957"/>
                </a:cubicBezTo>
                <a:cubicBezTo>
                  <a:pt x="881" y="976"/>
                  <a:pt x="766" y="993"/>
                  <a:pt x="742" y="997"/>
                </a:cubicBezTo>
                <a:cubicBezTo>
                  <a:pt x="633" y="989"/>
                  <a:pt x="519" y="1002"/>
                  <a:pt x="415" y="970"/>
                </a:cubicBezTo>
                <a:cubicBezTo>
                  <a:pt x="366" y="955"/>
                  <a:pt x="305" y="890"/>
                  <a:pt x="258" y="866"/>
                </a:cubicBezTo>
                <a:cubicBezTo>
                  <a:pt x="175" y="780"/>
                  <a:pt x="300" y="906"/>
                  <a:pt x="193" y="813"/>
                </a:cubicBezTo>
                <a:cubicBezTo>
                  <a:pt x="125" y="754"/>
                  <a:pt x="84" y="703"/>
                  <a:pt x="36" y="630"/>
                </a:cubicBezTo>
                <a:cubicBezTo>
                  <a:pt x="17" y="601"/>
                  <a:pt x="11" y="516"/>
                  <a:pt x="9" y="499"/>
                </a:cubicBezTo>
                <a:close/>
              </a:path>
            </a:pathLst>
          </a:custGeom>
          <a:noFill/>
          <a:ln w="38100" cap="flat" cmpd="sng">
            <a:solidFill>
              <a:srgbClr val="FFFF99"/>
            </a:solidFill>
            <a:prstDash val="lgDash"/>
            <a:round/>
            <a:headEnd type="none" w="med" len="med"/>
            <a:tailEnd type="none" w="med" len="med"/>
          </a:ln>
        </p:spPr>
        <p:txBody>
          <a:bodyPr/>
          <a:lstStyle/>
          <a:p>
            <a:endParaRPr lang="zh-CN" altLang="en-US"/>
          </a:p>
        </p:txBody>
      </p:sp>
      <p:sp>
        <p:nvSpPr>
          <p:cNvPr id="505866" name="AutoShape 1036"/>
          <p:cNvSpPr/>
          <p:nvPr/>
        </p:nvSpPr>
        <p:spPr>
          <a:xfrm>
            <a:off x="1981200" y="457200"/>
            <a:ext cx="1371600" cy="838200"/>
          </a:xfrm>
          <a:prstGeom prst="wedgeRoundRectCallout">
            <a:avLst>
              <a:gd name="adj1" fmla="val 134375"/>
              <a:gd name="adj2" fmla="val 71782"/>
              <a:gd name="adj3" fmla="val 16667"/>
            </a:avLst>
          </a:prstGeom>
          <a:noFill/>
          <a:ln w="38100" cap="flat" cmpd="sng">
            <a:solidFill>
              <a:srgbClr val="FF0000"/>
            </a:solidFill>
            <a:prstDash val="solid"/>
            <a:miter/>
            <a:headEnd type="none" w="med" len="med"/>
            <a:tailEnd type="none" w="med" len="med"/>
          </a:ln>
        </p:spPr>
        <p:txBody>
          <a:bodyPr anchor="t" anchorCtr="0"/>
          <a:lstStyle/>
          <a:p>
            <a:pPr algn="ctr" eaLnBrk="0" hangingPunct="0">
              <a:lnSpc>
                <a:spcPct val="80000"/>
              </a:lnSpc>
            </a:pPr>
            <a:r>
              <a:rPr lang="zh-CN" altLang="en-US" dirty="0">
                <a:solidFill>
                  <a:srgbClr val="FF3300"/>
                </a:solidFill>
                <a:latin typeface="华文新魏" panose="02010800040101010101" pitchFamily="2" charset="-122"/>
                <a:ea typeface="华文新魏" panose="02010800040101010101" pitchFamily="2" charset="-122"/>
              </a:rPr>
              <a:t>初    生</a:t>
            </a:r>
          </a:p>
          <a:p>
            <a:pPr algn="ctr" eaLnBrk="0" hangingPunct="0"/>
            <a:r>
              <a:rPr lang="zh-CN" altLang="en-US" dirty="0">
                <a:solidFill>
                  <a:srgbClr val="FF3300"/>
                </a:solidFill>
                <a:latin typeface="华文新魏" panose="02010800040101010101" pitchFamily="2" charset="-122"/>
                <a:ea typeface="华文新魏" panose="02010800040101010101" pitchFamily="2" charset="-122"/>
              </a:rPr>
              <a:t>木质部</a:t>
            </a:r>
          </a:p>
        </p:txBody>
      </p:sp>
      <p:sp>
        <p:nvSpPr>
          <p:cNvPr id="505867" name="Freeform 1037"/>
          <p:cNvSpPr/>
          <p:nvPr/>
        </p:nvSpPr>
        <p:spPr>
          <a:xfrm>
            <a:off x="5389563" y="598488"/>
            <a:ext cx="1697037" cy="16875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26" h="1063">
                <a:moveTo>
                  <a:pt x="738" y="186"/>
                </a:moveTo>
                <a:cubicBezTo>
                  <a:pt x="792" y="267"/>
                  <a:pt x="732" y="188"/>
                  <a:pt x="804" y="251"/>
                </a:cubicBezTo>
                <a:cubicBezTo>
                  <a:pt x="898" y="333"/>
                  <a:pt x="831" y="304"/>
                  <a:pt x="908" y="330"/>
                </a:cubicBezTo>
                <a:cubicBezTo>
                  <a:pt x="968" y="418"/>
                  <a:pt x="939" y="385"/>
                  <a:pt x="987" y="435"/>
                </a:cubicBezTo>
                <a:cubicBezTo>
                  <a:pt x="1019" y="530"/>
                  <a:pt x="1006" y="486"/>
                  <a:pt x="1026" y="566"/>
                </a:cubicBezTo>
                <a:cubicBezTo>
                  <a:pt x="1022" y="592"/>
                  <a:pt x="1025" y="620"/>
                  <a:pt x="1013" y="644"/>
                </a:cubicBezTo>
                <a:cubicBezTo>
                  <a:pt x="1006" y="658"/>
                  <a:pt x="985" y="659"/>
                  <a:pt x="974" y="670"/>
                </a:cubicBezTo>
                <a:cubicBezTo>
                  <a:pt x="963" y="681"/>
                  <a:pt x="958" y="698"/>
                  <a:pt x="948" y="710"/>
                </a:cubicBezTo>
                <a:cubicBezTo>
                  <a:pt x="928" y="733"/>
                  <a:pt x="882" y="775"/>
                  <a:pt x="882" y="775"/>
                </a:cubicBezTo>
                <a:cubicBezTo>
                  <a:pt x="856" y="852"/>
                  <a:pt x="811" y="888"/>
                  <a:pt x="738" y="906"/>
                </a:cubicBezTo>
                <a:cubicBezTo>
                  <a:pt x="687" y="982"/>
                  <a:pt x="742" y="917"/>
                  <a:pt x="673" y="958"/>
                </a:cubicBezTo>
                <a:cubicBezTo>
                  <a:pt x="662" y="964"/>
                  <a:pt x="657" y="978"/>
                  <a:pt x="646" y="984"/>
                </a:cubicBezTo>
                <a:cubicBezTo>
                  <a:pt x="621" y="996"/>
                  <a:pt x="594" y="1002"/>
                  <a:pt x="568" y="1011"/>
                </a:cubicBezTo>
                <a:cubicBezTo>
                  <a:pt x="553" y="1016"/>
                  <a:pt x="543" y="1031"/>
                  <a:pt x="529" y="1037"/>
                </a:cubicBezTo>
                <a:cubicBezTo>
                  <a:pt x="504" y="1048"/>
                  <a:pt x="450" y="1063"/>
                  <a:pt x="450" y="1063"/>
                </a:cubicBezTo>
                <a:cubicBezTo>
                  <a:pt x="349" y="1054"/>
                  <a:pt x="330" y="1060"/>
                  <a:pt x="254" y="1037"/>
                </a:cubicBezTo>
                <a:cubicBezTo>
                  <a:pt x="227" y="1029"/>
                  <a:pt x="175" y="1011"/>
                  <a:pt x="175" y="1011"/>
                </a:cubicBezTo>
                <a:cubicBezTo>
                  <a:pt x="166" y="1002"/>
                  <a:pt x="159" y="992"/>
                  <a:pt x="149" y="984"/>
                </a:cubicBezTo>
                <a:cubicBezTo>
                  <a:pt x="124" y="965"/>
                  <a:pt x="70" y="932"/>
                  <a:pt x="70" y="932"/>
                </a:cubicBezTo>
                <a:cubicBezTo>
                  <a:pt x="90" y="876"/>
                  <a:pt x="75" y="868"/>
                  <a:pt x="57" y="814"/>
                </a:cubicBezTo>
                <a:cubicBezTo>
                  <a:pt x="60" y="702"/>
                  <a:pt x="0" y="142"/>
                  <a:pt x="228" y="29"/>
                </a:cubicBezTo>
                <a:cubicBezTo>
                  <a:pt x="240" y="23"/>
                  <a:pt x="338" y="4"/>
                  <a:pt x="345" y="3"/>
                </a:cubicBezTo>
                <a:cubicBezTo>
                  <a:pt x="437" y="7"/>
                  <a:pt x="530" y="0"/>
                  <a:pt x="620" y="16"/>
                </a:cubicBezTo>
                <a:cubicBezTo>
                  <a:pt x="635" y="19"/>
                  <a:pt x="636" y="43"/>
                  <a:pt x="646" y="55"/>
                </a:cubicBezTo>
                <a:cubicBezTo>
                  <a:pt x="654" y="65"/>
                  <a:pt x="665" y="71"/>
                  <a:pt x="673" y="81"/>
                </a:cubicBezTo>
                <a:cubicBezTo>
                  <a:pt x="692" y="106"/>
                  <a:pt x="708" y="134"/>
                  <a:pt x="725" y="160"/>
                </a:cubicBezTo>
                <a:cubicBezTo>
                  <a:pt x="754" y="203"/>
                  <a:pt x="762" y="210"/>
                  <a:pt x="738" y="186"/>
                </a:cubicBezTo>
                <a:close/>
              </a:path>
            </a:pathLst>
          </a:custGeom>
          <a:noFill/>
          <a:ln w="38100" cap="flat" cmpd="sng">
            <a:solidFill>
              <a:srgbClr val="99FF99"/>
            </a:solidFill>
            <a:prstDash val="lgDash"/>
            <a:round/>
            <a:headEnd type="none" w="med" len="med"/>
            <a:tailEnd type="none" w="med" len="med"/>
          </a:ln>
        </p:spPr>
        <p:txBody>
          <a:bodyPr/>
          <a:lstStyle/>
          <a:p>
            <a:endParaRPr lang="zh-CN" altLang="en-US"/>
          </a:p>
        </p:txBody>
      </p:sp>
      <p:sp>
        <p:nvSpPr>
          <p:cNvPr id="505868" name="Freeform 1038"/>
          <p:cNvSpPr/>
          <p:nvPr/>
        </p:nvSpPr>
        <p:spPr>
          <a:xfrm rot="745046">
            <a:off x="5273675" y="4268788"/>
            <a:ext cx="288925" cy="1903412"/>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60" h="864">
                <a:moveTo>
                  <a:pt x="112" y="0"/>
                </a:moveTo>
                <a:cubicBezTo>
                  <a:pt x="72" y="64"/>
                  <a:pt x="32" y="128"/>
                  <a:pt x="16" y="192"/>
                </a:cubicBezTo>
                <a:cubicBezTo>
                  <a:pt x="0" y="256"/>
                  <a:pt x="16" y="328"/>
                  <a:pt x="16" y="384"/>
                </a:cubicBezTo>
                <a:cubicBezTo>
                  <a:pt x="16" y="440"/>
                  <a:pt x="8" y="480"/>
                  <a:pt x="16" y="528"/>
                </a:cubicBezTo>
                <a:cubicBezTo>
                  <a:pt x="24" y="576"/>
                  <a:pt x="56" y="632"/>
                  <a:pt x="64" y="672"/>
                </a:cubicBezTo>
                <a:cubicBezTo>
                  <a:pt x="72" y="712"/>
                  <a:pt x="48" y="736"/>
                  <a:pt x="64" y="768"/>
                </a:cubicBezTo>
                <a:cubicBezTo>
                  <a:pt x="80" y="800"/>
                  <a:pt x="120" y="832"/>
                  <a:pt x="160" y="864"/>
                </a:cubicBezTo>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5869" name="AutoShape 1039"/>
          <p:cNvSpPr/>
          <p:nvPr/>
        </p:nvSpPr>
        <p:spPr>
          <a:xfrm>
            <a:off x="6934200" y="438150"/>
            <a:ext cx="1371600" cy="685800"/>
          </a:xfrm>
          <a:prstGeom prst="wedgeRoundRectCallout">
            <a:avLst>
              <a:gd name="adj1" fmla="val -107407"/>
              <a:gd name="adj2" fmla="val 101389"/>
              <a:gd name="adj3" fmla="val 16667"/>
            </a:avLst>
          </a:prstGeom>
          <a:noFill/>
          <a:ln w="38100" cap="flat" cmpd="sng">
            <a:solidFill>
              <a:srgbClr val="FFFF99"/>
            </a:solidFill>
            <a:prstDash val="solid"/>
            <a:miter/>
            <a:headEnd type="none" w="med" len="med"/>
            <a:tailEnd type="none" w="med" len="med"/>
          </a:ln>
        </p:spPr>
        <p:txBody>
          <a:bodyPr anchor="t" anchorCtr="0"/>
          <a:lstStyle/>
          <a:p>
            <a:pPr algn="ctr" eaLnBrk="0" hangingPunct="0">
              <a:lnSpc>
                <a:spcPct val="70000"/>
              </a:lnSpc>
            </a:pPr>
            <a:r>
              <a:rPr lang="zh-CN" altLang="en-US" dirty="0">
                <a:solidFill>
                  <a:srgbClr val="0000FF"/>
                </a:solidFill>
                <a:latin typeface="华文新魏" panose="02010800040101010101" pitchFamily="2" charset="-122"/>
                <a:ea typeface="华文新魏" panose="02010800040101010101" pitchFamily="2" charset="-122"/>
              </a:rPr>
              <a:t>初    生</a:t>
            </a:r>
          </a:p>
          <a:p>
            <a:pPr algn="ctr" eaLnBrk="0" hangingPunct="0">
              <a:lnSpc>
                <a:spcPct val="80000"/>
              </a:lnSpc>
            </a:pPr>
            <a:r>
              <a:rPr lang="zh-CN" altLang="en-US" dirty="0">
                <a:solidFill>
                  <a:srgbClr val="0000FF"/>
                </a:solidFill>
                <a:latin typeface="华文新魏" panose="02010800040101010101" pitchFamily="2" charset="-122"/>
                <a:ea typeface="华文新魏" panose="02010800040101010101" pitchFamily="2" charset="-122"/>
              </a:rPr>
              <a:t>韧皮部</a:t>
            </a:r>
          </a:p>
        </p:txBody>
      </p:sp>
      <p:sp>
        <p:nvSpPr>
          <p:cNvPr id="505870" name="AutoShape 1040"/>
          <p:cNvSpPr/>
          <p:nvPr/>
        </p:nvSpPr>
        <p:spPr>
          <a:xfrm>
            <a:off x="8382000" y="457200"/>
            <a:ext cx="609600" cy="1524000"/>
          </a:xfrm>
          <a:prstGeom prst="wedgeRoundRectCallout">
            <a:avLst>
              <a:gd name="adj1" fmla="val -2083"/>
              <a:gd name="adj2" fmla="val 79273"/>
              <a:gd name="adj3" fmla="val 16667"/>
            </a:avLst>
          </a:prstGeom>
          <a:noFill/>
          <a:ln w="38100" cap="flat" cmpd="sng">
            <a:solidFill>
              <a:srgbClr val="FFFF00"/>
            </a:solidFill>
            <a:prstDash val="solid"/>
            <a:miter/>
            <a:headEnd type="none" w="med" len="med"/>
            <a:tailEnd type="none" w="med" len="med"/>
          </a:ln>
        </p:spPr>
        <p:txBody>
          <a:bodyPr anchor="t" anchorCtr="0"/>
          <a:lstStyle/>
          <a:p>
            <a:pPr algn="ctr" eaLnBrk="0" hangingPunct="0">
              <a:lnSpc>
                <a:spcPct val="90000"/>
              </a:lnSpc>
            </a:pPr>
            <a:r>
              <a:rPr lang="zh-CN" altLang="en-US" dirty="0">
                <a:solidFill>
                  <a:srgbClr val="FFFF00"/>
                </a:solidFill>
                <a:latin typeface="华文新魏" panose="02010800040101010101" pitchFamily="2" charset="-122"/>
                <a:ea typeface="华文新魏" panose="02010800040101010101" pitchFamily="2" charset="-122"/>
              </a:rPr>
              <a:t>厚角组织</a:t>
            </a:r>
          </a:p>
        </p:txBody>
      </p:sp>
      <p:sp>
        <p:nvSpPr>
          <p:cNvPr id="505871" name="AutoShape 1041"/>
          <p:cNvSpPr/>
          <p:nvPr/>
        </p:nvSpPr>
        <p:spPr>
          <a:xfrm>
            <a:off x="5943600" y="5943600"/>
            <a:ext cx="1676400" cy="381000"/>
          </a:xfrm>
          <a:prstGeom prst="wedgeRoundRectCallout">
            <a:avLst>
              <a:gd name="adj1" fmla="val -86458"/>
              <a:gd name="adj2" fmla="val -136250"/>
              <a:gd name="adj3" fmla="val 16667"/>
            </a:avLst>
          </a:prstGeom>
          <a:noFill/>
          <a:ln w="38100" cap="flat" cmpd="sng">
            <a:solidFill>
              <a:srgbClr val="FF0000"/>
            </a:solidFill>
            <a:prstDash val="solid"/>
            <a:miter/>
            <a:headEnd type="none" w="med" len="med"/>
            <a:tailEnd type="none" w="med" len="med"/>
          </a:ln>
        </p:spPr>
        <p:txBody>
          <a:bodyPr anchor="t" anchorCtr="0"/>
          <a:lstStyle/>
          <a:p>
            <a:pPr algn="ctr" eaLnBrk="0" hangingPunct="0">
              <a:lnSpc>
                <a:spcPct val="90000"/>
              </a:lnSpc>
            </a:pPr>
            <a:r>
              <a:rPr lang="zh-CN" altLang="en-US" sz="2100" dirty="0">
                <a:solidFill>
                  <a:srgbClr val="FF3300"/>
                </a:solidFill>
                <a:latin typeface="华文新魏" panose="02010800040101010101" pitchFamily="2" charset="-122"/>
                <a:ea typeface="华文新魏" panose="02010800040101010101" pitchFamily="2" charset="-122"/>
              </a:rPr>
              <a:t>束中形成层</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1"/>
          <p:cNvSpPr txBox="1">
            <a:spLocks noGrp="1"/>
          </p:cNvSpPr>
          <p:nvPr>
            <p:ph type="dt" sz="half" idx="2"/>
          </p:nvPr>
        </p:nvSpPr>
        <p:spPr bwMode="auto"/>
        <p:txBody>
          <a:bodyPr wrap="square" lIns="91440" tIns="45720" rIns="91440" bIns="45720" numCol="1" anchor="b" anchorCtr="0" compatLnSpc="1"/>
          <a:lstStyle/>
          <a:p>
            <a:pPr marL="0" marR="0" lvl="0" indent="0" algn="l" defTabSz="914400" rtl="0" eaLnBrk="1" fontAlgn="base" latinLnBrk="0" hangingPunct="1">
              <a:lnSpc>
                <a:spcPct val="10000"/>
              </a:lnSpc>
              <a:spcBef>
                <a:spcPct val="0"/>
              </a:spcBef>
              <a:spcAft>
                <a:spcPct val="0"/>
              </a:spcAft>
              <a:buClrTx/>
              <a:buSzTx/>
              <a:buFontTx/>
              <a:buNone/>
              <a:defRPr/>
            </a:pPr>
            <a:fld id="{C3F706AA-6534-41D0-ABFB-0FA89A679936}"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506882" name="灯片编号占位符 3"/>
          <p:cNvSpPr>
            <a:spLocks noGrp="1"/>
          </p:cNvSpPr>
          <p:nvPr>
            <p:ph type="sldNum" sz="quarter" idx="4"/>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5pPr>
          </a:lstStyle>
          <a:p>
            <a:pPr lvl="0" algn="r">
              <a:lnSpc>
                <a:spcPct val="10000"/>
              </a:lnSpc>
            </a:pPr>
            <a:fld id="{9A0DB2DC-4C9A-4742-B13C-FB6460FD3503}" type="slidenum">
              <a:rPr lang="en-US" altLang="zh-CN" sz="2000" dirty="0">
                <a:solidFill>
                  <a:srgbClr val="FF0000"/>
                </a:solidFill>
                <a:latin typeface="华文新魏" panose="02010800040101010101" pitchFamily="2" charset="-122"/>
              </a:rPr>
              <a:t>117</a:t>
            </a:fld>
            <a:r>
              <a:rPr lang="en-US" altLang="zh-CN" sz="2000" dirty="0">
                <a:solidFill>
                  <a:srgbClr val="FF0000"/>
                </a:solidFill>
                <a:latin typeface="华文新魏" panose="02010800040101010101" pitchFamily="2" charset="-122"/>
              </a:rPr>
              <a:t>/77</a:t>
            </a:r>
          </a:p>
        </p:txBody>
      </p:sp>
      <p:pic>
        <p:nvPicPr>
          <p:cNvPr id="506883" name="Picture 2" descr="D:\lzc\植物学教学材料\植物学教学资料收集\挂图\茎\南瓜茎一维管束.jpg"/>
          <p:cNvPicPr>
            <a:picLocks noChangeAspect="1"/>
          </p:cNvPicPr>
          <p:nvPr/>
        </p:nvPicPr>
        <p:blipFill>
          <a:blip r:embed="rId2"/>
          <a:stretch>
            <a:fillRect/>
          </a:stretch>
        </p:blipFill>
        <p:spPr>
          <a:xfrm>
            <a:off x="0" y="0"/>
            <a:ext cx="9144000" cy="6886575"/>
          </a:xfrm>
          <a:prstGeom prst="rect">
            <a:avLst/>
          </a:prstGeom>
          <a:noFill/>
          <a:ln w="9525">
            <a:noFill/>
          </a:ln>
        </p:spPr>
      </p:pic>
      <p:sp>
        <p:nvSpPr>
          <p:cNvPr id="506884" name="Freeform 3">
            <a:hlinkHover r:id="" action="ppaction://noaction">
              <a:snd r:embed="rId3" name="camera.wav"/>
            </a:hlinkHover>
          </p:cNvPr>
          <p:cNvSpPr/>
          <p:nvPr/>
        </p:nvSpPr>
        <p:spPr>
          <a:xfrm>
            <a:off x="1944688" y="3200400"/>
            <a:ext cx="950912" cy="8270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28" h="542">
                <a:moveTo>
                  <a:pt x="221" y="3"/>
                </a:moveTo>
                <a:cubicBezTo>
                  <a:pt x="250" y="7"/>
                  <a:pt x="283" y="0"/>
                  <a:pt x="307" y="15"/>
                </a:cubicBezTo>
                <a:cubicBezTo>
                  <a:pt x="332" y="31"/>
                  <a:pt x="335" y="67"/>
                  <a:pt x="356" y="88"/>
                </a:cubicBezTo>
                <a:cubicBezTo>
                  <a:pt x="403" y="135"/>
                  <a:pt x="453" y="167"/>
                  <a:pt x="491" y="223"/>
                </a:cubicBezTo>
                <a:cubicBezTo>
                  <a:pt x="506" y="268"/>
                  <a:pt x="512" y="313"/>
                  <a:pt x="528" y="358"/>
                </a:cubicBezTo>
                <a:cubicBezTo>
                  <a:pt x="524" y="378"/>
                  <a:pt x="526" y="401"/>
                  <a:pt x="515" y="419"/>
                </a:cubicBezTo>
                <a:cubicBezTo>
                  <a:pt x="464" y="499"/>
                  <a:pt x="394" y="525"/>
                  <a:pt x="307" y="542"/>
                </a:cubicBezTo>
                <a:cubicBezTo>
                  <a:pt x="220" y="533"/>
                  <a:pt x="189" y="536"/>
                  <a:pt x="123" y="493"/>
                </a:cubicBezTo>
                <a:cubicBezTo>
                  <a:pt x="115" y="481"/>
                  <a:pt x="108" y="467"/>
                  <a:pt x="99" y="456"/>
                </a:cubicBezTo>
                <a:cubicBezTo>
                  <a:pt x="88" y="443"/>
                  <a:pt x="72" y="433"/>
                  <a:pt x="62" y="419"/>
                </a:cubicBezTo>
                <a:cubicBezTo>
                  <a:pt x="55" y="408"/>
                  <a:pt x="56" y="394"/>
                  <a:pt x="50" y="383"/>
                </a:cubicBezTo>
                <a:cubicBezTo>
                  <a:pt x="43" y="370"/>
                  <a:pt x="33" y="358"/>
                  <a:pt x="25" y="346"/>
                </a:cubicBezTo>
                <a:cubicBezTo>
                  <a:pt x="21" y="297"/>
                  <a:pt x="0" y="169"/>
                  <a:pt x="25" y="113"/>
                </a:cubicBezTo>
                <a:cubicBezTo>
                  <a:pt x="30" y="101"/>
                  <a:pt x="50" y="105"/>
                  <a:pt x="62" y="101"/>
                </a:cubicBezTo>
                <a:cubicBezTo>
                  <a:pt x="106" y="57"/>
                  <a:pt x="164" y="31"/>
                  <a:pt x="221" y="3"/>
                </a:cubicBezTo>
                <a:close/>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6885" name="Text Box 4"/>
          <p:cNvSpPr txBox="1"/>
          <p:nvPr/>
        </p:nvSpPr>
        <p:spPr>
          <a:xfrm>
            <a:off x="0" y="0"/>
            <a:ext cx="2286000" cy="822325"/>
          </a:xfrm>
          <a:prstGeom prst="rect">
            <a:avLst/>
          </a:prstGeom>
          <a:noFill/>
          <a:ln w="9525">
            <a:noFill/>
          </a:ln>
        </p:spPr>
        <p:txBody>
          <a:bodyPr anchor="t" anchorCtr="0">
            <a:spAutoFit/>
          </a:bodyPr>
          <a:lstStyle/>
          <a:p>
            <a:pPr algn="ctr" eaLnBrk="0" hangingPunct="0">
              <a:spcBef>
                <a:spcPct val="50000"/>
              </a:spcBef>
            </a:pPr>
            <a:r>
              <a:rPr lang="zh-CN" altLang="en-US" dirty="0">
                <a:solidFill>
                  <a:srgbClr val="FFFF00"/>
                </a:solidFill>
                <a:latin typeface="华文新魏" panose="02010800040101010101" pitchFamily="2" charset="-122"/>
                <a:ea typeface="华文新魏" panose="02010800040101010101" pitchFamily="2" charset="-122"/>
              </a:rPr>
              <a:t>南  瓜  茎</a:t>
            </a:r>
          </a:p>
          <a:p>
            <a:pPr algn="ctr" eaLnBrk="0" hangingPunct="0">
              <a:lnSpc>
                <a:spcPct val="50000"/>
              </a:lnSpc>
              <a:spcBef>
                <a:spcPct val="50000"/>
              </a:spcBef>
            </a:pPr>
            <a:r>
              <a:rPr lang="zh-CN" altLang="en-US" dirty="0">
                <a:solidFill>
                  <a:srgbClr val="FFFF00"/>
                </a:solidFill>
                <a:latin typeface="华文新魏" panose="02010800040101010101" pitchFamily="2" charset="-122"/>
                <a:ea typeface="华文新魏" panose="02010800040101010101" pitchFamily="2" charset="-122"/>
              </a:rPr>
              <a:t>双韧维管束</a:t>
            </a:r>
          </a:p>
        </p:txBody>
      </p:sp>
      <p:sp>
        <p:nvSpPr>
          <p:cNvPr id="506886" name="Freeform 5"/>
          <p:cNvSpPr/>
          <p:nvPr/>
        </p:nvSpPr>
        <p:spPr>
          <a:xfrm>
            <a:off x="285750" y="1143000"/>
            <a:ext cx="8599488" cy="52578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5417" h="3114">
                <a:moveTo>
                  <a:pt x="4318" y="0"/>
                </a:moveTo>
                <a:cubicBezTo>
                  <a:pt x="4334" y="50"/>
                  <a:pt x="4320" y="38"/>
                  <a:pt x="4379" y="61"/>
                </a:cubicBezTo>
                <a:cubicBezTo>
                  <a:pt x="4403" y="71"/>
                  <a:pt x="4453" y="86"/>
                  <a:pt x="4453" y="86"/>
                </a:cubicBezTo>
                <a:cubicBezTo>
                  <a:pt x="4518" y="129"/>
                  <a:pt x="4546" y="208"/>
                  <a:pt x="4624" y="233"/>
                </a:cubicBezTo>
                <a:cubicBezTo>
                  <a:pt x="4682" y="291"/>
                  <a:pt x="4739" y="286"/>
                  <a:pt x="4820" y="306"/>
                </a:cubicBezTo>
                <a:cubicBezTo>
                  <a:pt x="4955" y="397"/>
                  <a:pt x="4749" y="254"/>
                  <a:pt x="4894" y="368"/>
                </a:cubicBezTo>
                <a:cubicBezTo>
                  <a:pt x="4973" y="429"/>
                  <a:pt x="5043" y="480"/>
                  <a:pt x="5114" y="552"/>
                </a:cubicBezTo>
                <a:cubicBezTo>
                  <a:pt x="5149" y="587"/>
                  <a:pt x="5184" y="627"/>
                  <a:pt x="5200" y="674"/>
                </a:cubicBezTo>
                <a:cubicBezTo>
                  <a:pt x="5208" y="699"/>
                  <a:pt x="5225" y="748"/>
                  <a:pt x="5225" y="748"/>
                </a:cubicBezTo>
                <a:cubicBezTo>
                  <a:pt x="5243" y="859"/>
                  <a:pt x="5266" y="968"/>
                  <a:pt x="5286" y="1079"/>
                </a:cubicBezTo>
                <a:cubicBezTo>
                  <a:pt x="5300" y="1158"/>
                  <a:pt x="5315" y="1232"/>
                  <a:pt x="5359" y="1299"/>
                </a:cubicBezTo>
                <a:cubicBezTo>
                  <a:pt x="5366" y="1492"/>
                  <a:pt x="5322" y="1595"/>
                  <a:pt x="5408" y="1728"/>
                </a:cubicBezTo>
                <a:cubicBezTo>
                  <a:pt x="5401" y="1860"/>
                  <a:pt x="5417" y="1956"/>
                  <a:pt x="5347" y="2059"/>
                </a:cubicBezTo>
                <a:cubicBezTo>
                  <a:pt x="5299" y="2208"/>
                  <a:pt x="5290" y="2345"/>
                  <a:pt x="5151" y="2439"/>
                </a:cubicBezTo>
                <a:cubicBezTo>
                  <a:pt x="5123" y="2482"/>
                  <a:pt x="5095" y="2508"/>
                  <a:pt x="5053" y="2537"/>
                </a:cubicBezTo>
                <a:cubicBezTo>
                  <a:pt x="5020" y="2587"/>
                  <a:pt x="4992" y="2651"/>
                  <a:pt x="4943" y="2684"/>
                </a:cubicBezTo>
                <a:cubicBezTo>
                  <a:pt x="4905" y="2740"/>
                  <a:pt x="4858" y="2777"/>
                  <a:pt x="4808" y="2819"/>
                </a:cubicBezTo>
                <a:cubicBezTo>
                  <a:pt x="4795" y="2830"/>
                  <a:pt x="4786" y="2848"/>
                  <a:pt x="4771" y="2856"/>
                </a:cubicBezTo>
                <a:cubicBezTo>
                  <a:pt x="4749" y="2868"/>
                  <a:pt x="4698" y="2880"/>
                  <a:pt x="4698" y="2880"/>
                </a:cubicBezTo>
                <a:cubicBezTo>
                  <a:pt x="4658" y="2907"/>
                  <a:pt x="4621" y="2914"/>
                  <a:pt x="4575" y="2929"/>
                </a:cubicBezTo>
                <a:cubicBezTo>
                  <a:pt x="4514" y="2970"/>
                  <a:pt x="4476" y="2963"/>
                  <a:pt x="4403" y="2990"/>
                </a:cubicBezTo>
                <a:cubicBezTo>
                  <a:pt x="4359" y="3006"/>
                  <a:pt x="4323" y="3034"/>
                  <a:pt x="4281" y="3052"/>
                </a:cubicBezTo>
                <a:cubicBezTo>
                  <a:pt x="4246" y="3068"/>
                  <a:pt x="4208" y="3078"/>
                  <a:pt x="4171" y="3088"/>
                </a:cubicBezTo>
                <a:cubicBezTo>
                  <a:pt x="4138" y="3096"/>
                  <a:pt x="4073" y="3113"/>
                  <a:pt x="4073" y="3113"/>
                </a:cubicBezTo>
                <a:cubicBezTo>
                  <a:pt x="3520" y="3107"/>
                  <a:pt x="3086" y="3114"/>
                  <a:pt x="2577" y="3052"/>
                </a:cubicBezTo>
                <a:cubicBezTo>
                  <a:pt x="2498" y="3031"/>
                  <a:pt x="2427" y="3023"/>
                  <a:pt x="2345" y="3015"/>
                </a:cubicBezTo>
                <a:cubicBezTo>
                  <a:pt x="2282" y="2995"/>
                  <a:pt x="2229" y="2986"/>
                  <a:pt x="2161" y="2978"/>
                </a:cubicBezTo>
                <a:cubicBezTo>
                  <a:pt x="2068" y="2948"/>
                  <a:pt x="2182" y="2989"/>
                  <a:pt x="2087" y="2941"/>
                </a:cubicBezTo>
                <a:cubicBezTo>
                  <a:pt x="2019" y="2907"/>
                  <a:pt x="1929" y="2898"/>
                  <a:pt x="1854" y="2880"/>
                </a:cubicBezTo>
                <a:cubicBezTo>
                  <a:pt x="1699" y="2842"/>
                  <a:pt x="1535" y="2861"/>
                  <a:pt x="1376" y="2856"/>
                </a:cubicBezTo>
                <a:cubicBezTo>
                  <a:pt x="1298" y="2842"/>
                  <a:pt x="1223" y="2829"/>
                  <a:pt x="1144" y="2819"/>
                </a:cubicBezTo>
                <a:cubicBezTo>
                  <a:pt x="1132" y="2811"/>
                  <a:pt x="1120" y="2801"/>
                  <a:pt x="1107" y="2794"/>
                </a:cubicBezTo>
                <a:cubicBezTo>
                  <a:pt x="1095" y="2788"/>
                  <a:pt x="1081" y="2788"/>
                  <a:pt x="1070" y="2782"/>
                </a:cubicBezTo>
                <a:cubicBezTo>
                  <a:pt x="1052" y="2772"/>
                  <a:pt x="1038" y="2756"/>
                  <a:pt x="1021" y="2745"/>
                </a:cubicBezTo>
                <a:cubicBezTo>
                  <a:pt x="1006" y="2735"/>
                  <a:pt x="988" y="2729"/>
                  <a:pt x="972" y="2721"/>
                </a:cubicBezTo>
                <a:cubicBezTo>
                  <a:pt x="938" y="2671"/>
                  <a:pt x="884" y="2649"/>
                  <a:pt x="825" y="2635"/>
                </a:cubicBezTo>
                <a:cubicBezTo>
                  <a:pt x="742" y="2552"/>
                  <a:pt x="832" y="2631"/>
                  <a:pt x="751" y="2586"/>
                </a:cubicBezTo>
                <a:cubicBezTo>
                  <a:pt x="625" y="2516"/>
                  <a:pt x="725" y="2552"/>
                  <a:pt x="641" y="2525"/>
                </a:cubicBezTo>
                <a:cubicBezTo>
                  <a:pt x="629" y="2517"/>
                  <a:pt x="618" y="2506"/>
                  <a:pt x="604" y="2500"/>
                </a:cubicBezTo>
                <a:cubicBezTo>
                  <a:pt x="581" y="2490"/>
                  <a:pt x="531" y="2476"/>
                  <a:pt x="531" y="2476"/>
                </a:cubicBezTo>
                <a:cubicBezTo>
                  <a:pt x="459" y="2421"/>
                  <a:pt x="390" y="2399"/>
                  <a:pt x="335" y="2316"/>
                </a:cubicBezTo>
                <a:cubicBezTo>
                  <a:pt x="298" y="2261"/>
                  <a:pt x="270" y="2215"/>
                  <a:pt x="224" y="2169"/>
                </a:cubicBezTo>
                <a:cubicBezTo>
                  <a:pt x="199" y="2100"/>
                  <a:pt x="178" y="2045"/>
                  <a:pt x="139" y="1985"/>
                </a:cubicBezTo>
                <a:cubicBezTo>
                  <a:pt x="123" y="1924"/>
                  <a:pt x="111" y="1862"/>
                  <a:pt x="90" y="1802"/>
                </a:cubicBezTo>
                <a:cubicBezTo>
                  <a:pt x="86" y="1790"/>
                  <a:pt x="81" y="1778"/>
                  <a:pt x="77" y="1765"/>
                </a:cubicBezTo>
                <a:cubicBezTo>
                  <a:pt x="72" y="1749"/>
                  <a:pt x="70" y="1732"/>
                  <a:pt x="65" y="1716"/>
                </a:cubicBezTo>
                <a:cubicBezTo>
                  <a:pt x="58" y="1691"/>
                  <a:pt x="41" y="1642"/>
                  <a:pt x="41" y="1642"/>
                </a:cubicBezTo>
                <a:cubicBezTo>
                  <a:pt x="46" y="1525"/>
                  <a:pt x="0" y="1390"/>
                  <a:pt x="102" y="1324"/>
                </a:cubicBezTo>
                <a:cubicBezTo>
                  <a:pt x="131" y="1236"/>
                  <a:pt x="111" y="1271"/>
                  <a:pt x="151" y="1213"/>
                </a:cubicBezTo>
                <a:cubicBezTo>
                  <a:pt x="180" y="1126"/>
                  <a:pt x="138" y="1233"/>
                  <a:pt x="200" y="1140"/>
                </a:cubicBezTo>
                <a:cubicBezTo>
                  <a:pt x="217" y="1114"/>
                  <a:pt x="221" y="1080"/>
                  <a:pt x="237" y="1054"/>
                </a:cubicBezTo>
                <a:cubicBezTo>
                  <a:pt x="275" y="993"/>
                  <a:pt x="328" y="935"/>
                  <a:pt x="359" y="870"/>
                </a:cubicBezTo>
                <a:cubicBezTo>
                  <a:pt x="417" y="752"/>
                  <a:pt x="281" y="965"/>
                  <a:pt x="421" y="760"/>
                </a:cubicBezTo>
                <a:cubicBezTo>
                  <a:pt x="435" y="740"/>
                  <a:pt x="549" y="727"/>
                  <a:pt x="568" y="723"/>
                </a:cubicBezTo>
                <a:cubicBezTo>
                  <a:pt x="670" y="703"/>
                  <a:pt x="771" y="679"/>
                  <a:pt x="874" y="662"/>
                </a:cubicBezTo>
                <a:cubicBezTo>
                  <a:pt x="945" y="626"/>
                  <a:pt x="1017" y="614"/>
                  <a:pt x="1095" y="601"/>
                </a:cubicBezTo>
                <a:cubicBezTo>
                  <a:pt x="1132" y="589"/>
                  <a:pt x="1171" y="582"/>
                  <a:pt x="1205" y="564"/>
                </a:cubicBezTo>
                <a:cubicBezTo>
                  <a:pt x="1253" y="539"/>
                  <a:pt x="1288" y="516"/>
                  <a:pt x="1340" y="503"/>
                </a:cubicBezTo>
                <a:cubicBezTo>
                  <a:pt x="1442" y="429"/>
                  <a:pt x="1468" y="426"/>
                  <a:pt x="1597" y="405"/>
                </a:cubicBezTo>
                <a:cubicBezTo>
                  <a:pt x="1622" y="397"/>
                  <a:pt x="1646" y="385"/>
                  <a:pt x="1671" y="380"/>
                </a:cubicBezTo>
                <a:cubicBezTo>
                  <a:pt x="1703" y="373"/>
                  <a:pt x="1738" y="378"/>
                  <a:pt x="1769" y="368"/>
                </a:cubicBezTo>
                <a:cubicBezTo>
                  <a:pt x="1788" y="362"/>
                  <a:pt x="1800" y="340"/>
                  <a:pt x="1818" y="331"/>
                </a:cubicBezTo>
                <a:cubicBezTo>
                  <a:pt x="1986" y="247"/>
                  <a:pt x="2193" y="311"/>
                  <a:pt x="2381" y="306"/>
                </a:cubicBezTo>
                <a:cubicBezTo>
                  <a:pt x="2550" y="285"/>
                  <a:pt x="2714" y="267"/>
                  <a:pt x="2884" y="257"/>
                </a:cubicBezTo>
                <a:cubicBezTo>
                  <a:pt x="3168" y="210"/>
                  <a:pt x="3455" y="178"/>
                  <a:pt x="3742" y="159"/>
                </a:cubicBezTo>
                <a:cubicBezTo>
                  <a:pt x="3827" y="102"/>
                  <a:pt x="3759" y="139"/>
                  <a:pt x="3950" y="123"/>
                </a:cubicBezTo>
                <a:cubicBezTo>
                  <a:pt x="4045" y="115"/>
                  <a:pt x="4137" y="98"/>
                  <a:pt x="4232" y="86"/>
                </a:cubicBezTo>
                <a:cubicBezTo>
                  <a:pt x="4260" y="77"/>
                  <a:pt x="4291" y="73"/>
                  <a:pt x="4318" y="61"/>
                </a:cubicBezTo>
                <a:cubicBezTo>
                  <a:pt x="4331" y="55"/>
                  <a:pt x="4354" y="51"/>
                  <a:pt x="4354" y="37"/>
                </a:cubicBezTo>
                <a:cubicBezTo>
                  <a:pt x="4354" y="20"/>
                  <a:pt x="4330" y="12"/>
                  <a:pt x="4318" y="0"/>
                </a:cubicBezTo>
                <a:close/>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6887" name="Freeform 6"/>
          <p:cNvSpPr/>
          <p:nvPr/>
        </p:nvSpPr>
        <p:spPr>
          <a:xfrm>
            <a:off x="5764213" y="1498600"/>
            <a:ext cx="1355725" cy="4824413"/>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854" h="3039">
                <a:moveTo>
                  <a:pt x="168" y="0"/>
                </a:moveTo>
                <a:cubicBezTo>
                  <a:pt x="0" y="163"/>
                  <a:pt x="125" y="525"/>
                  <a:pt x="131" y="686"/>
                </a:cubicBezTo>
                <a:cubicBezTo>
                  <a:pt x="133" y="743"/>
                  <a:pt x="157" y="802"/>
                  <a:pt x="205" y="833"/>
                </a:cubicBezTo>
                <a:cubicBezTo>
                  <a:pt x="231" y="913"/>
                  <a:pt x="197" y="826"/>
                  <a:pt x="254" y="907"/>
                </a:cubicBezTo>
                <a:cubicBezTo>
                  <a:pt x="310" y="986"/>
                  <a:pt x="242" y="933"/>
                  <a:pt x="315" y="980"/>
                </a:cubicBezTo>
                <a:cubicBezTo>
                  <a:pt x="334" y="1037"/>
                  <a:pt x="354" y="1085"/>
                  <a:pt x="376" y="1139"/>
                </a:cubicBezTo>
                <a:cubicBezTo>
                  <a:pt x="386" y="1163"/>
                  <a:pt x="393" y="1188"/>
                  <a:pt x="401" y="1213"/>
                </a:cubicBezTo>
                <a:cubicBezTo>
                  <a:pt x="405" y="1225"/>
                  <a:pt x="413" y="1250"/>
                  <a:pt x="413" y="1250"/>
                </a:cubicBezTo>
                <a:cubicBezTo>
                  <a:pt x="409" y="1348"/>
                  <a:pt x="412" y="1447"/>
                  <a:pt x="401" y="1544"/>
                </a:cubicBezTo>
                <a:cubicBezTo>
                  <a:pt x="399" y="1559"/>
                  <a:pt x="382" y="1567"/>
                  <a:pt x="376" y="1581"/>
                </a:cubicBezTo>
                <a:cubicBezTo>
                  <a:pt x="344" y="1653"/>
                  <a:pt x="328" y="1736"/>
                  <a:pt x="315" y="1813"/>
                </a:cubicBezTo>
                <a:cubicBezTo>
                  <a:pt x="319" y="1891"/>
                  <a:pt x="318" y="1969"/>
                  <a:pt x="327" y="2046"/>
                </a:cubicBezTo>
                <a:cubicBezTo>
                  <a:pt x="334" y="2108"/>
                  <a:pt x="356" y="2168"/>
                  <a:pt x="364" y="2230"/>
                </a:cubicBezTo>
                <a:cubicBezTo>
                  <a:pt x="373" y="2461"/>
                  <a:pt x="347" y="2539"/>
                  <a:pt x="462" y="2696"/>
                </a:cubicBezTo>
                <a:cubicBezTo>
                  <a:pt x="487" y="2768"/>
                  <a:pt x="457" y="2699"/>
                  <a:pt x="511" y="2769"/>
                </a:cubicBezTo>
                <a:cubicBezTo>
                  <a:pt x="562" y="2835"/>
                  <a:pt x="578" y="2866"/>
                  <a:pt x="646" y="2916"/>
                </a:cubicBezTo>
                <a:cubicBezTo>
                  <a:pt x="687" y="2977"/>
                  <a:pt x="659" y="2945"/>
                  <a:pt x="744" y="3002"/>
                </a:cubicBezTo>
                <a:cubicBezTo>
                  <a:pt x="772" y="3021"/>
                  <a:pt x="810" y="3016"/>
                  <a:pt x="842" y="3027"/>
                </a:cubicBezTo>
                <a:cubicBezTo>
                  <a:pt x="847" y="3029"/>
                  <a:pt x="850" y="3035"/>
                  <a:pt x="854" y="3039"/>
                </a:cubicBezTo>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6888" name="Freeform 7"/>
          <p:cNvSpPr/>
          <p:nvPr/>
        </p:nvSpPr>
        <p:spPr>
          <a:xfrm>
            <a:off x="1887538" y="2197100"/>
            <a:ext cx="546100" cy="3538538"/>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0" t="0" r="0" b="0"/>
            <a:pathLst>
              <a:path w="344" h="2229">
                <a:moveTo>
                  <a:pt x="86" y="25"/>
                </a:moveTo>
                <a:cubicBezTo>
                  <a:pt x="118" y="124"/>
                  <a:pt x="86" y="0"/>
                  <a:pt x="86" y="99"/>
                </a:cubicBezTo>
                <a:cubicBezTo>
                  <a:pt x="86" y="187"/>
                  <a:pt x="99" y="261"/>
                  <a:pt x="147" y="332"/>
                </a:cubicBezTo>
                <a:cubicBezTo>
                  <a:pt x="217" y="547"/>
                  <a:pt x="183" y="663"/>
                  <a:pt x="0" y="699"/>
                </a:cubicBezTo>
                <a:cubicBezTo>
                  <a:pt x="13" y="828"/>
                  <a:pt x="32" y="898"/>
                  <a:pt x="61" y="1018"/>
                </a:cubicBezTo>
                <a:cubicBezTo>
                  <a:pt x="64" y="1030"/>
                  <a:pt x="77" y="1090"/>
                  <a:pt x="86" y="1104"/>
                </a:cubicBezTo>
                <a:cubicBezTo>
                  <a:pt x="118" y="1154"/>
                  <a:pt x="151" y="1202"/>
                  <a:pt x="184" y="1251"/>
                </a:cubicBezTo>
                <a:cubicBezTo>
                  <a:pt x="207" y="1285"/>
                  <a:pt x="257" y="1349"/>
                  <a:pt x="257" y="1349"/>
                </a:cubicBezTo>
                <a:cubicBezTo>
                  <a:pt x="304" y="1540"/>
                  <a:pt x="344" y="1788"/>
                  <a:pt x="257" y="1962"/>
                </a:cubicBezTo>
                <a:cubicBezTo>
                  <a:pt x="214" y="2048"/>
                  <a:pt x="127" y="2129"/>
                  <a:pt x="61" y="2195"/>
                </a:cubicBezTo>
                <a:cubicBezTo>
                  <a:pt x="27" y="2229"/>
                  <a:pt x="31" y="2222"/>
                  <a:pt x="0" y="2207"/>
                </a:cubicBezTo>
              </a:path>
            </a:pathLst>
          </a:custGeom>
          <a:noFill/>
          <a:ln w="38100" cap="flat" cmpd="sng">
            <a:solidFill>
              <a:srgbClr val="FF0000"/>
            </a:solidFill>
            <a:prstDash val="lgDash"/>
            <a:round/>
            <a:headEnd type="none" w="med" len="med"/>
            <a:tailEnd type="none" w="med" len="med"/>
          </a:ln>
        </p:spPr>
        <p:txBody>
          <a:bodyPr/>
          <a:lstStyle/>
          <a:p>
            <a:endParaRPr lang="zh-CN" altLang="en-US"/>
          </a:p>
        </p:txBody>
      </p:sp>
      <p:sp>
        <p:nvSpPr>
          <p:cNvPr id="506889" name="Text Box 8"/>
          <p:cNvSpPr txBox="1"/>
          <p:nvPr/>
        </p:nvSpPr>
        <p:spPr>
          <a:xfrm>
            <a:off x="792163" y="3352800"/>
            <a:ext cx="671512" cy="990600"/>
          </a:xfrm>
          <a:prstGeom prst="rect">
            <a:avLst/>
          </a:prstGeom>
          <a:noFill/>
          <a:ln w="9525">
            <a:noFill/>
          </a:ln>
        </p:spPr>
        <p:txBody>
          <a:bodyPr vert="eaVert" anchor="t" anchorCtr="0">
            <a:spAutoFit/>
          </a:bodyPr>
          <a:lstStyle/>
          <a:p>
            <a:pPr algn="ctr" eaLnBrk="0" hangingPunct="0">
              <a:spcBef>
                <a:spcPct val="50000"/>
              </a:spcBef>
            </a:pPr>
            <a:r>
              <a:rPr lang="zh-CN" altLang="en-US" sz="3200" dirty="0">
                <a:solidFill>
                  <a:srgbClr val="FFFF00"/>
                </a:solidFill>
                <a:latin typeface="Times New Roman" panose="02020603050405020304" pitchFamily="18" charset="0"/>
                <a:ea typeface="华文新魏" panose="02010800040101010101" pitchFamily="2" charset="-122"/>
              </a:rPr>
              <a:t>内韧</a:t>
            </a:r>
          </a:p>
        </p:txBody>
      </p:sp>
      <p:sp>
        <p:nvSpPr>
          <p:cNvPr id="506890" name="Text Box 9"/>
          <p:cNvSpPr txBox="1"/>
          <p:nvPr/>
        </p:nvSpPr>
        <p:spPr>
          <a:xfrm>
            <a:off x="6964363" y="2971800"/>
            <a:ext cx="671512" cy="990600"/>
          </a:xfrm>
          <a:prstGeom prst="rect">
            <a:avLst/>
          </a:prstGeom>
          <a:noFill/>
          <a:ln w="9525">
            <a:noFill/>
          </a:ln>
        </p:spPr>
        <p:txBody>
          <a:bodyPr vert="eaVert" anchor="t" anchorCtr="0">
            <a:spAutoFit/>
          </a:bodyPr>
          <a:lstStyle/>
          <a:p>
            <a:pPr algn="ctr" eaLnBrk="0" hangingPunct="0">
              <a:spcBef>
                <a:spcPct val="50000"/>
              </a:spcBef>
            </a:pPr>
            <a:r>
              <a:rPr lang="zh-CN" altLang="en-US" sz="3200" dirty="0">
                <a:solidFill>
                  <a:srgbClr val="FFFF00"/>
                </a:solidFill>
                <a:latin typeface="Times New Roman" panose="02020603050405020304" pitchFamily="18" charset="0"/>
                <a:ea typeface="华文新魏" panose="02010800040101010101" pitchFamily="2" charset="-122"/>
              </a:rPr>
              <a:t>外韧</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905" name="Picture 3" descr="D:\lzc\植物学教学材料\植物学教学资料收集\挂图\茎\向日葵茎一维管束.jpg"/>
          <p:cNvPicPr>
            <a:picLocks noGrp="1" noChangeAspect="1"/>
          </p:cNvPicPr>
          <p:nvPr>
            <p:ph idx="1"/>
          </p:nvPr>
        </p:nvPicPr>
        <p:blipFill>
          <a:blip r:embed="rId2"/>
          <a:stretch>
            <a:fillRect/>
          </a:stretch>
        </p:blipFill>
        <p:spPr>
          <a:xfrm>
            <a:off x="0" y="1371600"/>
            <a:ext cx="6502400" cy="4876800"/>
          </a:xfrm>
        </p:spPr>
      </p:pic>
      <p:sp>
        <p:nvSpPr>
          <p:cNvPr id="507906" name="Line 4"/>
          <p:cNvSpPr/>
          <p:nvPr/>
        </p:nvSpPr>
        <p:spPr>
          <a:xfrm>
            <a:off x="4191000" y="2209800"/>
            <a:ext cx="2667000" cy="0"/>
          </a:xfrm>
          <a:prstGeom prst="line">
            <a:avLst/>
          </a:prstGeom>
          <a:ln w="38100" cap="flat" cmpd="sng">
            <a:solidFill>
              <a:srgbClr val="FF0000"/>
            </a:solidFill>
            <a:prstDash val="lgDash"/>
            <a:round/>
            <a:headEnd type="none" w="med" len="med"/>
            <a:tailEnd type="none" w="med" len="med"/>
          </a:ln>
        </p:spPr>
        <p:txBody>
          <a:bodyPr/>
          <a:lstStyle/>
          <a:p>
            <a:endParaRPr lang="zh-CN" altLang="en-US"/>
          </a:p>
        </p:txBody>
      </p:sp>
      <p:sp>
        <p:nvSpPr>
          <p:cNvPr id="507907" name="Line 5"/>
          <p:cNvSpPr/>
          <p:nvPr/>
        </p:nvSpPr>
        <p:spPr>
          <a:xfrm>
            <a:off x="2971800" y="3657600"/>
            <a:ext cx="3886200" cy="0"/>
          </a:xfrm>
          <a:prstGeom prst="line">
            <a:avLst/>
          </a:prstGeom>
          <a:ln w="38100" cap="flat" cmpd="sng">
            <a:solidFill>
              <a:srgbClr val="FF0000"/>
            </a:solidFill>
            <a:prstDash val="lgDash"/>
            <a:round/>
            <a:headEnd type="none" w="med" len="med"/>
            <a:tailEnd type="none" w="med" len="med"/>
          </a:ln>
        </p:spPr>
        <p:txBody>
          <a:bodyPr/>
          <a:lstStyle/>
          <a:p>
            <a:endParaRPr lang="zh-CN" altLang="en-US"/>
          </a:p>
        </p:txBody>
      </p:sp>
      <p:sp>
        <p:nvSpPr>
          <p:cNvPr id="507908" name="Line 6"/>
          <p:cNvSpPr/>
          <p:nvPr/>
        </p:nvSpPr>
        <p:spPr>
          <a:xfrm>
            <a:off x="1981200" y="4648200"/>
            <a:ext cx="4876800" cy="0"/>
          </a:xfrm>
          <a:prstGeom prst="line">
            <a:avLst/>
          </a:prstGeom>
          <a:ln w="38100" cap="flat" cmpd="sng">
            <a:solidFill>
              <a:srgbClr val="FF0000"/>
            </a:solidFill>
            <a:prstDash val="lgDash"/>
            <a:round/>
            <a:headEnd type="none" w="med" len="med"/>
            <a:tailEnd type="none" w="med" len="med"/>
          </a:ln>
        </p:spPr>
        <p:txBody>
          <a:bodyPr/>
          <a:lstStyle/>
          <a:p>
            <a:endParaRPr lang="zh-CN" altLang="en-US"/>
          </a:p>
        </p:txBody>
      </p:sp>
      <p:sp>
        <p:nvSpPr>
          <p:cNvPr id="507909" name="Line 7"/>
          <p:cNvSpPr/>
          <p:nvPr/>
        </p:nvSpPr>
        <p:spPr>
          <a:xfrm>
            <a:off x="609600" y="5257800"/>
            <a:ext cx="6248400" cy="76200"/>
          </a:xfrm>
          <a:prstGeom prst="line">
            <a:avLst/>
          </a:prstGeom>
          <a:ln w="38100" cap="flat" cmpd="sng">
            <a:solidFill>
              <a:srgbClr val="FF0000"/>
            </a:solidFill>
            <a:prstDash val="lgDash"/>
            <a:round/>
            <a:headEnd type="none" w="med" len="med"/>
            <a:tailEnd type="none" w="med" len="med"/>
          </a:ln>
        </p:spPr>
        <p:txBody>
          <a:bodyPr/>
          <a:lstStyle/>
          <a:p>
            <a:endParaRPr lang="zh-CN" altLang="en-US"/>
          </a:p>
        </p:txBody>
      </p:sp>
      <p:sp>
        <p:nvSpPr>
          <p:cNvPr id="507910" name="Text Box 8"/>
          <p:cNvSpPr txBox="1"/>
          <p:nvPr/>
        </p:nvSpPr>
        <p:spPr>
          <a:xfrm>
            <a:off x="6705600" y="1905000"/>
            <a:ext cx="2438400" cy="4364038"/>
          </a:xfrm>
          <a:prstGeom prst="rect">
            <a:avLst/>
          </a:prstGeom>
          <a:noFill/>
          <a:ln w="9525">
            <a:noFill/>
          </a:ln>
        </p:spPr>
        <p:txBody>
          <a:bodyPr anchor="t" anchorCtr="0">
            <a:spAutoFit/>
          </a:bodyPr>
          <a:lstStyle/>
          <a:p>
            <a:pPr eaLnBrk="0" hangingPunct="0">
              <a:spcBef>
                <a:spcPct val="50000"/>
              </a:spcBef>
            </a:pPr>
            <a:r>
              <a:rPr lang="en-US" altLang="zh-CN" dirty="0">
                <a:solidFill>
                  <a:srgbClr val="FF3300"/>
                </a:solidFill>
                <a:latin typeface="Times New Roman" panose="02020603050405020304" pitchFamily="18" charset="0"/>
                <a:ea typeface="华文新魏" panose="02010800040101010101" pitchFamily="2" charset="-122"/>
              </a:rPr>
              <a:t> </a:t>
            </a:r>
            <a:r>
              <a:rPr lang="zh-CN" altLang="en-US" dirty="0">
                <a:solidFill>
                  <a:srgbClr val="FF3300"/>
                </a:solidFill>
                <a:latin typeface="Times New Roman" panose="02020603050405020304" pitchFamily="18" charset="0"/>
                <a:ea typeface="华文新魏" panose="02010800040101010101" pitchFamily="2" charset="-122"/>
              </a:rPr>
              <a:t>木质部</a:t>
            </a:r>
          </a:p>
          <a:p>
            <a:pPr eaLnBrk="0" hangingPunct="0">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lnSpc>
                <a:spcPct val="40000"/>
              </a:lnSpc>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 束中形成层</a:t>
            </a:r>
          </a:p>
          <a:p>
            <a:pPr eaLnBrk="0" hangingPunct="0">
              <a:lnSpc>
                <a:spcPct val="30000"/>
              </a:lnSpc>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lnSpc>
                <a:spcPct val="30000"/>
              </a:lnSpc>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lnSpc>
                <a:spcPct val="70000"/>
              </a:lnSpc>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 外韧皮部</a:t>
            </a:r>
          </a:p>
          <a:p>
            <a:pPr eaLnBrk="0" hangingPunct="0">
              <a:lnSpc>
                <a:spcPct val="0"/>
              </a:lnSpc>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lnSpc>
                <a:spcPct val="30000"/>
              </a:lnSpc>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lnSpc>
                <a:spcPct val="0"/>
              </a:lnSpc>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 韧皮纤维</a:t>
            </a:r>
          </a:p>
          <a:p>
            <a:pPr eaLnBrk="0" hangingPunct="0">
              <a:lnSpc>
                <a:spcPct val="30000"/>
              </a:lnSpc>
              <a:spcBef>
                <a:spcPct val="50000"/>
              </a:spcBef>
            </a:pPr>
            <a:endParaRPr lang="zh-CN" altLang="en-US" dirty="0">
              <a:solidFill>
                <a:srgbClr val="FF3300"/>
              </a:solidFill>
              <a:latin typeface="Times New Roman" panose="02020603050405020304" pitchFamily="18" charset="0"/>
              <a:ea typeface="华文新魏" panose="02010800040101010101" pitchFamily="2" charset="-122"/>
            </a:endParaRPr>
          </a:p>
          <a:p>
            <a:pPr eaLnBrk="0" hangingPunct="0">
              <a:lnSpc>
                <a:spcPct val="90000"/>
              </a:lnSpc>
              <a:spcBef>
                <a:spcPct val="50000"/>
              </a:spcBef>
            </a:pPr>
            <a:r>
              <a:rPr lang="zh-CN" altLang="en-US" dirty="0">
                <a:solidFill>
                  <a:srgbClr val="3333FF"/>
                </a:solidFill>
                <a:latin typeface="Times New Roman" panose="02020603050405020304" pitchFamily="18" charset="0"/>
                <a:ea typeface="华文新魏" panose="02010800040101010101" pitchFamily="2" charset="-122"/>
              </a:rPr>
              <a:t>向日葵茎维管束</a:t>
            </a:r>
          </a:p>
        </p:txBody>
      </p:sp>
      <p:sp>
        <p:nvSpPr>
          <p:cNvPr id="507911"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0" y="1295400"/>
            <a:ext cx="8856663" cy="3502025"/>
          </a:xfrm>
        </p:spPr>
        <p:txBody>
          <a:bodyPr vert="horz" wrap="square" lIns="91440" tIns="45720" rIns="91440" bIns="45720" numCol="1" anchor="t" anchorCtr="0" compatLnSpc="1"/>
          <a:lstStyle/>
          <a:p>
            <a:pPr marL="342900" marR="0" lvl="0" indent="-342900" algn="l" defTabSz="914400" rtl="0" eaLnBrk="1" fontAlgn="t"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）双子叶植物茎的初生结构</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hlinkClick r:id="rId2" action="ppaction://hlinksldjump"/>
              </a:rPr>
              <a:t>皮层</a:t>
            </a:r>
            <a:endParaRPr kumimoji="0" lang="zh-CN" altLang="en-US" sz="2500" b="1" i="0" u="none" strike="noStrike" kern="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endParaRPr>
          </a:p>
          <a:p>
            <a:pPr marL="742950" marR="0" lvl="1" indent="-285750" algn="l" defTabSz="914400" rtl="0" eaLnBrk="1" fontAlgn="t" latinLnBrk="0" hangingPunct="1">
              <a:lnSpc>
                <a:spcPct val="10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结构特征：</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与根不同，</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茎的皮层无典型的外皮层和内皮层</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。皮层大部分细胞是典型的薄壁组织细胞。</a:t>
            </a:r>
            <a:endParaRPr kumimoji="0" lang="en-US" altLang="zh-CN"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endParaRPr>
          </a:p>
          <a:p>
            <a:pPr marL="457200" marR="0" lvl="1" indent="0" algn="l" defTabSz="914400" rtl="0" eaLnBrk="1" fontAlgn="t"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	</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皮层外围的结构：多数幼茎的皮层的外围有</a:t>
            </a:r>
            <a:r>
              <a:rPr kumimoji="0" lang="zh-CN" altLang="en-US" sz="2400" b="1" i="0" u="sng"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机械组织</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（以</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hlinkClick r:id="rId2" action="ppaction://hlinksldjump"/>
              </a:rPr>
              <a:t>厚角组织</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为主，少数有纤维）和</a:t>
            </a:r>
            <a:r>
              <a:rPr kumimoji="0" lang="zh-CN" altLang="en-US" sz="2400" b="1" i="0" u="sng"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同化组织</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，故呈绿色。</a:t>
            </a:r>
          </a:p>
          <a:p>
            <a:pPr marL="742950" marR="0" lvl="1" indent="-285750" algn="l" defTabSz="914400" rtl="0" eaLnBrk="1" fontAlgn="t" latinLnBrk="0" hangingPunct="1">
              <a:lnSpc>
                <a:spcPct val="10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功能：</a:t>
            </a: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ea"/>
              </a:rPr>
              <a:t>贮藏和横向运输。</a:t>
            </a:r>
          </a:p>
        </p:txBody>
      </p:sp>
      <p:sp>
        <p:nvSpPr>
          <p:cNvPr id="508930"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3" name="Rectangle 3"/>
          <p:cNvSpPr>
            <a:spLocks noGrp="1"/>
          </p:cNvSpPr>
          <p:nvPr>
            <p:ph idx="1"/>
          </p:nvPr>
        </p:nvSpPr>
        <p:spPr>
          <a:xfrm>
            <a:off x="0" y="1295400"/>
            <a:ext cx="9036050" cy="5057775"/>
          </a:xfrm>
        </p:spPr>
        <p:txBody>
          <a:bodyPr vert="horz" wrap="square" lIns="91440" tIns="45720" rIns="91440" bIns="45720" anchor="t" anchorCtr="0"/>
          <a:lstStyle/>
          <a:p>
            <a:pPr eaLnBrk="1" hangingPunct="1">
              <a:buNone/>
            </a:pPr>
            <a:r>
              <a:rPr lang="zh-CN" altLang="en-US" b="1" dirty="0">
                <a:solidFill>
                  <a:srgbClr val="3333FF"/>
                </a:solidFill>
                <a:latin typeface="黑体" panose="02010609060101010101" pitchFamily="49" charset="-122"/>
                <a:ea typeface="黑体" panose="02010609060101010101" pitchFamily="49" charset="-122"/>
              </a:rPr>
              <a:t>   （</a:t>
            </a:r>
            <a:r>
              <a:rPr lang="en-US" altLang="zh-CN" b="1" dirty="0">
                <a:solidFill>
                  <a:srgbClr val="3333FF"/>
                </a:solidFill>
                <a:latin typeface="黑体" panose="02010609060101010101" pitchFamily="49" charset="-122"/>
                <a:ea typeface="黑体" panose="02010609060101010101" pitchFamily="49" charset="-122"/>
              </a:rPr>
              <a:t>1</a:t>
            </a:r>
            <a:r>
              <a:rPr lang="zh-CN" altLang="en-US" b="1" dirty="0">
                <a:solidFill>
                  <a:srgbClr val="3333FF"/>
                </a:solidFill>
                <a:latin typeface="黑体" panose="02010609060101010101" pitchFamily="49" charset="-122"/>
                <a:ea typeface="黑体" panose="02010609060101010101" pitchFamily="49" charset="-122"/>
              </a:rPr>
              <a:t>）双子叶植物茎的初生结构</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solidFill>
                  <a:srgbClr val="FF3300"/>
                </a:solidFill>
                <a:latin typeface="黑体" panose="02010609060101010101" pitchFamily="49" charset="-122"/>
                <a:ea typeface="黑体" panose="02010609060101010101" pitchFamily="49" charset="-122"/>
              </a:rPr>
              <a:t>维管柱</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solidFill>
                  <a:srgbClr val="3333FF"/>
                </a:solidFill>
                <a:latin typeface="黑体" panose="02010609060101010101" pitchFamily="49" charset="-122"/>
                <a:ea typeface="黑体" panose="02010609060101010101" pitchFamily="49" charset="-122"/>
              </a:rPr>
              <a:t>基本概念</a:t>
            </a:r>
          </a:p>
          <a:p>
            <a:pPr lvl="1" eaLnBrk="1" hangingPunct="1">
              <a:lnSpc>
                <a:spcPct val="140000"/>
              </a:lnSpc>
            </a:pPr>
            <a:r>
              <a:rPr lang="zh-CN" altLang="en-US" b="1" dirty="0">
                <a:solidFill>
                  <a:srgbClr val="3333FF"/>
                </a:solidFill>
                <a:latin typeface="黑体" panose="02010609060101010101" pitchFamily="49" charset="-122"/>
                <a:ea typeface="黑体" panose="02010609060101010101" pitchFamily="49" charset="-122"/>
              </a:rPr>
              <a:t>定义：</a:t>
            </a:r>
            <a:r>
              <a:rPr lang="zh-CN" altLang="en-US" b="1" dirty="0">
                <a:solidFill>
                  <a:schemeClr val="bg2"/>
                </a:solidFill>
                <a:latin typeface="黑体" panose="02010609060101010101" pitchFamily="49" charset="-122"/>
                <a:ea typeface="黑体" panose="02010609060101010101" pitchFamily="49" charset="-122"/>
              </a:rPr>
              <a:t>皮层以内，由维管束（在横切面上）以环状排列所构成的结构即为茎的维管柱。</a:t>
            </a:r>
          </a:p>
          <a:p>
            <a:pPr lvl="1" eaLnBrk="1" hangingPunct="1">
              <a:lnSpc>
                <a:spcPct val="140000"/>
              </a:lnSpc>
            </a:pPr>
            <a:r>
              <a:rPr lang="zh-CN" altLang="en-US" b="1" dirty="0">
                <a:solidFill>
                  <a:schemeClr val="bg2"/>
                </a:solidFill>
                <a:latin typeface="黑体" panose="02010609060101010101" pitchFamily="49" charset="-122"/>
                <a:ea typeface="黑体" panose="02010609060101010101" pitchFamily="49" charset="-122"/>
                <a:hlinkClick r:id="rId2" action="ppaction://hlinksldjump"/>
              </a:rPr>
              <a:t>维管柱</a:t>
            </a:r>
            <a:r>
              <a:rPr lang="zh-CN" altLang="en-US" b="1" dirty="0">
                <a:solidFill>
                  <a:schemeClr val="bg2"/>
                </a:solidFill>
                <a:latin typeface="黑体" panose="02010609060101010101" pitchFamily="49" charset="-122"/>
                <a:ea typeface="黑体" panose="02010609060101010101" pitchFamily="49" charset="-122"/>
              </a:rPr>
              <a:t>的构成：与根</a:t>
            </a:r>
            <a:r>
              <a:rPr lang="zh-CN" altLang="en-US" b="1" dirty="0">
                <a:solidFill>
                  <a:srgbClr val="FF0000"/>
                </a:solidFill>
                <a:latin typeface="黑体" panose="02010609060101010101" pitchFamily="49" charset="-122"/>
                <a:ea typeface="黑体" panose="02010609060101010101" pitchFamily="49" charset="-122"/>
              </a:rPr>
              <a:t>维管柱</a:t>
            </a:r>
            <a:r>
              <a:rPr lang="zh-CN" altLang="en-US" b="1" dirty="0">
                <a:solidFill>
                  <a:schemeClr val="bg2"/>
                </a:solidFill>
                <a:latin typeface="黑体" panose="02010609060101010101" pitchFamily="49" charset="-122"/>
                <a:ea typeface="黑体" panose="02010609060101010101" pitchFamily="49" charset="-122"/>
              </a:rPr>
              <a:t>不同，茎的维管柱由维管束呈环状排列所构成，其内具髓，维管束间具</a:t>
            </a:r>
            <a:r>
              <a:rPr lang="zh-CN" altLang="en-US" b="1" dirty="0">
                <a:solidFill>
                  <a:srgbClr val="FF0000"/>
                </a:solidFill>
                <a:latin typeface="黑体" panose="02010609060101010101" pitchFamily="49" charset="-122"/>
                <a:ea typeface="黑体" panose="02010609060101010101" pitchFamily="49" charset="-122"/>
              </a:rPr>
              <a:t>髓射线</a:t>
            </a:r>
            <a:r>
              <a:rPr lang="zh-CN" altLang="en-US" b="1" dirty="0">
                <a:solidFill>
                  <a:schemeClr val="bg2"/>
                </a:solidFill>
                <a:latin typeface="黑体" panose="02010609060101010101" pitchFamily="49" charset="-122"/>
                <a:ea typeface="黑体" panose="02010609060101010101" pitchFamily="49" charset="-122"/>
              </a:rPr>
              <a:t>。</a:t>
            </a:r>
          </a:p>
          <a:p>
            <a:pPr lvl="2" eaLnBrk="1" hangingPunct="1">
              <a:lnSpc>
                <a:spcPct val="130000"/>
              </a:lnSpc>
            </a:pPr>
            <a:r>
              <a:rPr lang="zh-CN" altLang="en-US" sz="2400" b="1" dirty="0">
                <a:solidFill>
                  <a:srgbClr val="3333FF"/>
                </a:solidFill>
                <a:latin typeface="黑体" panose="02010609060101010101" pitchFamily="49" charset="-122"/>
                <a:ea typeface="黑体" panose="02010609060101010101" pitchFamily="49" charset="-122"/>
              </a:rPr>
              <a:t>维管柱及中柱：</a:t>
            </a:r>
            <a:r>
              <a:rPr lang="zh-CN" altLang="en-US" sz="2400" b="1" dirty="0">
                <a:solidFill>
                  <a:schemeClr val="tx1"/>
                </a:solidFill>
                <a:latin typeface="黑体" panose="02010609060101010101" pitchFamily="49" charset="-122"/>
                <a:ea typeface="黑体" panose="02010609060101010101" pitchFamily="49" charset="-122"/>
              </a:rPr>
              <a:t>“中柱”用于根的结构，指内皮层以内由中柱鞘和初生维管组织构成的中央轴。而茎的结构中无内皮层和中柱鞘，将维管组织与皮层分开故将其称为“维管柱”。后来，为统一起见，将根和茎内由维管组织构成的结构统称为维管柱。</a:t>
            </a:r>
          </a:p>
        </p:txBody>
      </p:sp>
      <p:sp>
        <p:nvSpPr>
          <p:cNvPr id="509954"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7" name="Rectangle 3"/>
          <p:cNvSpPr>
            <a:spLocks noGrp="1"/>
          </p:cNvSpPr>
          <p:nvPr>
            <p:ph idx="1"/>
          </p:nvPr>
        </p:nvSpPr>
        <p:spPr>
          <a:xfrm>
            <a:off x="0" y="1295400"/>
            <a:ext cx="8964613" cy="5229225"/>
          </a:xfrm>
        </p:spPr>
        <p:txBody>
          <a:bodyPr vert="horz" wrap="square" lIns="91440" tIns="45720" rIns="91440" bIns="45720" anchor="t" anchorCtr="0"/>
          <a:lstStyle/>
          <a:p>
            <a:pPr eaLnBrk="1" hangingPunct="1">
              <a:buNone/>
            </a:pPr>
            <a:r>
              <a:rPr lang="zh-CN" altLang="en-US" b="1" dirty="0">
                <a:solidFill>
                  <a:srgbClr val="3333FF"/>
                </a:solidFill>
                <a:latin typeface="黑体" panose="02010609060101010101" pitchFamily="49" charset="-122"/>
                <a:ea typeface="黑体" panose="02010609060101010101" pitchFamily="49" charset="-122"/>
              </a:rPr>
              <a:t>   （</a:t>
            </a:r>
            <a:r>
              <a:rPr lang="en-US" altLang="zh-CN" b="1" dirty="0">
                <a:solidFill>
                  <a:srgbClr val="3333FF"/>
                </a:solidFill>
                <a:latin typeface="黑体" panose="02010609060101010101" pitchFamily="49" charset="-122"/>
                <a:ea typeface="黑体" panose="02010609060101010101" pitchFamily="49" charset="-122"/>
              </a:rPr>
              <a:t>1</a:t>
            </a:r>
            <a:r>
              <a:rPr lang="zh-CN" altLang="en-US" b="1" dirty="0">
                <a:solidFill>
                  <a:srgbClr val="3333FF"/>
                </a:solidFill>
                <a:latin typeface="黑体" panose="02010609060101010101" pitchFamily="49" charset="-122"/>
                <a:ea typeface="黑体" panose="02010609060101010101" pitchFamily="49" charset="-122"/>
              </a:rPr>
              <a:t>）双子叶植物茎的初生结构</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维管柱</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维管束</a:t>
            </a:r>
          </a:p>
          <a:p>
            <a:pPr marL="457200" lvl="1" indent="0" eaLnBrk="1" hangingPunct="1">
              <a:buNone/>
            </a:pPr>
            <a:r>
              <a:rPr lang="zh-CN" altLang="en-US" b="1" dirty="0">
                <a:solidFill>
                  <a:srgbClr val="3333FF"/>
                </a:solidFill>
                <a:latin typeface="黑体" panose="02010609060101010101" pitchFamily="49" charset="-122"/>
                <a:ea typeface="黑体" panose="02010609060101010101" pitchFamily="49" charset="-122"/>
              </a:rPr>
              <a:t>  维管束的结构：</a:t>
            </a:r>
          </a:p>
          <a:p>
            <a:pPr lvl="2" eaLnBrk="1" hangingPunct="1">
              <a:lnSpc>
                <a:spcPct val="120000"/>
              </a:lnSpc>
            </a:pPr>
            <a:r>
              <a:rPr lang="zh-CN" altLang="en-US" b="1" dirty="0">
                <a:solidFill>
                  <a:srgbClr val="FF0000"/>
                </a:solidFill>
                <a:latin typeface="黑体" panose="02010609060101010101" pitchFamily="49" charset="-122"/>
                <a:ea typeface="黑体" panose="02010609060101010101" pitchFamily="49" charset="-122"/>
              </a:rPr>
              <a:t>初生木质部</a:t>
            </a:r>
            <a:r>
              <a:rPr lang="zh-CN" altLang="en-US" b="1" dirty="0">
                <a:solidFill>
                  <a:srgbClr val="3333FF"/>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位于束中形成层之内，由近中央方向的原生木质部和近束中形成层的后生木质部构成，内始式发育。原生木质部由环纹导管组成，多无管胞、木纤维和木薄壁细胞；后生木质部由梯纹导管、网纹导管组成。</a:t>
            </a:r>
          </a:p>
          <a:p>
            <a:pPr lvl="2" eaLnBrk="1" hangingPunct="1">
              <a:lnSpc>
                <a:spcPct val="120000"/>
              </a:lnSpc>
            </a:pPr>
            <a:r>
              <a:rPr lang="zh-CN" altLang="en-US" b="1" dirty="0">
                <a:solidFill>
                  <a:srgbClr val="FF0000"/>
                </a:solidFill>
                <a:latin typeface="黑体" panose="02010609060101010101" pitchFamily="49" charset="-122"/>
                <a:ea typeface="黑体" panose="02010609060101010101" pitchFamily="49" charset="-122"/>
              </a:rPr>
              <a:t>初生韧皮部</a:t>
            </a:r>
            <a:r>
              <a:rPr lang="zh-CN" altLang="en-US" b="1" dirty="0">
                <a:solidFill>
                  <a:schemeClr val="tx1"/>
                </a:solidFill>
                <a:latin typeface="黑体" panose="02010609060101010101" pitchFamily="49" charset="-122"/>
                <a:ea typeface="黑体" panose="02010609060101010101" pitchFamily="49" charset="-122"/>
              </a:rPr>
              <a:t>：位于束中形成层之外，由外方的原生韧皮部和靠近束中形成层的后生韧皮部构成（外始式）。</a:t>
            </a:r>
          </a:p>
          <a:p>
            <a:pPr lvl="2" eaLnBrk="1" hangingPunct="1">
              <a:lnSpc>
                <a:spcPct val="120000"/>
              </a:lnSpc>
            </a:pPr>
            <a:r>
              <a:rPr lang="zh-CN" altLang="en-US" b="1" dirty="0">
                <a:solidFill>
                  <a:srgbClr val="FF0000"/>
                </a:solidFill>
                <a:latin typeface="黑体" panose="02010609060101010101" pitchFamily="49" charset="-122"/>
                <a:ea typeface="黑体" panose="02010609060101010101" pitchFamily="49" charset="-122"/>
              </a:rPr>
              <a:t>束中形成层</a:t>
            </a:r>
            <a:r>
              <a:rPr lang="zh-CN" altLang="en-US" b="1" dirty="0">
                <a:solidFill>
                  <a:schemeClr val="tx1"/>
                </a:solidFill>
                <a:latin typeface="黑体" panose="02010609060101010101" pitchFamily="49" charset="-122"/>
                <a:ea typeface="黑体" panose="02010609060101010101" pitchFamily="49" charset="-122"/>
              </a:rPr>
              <a:t>：位于初生木质部和初生韧皮部之间，是原形成层在初生维管束的分化过程留下的潜在分生组织。</a:t>
            </a:r>
            <a:r>
              <a:rPr lang="zh-CN" altLang="en-US" b="1" dirty="0">
                <a:solidFill>
                  <a:srgbClr val="FF0000"/>
                </a:solidFill>
                <a:latin typeface="黑体" panose="02010609060101010101" pitchFamily="49" charset="-122"/>
                <a:ea typeface="黑体" panose="02010609060101010101" pitchFamily="49" charset="-122"/>
              </a:rPr>
              <a:t>次生生长开始时，与束间形成层构成维管形成层。</a:t>
            </a:r>
          </a:p>
        </p:txBody>
      </p:sp>
      <p:sp>
        <p:nvSpPr>
          <p:cNvPr id="510978"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0" y="1295400"/>
            <a:ext cx="8820150" cy="49418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）双子叶植物茎的初生结构</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髓和髓射线</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髓</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sng"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维管束环以内由薄壁组织构成的结构</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。行使贮藏功能。</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环髓带：</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某些植物（椴）髓的外方有小型壁较厚的细胞内部大型薄壁细胞外绕成一环（二者界线分明）即为环髓带（亦称髓鞘）。如椴树。</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髓腔：</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某些植物的茎因快速生长而使节间的髓被撕裂解体而形成空腔，即为髓腔。如伞形科、葫芦科的植物。</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cs typeface="+mn-cs"/>
              </a:rPr>
              <a:t>髓射线</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：位于维管束之间，连接髓与皮层的薄壁组织即为  </a:t>
            </a:r>
            <a:endPar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髓射线。因来自基本分生组织，故亦称初生射线，具贮藏和</a:t>
            </a:r>
            <a:endPar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横向运输功能。</a:t>
            </a:r>
          </a:p>
        </p:txBody>
      </p:sp>
      <p:sp>
        <p:nvSpPr>
          <p:cNvPr id="512002"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1</a:t>
            </a:r>
            <a:r>
              <a:rPr lang="zh-CN" altLang="en-US" sz="2800" b="1" dirty="0">
                <a:solidFill>
                  <a:srgbClr val="FF0000"/>
                </a:solidFill>
                <a:latin typeface="黑体" panose="02010609060101010101" pitchFamily="49" charset="-122"/>
                <a:ea typeface="黑体" panose="02010609060101010101" pitchFamily="49" charset="-122"/>
              </a:rPr>
              <a:t>、茎的初生结构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5" name="Rectangle 3"/>
          <p:cNvSpPr>
            <a:spLocks noGrp="1"/>
          </p:cNvSpPr>
          <p:nvPr>
            <p:ph idx="1"/>
          </p:nvPr>
        </p:nvSpPr>
        <p:spPr/>
        <p:txBody>
          <a:bodyPr vert="horz" wrap="square" lIns="91440" tIns="45720" rIns="91440" bIns="45720" anchor="t" anchorCtr="0"/>
          <a:lstStyle/>
          <a:p>
            <a:pPr eaLnBrk="1" hangingPunct="1">
              <a:buNone/>
            </a:pPr>
            <a:r>
              <a:rPr lang="en-US" altLang="zh-CN" dirty="0">
                <a:latin typeface="华文新魏" panose="02010800040101010101" pitchFamily="2" charset="-122"/>
              </a:rPr>
              <a:t>                                                                            </a:t>
            </a:r>
            <a:r>
              <a:rPr lang="zh-CN" altLang="en-US" sz="2100" dirty="0">
                <a:latin typeface="华文新魏" panose="02010800040101010101" pitchFamily="2" charset="-122"/>
                <a:hlinkClick r:id="rId2" action="ppaction://hlinksldjump"/>
              </a:rPr>
              <a:t>维管形成层的来源和活动</a:t>
            </a:r>
            <a:endParaRPr lang="zh-CN" altLang="en-US" sz="2100" dirty="0">
              <a:latin typeface="华文新魏" panose="02010800040101010101" pitchFamily="2" charset="-122"/>
            </a:endParaRPr>
          </a:p>
          <a:p>
            <a:pPr eaLnBrk="1" hangingPunct="1">
              <a:buNone/>
            </a:pPr>
            <a:r>
              <a:rPr lang="zh-CN" altLang="en-US" sz="2300" dirty="0">
                <a:latin typeface="华文新魏" panose="02010800040101010101" pitchFamily="2" charset="-122"/>
              </a:rPr>
              <a:t>                                                                                  </a:t>
            </a:r>
            <a:r>
              <a:rPr lang="zh-CN" altLang="en-US" sz="2100" dirty="0">
                <a:latin typeface="华文新魏" panose="02010800040101010101" pitchFamily="2" charset="-122"/>
              </a:rPr>
              <a:t>维管形成层的形成 分裂方</a:t>
            </a:r>
          </a:p>
          <a:p>
            <a:pPr eaLnBrk="1" hangingPunct="1">
              <a:lnSpc>
                <a:spcPct val="40000"/>
              </a:lnSpc>
              <a:buNone/>
            </a:pPr>
            <a:r>
              <a:rPr lang="zh-CN" altLang="en-US" dirty="0">
                <a:latin typeface="华文新魏" panose="02010800040101010101" pitchFamily="2" charset="-122"/>
              </a:rPr>
              <a:t>　　　　　　　　　</a:t>
            </a:r>
            <a:r>
              <a:rPr lang="en-US" altLang="zh-CN" sz="2300" dirty="0">
                <a:latin typeface="华文新魏" panose="02010800040101010101" pitchFamily="2" charset="-122"/>
                <a:hlinkClick r:id="rId2" action="ppaction://hlinksldjump"/>
              </a:rPr>
              <a:t>1.</a:t>
            </a:r>
            <a:r>
              <a:rPr lang="zh-CN" altLang="en-US" sz="2300" dirty="0">
                <a:latin typeface="华文新魏" panose="02010800040101010101" pitchFamily="2" charset="-122"/>
                <a:hlinkClick r:id="rId2" action="ppaction://hlinksldjump"/>
              </a:rPr>
              <a:t>双子叶植物茎</a:t>
            </a:r>
            <a:r>
              <a:rPr lang="zh-CN" altLang="en-US" dirty="0">
                <a:latin typeface="华文新魏" panose="02010800040101010101" pitchFamily="2" charset="-122"/>
              </a:rPr>
              <a:t>                     </a:t>
            </a:r>
            <a:r>
              <a:rPr lang="zh-CN" altLang="en-US" sz="2100" dirty="0">
                <a:latin typeface="华文新魏" panose="02010800040101010101" pitchFamily="2" charset="-122"/>
              </a:rPr>
              <a:t>式和衍生细胞的发育</a:t>
            </a:r>
          </a:p>
          <a:p>
            <a:pPr eaLnBrk="1" hangingPunct="1">
              <a:lnSpc>
                <a:spcPct val="70000"/>
              </a:lnSpc>
              <a:buNone/>
            </a:pPr>
            <a:r>
              <a:rPr lang="zh-CN" altLang="en-US" sz="2300" dirty="0">
                <a:latin typeface="华文新魏" panose="02010800040101010101" pitchFamily="2" charset="-122"/>
                <a:hlinkClick r:id="rId2" action="ppaction://hlinksldjump"/>
              </a:rPr>
              <a:t>（一）茎的次生生长</a:t>
            </a:r>
            <a:r>
              <a:rPr lang="zh-CN" altLang="en-US" dirty="0">
                <a:latin typeface="华文新魏" panose="02010800040101010101" pitchFamily="2" charset="-122"/>
              </a:rPr>
              <a:t>　 　</a:t>
            </a:r>
            <a:r>
              <a:rPr lang="zh-CN" altLang="en-US" sz="2300" dirty="0">
                <a:latin typeface="华文新魏" panose="02010800040101010101" pitchFamily="2" charset="-122"/>
                <a:hlinkClick r:id="rId2" action="ppaction://hlinksldjump"/>
              </a:rPr>
              <a:t>的次生结构</a:t>
            </a:r>
            <a:r>
              <a:rPr lang="zh-CN" altLang="en-US" dirty="0">
                <a:latin typeface="华文新魏" panose="02010800040101010101" pitchFamily="2" charset="-122"/>
              </a:rPr>
              <a:t>              </a:t>
            </a:r>
            <a:r>
              <a:rPr lang="zh-CN" altLang="en-US" sz="2000" dirty="0">
                <a:latin typeface="华文新魏" panose="02010800040101010101" pitchFamily="2" charset="-122"/>
              </a:rPr>
              <a:t>维管形成层细胞的增殖分裂</a:t>
            </a:r>
          </a:p>
          <a:p>
            <a:pPr eaLnBrk="1" hangingPunct="1">
              <a:lnSpc>
                <a:spcPct val="60000"/>
              </a:lnSpc>
              <a:buNone/>
            </a:pPr>
            <a:r>
              <a:rPr lang="zh-CN" altLang="en-US" dirty="0">
                <a:latin typeface="华文新魏" panose="02010800040101010101" pitchFamily="2" charset="-122"/>
              </a:rPr>
              <a:t>　　　   </a:t>
            </a:r>
            <a:r>
              <a:rPr lang="zh-CN" altLang="en-US" sz="2300" dirty="0">
                <a:latin typeface="华文新魏" panose="02010800040101010101" pitchFamily="2" charset="-122"/>
                <a:hlinkClick r:id="rId2" action="ppaction://hlinksldjump"/>
              </a:rPr>
              <a:t>和次生结构</a:t>
            </a:r>
            <a:r>
              <a:rPr lang="zh-CN" altLang="en-US" dirty="0">
                <a:latin typeface="华文新魏" panose="02010800040101010101" pitchFamily="2" charset="-122"/>
              </a:rPr>
              <a:t>                                          </a:t>
            </a:r>
            <a:r>
              <a:rPr lang="zh-CN" altLang="en-US" sz="2100" dirty="0">
                <a:latin typeface="华文新魏" panose="02010800040101010101" pitchFamily="2" charset="-122"/>
                <a:hlinkClick r:id="rId3" action="ppaction://hlinksldjump"/>
              </a:rPr>
              <a:t>次生维管组织的结构</a:t>
            </a:r>
            <a:endParaRPr lang="zh-CN" altLang="en-US" sz="2100" dirty="0">
              <a:latin typeface="华文新魏" panose="02010800040101010101" pitchFamily="2" charset="-122"/>
            </a:endParaRPr>
          </a:p>
          <a:p>
            <a:pPr eaLnBrk="1" hangingPunct="1">
              <a:buNone/>
            </a:pPr>
            <a:r>
              <a:rPr lang="zh-CN" altLang="en-US" dirty="0">
                <a:latin typeface="华文新魏" panose="02010800040101010101" pitchFamily="2" charset="-122"/>
              </a:rPr>
              <a:t>                                                                </a:t>
            </a:r>
            <a:r>
              <a:rPr lang="zh-CN" altLang="en-US" sz="2100" dirty="0">
                <a:latin typeface="华文新魏" panose="02010800040101010101" pitchFamily="2" charset="-122"/>
                <a:hlinkClick r:id="rId4" action="ppaction://hlinksldjump"/>
              </a:rPr>
              <a:t>木栓形成层的来源和活动</a:t>
            </a:r>
            <a:endParaRPr lang="zh-CN" altLang="en-US" sz="2100" dirty="0">
              <a:latin typeface="华文新魏" panose="02010800040101010101" pitchFamily="2" charset="-122"/>
            </a:endParaRPr>
          </a:p>
          <a:p>
            <a:pPr eaLnBrk="1" hangingPunct="1">
              <a:lnSpc>
                <a:spcPct val="80000"/>
              </a:lnSpc>
              <a:buNone/>
            </a:pPr>
            <a:r>
              <a:rPr lang="zh-CN" altLang="en-US" dirty="0">
                <a:latin typeface="华文新魏" panose="02010800040101010101" pitchFamily="2" charset="-122"/>
              </a:rPr>
              <a:t>                                     </a:t>
            </a:r>
            <a:r>
              <a:rPr lang="en-US" altLang="zh-CN" sz="2300" dirty="0">
                <a:latin typeface="华文新魏" panose="02010800040101010101" pitchFamily="2" charset="-122"/>
              </a:rPr>
              <a:t>2.</a:t>
            </a:r>
            <a:r>
              <a:rPr lang="zh-CN" altLang="en-US" sz="2300" dirty="0">
                <a:latin typeface="华文新魏" panose="02010800040101010101" pitchFamily="2" charset="-122"/>
              </a:rPr>
              <a:t>裸子植物茎的次生结构</a:t>
            </a:r>
          </a:p>
          <a:p>
            <a:pPr eaLnBrk="1" hangingPunct="1">
              <a:buNone/>
            </a:pPr>
            <a:endParaRPr lang="zh-CN" altLang="en-US" dirty="0">
              <a:latin typeface="华文新魏" panose="02010800040101010101" pitchFamily="2" charset="-122"/>
            </a:endParaRPr>
          </a:p>
          <a:p>
            <a:pPr eaLnBrk="1" hangingPunct="1">
              <a:buNone/>
            </a:pPr>
            <a:r>
              <a:rPr lang="zh-CN" altLang="en-US" dirty="0">
                <a:latin typeface="华文新魏" panose="02010800040101010101" pitchFamily="2" charset="-122"/>
              </a:rPr>
              <a:t>（二）单子叶植物茎的次生结构</a:t>
            </a:r>
          </a:p>
        </p:txBody>
      </p:sp>
      <p:sp>
        <p:nvSpPr>
          <p:cNvPr id="513026" name="AutoShape 4"/>
          <p:cNvSpPr/>
          <p:nvPr/>
        </p:nvSpPr>
        <p:spPr>
          <a:xfrm>
            <a:off x="2743200" y="2151063"/>
            <a:ext cx="228600" cy="1752600"/>
          </a:xfrm>
          <a:prstGeom prst="leftBrace">
            <a:avLst>
              <a:gd name="adj1" fmla="val 63391"/>
              <a:gd name="adj2" fmla="val 36685"/>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13027" name="AutoShape 6"/>
          <p:cNvSpPr/>
          <p:nvPr/>
        </p:nvSpPr>
        <p:spPr>
          <a:xfrm>
            <a:off x="4876800" y="1676400"/>
            <a:ext cx="228600" cy="1752600"/>
          </a:xfrm>
          <a:prstGeom prst="leftBrace">
            <a:avLst>
              <a:gd name="adj1" fmla="val 63391"/>
              <a:gd name="adj2" fmla="val 46468"/>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13028" name="Text Box 8"/>
          <p:cNvSpPr txBox="1"/>
          <p:nvPr/>
        </p:nvSpPr>
        <p:spPr>
          <a:xfrm>
            <a:off x="4953000" y="1679575"/>
            <a:ext cx="990600" cy="987425"/>
          </a:xfrm>
          <a:prstGeom prst="rect">
            <a:avLst/>
          </a:prstGeom>
          <a:noFill/>
          <a:ln w="9525">
            <a:noFill/>
          </a:ln>
        </p:spPr>
        <p:txBody>
          <a:bodyPr anchor="t" anchorCtr="0">
            <a:spAutoFit/>
          </a:bodyPr>
          <a:lstStyle/>
          <a:p>
            <a:pPr eaLnBrk="0" hangingPunct="0">
              <a:lnSpc>
                <a:spcPct val="70000"/>
              </a:lnSpc>
              <a:spcBef>
                <a:spcPct val="50000"/>
              </a:spcBef>
            </a:pPr>
            <a:r>
              <a:rPr lang="zh-CN" altLang="en-US" sz="2100" dirty="0">
                <a:latin typeface="Tahoma" panose="020B0604030504040204" pitchFamily="34" charset="0"/>
                <a:ea typeface="华文新魏" panose="02010800040101010101" pitchFamily="2" charset="-122"/>
                <a:hlinkClick r:id="rId2" action="ppaction://hlinksldjump"/>
              </a:rPr>
              <a:t>维管形成层的来源和活动</a:t>
            </a:r>
            <a:endParaRPr lang="zh-CN" altLang="en-US" sz="2100" dirty="0">
              <a:latin typeface="Tahoma" panose="020B0604030504040204" pitchFamily="34" charset="0"/>
              <a:ea typeface="华文新魏" panose="02010800040101010101" pitchFamily="2" charset="-122"/>
            </a:endParaRPr>
          </a:p>
        </p:txBody>
      </p:sp>
      <p:sp>
        <p:nvSpPr>
          <p:cNvPr id="513029" name="AutoShape 9"/>
          <p:cNvSpPr/>
          <p:nvPr/>
        </p:nvSpPr>
        <p:spPr>
          <a:xfrm>
            <a:off x="5826125" y="1447800"/>
            <a:ext cx="228600" cy="1600200"/>
          </a:xfrm>
          <a:prstGeom prst="leftBrace">
            <a:avLst>
              <a:gd name="adj1" fmla="val 57879"/>
              <a:gd name="adj2" fmla="val 50000"/>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13030"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49" name="Rectangle 3"/>
          <p:cNvSpPr>
            <a:spLocks noGrp="1"/>
          </p:cNvSpPr>
          <p:nvPr>
            <p:ph idx="1"/>
          </p:nvPr>
        </p:nvSpPr>
        <p:spPr>
          <a:xfrm>
            <a:off x="0" y="1295400"/>
            <a:ext cx="9036050" cy="4797425"/>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）双子叶植物茎的次生结构</a:t>
            </a:r>
            <a:r>
              <a:rPr lang="en-US" altLang="zh-CN"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维管形成层的来源和活动</a:t>
            </a:r>
          </a:p>
          <a:p>
            <a:pPr lvl="1" eaLnBrk="1" hangingPunct="1">
              <a:buNone/>
            </a:pPr>
            <a:r>
              <a:rPr lang="zh-CN" altLang="en-US" b="1" dirty="0">
                <a:latin typeface="黑体" panose="02010609060101010101" pitchFamily="49" charset="-122"/>
                <a:ea typeface="黑体" panose="02010609060101010101" pitchFamily="49" charset="-122"/>
              </a:rPr>
              <a:t> ①维管形成层的来源、形成及活动规律</a:t>
            </a:r>
          </a:p>
          <a:p>
            <a:pPr lvl="1" eaLnBrk="1" hangingPunct="1"/>
            <a:r>
              <a:rPr lang="zh-CN" altLang="en-US" b="1" dirty="0">
                <a:solidFill>
                  <a:srgbClr val="0000FF"/>
                </a:solidFill>
                <a:latin typeface="黑体" panose="02010609060101010101" pitchFamily="49" charset="-122"/>
                <a:ea typeface="黑体" panose="02010609060101010101" pitchFamily="49" charset="-122"/>
              </a:rPr>
              <a:t>来源及形成过程：</a:t>
            </a:r>
          </a:p>
          <a:p>
            <a:pPr lvl="2" eaLnBrk="1" hangingPunct="1"/>
            <a:r>
              <a:rPr lang="zh-CN" altLang="en-US" b="1" dirty="0">
                <a:solidFill>
                  <a:srgbClr val="0000FF"/>
                </a:solidFill>
                <a:latin typeface="黑体" panose="02010609060101010101" pitchFamily="49" charset="-122"/>
                <a:ea typeface="黑体" panose="02010609060101010101" pitchFamily="49" charset="-122"/>
              </a:rPr>
              <a:t>束中形成层：</a:t>
            </a:r>
            <a:r>
              <a:rPr lang="zh-CN" altLang="en-US" b="1" dirty="0">
                <a:solidFill>
                  <a:schemeClr val="tx1"/>
                </a:solidFill>
                <a:latin typeface="黑体" panose="02010609060101010101" pitchFamily="49" charset="-122"/>
                <a:ea typeface="黑体" panose="02010609060101010101" pitchFamily="49" charset="-122"/>
              </a:rPr>
              <a:t>双子叶植物茎的原形成层发展为初生维管束时，在初生木质部和初生韧皮部之间，保留的一层具有潜在分裂能力的细胞。</a:t>
            </a:r>
          </a:p>
          <a:p>
            <a:pPr lvl="2" eaLnBrk="1" hangingPunct="1"/>
            <a:r>
              <a:rPr lang="zh-CN" altLang="en-US" b="1" dirty="0">
                <a:solidFill>
                  <a:srgbClr val="0000FF"/>
                </a:solidFill>
                <a:latin typeface="黑体" panose="02010609060101010101" pitchFamily="49" charset="-122"/>
                <a:ea typeface="黑体" panose="02010609060101010101" pitchFamily="49" charset="-122"/>
              </a:rPr>
              <a:t>束间形成层：</a:t>
            </a:r>
            <a:r>
              <a:rPr lang="zh-CN" altLang="en-US" b="1" dirty="0">
                <a:solidFill>
                  <a:schemeClr val="tx1"/>
                </a:solidFill>
                <a:latin typeface="黑体" panose="02010609060101010101" pitchFamily="49" charset="-122"/>
                <a:ea typeface="黑体" panose="02010609060101010101" pitchFamily="49" charset="-122"/>
              </a:rPr>
              <a:t>次生生长开始以后，束中形成层开始活动的同时，与之相对应部位的一层髓射线细胞脱分化，形成束间形成层。</a:t>
            </a:r>
          </a:p>
          <a:p>
            <a:pPr lvl="2" eaLnBrk="1" hangingPunct="1"/>
            <a:r>
              <a:rPr lang="zh-CN" altLang="en-US" b="1" dirty="0">
                <a:solidFill>
                  <a:srgbClr val="0000FF"/>
                </a:solidFill>
                <a:latin typeface="黑体" panose="02010609060101010101" pitchFamily="49" charset="-122"/>
                <a:ea typeface="黑体" panose="02010609060101010101" pitchFamily="49" charset="-122"/>
              </a:rPr>
              <a:t>维管形成层：</a:t>
            </a:r>
            <a:r>
              <a:rPr lang="zh-CN" altLang="en-US" b="1" dirty="0">
                <a:solidFill>
                  <a:srgbClr val="FF0000"/>
                </a:solidFill>
                <a:latin typeface="黑体" panose="02010609060101010101" pitchFamily="49" charset="-122"/>
                <a:ea typeface="黑体" panose="02010609060101010101" pitchFamily="49" charset="-122"/>
              </a:rPr>
              <a:t>束中形成层与束间形成层衔接起来，在横切面上形成一连续的分生组织环，即为维管形成层。</a:t>
            </a:r>
          </a:p>
        </p:txBody>
      </p:sp>
      <p:sp>
        <p:nvSpPr>
          <p:cNvPr id="514050"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5073" name="Picture 10" descr="D:\Documents and Settings\LiuZC\桌面\教学素材\营养器官\茎\茎的初生结构\向日葵茎横切（100）.jpg"/>
          <p:cNvPicPr>
            <a:picLocks noChangeAspect="1"/>
          </p:cNvPicPr>
          <p:nvPr/>
        </p:nvPicPr>
        <p:blipFill>
          <a:blip r:embed="rId2"/>
          <a:stretch>
            <a:fillRect/>
          </a:stretch>
        </p:blipFill>
        <p:spPr>
          <a:xfrm>
            <a:off x="0" y="0"/>
            <a:ext cx="9144000" cy="6477000"/>
          </a:xfrm>
          <a:prstGeom prst="rect">
            <a:avLst/>
          </a:prstGeom>
          <a:noFill/>
          <a:ln w="9525">
            <a:noFill/>
          </a:ln>
        </p:spPr>
      </p:pic>
      <p:sp>
        <p:nvSpPr>
          <p:cNvPr id="515074" name="Freeform 3"/>
          <p:cNvSpPr/>
          <p:nvPr/>
        </p:nvSpPr>
        <p:spPr>
          <a:xfrm>
            <a:off x="5486400" y="249238"/>
            <a:ext cx="269875" cy="436562"/>
          </a:xfrm>
          <a:custGeom>
            <a:avLst/>
            <a:gdLst/>
            <a:ahLst/>
            <a:cxnLst>
              <a:cxn ang="0">
                <a:pos x="2147483646" y="0"/>
              </a:cxn>
              <a:cxn ang="0">
                <a:pos x="2147483646" y="2147483646"/>
              </a:cxn>
              <a:cxn ang="0">
                <a:pos x="0" y="2147483646"/>
              </a:cxn>
            </a:cxnLst>
            <a:rect l="0" t="0" r="0" b="0"/>
            <a:pathLst>
              <a:path w="170" h="275">
                <a:moveTo>
                  <a:pt x="170" y="0"/>
                </a:moveTo>
                <a:cubicBezTo>
                  <a:pt x="152" y="56"/>
                  <a:pt x="131" y="53"/>
                  <a:pt x="91" y="92"/>
                </a:cubicBezTo>
                <a:cubicBezTo>
                  <a:pt x="71" y="154"/>
                  <a:pt x="47" y="228"/>
                  <a:pt x="0" y="275"/>
                </a:cubicBezTo>
              </a:path>
            </a:pathLst>
          </a:custGeom>
          <a:noFill/>
          <a:ln w="38100" cap="flat" cmpd="sng">
            <a:solidFill>
              <a:srgbClr val="FF3300"/>
            </a:solidFill>
            <a:prstDash val="lgDash"/>
            <a:round/>
            <a:headEnd type="none" w="med" len="med"/>
            <a:tailEnd type="none" w="med" len="med"/>
          </a:ln>
        </p:spPr>
        <p:txBody>
          <a:bodyPr/>
          <a:lstStyle/>
          <a:p>
            <a:endParaRPr lang="zh-CN" altLang="en-US"/>
          </a:p>
        </p:txBody>
      </p:sp>
      <p:sp>
        <p:nvSpPr>
          <p:cNvPr id="515075" name="Freeform 4"/>
          <p:cNvSpPr/>
          <p:nvPr/>
        </p:nvSpPr>
        <p:spPr>
          <a:xfrm>
            <a:off x="5105400" y="762000"/>
            <a:ext cx="762000" cy="1676400"/>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97" h="969">
                <a:moveTo>
                  <a:pt x="192" y="0"/>
                </a:moveTo>
                <a:cubicBezTo>
                  <a:pt x="131" y="41"/>
                  <a:pt x="125" y="72"/>
                  <a:pt x="100" y="144"/>
                </a:cubicBezTo>
                <a:cubicBezTo>
                  <a:pt x="96" y="157"/>
                  <a:pt x="91" y="170"/>
                  <a:pt x="87" y="183"/>
                </a:cubicBezTo>
                <a:cubicBezTo>
                  <a:pt x="83" y="196"/>
                  <a:pt x="74" y="223"/>
                  <a:pt x="74" y="223"/>
                </a:cubicBezTo>
                <a:cubicBezTo>
                  <a:pt x="79" y="415"/>
                  <a:pt x="0" y="635"/>
                  <a:pt x="100" y="799"/>
                </a:cubicBezTo>
                <a:cubicBezTo>
                  <a:pt x="132" y="852"/>
                  <a:pt x="184" y="891"/>
                  <a:pt x="231" y="929"/>
                </a:cubicBezTo>
                <a:cubicBezTo>
                  <a:pt x="251" y="945"/>
                  <a:pt x="297" y="969"/>
                  <a:pt x="297" y="969"/>
                </a:cubicBezTo>
              </a:path>
            </a:pathLst>
          </a:custGeom>
          <a:noFill/>
          <a:ln w="38100" cap="flat" cmpd="sng">
            <a:solidFill>
              <a:srgbClr val="FFFF00"/>
            </a:solidFill>
            <a:prstDash val="lgDash"/>
            <a:round/>
            <a:headEnd type="none" w="med" len="med"/>
            <a:tailEnd type="none" w="med" len="med"/>
          </a:ln>
        </p:spPr>
        <p:txBody>
          <a:bodyPr/>
          <a:lstStyle/>
          <a:p>
            <a:endParaRPr lang="zh-CN" altLang="en-US"/>
          </a:p>
        </p:txBody>
      </p:sp>
      <p:sp>
        <p:nvSpPr>
          <p:cNvPr id="515076" name="Freeform 5"/>
          <p:cNvSpPr/>
          <p:nvPr/>
        </p:nvSpPr>
        <p:spPr>
          <a:xfrm>
            <a:off x="5791200" y="2514600"/>
            <a:ext cx="304800" cy="1828800"/>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57" h="881">
                <a:moveTo>
                  <a:pt x="148" y="0"/>
                </a:moveTo>
                <a:cubicBezTo>
                  <a:pt x="161" y="52"/>
                  <a:pt x="170" y="86"/>
                  <a:pt x="200" y="131"/>
                </a:cubicBezTo>
                <a:cubicBezTo>
                  <a:pt x="246" y="271"/>
                  <a:pt x="257" y="439"/>
                  <a:pt x="174" y="563"/>
                </a:cubicBezTo>
                <a:cubicBezTo>
                  <a:pt x="138" y="674"/>
                  <a:pt x="191" y="518"/>
                  <a:pt x="135" y="655"/>
                </a:cubicBezTo>
                <a:cubicBezTo>
                  <a:pt x="94" y="755"/>
                  <a:pt x="131" y="709"/>
                  <a:pt x="82" y="760"/>
                </a:cubicBezTo>
                <a:cubicBezTo>
                  <a:pt x="71" y="792"/>
                  <a:pt x="68" y="813"/>
                  <a:pt x="43" y="838"/>
                </a:cubicBezTo>
                <a:cubicBezTo>
                  <a:pt x="0" y="881"/>
                  <a:pt x="4" y="844"/>
                  <a:pt x="4" y="877"/>
                </a:cubicBezTo>
              </a:path>
            </a:pathLst>
          </a:custGeom>
          <a:noFill/>
          <a:ln w="38100" cap="flat" cmpd="sng">
            <a:solidFill>
              <a:srgbClr val="FF3300"/>
            </a:solidFill>
            <a:prstDash val="lgDash"/>
            <a:round/>
            <a:headEnd type="none" w="med" len="med"/>
            <a:tailEnd type="none" w="med" len="med"/>
          </a:ln>
        </p:spPr>
        <p:txBody>
          <a:bodyPr/>
          <a:lstStyle/>
          <a:p>
            <a:endParaRPr lang="zh-CN" altLang="en-US"/>
          </a:p>
        </p:txBody>
      </p:sp>
      <p:sp>
        <p:nvSpPr>
          <p:cNvPr id="515077" name="Freeform 6"/>
          <p:cNvSpPr/>
          <p:nvPr/>
        </p:nvSpPr>
        <p:spPr>
          <a:xfrm>
            <a:off x="5195888" y="4432300"/>
            <a:ext cx="508000" cy="1663700"/>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0" t="0" r="0" b="0"/>
            <a:pathLst>
              <a:path w="320" h="1048">
                <a:moveTo>
                  <a:pt x="301" y="0"/>
                </a:moveTo>
                <a:cubicBezTo>
                  <a:pt x="305" y="13"/>
                  <a:pt x="320" y="28"/>
                  <a:pt x="314" y="40"/>
                </a:cubicBezTo>
                <a:cubicBezTo>
                  <a:pt x="308" y="52"/>
                  <a:pt x="287" y="47"/>
                  <a:pt x="274" y="53"/>
                </a:cubicBezTo>
                <a:cubicBezTo>
                  <a:pt x="260" y="60"/>
                  <a:pt x="248" y="70"/>
                  <a:pt x="235" y="79"/>
                </a:cubicBezTo>
                <a:cubicBezTo>
                  <a:pt x="193" y="143"/>
                  <a:pt x="146" y="199"/>
                  <a:pt x="104" y="262"/>
                </a:cubicBezTo>
                <a:cubicBezTo>
                  <a:pt x="59" y="401"/>
                  <a:pt x="129" y="196"/>
                  <a:pt x="65" y="341"/>
                </a:cubicBezTo>
                <a:cubicBezTo>
                  <a:pt x="54" y="366"/>
                  <a:pt x="39" y="419"/>
                  <a:pt x="39" y="419"/>
                </a:cubicBezTo>
                <a:cubicBezTo>
                  <a:pt x="27" y="506"/>
                  <a:pt x="28" y="598"/>
                  <a:pt x="0" y="681"/>
                </a:cubicBezTo>
                <a:cubicBezTo>
                  <a:pt x="14" y="753"/>
                  <a:pt x="80" y="1048"/>
                  <a:pt x="0" y="1048"/>
                </a:cubicBezTo>
              </a:path>
            </a:pathLst>
          </a:custGeom>
          <a:noFill/>
          <a:ln w="38100" cap="flat" cmpd="sng">
            <a:solidFill>
              <a:srgbClr val="FFFF00"/>
            </a:solidFill>
            <a:prstDash val="lgDash"/>
            <a:round/>
            <a:headEnd type="none" w="med" len="med"/>
            <a:tailEnd type="none" w="med" len="med"/>
          </a:ln>
        </p:spPr>
        <p:txBody>
          <a:bodyPr/>
          <a:lstStyle/>
          <a:p>
            <a:endParaRPr lang="zh-CN" altLang="en-US"/>
          </a:p>
        </p:txBody>
      </p:sp>
      <p:sp>
        <p:nvSpPr>
          <p:cNvPr id="515078" name="Line 7"/>
          <p:cNvSpPr/>
          <p:nvPr/>
        </p:nvSpPr>
        <p:spPr>
          <a:xfrm>
            <a:off x="3317875" y="1295400"/>
            <a:ext cx="1981200" cy="1588"/>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5079" name="Line 8"/>
          <p:cNvSpPr/>
          <p:nvPr/>
        </p:nvSpPr>
        <p:spPr>
          <a:xfrm flipH="1">
            <a:off x="3241675" y="2895600"/>
            <a:ext cx="2819400" cy="1588"/>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5080" name="Text Box 9"/>
          <p:cNvSpPr txBox="1"/>
          <p:nvPr/>
        </p:nvSpPr>
        <p:spPr>
          <a:xfrm>
            <a:off x="685800" y="838200"/>
            <a:ext cx="2667000" cy="2195513"/>
          </a:xfrm>
          <a:prstGeom prst="rect">
            <a:avLst/>
          </a:prstGeom>
          <a:noFill/>
          <a:ln w="9525">
            <a:noFill/>
          </a:ln>
        </p:spPr>
        <p:txBody>
          <a:bodyPr anchor="t" anchorCtr="0">
            <a:spAutoFit/>
          </a:bodyPr>
          <a:lstStyle/>
          <a:p>
            <a:pPr algn="r" eaLnBrk="0" hangingPunct="0">
              <a:lnSpc>
                <a:spcPct val="160000"/>
              </a:lnSpc>
              <a:spcBef>
                <a:spcPct val="50000"/>
              </a:spcBef>
            </a:pPr>
            <a:r>
              <a:rPr lang="zh-CN" altLang="en-US" sz="2600" dirty="0">
                <a:solidFill>
                  <a:srgbClr val="0000FF"/>
                </a:solidFill>
                <a:latin typeface="Times New Roman" panose="02020603050405020304" pitchFamily="18" charset="0"/>
                <a:ea typeface="华文新魏" panose="02010800040101010101" pitchFamily="2" charset="-122"/>
              </a:rPr>
              <a:t>束中形成层</a:t>
            </a:r>
          </a:p>
          <a:p>
            <a:pPr algn="r" eaLnBrk="0" hangingPunct="0">
              <a:spcBef>
                <a:spcPct val="50000"/>
              </a:spcBef>
            </a:pPr>
            <a:endParaRPr lang="zh-CN" altLang="en-US" sz="2600" dirty="0">
              <a:solidFill>
                <a:srgbClr val="0000FF"/>
              </a:solidFill>
              <a:latin typeface="Times New Roman" panose="02020603050405020304" pitchFamily="18" charset="0"/>
              <a:ea typeface="华文新魏" panose="02010800040101010101" pitchFamily="2" charset="-122"/>
            </a:endParaRPr>
          </a:p>
          <a:p>
            <a:pPr algn="r" eaLnBrk="0" hangingPunct="0">
              <a:spcBef>
                <a:spcPct val="50000"/>
              </a:spcBef>
            </a:pPr>
            <a:endParaRPr lang="zh-CN" altLang="en-US" sz="2600" dirty="0">
              <a:solidFill>
                <a:srgbClr val="0000FF"/>
              </a:solidFill>
              <a:latin typeface="Times New Roman" panose="02020603050405020304" pitchFamily="18" charset="0"/>
              <a:ea typeface="华文新魏" panose="02010800040101010101" pitchFamily="2" charset="-122"/>
            </a:endParaRPr>
          </a:p>
          <a:p>
            <a:pPr algn="r" eaLnBrk="0" hangingPunct="0">
              <a:lnSpc>
                <a:spcPct val="20000"/>
              </a:lnSpc>
              <a:spcBef>
                <a:spcPct val="50000"/>
              </a:spcBef>
            </a:pPr>
            <a:r>
              <a:rPr lang="zh-CN" altLang="en-US" sz="2600" dirty="0">
                <a:solidFill>
                  <a:srgbClr val="0000FF"/>
                </a:solidFill>
                <a:latin typeface="Times New Roman" panose="02020603050405020304" pitchFamily="18" charset="0"/>
                <a:ea typeface="华文新魏" panose="02010800040101010101" pitchFamily="2" charset="-122"/>
              </a:rPr>
              <a:t>束间形成层</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7" name="Rectangle 3"/>
          <p:cNvSpPr>
            <a:spLocks noGrp="1"/>
          </p:cNvSpPr>
          <p:nvPr>
            <p:ph idx="1"/>
          </p:nvPr>
        </p:nvSpPr>
        <p:spPr>
          <a:xfrm>
            <a:off x="0" y="1295400"/>
            <a:ext cx="8856663" cy="4941888"/>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）双子叶植物茎的次生结构</a:t>
            </a:r>
            <a:r>
              <a:rPr lang="en-US" altLang="zh-CN"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维管形成层的来源和活动</a:t>
            </a:r>
          </a:p>
          <a:p>
            <a:pPr lvl="1" eaLnBrk="1" hangingPunct="1">
              <a:buNone/>
            </a:pPr>
            <a:r>
              <a:rPr lang="zh-CN" altLang="en-US" b="1" dirty="0">
                <a:latin typeface="黑体" panose="02010609060101010101" pitchFamily="49" charset="-122"/>
                <a:ea typeface="黑体" panose="02010609060101010101" pitchFamily="49" charset="-122"/>
              </a:rPr>
              <a:t>①维管形成层的来源、形成及活动规律</a:t>
            </a:r>
          </a:p>
          <a:p>
            <a:pPr lvl="1" eaLnBrk="1" hangingPunct="1"/>
            <a:r>
              <a:rPr lang="zh-CN" altLang="en-US" b="1" dirty="0">
                <a:solidFill>
                  <a:srgbClr val="0000FF"/>
                </a:solidFill>
                <a:latin typeface="黑体" panose="02010609060101010101" pitchFamily="49" charset="-122"/>
                <a:ea typeface="黑体" panose="02010609060101010101" pitchFamily="49" charset="-122"/>
              </a:rPr>
              <a:t>性质和来源讨论：</a:t>
            </a:r>
            <a:r>
              <a:rPr lang="zh-CN" altLang="en-US" b="1" dirty="0">
                <a:latin typeface="黑体" panose="02010609060101010101" pitchFamily="49" charset="-122"/>
                <a:ea typeface="黑体" panose="02010609060101010101" pitchFamily="49" charset="-122"/>
              </a:rPr>
              <a:t>关键是束中形成层的性质。</a:t>
            </a:r>
          </a:p>
          <a:p>
            <a:pPr lvl="2" algn="just" eaLnBrk="1" hangingPunct="1"/>
            <a:r>
              <a:rPr lang="zh-CN" altLang="en-US" b="1" dirty="0">
                <a:solidFill>
                  <a:srgbClr val="FF0000"/>
                </a:solidFill>
                <a:latin typeface="黑体" panose="02010609060101010101" pitchFamily="49" charset="-122"/>
                <a:ea typeface="黑体" panose="02010609060101010101" pitchFamily="49" charset="-122"/>
              </a:rPr>
              <a:t>组织特征方面：</a:t>
            </a:r>
            <a:r>
              <a:rPr lang="zh-CN" altLang="en-US" b="1" dirty="0">
                <a:solidFill>
                  <a:schemeClr val="tx1"/>
                </a:solidFill>
                <a:latin typeface="黑体" panose="02010609060101010101" pitchFamily="49" charset="-122"/>
                <a:ea typeface="黑体" panose="02010609060101010101" pitchFamily="49" charset="-122"/>
              </a:rPr>
              <a:t>原形成层细胞小，质浓，大小均匀；束中形成层细胞大小、长短不一，并液泡化，为非均一组织。两者差异较大。</a:t>
            </a:r>
          </a:p>
          <a:p>
            <a:pPr lvl="2" algn="just" eaLnBrk="1" hangingPunct="1"/>
            <a:r>
              <a:rPr lang="zh-CN" altLang="en-US" b="1" dirty="0">
                <a:solidFill>
                  <a:srgbClr val="FF0000"/>
                </a:solidFill>
                <a:latin typeface="黑体" panose="02010609060101010101" pitchFamily="49" charset="-122"/>
                <a:ea typeface="黑体" panose="02010609060101010101" pitchFamily="49" charset="-122"/>
              </a:rPr>
              <a:t>发育方面：</a:t>
            </a:r>
            <a:r>
              <a:rPr lang="zh-CN" altLang="en-US" b="1" dirty="0">
                <a:solidFill>
                  <a:schemeClr val="tx1"/>
                </a:solidFill>
                <a:latin typeface="黑体" panose="02010609060101010101" pitchFamily="49" charset="-122"/>
                <a:ea typeface="黑体" panose="02010609060101010101" pitchFamily="49" charset="-122"/>
              </a:rPr>
              <a:t>束中形成层是随着整个维管束一同进行发育而产生的，较原形成层有明显的分化。</a:t>
            </a:r>
          </a:p>
          <a:p>
            <a:pPr lvl="2" algn="just" eaLnBrk="1" hangingPunct="1"/>
            <a:r>
              <a:rPr lang="zh-CN" altLang="en-US" b="1" dirty="0">
                <a:solidFill>
                  <a:srgbClr val="FF0000"/>
                </a:solidFill>
                <a:latin typeface="黑体" panose="02010609060101010101" pitchFamily="49" charset="-122"/>
                <a:ea typeface="黑体" panose="02010609060101010101" pitchFamily="49" charset="-122"/>
              </a:rPr>
              <a:t>活动方式：</a:t>
            </a:r>
            <a:r>
              <a:rPr lang="zh-CN" altLang="en-US" b="1" dirty="0">
                <a:solidFill>
                  <a:schemeClr val="tx1"/>
                </a:solidFill>
                <a:latin typeface="黑体" panose="02010609060101010101" pitchFamily="49" charset="-122"/>
                <a:ea typeface="黑体" panose="02010609060101010101" pitchFamily="49" charset="-122"/>
              </a:rPr>
              <a:t>束中形成层与束间形成层的活动规律完全相同。</a:t>
            </a:r>
          </a:p>
          <a:p>
            <a:pPr lvl="1" algn="just" eaLnBrk="1" hangingPunct="1"/>
            <a:r>
              <a:rPr lang="zh-CN" altLang="en-US" b="1" dirty="0">
                <a:latin typeface="黑体" panose="02010609060101010101" pitchFamily="49" charset="-122"/>
                <a:ea typeface="黑体" panose="02010609060101010101" pitchFamily="49" charset="-122"/>
              </a:rPr>
              <a:t>因此，硬要将束中形成层向初生分生组织上靠有点免强。</a:t>
            </a:r>
          </a:p>
        </p:txBody>
      </p:sp>
      <p:sp>
        <p:nvSpPr>
          <p:cNvPr id="516098"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30163" y="1239838"/>
            <a:ext cx="9037638" cy="50815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）双子叶植物茎的次生结构</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维管形成层的来源和活动</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①维管形成层的来源、形成及活动规律</a:t>
            </a:r>
          </a:p>
          <a:p>
            <a:pPr marL="457200" marR="0" lvl="1"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维管形成层的活动规律：</a:t>
            </a:r>
            <a:r>
              <a:rPr kumimoji="0" lang="zh-CN" altLang="en-US" sz="25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束中形成层和束间形成层细胞均为切向分裂。</a:t>
            </a:r>
          </a:p>
          <a:p>
            <a:pPr marL="1143000" marR="0" lvl="2" indent="-2286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向外形成次生韧皮部母细胞，以后  分化成次生韧皮部，添加在初生韧皮部的内方。</a:t>
            </a:r>
          </a:p>
          <a:p>
            <a:pPr marL="1143000" marR="0" lvl="2" indent="-2286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向内形成次生木质部母细胞，以后分化成次生木质部，添加在初生木质部的外方。</a:t>
            </a:r>
          </a:p>
          <a:p>
            <a:pPr marL="1143000" marR="0" lvl="2" indent="-2286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射线：</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髓射线部分也由于细胞分裂不断地产生新细胞，在径向延长了原有的髓射线</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。茎的次生结构不断地增加，达一定宽度时，在次生韧皮部和次生木质部内，又能分别地产生新的</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维管射线</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a:t>
            </a:r>
            <a:r>
              <a:rPr kumimoji="0" lang="zh-CN" altLang="en-US" sz="21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 </a:t>
            </a:r>
          </a:p>
        </p:txBody>
      </p:sp>
      <p:sp>
        <p:nvSpPr>
          <p:cNvPr id="517122"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8145" name="Picture 2" descr="D:\lzc\植物学教学材料\植物学教学资料收集\挂图\茎\茎的次生结构\木质部和形成层.gif"/>
          <p:cNvPicPr>
            <a:picLocks noChangeAspect="1"/>
          </p:cNvPicPr>
          <p:nvPr/>
        </p:nvPicPr>
        <p:blipFill>
          <a:blip r:embed="rId2"/>
          <a:stretch>
            <a:fillRect/>
          </a:stretch>
        </p:blipFill>
        <p:spPr>
          <a:xfrm>
            <a:off x="1143000" y="0"/>
            <a:ext cx="6858000" cy="6553200"/>
          </a:xfrm>
          <a:prstGeom prst="rect">
            <a:avLst/>
          </a:prstGeom>
          <a:noFill/>
          <a:ln w="9525">
            <a:noFill/>
          </a:ln>
        </p:spPr>
      </p:pic>
      <p:sp>
        <p:nvSpPr>
          <p:cNvPr id="518146" name="AutoShape 3"/>
          <p:cNvSpPr/>
          <p:nvPr/>
        </p:nvSpPr>
        <p:spPr>
          <a:xfrm rot="-5282959">
            <a:off x="3543300" y="4686300"/>
            <a:ext cx="381000" cy="1676400"/>
          </a:xfrm>
          <a:prstGeom prst="leftBrace">
            <a:avLst>
              <a:gd name="adj1" fmla="val 36381"/>
              <a:gd name="adj2" fmla="val 50000"/>
            </a:avLst>
          </a:prstGeom>
          <a:noFill/>
          <a:ln w="38100" cap="flat" cmpd="sng">
            <a:solidFill>
              <a:srgbClr val="FFFF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18147" name="Text Box 4"/>
          <p:cNvSpPr txBox="1"/>
          <p:nvPr/>
        </p:nvSpPr>
        <p:spPr>
          <a:xfrm>
            <a:off x="2971800" y="5638800"/>
            <a:ext cx="3124200" cy="457200"/>
          </a:xfrm>
          <a:prstGeom prst="rect">
            <a:avLst/>
          </a:prstGeom>
          <a:noFill/>
          <a:ln w="9525">
            <a:noFill/>
          </a:ln>
        </p:spPr>
        <p:txBody>
          <a:bodyPr anchor="t" anchorCtr="0">
            <a:spAutoFit/>
          </a:bodyPr>
          <a:lstStyle/>
          <a:p>
            <a:pPr eaLnBrk="0" hangingPunct="0">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形成层区</a:t>
            </a:r>
          </a:p>
        </p:txBody>
      </p:sp>
      <p:sp>
        <p:nvSpPr>
          <p:cNvPr id="518148" name="AutoShape 5"/>
          <p:cNvSpPr/>
          <p:nvPr/>
        </p:nvSpPr>
        <p:spPr>
          <a:xfrm rot="-5282959">
            <a:off x="6022975" y="1168400"/>
            <a:ext cx="609600" cy="3200400"/>
          </a:xfrm>
          <a:prstGeom prst="leftBrace">
            <a:avLst>
              <a:gd name="adj1" fmla="val 43750"/>
              <a:gd name="adj2" fmla="val 50000"/>
            </a:avLst>
          </a:prstGeom>
          <a:noFill/>
          <a:ln w="38100" cap="flat" cmpd="sng">
            <a:solidFill>
              <a:srgbClr val="FFFF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18149" name="Text Box 6"/>
          <p:cNvSpPr txBox="1"/>
          <p:nvPr/>
        </p:nvSpPr>
        <p:spPr>
          <a:xfrm>
            <a:off x="5486400" y="2971800"/>
            <a:ext cx="1828800" cy="793750"/>
          </a:xfrm>
          <a:prstGeom prst="rect">
            <a:avLst/>
          </a:prstGeom>
          <a:noFill/>
          <a:ln w="9525">
            <a:noFill/>
          </a:ln>
        </p:spPr>
        <p:txBody>
          <a:bodyPr anchor="t" anchorCtr="0">
            <a:spAutoFit/>
          </a:bodyPr>
          <a:lstStyle/>
          <a:p>
            <a:pPr algn="ctr" eaLnBrk="0" hangingPunct="0">
              <a:spcBef>
                <a:spcPct val="50000"/>
              </a:spcBef>
            </a:pPr>
            <a:r>
              <a:rPr lang="zh-CN" altLang="en-US" sz="2300" dirty="0">
                <a:solidFill>
                  <a:srgbClr val="FF3300"/>
                </a:solidFill>
                <a:latin typeface="Times New Roman" panose="02020603050405020304" pitchFamily="18" charset="0"/>
                <a:ea typeface="华文新魏" panose="02010800040101010101" pitchFamily="2" charset="-122"/>
              </a:rPr>
              <a:t>次生韧皮部（外）</a:t>
            </a:r>
          </a:p>
        </p:txBody>
      </p:sp>
      <p:sp>
        <p:nvSpPr>
          <p:cNvPr id="518150" name="AutoShape 7"/>
          <p:cNvSpPr/>
          <p:nvPr/>
        </p:nvSpPr>
        <p:spPr>
          <a:xfrm rot="-5282959">
            <a:off x="1905000" y="1752600"/>
            <a:ext cx="457200" cy="1981200"/>
          </a:xfrm>
          <a:prstGeom prst="leftBrace">
            <a:avLst>
              <a:gd name="adj1" fmla="val 35830"/>
              <a:gd name="adj2" fmla="val 50000"/>
            </a:avLst>
          </a:prstGeom>
          <a:noFill/>
          <a:ln w="38100" cap="flat" cmpd="sng">
            <a:solidFill>
              <a:srgbClr val="FFFF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18151" name="Text Box 8"/>
          <p:cNvSpPr txBox="1"/>
          <p:nvPr/>
        </p:nvSpPr>
        <p:spPr>
          <a:xfrm>
            <a:off x="1143000" y="2895600"/>
            <a:ext cx="1828800" cy="793750"/>
          </a:xfrm>
          <a:prstGeom prst="rect">
            <a:avLst/>
          </a:prstGeom>
          <a:noFill/>
          <a:ln w="9525">
            <a:noFill/>
          </a:ln>
        </p:spPr>
        <p:txBody>
          <a:bodyPr anchor="t" anchorCtr="0">
            <a:spAutoFit/>
          </a:bodyPr>
          <a:lstStyle/>
          <a:p>
            <a:pPr algn="ctr" eaLnBrk="0" hangingPunct="0">
              <a:spcBef>
                <a:spcPct val="50000"/>
              </a:spcBef>
            </a:pPr>
            <a:r>
              <a:rPr lang="zh-CN" altLang="en-US" sz="2300" dirty="0">
                <a:solidFill>
                  <a:srgbClr val="FFFF00"/>
                </a:solidFill>
                <a:latin typeface="Times New Roman" panose="02020603050405020304" pitchFamily="18" charset="0"/>
                <a:ea typeface="华文新魏" panose="02010800040101010101" pitchFamily="2" charset="-122"/>
              </a:rPr>
              <a:t>次生木质部（内）</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9169" name="Picture 2" descr="D:\lzc\植物学教学材料\植物学教学资料收集\挂图\茎\茎的初生结构\向日葵茎横切.jpg"/>
          <p:cNvPicPr>
            <a:picLocks noChangeAspect="1"/>
          </p:cNvPicPr>
          <p:nvPr/>
        </p:nvPicPr>
        <p:blipFill>
          <a:blip r:embed="rId2"/>
          <a:stretch>
            <a:fillRect/>
          </a:stretch>
        </p:blipFill>
        <p:spPr>
          <a:xfrm>
            <a:off x="5334000" y="3506788"/>
            <a:ext cx="3810000" cy="2970212"/>
          </a:xfrm>
          <a:prstGeom prst="rect">
            <a:avLst/>
          </a:prstGeom>
          <a:noFill/>
          <a:ln w="9525">
            <a:noFill/>
          </a:ln>
        </p:spPr>
      </p:pic>
      <p:pic>
        <p:nvPicPr>
          <p:cNvPr id="519170" name="Picture 3" descr="D:\lzc\植物学教学材料\植物学教学资料收集\挂图\茎\茎的次生结构\椴树茎横切1.jpg"/>
          <p:cNvPicPr>
            <a:picLocks noChangeAspect="1"/>
          </p:cNvPicPr>
          <p:nvPr/>
        </p:nvPicPr>
        <p:blipFill>
          <a:blip r:embed="rId3"/>
          <a:stretch>
            <a:fillRect/>
          </a:stretch>
        </p:blipFill>
        <p:spPr>
          <a:xfrm>
            <a:off x="0" y="0"/>
            <a:ext cx="6019800" cy="4394200"/>
          </a:xfrm>
          <a:prstGeom prst="rect">
            <a:avLst/>
          </a:prstGeom>
          <a:noFill/>
          <a:ln w="9525">
            <a:noFill/>
          </a:ln>
        </p:spPr>
      </p:pic>
      <p:sp>
        <p:nvSpPr>
          <p:cNvPr id="519171" name="Freeform 4"/>
          <p:cNvSpPr/>
          <p:nvPr/>
        </p:nvSpPr>
        <p:spPr>
          <a:xfrm>
            <a:off x="331788" y="2203450"/>
            <a:ext cx="2806700" cy="8651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768" h="545">
                <a:moveTo>
                  <a:pt x="1768" y="314"/>
                </a:moveTo>
                <a:cubicBezTo>
                  <a:pt x="1697" y="337"/>
                  <a:pt x="1619" y="298"/>
                  <a:pt x="1545" y="288"/>
                </a:cubicBezTo>
                <a:cubicBezTo>
                  <a:pt x="1467" y="277"/>
                  <a:pt x="1310" y="261"/>
                  <a:pt x="1310" y="261"/>
                </a:cubicBezTo>
                <a:cubicBezTo>
                  <a:pt x="1142" y="220"/>
                  <a:pt x="1184" y="236"/>
                  <a:pt x="904" y="248"/>
                </a:cubicBezTo>
                <a:cubicBezTo>
                  <a:pt x="804" y="244"/>
                  <a:pt x="703" y="247"/>
                  <a:pt x="603" y="235"/>
                </a:cubicBezTo>
                <a:cubicBezTo>
                  <a:pt x="591" y="234"/>
                  <a:pt x="587" y="215"/>
                  <a:pt x="576" y="209"/>
                </a:cubicBezTo>
                <a:cubicBezTo>
                  <a:pt x="564" y="202"/>
                  <a:pt x="550" y="200"/>
                  <a:pt x="537" y="196"/>
                </a:cubicBezTo>
                <a:cubicBezTo>
                  <a:pt x="528" y="183"/>
                  <a:pt x="523" y="167"/>
                  <a:pt x="511" y="157"/>
                </a:cubicBezTo>
                <a:cubicBezTo>
                  <a:pt x="478" y="130"/>
                  <a:pt x="324" y="109"/>
                  <a:pt x="288" y="104"/>
                </a:cubicBezTo>
                <a:cubicBezTo>
                  <a:pt x="257" y="83"/>
                  <a:pt x="232" y="52"/>
                  <a:pt x="197" y="39"/>
                </a:cubicBezTo>
                <a:cubicBezTo>
                  <a:pt x="146" y="20"/>
                  <a:pt x="40" y="0"/>
                  <a:pt x="40" y="0"/>
                </a:cubicBezTo>
                <a:cubicBezTo>
                  <a:pt x="30" y="62"/>
                  <a:pt x="21" y="123"/>
                  <a:pt x="0" y="183"/>
                </a:cubicBezTo>
                <a:cubicBezTo>
                  <a:pt x="10" y="248"/>
                  <a:pt x="20" y="305"/>
                  <a:pt x="40" y="366"/>
                </a:cubicBezTo>
                <a:cubicBezTo>
                  <a:pt x="65" y="545"/>
                  <a:pt x="26" y="500"/>
                  <a:pt x="249" y="484"/>
                </a:cubicBezTo>
                <a:cubicBezTo>
                  <a:pt x="359" y="410"/>
                  <a:pt x="220" y="498"/>
                  <a:pt x="328" y="445"/>
                </a:cubicBezTo>
                <a:cubicBezTo>
                  <a:pt x="342" y="438"/>
                  <a:pt x="353" y="425"/>
                  <a:pt x="367" y="419"/>
                </a:cubicBezTo>
                <a:cubicBezTo>
                  <a:pt x="392" y="408"/>
                  <a:pt x="446" y="392"/>
                  <a:pt x="446" y="392"/>
                </a:cubicBezTo>
                <a:cubicBezTo>
                  <a:pt x="524" y="340"/>
                  <a:pt x="547" y="307"/>
                  <a:pt x="642" y="288"/>
                </a:cubicBezTo>
                <a:cubicBezTo>
                  <a:pt x="673" y="241"/>
                  <a:pt x="652" y="248"/>
                  <a:pt x="694" y="248"/>
                </a:cubicBezTo>
              </a:path>
            </a:pathLst>
          </a:custGeom>
          <a:noFill/>
          <a:ln w="38100" cap="flat" cmpd="sng">
            <a:solidFill>
              <a:srgbClr val="FFFF00"/>
            </a:solidFill>
            <a:prstDash val="lgDash"/>
            <a:round/>
            <a:headEnd type="none" w="med" len="med"/>
            <a:tailEnd type="none" w="med" len="med"/>
          </a:ln>
        </p:spPr>
        <p:txBody>
          <a:bodyPr/>
          <a:lstStyle/>
          <a:p>
            <a:endParaRPr lang="zh-CN" altLang="en-US"/>
          </a:p>
        </p:txBody>
      </p:sp>
      <p:sp>
        <p:nvSpPr>
          <p:cNvPr id="519172" name="Freeform 5"/>
          <p:cNvSpPr/>
          <p:nvPr/>
        </p:nvSpPr>
        <p:spPr>
          <a:xfrm>
            <a:off x="7107238" y="3922713"/>
            <a:ext cx="233362" cy="754062"/>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0" t="0" r="0" b="0"/>
            <a:pathLst>
              <a:path w="147" h="475">
                <a:moveTo>
                  <a:pt x="0" y="38"/>
                </a:moveTo>
                <a:cubicBezTo>
                  <a:pt x="38" y="25"/>
                  <a:pt x="93" y="0"/>
                  <a:pt x="131" y="38"/>
                </a:cubicBezTo>
                <a:cubicBezTo>
                  <a:pt x="147" y="54"/>
                  <a:pt x="122" y="82"/>
                  <a:pt x="118" y="104"/>
                </a:cubicBezTo>
                <a:cubicBezTo>
                  <a:pt x="114" y="222"/>
                  <a:pt x="127" y="341"/>
                  <a:pt x="105" y="457"/>
                </a:cubicBezTo>
                <a:cubicBezTo>
                  <a:pt x="102" y="475"/>
                  <a:pt x="64" y="458"/>
                  <a:pt x="52" y="444"/>
                </a:cubicBezTo>
                <a:cubicBezTo>
                  <a:pt x="34" y="423"/>
                  <a:pt x="26" y="365"/>
                  <a:pt x="26" y="365"/>
                </a:cubicBezTo>
                <a:cubicBezTo>
                  <a:pt x="8" y="151"/>
                  <a:pt x="17" y="260"/>
                  <a:pt x="0" y="38"/>
                </a:cubicBezTo>
                <a:close/>
              </a:path>
            </a:pathLst>
          </a:custGeom>
          <a:noFill/>
          <a:ln w="38100" cap="flat" cmpd="sng">
            <a:solidFill>
              <a:srgbClr val="FF3300"/>
            </a:solidFill>
            <a:prstDash val="lgDash"/>
            <a:round/>
            <a:headEnd type="none" w="med" len="med"/>
            <a:tailEnd type="none" w="med" len="med"/>
          </a:ln>
        </p:spPr>
        <p:txBody>
          <a:bodyPr/>
          <a:lstStyle/>
          <a:p>
            <a:endParaRPr lang="zh-CN" altLang="en-US"/>
          </a:p>
        </p:txBody>
      </p:sp>
      <p:sp>
        <p:nvSpPr>
          <p:cNvPr id="519173" name="Line 6"/>
          <p:cNvSpPr/>
          <p:nvPr/>
        </p:nvSpPr>
        <p:spPr>
          <a:xfrm>
            <a:off x="685800" y="2971800"/>
            <a:ext cx="0" cy="175260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74" name="Text Box 7"/>
          <p:cNvSpPr txBox="1"/>
          <p:nvPr/>
        </p:nvSpPr>
        <p:spPr>
          <a:xfrm>
            <a:off x="0" y="4648200"/>
            <a:ext cx="5334000" cy="457200"/>
          </a:xfrm>
          <a:prstGeom prst="rect">
            <a:avLst/>
          </a:prstGeom>
          <a:noFill/>
          <a:ln w="9525">
            <a:noFill/>
          </a:ln>
        </p:spPr>
        <p:txBody>
          <a:bodyPr anchor="t" anchorCtr="0">
            <a:spAutoFit/>
          </a:bodyPr>
          <a:lstStyle/>
          <a:p>
            <a:pPr eaLnBrk="0" hangingPunct="0">
              <a:spcBef>
                <a:spcPct val="50000"/>
              </a:spcBef>
            </a:pPr>
            <a:r>
              <a:rPr lang="zh-CN" altLang="en-US" dirty="0">
                <a:latin typeface="华文新魏" panose="02010800040101010101" pitchFamily="2" charset="-122"/>
                <a:ea typeface="华文新魏" panose="02010800040101010101" pitchFamily="2" charset="-122"/>
              </a:rPr>
              <a:t>维管射线   次生韧皮部     次生木质部</a:t>
            </a:r>
          </a:p>
        </p:txBody>
      </p:sp>
      <p:sp>
        <p:nvSpPr>
          <p:cNvPr id="519175" name="Line 8"/>
          <p:cNvSpPr/>
          <p:nvPr/>
        </p:nvSpPr>
        <p:spPr>
          <a:xfrm flipV="1">
            <a:off x="7239000" y="3200400"/>
            <a:ext cx="0" cy="76200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76" name="Line 9"/>
          <p:cNvSpPr/>
          <p:nvPr/>
        </p:nvSpPr>
        <p:spPr>
          <a:xfrm>
            <a:off x="5486400" y="1981200"/>
            <a:ext cx="838200" cy="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77" name="Line 10"/>
          <p:cNvSpPr/>
          <p:nvPr/>
        </p:nvSpPr>
        <p:spPr>
          <a:xfrm>
            <a:off x="5334000" y="2590800"/>
            <a:ext cx="990600" cy="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78" name="Line 11"/>
          <p:cNvSpPr/>
          <p:nvPr/>
        </p:nvSpPr>
        <p:spPr>
          <a:xfrm>
            <a:off x="2971800" y="228600"/>
            <a:ext cx="3276600" cy="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79" name="Line 12"/>
          <p:cNvSpPr/>
          <p:nvPr/>
        </p:nvSpPr>
        <p:spPr>
          <a:xfrm>
            <a:off x="1600200" y="2057400"/>
            <a:ext cx="1600200" cy="304800"/>
          </a:xfrm>
          <a:prstGeom prst="line">
            <a:avLst/>
          </a:prstGeom>
          <a:ln w="38100" cap="flat" cmpd="sng">
            <a:solidFill>
              <a:srgbClr val="FF3300"/>
            </a:solidFill>
            <a:prstDash val="lgDash"/>
            <a:round/>
            <a:headEnd type="triangle" w="med" len="med"/>
            <a:tailEnd type="triangle" w="med" len="med"/>
          </a:ln>
        </p:spPr>
        <p:txBody>
          <a:bodyPr/>
          <a:lstStyle/>
          <a:p>
            <a:endParaRPr lang="zh-CN" altLang="en-US"/>
          </a:p>
        </p:txBody>
      </p:sp>
      <p:sp>
        <p:nvSpPr>
          <p:cNvPr id="519180" name="Line 13"/>
          <p:cNvSpPr/>
          <p:nvPr/>
        </p:nvSpPr>
        <p:spPr>
          <a:xfrm flipH="1" flipV="1">
            <a:off x="533400" y="1828800"/>
            <a:ext cx="1066800" cy="228600"/>
          </a:xfrm>
          <a:prstGeom prst="line">
            <a:avLst/>
          </a:prstGeom>
          <a:ln w="38100" cap="flat" cmpd="sng">
            <a:solidFill>
              <a:srgbClr val="FFFF00"/>
            </a:solidFill>
            <a:prstDash val="lgDash"/>
            <a:round/>
            <a:headEnd type="triangle" w="med" len="med"/>
            <a:tailEnd type="triangle" w="med" len="med"/>
          </a:ln>
        </p:spPr>
        <p:txBody>
          <a:bodyPr/>
          <a:lstStyle/>
          <a:p>
            <a:endParaRPr lang="zh-CN" altLang="en-US"/>
          </a:p>
        </p:txBody>
      </p:sp>
      <p:sp>
        <p:nvSpPr>
          <p:cNvPr id="519181" name="Line 14"/>
          <p:cNvSpPr/>
          <p:nvPr/>
        </p:nvSpPr>
        <p:spPr>
          <a:xfrm rot="-700883">
            <a:off x="304800" y="1828800"/>
            <a:ext cx="228600" cy="76200"/>
          </a:xfrm>
          <a:prstGeom prst="line">
            <a:avLst/>
          </a:prstGeom>
          <a:ln w="9525" cap="flat" cmpd="sng">
            <a:solidFill>
              <a:srgbClr val="CCFF33"/>
            </a:solidFill>
            <a:prstDash val="solid"/>
            <a:round/>
            <a:headEnd type="triangle" w="med" len="med"/>
            <a:tailEnd type="triangle" w="med" len="med"/>
          </a:ln>
        </p:spPr>
        <p:txBody>
          <a:bodyPr/>
          <a:lstStyle/>
          <a:p>
            <a:endParaRPr lang="zh-CN" altLang="en-US"/>
          </a:p>
        </p:txBody>
      </p:sp>
      <p:sp>
        <p:nvSpPr>
          <p:cNvPr id="519182" name="Line 15"/>
          <p:cNvSpPr/>
          <p:nvPr/>
        </p:nvSpPr>
        <p:spPr>
          <a:xfrm>
            <a:off x="1295400" y="1981200"/>
            <a:ext cx="1066800" cy="266700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83" name="Line 16"/>
          <p:cNvSpPr/>
          <p:nvPr/>
        </p:nvSpPr>
        <p:spPr>
          <a:xfrm>
            <a:off x="2286000" y="2209800"/>
            <a:ext cx="1600200" cy="243840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84" name="Line 17"/>
          <p:cNvSpPr/>
          <p:nvPr/>
        </p:nvSpPr>
        <p:spPr>
          <a:xfrm flipH="1" flipV="1">
            <a:off x="3200400" y="1600200"/>
            <a:ext cx="381000" cy="381000"/>
          </a:xfrm>
          <a:prstGeom prst="line">
            <a:avLst/>
          </a:prstGeom>
          <a:ln w="38100" cap="flat" cmpd="sng">
            <a:solidFill>
              <a:srgbClr val="FFFF00"/>
            </a:solidFill>
            <a:prstDash val="lgDash"/>
            <a:round/>
            <a:headEnd type="triangle" w="med" len="med"/>
            <a:tailEnd type="triangle" w="med" len="med"/>
          </a:ln>
        </p:spPr>
        <p:txBody>
          <a:bodyPr/>
          <a:lstStyle/>
          <a:p>
            <a:endParaRPr lang="zh-CN" altLang="en-US"/>
          </a:p>
        </p:txBody>
      </p:sp>
      <p:sp>
        <p:nvSpPr>
          <p:cNvPr id="519185" name="Line 18"/>
          <p:cNvSpPr/>
          <p:nvPr/>
        </p:nvSpPr>
        <p:spPr>
          <a:xfrm flipH="1" flipV="1">
            <a:off x="2743200" y="1143000"/>
            <a:ext cx="457200" cy="457200"/>
          </a:xfrm>
          <a:prstGeom prst="line">
            <a:avLst/>
          </a:prstGeom>
          <a:ln w="38100" cap="flat" cmpd="sng">
            <a:solidFill>
              <a:srgbClr val="FF3300"/>
            </a:solidFill>
            <a:prstDash val="lgDash"/>
            <a:round/>
            <a:headEnd type="triangle" w="med" len="med"/>
            <a:tailEnd type="triangle" w="med" len="med"/>
          </a:ln>
        </p:spPr>
        <p:txBody>
          <a:bodyPr/>
          <a:lstStyle/>
          <a:p>
            <a:endParaRPr lang="zh-CN" altLang="en-US"/>
          </a:p>
        </p:txBody>
      </p:sp>
      <p:sp>
        <p:nvSpPr>
          <p:cNvPr id="519186" name="Line 19"/>
          <p:cNvSpPr/>
          <p:nvPr/>
        </p:nvSpPr>
        <p:spPr>
          <a:xfrm flipH="1" flipV="1">
            <a:off x="2286000" y="685800"/>
            <a:ext cx="457200" cy="457200"/>
          </a:xfrm>
          <a:prstGeom prst="line">
            <a:avLst/>
          </a:prstGeom>
          <a:ln w="38100" cap="flat" cmpd="sng">
            <a:solidFill>
              <a:srgbClr val="FFFF00"/>
            </a:solidFill>
            <a:prstDash val="lgDash"/>
            <a:round/>
            <a:headEnd type="triangle" w="med" len="med"/>
            <a:tailEnd type="triangle" w="med" len="med"/>
          </a:ln>
        </p:spPr>
        <p:txBody>
          <a:bodyPr/>
          <a:lstStyle/>
          <a:p>
            <a:endParaRPr lang="zh-CN" altLang="en-US"/>
          </a:p>
        </p:txBody>
      </p:sp>
      <p:sp>
        <p:nvSpPr>
          <p:cNvPr id="519187" name="Line 20"/>
          <p:cNvSpPr/>
          <p:nvPr/>
        </p:nvSpPr>
        <p:spPr>
          <a:xfrm>
            <a:off x="3048000" y="1447800"/>
            <a:ext cx="3276600" cy="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88" name="Line 21"/>
          <p:cNvSpPr/>
          <p:nvPr/>
        </p:nvSpPr>
        <p:spPr>
          <a:xfrm flipH="1">
            <a:off x="5562600" y="457200"/>
            <a:ext cx="152400" cy="304800"/>
          </a:xfrm>
          <a:prstGeom prst="line">
            <a:avLst/>
          </a:prstGeom>
          <a:ln w="28575" cap="flat" cmpd="sng">
            <a:solidFill>
              <a:srgbClr val="FF3300"/>
            </a:solidFill>
            <a:prstDash val="solid"/>
            <a:round/>
            <a:headEnd type="triangle" w="med" len="med"/>
            <a:tailEnd type="triangle" w="med" len="med"/>
          </a:ln>
        </p:spPr>
        <p:txBody>
          <a:bodyPr/>
          <a:lstStyle/>
          <a:p>
            <a:endParaRPr lang="zh-CN" altLang="en-US"/>
          </a:p>
        </p:txBody>
      </p:sp>
      <p:sp>
        <p:nvSpPr>
          <p:cNvPr id="519189" name="Line 22"/>
          <p:cNvSpPr/>
          <p:nvPr/>
        </p:nvSpPr>
        <p:spPr>
          <a:xfrm flipH="1">
            <a:off x="5410200" y="762000"/>
            <a:ext cx="152400" cy="304800"/>
          </a:xfrm>
          <a:prstGeom prst="line">
            <a:avLst/>
          </a:prstGeom>
          <a:ln w="28575" cap="flat" cmpd="sng">
            <a:solidFill>
              <a:srgbClr val="FFFF00"/>
            </a:solidFill>
            <a:prstDash val="solid"/>
            <a:round/>
            <a:headEnd type="triangle" w="med" len="med"/>
            <a:tailEnd type="triangle" w="med" len="med"/>
          </a:ln>
        </p:spPr>
        <p:txBody>
          <a:bodyPr/>
          <a:lstStyle/>
          <a:p>
            <a:endParaRPr lang="zh-CN" altLang="en-US"/>
          </a:p>
        </p:txBody>
      </p:sp>
      <p:sp>
        <p:nvSpPr>
          <p:cNvPr id="519190" name="Line 23"/>
          <p:cNvSpPr/>
          <p:nvPr/>
        </p:nvSpPr>
        <p:spPr>
          <a:xfrm>
            <a:off x="5638800" y="533400"/>
            <a:ext cx="609600" cy="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91" name="Line 24"/>
          <p:cNvSpPr/>
          <p:nvPr/>
        </p:nvSpPr>
        <p:spPr>
          <a:xfrm>
            <a:off x="5486400" y="914400"/>
            <a:ext cx="762000" cy="0"/>
          </a:xfrm>
          <a:prstGeom prst="line">
            <a:avLst/>
          </a:prstGeom>
          <a:ln w="38100" cap="flat" cmpd="sng">
            <a:solidFill>
              <a:srgbClr val="FF3300"/>
            </a:solidFill>
            <a:prstDash val="lgDash"/>
            <a:round/>
            <a:headEnd type="none" w="med" len="med"/>
            <a:tailEnd type="none" w="med" len="med"/>
          </a:ln>
        </p:spPr>
        <p:txBody>
          <a:bodyPr/>
          <a:lstStyle/>
          <a:p>
            <a:endParaRPr lang="zh-CN" altLang="en-US"/>
          </a:p>
        </p:txBody>
      </p:sp>
      <p:sp>
        <p:nvSpPr>
          <p:cNvPr id="519192" name="Text Box 25"/>
          <p:cNvSpPr txBox="1"/>
          <p:nvPr/>
        </p:nvSpPr>
        <p:spPr>
          <a:xfrm>
            <a:off x="6248400" y="0"/>
            <a:ext cx="2133600" cy="3267075"/>
          </a:xfrm>
          <a:prstGeom prst="rect">
            <a:avLst/>
          </a:prstGeom>
          <a:noFill/>
          <a:ln w="9525">
            <a:noFill/>
          </a:ln>
        </p:spPr>
        <p:txBody>
          <a:bodyPr anchor="t" anchorCtr="0">
            <a:spAutoFit/>
          </a:bodyPr>
          <a:lstStyle/>
          <a:p>
            <a:pPr eaLnBrk="0" hangingPunct="0">
              <a:lnSpc>
                <a:spcPct val="80000"/>
              </a:lnSpc>
              <a:spcBef>
                <a:spcPct val="50000"/>
              </a:spcBef>
            </a:pPr>
            <a:r>
              <a:rPr lang="zh-CN" altLang="en-US" sz="2100" dirty="0">
                <a:latin typeface="华文新魏" panose="02010800040101010101" pitchFamily="2" charset="-122"/>
                <a:ea typeface="华文新魏" panose="02010800040101010101" pitchFamily="2" charset="-122"/>
              </a:rPr>
              <a:t>维管形成层</a:t>
            </a:r>
          </a:p>
          <a:p>
            <a:pPr eaLnBrk="0" hangingPunct="0">
              <a:lnSpc>
                <a:spcPct val="50000"/>
              </a:lnSpc>
              <a:spcBef>
                <a:spcPct val="50000"/>
              </a:spcBef>
            </a:pPr>
            <a:r>
              <a:rPr lang="zh-CN" altLang="en-US" sz="2100" dirty="0">
                <a:latin typeface="华文新魏" panose="02010800040101010101" pitchFamily="2" charset="-122"/>
                <a:ea typeface="华文新魏" panose="02010800040101010101" pitchFamily="2" charset="-122"/>
              </a:rPr>
              <a:t>晚材</a:t>
            </a:r>
          </a:p>
          <a:p>
            <a:pPr eaLnBrk="0" hangingPunct="0">
              <a:lnSpc>
                <a:spcPct val="70000"/>
              </a:lnSpc>
              <a:spcBef>
                <a:spcPct val="50000"/>
              </a:spcBef>
            </a:pPr>
            <a:r>
              <a:rPr lang="zh-CN" altLang="en-US" sz="2100" dirty="0">
                <a:latin typeface="华文新魏" panose="02010800040101010101" pitchFamily="2" charset="-122"/>
                <a:ea typeface="华文新魏" panose="02010800040101010101" pitchFamily="2" charset="-122"/>
              </a:rPr>
              <a:t>早材</a:t>
            </a:r>
          </a:p>
          <a:p>
            <a:pPr eaLnBrk="0" hangingPunct="0">
              <a:lnSpc>
                <a:spcPct val="130000"/>
              </a:lnSpc>
              <a:spcBef>
                <a:spcPct val="50000"/>
              </a:spcBef>
            </a:pPr>
            <a:r>
              <a:rPr lang="zh-CN" altLang="en-US" sz="2100" dirty="0">
                <a:latin typeface="华文新魏" panose="02010800040101010101" pitchFamily="2" charset="-122"/>
                <a:ea typeface="华文新魏" panose="02010800040101010101" pitchFamily="2" charset="-122"/>
              </a:rPr>
              <a:t>第二年轮</a:t>
            </a:r>
          </a:p>
          <a:p>
            <a:pPr eaLnBrk="0" hangingPunct="0">
              <a:lnSpc>
                <a:spcPct val="110000"/>
              </a:lnSpc>
              <a:spcBef>
                <a:spcPct val="50000"/>
              </a:spcBef>
            </a:pPr>
            <a:r>
              <a:rPr lang="zh-CN" altLang="en-US" sz="2100" dirty="0">
                <a:latin typeface="华文新魏" panose="02010800040101010101" pitchFamily="2" charset="-122"/>
                <a:ea typeface="华文新魏" panose="02010800040101010101" pitchFamily="2" charset="-122"/>
              </a:rPr>
              <a:t>环髓带（髓鞘）</a:t>
            </a:r>
          </a:p>
          <a:p>
            <a:pPr eaLnBrk="0" hangingPunct="0">
              <a:lnSpc>
                <a:spcPct val="150000"/>
              </a:lnSpc>
              <a:spcBef>
                <a:spcPct val="50000"/>
              </a:spcBef>
            </a:pPr>
            <a:r>
              <a:rPr lang="zh-CN" altLang="en-US" sz="2100" dirty="0">
                <a:latin typeface="华文新魏" panose="02010800040101010101" pitchFamily="2" charset="-122"/>
                <a:ea typeface="华文新魏" panose="02010800040101010101" pitchFamily="2" charset="-122"/>
              </a:rPr>
              <a:t>髓</a:t>
            </a:r>
          </a:p>
          <a:p>
            <a:pPr algn="ctr" eaLnBrk="0" hangingPunct="0">
              <a:spcBef>
                <a:spcPct val="50000"/>
              </a:spcBef>
            </a:pPr>
            <a:r>
              <a:rPr lang="zh-CN" altLang="en-US" sz="2100" dirty="0">
                <a:latin typeface="华文新魏" panose="02010800040101010101" pitchFamily="2" charset="-122"/>
                <a:ea typeface="华文新魏" panose="02010800040101010101" pitchFamily="2" charset="-122"/>
              </a:rPr>
              <a:t>髓射线</a:t>
            </a:r>
          </a:p>
        </p:txBody>
      </p:sp>
      <p:sp>
        <p:nvSpPr>
          <p:cNvPr id="519193" name="Line 26"/>
          <p:cNvSpPr/>
          <p:nvPr/>
        </p:nvSpPr>
        <p:spPr>
          <a:xfrm>
            <a:off x="533400" y="609600"/>
            <a:ext cx="228600" cy="76200"/>
          </a:xfrm>
          <a:prstGeom prst="line">
            <a:avLst/>
          </a:prstGeom>
          <a:ln w="9525" cap="flat" cmpd="sng">
            <a:solidFill>
              <a:srgbClr val="FFFF00"/>
            </a:solidFill>
            <a:prstDash val="solid"/>
            <a:round/>
            <a:headEnd type="triangle" w="med" len="med"/>
            <a:tailEnd type="triangle" w="med" len="med"/>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3" name="Rectangle 3"/>
          <p:cNvSpPr>
            <a:spLocks noGrp="1"/>
          </p:cNvSpPr>
          <p:nvPr>
            <p:ph idx="1"/>
          </p:nvPr>
        </p:nvSpPr>
        <p:spPr>
          <a:xfrm>
            <a:off x="0" y="1295400"/>
            <a:ext cx="8856663" cy="4005263"/>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）双子叶植物茎的次生结构</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维管形成层的来源和活动</a:t>
            </a:r>
          </a:p>
          <a:p>
            <a:pPr lvl="1" eaLnBrk="1" hangingPunct="1">
              <a:buNone/>
            </a:pPr>
            <a:r>
              <a:rPr lang="zh-CN" altLang="en-US" sz="2500" b="1" dirty="0">
                <a:solidFill>
                  <a:schemeClr val="tx1"/>
                </a:solidFill>
                <a:latin typeface="黑体" panose="02010609060101010101" pitchFamily="49" charset="-122"/>
                <a:ea typeface="黑体" panose="02010609060101010101" pitchFamily="49" charset="-122"/>
              </a:rPr>
              <a:t>② 维管形成层的细胞组成、分裂方式和衍生细胞的发育</a:t>
            </a:r>
          </a:p>
          <a:p>
            <a:pPr lvl="1" eaLnBrk="1" hangingPunct="1"/>
            <a:r>
              <a:rPr lang="zh-CN" altLang="en-US" b="1" dirty="0">
                <a:solidFill>
                  <a:srgbClr val="FF0000"/>
                </a:solidFill>
                <a:latin typeface="黑体" panose="02010609060101010101" pitchFamily="49" charset="-122"/>
                <a:ea typeface="黑体" panose="02010609060101010101" pitchFamily="49" charset="-122"/>
              </a:rPr>
              <a:t>形成层向两侧活动的不平衡性：</a:t>
            </a:r>
            <a:r>
              <a:rPr lang="zh-CN" altLang="en-US" b="1" dirty="0">
                <a:latin typeface="黑体" panose="02010609060101010101" pitchFamily="49" charset="-122"/>
                <a:ea typeface="黑体" panose="02010609060101010101" pitchFamily="49" charset="-122"/>
              </a:rPr>
              <a:t>形成层向外方分裂的次数少于向内方分裂的次数，因而，外方新增细胞就少，加之次生韧皮部有效作用的时期较短（筛管的运输作用时间仅</a:t>
            </a:r>
            <a:r>
              <a:rPr lang="en-US" altLang="zh-CN" b="1" dirty="0">
                <a:latin typeface="黑体" panose="02010609060101010101" pitchFamily="49" charset="-122"/>
                <a:ea typeface="黑体" panose="02010609060101010101" pitchFamily="49" charset="-122"/>
              </a:rPr>
              <a:t>1—2</a:t>
            </a:r>
            <a:r>
              <a:rPr lang="zh-CN" altLang="en-US" b="1" dirty="0">
                <a:latin typeface="黑体" panose="02010609060101010101" pitchFamily="49" charset="-122"/>
                <a:ea typeface="黑体" panose="02010609060101010101" pitchFamily="49" charset="-122"/>
              </a:rPr>
              <a:t>年）所以，在茎的横切面上，次生韧皮部远不及次生木质部宽厚。</a:t>
            </a:r>
          </a:p>
          <a:p>
            <a:pPr lvl="2" eaLnBrk="1" hangingPunct="1"/>
            <a:r>
              <a:rPr lang="zh-CN" altLang="en-US" b="1" dirty="0">
                <a:latin typeface="黑体" panose="02010609060101010101" pitchFamily="49" charset="-122"/>
                <a:ea typeface="黑体" panose="02010609060101010101" pitchFamily="49" charset="-122"/>
              </a:rPr>
              <a:t>当木栓形成层在次生韧皮部发生后，木栓以外的次生韧皮部就死亡解体，转变为硬树皮（即落皮层）的一部分，逐年剥落，或积聚在茎干上。</a:t>
            </a:r>
          </a:p>
        </p:txBody>
      </p:sp>
      <p:sp>
        <p:nvSpPr>
          <p:cNvPr id="520194"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7" name="Rectangle 3"/>
          <p:cNvSpPr>
            <a:spLocks noGrp="1"/>
          </p:cNvSpPr>
          <p:nvPr>
            <p:ph idx="1"/>
          </p:nvPr>
        </p:nvSpPr>
        <p:spPr>
          <a:xfrm>
            <a:off x="0" y="1295400"/>
            <a:ext cx="8856663" cy="4294188"/>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）双子叶植物茎的次生结构</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维管形成层的来源和活动</a:t>
            </a:r>
          </a:p>
          <a:p>
            <a:pPr lvl="1" eaLnBrk="1" hangingPunct="1">
              <a:buNone/>
            </a:pPr>
            <a:r>
              <a:rPr lang="zh-CN" altLang="en-US" sz="2500" b="1" dirty="0">
                <a:latin typeface="黑体" panose="02010609060101010101" pitchFamily="49" charset="-122"/>
                <a:ea typeface="黑体" panose="02010609060101010101" pitchFamily="49" charset="-122"/>
              </a:rPr>
              <a:t>④ 次生维管组织的结构</a:t>
            </a:r>
            <a:r>
              <a:rPr lang="en-US" altLang="zh-CN" sz="25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hlinkClick r:id="rId2" action="ppaction://hlinksldjump"/>
              </a:rPr>
              <a:t>次生木质部</a:t>
            </a:r>
            <a:r>
              <a:rPr lang="zh-CN" altLang="en-US" b="1" dirty="0">
                <a:latin typeface="黑体" panose="02010609060101010101" pitchFamily="49" charset="-122"/>
                <a:ea typeface="黑体" panose="02010609060101010101" pitchFamily="49" charset="-122"/>
              </a:rPr>
              <a:t>（形成层之内、髓之外）</a:t>
            </a:r>
          </a:p>
          <a:p>
            <a:pPr lvl="1" eaLnBrk="1" hangingPunct="1"/>
            <a:r>
              <a:rPr lang="zh-CN" altLang="en-US" b="1" dirty="0">
                <a:solidFill>
                  <a:srgbClr val="FF0000"/>
                </a:solidFill>
                <a:latin typeface="黑体" panose="02010609060101010101" pitchFamily="49" charset="-122"/>
                <a:ea typeface="黑体" panose="02010609060101010101" pitchFamily="49" charset="-122"/>
              </a:rPr>
              <a:t>细胞组成：</a:t>
            </a:r>
            <a:r>
              <a:rPr lang="zh-CN" altLang="en-US" b="1" dirty="0">
                <a:latin typeface="黑体" panose="02010609060101010101" pitchFamily="49" charset="-122"/>
                <a:ea typeface="黑体" panose="02010609060101010101" pitchFamily="49" charset="-122"/>
              </a:rPr>
              <a:t>包括导管（多为孔纹）、管胞、木薄壁组织和木纤维，具不同程度的木质化。</a:t>
            </a:r>
          </a:p>
          <a:p>
            <a:pPr lvl="2" eaLnBrk="1" hangingPunct="1"/>
            <a:r>
              <a:rPr lang="zh-CN" altLang="en-US" b="1" dirty="0">
                <a:solidFill>
                  <a:srgbClr val="0000FF"/>
                </a:solidFill>
                <a:latin typeface="黑体" panose="02010609060101010101" pitchFamily="49" charset="-122"/>
                <a:ea typeface="黑体" panose="02010609060101010101" pitchFamily="49" charset="-122"/>
              </a:rPr>
              <a:t>导管及管胞：</a:t>
            </a:r>
            <a:r>
              <a:rPr lang="zh-CN" altLang="en-US" b="1" dirty="0">
                <a:latin typeface="黑体" panose="02010609060101010101" pitchFamily="49" charset="-122"/>
                <a:ea typeface="黑体" panose="02010609060101010101" pitchFamily="49" charset="-122"/>
              </a:rPr>
              <a:t>草质茎的导管、管胞多为网纹、孔纹，而木质茎中全为孔纹导管。木薄壁组织有轴向排列和横向排列两类。</a:t>
            </a:r>
          </a:p>
          <a:p>
            <a:pPr lvl="2" eaLnBrk="1" hangingPunct="1"/>
            <a:r>
              <a:rPr lang="zh-CN" altLang="en-US" b="1" dirty="0">
                <a:solidFill>
                  <a:srgbClr val="0000FF"/>
                </a:solidFill>
                <a:latin typeface="黑体" panose="02010609060101010101" pitchFamily="49" charset="-122"/>
                <a:ea typeface="黑体" panose="02010609060101010101" pitchFamily="49" charset="-122"/>
              </a:rPr>
              <a:t>木纤维：</a:t>
            </a:r>
            <a:r>
              <a:rPr lang="zh-CN" altLang="en-US" b="1" dirty="0">
                <a:latin typeface="黑体" panose="02010609060101010101" pitchFamily="49" charset="-122"/>
                <a:ea typeface="黑体" panose="02010609060101010101" pitchFamily="49" charset="-122"/>
              </a:rPr>
              <a:t>比初生木质部发达。</a:t>
            </a:r>
          </a:p>
          <a:p>
            <a:pPr lvl="2" eaLnBrk="1" hangingPunct="1"/>
            <a:r>
              <a:rPr lang="zh-CN" altLang="en-US" b="1" dirty="0">
                <a:solidFill>
                  <a:srgbClr val="0000FF"/>
                </a:solidFill>
                <a:latin typeface="黑体" panose="02010609060101010101" pitchFamily="49" charset="-122"/>
                <a:ea typeface="黑体" panose="02010609060101010101" pitchFamily="49" charset="-122"/>
              </a:rPr>
              <a:t>薄壁细胞：</a:t>
            </a:r>
            <a:r>
              <a:rPr lang="zh-CN" altLang="en-US" b="1" dirty="0">
                <a:latin typeface="黑体" panose="02010609060101010101" pitchFamily="49" charset="-122"/>
                <a:ea typeface="黑体" panose="02010609060101010101" pitchFamily="49" charset="-122"/>
              </a:rPr>
              <a:t>木质茎内少，主要存在于射线中，草质茎内多。</a:t>
            </a:r>
          </a:p>
        </p:txBody>
      </p:sp>
      <p:sp>
        <p:nvSpPr>
          <p:cNvPr id="521218"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Rectangle 3"/>
          <p:cNvSpPr>
            <a:spLocks noGrp="1"/>
          </p:cNvSpPr>
          <p:nvPr>
            <p:ph idx="1"/>
          </p:nvPr>
        </p:nvSpPr>
        <p:spPr>
          <a:xfrm>
            <a:off x="-134937" y="836613"/>
            <a:ext cx="9144000" cy="5949950"/>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）双子叶植物茎的次生结构</a:t>
            </a:r>
            <a:r>
              <a:rPr lang="en-US" altLang="zh-CN" b="1" dirty="0">
                <a:latin typeface="黑体" panose="02010609060101010101" pitchFamily="49" charset="-122"/>
                <a:ea typeface="黑体" panose="02010609060101010101" pitchFamily="49" charset="-122"/>
              </a:rPr>
              <a:t>——⑴</a:t>
            </a:r>
            <a:r>
              <a:rPr lang="zh-CN" altLang="en-US" b="1" dirty="0">
                <a:latin typeface="黑体" panose="02010609060101010101" pitchFamily="49" charset="-122"/>
                <a:ea typeface="黑体" panose="02010609060101010101" pitchFamily="49" charset="-122"/>
              </a:rPr>
              <a:t>维管形成层的来源和活动</a:t>
            </a:r>
          </a:p>
          <a:p>
            <a:pPr lvl="1" eaLnBrk="1" hangingPunct="1">
              <a:buNone/>
            </a:pPr>
            <a:r>
              <a:rPr lang="zh-CN" altLang="en-US" sz="2500" b="1" dirty="0">
                <a:latin typeface="黑体" panose="02010609060101010101" pitchFamily="49" charset="-122"/>
                <a:ea typeface="黑体" panose="02010609060101010101" pitchFamily="49" charset="-122"/>
              </a:rPr>
              <a:t>④ 次生维管组织的结构</a:t>
            </a:r>
            <a:r>
              <a:rPr lang="en-US" altLang="zh-CN" sz="2500"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次生木质部</a:t>
            </a:r>
            <a:r>
              <a:rPr lang="zh-CN" altLang="en-US" b="1" dirty="0">
                <a:latin typeface="黑体" panose="02010609060101010101" pitchFamily="49" charset="-122"/>
                <a:ea typeface="黑体" panose="02010609060101010101" pitchFamily="49" charset="-122"/>
              </a:rPr>
              <a:t>（形成层之内、髓之外）</a:t>
            </a:r>
          </a:p>
          <a:p>
            <a:pPr lvl="1" eaLnBrk="1" hangingPunct="1"/>
            <a:r>
              <a:rPr lang="zh-CN" altLang="en-US" b="1" dirty="0">
                <a:solidFill>
                  <a:srgbClr val="FF0000"/>
                </a:solidFill>
                <a:latin typeface="黑体" panose="02010609060101010101" pitchFamily="49" charset="-122"/>
                <a:ea typeface="黑体" panose="02010609060101010101" pitchFamily="49" charset="-122"/>
              </a:rPr>
              <a:t>维管形成层的季节活动及年轮</a:t>
            </a:r>
          </a:p>
          <a:p>
            <a:pPr lvl="2" eaLnBrk="1" hangingPunct="1"/>
            <a:r>
              <a:rPr lang="zh-CN" altLang="en-US" b="1" dirty="0">
                <a:solidFill>
                  <a:srgbClr val="3333FF"/>
                </a:solidFill>
                <a:latin typeface="黑体" panose="02010609060101010101" pitchFamily="49" charset="-122"/>
                <a:ea typeface="黑体" panose="02010609060101010101" pitchFamily="49" charset="-122"/>
              </a:rPr>
              <a:t>年轮及早材和晚材：</a:t>
            </a:r>
            <a:r>
              <a:rPr lang="zh-CN" altLang="en-US" b="1" dirty="0">
                <a:solidFill>
                  <a:schemeClr val="tx1"/>
                </a:solidFill>
                <a:latin typeface="黑体" panose="02010609060101010101" pitchFamily="49" charset="-122"/>
                <a:ea typeface="黑体" panose="02010609060101010101" pitchFamily="49" charset="-122"/>
              </a:rPr>
              <a:t>在具四季变化的温带和亚热带或有干、湿季节的热带，形成层活动具周期性。生长季节的春季或雨季，次生木质部细胞的口径大而壁薄（早材），但夏末秋初或干旱季节，形成层的活动受到削弱，产生的细胞口径逐渐缩小而壁厚，管胞比例增多（晚材）。</a:t>
            </a:r>
          </a:p>
          <a:p>
            <a:pPr marL="1371600" lvl="3" indent="0" eaLnBrk="1" hangingPunct="1">
              <a:buNone/>
            </a:pPr>
            <a:r>
              <a:rPr lang="zh-CN" altLang="en-US" b="1" dirty="0">
                <a:latin typeface="黑体" panose="02010609060101010101" pitchFamily="49" charset="-122"/>
                <a:ea typeface="黑体" panose="02010609060101010101" pitchFamily="49" charset="-122"/>
              </a:rPr>
              <a:t>早材质地疏松、色浅；晚材质地致密、色泽深。一年之中，由早材到晚材是逐渐过渡的，没有截然的界限。经过冬季休眠，在前一年的晚材和后一年的早材之间，形成明显的界限即年轮。</a:t>
            </a:r>
          </a:p>
          <a:p>
            <a:pPr lvl="2" eaLnBrk="1" hangingPunct="1"/>
            <a:r>
              <a:rPr lang="zh-CN" altLang="en-US" b="1" dirty="0">
                <a:latin typeface="黑体" panose="02010609060101010101" pitchFamily="49" charset="-122"/>
                <a:ea typeface="黑体" panose="02010609060101010101" pitchFamily="49" charset="-122"/>
              </a:rPr>
              <a:t>正常情况下，每年可形成一轮，但特殊情况下，一年之内不只形成一个年轮，称为</a:t>
            </a:r>
            <a:r>
              <a:rPr lang="zh-CN" altLang="en-US" b="1" dirty="0">
                <a:solidFill>
                  <a:srgbClr val="3333FF"/>
                </a:solidFill>
                <a:latin typeface="黑体" panose="02010609060101010101" pitchFamily="49" charset="-122"/>
                <a:ea typeface="黑体" panose="02010609060101010101" pitchFamily="49" charset="-122"/>
              </a:rPr>
              <a:t>假年轮</a:t>
            </a:r>
            <a:r>
              <a:rPr lang="zh-CN" altLang="en-US" b="1" dirty="0">
                <a:solidFill>
                  <a:schemeClr val="tx1"/>
                </a:solidFill>
                <a:latin typeface="黑体" panose="02010609060101010101" pitchFamily="49" charset="-122"/>
                <a:ea typeface="黑体" panose="02010609060101010101" pitchFamily="49" charset="-122"/>
              </a:rPr>
              <a:t>。</a:t>
            </a:r>
          </a:p>
          <a:p>
            <a:pPr lvl="2" eaLnBrk="1" hangingPunct="1"/>
            <a:r>
              <a:rPr lang="zh-CN" altLang="en-US" b="1" dirty="0">
                <a:solidFill>
                  <a:schemeClr val="tx1"/>
                </a:solidFill>
                <a:latin typeface="黑体" panose="02010609060101010101" pitchFamily="49" charset="-122"/>
                <a:ea typeface="黑体" panose="02010609060101010101" pitchFamily="49" charset="-122"/>
              </a:rPr>
              <a:t>在实践中，可以根据树干基部年轮的数目测定树龄</a:t>
            </a:r>
            <a:r>
              <a:rPr lang="zh-CN" altLang="en-US" sz="2200" b="1" dirty="0">
                <a:solidFill>
                  <a:schemeClr val="tx1"/>
                </a:solidFill>
                <a:latin typeface="黑体" panose="02010609060101010101" pitchFamily="49" charset="-122"/>
                <a:ea typeface="黑体" panose="02010609060101010101" pitchFamily="49" charset="-122"/>
              </a:rPr>
              <a:t>。</a:t>
            </a:r>
          </a:p>
        </p:txBody>
      </p:sp>
      <p:sp>
        <p:nvSpPr>
          <p:cNvPr id="522242" name="Rectangle 2"/>
          <p:cNvSpPr>
            <a:spLocks noGrp="1"/>
          </p:cNvSpPr>
          <p:nvPr>
            <p:ph type="title"/>
          </p:nvPr>
        </p:nvSpPr>
        <p:spPr>
          <a:xfrm>
            <a:off x="142875" y="-100012"/>
            <a:ext cx="8858250" cy="1052512"/>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idx="1"/>
          </p:nvPr>
        </p:nvSpPr>
        <p:spPr>
          <a:xfrm>
            <a:off x="0" y="1295400"/>
            <a:ext cx="9144000" cy="45100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）双子叶植物茎的次生结构</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维管形成层的来源和活动</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④ 次生维管组织的结构</a:t>
            </a:r>
            <a:r>
              <a:rPr kumimoji="0" lang="en-US" altLang="zh-CN" sz="25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次生韧皮部</a:t>
            </a:r>
            <a:endParaRPr kumimoji="0" lang="en-US" altLang="zh-CN"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endParaRP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	    </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与初生韧皮部相似，以筛管、伴胞和韧皮薄壁细胞为主要组成部分。</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韧皮纤维和石细胞是次生韧皮部的机械组织</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a:t>
            </a:r>
          </a:p>
          <a:p>
            <a:pPr marL="1143000" marR="0" lvl="2" indent="-228600" algn="l" defTabSz="914400" rtl="0" eaLnBrk="1" fontAlgn="base" latinLnBrk="0" hangingPunct="1">
              <a:lnSpc>
                <a:spcPct val="16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有些植物具有这两种机械组织，椴树茎则只有韧皮纤维。</a:t>
            </a:r>
            <a:endParaRPr kumimoji="0" lang="en-US" altLang="zh-CN"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endParaRPr>
          </a:p>
          <a:p>
            <a:pPr marL="914400" marR="0" lvl="2" indent="0" algn="l" defTabSz="914400" rtl="0" eaLnBrk="1" fontAlgn="base" latinLnBrk="0" hangingPunct="1">
              <a:lnSpc>
                <a:spcPct val="160000"/>
              </a:lnSpc>
              <a:spcBef>
                <a:spcPct val="20000"/>
              </a:spcBef>
              <a:spcAft>
                <a:spcPct val="0"/>
              </a:spcAft>
              <a:buClr>
                <a:srgbClr val="FF3300"/>
              </a:buClr>
              <a:buSzTx/>
              <a:buFont typeface="Wingdings" panose="05000000000000000000" pitchFamily="2" charset="2"/>
              <a:buNone/>
              <a:defRPr/>
            </a:pPr>
            <a:r>
              <a:rPr kumimoji="0" lang="en-US" altLang="zh-CN"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    </a:t>
            </a:r>
            <a:r>
              <a:rPr kumimoji="0" lang="zh-CN" altLang="en-US" sz="23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许多植物的次生韧皮部内还有分泌组织，能产生特殊的汁液，如橡胶和生漆。 </a:t>
            </a:r>
          </a:p>
        </p:txBody>
      </p:sp>
      <p:sp>
        <p:nvSpPr>
          <p:cNvPr id="523266"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a:xfrm>
            <a:off x="0" y="1196975"/>
            <a:ext cx="9144000" cy="521493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1</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）双子叶植物茎的次生结构</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——⑵</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木栓形成层的来源和活动</a:t>
            </a:r>
          </a:p>
          <a:p>
            <a:pPr marL="742950" marR="0" lvl="1" indent="-28575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木栓形成层的来源和形成：</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与根不同，多数植物茎的木栓形成层，是由紧接表皮的皮层细胞脱分化而形成的（杨树）；也有直接从表皮产生的（柳树）；还有起源于初生韧皮部中的薄壁组织的（葡萄）。</a:t>
            </a:r>
          </a:p>
          <a:p>
            <a:pPr marL="742950" marR="0" lvl="1" indent="-28575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木栓形成层的活动：</a:t>
            </a:r>
          </a:p>
          <a:p>
            <a:pPr marL="1143000" marR="0" lvl="2" indent="-228600" algn="l" defTabSz="914400" rtl="0" eaLnBrk="1" fontAlgn="base" latinLnBrk="0" hangingPunct="1">
              <a:lnSpc>
                <a:spcPct val="8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木栓形成层的分裂方式</a:t>
            </a:r>
            <a:r>
              <a:rPr kumimoji="0" lang="zh-CN" altLang="en-US" sz="18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与根相同，主要进行平周分裂，向外产生木栓层，向内形成栓内层，同时一部分细胞保留为木栓形成层细胞。</a:t>
            </a:r>
          </a:p>
          <a:p>
            <a:pPr marL="1143000" marR="0" lvl="2" indent="-228600" algn="l" defTabSz="914400" rtl="0" eaLnBrk="1" fontAlgn="base" latinLnBrk="0" hangingPunct="1">
              <a:lnSpc>
                <a:spcPct val="80000"/>
              </a:lnSpc>
              <a:spcBef>
                <a:spcPct val="20000"/>
              </a:spcBef>
              <a:spcAft>
                <a:spcPct val="0"/>
              </a:spcAft>
              <a:buClr>
                <a:srgbClr val="FF3300"/>
              </a:buClr>
              <a:buSzTx/>
              <a:buFont typeface="Wingdings" panose="05000000000000000000" pitchFamily="2" charset="2"/>
              <a:buChar char="§"/>
              <a:defRPr/>
            </a:pPr>
            <a:r>
              <a:rPr kumimoji="0" lang="zh-CN" altLang="en-US" sz="23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木栓形成层的活动周期：</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多数木栓形成层的活动能力可保持</a:t>
            </a:r>
            <a:r>
              <a:rPr kumimoji="0" lang="en-US" altLang="zh-CN"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6-8</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年，个别的终身起作用。当茎不断增粗时，原有周皮即发生裂缝，然后在裂缝下会产生新的周皮。如此重复进行，使木栓形成层发生的位置，逐年内退至次生韧皮部中。</a:t>
            </a:r>
            <a:endParaRPr kumimoji="0" lang="en-US" altLang="zh-CN"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endParaRPr>
          </a:p>
          <a:p>
            <a:pPr marL="914400" marR="0" lvl="2" indent="0" algn="l" defTabSz="914400" rtl="0" eaLnBrk="1" fontAlgn="base" latinLnBrk="0" hangingPunct="1">
              <a:lnSpc>
                <a:spcPct val="80000"/>
              </a:lnSpc>
              <a:spcBef>
                <a:spcPct val="20000"/>
              </a:spcBef>
              <a:spcAft>
                <a:spcPct val="0"/>
              </a:spcAft>
              <a:buClr>
                <a:srgbClr val="FF3300"/>
              </a:buClr>
              <a:buSzTx/>
              <a:buFont typeface="Wingdings" panose="05000000000000000000" pitchFamily="2" charset="2"/>
              <a:buNone/>
              <a:defRPr/>
            </a:pPr>
            <a:r>
              <a:rPr kumimoji="0" lang="en-US" altLang="zh-CN"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	</a:t>
            </a:r>
            <a:r>
              <a:rPr kumimoji="0" lang="zh-CN" altLang="en-US" sz="23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多数木栓形成层并非永久性的，木栓形成层活动一定时间就停止了，而在原有周皮内再产生新的木栓形成层，形成新周皮。 </a:t>
            </a:r>
          </a:p>
        </p:txBody>
      </p:sp>
      <p:sp>
        <p:nvSpPr>
          <p:cNvPr id="524290" name="Rectangle 2"/>
          <p:cNvSpPr>
            <a:spLocks noGrp="1"/>
          </p:cNvSpPr>
          <p:nvPr>
            <p:ph type="title"/>
          </p:nvPr>
        </p:nvSpPr>
        <p:spPr>
          <a:xfrm>
            <a:off x="179388" y="188913"/>
            <a:ext cx="8856662"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3" name="Rectangle 3"/>
          <p:cNvSpPr>
            <a:spLocks noGrp="1"/>
          </p:cNvSpPr>
          <p:nvPr>
            <p:ph idx="1"/>
          </p:nvPr>
        </p:nvSpPr>
        <p:spPr>
          <a:xfrm>
            <a:off x="0" y="993775"/>
            <a:ext cx="8856663" cy="4870450"/>
          </a:xfrm>
        </p:spPr>
        <p:txBody>
          <a:bodyPr vert="horz" wrap="square" lIns="91440" tIns="45720" rIns="91440" bIns="45720" anchor="t" anchorCtr="0"/>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）双子叶植物茎的次生结构</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木栓形成层的来源和活动</a:t>
            </a:r>
          </a:p>
          <a:p>
            <a:pPr lvl="1" eaLnBrk="1" hangingPunct="1"/>
            <a:r>
              <a:rPr lang="zh-CN" altLang="en-US" b="1" dirty="0">
                <a:solidFill>
                  <a:srgbClr val="FF0000"/>
                </a:solidFill>
                <a:latin typeface="黑体" panose="02010609060101010101" pitchFamily="49" charset="-122"/>
                <a:ea typeface="黑体" panose="02010609060101010101" pitchFamily="49" charset="-122"/>
              </a:rPr>
              <a:t>树皮：</a:t>
            </a:r>
            <a:r>
              <a:rPr lang="zh-CN" altLang="en-US" b="1" dirty="0">
                <a:latin typeface="黑体" panose="02010609060101010101" pitchFamily="49" charset="-122"/>
                <a:ea typeface="黑体" panose="02010609060101010101" pitchFamily="49" charset="-122"/>
              </a:rPr>
              <a:t>树皮概念：林学上把能从树干上剥离下来的一层皮叫树皮。从解剖学角度看，树皮是木本植物</a:t>
            </a:r>
            <a:r>
              <a:rPr lang="zh-CN" altLang="en-US" b="1" dirty="0">
                <a:solidFill>
                  <a:srgbClr val="0000FF"/>
                </a:solidFill>
                <a:latin typeface="黑体" panose="02010609060101010101" pitchFamily="49" charset="-122"/>
                <a:ea typeface="黑体" panose="02010609060101010101" pitchFamily="49" charset="-122"/>
              </a:rPr>
              <a:t>维管形成层（剥离的位置）之外</a:t>
            </a:r>
            <a:r>
              <a:rPr lang="zh-CN" altLang="en-US" b="1" dirty="0">
                <a:latin typeface="黑体" panose="02010609060101010101" pitchFamily="49" charset="-122"/>
                <a:ea typeface="黑体" panose="02010609060101010101" pitchFamily="49" charset="-122"/>
              </a:rPr>
              <a:t>包括次生韧皮部、多层周皮和木栓层以外的一切死组织在内的结构。</a:t>
            </a:r>
          </a:p>
          <a:p>
            <a:pPr lvl="3" eaLnBrk="1" hangingPunct="1"/>
            <a:r>
              <a:rPr lang="zh-CN" altLang="en-US" b="1" dirty="0">
                <a:solidFill>
                  <a:srgbClr val="FF0000"/>
                </a:solidFill>
                <a:latin typeface="黑体" panose="02010609060101010101" pitchFamily="49" charset="-122"/>
                <a:ea typeface="黑体" panose="02010609060101010101" pitchFamily="49" charset="-122"/>
              </a:rPr>
              <a:t>硬树皮：</a:t>
            </a:r>
            <a:r>
              <a:rPr lang="zh-CN" altLang="en-US" b="1" dirty="0">
                <a:solidFill>
                  <a:srgbClr val="0000FF"/>
                </a:solidFill>
                <a:latin typeface="黑体" panose="02010609060101010101" pitchFamily="49" charset="-122"/>
                <a:ea typeface="黑体" panose="02010609060101010101" pitchFamily="49" charset="-122"/>
              </a:rPr>
              <a:t>木栓形成层之外的组织</a:t>
            </a:r>
            <a:r>
              <a:rPr lang="zh-CN" altLang="en-US" b="1" dirty="0">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如果最后形成的周皮已退到次生韧皮部中，那么由此向外包括木栓、部分次生韧皮部、初生韧皮部、皮层和表皮等干、硬的死组织，呈条、片状脱落。故称</a:t>
            </a:r>
            <a:r>
              <a:rPr lang="zh-CN" altLang="en-US" b="1" u="sng" dirty="0">
                <a:solidFill>
                  <a:schemeClr val="tx1"/>
                </a:solidFill>
                <a:latin typeface="黑体" panose="02010609060101010101" pitchFamily="49" charset="-122"/>
                <a:ea typeface="黑体" panose="02010609060101010101" pitchFamily="49" charset="-122"/>
              </a:rPr>
              <a:t>硬树皮</a:t>
            </a:r>
            <a:r>
              <a:rPr lang="zh-CN" altLang="en-US" b="1" dirty="0">
                <a:solidFill>
                  <a:schemeClr val="tx1"/>
                </a:solidFill>
                <a:latin typeface="黑体" panose="02010609060101010101" pitchFamily="49" charset="-122"/>
                <a:ea typeface="黑体" panose="02010609060101010101" pitchFamily="49" charset="-122"/>
              </a:rPr>
              <a:t>或</a:t>
            </a:r>
            <a:r>
              <a:rPr lang="zh-CN" altLang="en-US" b="1" u="sng" dirty="0">
                <a:solidFill>
                  <a:schemeClr val="tx1"/>
                </a:solidFill>
                <a:latin typeface="黑体" panose="02010609060101010101" pitchFamily="49" charset="-122"/>
                <a:ea typeface="黑体" panose="02010609060101010101" pitchFamily="49" charset="-122"/>
              </a:rPr>
              <a:t>落皮层</a:t>
            </a:r>
            <a:r>
              <a:rPr lang="zh-CN" altLang="en-US" b="1" dirty="0">
                <a:solidFill>
                  <a:schemeClr val="tx1"/>
                </a:solidFill>
                <a:latin typeface="黑体" panose="02010609060101010101" pitchFamily="49" charset="-122"/>
                <a:ea typeface="黑体" panose="02010609060101010101" pitchFamily="49" charset="-122"/>
              </a:rPr>
              <a:t>。</a:t>
            </a:r>
          </a:p>
          <a:p>
            <a:pPr lvl="3" eaLnBrk="1" hangingPunct="1"/>
            <a:r>
              <a:rPr lang="zh-CN" altLang="en-US" b="1" dirty="0">
                <a:solidFill>
                  <a:srgbClr val="FF0000"/>
                </a:solidFill>
                <a:latin typeface="黑体" panose="02010609060101010101" pitchFamily="49" charset="-122"/>
                <a:ea typeface="黑体" panose="02010609060101010101" pitchFamily="49" charset="-122"/>
              </a:rPr>
              <a:t>软树皮：</a:t>
            </a:r>
            <a:r>
              <a:rPr lang="zh-CN" altLang="en-US" b="1" dirty="0">
                <a:solidFill>
                  <a:srgbClr val="0000FF"/>
                </a:solidFill>
                <a:latin typeface="黑体" panose="02010609060101010101" pitchFamily="49" charset="-122"/>
                <a:ea typeface="黑体" panose="02010609060101010101" pitchFamily="49" charset="-122"/>
              </a:rPr>
              <a:t>形成层之外、活动的木栓形成层之内</a:t>
            </a:r>
            <a:r>
              <a:rPr lang="zh-CN" altLang="en-US" b="1" dirty="0">
                <a:solidFill>
                  <a:schemeClr val="tx1"/>
                </a:solidFill>
                <a:latin typeface="黑体" panose="02010609060101010101" pitchFamily="49" charset="-122"/>
                <a:ea typeface="黑体" panose="02010609060101010101" pitchFamily="49" charset="-122"/>
              </a:rPr>
              <a:t>。最后形成的木栓形成层及其以内的次生韧皮部含水多，是活组织，叫软树皮。 </a:t>
            </a:r>
          </a:p>
          <a:p>
            <a:pPr lvl="3" eaLnBrk="1" hangingPunct="1"/>
            <a:r>
              <a:rPr lang="zh-CN" altLang="en-US" b="1" u="sng" dirty="0">
                <a:solidFill>
                  <a:srgbClr val="FF0000"/>
                </a:solidFill>
                <a:latin typeface="黑体" panose="02010609060101010101" pitchFamily="49" charset="-122"/>
                <a:ea typeface="黑体" panose="02010609060101010101" pitchFamily="49" charset="-122"/>
              </a:rPr>
              <a:t>广义的树皮概念，包括树皮和硬树皮</a:t>
            </a:r>
            <a:r>
              <a:rPr lang="zh-CN" altLang="en-US" b="1" dirty="0">
                <a:solidFill>
                  <a:schemeClr val="tx1"/>
                </a:solidFill>
                <a:latin typeface="黑体" panose="02010609060101010101" pitchFamily="49" charset="-122"/>
                <a:ea typeface="黑体" panose="02010609060101010101" pitchFamily="49" charset="-122"/>
              </a:rPr>
              <a:t>。</a:t>
            </a:r>
            <a:r>
              <a:rPr lang="zh-CN" altLang="en-US" sz="1900" b="1" dirty="0">
                <a:solidFill>
                  <a:schemeClr val="tx1"/>
                </a:solidFill>
                <a:latin typeface="黑体" panose="02010609060101010101" pitchFamily="49" charset="-122"/>
                <a:ea typeface="黑体" panose="02010609060101010101" pitchFamily="49" charset="-122"/>
              </a:rPr>
              <a:t> </a:t>
            </a:r>
          </a:p>
        </p:txBody>
      </p:sp>
      <p:sp>
        <p:nvSpPr>
          <p:cNvPr id="525314" name="Rectangle 2"/>
          <p:cNvSpPr>
            <a:spLocks noGrp="1"/>
          </p:cNvSpPr>
          <p:nvPr>
            <p:ph type="title"/>
          </p:nvPr>
        </p:nvSpPr>
        <p:spPr>
          <a:xfrm>
            <a:off x="142875" y="-4762"/>
            <a:ext cx="8858250" cy="1050925"/>
          </a:xfrm>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三、茎的结构</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2</a:t>
            </a:r>
            <a:r>
              <a:rPr lang="zh-CN" altLang="en-US" sz="2800" b="1" dirty="0">
                <a:solidFill>
                  <a:srgbClr val="FF0000"/>
                </a:solidFill>
                <a:latin typeface="黑体" panose="02010609060101010101" pitchFamily="49" charset="-122"/>
                <a:ea typeface="黑体" panose="02010609060101010101" pitchFamily="49" charset="-122"/>
              </a:rPr>
              <a:t>、茎的次生结构</a:t>
            </a:r>
            <a:r>
              <a:rPr lang="zh-CN" altLang="en-US" sz="2800" b="1" dirty="0">
                <a:solidFill>
                  <a:schemeClr val="tx1"/>
                </a:solidFill>
                <a:latin typeface="黑体" panose="02010609060101010101" pitchFamily="49" charset="-122"/>
                <a:ea typeface="黑体" panose="02010609060101010101" pitchFamily="49" charset="-122"/>
              </a:rPr>
              <a:t>（以双子叶植物茎为例）</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6337" name="图片 4"/>
          <p:cNvPicPr>
            <a:picLocks noChangeAspect="1"/>
          </p:cNvPicPr>
          <p:nvPr/>
        </p:nvPicPr>
        <p:blipFill>
          <a:blip r:embed="rId2"/>
          <a:stretch>
            <a:fillRect/>
          </a:stretch>
        </p:blipFill>
        <p:spPr>
          <a:xfrm>
            <a:off x="742950" y="752475"/>
            <a:ext cx="7058025" cy="49339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7361" name="图片 4"/>
          <p:cNvPicPr>
            <a:picLocks noChangeAspect="1"/>
          </p:cNvPicPr>
          <p:nvPr/>
        </p:nvPicPr>
        <p:blipFill>
          <a:blip r:embed="rId2"/>
          <a:stretch>
            <a:fillRect/>
          </a:stretch>
        </p:blipFill>
        <p:spPr>
          <a:xfrm>
            <a:off x="457200" y="447675"/>
            <a:ext cx="8229600" cy="59626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385" name="图片 1"/>
          <p:cNvPicPr>
            <a:picLocks noChangeAspect="1"/>
          </p:cNvPicPr>
          <p:nvPr/>
        </p:nvPicPr>
        <p:blipFill>
          <a:blip r:embed="rId2"/>
          <a:stretch>
            <a:fillRect/>
          </a:stretch>
        </p:blipFill>
        <p:spPr>
          <a:xfrm>
            <a:off x="109538" y="566738"/>
            <a:ext cx="8924925" cy="57245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9409" name="图片 1"/>
          <p:cNvPicPr>
            <a:picLocks noChangeAspect="1"/>
          </p:cNvPicPr>
          <p:nvPr/>
        </p:nvPicPr>
        <p:blipFill>
          <a:blip r:embed="rId2"/>
          <a:stretch>
            <a:fillRect/>
          </a:stretch>
        </p:blipFill>
        <p:spPr>
          <a:xfrm>
            <a:off x="776288" y="409575"/>
            <a:ext cx="7591425" cy="60388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0433" name="图片 1"/>
          <p:cNvPicPr>
            <a:picLocks noChangeAspect="1"/>
          </p:cNvPicPr>
          <p:nvPr/>
        </p:nvPicPr>
        <p:blipFill>
          <a:blip r:embed="rId2"/>
          <a:stretch>
            <a:fillRect/>
          </a:stretch>
        </p:blipFill>
        <p:spPr>
          <a:xfrm>
            <a:off x="157163" y="466725"/>
            <a:ext cx="8829675" cy="59245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1457" name="图片 1"/>
          <p:cNvPicPr>
            <a:picLocks noChangeAspect="1"/>
          </p:cNvPicPr>
          <p:nvPr/>
        </p:nvPicPr>
        <p:blipFill>
          <a:blip r:embed="rId2"/>
          <a:stretch>
            <a:fillRect/>
          </a:stretch>
        </p:blipFill>
        <p:spPr>
          <a:xfrm>
            <a:off x="1381125" y="71438"/>
            <a:ext cx="6381750" cy="67151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81" name="图片 1"/>
          <p:cNvPicPr>
            <a:picLocks noChangeAspect="1"/>
          </p:cNvPicPr>
          <p:nvPr/>
        </p:nvPicPr>
        <p:blipFill>
          <a:blip r:embed="rId2"/>
          <a:stretch>
            <a:fillRect/>
          </a:stretch>
        </p:blipFill>
        <p:spPr>
          <a:xfrm>
            <a:off x="1981200" y="109538"/>
            <a:ext cx="5181600" cy="66389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7" name="Rectangle 3"/>
          <p:cNvSpPr>
            <a:spLocks noGrp="1"/>
          </p:cNvSpPr>
          <p:nvPr>
            <p:ph idx="1"/>
          </p:nvPr>
        </p:nvSpPr>
        <p:spPr>
          <a:xfrm>
            <a:off x="0" y="1295400"/>
            <a:ext cx="9036050" cy="5157788"/>
          </a:xfrm>
        </p:spPr>
        <p:txBody>
          <a:bodyPr vert="horz" wrap="square" lIns="91440" tIns="45720" rIns="91440" bIns="45720" anchor="t" anchorCtr="0"/>
          <a:lstStyle/>
          <a:p>
            <a:pPr eaLnBrk="1" hangingPunct="1">
              <a:buNone/>
            </a:pPr>
            <a:r>
              <a:rPr lang="en-US" altLang="zh-CN" dirty="0">
                <a:latin typeface="华文新魏" panose="02010800040101010101" pitchFamily="2" charset="-122"/>
              </a:rPr>
              <a:t>     </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等面叶和异面叶</a:t>
            </a:r>
            <a:endParaRPr lang="en-US" altLang="zh-CN" b="1" dirty="0">
              <a:latin typeface="黑体" panose="02010609060101010101" pitchFamily="49" charset="-122"/>
              <a:ea typeface="黑体" panose="02010609060101010101" pitchFamily="49" charset="-122"/>
            </a:endParaRPr>
          </a:p>
          <a:p>
            <a:pPr eaLnBrk="1" hangingPunct="1">
              <a:buNone/>
            </a:pPr>
            <a:r>
              <a:rPr lang="en-US" altLang="zh-CN" sz="2400" b="1" dirty="0">
                <a:solidFill>
                  <a:srgbClr val="FF0000"/>
                </a:solidFill>
                <a:latin typeface="黑体" panose="02010609060101010101" pitchFamily="49" charset="-122"/>
                <a:ea typeface="黑体" panose="02010609060101010101" pitchFamily="49" charset="-122"/>
              </a:rPr>
              <a:t>		</a:t>
            </a:r>
            <a:r>
              <a:rPr lang="zh-CN" altLang="en-US" sz="2400" b="1" dirty="0">
                <a:solidFill>
                  <a:srgbClr val="FF0000"/>
                </a:solidFill>
                <a:latin typeface="黑体" panose="02010609060101010101" pitchFamily="49" charset="-122"/>
                <a:ea typeface="黑体" panose="02010609060101010101" pitchFamily="49" charset="-122"/>
              </a:rPr>
              <a:t>近轴面（正面、上面）和远轴面（背面、下面）：</a:t>
            </a:r>
            <a:r>
              <a:rPr lang="zh-CN" altLang="en-US" sz="2400" b="1" dirty="0">
                <a:solidFill>
                  <a:schemeClr val="tx1"/>
                </a:solidFill>
                <a:latin typeface="黑体" panose="02010609060101010101" pitchFamily="49" charset="-122"/>
                <a:ea typeface="黑体" panose="02010609060101010101" pitchFamily="49" charset="-122"/>
              </a:rPr>
              <a:t>将叶按正常的伸展方向向主轴（茎）靠拢，贴近茎（主轴）的面为近轴面。相反即为远轴面。近轴面和远轴面是方向性概念，而不专门指某一个面。叶上任何一个细胞，都有近轴面方向和远轴面方向。</a:t>
            </a:r>
          </a:p>
          <a:p>
            <a:pPr lvl="1" eaLnBrk="1" hangingPunct="1"/>
            <a:r>
              <a:rPr lang="zh-CN" altLang="en-US" b="1" dirty="0">
                <a:solidFill>
                  <a:srgbClr val="FF0000"/>
                </a:solidFill>
                <a:latin typeface="黑体" panose="02010609060101010101" pitchFamily="49" charset="-122"/>
                <a:ea typeface="黑体" panose="02010609060101010101" pitchFamily="49" charset="-122"/>
              </a:rPr>
              <a:t>异面叶</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指叶的近轴面方向和远轴面方向的外部形态和内部形态结构有明显差异</a:t>
            </a:r>
            <a:r>
              <a:rPr lang="zh-CN" altLang="en-US" b="1" dirty="0">
                <a:latin typeface="黑体" panose="02010609060101010101" pitchFamily="49" charset="-122"/>
                <a:ea typeface="黑体" panose="02010609060101010101" pitchFamily="49" charset="-122"/>
              </a:rPr>
              <a:t>。叶片两面的颜色深浅有所不同，其原因是叶的两面受光程度不同，使远轴面的海绵组织所含叶绿体少于近轴面的栅栏组织。异面叶多存在于双子叶植物。</a:t>
            </a:r>
          </a:p>
          <a:p>
            <a:pPr lvl="1" eaLnBrk="1" hangingPunct="1"/>
            <a:r>
              <a:rPr lang="zh-CN" altLang="en-US" b="1" dirty="0">
                <a:solidFill>
                  <a:srgbClr val="FF0000"/>
                </a:solidFill>
                <a:latin typeface="黑体" panose="02010609060101010101" pitchFamily="49" charset="-122"/>
                <a:ea typeface="黑体" panose="02010609060101010101" pitchFamily="49" charset="-122"/>
              </a:rPr>
              <a:t>等面叶</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近轴面和远轴面的形态和内部结构均无明显差异的叶</a:t>
            </a:r>
            <a:r>
              <a:rPr lang="zh-CN" altLang="en-US" b="1" dirty="0">
                <a:latin typeface="黑体" panose="02010609060101010101" pitchFamily="49" charset="-122"/>
                <a:ea typeface="黑体" panose="02010609060101010101" pitchFamily="49" charset="-122"/>
              </a:rPr>
              <a:t>。某些植物</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如小麦</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的叶近乎直立，两面受光程度无明显差异，故无海绵组织和栅栏组织的分化，多见于单子叶植物。</a:t>
            </a:r>
          </a:p>
        </p:txBody>
      </p:sp>
      <p:sp>
        <p:nvSpPr>
          <p:cNvPr id="536578" name="Rectangle 5"/>
          <p:cNvSpPr>
            <a:spLocks noGrp="1"/>
          </p:cNvSpPr>
          <p:nvPr>
            <p:ph type="title"/>
          </p:nvPr>
        </p:nvSpPr>
        <p:spPr>
          <a:xfrm>
            <a:off x="323850" y="88900"/>
            <a:ext cx="9144000" cy="1143000"/>
          </a:xfrm>
        </p:spPr>
        <p:txBody>
          <a:bodyPr vert="horz" wrap="square" lIns="91440" tIns="45720" rIns="91440" bIns="45720" anchor="b" anchorCtr="0"/>
          <a:lstStyle/>
          <a:p>
            <a:pPr eaLnBrk="1" hangingPunct="1"/>
            <a:r>
              <a:rPr lang="zh-CN" altLang="en-US" dirty="0">
                <a:solidFill>
                  <a:srgbClr val="0000FF"/>
                </a:solidFill>
                <a:latin typeface="黑体" panose="02010609060101010101" pitchFamily="49" charset="-122"/>
                <a:ea typeface="黑体" panose="02010609060101010101" pitchFamily="49" charset="-122"/>
              </a:rPr>
              <a:t>四、叶的结构</a:t>
            </a:r>
            <a:br>
              <a:rPr lang="zh-CN" altLang="en-US" dirty="0">
                <a:latin typeface="华文新魏" panose="02010800040101010101" pitchFamily="2" charset="-122"/>
              </a:rPr>
            </a:br>
            <a:r>
              <a:rPr lang="zh-CN" altLang="en-US" sz="2800" b="1" dirty="0">
                <a:solidFill>
                  <a:srgbClr val="FF0000"/>
                </a:solidFill>
                <a:latin typeface="黑体" panose="02010609060101010101" pitchFamily="49" charset="-122"/>
                <a:ea typeface="黑体" panose="02010609060101010101" pitchFamily="49" charset="-122"/>
              </a:rPr>
              <a:t>㈠ 双子叶植物叶的结构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1" name="Rectangle 3"/>
          <p:cNvSpPr>
            <a:spLocks noGrp="1"/>
          </p:cNvSpPr>
          <p:nvPr>
            <p:ph idx="1"/>
          </p:nvPr>
        </p:nvSpPr>
        <p:spPr>
          <a:xfrm>
            <a:off x="0" y="1295400"/>
            <a:ext cx="8893175" cy="5324475"/>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叶片的结构（表皮、皮层和叶脉）</a:t>
            </a:r>
            <a:r>
              <a:rPr lang="en-US" altLang="zh-CN" b="1" dirty="0">
                <a:latin typeface="黑体" panose="02010609060101010101" pitchFamily="49" charset="-122"/>
                <a:ea typeface="黑体" panose="02010609060101010101" pitchFamily="49" charset="-122"/>
              </a:rPr>
              <a:t>——</a:t>
            </a:r>
            <a:r>
              <a:rPr lang="en-US" altLang="zh-CN" b="1" dirty="0">
                <a:solidFill>
                  <a:srgbClr val="FF3300"/>
                </a:solidFill>
                <a:latin typeface="黑体" panose="02010609060101010101" pitchFamily="49" charset="-122"/>
                <a:ea typeface="黑体" panose="02010609060101010101" pitchFamily="49" charset="-122"/>
              </a:rPr>
              <a:t>⑴</a:t>
            </a:r>
            <a:r>
              <a:rPr lang="zh-CN" altLang="en-US" b="1" dirty="0">
                <a:solidFill>
                  <a:srgbClr val="FF3300"/>
                </a:solidFill>
                <a:latin typeface="黑体" panose="02010609060101010101" pitchFamily="49" charset="-122"/>
                <a:ea typeface="黑体" panose="02010609060101010101" pitchFamily="49" charset="-122"/>
              </a:rPr>
              <a:t>表皮</a:t>
            </a:r>
          </a:p>
          <a:p>
            <a:pPr lvl="1" eaLnBrk="1" hangingPunct="1"/>
            <a:r>
              <a:rPr lang="zh-CN" altLang="en-US" b="1" dirty="0">
                <a:latin typeface="黑体" panose="02010609060101010101" pitchFamily="49" charset="-122"/>
                <a:ea typeface="黑体" panose="02010609060101010101" pitchFamily="49" charset="-122"/>
              </a:rPr>
              <a:t>位置：位于叶片上（近轴面）下（远轴面）两面的外表，即上表皮和下表皮。一般由一层生活细胞组成，少数植物具复表皮，如夹竹桃。</a:t>
            </a:r>
          </a:p>
          <a:p>
            <a:pPr lvl="1" eaLnBrk="1" hangingPunct="1"/>
            <a:r>
              <a:rPr lang="zh-CN" altLang="en-US" b="1" dirty="0">
                <a:latin typeface="黑体" panose="02010609060101010101" pitchFamily="49" charset="-122"/>
                <a:ea typeface="黑体" panose="02010609060101010101" pitchFamily="49" charset="-122"/>
              </a:rPr>
              <a:t>特征：已讲过。托叶结构与叶片相同。</a:t>
            </a:r>
          </a:p>
          <a:p>
            <a:pPr lvl="2" eaLnBrk="1" hangingPunct="1"/>
            <a:r>
              <a:rPr lang="zh-CN" altLang="en-US" b="1" dirty="0">
                <a:solidFill>
                  <a:srgbClr val="3333FF"/>
                </a:solidFill>
                <a:latin typeface="黑体" panose="02010609060101010101" pitchFamily="49" charset="-122"/>
                <a:ea typeface="黑体" panose="02010609060101010101" pitchFamily="49" charset="-122"/>
              </a:rPr>
              <a:t>气孔器类型：</a:t>
            </a:r>
            <a:r>
              <a:rPr lang="zh-CN" altLang="en-US" b="1" dirty="0">
                <a:latin typeface="黑体" panose="02010609060101010101" pitchFamily="49" charset="-122"/>
                <a:ea typeface="黑体" panose="02010609060101010101" pitchFamily="49" charset="-122"/>
              </a:rPr>
              <a:t>注意两点，其一、划分气孔器类型主要依据与保卫细胞直接相连的细胞数目、形态、大小及排列关系；其二、如果保卫细胞外面的细胞与周围其他表皮细胞有明显区别，称</a:t>
            </a:r>
            <a:r>
              <a:rPr lang="zh-CN" altLang="en-US" b="1" u="sng" dirty="0">
                <a:latin typeface="黑体" panose="02010609060101010101" pitchFamily="49" charset="-122"/>
                <a:ea typeface="黑体" panose="02010609060101010101" pitchFamily="49" charset="-122"/>
              </a:rPr>
              <a:t>副卫细胞</a:t>
            </a:r>
            <a:r>
              <a:rPr lang="zh-CN" altLang="en-US" b="1" dirty="0">
                <a:latin typeface="黑体" panose="02010609060101010101" pitchFamily="49" charset="-122"/>
                <a:ea typeface="黑体" panose="02010609060101010101" pitchFamily="49" charset="-122"/>
              </a:rPr>
              <a:t>。</a:t>
            </a:r>
          </a:p>
          <a:p>
            <a:pPr lvl="2" eaLnBrk="1" hangingPunct="1"/>
            <a:r>
              <a:rPr lang="zh-CN" altLang="en-US" b="1" dirty="0">
                <a:solidFill>
                  <a:schemeClr val="tx1"/>
                </a:solidFill>
                <a:latin typeface="黑体" panose="02010609060101010101" pitchFamily="49" charset="-122"/>
                <a:ea typeface="黑体" panose="02010609060101010101" pitchFamily="49" charset="-122"/>
              </a:rPr>
              <a:t>一般来说，上表皮气孔少于下表皮。</a:t>
            </a:r>
          </a:p>
        </p:txBody>
      </p:sp>
      <p:pic>
        <p:nvPicPr>
          <p:cNvPr id="474123" name="Picture 11" descr="D:\Documents and Settings\LiuZC\桌面\教学素材\细胞与组织\蚕豆叶下表皮（100）.jpg"/>
          <p:cNvPicPr>
            <a:picLocks noChangeAspect="1"/>
          </p:cNvPicPr>
          <p:nvPr/>
        </p:nvPicPr>
        <p:blipFill>
          <a:blip r:embed="rId3"/>
          <a:stretch>
            <a:fillRect/>
          </a:stretch>
        </p:blipFill>
        <p:spPr>
          <a:xfrm>
            <a:off x="2478088" y="2205038"/>
            <a:ext cx="4568825" cy="3086100"/>
          </a:xfrm>
          <a:prstGeom prst="rect">
            <a:avLst/>
          </a:prstGeom>
          <a:noFill/>
          <a:ln w="38100" cap="flat" cmpd="sng">
            <a:solidFill>
              <a:srgbClr val="CC00CC"/>
            </a:solidFill>
            <a:prstDash val="solid"/>
            <a:miter/>
            <a:headEnd type="none" w="med" len="med"/>
            <a:tailEnd type="none" w="med" len="med"/>
          </a:ln>
        </p:spPr>
      </p:pic>
      <p:pic>
        <p:nvPicPr>
          <p:cNvPr id="474124" name="Picture 12" descr="D:\Documents and Settings\LiuZC\桌面\教学素材\细胞与组织\气孔.jpg"/>
          <p:cNvPicPr>
            <a:picLocks noChangeAspect="1"/>
          </p:cNvPicPr>
          <p:nvPr/>
        </p:nvPicPr>
        <p:blipFill>
          <a:blip r:embed="rId4"/>
          <a:stretch>
            <a:fillRect/>
          </a:stretch>
        </p:blipFill>
        <p:spPr>
          <a:xfrm>
            <a:off x="2836863" y="2254250"/>
            <a:ext cx="3886200" cy="3108325"/>
          </a:xfrm>
          <a:prstGeom prst="rect">
            <a:avLst/>
          </a:prstGeom>
          <a:noFill/>
          <a:ln w="38100" cap="flat" cmpd="sng">
            <a:solidFill>
              <a:srgbClr val="CC00CC"/>
            </a:solidFill>
            <a:prstDash val="solid"/>
            <a:miter/>
            <a:headEnd type="none" w="med" len="med"/>
            <a:tailEnd type="none" w="med" len="med"/>
          </a:ln>
        </p:spPr>
      </p:pic>
      <p:pic>
        <p:nvPicPr>
          <p:cNvPr id="474125" name="Picture 13" descr="D:\Documents and Settings\LiuZC\桌面\教学素材\细胞与组织\开放的气孔.jpg"/>
          <p:cNvPicPr>
            <a:picLocks noChangeAspect="1"/>
          </p:cNvPicPr>
          <p:nvPr/>
        </p:nvPicPr>
        <p:blipFill>
          <a:blip r:embed="rId5"/>
          <a:stretch>
            <a:fillRect/>
          </a:stretch>
        </p:blipFill>
        <p:spPr>
          <a:xfrm>
            <a:off x="2808288" y="2232025"/>
            <a:ext cx="3886200" cy="3108325"/>
          </a:xfrm>
          <a:prstGeom prst="rect">
            <a:avLst/>
          </a:prstGeom>
          <a:noFill/>
          <a:ln w="9525">
            <a:noFill/>
          </a:ln>
        </p:spPr>
      </p:pic>
      <p:sp>
        <p:nvSpPr>
          <p:cNvPr id="537605" name="Rectangle 5"/>
          <p:cNvSpPr>
            <a:spLocks noGrp="1"/>
          </p:cNvSpPr>
          <p:nvPr>
            <p:ph type="title"/>
          </p:nvPr>
        </p:nvSpPr>
        <p:spPr>
          <a:xfrm>
            <a:off x="179388" y="130175"/>
            <a:ext cx="9144000" cy="1143000"/>
          </a:xfrm>
        </p:spPr>
        <p:txBody>
          <a:bodyPr vert="horz" wrap="square" lIns="91440" tIns="45720" rIns="91440" bIns="45720" anchor="b" anchorCtr="0"/>
          <a:lstStyle/>
          <a:p>
            <a:pPr eaLnBrk="1" hangingPunct="1"/>
            <a:r>
              <a:rPr lang="zh-CN" altLang="en-US" dirty="0">
                <a:solidFill>
                  <a:srgbClr val="0000FF"/>
                </a:solidFill>
                <a:latin typeface="黑体" panose="02010609060101010101" pitchFamily="49" charset="-122"/>
                <a:ea typeface="黑体" panose="02010609060101010101" pitchFamily="49" charset="-122"/>
              </a:rPr>
              <a:t>四、叶的结构</a:t>
            </a:r>
            <a:br>
              <a:rPr lang="zh-CN" altLang="en-US" dirty="0">
                <a:latin typeface="华文新魏" panose="02010800040101010101" pitchFamily="2" charset="-122"/>
              </a:rPr>
            </a:br>
            <a:r>
              <a:rPr lang="zh-CN" altLang="en-US" sz="2800" b="1" dirty="0">
                <a:solidFill>
                  <a:srgbClr val="FF0000"/>
                </a:solidFill>
                <a:latin typeface="黑体" panose="02010609060101010101" pitchFamily="49" charset="-122"/>
                <a:ea typeface="黑体" panose="02010609060101010101" pitchFamily="49" charset="-122"/>
              </a:rPr>
              <a:t>㈠ 双子叶植物叶的结构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4123"/>
                                        </p:tgtEl>
                                        <p:attrNameLst>
                                          <p:attrName>style.visibility</p:attrName>
                                        </p:attrNameLst>
                                      </p:cBhvr>
                                      <p:to>
                                        <p:strVal val="visible"/>
                                      </p:to>
                                    </p:set>
                                    <p:anim calcmode="lin" valueType="num">
                                      <p:cBhvr additive="base">
                                        <p:cTn id="7" dur="500" fill="hold"/>
                                        <p:tgtEl>
                                          <p:spTgt spid="474123"/>
                                        </p:tgtEl>
                                        <p:attrNameLst>
                                          <p:attrName>ppt_x</p:attrName>
                                        </p:attrNameLst>
                                      </p:cBhvr>
                                      <p:tavLst>
                                        <p:tav tm="0">
                                          <p:val>
                                            <p:strVal val="#ppt_x"/>
                                          </p:val>
                                        </p:tav>
                                        <p:tav tm="100000">
                                          <p:val>
                                            <p:strVal val="#ppt_x"/>
                                          </p:val>
                                        </p:tav>
                                      </p:tavLst>
                                    </p:anim>
                                    <p:anim calcmode="lin" valueType="num">
                                      <p:cBhvr additive="base">
                                        <p:cTn id="8" dur="500" fill="hold"/>
                                        <p:tgtEl>
                                          <p:spTgt spid="47412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74123"/>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4124"/>
                                        </p:tgtEl>
                                        <p:attrNameLst>
                                          <p:attrName>style.visibility</p:attrName>
                                        </p:attrNameLst>
                                      </p:cBhvr>
                                      <p:to>
                                        <p:strVal val="visible"/>
                                      </p:to>
                                    </p:set>
                                    <p:anim calcmode="lin" valueType="num">
                                      <p:cBhvr additive="base">
                                        <p:cTn id="13" dur="500" fill="hold"/>
                                        <p:tgtEl>
                                          <p:spTgt spid="474124"/>
                                        </p:tgtEl>
                                        <p:attrNameLst>
                                          <p:attrName>ppt_x</p:attrName>
                                        </p:attrNameLst>
                                      </p:cBhvr>
                                      <p:tavLst>
                                        <p:tav tm="0">
                                          <p:val>
                                            <p:strVal val="#ppt_x"/>
                                          </p:val>
                                        </p:tav>
                                        <p:tav tm="100000">
                                          <p:val>
                                            <p:strVal val="#ppt_x"/>
                                          </p:val>
                                        </p:tav>
                                      </p:tavLst>
                                    </p:anim>
                                    <p:anim calcmode="lin" valueType="num">
                                      <p:cBhvr additive="base">
                                        <p:cTn id="14" dur="500" fill="hold"/>
                                        <p:tgtEl>
                                          <p:spTgt spid="47412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74124"/>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2" name="chimes.wav"/>
                                        </p:tgtEl>
                                      </p:cMediaNode>
                                    </p:audio>
                                  </p:sub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474125"/>
                                        </p:tgtEl>
                                        <p:attrNameLst>
                                          <p:attrName>style.visibility</p:attrName>
                                        </p:attrNameLst>
                                      </p:cBhvr>
                                      <p:to>
                                        <p:strVal val="visible"/>
                                      </p:to>
                                    </p:set>
                                    <p:animEffect transition="in" filter="dissolve">
                                      <p:cBhvr>
                                        <p:cTn id="19" dur="500"/>
                                        <p:tgtEl>
                                          <p:spTgt spid="474125"/>
                                        </p:tgtEl>
                                      </p:cBhvr>
                                    </p:animEffect>
                                  </p:childTnLst>
                                  <p:subTnLst>
                                    <p:set>
                                      <p:cBhvr override="childStyle">
                                        <p:cTn dur="1" fill="hold" display="0" masterRel="nextClick" afterEffect="1"/>
                                        <p:tgtEl>
                                          <p:spTgt spid="474125"/>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8625" name="图片 1"/>
          <p:cNvPicPr>
            <a:picLocks noChangeAspect="1"/>
          </p:cNvPicPr>
          <p:nvPr/>
        </p:nvPicPr>
        <p:blipFill>
          <a:blip r:embed="rId2"/>
          <a:stretch>
            <a:fillRect/>
          </a:stretch>
        </p:blipFill>
        <p:spPr>
          <a:xfrm>
            <a:off x="280988" y="47625"/>
            <a:ext cx="8582025" cy="67627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49" name="Rectangle 3"/>
          <p:cNvSpPr>
            <a:spLocks noGrp="1"/>
          </p:cNvSpPr>
          <p:nvPr>
            <p:ph idx="1"/>
          </p:nvPr>
        </p:nvSpPr>
        <p:spPr>
          <a:xfrm>
            <a:off x="0" y="1295400"/>
            <a:ext cx="8964613" cy="5157788"/>
          </a:xfrm>
        </p:spPr>
        <p:txBody>
          <a:bodyPr vert="horz" wrap="square" lIns="91440" tIns="45720" rIns="91440" bIns="45720" anchor="t" anchorCtr="0"/>
          <a:lstStyle/>
          <a:p>
            <a:pPr eaLnBrk="1" hangingPunct="1">
              <a:lnSpc>
                <a:spcPct val="110000"/>
              </a:lnSpc>
              <a:buNone/>
            </a:pPr>
            <a:r>
              <a:rPr lang="en-US" altLang="zh-CN" dirty="0">
                <a:latin typeface="华文新魏" panose="02010800040101010101" pitchFamily="2" charset="-122"/>
              </a:rPr>
              <a:t>     </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叶片的结构（表皮、皮层和叶脉）</a:t>
            </a:r>
            <a:r>
              <a:rPr lang="en-US" altLang="zh-CN" b="1" dirty="0">
                <a:latin typeface="黑体" panose="02010609060101010101" pitchFamily="49" charset="-122"/>
                <a:ea typeface="黑体" panose="02010609060101010101" pitchFamily="49" charset="-122"/>
              </a:rPr>
              <a:t>——</a:t>
            </a:r>
            <a:r>
              <a:rPr lang="en-US" altLang="zh-CN" b="1" dirty="0">
                <a:solidFill>
                  <a:srgbClr val="FF3300"/>
                </a:solidFill>
                <a:latin typeface="黑体" panose="02010609060101010101" pitchFamily="49" charset="-122"/>
                <a:ea typeface="黑体" panose="02010609060101010101" pitchFamily="49" charset="-122"/>
              </a:rPr>
              <a:t>⑵</a:t>
            </a:r>
            <a:r>
              <a:rPr lang="zh-CN" altLang="en-US" b="1" dirty="0">
                <a:solidFill>
                  <a:srgbClr val="FF3300"/>
                </a:solidFill>
                <a:latin typeface="黑体" panose="02010609060101010101" pitchFamily="49" charset="-122"/>
                <a:ea typeface="黑体" panose="02010609060101010101" pitchFamily="49" charset="-122"/>
              </a:rPr>
              <a:t>叶肉</a:t>
            </a:r>
            <a:r>
              <a:rPr lang="zh-CN" altLang="en-US" b="1" dirty="0">
                <a:latin typeface="黑体" panose="02010609060101010101" pitchFamily="49" charset="-122"/>
                <a:ea typeface="黑体" panose="02010609060101010101" pitchFamily="49" charset="-122"/>
              </a:rPr>
              <a:t> </a:t>
            </a:r>
          </a:p>
          <a:p>
            <a:pPr lvl="1" eaLnBrk="1" hangingPunct="1">
              <a:lnSpc>
                <a:spcPct val="110000"/>
              </a:lnSpc>
            </a:pPr>
            <a:r>
              <a:rPr lang="zh-CN" altLang="en-US" b="1" dirty="0">
                <a:latin typeface="黑体" panose="02010609060101010101" pitchFamily="49" charset="-122"/>
                <a:ea typeface="黑体" panose="02010609060101010101" pitchFamily="49" charset="-122"/>
              </a:rPr>
              <a:t>位置：位于上下表皮之间，为绿色组织。</a:t>
            </a:r>
          </a:p>
          <a:p>
            <a:pPr lvl="1" eaLnBrk="1" hangingPunct="1">
              <a:lnSpc>
                <a:spcPct val="110000"/>
              </a:lnSpc>
            </a:pPr>
            <a:r>
              <a:rPr lang="zh-CN" altLang="en-US" b="1" dirty="0">
                <a:latin typeface="黑体" panose="02010609060101010101" pitchFamily="49" charset="-122"/>
                <a:ea typeface="黑体" panose="02010609060101010101" pitchFamily="49" charset="-122"/>
              </a:rPr>
              <a:t>特征：叶肉属薄壁组织类，具丰富的叶绿体。因行使光合作用，故亦称同化组织。</a:t>
            </a:r>
          </a:p>
          <a:p>
            <a:pPr lvl="2" eaLnBrk="1" hangingPunct="1">
              <a:lnSpc>
                <a:spcPct val="110000"/>
              </a:lnSpc>
            </a:pPr>
            <a:r>
              <a:rPr lang="zh-CN" altLang="en-US" b="1" dirty="0">
                <a:solidFill>
                  <a:srgbClr val="3333FF"/>
                </a:solidFill>
                <a:latin typeface="黑体" panose="02010609060101010101" pitchFamily="49" charset="-122"/>
                <a:ea typeface="黑体" panose="02010609060101010101" pitchFamily="49" charset="-122"/>
              </a:rPr>
              <a:t>栅栏组织：</a:t>
            </a:r>
            <a:r>
              <a:rPr lang="zh-CN" altLang="en-US" b="1" dirty="0">
                <a:solidFill>
                  <a:schemeClr val="tx1"/>
                </a:solidFill>
                <a:latin typeface="黑体" panose="02010609060101010101" pitchFamily="49" charset="-122"/>
                <a:ea typeface="黑体" panose="02010609060101010101" pitchFamily="49" charset="-122"/>
              </a:rPr>
              <a:t>与近轴面表皮相连的叶肉组织细胞呈长方柱形，长轴和叶表面垂直，排列整齐，呈栅栏状。层数因不同植物而异。</a:t>
            </a:r>
          </a:p>
          <a:p>
            <a:pPr lvl="2" eaLnBrk="1" hangingPunct="1">
              <a:lnSpc>
                <a:spcPct val="110000"/>
              </a:lnSpc>
            </a:pPr>
            <a:r>
              <a:rPr lang="zh-CN" altLang="en-US" b="1" dirty="0">
                <a:solidFill>
                  <a:srgbClr val="3333FF"/>
                </a:solidFill>
                <a:latin typeface="黑体" panose="02010609060101010101" pitchFamily="49" charset="-122"/>
                <a:ea typeface="黑体" panose="02010609060101010101" pitchFamily="49" charset="-122"/>
              </a:rPr>
              <a:t>海绵组织：</a:t>
            </a:r>
            <a:r>
              <a:rPr lang="zh-CN" altLang="en-US" b="1" dirty="0">
                <a:solidFill>
                  <a:schemeClr val="tx1"/>
                </a:solidFill>
                <a:latin typeface="黑体" panose="02010609060101010101" pitchFamily="49" charset="-122"/>
                <a:ea typeface="黑体" panose="02010609060101010101" pitchFamily="49" charset="-122"/>
              </a:rPr>
              <a:t>与远轴面表皮连接的叶肉组织细胞，形状不规则，排列较栅栏组织疏松且不整齐，胞间隙较大，故称海绵组织。细胞内叶绿体少，因此叶背面较正面绿色浅。</a:t>
            </a:r>
          </a:p>
          <a:p>
            <a:pPr lvl="2" eaLnBrk="1" hangingPunct="1">
              <a:lnSpc>
                <a:spcPct val="110000"/>
              </a:lnSpc>
            </a:pPr>
            <a:r>
              <a:rPr lang="zh-CN" altLang="en-US" b="1" dirty="0">
                <a:solidFill>
                  <a:srgbClr val="3333FF"/>
                </a:solidFill>
                <a:latin typeface="黑体" panose="02010609060101010101" pitchFamily="49" charset="-122"/>
                <a:ea typeface="黑体" panose="02010609060101010101" pitchFamily="49" charset="-122"/>
              </a:rPr>
              <a:t>孔下室：</a:t>
            </a:r>
            <a:r>
              <a:rPr lang="zh-CN" altLang="en-US" b="1" dirty="0">
                <a:solidFill>
                  <a:schemeClr val="tx1"/>
                </a:solidFill>
                <a:latin typeface="黑体" panose="02010609060101010101" pitchFamily="49" charset="-122"/>
                <a:ea typeface="黑体" panose="02010609060101010101" pitchFamily="49" charset="-122"/>
              </a:rPr>
              <a:t>气孔下方的叶肉组织具较大的胞间隙，称孔下室。</a:t>
            </a:r>
          </a:p>
        </p:txBody>
      </p:sp>
      <p:sp>
        <p:nvSpPr>
          <p:cNvPr id="539650" name="Rectangle 5"/>
          <p:cNvSpPr>
            <a:spLocks noGrp="1"/>
          </p:cNvSpPr>
          <p:nvPr>
            <p:ph type="title"/>
          </p:nvPr>
        </p:nvSpPr>
        <p:spPr>
          <a:xfrm>
            <a:off x="323850" y="88900"/>
            <a:ext cx="9144000" cy="1143000"/>
          </a:xfrm>
        </p:spPr>
        <p:txBody>
          <a:bodyPr vert="horz" wrap="square" lIns="91440" tIns="45720" rIns="91440" bIns="45720" anchor="b" anchorCtr="0"/>
          <a:lstStyle/>
          <a:p>
            <a:pPr eaLnBrk="1" hangingPunct="1"/>
            <a:r>
              <a:rPr lang="zh-CN" altLang="en-US" dirty="0">
                <a:solidFill>
                  <a:srgbClr val="0000FF"/>
                </a:solidFill>
                <a:latin typeface="黑体" panose="02010609060101010101" pitchFamily="49" charset="-122"/>
                <a:ea typeface="黑体" panose="02010609060101010101" pitchFamily="49" charset="-122"/>
              </a:rPr>
              <a:t>四、叶的结构</a:t>
            </a:r>
            <a:br>
              <a:rPr lang="zh-CN" altLang="en-US" dirty="0">
                <a:latin typeface="华文新魏" panose="02010800040101010101" pitchFamily="2" charset="-122"/>
              </a:rPr>
            </a:br>
            <a:r>
              <a:rPr lang="zh-CN" altLang="en-US" sz="2800" b="1" dirty="0">
                <a:solidFill>
                  <a:srgbClr val="FF0000"/>
                </a:solidFill>
                <a:latin typeface="黑体" panose="02010609060101010101" pitchFamily="49" charset="-122"/>
                <a:ea typeface="黑体" panose="02010609060101010101" pitchFamily="49" charset="-122"/>
              </a:rPr>
              <a:t>㈠ 双子叶植物叶的结构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0673" name="Picture 2" descr="D:\lzc\植物学教学材料\植物学教学资料收集\挂图\叶\结构\紫丁香叶横切.JPG"/>
          <p:cNvPicPr>
            <a:picLocks noChangeAspect="1"/>
          </p:cNvPicPr>
          <p:nvPr/>
        </p:nvPicPr>
        <p:blipFill>
          <a:blip r:embed="rId2"/>
          <a:stretch>
            <a:fillRect/>
          </a:stretch>
        </p:blipFill>
        <p:spPr>
          <a:xfrm>
            <a:off x="0" y="0"/>
            <a:ext cx="9144000" cy="5999163"/>
          </a:xfrm>
          <a:prstGeom prst="rect">
            <a:avLst/>
          </a:prstGeom>
          <a:noFill/>
          <a:ln w="9525">
            <a:noFill/>
          </a:ln>
        </p:spPr>
      </p:pic>
      <p:sp>
        <p:nvSpPr>
          <p:cNvPr id="540674" name="Text Box 3"/>
          <p:cNvSpPr txBox="1"/>
          <p:nvPr/>
        </p:nvSpPr>
        <p:spPr>
          <a:xfrm>
            <a:off x="2514600" y="6019800"/>
            <a:ext cx="4191000" cy="457200"/>
          </a:xfrm>
          <a:prstGeom prst="rect">
            <a:avLst/>
          </a:prstGeom>
          <a:noFill/>
          <a:ln w="9525">
            <a:noFill/>
          </a:ln>
        </p:spPr>
        <p:txBody>
          <a:bodyPr anchor="t" anchorCtr="0">
            <a:spAutoFit/>
          </a:bodyPr>
          <a:lstStyle/>
          <a:p>
            <a:pPr algn="ctr" eaLnBrk="0" hangingPunct="0">
              <a:spcBef>
                <a:spcPct val="50000"/>
              </a:spcBef>
            </a:pPr>
            <a:r>
              <a:rPr lang="zh-CN" altLang="en-US" b="1" dirty="0">
                <a:solidFill>
                  <a:srgbClr val="FF3300"/>
                </a:solidFill>
                <a:latin typeface="Times New Roman" panose="02020603050405020304" pitchFamily="18" charset="0"/>
                <a:ea typeface="楷体_GB2312"/>
              </a:rPr>
              <a:t>紫丁香叶横切（异面叶结构）</a:t>
            </a:r>
          </a:p>
        </p:txBody>
      </p:sp>
      <p:sp>
        <p:nvSpPr>
          <p:cNvPr id="540675" name="Line 4"/>
          <p:cNvSpPr/>
          <p:nvPr/>
        </p:nvSpPr>
        <p:spPr>
          <a:xfrm>
            <a:off x="1219200" y="228600"/>
            <a:ext cx="0" cy="41148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76" name="Line 5"/>
          <p:cNvSpPr/>
          <p:nvPr/>
        </p:nvSpPr>
        <p:spPr>
          <a:xfrm>
            <a:off x="1981200" y="2514600"/>
            <a:ext cx="0" cy="18288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77" name="Line 6"/>
          <p:cNvSpPr/>
          <p:nvPr/>
        </p:nvSpPr>
        <p:spPr>
          <a:xfrm flipH="1">
            <a:off x="3429000" y="990600"/>
            <a:ext cx="457200" cy="990600"/>
          </a:xfrm>
          <a:prstGeom prst="line">
            <a:avLst/>
          </a:prstGeom>
          <a:ln w="38100" cap="flat" cmpd="sng">
            <a:solidFill>
              <a:srgbClr val="FFFF00"/>
            </a:solidFill>
            <a:prstDash val="solid"/>
            <a:round/>
            <a:headEnd type="triangle" w="med" len="med"/>
            <a:tailEnd type="triangle" w="med" len="med"/>
          </a:ln>
        </p:spPr>
        <p:txBody>
          <a:bodyPr/>
          <a:lstStyle/>
          <a:p>
            <a:endParaRPr lang="zh-CN" altLang="en-US"/>
          </a:p>
        </p:txBody>
      </p:sp>
      <p:sp>
        <p:nvSpPr>
          <p:cNvPr id="540678" name="Line 7"/>
          <p:cNvSpPr/>
          <p:nvPr/>
        </p:nvSpPr>
        <p:spPr>
          <a:xfrm flipH="1">
            <a:off x="3048000" y="1981200"/>
            <a:ext cx="381000" cy="838200"/>
          </a:xfrm>
          <a:prstGeom prst="line">
            <a:avLst/>
          </a:prstGeom>
          <a:ln w="38100" cap="flat" cmpd="sng">
            <a:solidFill>
              <a:srgbClr val="FF3300"/>
            </a:solidFill>
            <a:prstDash val="solid"/>
            <a:round/>
            <a:headEnd type="triangle" w="med" len="med"/>
            <a:tailEnd type="triangle" w="med" len="med"/>
          </a:ln>
        </p:spPr>
        <p:txBody>
          <a:bodyPr/>
          <a:lstStyle/>
          <a:p>
            <a:endParaRPr lang="zh-CN" altLang="en-US"/>
          </a:p>
        </p:txBody>
      </p:sp>
      <p:sp>
        <p:nvSpPr>
          <p:cNvPr id="540679" name="Line 8"/>
          <p:cNvSpPr/>
          <p:nvPr/>
        </p:nvSpPr>
        <p:spPr>
          <a:xfrm>
            <a:off x="3200400" y="2590800"/>
            <a:ext cx="0" cy="17526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80" name="Line 9"/>
          <p:cNvSpPr/>
          <p:nvPr/>
        </p:nvSpPr>
        <p:spPr>
          <a:xfrm>
            <a:off x="3733800" y="1295400"/>
            <a:ext cx="0" cy="3048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81" name="Freeform 10"/>
          <p:cNvSpPr/>
          <p:nvPr/>
        </p:nvSpPr>
        <p:spPr>
          <a:xfrm>
            <a:off x="6342063" y="2528888"/>
            <a:ext cx="1506537" cy="739775"/>
          </a:xfrm>
          <a:custGeom>
            <a:avLst/>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993" h="466">
                <a:moveTo>
                  <a:pt x="0" y="0"/>
                </a:moveTo>
                <a:cubicBezTo>
                  <a:pt x="39" y="27"/>
                  <a:pt x="59" y="59"/>
                  <a:pt x="98" y="86"/>
                </a:cubicBezTo>
                <a:cubicBezTo>
                  <a:pt x="102" y="98"/>
                  <a:pt x="105" y="112"/>
                  <a:pt x="111" y="123"/>
                </a:cubicBezTo>
                <a:cubicBezTo>
                  <a:pt x="125" y="149"/>
                  <a:pt x="160" y="196"/>
                  <a:pt x="160" y="196"/>
                </a:cubicBezTo>
                <a:cubicBezTo>
                  <a:pt x="201" y="321"/>
                  <a:pt x="174" y="275"/>
                  <a:pt x="221" y="343"/>
                </a:cubicBezTo>
                <a:cubicBezTo>
                  <a:pt x="253" y="443"/>
                  <a:pt x="267" y="418"/>
                  <a:pt x="392" y="429"/>
                </a:cubicBezTo>
                <a:cubicBezTo>
                  <a:pt x="482" y="459"/>
                  <a:pt x="441" y="448"/>
                  <a:pt x="515" y="466"/>
                </a:cubicBezTo>
                <a:cubicBezTo>
                  <a:pt x="556" y="462"/>
                  <a:pt x="598" y="463"/>
                  <a:pt x="638" y="454"/>
                </a:cubicBezTo>
                <a:cubicBezTo>
                  <a:pt x="652" y="451"/>
                  <a:pt x="660" y="434"/>
                  <a:pt x="674" y="429"/>
                </a:cubicBezTo>
                <a:cubicBezTo>
                  <a:pt x="694" y="422"/>
                  <a:pt x="715" y="421"/>
                  <a:pt x="736" y="417"/>
                </a:cubicBezTo>
                <a:cubicBezTo>
                  <a:pt x="748" y="405"/>
                  <a:pt x="757" y="388"/>
                  <a:pt x="772" y="380"/>
                </a:cubicBezTo>
                <a:cubicBezTo>
                  <a:pt x="795" y="367"/>
                  <a:pt x="821" y="364"/>
                  <a:pt x="846" y="356"/>
                </a:cubicBezTo>
                <a:cubicBezTo>
                  <a:pt x="885" y="343"/>
                  <a:pt x="993" y="319"/>
                  <a:pt x="993" y="270"/>
                </a:cubicBezTo>
              </a:path>
            </a:pathLst>
          </a:custGeom>
          <a:noFill/>
          <a:ln w="38100" cap="flat" cmpd="sng">
            <a:solidFill>
              <a:srgbClr val="FFFF00"/>
            </a:solidFill>
            <a:prstDash val="lgDash"/>
            <a:round/>
            <a:headEnd type="none" w="med" len="med"/>
            <a:tailEnd type="none" w="med" len="med"/>
          </a:ln>
        </p:spPr>
        <p:txBody>
          <a:bodyPr/>
          <a:lstStyle/>
          <a:p>
            <a:endParaRPr lang="zh-CN" altLang="en-US"/>
          </a:p>
        </p:txBody>
      </p:sp>
      <p:sp>
        <p:nvSpPr>
          <p:cNvPr id="540682" name="Line 11"/>
          <p:cNvSpPr/>
          <p:nvPr/>
        </p:nvSpPr>
        <p:spPr>
          <a:xfrm flipH="1">
            <a:off x="4495800" y="2971800"/>
            <a:ext cx="2362200" cy="1524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83" name="Line 12"/>
          <p:cNvSpPr/>
          <p:nvPr/>
        </p:nvSpPr>
        <p:spPr>
          <a:xfrm flipH="1">
            <a:off x="5257800" y="3352800"/>
            <a:ext cx="1676400" cy="1143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84" name="Line 13"/>
          <p:cNvSpPr/>
          <p:nvPr/>
        </p:nvSpPr>
        <p:spPr>
          <a:xfrm>
            <a:off x="6858000" y="4800600"/>
            <a:ext cx="0" cy="762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85" name="Line 14"/>
          <p:cNvSpPr/>
          <p:nvPr/>
        </p:nvSpPr>
        <p:spPr>
          <a:xfrm flipV="1">
            <a:off x="6477000" y="609600"/>
            <a:ext cx="0" cy="762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86" name="Text Box 15"/>
          <p:cNvSpPr txBox="1"/>
          <p:nvPr/>
        </p:nvSpPr>
        <p:spPr>
          <a:xfrm>
            <a:off x="993775" y="4419600"/>
            <a:ext cx="4645025" cy="1219200"/>
          </a:xfrm>
          <a:prstGeom prst="rect">
            <a:avLst/>
          </a:prstGeom>
          <a:noFill/>
          <a:ln w="9525">
            <a:noFill/>
          </a:ln>
        </p:spPr>
        <p:txBody>
          <a:bodyPr vert="eaVert" anchor="t" anchorCtr="0">
            <a:spAutoFit/>
          </a:bodyPr>
          <a:lstStyle/>
          <a:p>
            <a:pPr eaLnBrk="0" hangingPunct="0">
              <a:lnSpc>
                <a:spcPct val="110000"/>
              </a:lnSpc>
              <a:spcBef>
                <a:spcPct val="50000"/>
              </a:spcBef>
            </a:pPr>
            <a:r>
              <a:rPr lang="zh-CN" altLang="en-US" sz="2200" b="1" dirty="0">
                <a:latin typeface="Times New Roman" panose="02020603050405020304" pitchFamily="18" charset="0"/>
                <a:ea typeface="楷体_GB2312"/>
              </a:rPr>
              <a:t>韧皮部</a:t>
            </a:r>
          </a:p>
          <a:p>
            <a:pPr eaLnBrk="0" hangingPunct="0">
              <a:lnSpc>
                <a:spcPct val="190000"/>
              </a:lnSpc>
              <a:spcBef>
                <a:spcPct val="50000"/>
              </a:spcBef>
            </a:pPr>
            <a:r>
              <a:rPr lang="zh-CN" altLang="en-US" sz="2200" b="1" dirty="0">
                <a:latin typeface="Times New Roman" panose="02020603050405020304" pitchFamily="18" charset="0"/>
                <a:ea typeface="楷体_GB2312"/>
              </a:rPr>
              <a:t>木质部</a:t>
            </a:r>
          </a:p>
          <a:p>
            <a:pPr eaLnBrk="0" hangingPunct="0">
              <a:lnSpc>
                <a:spcPct val="200000"/>
              </a:lnSpc>
              <a:spcBef>
                <a:spcPct val="50000"/>
              </a:spcBef>
            </a:pPr>
            <a:r>
              <a:rPr lang="zh-CN" altLang="en-US" sz="2200" b="1" dirty="0">
                <a:latin typeface="Times New Roman" panose="02020603050405020304" pitchFamily="18" charset="0"/>
                <a:ea typeface="楷体_GB2312"/>
              </a:rPr>
              <a:t>栅栏组织</a:t>
            </a:r>
          </a:p>
          <a:p>
            <a:pPr eaLnBrk="0" hangingPunct="0">
              <a:lnSpc>
                <a:spcPct val="90000"/>
              </a:lnSpc>
              <a:spcBef>
                <a:spcPct val="50000"/>
              </a:spcBef>
            </a:pPr>
            <a:r>
              <a:rPr lang="zh-CN" altLang="en-US" sz="2200" b="1" dirty="0">
                <a:latin typeface="Times New Roman" panose="02020603050405020304" pitchFamily="18" charset="0"/>
                <a:ea typeface="楷体_GB2312"/>
              </a:rPr>
              <a:t>海绵组织</a:t>
            </a:r>
          </a:p>
          <a:p>
            <a:pPr eaLnBrk="0" hangingPunct="0">
              <a:spcBef>
                <a:spcPct val="50000"/>
              </a:spcBef>
            </a:pPr>
            <a:endParaRPr lang="zh-CN" altLang="en-US" sz="2200" b="1" dirty="0">
              <a:latin typeface="Times New Roman" panose="02020603050405020304" pitchFamily="18" charset="0"/>
              <a:ea typeface="楷体_GB2312"/>
            </a:endParaRPr>
          </a:p>
          <a:p>
            <a:pPr eaLnBrk="0" hangingPunct="0">
              <a:lnSpc>
                <a:spcPct val="170000"/>
              </a:lnSpc>
              <a:spcBef>
                <a:spcPct val="50000"/>
              </a:spcBef>
            </a:pPr>
            <a:r>
              <a:rPr lang="zh-CN" altLang="en-US" sz="2200" b="1" dirty="0">
                <a:latin typeface="Times New Roman" panose="02020603050405020304" pitchFamily="18" charset="0"/>
                <a:ea typeface="楷体_GB2312"/>
              </a:rPr>
              <a:t>下表皮</a:t>
            </a:r>
          </a:p>
          <a:p>
            <a:pPr eaLnBrk="0" hangingPunct="0">
              <a:lnSpc>
                <a:spcPct val="170000"/>
              </a:lnSpc>
              <a:spcBef>
                <a:spcPct val="50000"/>
              </a:spcBef>
            </a:pPr>
            <a:r>
              <a:rPr lang="zh-CN" altLang="en-US" sz="2200" b="1" dirty="0">
                <a:latin typeface="Times New Roman" panose="02020603050405020304" pitchFamily="18" charset="0"/>
                <a:ea typeface="楷体_GB2312"/>
              </a:rPr>
              <a:t>上表皮</a:t>
            </a:r>
          </a:p>
        </p:txBody>
      </p:sp>
      <p:sp>
        <p:nvSpPr>
          <p:cNvPr id="540687" name="Text Box 16"/>
          <p:cNvSpPr txBox="1"/>
          <p:nvPr/>
        </p:nvSpPr>
        <p:spPr>
          <a:xfrm>
            <a:off x="6248400" y="5410200"/>
            <a:ext cx="1524000" cy="427038"/>
          </a:xfrm>
          <a:prstGeom prst="rect">
            <a:avLst/>
          </a:prstGeom>
          <a:noFill/>
          <a:ln w="9525">
            <a:noFill/>
          </a:ln>
        </p:spPr>
        <p:txBody>
          <a:bodyPr anchor="t" anchorCtr="0">
            <a:spAutoFit/>
          </a:bodyPr>
          <a:lstStyle/>
          <a:p>
            <a:pPr algn="ctr" eaLnBrk="0" hangingPunct="0">
              <a:spcBef>
                <a:spcPct val="50000"/>
              </a:spcBef>
            </a:pPr>
            <a:r>
              <a:rPr lang="zh-CN" altLang="en-US" sz="2200" b="1" dirty="0">
                <a:latin typeface="Times New Roman" panose="02020603050405020304" pitchFamily="18" charset="0"/>
                <a:ea typeface="楷体_GB2312"/>
              </a:rPr>
              <a:t>厚角组织</a:t>
            </a:r>
          </a:p>
        </p:txBody>
      </p:sp>
      <p:sp>
        <p:nvSpPr>
          <p:cNvPr id="540688" name="Text Box 17"/>
          <p:cNvSpPr txBox="1"/>
          <p:nvPr/>
        </p:nvSpPr>
        <p:spPr>
          <a:xfrm>
            <a:off x="5715000" y="304800"/>
            <a:ext cx="1524000" cy="427038"/>
          </a:xfrm>
          <a:prstGeom prst="rect">
            <a:avLst/>
          </a:prstGeom>
          <a:noFill/>
          <a:ln w="9525">
            <a:noFill/>
          </a:ln>
        </p:spPr>
        <p:txBody>
          <a:bodyPr anchor="t" anchorCtr="0">
            <a:spAutoFit/>
          </a:bodyPr>
          <a:lstStyle/>
          <a:p>
            <a:pPr algn="ctr" eaLnBrk="0" hangingPunct="0">
              <a:spcBef>
                <a:spcPct val="50000"/>
              </a:spcBef>
            </a:pPr>
            <a:r>
              <a:rPr lang="zh-CN" altLang="en-US" sz="2200" b="1" dirty="0">
                <a:latin typeface="Times New Roman" panose="02020603050405020304" pitchFamily="18" charset="0"/>
                <a:ea typeface="楷体_GB2312"/>
              </a:rPr>
              <a:t>腺毛</a:t>
            </a:r>
          </a:p>
        </p:txBody>
      </p:sp>
      <p:sp>
        <p:nvSpPr>
          <p:cNvPr id="540689" name="AutoShape 18"/>
          <p:cNvSpPr/>
          <p:nvPr/>
        </p:nvSpPr>
        <p:spPr>
          <a:xfrm rot="-5386275" flipV="1">
            <a:off x="4876800" y="5029200"/>
            <a:ext cx="152400" cy="762000"/>
          </a:xfrm>
          <a:prstGeom prst="leftBrace">
            <a:avLst>
              <a:gd name="adj1" fmla="val 41342"/>
              <a:gd name="adj2" fmla="val 50000"/>
            </a:avLst>
          </a:prstGeom>
          <a:noFill/>
          <a:ln w="38100" cap="flat" cmpd="sng">
            <a:solidFill>
              <a:srgbClr val="FF3300"/>
            </a:solidFill>
            <a:prstDash val="solid"/>
            <a:round/>
            <a:headEnd type="none" w="med" len="med"/>
            <a:tailEnd type="none" w="med" len="med"/>
          </a:ln>
        </p:spPr>
        <p:txBody>
          <a:bodyPr rot="10800000" vert="eaVert" wrap="none" anchor="ctr" anchorCtr="0"/>
          <a:lstStyle/>
          <a:p>
            <a:pPr algn="ctr" eaLnBrk="0" hangingPunct="0"/>
            <a:endParaRPr lang="zh-CN" altLang="zh-CN" dirty="0">
              <a:solidFill>
                <a:srgbClr val="FF3300"/>
              </a:solidFill>
              <a:latin typeface="Times New Roman" panose="02020603050405020304" pitchFamily="18" charset="0"/>
              <a:ea typeface="宋体" panose="02010600030101010101" pitchFamily="2" charset="-122"/>
            </a:endParaRPr>
          </a:p>
        </p:txBody>
      </p:sp>
      <p:sp>
        <p:nvSpPr>
          <p:cNvPr id="540690" name="Line 19"/>
          <p:cNvSpPr/>
          <p:nvPr/>
        </p:nvSpPr>
        <p:spPr>
          <a:xfrm flipH="1">
            <a:off x="6019800" y="3810000"/>
            <a:ext cx="1066800" cy="15240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40691" name="Text Box 20"/>
          <p:cNvSpPr txBox="1"/>
          <p:nvPr/>
        </p:nvSpPr>
        <p:spPr>
          <a:xfrm>
            <a:off x="5638800" y="5181600"/>
            <a:ext cx="762000" cy="671513"/>
          </a:xfrm>
          <a:prstGeom prst="rect">
            <a:avLst/>
          </a:prstGeom>
          <a:noFill/>
          <a:ln w="9525">
            <a:noFill/>
          </a:ln>
        </p:spPr>
        <p:txBody>
          <a:bodyPr anchor="t" anchorCtr="0">
            <a:spAutoFit/>
          </a:bodyPr>
          <a:lstStyle/>
          <a:p>
            <a:pPr eaLnBrk="0" hangingPunct="0">
              <a:spcBef>
                <a:spcPct val="50000"/>
              </a:spcBef>
            </a:pPr>
            <a:r>
              <a:rPr lang="zh-CN" altLang="en-US" sz="2000" b="1" dirty="0">
                <a:latin typeface="Times New Roman" panose="02020603050405020304" pitchFamily="18" charset="0"/>
                <a:ea typeface="楷体_GB2312"/>
              </a:rPr>
              <a:t>基本</a:t>
            </a:r>
          </a:p>
          <a:p>
            <a:pPr eaLnBrk="0" hangingPunct="0">
              <a:lnSpc>
                <a:spcPct val="40000"/>
              </a:lnSpc>
              <a:spcBef>
                <a:spcPct val="50000"/>
              </a:spcBef>
            </a:pPr>
            <a:r>
              <a:rPr lang="zh-CN" altLang="en-US" sz="2000" b="1" dirty="0">
                <a:latin typeface="Times New Roman" panose="02020603050405020304" pitchFamily="18" charset="0"/>
                <a:ea typeface="楷体_GB2312"/>
              </a:rPr>
              <a:t>组织</a:t>
            </a:r>
          </a:p>
        </p:txBody>
      </p:sp>
      <p:sp>
        <p:nvSpPr>
          <p:cNvPr id="540692" name="Text Box 21"/>
          <p:cNvSpPr txBox="1"/>
          <p:nvPr/>
        </p:nvSpPr>
        <p:spPr>
          <a:xfrm>
            <a:off x="4191000" y="5486400"/>
            <a:ext cx="1524000" cy="396875"/>
          </a:xfrm>
          <a:prstGeom prst="rect">
            <a:avLst/>
          </a:prstGeom>
          <a:noFill/>
          <a:ln w="9525">
            <a:noFill/>
          </a:ln>
        </p:spPr>
        <p:txBody>
          <a:bodyPr anchor="t" anchorCtr="0">
            <a:spAutoFit/>
          </a:bodyPr>
          <a:lstStyle/>
          <a:p>
            <a:pPr algn="ctr" eaLnBrk="0" hangingPunct="0">
              <a:spcBef>
                <a:spcPct val="50000"/>
              </a:spcBef>
            </a:pPr>
            <a:r>
              <a:rPr lang="zh-CN" altLang="en-US" sz="2000" b="1" dirty="0">
                <a:latin typeface="Times New Roman" panose="02020603050405020304" pitchFamily="18" charset="0"/>
                <a:ea typeface="楷体_GB2312"/>
              </a:rPr>
              <a:t>主脉维管束</a:t>
            </a:r>
          </a:p>
        </p:txBody>
      </p:sp>
      <p:sp>
        <p:nvSpPr>
          <p:cNvPr id="540693" name="AutoShape 22"/>
          <p:cNvSpPr/>
          <p:nvPr/>
        </p:nvSpPr>
        <p:spPr>
          <a:xfrm rot="-5443429">
            <a:off x="5753100" y="4229100"/>
            <a:ext cx="228600" cy="3200400"/>
          </a:xfrm>
          <a:prstGeom prst="leftBrace">
            <a:avLst>
              <a:gd name="adj1" fmla="val 115759"/>
              <a:gd name="adj2" fmla="val 50000"/>
            </a:avLst>
          </a:prstGeom>
          <a:noFill/>
          <a:ln w="38100"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40694" name="Text Box 23"/>
          <p:cNvSpPr txBox="1"/>
          <p:nvPr/>
        </p:nvSpPr>
        <p:spPr>
          <a:xfrm>
            <a:off x="7924800" y="5486400"/>
            <a:ext cx="863600" cy="457200"/>
          </a:xfrm>
          <a:prstGeom prst="rect">
            <a:avLst/>
          </a:prstGeom>
          <a:solidFill>
            <a:schemeClr val="bg1"/>
          </a:solidFill>
          <a:ln w="9525" cap="flat" cmpd="sng">
            <a:solidFill>
              <a:srgbClr val="FF3300"/>
            </a:solidFill>
            <a:prstDash val="solid"/>
            <a:miter/>
            <a:headEnd type="none" w="med" len="med"/>
            <a:tailEnd type="none" w="med" len="med"/>
          </a:ln>
        </p:spPr>
        <p:txBody>
          <a:bodyPr vert="eaVert" anchor="t" anchorCtr="0">
            <a:spAutoFit/>
          </a:bodyPr>
          <a:lstStyle/>
          <a:p>
            <a:pPr algn="r" eaLnBrk="0" hangingPunct="0">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脉主</a:t>
            </a:r>
          </a:p>
        </p:txBody>
      </p:sp>
      <p:sp>
        <p:nvSpPr>
          <p:cNvPr id="540695" name="Line 24"/>
          <p:cNvSpPr/>
          <p:nvPr/>
        </p:nvSpPr>
        <p:spPr>
          <a:xfrm>
            <a:off x="5867400" y="5943600"/>
            <a:ext cx="2057400" cy="0"/>
          </a:xfrm>
          <a:prstGeom prst="line">
            <a:avLst/>
          </a:prstGeom>
          <a:ln w="38100" cap="flat" cmpd="sng">
            <a:solidFill>
              <a:srgbClr val="FFFF00"/>
            </a:solidFill>
            <a:prstDash val="solid"/>
            <a:round/>
            <a:headEnd type="triangle" w="med" len="med"/>
            <a:tailEnd type="none" w="med" len="med"/>
          </a:ln>
        </p:spPr>
        <p:txBody>
          <a:bodyPr/>
          <a:lstStyle/>
          <a:p>
            <a:endParaRPr lang="zh-CN" altLang="en-US"/>
          </a:p>
        </p:txBody>
      </p:sp>
      <p:sp>
        <p:nvSpPr>
          <p:cNvPr id="540696" name="Text Box 25"/>
          <p:cNvSpPr txBox="1"/>
          <p:nvPr/>
        </p:nvSpPr>
        <p:spPr>
          <a:xfrm>
            <a:off x="3048000" y="5545138"/>
            <a:ext cx="838200" cy="452437"/>
          </a:xfrm>
          <a:prstGeom prst="rect">
            <a:avLst/>
          </a:prstGeom>
          <a:solidFill>
            <a:schemeClr val="bg1"/>
          </a:solidFill>
          <a:ln w="9525" cap="flat" cmpd="sng">
            <a:solidFill>
              <a:srgbClr val="FF3300"/>
            </a:solidFill>
            <a:prstDash val="solid"/>
            <a:miter/>
            <a:headEnd type="none" w="med" len="med"/>
            <a:tailEnd type="none" w="med" len="med"/>
          </a:ln>
        </p:spPr>
        <p:txBody>
          <a:bodyPr anchor="t" anchorCtr="0">
            <a:spAutoFit/>
          </a:bodyPr>
          <a:lstStyle/>
          <a:p>
            <a:pPr algn="ctr" eaLnBrk="0" hangingPunct="0">
              <a:spcBef>
                <a:spcPct val="50000"/>
              </a:spcBef>
            </a:pPr>
            <a:r>
              <a:rPr lang="zh-CN" altLang="en-US" sz="2300" dirty="0">
                <a:solidFill>
                  <a:srgbClr val="FF3300"/>
                </a:solidFill>
                <a:latin typeface="Times New Roman" panose="02020603050405020304" pitchFamily="18" charset="0"/>
                <a:ea typeface="华文新魏" panose="02010800040101010101" pitchFamily="2" charset="-122"/>
              </a:rPr>
              <a:t>叶肉</a:t>
            </a:r>
          </a:p>
        </p:txBody>
      </p:sp>
      <p:sp>
        <p:nvSpPr>
          <p:cNvPr id="540697" name="Text Box 26"/>
          <p:cNvSpPr txBox="1"/>
          <p:nvPr/>
        </p:nvSpPr>
        <p:spPr>
          <a:xfrm>
            <a:off x="1184275" y="5562600"/>
            <a:ext cx="838200" cy="452438"/>
          </a:xfrm>
          <a:prstGeom prst="rect">
            <a:avLst/>
          </a:prstGeom>
          <a:solidFill>
            <a:schemeClr val="bg1"/>
          </a:solidFill>
          <a:ln w="9525" cap="flat" cmpd="sng">
            <a:solidFill>
              <a:srgbClr val="FF3300"/>
            </a:solidFill>
            <a:prstDash val="solid"/>
            <a:miter/>
            <a:headEnd type="none" w="med" len="med"/>
            <a:tailEnd type="none" w="med" len="med"/>
          </a:ln>
        </p:spPr>
        <p:txBody>
          <a:bodyPr anchor="t" anchorCtr="0">
            <a:spAutoFit/>
          </a:bodyPr>
          <a:lstStyle/>
          <a:p>
            <a:pPr algn="ctr" eaLnBrk="0" hangingPunct="0">
              <a:spcBef>
                <a:spcPct val="50000"/>
              </a:spcBef>
            </a:pPr>
            <a:r>
              <a:rPr lang="zh-CN" altLang="en-US" sz="2300" dirty="0">
                <a:solidFill>
                  <a:srgbClr val="FF3300"/>
                </a:solidFill>
                <a:latin typeface="Times New Roman" panose="02020603050405020304" pitchFamily="18" charset="0"/>
                <a:ea typeface="华文新魏" panose="02010800040101010101" pitchFamily="2" charset="-122"/>
              </a:rPr>
              <a:t>表皮</a:t>
            </a:r>
          </a:p>
        </p:txBody>
      </p:sp>
      <p:sp>
        <p:nvSpPr>
          <p:cNvPr id="540698" name="AutoShape 27"/>
          <p:cNvSpPr/>
          <p:nvPr/>
        </p:nvSpPr>
        <p:spPr>
          <a:xfrm rot="-5386275" flipV="1">
            <a:off x="1524000" y="5029200"/>
            <a:ext cx="152400" cy="762000"/>
          </a:xfrm>
          <a:prstGeom prst="leftBrace">
            <a:avLst>
              <a:gd name="adj1" fmla="val 41342"/>
              <a:gd name="adj2" fmla="val 50000"/>
            </a:avLst>
          </a:prstGeom>
          <a:noFill/>
          <a:ln w="38100" cap="flat" cmpd="sng">
            <a:solidFill>
              <a:srgbClr val="FF3300"/>
            </a:solidFill>
            <a:prstDash val="solid"/>
            <a:round/>
            <a:headEnd type="none" w="med" len="med"/>
            <a:tailEnd type="none" w="med" len="med"/>
          </a:ln>
        </p:spPr>
        <p:txBody>
          <a:bodyPr rot="10800000" vert="eaVert" wrap="none" anchor="ctr" anchorCtr="0"/>
          <a:lstStyle/>
          <a:p>
            <a:pPr algn="ctr" eaLnBrk="0" hangingPunct="0"/>
            <a:endParaRPr lang="zh-CN" altLang="zh-CN" dirty="0">
              <a:solidFill>
                <a:srgbClr val="FF3300"/>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7" name="Rectangle 3"/>
          <p:cNvSpPr>
            <a:spLocks noGrp="1"/>
          </p:cNvSpPr>
          <p:nvPr>
            <p:ph idx="1"/>
          </p:nvPr>
        </p:nvSpPr>
        <p:spPr>
          <a:xfrm>
            <a:off x="0" y="1295400"/>
            <a:ext cx="8964613" cy="5157788"/>
          </a:xfrm>
        </p:spPr>
        <p:txBody>
          <a:bodyPr vert="horz" wrap="square" lIns="91440" tIns="45720" rIns="91440" bIns="45720" anchor="t" anchorCtr="0"/>
          <a:lstStyle/>
          <a:p>
            <a:pPr>
              <a:spcBef>
                <a:spcPct val="0"/>
              </a:spcBef>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叶片的结构（表皮、皮层和叶脉）</a:t>
            </a:r>
            <a:r>
              <a:rPr lang="en-US" altLang="zh-CN" b="1" dirty="0">
                <a:latin typeface="黑体" panose="02010609060101010101" pitchFamily="49" charset="-122"/>
                <a:ea typeface="黑体" panose="02010609060101010101" pitchFamily="49" charset="-122"/>
              </a:rPr>
              <a:t>——</a:t>
            </a:r>
            <a:r>
              <a:rPr lang="en-US" altLang="zh-CN" b="1" dirty="0">
                <a:solidFill>
                  <a:srgbClr val="FF3300"/>
                </a:solidFill>
                <a:latin typeface="黑体" panose="02010609060101010101" pitchFamily="49" charset="-122"/>
                <a:ea typeface="黑体" panose="02010609060101010101" pitchFamily="49" charset="-122"/>
              </a:rPr>
              <a:t>⑶</a:t>
            </a:r>
            <a:r>
              <a:rPr lang="zh-CN" altLang="en-US" b="1" dirty="0">
                <a:solidFill>
                  <a:srgbClr val="FF3300"/>
                </a:solidFill>
                <a:latin typeface="黑体" panose="02010609060101010101" pitchFamily="49" charset="-122"/>
                <a:ea typeface="黑体" panose="02010609060101010101" pitchFamily="49" charset="-122"/>
              </a:rPr>
              <a:t>叶脉</a:t>
            </a:r>
          </a:p>
          <a:p>
            <a:pPr lvl="2">
              <a:lnSpc>
                <a:spcPct val="110000"/>
              </a:lnSpc>
              <a:spcBef>
                <a:spcPct val="0"/>
              </a:spcBef>
            </a:pPr>
            <a:r>
              <a:rPr lang="zh-CN" altLang="en-US" b="1" dirty="0">
                <a:latin typeface="黑体" panose="02010609060101010101" pitchFamily="49" charset="-122"/>
                <a:ea typeface="黑体" panose="02010609060101010101" pitchFamily="49" charset="-122"/>
              </a:rPr>
              <a:t>叶脉是茎中维管束在叶片中的延伸。为外表可见的叶片表面的脉纹。</a:t>
            </a:r>
          </a:p>
          <a:p>
            <a:pPr lvl="2">
              <a:lnSpc>
                <a:spcPct val="110000"/>
              </a:lnSpc>
              <a:spcBef>
                <a:spcPct val="0"/>
              </a:spcBef>
            </a:pPr>
            <a:r>
              <a:rPr lang="zh-CN" altLang="en-US" b="1" u="sng" dirty="0">
                <a:latin typeface="黑体" panose="02010609060101010101" pitchFamily="49" charset="-122"/>
                <a:ea typeface="黑体" panose="02010609060101010101" pitchFamily="49" charset="-122"/>
              </a:rPr>
              <a:t>叶脉由维管束、基本组织和机械组织（厚角组织）构成</a:t>
            </a:r>
            <a:r>
              <a:rPr lang="zh-CN" altLang="en-US" b="1" dirty="0">
                <a:latin typeface="黑体" panose="02010609060101010101" pitchFamily="49" charset="-122"/>
                <a:ea typeface="黑体" panose="02010609060101010101" pitchFamily="49" charset="-122"/>
              </a:rPr>
              <a:t>。</a:t>
            </a:r>
          </a:p>
          <a:p>
            <a:pPr lvl="1">
              <a:lnSpc>
                <a:spcPct val="140000"/>
              </a:lnSpc>
              <a:spcBef>
                <a:spcPct val="0"/>
              </a:spcBef>
            </a:pPr>
            <a:r>
              <a:rPr lang="zh-CN" altLang="en-US" b="1" dirty="0">
                <a:solidFill>
                  <a:srgbClr val="3333FF"/>
                </a:solidFill>
                <a:latin typeface="黑体" panose="02010609060101010101" pitchFamily="49" charset="-122"/>
                <a:ea typeface="黑体" panose="02010609060101010101" pitchFamily="49" charset="-122"/>
              </a:rPr>
              <a:t>维管束：</a:t>
            </a:r>
            <a:r>
              <a:rPr lang="zh-CN" altLang="en-US" b="1" dirty="0">
                <a:latin typeface="黑体" panose="02010609060101010101" pitchFamily="49" charset="-122"/>
                <a:ea typeface="黑体" panose="02010609060101010101" pitchFamily="49" charset="-122"/>
              </a:rPr>
              <a:t>茎维管束中，木质部（内）和韧皮部（外）延伸到叶柄和叶脉中分别位于叶脉的近轴面和远轴面。较大叶脉木质部和韧皮部间具形成层，但活动有限。</a:t>
            </a:r>
          </a:p>
          <a:p>
            <a:pPr lvl="1">
              <a:lnSpc>
                <a:spcPct val="140000"/>
              </a:lnSpc>
              <a:spcBef>
                <a:spcPct val="0"/>
              </a:spcBef>
            </a:pPr>
            <a:r>
              <a:rPr lang="zh-CN" altLang="en-US" b="1" dirty="0">
                <a:solidFill>
                  <a:srgbClr val="3333FF"/>
                </a:solidFill>
                <a:latin typeface="黑体" panose="02010609060101010101" pitchFamily="49" charset="-122"/>
                <a:ea typeface="黑体" panose="02010609060101010101" pitchFamily="49" charset="-122"/>
              </a:rPr>
              <a:t>基本组织：</a:t>
            </a:r>
            <a:r>
              <a:rPr lang="zh-CN" altLang="en-US" b="1" dirty="0">
                <a:latin typeface="黑体" panose="02010609060101010101" pitchFamily="49" charset="-122"/>
                <a:ea typeface="黑体" panose="02010609060101010101" pitchFamily="49" charset="-122"/>
              </a:rPr>
              <a:t>维管束周围的薄壁组织可以延伸到上下表皮。</a:t>
            </a:r>
          </a:p>
          <a:p>
            <a:pPr lvl="1">
              <a:lnSpc>
                <a:spcPct val="140000"/>
              </a:lnSpc>
              <a:spcBef>
                <a:spcPct val="0"/>
              </a:spcBef>
            </a:pPr>
            <a:r>
              <a:rPr lang="zh-CN" altLang="en-US" b="1" dirty="0">
                <a:solidFill>
                  <a:srgbClr val="3333FF"/>
                </a:solidFill>
                <a:latin typeface="黑体" panose="02010609060101010101" pitchFamily="49" charset="-122"/>
                <a:ea typeface="黑体" panose="02010609060101010101" pitchFamily="49" charset="-122"/>
              </a:rPr>
              <a:t>机械组织：</a:t>
            </a:r>
            <a:r>
              <a:rPr lang="zh-CN" altLang="en-US" b="1" dirty="0">
                <a:latin typeface="黑体" panose="02010609060101010101" pitchFamily="49" charset="-122"/>
                <a:ea typeface="黑体" panose="02010609060101010101" pitchFamily="49" charset="-122"/>
              </a:rPr>
              <a:t>在较大维管束上、下方近表皮处一般有机械组织存在（厚角组织或纤维），尤其下表皮对应处机械组织较发达，以至常常在叶片下面凸出明显。 </a:t>
            </a:r>
          </a:p>
        </p:txBody>
      </p:sp>
      <p:sp>
        <p:nvSpPr>
          <p:cNvPr id="541698" name="Rectangle 5"/>
          <p:cNvSpPr>
            <a:spLocks noGrp="1"/>
          </p:cNvSpPr>
          <p:nvPr>
            <p:ph type="title"/>
          </p:nvPr>
        </p:nvSpPr>
        <p:spPr>
          <a:xfrm>
            <a:off x="323850" y="88900"/>
            <a:ext cx="9144000" cy="1143000"/>
          </a:xfrm>
        </p:spPr>
        <p:txBody>
          <a:bodyPr vert="horz" wrap="square" lIns="91440" tIns="45720" rIns="91440" bIns="45720" anchor="b" anchorCtr="0"/>
          <a:lstStyle/>
          <a:p>
            <a:pPr eaLnBrk="1" hangingPunct="1"/>
            <a:r>
              <a:rPr lang="zh-CN" altLang="en-US" dirty="0">
                <a:solidFill>
                  <a:srgbClr val="0000FF"/>
                </a:solidFill>
                <a:latin typeface="黑体" panose="02010609060101010101" pitchFamily="49" charset="-122"/>
                <a:ea typeface="黑体" panose="02010609060101010101" pitchFamily="49" charset="-122"/>
              </a:rPr>
              <a:t>四、叶的结构</a:t>
            </a:r>
            <a:br>
              <a:rPr lang="zh-CN" altLang="en-US" dirty="0">
                <a:latin typeface="华文新魏" panose="02010800040101010101" pitchFamily="2" charset="-122"/>
              </a:rPr>
            </a:br>
            <a:r>
              <a:rPr lang="zh-CN" altLang="en-US" sz="2800" b="1" dirty="0">
                <a:solidFill>
                  <a:srgbClr val="FF0000"/>
                </a:solidFill>
                <a:latin typeface="黑体" panose="02010609060101010101" pitchFamily="49" charset="-122"/>
                <a:ea typeface="黑体" panose="02010609060101010101" pitchFamily="49" charset="-122"/>
              </a:rPr>
              <a:t>㈠ 双子叶植物叶的结构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0" y="1295400"/>
            <a:ext cx="8964613" cy="50863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2.</a:t>
            </a: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叶片的结构（表皮、皮层和叶脉）</a:t>
            </a:r>
            <a:r>
              <a:rPr kumimoji="0" lang="en-US" altLang="zh-CN"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a:t>
            </a:r>
            <a:r>
              <a:rPr kumimoji="0" lang="en-US" altLang="zh-CN" sz="25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⑶ </a:t>
            </a:r>
            <a:r>
              <a:rPr kumimoji="0" lang="zh-CN" altLang="en-US" sz="25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叶脉</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  由主脉到各级支脉结构的变化</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叶脉越分越细，结构亦愈简化。首先是形成层消失；其次是机械组织逐渐减少，以至完全不存在；再次是木质部和韧皮部的简化。</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中等大小的叶脉，一般纯为初生结构，机械组织或有或无，即使存在，也不及大脉发达。叶片中最后的叶脉分枝，终止于叶肉组织内，往往成为游离的脉梢，结构异常简单，木质部仅为一个</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螺纹管胞</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，而韧皮部仅有短狭的筛管分子和增大的伴胞，甚至有时只有木质部分子存在。</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如何判断双子叶植物的近轴面和远轴面？</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上下表皮的气孔数、叶肉组织的分化、叶脉维管束中木质部和韧皮部的相对位置均可作为判断依据。</a:t>
            </a:r>
          </a:p>
        </p:txBody>
      </p:sp>
      <p:sp>
        <p:nvSpPr>
          <p:cNvPr id="542722" name="Rectangle 5"/>
          <p:cNvSpPr>
            <a:spLocks noGrp="1"/>
          </p:cNvSpPr>
          <p:nvPr>
            <p:ph type="title"/>
          </p:nvPr>
        </p:nvSpPr>
        <p:spPr>
          <a:xfrm>
            <a:off x="250825" y="152400"/>
            <a:ext cx="9144000" cy="1143000"/>
          </a:xfrm>
        </p:spPr>
        <p:txBody>
          <a:bodyPr vert="horz" wrap="square" lIns="91440" tIns="45720" rIns="91440" bIns="45720" anchor="b" anchorCtr="0"/>
          <a:lstStyle/>
          <a:p>
            <a:pPr eaLnBrk="1" hangingPunct="1"/>
            <a:r>
              <a:rPr lang="zh-CN" altLang="en-US" dirty="0">
                <a:solidFill>
                  <a:srgbClr val="0000FF"/>
                </a:solidFill>
                <a:latin typeface="黑体" panose="02010609060101010101" pitchFamily="49" charset="-122"/>
                <a:ea typeface="黑体" panose="02010609060101010101" pitchFamily="49" charset="-122"/>
              </a:rPr>
              <a:t>四、叶的结构</a:t>
            </a:r>
            <a:br>
              <a:rPr lang="zh-CN" altLang="en-US" dirty="0">
                <a:latin typeface="华文新魏" panose="02010800040101010101" pitchFamily="2" charset="-122"/>
              </a:rPr>
            </a:br>
            <a:r>
              <a:rPr lang="zh-CN" altLang="en-US" sz="2800" b="1" dirty="0">
                <a:solidFill>
                  <a:srgbClr val="FF0000"/>
                </a:solidFill>
                <a:latin typeface="黑体" panose="02010609060101010101" pitchFamily="49" charset="-122"/>
                <a:ea typeface="黑体" panose="02010609060101010101" pitchFamily="49" charset="-122"/>
              </a:rPr>
              <a:t>㈠ 双子叶植物叶的结构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3745" name="图片 1"/>
          <p:cNvPicPr>
            <a:picLocks noChangeAspect="1"/>
          </p:cNvPicPr>
          <p:nvPr/>
        </p:nvPicPr>
        <p:blipFill>
          <a:blip r:embed="rId2"/>
          <a:stretch>
            <a:fillRect/>
          </a:stretch>
        </p:blipFill>
        <p:spPr>
          <a:xfrm>
            <a:off x="457200" y="871538"/>
            <a:ext cx="8229600" cy="51149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4769" name="图片 1"/>
          <p:cNvPicPr>
            <a:picLocks noChangeAspect="1"/>
          </p:cNvPicPr>
          <p:nvPr/>
        </p:nvPicPr>
        <p:blipFill>
          <a:blip r:embed="rId2"/>
          <a:stretch>
            <a:fillRect/>
          </a:stretch>
        </p:blipFill>
        <p:spPr>
          <a:xfrm>
            <a:off x="109538" y="795338"/>
            <a:ext cx="8924925" cy="52673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1"/>
          <p:cNvSpPr txBox="1">
            <a:spLocks noGrp="1"/>
          </p:cNvSpPr>
          <p:nvPr>
            <p:ph type="dt" sz="half" idx="2"/>
          </p:nvPr>
        </p:nvSpPr>
        <p:spPr bwMode="auto"/>
        <p:txBody>
          <a:bodyPr wrap="square" lIns="91440" tIns="45720" rIns="91440" bIns="45720" numCol="1" anchor="b" anchorCtr="0" compatLnSpc="1"/>
          <a:lstStyle/>
          <a:p>
            <a:pPr marL="0" marR="0" lvl="0" indent="0" algn="l" defTabSz="914400" rtl="0" eaLnBrk="1" fontAlgn="base" latinLnBrk="0" hangingPunct="1">
              <a:lnSpc>
                <a:spcPct val="10000"/>
              </a:lnSpc>
              <a:spcBef>
                <a:spcPct val="0"/>
              </a:spcBef>
              <a:spcAft>
                <a:spcPct val="0"/>
              </a:spcAft>
              <a:buClrTx/>
              <a:buSzTx/>
              <a:buFontTx/>
              <a:buNone/>
              <a:defRPr/>
            </a:pPr>
            <a:fld id="{177FC7A9-332B-4328-8826-825262D2AB12}"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pic>
        <p:nvPicPr>
          <p:cNvPr id="545794" name="Picture 2" descr="D:\lzc\植物学教学材料\植物学教学资料收集\挂图\叶\结构\玉米叶横切1.jpg"/>
          <p:cNvPicPr>
            <a:picLocks noChangeAspect="1"/>
          </p:cNvPicPr>
          <p:nvPr/>
        </p:nvPicPr>
        <p:blipFill>
          <a:blip r:embed="rId2"/>
          <a:stretch>
            <a:fillRect/>
          </a:stretch>
        </p:blipFill>
        <p:spPr>
          <a:xfrm>
            <a:off x="0" y="3444875"/>
            <a:ext cx="4267200" cy="3413125"/>
          </a:xfrm>
          <a:prstGeom prst="rect">
            <a:avLst/>
          </a:prstGeom>
          <a:noFill/>
          <a:ln w="9525">
            <a:noFill/>
          </a:ln>
        </p:spPr>
      </p:pic>
      <p:pic>
        <p:nvPicPr>
          <p:cNvPr id="545795" name="Picture 3" descr="D:\lzc\植物学教学材料\植物学教学资料收集\挂图\叶\结构\玉米叶横切局部.jpg"/>
          <p:cNvPicPr>
            <a:picLocks noChangeAspect="1"/>
          </p:cNvPicPr>
          <p:nvPr/>
        </p:nvPicPr>
        <p:blipFill>
          <a:blip r:embed="rId3"/>
          <a:stretch>
            <a:fillRect/>
          </a:stretch>
        </p:blipFill>
        <p:spPr>
          <a:xfrm>
            <a:off x="0" y="0"/>
            <a:ext cx="4267200" cy="3411538"/>
          </a:xfrm>
          <a:prstGeom prst="rect">
            <a:avLst/>
          </a:prstGeom>
          <a:noFill/>
          <a:ln w="9525">
            <a:noFill/>
          </a:ln>
        </p:spPr>
      </p:pic>
      <p:sp>
        <p:nvSpPr>
          <p:cNvPr id="545796" name="Text Box 4"/>
          <p:cNvSpPr txBox="1"/>
          <p:nvPr/>
        </p:nvSpPr>
        <p:spPr>
          <a:xfrm>
            <a:off x="4267200" y="5943600"/>
            <a:ext cx="4572000" cy="457200"/>
          </a:xfrm>
          <a:prstGeom prst="rect">
            <a:avLst/>
          </a:prstGeom>
          <a:noFill/>
          <a:ln w="9525">
            <a:noFill/>
          </a:ln>
        </p:spPr>
        <p:txBody>
          <a:bodyPr anchor="t" anchorCtr="0">
            <a:spAutoFit/>
          </a:bodyPr>
          <a:lstStyle/>
          <a:p>
            <a:pPr algn="ctr" eaLnBrk="0" hangingPunct="0">
              <a:spcBef>
                <a:spcPct val="50000"/>
              </a:spcBef>
            </a:pPr>
            <a:r>
              <a:rPr lang="zh-CN" altLang="en-US" b="1" dirty="0">
                <a:solidFill>
                  <a:srgbClr val="0000FF"/>
                </a:solidFill>
                <a:latin typeface="Times New Roman" panose="02020603050405020304" pitchFamily="18" charset="0"/>
                <a:ea typeface="楷体_GB2312"/>
              </a:rPr>
              <a:t>玉米叶（</a:t>
            </a:r>
            <a:r>
              <a:rPr lang="zh-CN" altLang="en-US" b="1" dirty="0">
                <a:solidFill>
                  <a:srgbClr val="FF3300"/>
                </a:solidFill>
                <a:latin typeface="Times New Roman" panose="02020603050405020304" pitchFamily="18" charset="0"/>
                <a:ea typeface="楷体_GB2312"/>
              </a:rPr>
              <a:t>等面叶</a:t>
            </a:r>
            <a:r>
              <a:rPr lang="zh-CN" altLang="en-US" b="1" dirty="0">
                <a:solidFill>
                  <a:srgbClr val="0000FF"/>
                </a:solidFill>
                <a:latin typeface="Times New Roman" panose="02020603050405020304" pitchFamily="18" charset="0"/>
                <a:ea typeface="楷体_GB2312"/>
              </a:rPr>
              <a:t>）横切图</a:t>
            </a:r>
          </a:p>
        </p:txBody>
      </p:sp>
      <p:sp>
        <p:nvSpPr>
          <p:cNvPr id="545797" name="Line 5"/>
          <p:cNvSpPr/>
          <p:nvPr/>
        </p:nvSpPr>
        <p:spPr>
          <a:xfrm>
            <a:off x="2590800" y="457200"/>
            <a:ext cx="25146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798" name="Line 6"/>
          <p:cNvSpPr/>
          <p:nvPr/>
        </p:nvSpPr>
        <p:spPr>
          <a:xfrm>
            <a:off x="2514600" y="1143000"/>
            <a:ext cx="25908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799" name="Line 7"/>
          <p:cNvSpPr/>
          <p:nvPr/>
        </p:nvSpPr>
        <p:spPr>
          <a:xfrm>
            <a:off x="2209800" y="1676400"/>
            <a:ext cx="28956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0" name="Line 8"/>
          <p:cNvSpPr/>
          <p:nvPr/>
        </p:nvSpPr>
        <p:spPr>
          <a:xfrm>
            <a:off x="2438400" y="2362200"/>
            <a:ext cx="26670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1" name="Line 9"/>
          <p:cNvSpPr/>
          <p:nvPr/>
        </p:nvSpPr>
        <p:spPr>
          <a:xfrm>
            <a:off x="3657600" y="4953000"/>
            <a:ext cx="13716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2" name="Line 10"/>
          <p:cNvSpPr/>
          <p:nvPr/>
        </p:nvSpPr>
        <p:spPr>
          <a:xfrm flipV="1">
            <a:off x="1447800" y="4343400"/>
            <a:ext cx="0" cy="38100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3" name="Line 11"/>
          <p:cNvSpPr/>
          <p:nvPr/>
        </p:nvSpPr>
        <p:spPr>
          <a:xfrm>
            <a:off x="1447800" y="4343400"/>
            <a:ext cx="35814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4" name="Line 12"/>
          <p:cNvSpPr/>
          <p:nvPr/>
        </p:nvSpPr>
        <p:spPr>
          <a:xfrm>
            <a:off x="3429000" y="5715000"/>
            <a:ext cx="16002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5" name="Line 13"/>
          <p:cNvSpPr/>
          <p:nvPr/>
        </p:nvSpPr>
        <p:spPr>
          <a:xfrm>
            <a:off x="2895600" y="5334000"/>
            <a:ext cx="21336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5806" name="Text Box 14"/>
          <p:cNvSpPr txBox="1"/>
          <p:nvPr/>
        </p:nvSpPr>
        <p:spPr>
          <a:xfrm>
            <a:off x="381000" y="609600"/>
            <a:ext cx="609600" cy="476250"/>
          </a:xfrm>
          <a:prstGeom prst="rect">
            <a:avLst/>
          </a:prstGeom>
          <a:noFill/>
          <a:ln w="9525">
            <a:noFill/>
          </a:ln>
        </p:spPr>
        <p:txBody>
          <a:bodyPr anchor="t" anchorCtr="0">
            <a:spAutoFit/>
          </a:bodyPr>
          <a:lstStyle/>
          <a:p>
            <a:pPr algn="ctr" eaLnBrk="0" hangingPunct="0">
              <a:lnSpc>
                <a:spcPct val="90000"/>
              </a:lnSpc>
              <a:spcBef>
                <a:spcPct val="50000"/>
              </a:spcBef>
            </a:pPr>
            <a:r>
              <a:rPr lang="zh-CN" altLang="en-US" sz="1400" dirty="0">
                <a:solidFill>
                  <a:srgbClr val="FFFF00"/>
                </a:solidFill>
                <a:latin typeface="Times New Roman" panose="02020603050405020304" pitchFamily="18" charset="0"/>
                <a:ea typeface="华文新魏" panose="02010800040101010101" pitchFamily="2" charset="-122"/>
              </a:rPr>
              <a:t>孔下室</a:t>
            </a:r>
          </a:p>
        </p:txBody>
      </p:sp>
      <p:sp>
        <p:nvSpPr>
          <p:cNvPr id="545807" name="Text Box 15"/>
          <p:cNvSpPr txBox="1"/>
          <p:nvPr/>
        </p:nvSpPr>
        <p:spPr>
          <a:xfrm>
            <a:off x="5029200" y="228600"/>
            <a:ext cx="3287713" cy="5737225"/>
          </a:xfrm>
          <a:prstGeom prst="rect">
            <a:avLst/>
          </a:prstGeom>
          <a:noFill/>
          <a:ln w="9525">
            <a:noFill/>
          </a:ln>
        </p:spPr>
        <p:txBody>
          <a:bodyPr anchor="t" anchorCtr="0">
            <a:spAutoFit/>
          </a:bodyPr>
          <a:lstStyle/>
          <a:p>
            <a:pPr eaLnBrk="0" hangingPunct="0">
              <a:lnSpc>
                <a:spcPct val="9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机械组织</a:t>
            </a:r>
          </a:p>
          <a:p>
            <a:pPr eaLnBrk="0" hangingPunct="0">
              <a:lnSpc>
                <a:spcPct val="18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维管束鞘</a:t>
            </a:r>
          </a:p>
          <a:p>
            <a:pPr eaLnBrk="0" hangingPunct="0">
              <a:lnSpc>
                <a:spcPct val="9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木质部</a:t>
            </a:r>
          </a:p>
          <a:p>
            <a:pPr eaLnBrk="0" hangingPunct="0">
              <a:lnSpc>
                <a:spcPct val="16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韧皮部</a:t>
            </a:r>
          </a:p>
          <a:p>
            <a:pPr eaLnBrk="0" hangingPunct="0">
              <a:lnSpc>
                <a:spcPct val="160000"/>
              </a:lnSpc>
              <a:spcBef>
                <a:spcPct val="50000"/>
              </a:spcBef>
            </a:pPr>
            <a:endParaRPr lang="zh-CN" altLang="en-US" sz="2200" dirty="0">
              <a:solidFill>
                <a:srgbClr val="FF3300"/>
              </a:solidFill>
              <a:latin typeface="Times New Roman" panose="02020603050405020304" pitchFamily="18" charset="0"/>
              <a:ea typeface="华文新魏" panose="02010800040101010101" pitchFamily="2" charset="-122"/>
            </a:endParaRPr>
          </a:p>
          <a:p>
            <a:pPr eaLnBrk="0" hangingPunct="0">
              <a:lnSpc>
                <a:spcPct val="160000"/>
              </a:lnSpc>
              <a:spcBef>
                <a:spcPct val="50000"/>
              </a:spcBef>
            </a:pPr>
            <a:endParaRPr lang="zh-CN" altLang="en-US" sz="2200" dirty="0">
              <a:solidFill>
                <a:srgbClr val="FF3300"/>
              </a:solidFill>
              <a:latin typeface="Times New Roman" panose="02020603050405020304" pitchFamily="18" charset="0"/>
              <a:ea typeface="华文新魏" panose="02010800040101010101" pitchFamily="2" charset="-122"/>
            </a:endParaRPr>
          </a:p>
          <a:p>
            <a:pPr eaLnBrk="0" hangingPunct="0">
              <a:lnSpc>
                <a:spcPct val="12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气孔</a:t>
            </a:r>
          </a:p>
          <a:p>
            <a:pPr eaLnBrk="0" hangingPunct="0">
              <a:lnSpc>
                <a:spcPct val="13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泡状细胞</a:t>
            </a:r>
          </a:p>
          <a:p>
            <a:pPr eaLnBrk="0" hangingPunct="0">
              <a:lnSpc>
                <a:spcPct val="6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基本组织</a:t>
            </a:r>
          </a:p>
          <a:p>
            <a:pPr eaLnBrk="0" hangingPunct="0">
              <a:lnSpc>
                <a:spcPct val="6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下表皮（远轴面表皮）</a:t>
            </a:r>
          </a:p>
        </p:txBody>
      </p:sp>
      <p:pic>
        <p:nvPicPr>
          <p:cNvPr id="545808" name="Picture 16" descr="D:\刘宗才\植物学素材\教学素材\植物学插图上册\t3-102.jpg"/>
          <p:cNvPicPr>
            <a:picLocks noChangeAspect="1"/>
          </p:cNvPicPr>
          <p:nvPr/>
        </p:nvPicPr>
        <p:blipFill>
          <a:blip r:embed="rId4"/>
          <a:stretch>
            <a:fillRect/>
          </a:stretch>
        </p:blipFill>
        <p:spPr>
          <a:xfrm>
            <a:off x="6324600" y="0"/>
            <a:ext cx="2819400" cy="2616200"/>
          </a:xfrm>
          <a:prstGeom prst="rect">
            <a:avLst/>
          </a:prstGeom>
          <a:noFill/>
          <a:ln w="9525">
            <a:noFill/>
          </a:ln>
        </p:spPr>
      </p:pic>
      <p:pic>
        <p:nvPicPr>
          <p:cNvPr id="545809" name="Picture 17" descr="D:\刘宗才\植物学素材\教学素材\植物学插图上册\t3-103.jpg"/>
          <p:cNvPicPr>
            <a:picLocks noChangeAspect="1"/>
          </p:cNvPicPr>
          <p:nvPr/>
        </p:nvPicPr>
        <p:blipFill>
          <a:blip r:embed="rId5"/>
          <a:stretch>
            <a:fillRect/>
          </a:stretch>
        </p:blipFill>
        <p:spPr>
          <a:xfrm>
            <a:off x="6324600" y="2625725"/>
            <a:ext cx="2819400" cy="2719388"/>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Rectangle 2"/>
          <p:cNvSpPr>
            <a:spLocks noGrp="1"/>
          </p:cNvSpPr>
          <p:nvPr>
            <p:ph type="title"/>
          </p:nvPr>
        </p:nvSpPr>
        <p:spPr/>
        <p:txBody>
          <a:bodyPr vert="horz" wrap="square" lIns="91440" tIns="45720" rIns="91440" bIns="45720" anchor="b" anchorCtr="0"/>
          <a:lstStyle/>
          <a:p>
            <a:pPr eaLnBrk="1" hangingPunct="1"/>
            <a:r>
              <a:rPr lang="zh-CN" altLang="en-US" b="1" dirty="0">
                <a:solidFill>
                  <a:srgbClr val="0000FF"/>
                </a:solidFill>
                <a:latin typeface="黑体" panose="02010609060101010101" pitchFamily="49" charset="-122"/>
                <a:ea typeface="黑体" panose="02010609060101010101" pitchFamily="49" charset="-122"/>
              </a:rPr>
              <a:t> 四、叶的结构</a:t>
            </a:r>
            <a:br>
              <a:rPr lang="zh-CN" altLang="en-US" dirty="0">
                <a:latin typeface="华文新魏" panose="02010800040101010101" pitchFamily="2" charset="-122"/>
              </a:rPr>
            </a:br>
            <a:r>
              <a:rPr lang="zh-CN" altLang="en-US" dirty="0">
                <a:latin typeface="华文新魏" panose="02010800040101010101" pitchFamily="2" charset="-122"/>
              </a:rPr>
              <a:t>  </a:t>
            </a:r>
            <a:r>
              <a:rPr lang="zh-CN" altLang="en-US" sz="2800" b="1" dirty="0">
                <a:solidFill>
                  <a:srgbClr val="FF0000"/>
                </a:solidFill>
                <a:latin typeface="黑体" panose="02010609060101010101" pitchFamily="49" charset="-122"/>
                <a:ea typeface="黑体" panose="02010609060101010101" pitchFamily="49" charset="-122"/>
              </a:rPr>
              <a:t>（二）松叶结构</a:t>
            </a:r>
          </a:p>
        </p:txBody>
      </p:sp>
      <p:sp>
        <p:nvSpPr>
          <p:cNvPr id="46084" name="Rectangle 3"/>
          <p:cNvSpPr>
            <a:spLocks noGrp="1" noChangeArrowheads="1"/>
          </p:cNvSpPr>
          <p:nvPr>
            <p:ph idx="1"/>
          </p:nvPr>
        </p:nvSpPr>
        <p:spPr>
          <a:xfrm>
            <a:off x="0" y="1295400"/>
            <a:ext cx="8748713" cy="5086350"/>
          </a:xfrm>
        </p:spPr>
        <p:txBody>
          <a:bodyPr vert="horz" wrap="square" lIns="91440" tIns="45720" rIns="91440" bIns="45720" numCol="1" anchor="t" anchorCtr="0" compatLnSpc="1"/>
          <a:lstStyle/>
          <a:p>
            <a:pPr marL="457200" marR="0" lvl="1"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rgbClr val="000000"/>
                </a:solidFill>
                <a:effectLst/>
                <a:uLnTx/>
                <a:uFillTx/>
                <a:latin typeface="华文新魏" panose="02010800040101010101" pitchFamily="2" charset="-122"/>
                <a:ea typeface="+mn-ea"/>
                <a:cs typeface="+mn-ea"/>
              </a:rPr>
              <a:t>	</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从横切面看，单针一束的近圆形，两针一束的半圆形，三针以上一束的呈三角形。</a:t>
            </a:r>
          </a:p>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Blip>
                <a:blip r:embed="rId2"/>
              </a:buBlip>
              <a:defRPr/>
            </a:pPr>
            <a:r>
              <a:rPr kumimoji="0" lang="zh-CN" altLang="en-US" sz="25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内部结构：</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表皮与下皮：</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表皮细胞壁较厚，角质层发达，细胞排列紧密；</a:t>
            </a:r>
            <a:r>
              <a:rPr kumimoji="0"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ea"/>
              </a:rPr>
              <a:t>其下多层厚壁细胞，称下皮，气孔内陷，以减少蒸腾</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叶肉组织：</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位于下皮以内，细胞壁内陷，成无数褶襞，叶绿体沿褶襞分布，以扩大光合面积，弥补了叶表面面积的不足。叶肉内靠近下皮处有</a:t>
            </a: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树脂道</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 ，叶肉组织的最内一层细胞是内皮层。</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3"/>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维管组织：</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位于中央，内皮层以内，</a:t>
            </a:r>
            <a:r>
              <a:rPr kumimoji="0" lang="en-US" altLang="zh-CN"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1-2</a:t>
            </a:r>
            <a:r>
              <a:rPr kumimoji="0" lang="zh-CN" altLang="en-US" sz="24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ea"/>
              </a:rPr>
              <a:t>束。维管束以外，内皮层以内是薄壁组织。起贮藏作用和横向运输作用。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日期占位符 1"/>
          <p:cNvSpPr txBox="1">
            <a:spLocks noGrp="1"/>
          </p:cNvSpPr>
          <p:nvPr>
            <p:ph type="dt" sz="half" idx="2"/>
          </p:nvPr>
        </p:nvSpPr>
        <p:spPr bwMode="auto"/>
        <p:txBody>
          <a:bodyPr wrap="square" lIns="91440" tIns="45720" rIns="91440" bIns="45720" numCol="1" anchor="b" anchorCtr="0" compatLnSpc="1"/>
          <a:lstStyle/>
          <a:p>
            <a:pPr marL="0" marR="0" lvl="0" indent="0" algn="l" defTabSz="914400" rtl="0" eaLnBrk="1" fontAlgn="base" latinLnBrk="0" hangingPunct="1">
              <a:lnSpc>
                <a:spcPct val="10000"/>
              </a:lnSpc>
              <a:spcBef>
                <a:spcPct val="0"/>
              </a:spcBef>
              <a:spcAft>
                <a:spcPct val="0"/>
              </a:spcAft>
              <a:buClrTx/>
              <a:buSzTx/>
              <a:buFontTx/>
              <a:buNone/>
              <a:defRPr/>
            </a:pPr>
            <a:fld id="{E78886FC-8130-4DD5-9A52-805E891355E1}"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pic>
        <p:nvPicPr>
          <p:cNvPr id="547842" name="Picture 2" descr="D:\lzc\植物学教学材料\植物学教学资料收集\挂图\叶\结构\松叶气孔.jpg"/>
          <p:cNvPicPr>
            <a:picLocks noChangeAspect="1"/>
          </p:cNvPicPr>
          <p:nvPr/>
        </p:nvPicPr>
        <p:blipFill>
          <a:blip r:embed="rId2"/>
          <a:stretch>
            <a:fillRect/>
          </a:stretch>
        </p:blipFill>
        <p:spPr>
          <a:xfrm>
            <a:off x="0" y="4114800"/>
            <a:ext cx="3429000" cy="2741613"/>
          </a:xfrm>
          <a:prstGeom prst="rect">
            <a:avLst/>
          </a:prstGeom>
          <a:noFill/>
          <a:ln w="9525">
            <a:noFill/>
          </a:ln>
        </p:spPr>
      </p:pic>
      <p:pic>
        <p:nvPicPr>
          <p:cNvPr id="547843" name="Picture 3" descr="D:\lzc\植物学教学材料\植物学教学资料收集\挂图\叶\结构\松叶横切.jpg"/>
          <p:cNvPicPr>
            <a:picLocks noChangeAspect="1"/>
          </p:cNvPicPr>
          <p:nvPr/>
        </p:nvPicPr>
        <p:blipFill>
          <a:blip r:embed="rId3"/>
          <a:stretch>
            <a:fillRect/>
          </a:stretch>
        </p:blipFill>
        <p:spPr>
          <a:xfrm>
            <a:off x="0" y="0"/>
            <a:ext cx="5181600" cy="4144963"/>
          </a:xfrm>
          <a:prstGeom prst="rect">
            <a:avLst/>
          </a:prstGeom>
          <a:noFill/>
          <a:ln w="9525">
            <a:noFill/>
          </a:ln>
        </p:spPr>
      </p:pic>
      <p:sp>
        <p:nvSpPr>
          <p:cNvPr id="547844" name="Line 4"/>
          <p:cNvSpPr/>
          <p:nvPr/>
        </p:nvSpPr>
        <p:spPr>
          <a:xfrm>
            <a:off x="4724400" y="2971800"/>
            <a:ext cx="11430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45" name="Line 5"/>
          <p:cNvSpPr/>
          <p:nvPr/>
        </p:nvSpPr>
        <p:spPr>
          <a:xfrm>
            <a:off x="4419600" y="381000"/>
            <a:ext cx="14478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46" name="Line 6"/>
          <p:cNvSpPr/>
          <p:nvPr/>
        </p:nvSpPr>
        <p:spPr>
          <a:xfrm>
            <a:off x="4800600" y="838200"/>
            <a:ext cx="10668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47" name="Line 7"/>
          <p:cNvSpPr/>
          <p:nvPr/>
        </p:nvSpPr>
        <p:spPr>
          <a:xfrm>
            <a:off x="3810000" y="1600200"/>
            <a:ext cx="20574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48" name="Line 8"/>
          <p:cNvSpPr/>
          <p:nvPr/>
        </p:nvSpPr>
        <p:spPr>
          <a:xfrm>
            <a:off x="4343400" y="1219200"/>
            <a:ext cx="15240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49" name="Line 9"/>
          <p:cNvSpPr/>
          <p:nvPr/>
        </p:nvSpPr>
        <p:spPr>
          <a:xfrm>
            <a:off x="3276600" y="2057400"/>
            <a:ext cx="25908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50" name="Line 10"/>
          <p:cNvSpPr/>
          <p:nvPr/>
        </p:nvSpPr>
        <p:spPr>
          <a:xfrm>
            <a:off x="2362200" y="2514600"/>
            <a:ext cx="35052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51" name="Line 11"/>
          <p:cNvSpPr/>
          <p:nvPr/>
        </p:nvSpPr>
        <p:spPr>
          <a:xfrm>
            <a:off x="2286000" y="3429000"/>
            <a:ext cx="3581400"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52" name="Freeform 12"/>
          <p:cNvSpPr/>
          <p:nvPr/>
        </p:nvSpPr>
        <p:spPr>
          <a:xfrm>
            <a:off x="1001713" y="2335213"/>
            <a:ext cx="828675" cy="700087"/>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522" h="441">
                <a:moveTo>
                  <a:pt x="264" y="0"/>
                </a:moveTo>
                <a:cubicBezTo>
                  <a:pt x="292" y="9"/>
                  <a:pt x="322" y="12"/>
                  <a:pt x="349" y="24"/>
                </a:cubicBezTo>
                <a:cubicBezTo>
                  <a:pt x="407" y="49"/>
                  <a:pt x="444" y="111"/>
                  <a:pt x="496" y="147"/>
                </a:cubicBezTo>
                <a:cubicBezTo>
                  <a:pt x="498" y="152"/>
                  <a:pt x="521" y="215"/>
                  <a:pt x="521" y="220"/>
                </a:cubicBezTo>
                <a:cubicBezTo>
                  <a:pt x="521" y="269"/>
                  <a:pt x="522" y="319"/>
                  <a:pt x="509" y="367"/>
                </a:cubicBezTo>
                <a:cubicBezTo>
                  <a:pt x="494" y="424"/>
                  <a:pt x="379" y="427"/>
                  <a:pt x="337" y="441"/>
                </a:cubicBezTo>
                <a:cubicBezTo>
                  <a:pt x="197" y="426"/>
                  <a:pt x="250" y="435"/>
                  <a:pt x="153" y="392"/>
                </a:cubicBezTo>
                <a:cubicBezTo>
                  <a:pt x="130" y="382"/>
                  <a:pt x="80" y="367"/>
                  <a:pt x="80" y="367"/>
                </a:cubicBezTo>
                <a:cubicBezTo>
                  <a:pt x="0" y="289"/>
                  <a:pt x="18" y="169"/>
                  <a:pt x="117" y="134"/>
                </a:cubicBezTo>
                <a:cubicBezTo>
                  <a:pt x="133" y="118"/>
                  <a:pt x="162" y="77"/>
                  <a:pt x="178" y="61"/>
                </a:cubicBezTo>
                <a:cubicBezTo>
                  <a:pt x="203" y="36"/>
                  <a:pt x="236" y="21"/>
                  <a:pt x="264" y="0"/>
                </a:cubicBezTo>
                <a:close/>
              </a:path>
            </a:pathLst>
          </a:custGeom>
          <a:noFill/>
          <a:ln w="38100" cap="flat" cmpd="sng">
            <a:solidFill>
              <a:srgbClr val="FFFF00"/>
            </a:solidFill>
            <a:prstDash val="lgDash"/>
            <a:round/>
            <a:headEnd type="none" w="med" len="med"/>
            <a:tailEnd type="none" w="med" len="med"/>
          </a:ln>
        </p:spPr>
        <p:txBody>
          <a:bodyPr/>
          <a:lstStyle/>
          <a:p>
            <a:endParaRPr lang="zh-CN" altLang="en-US"/>
          </a:p>
        </p:txBody>
      </p:sp>
      <p:sp>
        <p:nvSpPr>
          <p:cNvPr id="547853" name="Freeform 13"/>
          <p:cNvSpPr/>
          <p:nvPr/>
        </p:nvSpPr>
        <p:spPr>
          <a:xfrm>
            <a:off x="2041525" y="2354263"/>
            <a:ext cx="793750" cy="641350"/>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500" h="404">
                <a:moveTo>
                  <a:pt x="99" y="0"/>
                </a:moveTo>
                <a:cubicBezTo>
                  <a:pt x="181" y="4"/>
                  <a:pt x="263" y="1"/>
                  <a:pt x="344" y="12"/>
                </a:cubicBezTo>
                <a:cubicBezTo>
                  <a:pt x="398" y="19"/>
                  <a:pt x="370" y="44"/>
                  <a:pt x="393" y="73"/>
                </a:cubicBezTo>
                <a:cubicBezTo>
                  <a:pt x="414" y="100"/>
                  <a:pt x="467" y="147"/>
                  <a:pt x="467" y="147"/>
                </a:cubicBezTo>
                <a:cubicBezTo>
                  <a:pt x="475" y="171"/>
                  <a:pt x="483" y="196"/>
                  <a:pt x="491" y="220"/>
                </a:cubicBezTo>
                <a:cubicBezTo>
                  <a:pt x="500" y="248"/>
                  <a:pt x="410" y="283"/>
                  <a:pt x="393" y="294"/>
                </a:cubicBezTo>
                <a:cubicBezTo>
                  <a:pt x="387" y="314"/>
                  <a:pt x="377" y="356"/>
                  <a:pt x="356" y="368"/>
                </a:cubicBezTo>
                <a:cubicBezTo>
                  <a:pt x="341" y="376"/>
                  <a:pt x="232" y="398"/>
                  <a:pt x="209" y="404"/>
                </a:cubicBezTo>
                <a:cubicBezTo>
                  <a:pt x="140" y="394"/>
                  <a:pt x="94" y="399"/>
                  <a:pt x="50" y="343"/>
                </a:cubicBezTo>
                <a:cubicBezTo>
                  <a:pt x="32" y="320"/>
                  <a:pt x="1" y="270"/>
                  <a:pt x="1" y="270"/>
                </a:cubicBezTo>
                <a:cubicBezTo>
                  <a:pt x="5" y="213"/>
                  <a:pt x="0" y="154"/>
                  <a:pt x="13" y="98"/>
                </a:cubicBezTo>
                <a:cubicBezTo>
                  <a:pt x="25" y="47"/>
                  <a:pt x="175" y="38"/>
                  <a:pt x="99" y="0"/>
                </a:cubicBezTo>
                <a:close/>
              </a:path>
            </a:pathLst>
          </a:custGeom>
          <a:noFill/>
          <a:ln w="38100" cap="flat" cmpd="sng">
            <a:solidFill>
              <a:srgbClr val="FFFF00"/>
            </a:solidFill>
            <a:prstDash val="lgDash"/>
            <a:round/>
            <a:headEnd type="none" w="med" len="med"/>
            <a:tailEnd type="none" w="med" len="med"/>
          </a:ln>
        </p:spPr>
        <p:txBody>
          <a:bodyPr/>
          <a:lstStyle/>
          <a:p>
            <a:endParaRPr lang="zh-CN" altLang="en-US"/>
          </a:p>
        </p:txBody>
      </p:sp>
      <p:sp>
        <p:nvSpPr>
          <p:cNvPr id="547854" name="Line 14"/>
          <p:cNvSpPr/>
          <p:nvPr/>
        </p:nvSpPr>
        <p:spPr>
          <a:xfrm flipV="1">
            <a:off x="2971800" y="4267200"/>
            <a:ext cx="2895600" cy="38100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55" name="Line 15"/>
          <p:cNvSpPr/>
          <p:nvPr/>
        </p:nvSpPr>
        <p:spPr>
          <a:xfrm flipV="1">
            <a:off x="533400" y="4267200"/>
            <a:ext cx="5334000" cy="99060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47856" name="Text Box 16"/>
          <p:cNvSpPr txBox="1"/>
          <p:nvPr/>
        </p:nvSpPr>
        <p:spPr>
          <a:xfrm>
            <a:off x="5791200" y="228600"/>
            <a:ext cx="1905000" cy="4222750"/>
          </a:xfrm>
          <a:prstGeom prst="rect">
            <a:avLst/>
          </a:prstGeom>
          <a:noFill/>
          <a:ln w="9525">
            <a:noFill/>
          </a:ln>
        </p:spPr>
        <p:txBody>
          <a:bodyPr anchor="t" anchorCtr="0">
            <a:spAutoFit/>
          </a:bodyPr>
          <a:lstStyle/>
          <a:p>
            <a:pPr eaLnBrk="0" hangingPunct="0">
              <a:lnSpc>
                <a:spcPct val="8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表皮</a:t>
            </a:r>
          </a:p>
          <a:p>
            <a:pPr eaLnBrk="0" hangingPunct="0">
              <a:lnSpc>
                <a:spcPct val="8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下皮</a:t>
            </a:r>
          </a:p>
          <a:p>
            <a:pPr eaLnBrk="0" hangingPunct="0">
              <a:lnSpc>
                <a:spcPct val="6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叶肉组织</a:t>
            </a:r>
          </a:p>
          <a:p>
            <a:pPr eaLnBrk="0" hangingPunct="0">
              <a:lnSpc>
                <a:spcPct val="6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树脂道</a:t>
            </a:r>
          </a:p>
          <a:p>
            <a:pPr eaLnBrk="0" hangingPunct="0">
              <a:lnSpc>
                <a:spcPct val="9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内皮层</a:t>
            </a:r>
          </a:p>
          <a:p>
            <a:pPr eaLnBrk="0" hangingPunct="0">
              <a:lnSpc>
                <a:spcPct val="9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维管束</a:t>
            </a:r>
          </a:p>
          <a:p>
            <a:pPr eaLnBrk="0" hangingPunct="0">
              <a:lnSpc>
                <a:spcPct val="8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下陷的气孔</a:t>
            </a:r>
          </a:p>
          <a:p>
            <a:pPr eaLnBrk="0" hangingPunct="0">
              <a:lnSpc>
                <a:spcPct val="8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基本组织</a:t>
            </a:r>
          </a:p>
          <a:p>
            <a:pPr eaLnBrk="0" hangingPunct="0">
              <a:lnSpc>
                <a:spcPct val="80000"/>
              </a:lnSpc>
              <a:spcBef>
                <a:spcPct val="50000"/>
              </a:spcBef>
            </a:pPr>
            <a:endParaRPr lang="zh-CN" altLang="en-US" sz="2200" dirty="0">
              <a:solidFill>
                <a:srgbClr val="FF3300"/>
              </a:solidFill>
              <a:latin typeface="Times New Roman" panose="02020603050405020304" pitchFamily="18" charset="0"/>
              <a:ea typeface="华文新魏" panose="02010800040101010101" pitchFamily="2" charset="-122"/>
            </a:endParaRPr>
          </a:p>
          <a:p>
            <a:pPr eaLnBrk="0" hangingPunct="0">
              <a:lnSpc>
                <a:spcPct val="80000"/>
              </a:lnSpc>
              <a:spcBef>
                <a:spcPct val="50000"/>
              </a:spcBef>
            </a:pPr>
            <a:r>
              <a:rPr lang="zh-CN" altLang="en-US" sz="2200" dirty="0">
                <a:solidFill>
                  <a:srgbClr val="FF3300"/>
                </a:solidFill>
                <a:latin typeface="Times New Roman" panose="02020603050405020304" pitchFamily="18" charset="0"/>
                <a:ea typeface="华文新魏" panose="02010800040101010101" pitchFamily="2" charset="-122"/>
              </a:rPr>
              <a:t>下皮</a:t>
            </a:r>
          </a:p>
        </p:txBody>
      </p:sp>
      <p:sp>
        <p:nvSpPr>
          <p:cNvPr id="547857" name="Text Box 18"/>
          <p:cNvSpPr txBox="1"/>
          <p:nvPr/>
        </p:nvSpPr>
        <p:spPr>
          <a:xfrm>
            <a:off x="1447800" y="5334000"/>
            <a:ext cx="1066800" cy="427038"/>
          </a:xfrm>
          <a:prstGeom prst="rect">
            <a:avLst/>
          </a:prstGeom>
          <a:noFill/>
          <a:ln w="9525">
            <a:noFill/>
          </a:ln>
        </p:spPr>
        <p:txBody>
          <a:bodyPr anchor="t" anchorCtr="0">
            <a:spAutoFit/>
          </a:bodyPr>
          <a:lstStyle/>
          <a:p>
            <a:pPr algn="ctr" eaLnBrk="0" hangingPunct="0">
              <a:spcBef>
                <a:spcPct val="50000"/>
              </a:spcBef>
            </a:pPr>
            <a:r>
              <a:rPr lang="zh-CN" altLang="en-US" sz="2200" b="1" dirty="0">
                <a:solidFill>
                  <a:srgbClr val="FFFF00"/>
                </a:solidFill>
                <a:latin typeface="Times New Roman" panose="02020603050405020304" pitchFamily="18" charset="0"/>
                <a:ea typeface="楷体_GB2312"/>
              </a:rPr>
              <a:t>孔下室</a:t>
            </a:r>
          </a:p>
        </p:txBody>
      </p:sp>
      <p:pic>
        <p:nvPicPr>
          <p:cNvPr id="547858" name="Picture 19" descr="D:\Documents and Settings\LiuZC\桌面\教学素材\营养器官\叶\结构\松叶横切（40）.jpg"/>
          <p:cNvPicPr>
            <a:picLocks noChangeAspect="1"/>
          </p:cNvPicPr>
          <p:nvPr/>
        </p:nvPicPr>
        <p:blipFill>
          <a:blip r:embed="rId4"/>
          <a:stretch>
            <a:fillRect/>
          </a:stretch>
        </p:blipFill>
        <p:spPr>
          <a:xfrm>
            <a:off x="5791200" y="4419600"/>
            <a:ext cx="3352800" cy="2082800"/>
          </a:xfrm>
          <a:prstGeom prst="rect">
            <a:avLst/>
          </a:prstGeom>
          <a:noFill/>
          <a:ln w="9525">
            <a:noFill/>
          </a:ln>
        </p:spPr>
      </p:pic>
      <p:pic>
        <p:nvPicPr>
          <p:cNvPr id="547859" name="Picture 20" descr="D:\刘宗才\植物学素材\教学素材\植物学插图上册\t3-104.jpg"/>
          <p:cNvPicPr>
            <a:picLocks noChangeAspect="1"/>
          </p:cNvPicPr>
          <p:nvPr/>
        </p:nvPicPr>
        <p:blipFill>
          <a:blip r:embed="rId5"/>
          <a:stretch>
            <a:fillRect/>
          </a:stretch>
        </p:blipFill>
        <p:spPr>
          <a:xfrm>
            <a:off x="7239000" y="0"/>
            <a:ext cx="1905000" cy="2057400"/>
          </a:xfrm>
          <a:prstGeom prst="rect">
            <a:avLst/>
          </a:prstGeom>
          <a:noFill/>
          <a:ln w="9525">
            <a:noFill/>
          </a:ln>
        </p:spPr>
      </p:pic>
      <p:pic>
        <p:nvPicPr>
          <p:cNvPr id="547860" name="Picture 21" descr="D:\刘宗才\植物学素材\教学素材\植物学插图上册\t3-106.jpg"/>
          <p:cNvPicPr>
            <a:picLocks noChangeAspect="1"/>
          </p:cNvPicPr>
          <p:nvPr/>
        </p:nvPicPr>
        <p:blipFill>
          <a:blip r:embed="rId6"/>
          <a:stretch>
            <a:fillRect/>
          </a:stretch>
        </p:blipFill>
        <p:spPr>
          <a:xfrm>
            <a:off x="7239000" y="2057400"/>
            <a:ext cx="1905000" cy="2286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8865" name="图片 1"/>
          <p:cNvPicPr>
            <a:picLocks noChangeAspect="1"/>
          </p:cNvPicPr>
          <p:nvPr/>
        </p:nvPicPr>
        <p:blipFill>
          <a:blip r:embed="rId2"/>
          <a:stretch>
            <a:fillRect/>
          </a:stretch>
        </p:blipFill>
        <p:spPr>
          <a:xfrm>
            <a:off x="1938338" y="1490663"/>
            <a:ext cx="5267325" cy="38766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9889" name="图片 1"/>
          <p:cNvPicPr>
            <a:picLocks noChangeAspect="1"/>
          </p:cNvPicPr>
          <p:nvPr/>
        </p:nvPicPr>
        <p:blipFill>
          <a:blip r:embed="rId2"/>
          <a:stretch>
            <a:fillRect/>
          </a:stretch>
        </p:blipFill>
        <p:spPr>
          <a:xfrm>
            <a:off x="661988" y="938213"/>
            <a:ext cx="7820025" cy="4981575"/>
          </a:xfrm>
          <a:prstGeom prst="rect">
            <a:avLst/>
          </a:prstGeom>
          <a:noFill/>
          <a:ln w="9525">
            <a:noFill/>
          </a:ln>
        </p:spPr>
      </p:pic>
      <p:sp>
        <p:nvSpPr>
          <p:cNvPr id="549890" name="文本框 2"/>
          <p:cNvSpPr txBox="1"/>
          <p:nvPr/>
        </p:nvSpPr>
        <p:spPr>
          <a:xfrm>
            <a:off x="1844675" y="295275"/>
            <a:ext cx="5456238" cy="460375"/>
          </a:xfrm>
          <a:prstGeom prst="rect">
            <a:avLst/>
          </a:prstGeom>
          <a:noFill/>
          <a:ln w="9525">
            <a:noFill/>
          </a:ln>
        </p:spPr>
        <p:txBody>
          <a:bodyPr wrap="square" anchor="t" anchorCtr="0">
            <a:spAutoFit/>
          </a:bodyPr>
          <a:lstStyle/>
          <a:p>
            <a:r>
              <a:rPr lang="zh-CN" altLang="en-US" b="1">
                <a:solidFill>
                  <a:srgbClr val="FF0000"/>
                </a:solidFill>
                <a:latin typeface="Tahoma" panose="020B0604030504040204" pitchFamily="34" charset="0"/>
                <a:ea typeface="华文新魏" panose="02010800040101010101" pitchFamily="2" charset="-122"/>
              </a:rPr>
              <a:t>第</a:t>
            </a:r>
            <a:r>
              <a:rPr lang="en-US" altLang="zh-CN" b="1">
                <a:solidFill>
                  <a:srgbClr val="FF0000"/>
                </a:solidFill>
                <a:latin typeface="Tahoma" panose="020B0604030504040204" pitchFamily="34" charset="0"/>
                <a:ea typeface="华文新魏" panose="02010800040101010101" pitchFamily="2" charset="-122"/>
              </a:rPr>
              <a:t>4</a:t>
            </a:r>
            <a:r>
              <a:rPr lang="zh-CN" altLang="en-US" b="1">
                <a:solidFill>
                  <a:srgbClr val="FF0000"/>
                </a:solidFill>
                <a:latin typeface="Tahoma" panose="020B0604030504040204" pitchFamily="34" charset="0"/>
                <a:ea typeface="华文新魏" panose="02010800040101010101" pitchFamily="2" charset="-122"/>
              </a:rPr>
              <a:t>节  营养器官间的相互关系</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0913" name="图片 1"/>
          <p:cNvPicPr>
            <a:picLocks noChangeAspect="1"/>
          </p:cNvPicPr>
          <p:nvPr/>
        </p:nvPicPr>
        <p:blipFill>
          <a:blip r:embed="rId2"/>
          <a:stretch>
            <a:fillRect/>
          </a:stretch>
        </p:blipFill>
        <p:spPr>
          <a:xfrm>
            <a:off x="542925" y="1762125"/>
            <a:ext cx="8058150" cy="33337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1937" name="图片 1"/>
          <p:cNvPicPr>
            <a:picLocks noChangeAspect="1"/>
          </p:cNvPicPr>
          <p:nvPr/>
        </p:nvPicPr>
        <p:blipFill>
          <a:blip r:embed="rId2"/>
          <a:stretch>
            <a:fillRect/>
          </a:stretch>
        </p:blipFill>
        <p:spPr>
          <a:xfrm>
            <a:off x="57150" y="700088"/>
            <a:ext cx="9029700" cy="54578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61" name="图片 1"/>
          <p:cNvPicPr>
            <a:picLocks noChangeAspect="1"/>
          </p:cNvPicPr>
          <p:nvPr/>
        </p:nvPicPr>
        <p:blipFill>
          <a:blip r:embed="rId2"/>
          <a:stretch>
            <a:fillRect/>
          </a:stretch>
        </p:blipFill>
        <p:spPr>
          <a:xfrm>
            <a:off x="385763" y="366713"/>
            <a:ext cx="8372475" cy="61245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5" name="Text Box 2"/>
          <p:cNvSpPr txBox="1"/>
          <p:nvPr/>
        </p:nvSpPr>
        <p:spPr>
          <a:xfrm>
            <a:off x="0" y="304800"/>
            <a:ext cx="9144000" cy="708025"/>
          </a:xfrm>
          <a:prstGeom prst="rect">
            <a:avLst/>
          </a:prstGeom>
          <a:noFill/>
          <a:ln w="9525">
            <a:noFill/>
          </a:ln>
        </p:spPr>
        <p:txBody>
          <a:bodyPr anchor="t" anchorCtr="0">
            <a:spAutoFit/>
          </a:bodyPr>
          <a:lstStyle/>
          <a:p>
            <a:pPr algn="ctr" eaLnBrk="0" hangingPunct="0">
              <a:spcBef>
                <a:spcPct val="50000"/>
              </a:spcBef>
            </a:pPr>
            <a:r>
              <a:rPr lang="zh-CN" altLang="en-US" sz="4000" b="1" dirty="0">
                <a:solidFill>
                  <a:srgbClr val="3333FF"/>
                </a:solidFill>
                <a:latin typeface="黑体" panose="02010609060101010101" pitchFamily="49" charset="-122"/>
                <a:ea typeface="黑体" panose="02010609060101010101" pitchFamily="49" charset="-122"/>
              </a:rPr>
              <a:t>五、花的解剖结构 </a:t>
            </a:r>
          </a:p>
        </p:txBody>
      </p:sp>
      <p:sp>
        <p:nvSpPr>
          <p:cNvPr id="553986" name="Text Box 3"/>
          <p:cNvSpPr txBox="1"/>
          <p:nvPr/>
        </p:nvSpPr>
        <p:spPr>
          <a:xfrm>
            <a:off x="0" y="1836738"/>
            <a:ext cx="2362200" cy="822325"/>
          </a:xfrm>
          <a:prstGeom prst="rect">
            <a:avLst/>
          </a:prstGeom>
          <a:noFill/>
          <a:ln w="9525">
            <a:noFill/>
          </a:ln>
        </p:spPr>
        <p:txBody>
          <a:bodyPr anchor="t" anchorCtr="0">
            <a:spAutoFit/>
          </a:bodyPr>
          <a:lstStyle/>
          <a:p>
            <a:pPr eaLnBrk="0" hangingPunct="0">
              <a:spcBef>
                <a:spcPct val="50000"/>
              </a:spcBef>
            </a:pPr>
            <a:r>
              <a:rPr lang="zh-CN" altLang="en-US" dirty="0">
                <a:latin typeface="华文新魏" panose="02010800040101010101" pitchFamily="2" charset="-122"/>
                <a:ea typeface="华文新魏" panose="02010800040101010101" pitchFamily="2" charset="-122"/>
                <a:hlinkClick r:id="rId2" action="ppaction://hlinksldjump"/>
              </a:rPr>
              <a:t>一、花的概念和</a:t>
            </a:r>
            <a:r>
              <a:rPr lang="zh-CN" altLang="en-US"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hlinkClick r:id="rId3" action="ppaction://hlinksldjump"/>
              </a:rPr>
              <a:t>花的组成</a:t>
            </a:r>
            <a:endParaRPr lang="zh-CN" altLang="en-US" dirty="0">
              <a:latin typeface="华文新魏" panose="02010800040101010101" pitchFamily="2" charset="-122"/>
              <a:ea typeface="华文新魏" panose="02010800040101010101" pitchFamily="2" charset="-122"/>
            </a:endParaRPr>
          </a:p>
        </p:txBody>
      </p:sp>
      <p:sp>
        <p:nvSpPr>
          <p:cNvPr id="553987" name="Text Box 4"/>
          <p:cNvSpPr txBox="1"/>
          <p:nvPr/>
        </p:nvSpPr>
        <p:spPr>
          <a:xfrm>
            <a:off x="2514600" y="1371600"/>
            <a:ext cx="2514600" cy="2862263"/>
          </a:xfrm>
          <a:prstGeom prst="rect">
            <a:avLst/>
          </a:prstGeom>
          <a:noFill/>
          <a:ln w="9525">
            <a:noFill/>
          </a:ln>
        </p:spPr>
        <p:txBody>
          <a:bodyPr anchor="t" anchorCtr="0">
            <a:spAutoFit/>
          </a:bodyPr>
          <a:lstStyle/>
          <a:p>
            <a:pPr eaLnBrk="0" hangingPunct="0">
              <a:spcBef>
                <a:spcPct val="50000"/>
              </a:spcBef>
            </a:pPr>
            <a:r>
              <a:rPr lang="zh-CN" altLang="en-US" dirty="0">
                <a:latin typeface="华文新魏" panose="02010800040101010101" pitchFamily="2" charset="-122"/>
                <a:ea typeface="华文新魏" panose="02010800040101010101" pitchFamily="2" charset="-122"/>
              </a:rPr>
              <a:t>（一）花的概念</a:t>
            </a:r>
          </a:p>
          <a:p>
            <a:pPr eaLnBrk="0" hangingPunct="0">
              <a:spcBef>
                <a:spcPct val="50000"/>
              </a:spcBef>
            </a:pPr>
            <a:endParaRPr lang="zh-CN" altLang="en-US" dirty="0">
              <a:latin typeface="华文新魏" panose="02010800040101010101" pitchFamily="2" charset="-122"/>
              <a:ea typeface="华文新魏" panose="02010800040101010101" pitchFamily="2" charset="-122"/>
            </a:endParaRPr>
          </a:p>
          <a:p>
            <a:pPr eaLnBrk="0" hangingPunct="0">
              <a:lnSpc>
                <a:spcPct val="150000"/>
              </a:lnSpc>
              <a:spcBef>
                <a:spcPct val="50000"/>
              </a:spcBef>
            </a:pPr>
            <a:r>
              <a:rPr lang="zh-CN" altLang="en-US" dirty="0">
                <a:latin typeface="华文新魏" panose="02010800040101010101" pitchFamily="2" charset="-122"/>
                <a:ea typeface="华文新魏" panose="02010800040101010101" pitchFamily="2" charset="-122"/>
              </a:rPr>
              <a:t>（二）花的组成</a:t>
            </a:r>
          </a:p>
          <a:p>
            <a:pPr eaLnBrk="0" hangingPunct="0">
              <a:spcBef>
                <a:spcPct val="50000"/>
              </a:spcBef>
            </a:pPr>
            <a:endParaRPr lang="zh-CN" altLang="en-US" dirty="0">
              <a:latin typeface="华文新魏" panose="02010800040101010101" pitchFamily="2" charset="-122"/>
              <a:ea typeface="华文新魏" panose="02010800040101010101" pitchFamily="2" charset="-122"/>
            </a:endParaRPr>
          </a:p>
          <a:p>
            <a:pPr eaLnBrk="0" hangingPunct="0">
              <a:spcBef>
                <a:spcPct val="50000"/>
              </a:spcBef>
            </a:pPr>
            <a:endParaRPr lang="zh-CN" altLang="en-US" dirty="0">
              <a:latin typeface="华文新魏" panose="02010800040101010101" pitchFamily="2" charset="-122"/>
              <a:ea typeface="华文新魏" panose="02010800040101010101" pitchFamily="2" charset="-122"/>
            </a:endParaRPr>
          </a:p>
        </p:txBody>
      </p:sp>
      <p:sp>
        <p:nvSpPr>
          <p:cNvPr id="553988" name="Text Box 5"/>
          <p:cNvSpPr txBox="1"/>
          <p:nvPr/>
        </p:nvSpPr>
        <p:spPr>
          <a:xfrm>
            <a:off x="5105400" y="1371600"/>
            <a:ext cx="1981200" cy="2867025"/>
          </a:xfrm>
          <a:prstGeom prst="rect">
            <a:avLst/>
          </a:prstGeom>
          <a:noFill/>
          <a:ln w="9525">
            <a:noFill/>
          </a:ln>
        </p:spPr>
        <p:txBody>
          <a:bodyPr anchor="t" anchorCtr="0">
            <a:spAutoFit/>
          </a:bodyPr>
          <a:lstStyle/>
          <a:p>
            <a:pPr eaLnBrk="0" hangingPunct="0">
              <a:spcBef>
                <a:spcPct val="50000"/>
              </a:spcBef>
            </a:pPr>
            <a:r>
              <a:rPr lang="zh-CN" altLang="en-US" dirty="0">
                <a:latin typeface="华文新魏" panose="02010800040101010101" pitchFamily="2" charset="-122"/>
                <a:ea typeface="华文新魏" panose="02010800040101010101" pitchFamily="2" charset="-122"/>
                <a:hlinkClick r:id="rId4" action="ppaction://hlinksldjump"/>
              </a:rPr>
              <a:t>概述</a:t>
            </a:r>
            <a:endParaRPr lang="zh-CN" altLang="en-US" dirty="0">
              <a:latin typeface="华文新魏" panose="02010800040101010101" pitchFamily="2" charset="-122"/>
              <a:ea typeface="华文新魏" panose="02010800040101010101" pitchFamily="2" charset="-122"/>
            </a:endParaRPr>
          </a:p>
          <a:p>
            <a:pPr eaLnBrk="0" hangingPunct="0">
              <a:lnSpc>
                <a:spcPct val="60000"/>
              </a:lnSpc>
              <a:spcBef>
                <a:spcPct val="50000"/>
              </a:spcBef>
            </a:pPr>
            <a:r>
              <a:rPr lang="en-US" altLang="zh-CN" dirty="0">
                <a:latin typeface="华文新魏" panose="02010800040101010101" pitchFamily="2" charset="-122"/>
                <a:ea typeface="华文新魏" panose="02010800040101010101" pitchFamily="2" charset="-122"/>
                <a:hlinkClick r:id="rId5" action="ppaction://hlinksldjump"/>
              </a:rPr>
              <a:t>1.</a:t>
            </a:r>
            <a:r>
              <a:rPr lang="zh-CN" altLang="en-US" dirty="0">
                <a:latin typeface="华文新魏" panose="02010800040101010101" pitchFamily="2" charset="-122"/>
                <a:ea typeface="华文新魏" panose="02010800040101010101" pitchFamily="2" charset="-122"/>
                <a:hlinkClick r:id="rId5" action="ppaction://hlinksldjump"/>
              </a:rPr>
              <a:t>花柄与花托</a:t>
            </a:r>
            <a:endParaRPr lang="zh-CN" altLang="en-US" dirty="0">
              <a:latin typeface="华文新魏" panose="02010800040101010101" pitchFamily="2" charset="-122"/>
              <a:ea typeface="华文新魏" panose="02010800040101010101" pitchFamily="2" charset="-122"/>
            </a:endParaRPr>
          </a:p>
          <a:p>
            <a:pPr eaLnBrk="0" hangingPunct="0">
              <a:lnSpc>
                <a:spcPct val="60000"/>
              </a:lnSpc>
              <a:spcBef>
                <a:spcPct val="50000"/>
              </a:spcBef>
            </a:pPr>
            <a:r>
              <a:rPr lang="en-US" altLang="zh-CN" dirty="0">
                <a:latin typeface="华文新魏" panose="02010800040101010101" pitchFamily="2" charset="-122"/>
                <a:ea typeface="华文新魏" panose="02010800040101010101" pitchFamily="2" charset="-122"/>
                <a:hlinkClick r:id="rId6" action="ppaction://hlinksldjump"/>
              </a:rPr>
              <a:t>2.</a:t>
            </a:r>
            <a:r>
              <a:rPr lang="zh-CN" altLang="en-US" dirty="0">
                <a:latin typeface="华文新魏" panose="02010800040101010101" pitchFamily="2" charset="-122"/>
                <a:ea typeface="华文新魏" panose="02010800040101010101" pitchFamily="2" charset="-122"/>
                <a:hlinkClick r:id="rId6" action="ppaction://hlinksldjump"/>
              </a:rPr>
              <a:t>　花　　被</a:t>
            </a:r>
            <a:endParaRPr lang="zh-CN" altLang="en-US" dirty="0">
              <a:latin typeface="华文新魏" panose="02010800040101010101" pitchFamily="2" charset="-122"/>
              <a:ea typeface="华文新魏" panose="02010800040101010101" pitchFamily="2" charset="-122"/>
            </a:endParaRPr>
          </a:p>
          <a:p>
            <a:pPr eaLnBrk="0" hangingPunct="0">
              <a:lnSpc>
                <a:spcPct val="60000"/>
              </a:lnSpc>
              <a:spcBef>
                <a:spcPct val="50000"/>
              </a:spcBef>
            </a:pPr>
            <a:r>
              <a:rPr lang="en-US" altLang="zh-CN" dirty="0">
                <a:latin typeface="华文新魏" panose="02010800040101010101" pitchFamily="2" charset="-122"/>
                <a:ea typeface="华文新魏" panose="02010800040101010101" pitchFamily="2" charset="-122"/>
              </a:rPr>
              <a:t>3.</a:t>
            </a:r>
            <a:r>
              <a:rPr lang="zh-CN" altLang="en-US" dirty="0">
                <a:latin typeface="华文新魏" panose="02010800040101010101" pitchFamily="2" charset="-122"/>
                <a:ea typeface="华文新魏" panose="02010800040101010101" pitchFamily="2" charset="-122"/>
              </a:rPr>
              <a:t>雄　蕊　群</a:t>
            </a:r>
          </a:p>
          <a:p>
            <a:pPr eaLnBrk="0" hangingPunct="0">
              <a:lnSpc>
                <a:spcPct val="190000"/>
              </a:lnSpc>
              <a:spcBef>
                <a:spcPct val="50000"/>
              </a:spcBef>
            </a:pPr>
            <a:r>
              <a:rPr lang="en-US" altLang="zh-CN" dirty="0">
                <a:latin typeface="华文新魏" panose="02010800040101010101" pitchFamily="2" charset="-122"/>
                <a:ea typeface="华文新魏" panose="02010800040101010101" pitchFamily="2" charset="-122"/>
                <a:hlinkClick r:id="rId4" action="ppaction://hlinksldjump"/>
              </a:rPr>
              <a:t>4.</a:t>
            </a:r>
            <a:r>
              <a:rPr lang="zh-CN" altLang="en-US" dirty="0">
                <a:latin typeface="华文新魏" panose="02010800040101010101" pitchFamily="2" charset="-122"/>
                <a:ea typeface="华文新魏" panose="02010800040101010101" pitchFamily="2" charset="-122"/>
                <a:hlinkClick r:id="rId4" action="ppaction://hlinksldjump"/>
              </a:rPr>
              <a:t>雌　蕊　群</a:t>
            </a:r>
            <a:endParaRPr lang="zh-CN" altLang="en-US" dirty="0">
              <a:latin typeface="华文新魏" panose="02010800040101010101" pitchFamily="2" charset="-122"/>
              <a:ea typeface="华文新魏" panose="02010800040101010101" pitchFamily="2" charset="-122"/>
            </a:endParaRPr>
          </a:p>
          <a:p>
            <a:pPr eaLnBrk="0" hangingPunct="0">
              <a:lnSpc>
                <a:spcPct val="40000"/>
              </a:lnSpc>
              <a:spcBef>
                <a:spcPct val="50000"/>
              </a:spcBef>
            </a:pPr>
            <a:r>
              <a:rPr lang="en-US" altLang="zh-CN" dirty="0">
                <a:latin typeface="华文新魏" panose="02010800040101010101" pitchFamily="2" charset="-122"/>
                <a:ea typeface="华文新魏" panose="02010800040101010101" pitchFamily="2" charset="-122"/>
                <a:hlinkClick r:id="rId7" action="ppaction://hlinksldjump"/>
              </a:rPr>
              <a:t>5.</a:t>
            </a:r>
            <a:r>
              <a:rPr lang="zh-CN" altLang="en-US" dirty="0">
                <a:latin typeface="华文新魏" panose="02010800040101010101" pitchFamily="2" charset="-122"/>
                <a:ea typeface="华文新魏" panose="02010800040101010101" pitchFamily="2" charset="-122"/>
                <a:hlinkClick r:id="rId7" action="ppaction://hlinksldjump"/>
              </a:rPr>
              <a:t>花 的 类 型</a:t>
            </a:r>
            <a:endParaRPr lang="zh-CN" altLang="en-US" dirty="0">
              <a:latin typeface="华文新魏" panose="02010800040101010101" pitchFamily="2" charset="-122"/>
              <a:ea typeface="华文新魏" panose="02010800040101010101" pitchFamily="2" charset="-122"/>
            </a:endParaRPr>
          </a:p>
        </p:txBody>
      </p:sp>
      <p:sp>
        <p:nvSpPr>
          <p:cNvPr id="553989" name="Text Box 6"/>
          <p:cNvSpPr txBox="1"/>
          <p:nvPr/>
        </p:nvSpPr>
        <p:spPr>
          <a:xfrm>
            <a:off x="7162800" y="1990725"/>
            <a:ext cx="838200" cy="1004888"/>
          </a:xfrm>
          <a:prstGeom prst="rect">
            <a:avLst/>
          </a:prstGeom>
          <a:noFill/>
          <a:ln w="9525">
            <a:noFill/>
          </a:ln>
        </p:spPr>
        <p:txBody>
          <a:bodyPr anchor="t" anchorCtr="0">
            <a:spAutoFit/>
          </a:bodyPr>
          <a:lstStyle/>
          <a:p>
            <a:pPr eaLnBrk="0" hangingPunct="0">
              <a:lnSpc>
                <a:spcPct val="50000"/>
              </a:lnSpc>
              <a:spcBef>
                <a:spcPct val="50000"/>
              </a:spcBef>
            </a:pPr>
            <a:r>
              <a:rPr lang="zh-CN" altLang="en-US" dirty="0">
                <a:latin typeface="华文新魏" panose="02010800040101010101" pitchFamily="2" charset="-122"/>
                <a:ea typeface="华文新魏" panose="02010800040101010101" pitchFamily="2" charset="-122"/>
                <a:hlinkClick r:id="rId8" action="ppaction://hlinksldjump"/>
              </a:rPr>
              <a:t>概述</a:t>
            </a:r>
            <a:endParaRPr lang="zh-CN" altLang="en-US" dirty="0">
              <a:latin typeface="华文新魏" panose="02010800040101010101" pitchFamily="2" charset="-122"/>
              <a:ea typeface="华文新魏" panose="02010800040101010101" pitchFamily="2" charset="-122"/>
            </a:endParaRPr>
          </a:p>
          <a:p>
            <a:pPr eaLnBrk="0" hangingPunct="0">
              <a:lnSpc>
                <a:spcPct val="50000"/>
              </a:lnSpc>
              <a:spcBef>
                <a:spcPct val="50000"/>
              </a:spcBef>
            </a:pPr>
            <a:r>
              <a:rPr lang="zh-CN" altLang="en-US" dirty="0">
                <a:latin typeface="华文新魏" panose="02010800040101010101" pitchFamily="2" charset="-122"/>
                <a:ea typeface="华文新魏" panose="02010800040101010101" pitchFamily="2" charset="-122"/>
                <a:hlinkClick r:id="rId6" action="ppaction://hlinksldjump"/>
              </a:rPr>
              <a:t>花萼</a:t>
            </a:r>
            <a:endParaRPr lang="zh-CN" altLang="en-US" dirty="0">
              <a:latin typeface="华文新魏" panose="02010800040101010101" pitchFamily="2" charset="-122"/>
              <a:ea typeface="华文新魏" panose="02010800040101010101" pitchFamily="2" charset="-122"/>
            </a:endParaRPr>
          </a:p>
          <a:p>
            <a:pPr eaLnBrk="0" hangingPunct="0">
              <a:lnSpc>
                <a:spcPct val="50000"/>
              </a:lnSpc>
              <a:spcBef>
                <a:spcPct val="50000"/>
              </a:spcBef>
            </a:pPr>
            <a:r>
              <a:rPr lang="zh-CN" altLang="en-US" dirty="0">
                <a:latin typeface="华文新魏" panose="02010800040101010101" pitchFamily="2" charset="-122"/>
                <a:ea typeface="华文新魏" panose="02010800040101010101" pitchFamily="2" charset="-122"/>
                <a:hlinkClick r:id="rId9" action="ppaction://hlinksldjump"/>
              </a:rPr>
              <a:t>花冠</a:t>
            </a:r>
            <a:endParaRPr lang="zh-CN" altLang="en-US" dirty="0">
              <a:latin typeface="华文新魏" panose="02010800040101010101" pitchFamily="2" charset="-122"/>
              <a:ea typeface="华文新魏" panose="02010800040101010101" pitchFamily="2" charset="-122"/>
            </a:endParaRPr>
          </a:p>
        </p:txBody>
      </p:sp>
      <p:sp>
        <p:nvSpPr>
          <p:cNvPr id="553990" name="Text Box 7"/>
          <p:cNvSpPr txBox="1"/>
          <p:nvPr/>
        </p:nvSpPr>
        <p:spPr>
          <a:xfrm>
            <a:off x="7162800" y="3111500"/>
            <a:ext cx="1524000" cy="968375"/>
          </a:xfrm>
          <a:prstGeom prst="rect">
            <a:avLst/>
          </a:prstGeom>
          <a:noFill/>
          <a:ln w="9525">
            <a:noFill/>
          </a:ln>
        </p:spPr>
        <p:txBody>
          <a:bodyPr anchor="t" anchorCtr="0">
            <a:spAutoFit/>
          </a:bodyPr>
          <a:lstStyle/>
          <a:p>
            <a:pPr eaLnBrk="0" hangingPunct="0">
              <a:lnSpc>
                <a:spcPct val="60000"/>
              </a:lnSpc>
              <a:spcBef>
                <a:spcPct val="50000"/>
              </a:spcBef>
            </a:pPr>
            <a:r>
              <a:rPr lang="zh-CN" altLang="en-US" dirty="0">
                <a:latin typeface="华文新魏" panose="02010800040101010101" pitchFamily="2" charset="-122"/>
                <a:ea typeface="华文新魏" panose="02010800040101010101" pitchFamily="2" charset="-122"/>
                <a:hlinkClick r:id="rId10" action="ppaction://hlinksldjump"/>
              </a:rPr>
              <a:t>概念</a:t>
            </a:r>
            <a:endParaRPr lang="zh-CN" altLang="en-US" dirty="0">
              <a:latin typeface="华文新魏" panose="02010800040101010101" pitchFamily="2" charset="-122"/>
              <a:ea typeface="华文新魏" panose="02010800040101010101" pitchFamily="2" charset="-122"/>
            </a:endParaRPr>
          </a:p>
          <a:p>
            <a:pPr eaLnBrk="0" hangingPunct="0">
              <a:lnSpc>
                <a:spcPct val="40000"/>
              </a:lnSpc>
              <a:spcBef>
                <a:spcPct val="50000"/>
              </a:spcBef>
            </a:pPr>
            <a:r>
              <a:rPr lang="zh-CN" altLang="en-US" dirty="0">
                <a:latin typeface="华文新魏" panose="02010800040101010101" pitchFamily="2" charset="-122"/>
                <a:ea typeface="华文新魏" panose="02010800040101010101" pitchFamily="2" charset="-122"/>
              </a:rPr>
              <a:t>雌蕊结构</a:t>
            </a:r>
          </a:p>
          <a:p>
            <a:pPr eaLnBrk="0" hangingPunct="0">
              <a:lnSpc>
                <a:spcPct val="40000"/>
              </a:lnSpc>
              <a:spcBef>
                <a:spcPct val="50000"/>
              </a:spcBef>
            </a:pPr>
            <a:r>
              <a:rPr lang="zh-CN" altLang="en-US" dirty="0">
                <a:latin typeface="华文新魏" panose="02010800040101010101" pitchFamily="2" charset="-122"/>
                <a:ea typeface="华文新魏" panose="02010800040101010101" pitchFamily="2" charset="-122"/>
              </a:rPr>
              <a:t>雌蕊类型</a:t>
            </a:r>
          </a:p>
        </p:txBody>
      </p:sp>
      <p:sp>
        <p:nvSpPr>
          <p:cNvPr id="553991" name="AutoShape 12"/>
          <p:cNvSpPr/>
          <p:nvPr/>
        </p:nvSpPr>
        <p:spPr>
          <a:xfrm>
            <a:off x="2362200" y="1524000"/>
            <a:ext cx="381000" cy="1447800"/>
          </a:xfrm>
          <a:prstGeom prst="leftBrace">
            <a:avLst>
              <a:gd name="adj1" fmla="val 72886"/>
              <a:gd name="adj2" fmla="val 43560"/>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53992" name="AutoShape 16"/>
          <p:cNvSpPr/>
          <p:nvPr/>
        </p:nvSpPr>
        <p:spPr>
          <a:xfrm>
            <a:off x="4800600" y="1524000"/>
            <a:ext cx="381000" cy="2667000"/>
          </a:xfrm>
          <a:prstGeom prst="leftBrace">
            <a:avLst>
              <a:gd name="adj1" fmla="val 57750"/>
              <a:gd name="adj2" fmla="val 49880"/>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53993" name="AutoShape 18"/>
          <p:cNvSpPr/>
          <p:nvPr/>
        </p:nvSpPr>
        <p:spPr>
          <a:xfrm>
            <a:off x="7051675" y="1981200"/>
            <a:ext cx="228600" cy="990600"/>
          </a:xfrm>
          <a:prstGeom prst="leftBrace">
            <a:avLst>
              <a:gd name="adj1" fmla="val 35750"/>
              <a:gd name="adj2" fmla="val 50000"/>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53994" name="AutoShape 19"/>
          <p:cNvSpPr/>
          <p:nvPr/>
        </p:nvSpPr>
        <p:spPr>
          <a:xfrm>
            <a:off x="7069138" y="3076575"/>
            <a:ext cx="228600" cy="990600"/>
          </a:xfrm>
          <a:prstGeom prst="leftBrace">
            <a:avLst>
              <a:gd name="adj1" fmla="val 35750"/>
              <a:gd name="adj2" fmla="val 50000"/>
            </a:avLst>
          </a:prstGeom>
          <a:noFill/>
          <a:ln w="28575" cap="flat" cmpd="sng">
            <a:solidFill>
              <a:srgbClr val="3333FF"/>
            </a:solidFill>
            <a:prstDash val="solid"/>
            <a:miter/>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09" name="Rectangle 2"/>
          <p:cNvSpPr>
            <a:spLocks noGrp="1"/>
          </p:cNvSpPr>
          <p:nvPr>
            <p:ph type="title"/>
          </p:nvPr>
        </p:nvSpPr>
        <p:spPr>
          <a:xfrm>
            <a:off x="114300" y="711200"/>
            <a:ext cx="9144000" cy="1143000"/>
          </a:xfrm>
        </p:spPr>
        <p:txBody>
          <a:bodyPr vert="horz" wrap="square" lIns="91440" tIns="45720" rIns="91440" bIns="45720" anchor="b" anchorCtr="0"/>
          <a:lstStyle/>
          <a:p>
            <a:pPr eaLnBrk="1" hangingPunct="1"/>
            <a:r>
              <a:rPr lang="zh-CN" altLang="en-US" sz="2800" b="1" dirty="0">
                <a:solidFill>
                  <a:srgbClr val="FF0000"/>
                </a:solidFill>
                <a:latin typeface="黑体" panose="02010609060101010101" pitchFamily="49" charset="-122"/>
                <a:ea typeface="黑体" panose="02010609060101010101" pitchFamily="49" charset="-122"/>
              </a:rPr>
              <a:t> ㈠花的概念和花的组成</a:t>
            </a:r>
            <a:br>
              <a:rPr lang="zh-CN" altLang="en-US" sz="2800" b="1" dirty="0">
                <a:latin typeface="黑体" panose="02010609060101010101" pitchFamily="49" charset="-122"/>
                <a:ea typeface="黑体" panose="02010609060101010101" pitchFamily="49" charset="-122"/>
              </a:rPr>
            </a:br>
            <a:r>
              <a:rPr lang="zh-CN" altLang="en-US" sz="2800" b="1" dirty="0">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①</a:t>
            </a:r>
            <a:r>
              <a:rPr lang="zh-CN" altLang="en-US" sz="2800" b="1" dirty="0">
                <a:solidFill>
                  <a:srgbClr val="3333FF"/>
                </a:solidFill>
                <a:latin typeface="黑体" panose="02010609060101010101" pitchFamily="49" charset="-122"/>
                <a:ea typeface="黑体" panose="02010609060101010101" pitchFamily="49" charset="-122"/>
              </a:rPr>
              <a:t>花的概念</a:t>
            </a:r>
            <a:r>
              <a:rPr lang="zh-CN" altLang="en-US" sz="2800" b="1" dirty="0">
                <a:latin typeface="黑体" panose="02010609060101010101" pitchFamily="49" charset="-122"/>
                <a:ea typeface="黑体" panose="02010609060101010101" pitchFamily="49" charset="-122"/>
              </a:rPr>
              <a:t> </a:t>
            </a:r>
          </a:p>
        </p:txBody>
      </p:sp>
      <p:sp>
        <p:nvSpPr>
          <p:cNvPr id="555010" name="Rectangle 3"/>
          <p:cNvSpPr>
            <a:spLocks noGrp="1"/>
          </p:cNvSpPr>
          <p:nvPr>
            <p:ph idx="1"/>
          </p:nvPr>
        </p:nvSpPr>
        <p:spPr>
          <a:xfrm>
            <a:off x="119063" y="1844675"/>
            <a:ext cx="8785225" cy="4078288"/>
          </a:xfrm>
        </p:spPr>
        <p:txBody>
          <a:bodyPr vert="horz" wrap="square" lIns="91440" tIns="45720" rIns="91440" bIns="45720" anchor="t" anchorCtr="0"/>
          <a:lstStyle/>
          <a:p>
            <a:pPr marL="0" indent="0" eaLnBrk="1" hangingPunct="1">
              <a:buNone/>
            </a:pPr>
            <a:r>
              <a:rPr lang="zh-CN" altLang="en-US" b="1" dirty="0">
                <a:solidFill>
                  <a:schemeClr val="tx1"/>
                </a:solidFill>
                <a:latin typeface="黑体" panose="02010609060101010101" pitchFamily="49" charset="-122"/>
                <a:ea typeface="黑体" panose="02010609060101010101" pitchFamily="49" charset="-122"/>
              </a:rPr>
              <a:t>   基本概念：</a:t>
            </a:r>
          </a:p>
          <a:p>
            <a:pPr lvl="1" eaLnBrk="1" hangingPunct="1">
              <a:lnSpc>
                <a:spcPct val="120000"/>
              </a:lnSpc>
            </a:pPr>
            <a:r>
              <a:rPr lang="zh-CN" altLang="en-US" b="1" dirty="0">
                <a:solidFill>
                  <a:srgbClr val="FF0000"/>
                </a:solidFill>
                <a:latin typeface="黑体" panose="02010609060101010101" pitchFamily="49" charset="-122"/>
                <a:ea typeface="黑体" panose="02010609060101010101" pitchFamily="49" charset="-122"/>
              </a:rPr>
              <a:t>生殖生长：</a:t>
            </a:r>
            <a:r>
              <a:rPr lang="zh-CN" altLang="en-US" b="1" dirty="0">
                <a:solidFill>
                  <a:schemeClr val="bg2"/>
                </a:solidFill>
                <a:latin typeface="黑体" panose="02010609060101010101" pitchFamily="49" charset="-122"/>
                <a:ea typeface="黑体" panose="02010609060101010101" pitchFamily="49" charset="-122"/>
              </a:rPr>
              <a:t>根、茎、叶的生长发育过程主要是</a:t>
            </a:r>
            <a:r>
              <a:rPr lang="zh-CN" altLang="en-US" b="1" dirty="0">
                <a:solidFill>
                  <a:srgbClr val="FF0000"/>
                </a:solidFill>
                <a:latin typeface="黑体" panose="02010609060101010101" pitchFamily="49" charset="-122"/>
                <a:ea typeface="黑体" panose="02010609060101010101" pitchFamily="49" charset="-122"/>
              </a:rPr>
              <a:t>营养生长</a:t>
            </a:r>
            <a:r>
              <a:rPr lang="zh-CN" altLang="en-US" b="1" dirty="0">
                <a:solidFill>
                  <a:schemeClr val="bg2"/>
                </a:solidFill>
                <a:latin typeface="黑体" panose="02010609060101010101" pitchFamily="49" charset="-122"/>
                <a:ea typeface="黑体" panose="02010609060101010101" pitchFamily="49" charset="-122"/>
              </a:rPr>
              <a:t>。到一定程度后，经过一定时间，在光、温等因素的作用下，开始分化花，产生有性生殖细胞，进行有性生殖，并产生果实和种子，这就是</a:t>
            </a:r>
            <a:r>
              <a:rPr lang="zh-CN" altLang="en-US" b="1" dirty="0">
                <a:solidFill>
                  <a:srgbClr val="FF0000"/>
                </a:solidFill>
                <a:latin typeface="黑体" panose="02010609060101010101" pitchFamily="49" charset="-122"/>
                <a:ea typeface="黑体" panose="02010609060101010101" pitchFamily="49" charset="-122"/>
              </a:rPr>
              <a:t>生殖生长</a:t>
            </a:r>
            <a:r>
              <a:rPr lang="zh-CN" altLang="en-US" b="1" dirty="0">
                <a:solidFill>
                  <a:schemeClr val="bg2"/>
                </a:solidFill>
                <a:latin typeface="黑体" panose="02010609060101010101" pitchFamily="49" charset="-122"/>
                <a:ea typeface="黑体" panose="02010609060101010101" pitchFamily="49" charset="-122"/>
              </a:rPr>
              <a:t>。</a:t>
            </a:r>
          </a:p>
          <a:p>
            <a:pPr lvl="1" eaLnBrk="1" hangingPunct="1">
              <a:lnSpc>
                <a:spcPct val="120000"/>
              </a:lnSpc>
            </a:pPr>
            <a:r>
              <a:rPr lang="zh-CN" altLang="en-US" b="1" dirty="0">
                <a:solidFill>
                  <a:srgbClr val="FF0000"/>
                </a:solidFill>
                <a:latin typeface="黑体" panose="02010609060101010101" pitchFamily="49" charset="-122"/>
                <a:ea typeface="黑体" panose="02010609060101010101" pitchFamily="49" charset="-122"/>
              </a:rPr>
              <a:t>花是变态的短缩的行使生殖功能的短枝</a:t>
            </a:r>
            <a:r>
              <a:rPr lang="zh-CN" altLang="en-US" b="1" dirty="0">
                <a:solidFill>
                  <a:schemeClr val="bg2"/>
                </a:solidFill>
                <a:latin typeface="黑体" panose="02010609060101010101" pitchFamily="49" charset="-122"/>
                <a:ea typeface="黑体" panose="02010609060101010101" pitchFamily="49" charset="-122"/>
              </a:rPr>
              <a:t>。 </a:t>
            </a:r>
          </a:p>
        </p:txBody>
      </p:sp>
      <p:sp>
        <p:nvSpPr>
          <p:cNvPr id="555011" name="Text Box 2"/>
          <p:cNvSpPr txBox="1"/>
          <p:nvPr/>
        </p:nvSpPr>
        <p:spPr>
          <a:xfrm>
            <a:off x="0" y="304800"/>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3" name="Rectangle 2"/>
          <p:cNvSpPr>
            <a:spLocks noGrp="1"/>
          </p:cNvSpPr>
          <p:nvPr>
            <p:ph type="title"/>
          </p:nvPr>
        </p:nvSpPr>
        <p:spPr>
          <a:xfrm>
            <a:off x="38100" y="246063"/>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（一）花的概念和花的组成</a:t>
            </a:r>
            <a:br>
              <a:rPr lang="zh-CN" altLang="en-US" sz="2800" b="1" dirty="0">
                <a:latin typeface="黑体" panose="02010609060101010101" pitchFamily="49" charset="-122"/>
                <a:ea typeface="黑体" panose="02010609060101010101" pitchFamily="49" charset="-122"/>
              </a:rPr>
            </a:b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56034" name="Rectangle 3"/>
          <p:cNvSpPr>
            <a:spLocks noGrp="1"/>
          </p:cNvSpPr>
          <p:nvPr>
            <p:ph idx="1"/>
          </p:nvPr>
        </p:nvSpPr>
        <p:spPr>
          <a:xfrm>
            <a:off x="0" y="1304925"/>
            <a:ext cx="9144000" cy="3335338"/>
          </a:xfrm>
        </p:spPr>
        <p:txBody>
          <a:bodyPr vert="horz" wrap="square" lIns="91440" tIns="45720" rIns="91440" bIns="45720" anchor="t" anchorCtr="0"/>
          <a:lstStyle/>
          <a:p>
            <a:pPr lvl="1" eaLnBrk="1" hangingPunct="1"/>
            <a:r>
              <a:rPr lang="zh-CN" altLang="en-US" b="1" dirty="0">
                <a:solidFill>
                  <a:srgbClr val="3333FF"/>
                </a:solidFill>
                <a:latin typeface="黑体" panose="02010609060101010101" pitchFamily="49" charset="-122"/>
                <a:ea typeface="黑体" panose="02010609060101010101" pitchFamily="49" charset="-122"/>
              </a:rPr>
              <a:t>一朵完整的花包括</a:t>
            </a:r>
            <a:r>
              <a:rPr lang="zh-CN" altLang="en-US" b="1" dirty="0">
                <a:solidFill>
                  <a:srgbClr val="FF3300"/>
                </a:solidFill>
                <a:latin typeface="黑体" panose="02010609060101010101" pitchFamily="49" charset="-122"/>
                <a:ea typeface="黑体" panose="02010609060101010101" pitchFamily="49" charset="-122"/>
              </a:rPr>
              <a:t>花柄</a:t>
            </a:r>
            <a:r>
              <a:rPr lang="zh-CN" altLang="en-US" b="1" dirty="0">
                <a:solidFill>
                  <a:srgbClr val="3333FF"/>
                </a:solidFill>
                <a:latin typeface="黑体" panose="02010609060101010101" pitchFamily="49" charset="-122"/>
                <a:ea typeface="黑体" panose="02010609060101010101" pitchFamily="49" charset="-122"/>
              </a:rPr>
              <a:t>（花梗）、</a:t>
            </a:r>
            <a:r>
              <a:rPr lang="zh-CN" altLang="en-US" b="1" dirty="0">
                <a:solidFill>
                  <a:srgbClr val="FF3300"/>
                </a:solidFill>
                <a:latin typeface="黑体" panose="02010609060101010101" pitchFamily="49" charset="-122"/>
                <a:ea typeface="黑体" panose="02010609060101010101" pitchFamily="49" charset="-122"/>
              </a:rPr>
              <a:t>花托</a:t>
            </a:r>
            <a:r>
              <a:rPr lang="zh-CN" altLang="en-US" b="1" dirty="0">
                <a:solidFill>
                  <a:srgbClr val="3333FF"/>
                </a:solidFill>
                <a:latin typeface="黑体" panose="02010609060101010101" pitchFamily="49" charset="-122"/>
                <a:ea typeface="黑体" panose="02010609060101010101" pitchFamily="49" charset="-122"/>
              </a:rPr>
              <a:t>、</a:t>
            </a:r>
            <a:r>
              <a:rPr lang="zh-CN" altLang="en-US" b="1" dirty="0">
                <a:solidFill>
                  <a:srgbClr val="FF3300"/>
                </a:solidFill>
                <a:latin typeface="黑体" panose="02010609060101010101" pitchFamily="49" charset="-122"/>
                <a:ea typeface="黑体" panose="02010609060101010101" pitchFamily="49" charset="-122"/>
              </a:rPr>
              <a:t>花萼</a:t>
            </a:r>
            <a:r>
              <a:rPr lang="zh-CN" altLang="en-US" b="1" dirty="0">
                <a:solidFill>
                  <a:srgbClr val="3333FF"/>
                </a:solidFill>
                <a:latin typeface="黑体" panose="02010609060101010101" pitchFamily="49" charset="-122"/>
                <a:ea typeface="黑体" panose="02010609060101010101" pitchFamily="49" charset="-122"/>
              </a:rPr>
              <a:t>、</a:t>
            </a:r>
            <a:r>
              <a:rPr lang="zh-CN" altLang="en-US" b="1" dirty="0">
                <a:solidFill>
                  <a:srgbClr val="FF3300"/>
                </a:solidFill>
                <a:latin typeface="黑体" panose="02010609060101010101" pitchFamily="49" charset="-122"/>
                <a:ea typeface="黑体" panose="02010609060101010101" pitchFamily="49" charset="-122"/>
              </a:rPr>
              <a:t>花冠</a:t>
            </a:r>
            <a:r>
              <a:rPr lang="zh-CN" altLang="en-US" b="1" dirty="0">
                <a:solidFill>
                  <a:srgbClr val="3333FF"/>
                </a:solidFill>
                <a:latin typeface="黑体" panose="02010609060101010101" pitchFamily="49" charset="-122"/>
                <a:ea typeface="黑体" panose="02010609060101010101" pitchFamily="49" charset="-122"/>
              </a:rPr>
              <a:t>、</a:t>
            </a:r>
            <a:r>
              <a:rPr lang="zh-CN" altLang="en-US" b="1" dirty="0">
                <a:solidFill>
                  <a:srgbClr val="FF3300"/>
                </a:solidFill>
                <a:latin typeface="黑体" panose="02010609060101010101" pitchFamily="49" charset="-122"/>
                <a:ea typeface="黑体" panose="02010609060101010101" pitchFamily="49" charset="-122"/>
              </a:rPr>
              <a:t>雄蕊群</a:t>
            </a:r>
            <a:r>
              <a:rPr lang="zh-CN" altLang="en-US" b="1" dirty="0">
                <a:solidFill>
                  <a:srgbClr val="3333FF"/>
                </a:solidFill>
                <a:latin typeface="黑体" panose="02010609060101010101" pitchFamily="49" charset="-122"/>
                <a:ea typeface="黑体" panose="02010609060101010101" pitchFamily="49" charset="-122"/>
              </a:rPr>
              <a:t>和</a:t>
            </a:r>
            <a:r>
              <a:rPr lang="zh-CN" altLang="en-US" b="1" dirty="0">
                <a:solidFill>
                  <a:srgbClr val="FF3300"/>
                </a:solidFill>
                <a:latin typeface="黑体" panose="02010609060101010101" pitchFamily="49" charset="-122"/>
                <a:ea typeface="黑体" panose="02010609060101010101" pitchFamily="49" charset="-122"/>
              </a:rPr>
              <a:t>雌蕊群</a:t>
            </a:r>
            <a:r>
              <a:rPr lang="zh-CN" altLang="en-US" b="1" dirty="0">
                <a:solidFill>
                  <a:srgbClr val="3333FF"/>
                </a:solidFill>
                <a:latin typeface="黑体" panose="02010609060101010101" pitchFamily="49" charset="-122"/>
                <a:ea typeface="黑体" panose="02010609060101010101" pitchFamily="49" charset="-122"/>
              </a:rPr>
              <a:t>六部分。</a:t>
            </a:r>
          </a:p>
          <a:p>
            <a:pPr lvl="2" eaLnBrk="1" hangingPunct="1"/>
            <a:r>
              <a:rPr lang="zh-CN" altLang="en-US" b="1" dirty="0">
                <a:solidFill>
                  <a:schemeClr val="bg2"/>
                </a:solidFill>
                <a:latin typeface="黑体" panose="02010609060101010101" pitchFamily="49" charset="-122"/>
                <a:ea typeface="黑体" panose="02010609060101010101" pitchFamily="49" charset="-122"/>
              </a:rPr>
              <a:t>六者俱全称</a:t>
            </a:r>
            <a:r>
              <a:rPr lang="zh-CN" altLang="en-US" b="1" dirty="0">
                <a:latin typeface="黑体" panose="02010609060101010101" pitchFamily="49" charset="-122"/>
                <a:ea typeface="黑体" panose="02010609060101010101" pitchFamily="49" charset="-122"/>
              </a:rPr>
              <a:t>完全花</a:t>
            </a:r>
            <a:r>
              <a:rPr lang="zh-CN" altLang="en-US" b="1" dirty="0">
                <a:solidFill>
                  <a:srgbClr val="3333FF"/>
                </a:solidFill>
                <a:latin typeface="黑体" panose="02010609060101010101" pitchFamily="49" charset="-122"/>
                <a:ea typeface="黑体" panose="02010609060101010101" pitchFamily="49" charset="-122"/>
              </a:rPr>
              <a:t>；</a:t>
            </a:r>
          </a:p>
          <a:p>
            <a:pPr lvl="2" eaLnBrk="1" hangingPunct="1"/>
            <a:r>
              <a:rPr lang="zh-CN" altLang="en-US" b="1" dirty="0">
                <a:solidFill>
                  <a:srgbClr val="3333FF"/>
                </a:solidFill>
                <a:latin typeface="黑体" panose="02010609060101010101" pitchFamily="49" charset="-122"/>
                <a:ea typeface="黑体" panose="02010609060101010101" pitchFamily="49" charset="-122"/>
              </a:rPr>
              <a:t>缺少其一或几部分者称</a:t>
            </a:r>
            <a:r>
              <a:rPr lang="zh-CN" altLang="en-US" b="1" dirty="0">
                <a:latin typeface="黑体" panose="02010609060101010101" pitchFamily="49" charset="-122"/>
                <a:ea typeface="黑体" panose="02010609060101010101" pitchFamily="49" charset="-122"/>
              </a:rPr>
              <a:t>不完全花</a:t>
            </a:r>
            <a:r>
              <a:rPr lang="zh-CN" altLang="en-US" b="1" dirty="0">
                <a:solidFill>
                  <a:srgbClr val="3333FF"/>
                </a:solidFill>
                <a:latin typeface="黑体" panose="02010609060101010101" pitchFamily="49" charset="-122"/>
                <a:ea typeface="黑体" panose="02010609060101010101" pitchFamily="49" charset="-122"/>
              </a:rPr>
              <a:t>。 </a:t>
            </a:r>
          </a:p>
          <a:p>
            <a:pPr lvl="1" eaLnBrk="1" hangingPunct="1"/>
            <a:r>
              <a:rPr lang="zh-CN" altLang="en-US" b="1" dirty="0">
                <a:solidFill>
                  <a:schemeClr val="tx1"/>
                </a:solidFill>
                <a:latin typeface="黑体" panose="02010609060101010101" pitchFamily="49" charset="-122"/>
                <a:ea typeface="黑体" panose="02010609060101010101" pitchFamily="49" charset="-122"/>
              </a:rPr>
              <a:t>花柄和花托是（“花”这个变态短枝的）真正的“枝”，</a:t>
            </a:r>
            <a:r>
              <a:rPr lang="zh-CN" altLang="en-US" b="1" dirty="0">
                <a:solidFill>
                  <a:srgbClr val="FF0000"/>
                </a:solidFill>
                <a:latin typeface="黑体" panose="02010609060101010101" pitchFamily="49" charset="-122"/>
                <a:ea typeface="黑体" panose="02010609060101010101" pitchFamily="49" charset="-122"/>
              </a:rPr>
              <a:t>花萼、花冠、雄蕊群和雌蕊群是这个“枝”上的不育变态叶和可育变态叶。 </a:t>
            </a:r>
          </a:p>
        </p:txBody>
      </p:sp>
      <p:sp>
        <p:nvSpPr>
          <p:cNvPr id="556035" name="Text Box 2"/>
          <p:cNvSpPr txBox="1"/>
          <p:nvPr/>
        </p:nvSpPr>
        <p:spPr>
          <a:xfrm>
            <a:off x="0" y="7938"/>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五、花的解剖结构 </a:t>
            </a:r>
          </a:p>
        </p:txBody>
      </p:sp>
      <p:pic>
        <p:nvPicPr>
          <p:cNvPr id="556036" name="Picture 2" descr="花的结构2"/>
          <p:cNvPicPr>
            <a:picLocks noChangeAspect="1"/>
          </p:cNvPicPr>
          <p:nvPr/>
        </p:nvPicPr>
        <p:blipFill>
          <a:blip r:embed="rId2"/>
          <a:stretch>
            <a:fillRect/>
          </a:stretch>
        </p:blipFill>
        <p:spPr>
          <a:xfrm>
            <a:off x="2620963" y="3860800"/>
            <a:ext cx="3149600" cy="2363788"/>
          </a:xfrm>
          <a:prstGeom prst="rect">
            <a:avLst/>
          </a:prstGeom>
          <a:noFill/>
          <a:ln w="9525">
            <a:noFill/>
          </a:ln>
        </p:spPr>
      </p:pic>
      <p:sp>
        <p:nvSpPr>
          <p:cNvPr id="556037" name="Line 3"/>
          <p:cNvSpPr/>
          <p:nvPr/>
        </p:nvSpPr>
        <p:spPr>
          <a:xfrm flipV="1">
            <a:off x="4184650" y="6026150"/>
            <a:ext cx="1962150" cy="90488"/>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56038" name="Line 4"/>
          <p:cNvSpPr/>
          <p:nvPr/>
        </p:nvSpPr>
        <p:spPr>
          <a:xfrm flipV="1">
            <a:off x="4230688" y="5505450"/>
            <a:ext cx="1960562" cy="357188"/>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56039" name="Text Box 5"/>
          <p:cNvSpPr txBox="1"/>
          <p:nvPr/>
        </p:nvSpPr>
        <p:spPr>
          <a:xfrm>
            <a:off x="6146800" y="5308600"/>
            <a:ext cx="935038" cy="933450"/>
          </a:xfrm>
          <a:prstGeom prst="rect">
            <a:avLst/>
          </a:prstGeom>
          <a:noFill/>
          <a:ln w="9525">
            <a:noFill/>
          </a:ln>
        </p:spPr>
        <p:txBody>
          <a:bodyPr anchor="t" anchorCtr="0">
            <a:spAutoFit/>
          </a:bodyPr>
          <a:lstStyle/>
          <a:p>
            <a:pPr algn="ctr" eaLnBrk="0" hangingPunct="0">
              <a:lnSpc>
                <a:spcPct val="70000"/>
              </a:lnSpc>
              <a:spcBef>
                <a:spcPct val="50000"/>
              </a:spcBef>
            </a:pPr>
            <a:r>
              <a:rPr lang="zh-CN" altLang="en-US" sz="2800" dirty="0">
                <a:solidFill>
                  <a:srgbClr val="FF3300"/>
                </a:solidFill>
                <a:latin typeface="Times New Roman" panose="02020603050405020304" pitchFamily="18" charset="0"/>
                <a:ea typeface="华文新魏" panose="02010800040101010101" pitchFamily="2" charset="-122"/>
              </a:rPr>
              <a:t>花托</a:t>
            </a:r>
          </a:p>
          <a:p>
            <a:pPr algn="ctr" eaLnBrk="0" hangingPunct="0">
              <a:lnSpc>
                <a:spcPct val="70000"/>
              </a:lnSpc>
              <a:spcBef>
                <a:spcPct val="50000"/>
              </a:spcBef>
            </a:pPr>
            <a:r>
              <a:rPr lang="zh-CN" altLang="en-US" sz="2800" dirty="0">
                <a:solidFill>
                  <a:srgbClr val="FF3300"/>
                </a:solidFill>
                <a:latin typeface="Times New Roman" panose="02020603050405020304" pitchFamily="18" charset="0"/>
                <a:ea typeface="华文新魏" panose="02010800040101010101" pitchFamily="2" charset="-122"/>
              </a:rPr>
              <a:t>花柄</a:t>
            </a:r>
          </a:p>
        </p:txBody>
      </p:sp>
      <p:sp>
        <p:nvSpPr>
          <p:cNvPr id="556040" name="Line 6"/>
          <p:cNvSpPr/>
          <p:nvPr/>
        </p:nvSpPr>
        <p:spPr>
          <a:xfrm flipV="1">
            <a:off x="4195763" y="4713288"/>
            <a:ext cx="3616325" cy="71755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56041" name="Text Box 7"/>
          <p:cNvSpPr txBox="1"/>
          <p:nvPr/>
        </p:nvSpPr>
        <p:spPr>
          <a:xfrm>
            <a:off x="7812088" y="4249738"/>
            <a:ext cx="541337" cy="830262"/>
          </a:xfrm>
          <a:prstGeom prst="rect">
            <a:avLst/>
          </a:prstGeom>
          <a:noFill/>
          <a:ln w="9525">
            <a:noFill/>
          </a:ln>
        </p:spPr>
        <p:txBody>
          <a:bodyPr anchor="t" anchorCtr="0">
            <a:spAutoFit/>
          </a:bodyPr>
          <a:lstStyle/>
          <a:p>
            <a:pPr eaLnBrk="0" hangingPunct="0">
              <a:spcBef>
                <a:spcPct val="50000"/>
              </a:spcBef>
            </a:pPr>
            <a:r>
              <a:rPr lang="zh-CN" altLang="en-US" dirty="0">
                <a:solidFill>
                  <a:srgbClr val="FF3300"/>
                </a:solidFill>
                <a:latin typeface="Times New Roman" panose="02020603050405020304" pitchFamily="18" charset="0"/>
                <a:ea typeface="华文新魏" panose="02010800040101010101" pitchFamily="2" charset="-122"/>
              </a:rPr>
              <a:t>花被</a:t>
            </a:r>
          </a:p>
        </p:txBody>
      </p:sp>
      <p:sp>
        <p:nvSpPr>
          <p:cNvPr id="556042" name="Line 8"/>
          <p:cNvSpPr/>
          <p:nvPr/>
        </p:nvSpPr>
        <p:spPr>
          <a:xfrm>
            <a:off x="5157788" y="4425950"/>
            <a:ext cx="2654300" cy="134938"/>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p:cNvSpPr>
            <a:spLocks noGrp="1" noChangeArrowheads="1"/>
          </p:cNvSpPr>
          <p:nvPr>
            <p:ph idx="1"/>
          </p:nvPr>
        </p:nvSpPr>
        <p:spPr>
          <a:xfrm>
            <a:off x="14288" y="1673225"/>
            <a:ext cx="8950325" cy="45815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1.</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花柄和花托</a:t>
            </a:r>
          </a:p>
          <a:p>
            <a:pPr marL="0" marR="0" lvl="0" indent="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花柄：</a:t>
            </a:r>
            <a:r>
              <a:rPr kumimoji="0" lang="zh-CN" altLang="en-US" sz="25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或称花梗，是着生花的小枝，实际上是变态枝的伸长部分。其作用是支持花，使花位于一定空间，同时是茎和花相连的通道。即支持和物质运输作用。</a:t>
            </a:r>
          </a:p>
          <a:p>
            <a:pPr marL="742950" marR="0" lvl="1" indent="-28575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花柄的长短各异，少数植物无花柄。</a:t>
            </a:r>
          </a:p>
          <a:p>
            <a:pPr marL="0" marR="0" lvl="0" indent="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花托：是花柄的顶端部分，也就是变态枝上部膨大、节极度密集的一段。花的其他部分按一定的方式排列其上。</a:t>
            </a:r>
          </a:p>
          <a:p>
            <a:pPr marL="742950" marR="0" lvl="1" indent="-28575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花托的类型：圆柱形、覆碗状（凸出）、碗状（凹陷）、壶状、圆锥形、具雌蕊柄的、具雌雄蕊柄的、具花冠柄的等。</a:t>
            </a:r>
          </a:p>
        </p:txBody>
      </p:sp>
      <p:sp>
        <p:nvSpPr>
          <p:cNvPr id="557058" name="Rectangle 5"/>
          <p:cNvSpPr>
            <a:spLocks noGrp="1"/>
          </p:cNvSpPr>
          <p:nvPr>
            <p:ph type="title"/>
          </p:nvPr>
        </p:nvSpPr>
        <p:spPr>
          <a:xfrm>
            <a:off x="-12700" y="733425"/>
            <a:ext cx="9144000" cy="927100"/>
          </a:xfrm>
        </p:spPr>
        <p:txBody>
          <a:bodyPr vert="horz" wrap="square" lIns="91440" tIns="45720" rIns="91440" bIns="45720" anchor="b" anchorCtr="0"/>
          <a:lstStyle/>
          <a:p>
            <a:pPr eaLnBrk="1" hangingPunct="1"/>
            <a:r>
              <a:rPr lang="zh-CN" altLang="en-US" sz="2800" b="1" dirty="0">
                <a:latin typeface="黑体" panose="02010609060101010101" pitchFamily="49" charset="-122"/>
                <a:ea typeface="黑体" panose="02010609060101010101" pitchFamily="49" charset="-122"/>
              </a:rPr>
              <a:t>（一）花的概念和花的组成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②花的组成</a:t>
            </a:r>
          </a:p>
        </p:txBody>
      </p:sp>
      <p:sp>
        <p:nvSpPr>
          <p:cNvPr id="557059" name="Text Box 2"/>
          <p:cNvSpPr txBox="1"/>
          <p:nvPr/>
        </p:nvSpPr>
        <p:spPr>
          <a:xfrm>
            <a:off x="179388" y="136525"/>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日期占位符 1"/>
          <p:cNvSpPr txBox="1">
            <a:spLocks noGrp="1"/>
          </p:cNvSpPr>
          <p:nvPr>
            <p:ph type="dt" sz="half" idx="2"/>
          </p:nvPr>
        </p:nvSpPr>
        <p:spPr bwMode="auto"/>
        <p:txBody>
          <a:bodyPr wrap="square" lIns="91440" tIns="45720" rIns="91440" bIns="45720" numCol="1" anchor="b" anchorCtr="0" compatLnSpc="1"/>
          <a:lstStyle/>
          <a:p>
            <a:pPr marL="0" marR="0" lvl="0" indent="0" algn="l" defTabSz="914400" rtl="0" eaLnBrk="1" fontAlgn="base" latinLnBrk="0" hangingPunct="1">
              <a:lnSpc>
                <a:spcPct val="10000"/>
              </a:lnSpc>
              <a:spcBef>
                <a:spcPct val="0"/>
              </a:spcBef>
              <a:spcAft>
                <a:spcPct val="0"/>
              </a:spcAft>
              <a:buClrTx/>
              <a:buSzTx/>
              <a:buFontTx/>
              <a:buNone/>
              <a:defRPr/>
            </a:pPr>
            <a:fld id="{1C33C1C2-E6B4-4961-A358-733F45F6D3F5}" type="datetime3">
              <a:rPr kumimoji="0" lang="zh-CN" altLang="en-US"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rPr>
              <a:t>2025年11月7日星期五</a:t>
            </a:fld>
            <a:endParaRPr kumimoji="0" lang="en-US" altLang="zh-CN" sz="2000" b="0" i="0" u="none" strike="noStrike" kern="1200" cap="none" spc="0" normalizeH="0" baseline="0" noProof="0">
              <a:ln>
                <a:noFill/>
              </a:ln>
              <a:solidFill>
                <a:srgbClr val="FF0000"/>
              </a:solidFill>
              <a:effectLst/>
              <a:uLnTx/>
              <a:uFillTx/>
              <a:latin typeface="+mn-ea"/>
              <a:ea typeface="华文新魏" panose="02010800040101010101" pitchFamily="2" charset="-122"/>
              <a:cs typeface="+mn-cs"/>
            </a:endParaRPr>
          </a:p>
        </p:txBody>
      </p:sp>
      <p:sp>
        <p:nvSpPr>
          <p:cNvPr id="558082" name="灯片编号占位符 3"/>
          <p:cNvSpPr>
            <a:spLocks noGrp="1"/>
          </p:cNvSpPr>
          <p:nvPr>
            <p:ph type="sldNum" sz="quarter" idx="4"/>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华文新魏" panose="02010800040101010101" pitchFamily="2" charset="-122"/>
                <a:cs typeface="+mn-cs"/>
              </a:defRPr>
            </a:lvl5pPr>
          </a:lstStyle>
          <a:p>
            <a:pPr lvl="0" algn="r">
              <a:lnSpc>
                <a:spcPct val="10000"/>
              </a:lnSpc>
            </a:pPr>
            <a:fld id="{9A0DB2DC-4C9A-4742-B13C-FB6460FD3503}" type="slidenum">
              <a:rPr lang="en-US" altLang="zh-CN" sz="2000" dirty="0">
                <a:solidFill>
                  <a:srgbClr val="FF0000"/>
                </a:solidFill>
                <a:latin typeface="华文新魏" panose="02010800040101010101" pitchFamily="2" charset="-122"/>
              </a:rPr>
              <a:t>164</a:t>
            </a:fld>
            <a:r>
              <a:rPr lang="en-US" altLang="zh-CN" sz="2000" dirty="0">
                <a:solidFill>
                  <a:srgbClr val="FF0000"/>
                </a:solidFill>
                <a:latin typeface="华文新魏" panose="02010800040101010101" pitchFamily="2" charset="-122"/>
              </a:rPr>
              <a:t>/130</a:t>
            </a:r>
          </a:p>
        </p:txBody>
      </p:sp>
      <p:grpSp>
        <p:nvGrpSpPr>
          <p:cNvPr id="549911" name="Group 23"/>
          <p:cNvGrpSpPr/>
          <p:nvPr/>
        </p:nvGrpSpPr>
        <p:grpSpPr>
          <a:xfrm>
            <a:off x="0" y="0"/>
            <a:ext cx="9144000" cy="6858000"/>
            <a:chOff x="0" y="0"/>
            <a:chExt cx="5760" cy="4320"/>
          </a:xfrm>
        </p:grpSpPr>
        <p:pic>
          <p:nvPicPr>
            <p:cNvPr id="558084" name="Picture 2" descr="5-115-1"/>
            <p:cNvPicPr>
              <a:picLocks noChangeAspect="1"/>
            </p:cNvPicPr>
            <p:nvPr/>
          </p:nvPicPr>
          <p:blipFill>
            <a:blip r:embed="rId3"/>
            <a:stretch>
              <a:fillRect/>
            </a:stretch>
          </p:blipFill>
          <p:spPr>
            <a:xfrm>
              <a:off x="4481" y="1200"/>
              <a:ext cx="1279" cy="1872"/>
            </a:xfrm>
            <a:prstGeom prst="rect">
              <a:avLst/>
            </a:prstGeom>
            <a:noFill/>
            <a:ln w="9525">
              <a:noFill/>
            </a:ln>
          </p:spPr>
        </p:pic>
        <p:pic>
          <p:nvPicPr>
            <p:cNvPr id="558085" name="Picture 3" descr="5-112-1"/>
            <p:cNvPicPr>
              <a:picLocks noChangeAspect="1"/>
            </p:cNvPicPr>
            <p:nvPr/>
          </p:nvPicPr>
          <p:blipFill>
            <a:blip r:embed="rId4"/>
            <a:stretch>
              <a:fillRect/>
            </a:stretch>
          </p:blipFill>
          <p:spPr>
            <a:xfrm>
              <a:off x="4080" y="3164"/>
              <a:ext cx="1680" cy="1156"/>
            </a:xfrm>
            <a:prstGeom prst="rect">
              <a:avLst/>
            </a:prstGeom>
            <a:noFill/>
            <a:ln w="9525">
              <a:noFill/>
            </a:ln>
          </p:spPr>
        </p:pic>
        <p:pic>
          <p:nvPicPr>
            <p:cNvPr id="558086" name="Picture 4" descr="5-109-1"/>
            <p:cNvPicPr>
              <a:picLocks noChangeAspect="1"/>
            </p:cNvPicPr>
            <p:nvPr/>
          </p:nvPicPr>
          <p:blipFill>
            <a:blip r:embed="rId5"/>
            <a:stretch>
              <a:fillRect/>
            </a:stretch>
          </p:blipFill>
          <p:spPr>
            <a:xfrm>
              <a:off x="3984" y="0"/>
              <a:ext cx="1776" cy="1109"/>
            </a:xfrm>
            <a:prstGeom prst="rect">
              <a:avLst/>
            </a:prstGeom>
            <a:noFill/>
            <a:ln w="9525">
              <a:noFill/>
            </a:ln>
          </p:spPr>
        </p:pic>
        <p:pic>
          <p:nvPicPr>
            <p:cNvPr id="558087" name="Picture 5" descr="5-106-1"/>
            <p:cNvPicPr>
              <a:picLocks noChangeAspect="1"/>
            </p:cNvPicPr>
            <p:nvPr/>
          </p:nvPicPr>
          <p:blipFill>
            <a:blip r:embed="rId6"/>
            <a:stretch>
              <a:fillRect/>
            </a:stretch>
          </p:blipFill>
          <p:spPr>
            <a:xfrm>
              <a:off x="0" y="3151"/>
              <a:ext cx="1872" cy="1169"/>
            </a:xfrm>
            <a:prstGeom prst="rect">
              <a:avLst/>
            </a:prstGeom>
            <a:noFill/>
            <a:ln w="9525">
              <a:noFill/>
            </a:ln>
          </p:spPr>
        </p:pic>
        <p:pic>
          <p:nvPicPr>
            <p:cNvPr id="558088" name="Picture 6" descr="5-103-1"/>
            <p:cNvPicPr>
              <a:picLocks noChangeAspect="1"/>
            </p:cNvPicPr>
            <p:nvPr/>
          </p:nvPicPr>
          <p:blipFill>
            <a:blip r:embed="rId7"/>
            <a:stretch>
              <a:fillRect/>
            </a:stretch>
          </p:blipFill>
          <p:spPr>
            <a:xfrm>
              <a:off x="0" y="1849"/>
              <a:ext cx="1872" cy="983"/>
            </a:xfrm>
            <a:prstGeom prst="rect">
              <a:avLst/>
            </a:prstGeom>
            <a:noFill/>
            <a:ln w="9525">
              <a:noFill/>
            </a:ln>
          </p:spPr>
        </p:pic>
        <p:pic>
          <p:nvPicPr>
            <p:cNvPr id="558089" name="Picture 7" descr="5-003-1"/>
            <p:cNvPicPr>
              <a:picLocks noChangeAspect="1"/>
            </p:cNvPicPr>
            <p:nvPr/>
          </p:nvPicPr>
          <p:blipFill>
            <a:blip r:embed="rId8"/>
            <a:stretch>
              <a:fillRect/>
            </a:stretch>
          </p:blipFill>
          <p:spPr>
            <a:xfrm>
              <a:off x="0" y="0"/>
              <a:ext cx="1872" cy="1252"/>
            </a:xfrm>
            <a:prstGeom prst="rect">
              <a:avLst/>
            </a:prstGeom>
            <a:noFill/>
            <a:ln w="9525">
              <a:noFill/>
            </a:ln>
          </p:spPr>
        </p:pic>
        <p:sp>
          <p:nvSpPr>
            <p:cNvPr id="558090" name="Text Box 8"/>
            <p:cNvSpPr txBox="1"/>
            <p:nvPr/>
          </p:nvSpPr>
          <p:spPr>
            <a:xfrm>
              <a:off x="432" y="1008"/>
              <a:ext cx="576" cy="240"/>
            </a:xfrm>
            <a:prstGeom prst="rect">
              <a:avLst/>
            </a:prstGeom>
            <a:noFill/>
            <a:ln w="9525">
              <a:noFill/>
            </a:ln>
          </p:spPr>
          <p:txBody>
            <a:bodyPr anchor="t" anchorCtr="0">
              <a:spAutoFit/>
            </a:bodyPr>
            <a:lstStyle/>
            <a:p>
              <a:pPr algn="ctr" eaLnBrk="0" hangingPunct="0">
                <a:spcBef>
                  <a:spcPct val="50000"/>
                </a:spcBef>
              </a:pPr>
              <a:r>
                <a:rPr lang="zh-CN" altLang="en-US" sz="1900" b="1" dirty="0">
                  <a:solidFill>
                    <a:srgbClr val="FFFF66"/>
                  </a:solidFill>
                  <a:latin typeface="Times New Roman" panose="02020603050405020304" pitchFamily="18" charset="0"/>
                  <a:ea typeface="楷体_GB2312"/>
                </a:rPr>
                <a:t>圆柱形</a:t>
              </a:r>
            </a:p>
          </p:txBody>
        </p:sp>
        <p:sp>
          <p:nvSpPr>
            <p:cNvPr id="558091" name="Text Box 9"/>
            <p:cNvSpPr txBox="1"/>
            <p:nvPr/>
          </p:nvSpPr>
          <p:spPr>
            <a:xfrm>
              <a:off x="672" y="2592"/>
              <a:ext cx="576" cy="240"/>
            </a:xfrm>
            <a:prstGeom prst="rect">
              <a:avLst/>
            </a:prstGeom>
            <a:noFill/>
            <a:ln w="9525">
              <a:noFill/>
            </a:ln>
          </p:spPr>
          <p:txBody>
            <a:bodyPr anchor="t" anchorCtr="0">
              <a:spAutoFit/>
            </a:bodyPr>
            <a:lstStyle/>
            <a:p>
              <a:pPr algn="ctr" eaLnBrk="0" hangingPunct="0">
                <a:spcBef>
                  <a:spcPct val="50000"/>
                </a:spcBef>
              </a:pPr>
              <a:r>
                <a:rPr lang="zh-CN" altLang="en-US" sz="1900" b="1" dirty="0">
                  <a:solidFill>
                    <a:srgbClr val="FFFF66"/>
                  </a:solidFill>
                  <a:latin typeface="Times New Roman" panose="02020603050405020304" pitchFamily="18" charset="0"/>
                  <a:ea typeface="楷体_GB2312"/>
                </a:rPr>
                <a:t>浅杯状</a:t>
              </a:r>
            </a:p>
          </p:txBody>
        </p:sp>
        <p:sp>
          <p:nvSpPr>
            <p:cNvPr id="558092" name="Text Box 10"/>
            <p:cNvSpPr txBox="1"/>
            <p:nvPr/>
          </p:nvSpPr>
          <p:spPr>
            <a:xfrm>
              <a:off x="672" y="4080"/>
              <a:ext cx="576" cy="240"/>
            </a:xfrm>
            <a:prstGeom prst="rect">
              <a:avLst/>
            </a:prstGeom>
            <a:noFill/>
            <a:ln w="9525">
              <a:noFill/>
            </a:ln>
          </p:spPr>
          <p:txBody>
            <a:bodyPr anchor="t" anchorCtr="0">
              <a:spAutoFit/>
            </a:bodyPr>
            <a:lstStyle/>
            <a:p>
              <a:pPr algn="ctr" eaLnBrk="0" hangingPunct="0">
                <a:spcBef>
                  <a:spcPct val="50000"/>
                </a:spcBef>
              </a:pPr>
              <a:r>
                <a:rPr lang="zh-CN" altLang="en-US" sz="1900" b="1" dirty="0">
                  <a:solidFill>
                    <a:srgbClr val="FFFF66"/>
                  </a:solidFill>
                  <a:latin typeface="Times New Roman" panose="02020603050405020304" pitchFamily="18" charset="0"/>
                  <a:ea typeface="楷体_GB2312"/>
                </a:rPr>
                <a:t>圆锥形</a:t>
              </a:r>
            </a:p>
          </p:txBody>
        </p:sp>
        <p:sp>
          <p:nvSpPr>
            <p:cNvPr id="558093" name="Text Box 11"/>
            <p:cNvSpPr txBox="1"/>
            <p:nvPr/>
          </p:nvSpPr>
          <p:spPr>
            <a:xfrm>
              <a:off x="5184" y="864"/>
              <a:ext cx="576" cy="240"/>
            </a:xfrm>
            <a:prstGeom prst="rect">
              <a:avLst/>
            </a:prstGeom>
            <a:noFill/>
            <a:ln w="9525">
              <a:noFill/>
            </a:ln>
          </p:spPr>
          <p:txBody>
            <a:bodyPr anchor="t" anchorCtr="0">
              <a:spAutoFit/>
            </a:bodyPr>
            <a:lstStyle/>
            <a:p>
              <a:pPr algn="ctr" eaLnBrk="0" hangingPunct="0">
                <a:spcBef>
                  <a:spcPct val="50000"/>
                </a:spcBef>
              </a:pPr>
              <a:r>
                <a:rPr lang="zh-CN" altLang="en-US" sz="1900" b="1" dirty="0">
                  <a:solidFill>
                    <a:srgbClr val="FFFF66"/>
                  </a:solidFill>
                  <a:latin typeface="Times New Roman" panose="02020603050405020304" pitchFamily="18" charset="0"/>
                  <a:ea typeface="楷体_GB2312"/>
                </a:rPr>
                <a:t>壶    状</a:t>
              </a:r>
            </a:p>
          </p:txBody>
        </p:sp>
        <p:sp>
          <p:nvSpPr>
            <p:cNvPr id="558094" name="Text Box 12"/>
            <p:cNvSpPr txBox="1"/>
            <p:nvPr/>
          </p:nvSpPr>
          <p:spPr>
            <a:xfrm>
              <a:off x="5184" y="2784"/>
              <a:ext cx="576" cy="240"/>
            </a:xfrm>
            <a:prstGeom prst="rect">
              <a:avLst/>
            </a:prstGeom>
            <a:noFill/>
            <a:ln w="9525">
              <a:noFill/>
            </a:ln>
          </p:spPr>
          <p:txBody>
            <a:bodyPr anchor="t" anchorCtr="0">
              <a:spAutoFit/>
            </a:bodyPr>
            <a:lstStyle/>
            <a:p>
              <a:pPr algn="ctr" eaLnBrk="0" hangingPunct="0">
                <a:spcBef>
                  <a:spcPct val="50000"/>
                </a:spcBef>
              </a:pPr>
              <a:r>
                <a:rPr lang="zh-CN" altLang="en-US" sz="1900" b="1" dirty="0">
                  <a:solidFill>
                    <a:srgbClr val="FFFF66"/>
                  </a:solidFill>
                  <a:latin typeface="Times New Roman" panose="02020603050405020304" pitchFamily="18" charset="0"/>
                  <a:ea typeface="楷体_GB2312"/>
                </a:rPr>
                <a:t>杯    状</a:t>
              </a:r>
            </a:p>
          </p:txBody>
        </p:sp>
        <p:sp>
          <p:nvSpPr>
            <p:cNvPr id="558095" name="Text Box 13"/>
            <p:cNvSpPr txBox="1"/>
            <p:nvPr/>
          </p:nvSpPr>
          <p:spPr>
            <a:xfrm>
              <a:off x="5184" y="3120"/>
              <a:ext cx="576" cy="240"/>
            </a:xfrm>
            <a:prstGeom prst="rect">
              <a:avLst/>
            </a:prstGeom>
            <a:noFill/>
            <a:ln w="9525">
              <a:noFill/>
            </a:ln>
          </p:spPr>
          <p:txBody>
            <a:bodyPr anchor="t" anchorCtr="0">
              <a:spAutoFit/>
            </a:bodyPr>
            <a:lstStyle/>
            <a:p>
              <a:pPr algn="ctr" eaLnBrk="0" hangingPunct="0">
                <a:spcBef>
                  <a:spcPct val="50000"/>
                </a:spcBef>
              </a:pPr>
              <a:r>
                <a:rPr lang="zh-CN" altLang="en-US" sz="1900" b="1" dirty="0">
                  <a:solidFill>
                    <a:srgbClr val="FFFF66"/>
                  </a:solidFill>
                  <a:latin typeface="Times New Roman" panose="02020603050405020304" pitchFamily="18" charset="0"/>
                  <a:ea typeface="楷体_GB2312"/>
                </a:rPr>
                <a:t>壶    状</a:t>
              </a:r>
            </a:p>
          </p:txBody>
        </p:sp>
        <p:sp>
          <p:nvSpPr>
            <p:cNvPr id="558096" name="Line 14"/>
            <p:cNvSpPr/>
            <p:nvPr/>
          </p:nvSpPr>
          <p:spPr>
            <a:xfrm flipV="1">
              <a:off x="1632" y="576"/>
              <a:ext cx="816" cy="144"/>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58097" name="Line 15"/>
            <p:cNvSpPr/>
            <p:nvPr/>
          </p:nvSpPr>
          <p:spPr>
            <a:xfrm>
              <a:off x="1056" y="3696"/>
              <a:ext cx="1392"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58098" name="Line 16"/>
            <p:cNvSpPr/>
            <p:nvPr/>
          </p:nvSpPr>
          <p:spPr>
            <a:xfrm flipV="1">
              <a:off x="1008" y="2400"/>
              <a:ext cx="1344"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58099" name="Line 17"/>
            <p:cNvSpPr/>
            <p:nvPr/>
          </p:nvSpPr>
          <p:spPr>
            <a:xfrm flipH="1">
              <a:off x="3600" y="768"/>
              <a:ext cx="768" cy="1152"/>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58100" name="Line 18"/>
            <p:cNvSpPr/>
            <p:nvPr/>
          </p:nvSpPr>
          <p:spPr>
            <a:xfrm flipH="1" flipV="1">
              <a:off x="3648" y="1968"/>
              <a:ext cx="1344" cy="912"/>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58101" name="Line 19"/>
            <p:cNvSpPr/>
            <p:nvPr/>
          </p:nvSpPr>
          <p:spPr>
            <a:xfrm flipH="1">
              <a:off x="3600" y="4176"/>
              <a:ext cx="1296" cy="0"/>
            </a:xfrm>
            <a:prstGeom prst="line">
              <a:avLst/>
            </a:prstGeom>
            <a:ln w="9525" cap="flat" cmpd="sng">
              <a:solidFill>
                <a:srgbClr val="FF3300"/>
              </a:solidFill>
              <a:prstDash val="solid"/>
              <a:round/>
              <a:headEnd type="none" w="med" len="med"/>
              <a:tailEnd type="none" w="med" len="med"/>
            </a:ln>
          </p:spPr>
          <p:txBody>
            <a:bodyPr/>
            <a:lstStyle/>
            <a:p>
              <a:endParaRPr lang="zh-CN" altLang="en-US"/>
            </a:p>
          </p:txBody>
        </p:sp>
        <p:sp>
          <p:nvSpPr>
            <p:cNvPr id="558102" name="Text Box 20"/>
            <p:cNvSpPr txBox="1"/>
            <p:nvPr/>
          </p:nvSpPr>
          <p:spPr>
            <a:xfrm>
              <a:off x="1776" y="0"/>
              <a:ext cx="2496" cy="4267"/>
            </a:xfrm>
            <a:prstGeom prst="rect">
              <a:avLst/>
            </a:prstGeom>
            <a:noFill/>
            <a:ln w="9525">
              <a:noFill/>
            </a:ln>
          </p:spPr>
          <p:txBody>
            <a:bodyPr anchor="t" anchorCtr="0">
              <a:spAutoFit/>
            </a:bodyPr>
            <a:lstStyle/>
            <a:p>
              <a:pPr algn="ctr" eaLnBrk="0" hangingPunct="0">
                <a:spcBef>
                  <a:spcPct val="50000"/>
                </a:spcBef>
              </a:pPr>
              <a:r>
                <a:rPr lang="zh-CN" altLang="en-US" b="1" dirty="0">
                  <a:solidFill>
                    <a:srgbClr val="3333FF"/>
                  </a:solidFill>
                  <a:latin typeface="Times New Roman" panose="02020603050405020304" pitchFamily="18" charset="0"/>
                  <a:ea typeface="楷体_GB2312"/>
                </a:rPr>
                <a:t>花托类型及</a:t>
              </a:r>
              <a:r>
                <a:rPr lang="zh-CN" altLang="en-US" b="1" dirty="0">
                  <a:latin typeface="Times New Roman" panose="02020603050405020304" pitchFamily="18" charset="0"/>
                  <a:ea typeface="楷体_GB2312"/>
                </a:rPr>
                <a:t>子房位置</a:t>
              </a:r>
            </a:p>
            <a:p>
              <a:pPr algn="ctr" eaLnBrk="0" hangingPunct="0">
                <a:lnSpc>
                  <a:spcPct val="150000"/>
                </a:lnSpc>
                <a:spcBef>
                  <a:spcPct val="50000"/>
                </a:spcBef>
              </a:pPr>
              <a:r>
                <a:rPr lang="zh-CN" altLang="en-US" sz="2100" b="1" dirty="0">
                  <a:latin typeface="Times New Roman" panose="02020603050405020304" pitchFamily="18" charset="0"/>
                  <a:ea typeface="楷体_GB2312"/>
                </a:rPr>
                <a:t>上位子房下位花</a:t>
              </a:r>
            </a:p>
            <a:p>
              <a:pPr algn="ctr" eaLnBrk="0" hangingPunct="0">
                <a:lnSpc>
                  <a:spcPct val="170000"/>
                </a:lnSpc>
                <a:spcBef>
                  <a:spcPct val="50000"/>
                </a:spcBef>
              </a:pPr>
              <a:endParaRPr lang="zh-CN" altLang="en-US" sz="2100" b="1" dirty="0">
                <a:latin typeface="Times New Roman" panose="02020603050405020304" pitchFamily="18" charset="0"/>
                <a:ea typeface="楷体_GB2312"/>
              </a:endParaRPr>
            </a:p>
            <a:p>
              <a:pPr algn="ctr" eaLnBrk="0" hangingPunct="0">
                <a:lnSpc>
                  <a:spcPct val="170000"/>
                </a:lnSpc>
                <a:spcBef>
                  <a:spcPct val="50000"/>
                </a:spcBef>
              </a:pPr>
              <a:endParaRPr lang="zh-CN" altLang="en-US" sz="2100" b="1" dirty="0">
                <a:latin typeface="Times New Roman" panose="02020603050405020304" pitchFamily="18" charset="0"/>
                <a:ea typeface="楷体_GB2312"/>
              </a:endParaRPr>
            </a:p>
            <a:p>
              <a:pPr algn="ctr" eaLnBrk="0" hangingPunct="0">
                <a:lnSpc>
                  <a:spcPct val="190000"/>
                </a:lnSpc>
                <a:spcBef>
                  <a:spcPct val="50000"/>
                </a:spcBef>
              </a:pPr>
              <a:r>
                <a:rPr lang="zh-CN" altLang="en-US" sz="2100" b="1" dirty="0">
                  <a:latin typeface="Times New Roman" panose="02020603050405020304" pitchFamily="18" charset="0"/>
                  <a:ea typeface="楷体_GB2312"/>
                </a:rPr>
                <a:t>上位子房周位花</a:t>
              </a:r>
            </a:p>
            <a:p>
              <a:pPr algn="ctr" eaLnBrk="0" hangingPunct="0">
                <a:lnSpc>
                  <a:spcPct val="190000"/>
                </a:lnSpc>
                <a:spcBef>
                  <a:spcPct val="50000"/>
                </a:spcBef>
              </a:pPr>
              <a:r>
                <a:rPr lang="zh-CN" altLang="en-US" sz="2100" b="1" dirty="0">
                  <a:latin typeface="Times New Roman" panose="02020603050405020304" pitchFamily="18" charset="0"/>
                  <a:ea typeface="楷体_GB2312"/>
                </a:rPr>
                <a:t>半下位子房周位花</a:t>
              </a:r>
            </a:p>
            <a:p>
              <a:pPr algn="ctr" eaLnBrk="0" hangingPunct="0">
                <a:lnSpc>
                  <a:spcPct val="190000"/>
                </a:lnSpc>
                <a:spcBef>
                  <a:spcPct val="50000"/>
                </a:spcBef>
              </a:pPr>
              <a:endParaRPr lang="zh-CN" altLang="en-US" sz="2100" b="1" dirty="0">
                <a:latin typeface="Times New Roman" panose="02020603050405020304" pitchFamily="18" charset="0"/>
                <a:ea typeface="楷体_GB2312"/>
              </a:endParaRPr>
            </a:p>
            <a:p>
              <a:pPr algn="ctr" eaLnBrk="0" hangingPunct="0">
                <a:lnSpc>
                  <a:spcPct val="180000"/>
                </a:lnSpc>
                <a:spcBef>
                  <a:spcPct val="50000"/>
                </a:spcBef>
              </a:pPr>
              <a:endParaRPr lang="zh-CN" altLang="en-US" sz="2100" b="1" dirty="0">
                <a:latin typeface="Times New Roman" panose="02020603050405020304" pitchFamily="18" charset="0"/>
                <a:ea typeface="楷体_GB2312"/>
              </a:endParaRPr>
            </a:p>
            <a:p>
              <a:pPr algn="ctr" eaLnBrk="0" hangingPunct="0">
                <a:lnSpc>
                  <a:spcPct val="120000"/>
                </a:lnSpc>
                <a:spcBef>
                  <a:spcPct val="50000"/>
                </a:spcBef>
              </a:pPr>
              <a:r>
                <a:rPr lang="zh-CN" altLang="en-US" sz="2100" b="1" dirty="0">
                  <a:latin typeface="Times New Roman" panose="02020603050405020304" pitchFamily="18" charset="0"/>
                  <a:ea typeface="楷体_GB2312"/>
                </a:rPr>
                <a:t>上位子房下位花</a:t>
              </a:r>
            </a:p>
            <a:p>
              <a:pPr algn="ctr" eaLnBrk="0" hangingPunct="0">
                <a:lnSpc>
                  <a:spcPct val="160000"/>
                </a:lnSpc>
                <a:spcBef>
                  <a:spcPct val="50000"/>
                </a:spcBef>
              </a:pPr>
              <a:r>
                <a:rPr lang="zh-CN" altLang="en-US" sz="2100" b="1" dirty="0">
                  <a:latin typeface="Times New Roman" panose="02020603050405020304" pitchFamily="18" charset="0"/>
                  <a:ea typeface="楷体_GB2312"/>
                </a:rPr>
                <a:t>下位子房上位花</a:t>
              </a:r>
            </a:p>
          </p:txBody>
        </p:sp>
      </p:grpSp>
      <p:pic>
        <p:nvPicPr>
          <p:cNvPr id="549912" name="Picture 24" descr="t4-13"/>
          <p:cNvPicPr>
            <a:picLocks noChangeAspect="1"/>
          </p:cNvPicPr>
          <p:nvPr/>
        </p:nvPicPr>
        <p:blipFill>
          <a:blip r:embed="rId9"/>
          <a:stretch>
            <a:fillRect/>
          </a:stretch>
        </p:blipFill>
        <p:spPr>
          <a:xfrm>
            <a:off x="1143000" y="1884363"/>
            <a:ext cx="6934200" cy="3195637"/>
          </a:xfrm>
          <a:prstGeom prst="rect">
            <a:avLst/>
          </a:prstGeom>
          <a:noFill/>
          <a:ln w="38100" cap="flat" cmpd="sng">
            <a:solidFill>
              <a:srgbClr val="FF3300"/>
            </a:solidFill>
            <a:prstDash val="solid"/>
            <a:miter/>
            <a:headEnd type="none" w="med" len="med"/>
            <a:tailEnd type="none" w="med" len="med"/>
          </a:ln>
        </p:spPr>
      </p:pic>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49911"/>
                                        </p:tgtEl>
                                        <p:attrNameLst>
                                          <p:attrName>style.visibility</p:attrName>
                                        </p:attrNameLst>
                                      </p:cBhvr>
                                      <p:to>
                                        <p:strVal val="visible"/>
                                      </p:to>
                                    </p:set>
                                    <p:anim calcmode="lin" valueType="num">
                                      <p:cBhvr>
                                        <p:cTn id="7" dur="500" fill="hold"/>
                                        <p:tgtEl>
                                          <p:spTgt spid="549911"/>
                                        </p:tgtEl>
                                        <p:attrNameLst>
                                          <p:attrName>ppt_w</p:attrName>
                                        </p:attrNameLst>
                                      </p:cBhvr>
                                      <p:tavLst>
                                        <p:tav tm="0">
                                          <p:val>
                                            <p:fltVal val="0"/>
                                          </p:val>
                                        </p:tav>
                                        <p:tav tm="100000">
                                          <p:val>
                                            <p:strVal val="#ppt_w"/>
                                          </p:val>
                                        </p:tav>
                                      </p:tavLst>
                                    </p:anim>
                                    <p:anim calcmode="lin" valueType="num">
                                      <p:cBhvr>
                                        <p:cTn id="8" dur="500" fill="hold"/>
                                        <p:tgtEl>
                                          <p:spTgt spid="549911"/>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549911"/>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549912"/>
                                        </p:tgtEl>
                                        <p:attrNameLst>
                                          <p:attrName>style.visibility</p:attrName>
                                        </p:attrNameLst>
                                      </p:cBhvr>
                                      <p:to>
                                        <p:strVal val="visible"/>
                                      </p:to>
                                    </p:set>
                                    <p:animEffect transition="in" filter="dissolve">
                                      <p:cBhvr>
                                        <p:cTn id="13" dur="500"/>
                                        <p:tgtEl>
                                          <p:spTgt spid="549912"/>
                                        </p:tgtEl>
                                      </p:cBhvr>
                                    </p:animEffect>
                                  </p:childTnLst>
                                  <p:subTnLst>
                                    <p:audio>
                                      <p:cMediaNode>
                                        <p:cTn display="0" masterRel="sameClick">
                                          <p:stCondLst>
                                            <p:cond evt="begin" delay="0">
                                              <p:tn val="11"/>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5"/>
          <p:cNvSpPr>
            <a:spLocks noGrp="1" noChangeArrowheads="1"/>
          </p:cNvSpPr>
          <p:nvPr>
            <p:ph idx="1"/>
          </p:nvPr>
        </p:nvSpPr>
        <p:spPr>
          <a:xfrm>
            <a:off x="34925" y="1989138"/>
            <a:ext cx="8858250" cy="324008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2.</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花被</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概述</a:t>
            </a:r>
          </a:p>
          <a:p>
            <a:pPr marL="0" marR="0" lvl="0" indent="0" algn="l"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花被定义</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r>
              <a:rPr kumimoji="0" lang="zh-CN" altLang="en-US" sz="2500" b="1" i="0" u="sng"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一朵花上花萼和花冠的总称</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p>
          <a:p>
            <a:pPr marL="742950" marR="0" lvl="1" indent="-28575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花被是由位于花托边缘的扁平的的花被片（变态叶）构成的，花被片为瓣状。功能是保护幼花的雌雄蕊、有助于花粉传送。</a:t>
            </a:r>
          </a:p>
          <a:p>
            <a:pPr marL="742950" marR="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Blip>
                <a:blip r:embed="rId2"/>
              </a:buBlip>
              <a:defRPr/>
            </a:pPr>
            <a:r>
              <a:rPr kumimoji="0" lang="zh-CN" altLang="en-US"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ea"/>
              </a:rPr>
              <a:t>萼片与花瓣：</a:t>
            </a:r>
            <a:r>
              <a:rPr kumimoji="0" lang="zh-CN" altLang="en-US" sz="24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ea"/>
              </a:rPr>
              <a:t>因形态、位置作用和颜色的不同，分为外轮的花萼和内轮的花冠。</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rPr>
              <a:t>花萼每一瓣片称萼片，花冠瓣片称花瓣。</a:t>
            </a:r>
          </a:p>
        </p:txBody>
      </p:sp>
      <p:sp>
        <p:nvSpPr>
          <p:cNvPr id="559106" name="Rectangle 10"/>
          <p:cNvSpPr>
            <a:spLocks noGrp="1"/>
          </p:cNvSpPr>
          <p:nvPr>
            <p:ph type="title"/>
          </p:nvPr>
        </p:nvSpPr>
        <p:spPr>
          <a:xfrm>
            <a:off x="-34925" y="846138"/>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59107" name="Text Box 2"/>
          <p:cNvSpPr txBox="1"/>
          <p:nvPr/>
        </p:nvSpPr>
        <p:spPr>
          <a:xfrm>
            <a:off x="-34925" y="476250"/>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3"/>
          <p:cNvSpPr>
            <a:spLocks noGrp="1"/>
          </p:cNvSpPr>
          <p:nvPr>
            <p:ph idx="1"/>
          </p:nvPr>
        </p:nvSpPr>
        <p:spPr>
          <a:xfrm>
            <a:off x="0" y="1295400"/>
            <a:ext cx="9144000" cy="4870450"/>
          </a:xfrm>
        </p:spPr>
        <p:txBody>
          <a:bodyPr vert="horz" wrap="square" lIns="91440" tIns="45720" rIns="91440" bIns="45720" anchor="t" anchorCtr="0"/>
          <a:lstStyle/>
          <a:p>
            <a:pPr eaLnBrk="1" hangingPunct="1">
              <a:buNone/>
            </a:pPr>
            <a:r>
              <a:rPr lang="en-US" altLang="zh-CN" b="1" dirty="0">
                <a:solidFill>
                  <a:srgbClr val="3333FF"/>
                </a:solidFill>
                <a:latin typeface="黑体" panose="02010609060101010101" pitchFamily="49" charset="-122"/>
                <a:ea typeface="黑体" panose="02010609060101010101" pitchFamily="49" charset="-122"/>
              </a:rPr>
              <a:t>   2.</a:t>
            </a:r>
            <a:r>
              <a:rPr lang="zh-CN" altLang="en-US" b="1" dirty="0">
                <a:solidFill>
                  <a:srgbClr val="3333FF"/>
                </a:solidFill>
                <a:latin typeface="黑体" panose="02010609060101010101" pitchFamily="49" charset="-122"/>
                <a:ea typeface="黑体" panose="02010609060101010101" pitchFamily="49" charset="-122"/>
              </a:rPr>
              <a:t>花被</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3333FF"/>
                </a:solidFill>
                <a:latin typeface="黑体" panose="02010609060101010101" pitchFamily="49" charset="-122"/>
                <a:ea typeface="黑体" panose="02010609060101010101" pitchFamily="49" charset="-122"/>
              </a:rPr>
              <a:t>花萼</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3333FF"/>
                </a:solidFill>
                <a:latin typeface="黑体" panose="02010609060101010101" pitchFamily="49" charset="-122"/>
                <a:ea typeface="黑体" panose="02010609060101010101" pitchFamily="49" charset="-122"/>
              </a:rPr>
              <a:t>花萼特征</a:t>
            </a:r>
          </a:p>
          <a:p>
            <a:pPr lvl="1" eaLnBrk="1" hangingPunct="1">
              <a:lnSpc>
                <a:spcPct val="110000"/>
              </a:lnSpc>
            </a:pPr>
            <a:r>
              <a:rPr lang="zh-CN" altLang="en-US" b="1" dirty="0">
                <a:solidFill>
                  <a:srgbClr val="3333FF"/>
                </a:solidFill>
                <a:latin typeface="黑体" panose="02010609060101010101" pitchFamily="49" charset="-122"/>
                <a:ea typeface="黑体" panose="02010609060101010101" pitchFamily="49" charset="-122"/>
              </a:rPr>
              <a:t>定义：</a:t>
            </a:r>
            <a:r>
              <a:rPr lang="zh-CN" altLang="en-US" b="1" dirty="0">
                <a:solidFill>
                  <a:schemeClr val="tx1"/>
                </a:solidFill>
                <a:latin typeface="黑体" panose="02010609060101010101" pitchFamily="49" charset="-122"/>
                <a:ea typeface="黑体" panose="02010609060101010101" pitchFamily="49" charset="-122"/>
              </a:rPr>
              <a:t>一朵花上所有萼片的总称花萼。为花托最外轮瓣片。</a:t>
            </a:r>
          </a:p>
          <a:p>
            <a:pPr lvl="1" eaLnBrk="1" hangingPunct="1">
              <a:lnSpc>
                <a:spcPct val="110000"/>
              </a:lnSpc>
            </a:pPr>
            <a:r>
              <a:rPr lang="zh-CN" altLang="en-US" b="1" dirty="0">
                <a:solidFill>
                  <a:srgbClr val="3333FF"/>
                </a:solidFill>
                <a:latin typeface="黑体" panose="02010609060101010101" pitchFamily="49" charset="-122"/>
                <a:ea typeface="黑体" panose="02010609060101010101" pitchFamily="49" charset="-122"/>
              </a:rPr>
              <a:t>特征：</a:t>
            </a:r>
          </a:p>
          <a:p>
            <a:pPr lvl="2" eaLnBrk="1" hangingPunct="1">
              <a:lnSpc>
                <a:spcPct val="110000"/>
              </a:lnSpc>
            </a:pPr>
            <a:r>
              <a:rPr lang="zh-CN" altLang="en-US" b="1" dirty="0">
                <a:solidFill>
                  <a:srgbClr val="0000FF"/>
                </a:solidFill>
                <a:latin typeface="黑体" panose="02010609060101010101" pitchFamily="49" charset="-122"/>
                <a:ea typeface="黑体" panose="02010609060101010101" pitchFamily="49" charset="-122"/>
              </a:rPr>
              <a:t>双被花的萼片多为绿色的叶状体，在结构上类似叶，有丰富的绿色薄壁细胞，但无栅栏、海绵组织的分化。</a:t>
            </a:r>
          </a:p>
          <a:p>
            <a:pPr lvl="2" eaLnBrk="1" hangingPunct="1">
              <a:lnSpc>
                <a:spcPct val="110000"/>
              </a:lnSpc>
            </a:pPr>
            <a:r>
              <a:rPr lang="zh-CN" altLang="en-US" b="1" dirty="0">
                <a:solidFill>
                  <a:srgbClr val="0000FF"/>
                </a:solidFill>
                <a:latin typeface="黑体" panose="02010609060101010101" pitchFamily="49" charset="-122"/>
                <a:ea typeface="黑体" panose="02010609060101010101" pitchFamily="49" charset="-122"/>
              </a:rPr>
              <a:t>单被花的花萼大而具色彩，呈花瓣状，有利于昆虫传粉。</a:t>
            </a:r>
          </a:p>
          <a:p>
            <a:pPr lvl="1" eaLnBrk="1" hangingPunct="1">
              <a:lnSpc>
                <a:spcPct val="110000"/>
              </a:lnSpc>
            </a:pPr>
            <a:r>
              <a:rPr lang="zh-CN" altLang="en-US" b="1" dirty="0">
                <a:solidFill>
                  <a:srgbClr val="3333FF"/>
                </a:solidFill>
                <a:latin typeface="黑体" panose="02010609060101010101" pitchFamily="49" charset="-122"/>
                <a:ea typeface="黑体" panose="02010609060101010101" pitchFamily="49" charset="-122"/>
              </a:rPr>
              <a:t>副萼：</a:t>
            </a:r>
            <a:r>
              <a:rPr lang="zh-CN" altLang="en-US" b="1" dirty="0">
                <a:solidFill>
                  <a:srgbClr val="FF0000"/>
                </a:solidFill>
                <a:latin typeface="黑体" panose="02010609060101010101" pitchFamily="49" charset="-122"/>
                <a:ea typeface="黑体" panose="02010609060101010101" pitchFamily="49" charset="-122"/>
              </a:rPr>
              <a:t>棉花等植物花萼的外围还有一轮绿色的瓣片，称副萼</a:t>
            </a:r>
            <a:r>
              <a:rPr lang="zh-CN" altLang="en-US" b="1" dirty="0">
                <a:solidFill>
                  <a:schemeClr val="tx1"/>
                </a:solidFill>
                <a:latin typeface="黑体" panose="02010609060101010101" pitchFamily="49" charset="-122"/>
                <a:ea typeface="黑体" panose="02010609060101010101" pitchFamily="49" charset="-122"/>
              </a:rPr>
              <a:t>。副萼膜质，棉花成熟时易碎，粘附在棉纤维上影响棉花品质，也不利于棉花的机械化采收。</a:t>
            </a:r>
            <a:r>
              <a:rPr lang="zh-CN" altLang="en-US" b="1" dirty="0">
                <a:solidFill>
                  <a:srgbClr val="FF0000"/>
                </a:solidFill>
                <a:latin typeface="黑体" panose="02010609060101010101" pitchFamily="49" charset="-122"/>
                <a:ea typeface="黑体" panose="02010609060101010101" pitchFamily="49" charset="-122"/>
              </a:rPr>
              <a:t>国外所采取的措施是，机械采收前，用专门的化学药品喷洒，使副萼提前脱落</a:t>
            </a:r>
            <a:r>
              <a:rPr lang="zh-CN" altLang="en-US" b="1" dirty="0">
                <a:solidFill>
                  <a:schemeClr val="tx1"/>
                </a:solidFill>
                <a:latin typeface="黑体" panose="02010609060101010101" pitchFamily="49" charset="-122"/>
                <a:ea typeface="黑体" panose="02010609060101010101" pitchFamily="49" charset="-122"/>
              </a:rPr>
              <a:t>；同时，培育新的品种来解决这一问题。 </a:t>
            </a:r>
          </a:p>
        </p:txBody>
      </p:sp>
      <p:pic>
        <p:nvPicPr>
          <p:cNvPr id="551940" name="Picture 4" descr="花萼及副萼－陆地棉1"/>
          <p:cNvPicPr>
            <a:picLocks noChangeAspect="1"/>
          </p:cNvPicPr>
          <p:nvPr/>
        </p:nvPicPr>
        <p:blipFill>
          <a:blip r:embed="rId2"/>
          <a:stretch>
            <a:fillRect/>
          </a:stretch>
        </p:blipFill>
        <p:spPr>
          <a:xfrm>
            <a:off x="5316538" y="0"/>
            <a:ext cx="3827462" cy="2857500"/>
          </a:xfrm>
          <a:prstGeom prst="rect">
            <a:avLst/>
          </a:prstGeom>
          <a:noFill/>
          <a:ln w="9525">
            <a:noFill/>
          </a:ln>
        </p:spPr>
      </p:pic>
      <p:sp>
        <p:nvSpPr>
          <p:cNvPr id="551941" name="Text Box 5"/>
          <p:cNvSpPr txBox="1"/>
          <p:nvPr/>
        </p:nvSpPr>
        <p:spPr>
          <a:xfrm>
            <a:off x="5392738" y="0"/>
            <a:ext cx="3733800" cy="457200"/>
          </a:xfrm>
          <a:prstGeom prst="rect">
            <a:avLst/>
          </a:prstGeom>
          <a:noFill/>
          <a:ln w="9525">
            <a:noFill/>
          </a:ln>
        </p:spPr>
        <p:txBody>
          <a:bodyPr anchor="t" anchorCtr="0">
            <a:spAutoFit/>
          </a:bodyPr>
          <a:lstStyle/>
          <a:p>
            <a:pPr eaLnBrk="0" hangingPunct="0">
              <a:spcBef>
                <a:spcPct val="50000"/>
              </a:spcBef>
            </a:pPr>
            <a:r>
              <a:rPr lang="zh-CN" altLang="en-US" u="sng" dirty="0">
                <a:solidFill>
                  <a:srgbClr val="3333FF"/>
                </a:solidFill>
                <a:latin typeface="华文新魏" panose="02010800040101010101" pitchFamily="2" charset="-122"/>
                <a:ea typeface="华文新魏" panose="02010800040101010101" pitchFamily="2" charset="-122"/>
              </a:rPr>
              <a:t>双被花</a:t>
            </a:r>
            <a:r>
              <a:rPr lang="en-US" altLang="zh-CN" dirty="0">
                <a:solidFill>
                  <a:srgbClr val="FF3300"/>
                </a:solidFill>
                <a:latin typeface="华文新魏" panose="02010800040101010101" pitchFamily="2" charset="-122"/>
                <a:ea typeface="华文新魏" panose="02010800040101010101" pitchFamily="2" charset="-122"/>
              </a:rPr>
              <a:t>: </a:t>
            </a:r>
            <a:r>
              <a:rPr lang="zh-CN" altLang="en-US" dirty="0">
                <a:solidFill>
                  <a:srgbClr val="FF3300"/>
                </a:solidFill>
                <a:latin typeface="华文新魏" panose="02010800040101010101" pitchFamily="2" charset="-122"/>
                <a:ea typeface="华文新魏" panose="02010800040101010101" pitchFamily="2" charset="-122"/>
              </a:rPr>
              <a:t>冠 </a:t>
            </a:r>
            <a:r>
              <a:rPr lang="zh-CN" altLang="en-US" dirty="0">
                <a:solidFill>
                  <a:srgbClr val="3333FF"/>
                </a:solidFill>
                <a:latin typeface="华文新魏" panose="02010800040101010101" pitchFamily="2" charset="-122"/>
                <a:ea typeface="华文新魏" panose="02010800040101010101" pitchFamily="2" charset="-122"/>
              </a:rPr>
              <a:t>萼</a:t>
            </a:r>
            <a:r>
              <a:rPr lang="zh-CN" altLang="en-US" dirty="0">
                <a:solidFill>
                  <a:srgbClr val="FF3300"/>
                </a:solidFill>
                <a:latin typeface="华文新魏" panose="02010800040101010101" pitchFamily="2" charset="-122"/>
                <a:ea typeface="华文新魏" panose="02010800040101010101" pitchFamily="2" charset="-122"/>
              </a:rPr>
              <a:t>           </a:t>
            </a:r>
            <a:r>
              <a:rPr lang="zh-CN" altLang="en-US" dirty="0">
                <a:solidFill>
                  <a:srgbClr val="3333FF"/>
                </a:solidFill>
                <a:latin typeface="华文新魏" panose="02010800040101010101" pitchFamily="2" charset="-122"/>
                <a:ea typeface="华文新魏" panose="02010800040101010101" pitchFamily="2" charset="-122"/>
              </a:rPr>
              <a:t>副萼</a:t>
            </a:r>
          </a:p>
        </p:txBody>
      </p:sp>
      <p:sp>
        <p:nvSpPr>
          <p:cNvPr id="551942" name="Line 6"/>
          <p:cNvSpPr/>
          <p:nvPr/>
        </p:nvSpPr>
        <p:spPr>
          <a:xfrm>
            <a:off x="6726238" y="381000"/>
            <a:ext cx="0" cy="6858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51943" name="Line 7"/>
          <p:cNvSpPr/>
          <p:nvPr/>
        </p:nvSpPr>
        <p:spPr>
          <a:xfrm>
            <a:off x="7069138" y="381000"/>
            <a:ext cx="0" cy="10287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51944" name="Line 8"/>
          <p:cNvSpPr/>
          <p:nvPr/>
        </p:nvSpPr>
        <p:spPr>
          <a:xfrm flipH="1">
            <a:off x="7754938" y="304800"/>
            <a:ext cx="533400" cy="533400"/>
          </a:xfrm>
          <a:prstGeom prst="line">
            <a:avLst/>
          </a:prstGeom>
          <a:ln w="38100" cap="flat" cmpd="sng">
            <a:solidFill>
              <a:srgbClr val="FF3300"/>
            </a:solidFill>
            <a:prstDash val="solid"/>
            <a:round/>
            <a:headEnd type="none" w="med" len="med"/>
            <a:tailEnd type="none" w="med" len="med"/>
          </a:ln>
        </p:spPr>
        <p:txBody>
          <a:bodyPr/>
          <a:lstStyle/>
          <a:p>
            <a:endParaRPr lang="zh-CN" altLang="en-US"/>
          </a:p>
        </p:txBody>
      </p:sp>
      <p:sp>
        <p:nvSpPr>
          <p:cNvPr id="560135" name="Rectangle 10"/>
          <p:cNvSpPr>
            <a:spLocks noGrp="1"/>
          </p:cNvSpPr>
          <p:nvPr>
            <p:ph type="title"/>
          </p:nvPr>
        </p:nvSpPr>
        <p:spPr>
          <a:xfrm>
            <a:off x="-107950" y="304800"/>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0136" name="Text Box 2"/>
          <p:cNvSpPr txBox="1"/>
          <p:nvPr/>
        </p:nvSpPr>
        <p:spPr>
          <a:xfrm>
            <a:off x="-134937" y="-22225"/>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1940"/>
                                        </p:tgtEl>
                                        <p:attrNameLst>
                                          <p:attrName>style.visibility</p:attrName>
                                        </p:attrNameLst>
                                      </p:cBhvr>
                                      <p:to>
                                        <p:strVal val="visible"/>
                                      </p:to>
                                    </p:set>
                                    <p:animEffect transition="in" filter="dissolve">
                                      <p:cBhvr>
                                        <p:cTn id="7" dur="500"/>
                                        <p:tgtEl>
                                          <p:spTgt spid="55194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1941"/>
                                        </p:tgtEl>
                                        <p:attrNameLst>
                                          <p:attrName>style.visibility</p:attrName>
                                        </p:attrNameLst>
                                      </p:cBhvr>
                                      <p:to>
                                        <p:strVal val="visible"/>
                                      </p:to>
                                    </p:set>
                                    <p:animEffect transition="in" filter="wipe(left)">
                                      <p:cBhvr>
                                        <p:cTn id="11" dur="500"/>
                                        <p:tgtEl>
                                          <p:spTgt spid="5519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51942"/>
                                        </p:tgtEl>
                                        <p:attrNameLst>
                                          <p:attrName>style.visibility</p:attrName>
                                        </p:attrNameLst>
                                      </p:cBhvr>
                                      <p:to>
                                        <p:strVal val="visible"/>
                                      </p:to>
                                    </p:set>
                                    <p:animEffect transition="in" filter="wipe(up)">
                                      <p:cBhvr>
                                        <p:cTn id="16" dur="500"/>
                                        <p:tgtEl>
                                          <p:spTgt spid="5519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51943"/>
                                        </p:tgtEl>
                                        <p:attrNameLst>
                                          <p:attrName>style.visibility</p:attrName>
                                        </p:attrNameLst>
                                      </p:cBhvr>
                                      <p:to>
                                        <p:strVal val="visible"/>
                                      </p:to>
                                    </p:set>
                                    <p:animEffect transition="in" filter="wipe(up)">
                                      <p:cBhvr>
                                        <p:cTn id="21" dur="500"/>
                                        <p:tgtEl>
                                          <p:spTgt spid="55194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551944"/>
                                        </p:tgtEl>
                                        <p:attrNameLst>
                                          <p:attrName>style.visibility</p:attrName>
                                        </p:attrNameLst>
                                      </p:cBhvr>
                                      <p:to>
                                        <p:strVal val="visible"/>
                                      </p:to>
                                    </p:set>
                                    <p:animEffect transition="in" filter="wipe(up)">
                                      <p:cBhvr>
                                        <p:cTn id="26" dur="500"/>
                                        <p:tgtEl>
                                          <p:spTgt spid="551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1"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3" name="Rectangle 3"/>
          <p:cNvSpPr>
            <a:spLocks noGrp="1"/>
          </p:cNvSpPr>
          <p:nvPr>
            <p:ph idx="1"/>
          </p:nvPr>
        </p:nvSpPr>
        <p:spPr>
          <a:xfrm>
            <a:off x="-15875" y="1693863"/>
            <a:ext cx="9037638" cy="5157787"/>
          </a:xfrm>
        </p:spPr>
        <p:txBody>
          <a:bodyPr vert="horz" wrap="square" lIns="91440" tIns="45720" rIns="91440" bIns="45720" anchor="t" anchorCtr="0"/>
          <a:lstStyle/>
          <a:p>
            <a:pPr eaLnBrk="1" hangingPunct="1">
              <a:buNone/>
            </a:pPr>
            <a:r>
              <a:rPr lang="en-US" altLang="zh-CN" b="1" dirty="0">
                <a:solidFill>
                  <a:srgbClr val="3333FF"/>
                </a:solidFill>
                <a:latin typeface="黑体" panose="02010609060101010101" pitchFamily="49" charset="-122"/>
                <a:ea typeface="黑体" panose="02010609060101010101" pitchFamily="49" charset="-122"/>
              </a:rPr>
              <a:t>  2.</a:t>
            </a:r>
            <a:r>
              <a:rPr lang="zh-CN" altLang="en-US" b="1" dirty="0">
                <a:solidFill>
                  <a:srgbClr val="3333FF"/>
                </a:solidFill>
                <a:latin typeface="黑体" panose="02010609060101010101" pitchFamily="49" charset="-122"/>
                <a:ea typeface="黑体" panose="02010609060101010101" pitchFamily="49" charset="-122"/>
              </a:rPr>
              <a:t>花被</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3333FF"/>
                </a:solidFill>
                <a:latin typeface="黑体" panose="02010609060101010101" pitchFamily="49" charset="-122"/>
                <a:ea typeface="黑体" panose="02010609060101010101" pitchFamily="49" charset="-122"/>
              </a:rPr>
              <a:t>花冠</a:t>
            </a:r>
          </a:p>
          <a:p>
            <a:pPr eaLnBrk="1" hangingPunct="1"/>
            <a:r>
              <a:rPr lang="zh-CN" altLang="en-US" b="1" dirty="0">
                <a:solidFill>
                  <a:srgbClr val="FF3300"/>
                </a:solidFill>
                <a:latin typeface="黑体" panose="02010609060101010101" pitchFamily="49" charset="-122"/>
                <a:ea typeface="黑体" panose="02010609060101010101" pitchFamily="49" charset="-122"/>
              </a:rPr>
              <a:t>定义：</a:t>
            </a:r>
            <a:r>
              <a:rPr lang="zh-CN" altLang="en-US" b="1" dirty="0">
                <a:solidFill>
                  <a:srgbClr val="3333FF"/>
                </a:solidFill>
                <a:latin typeface="黑体" panose="02010609060101010101" pitchFamily="49" charset="-122"/>
                <a:ea typeface="黑体" panose="02010609060101010101" pitchFamily="49" charset="-122"/>
              </a:rPr>
              <a:t>一朵花上所有花瓣的总称。</a:t>
            </a:r>
            <a:r>
              <a:rPr lang="zh-CN" altLang="en-US" b="1" dirty="0">
                <a:solidFill>
                  <a:schemeClr val="tx1"/>
                </a:solidFill>
                <a:latin typeface="黑体" panose="02010609060101010101" pitchFamily="49" charset="-122"/>
                <a:ea typeface="黑体" panose="02010609060101010101" pitchFamily="49" charset="-122"/>
              </a:rPr>
              <a:t>为花托以上由外到内的第二轮结构，由一轮至几轮组成。</a:t>
            </a:r>
          </a:p>
          <a:p>
            <a:pPr eaLnBrk="1" hangingPunct="1"/>
            <a:r>
              <a:rPr lang="zh-CN" altLang="en-US" b="1" dirty="0">
                <a:solidFill>
                  <a:srgbClr val="FF3300"/>
                </a:solidFill>
                <a:latin typeface="黑体" panose="02010609060101010101" pitchFamily="49" charset="-122"/>
                <a:ea typeface="黑体" panose="02010609060101010101" pitchFamily="49" charset="-122"/>
              </a:rPr>
              <a:t>形态特征：</a:t>
            </a:r>
            <a:r>
              <a:rPr lang="zh-CN" altLang="en-US" b="1" dirty="0">
                <a:solidFill>
                  <a:srgbClr val="3333FF"/>
                </a:solidFill>
                <a:latin typeface="黑体" panose="02010609060101010101" pitchFamily="49" charset="-122"/>
                <a:ea typeface="黑体" panose="02010609060101010101" pitchFamily="49" charset="-122"/>
              </a:rPr>
              <a:t>花瓣比萼片薄，主要由薄壁细胞组成。花瓣多具鲜艳色彩。有的花瓣表皮细胞呈凹凸不平状，经光线折射后，呈现丝绒般光泽。</a:t>
            </a:r>
          </a:p>
        </p:txBody>
      </p:sp>
      <p:sp>
        <p:nvSpPr>
          <p:cNvPr id="561154" name="Rectangle 10"/>
          <p:cNvSpPr>
            <a:spLocks noGrp="1"/>
          </p:cNvSpPr>
          <p:nvPr>
            <p:ph type="title"/>
          </p:nvPr>
        </p:nvSpPr>
        <p:spPr>
          <a:xfrm>
            <a:off x="-122237" y="51752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1155" name="Text Box 2"/>
          <p:cNvSpPr txBox="1"/>
          <p:nvPr/>
        </p:nvSpPr>
        <p:spPr>
          <a:xfrm>
            <a:off x="-122237" y="192088"/>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5019" name="Group 11"/>
          <p:cNvGrpSpPr/>
          <p:nvPr/>
        </p:nvGrpSpPr>
        <p:grpSpPr>
          <a:xfrm>
            <a:off x="5715000" y="0"/>
            <a:ext cx="3429000" cy="2819400"/>
            <a:chOff x="4224" y="0"/>
            <a:chExt cx="1536" cy="1308"/>
          </a:xfrm>
        </p:grpSpPr>
        <p:pic>
          <p:nvPicPr>
            <p:cNvPr id="562178" name="Picture 2" descr="合瓣花　花色由花青素决定"/>
            <p:cNvPicPr>
              <a:picLocks noChangeAspect="1"/>
            </p:cNvPicPr>
            <p:nvPr/>
          </p:nvPicPr>
          <p:blipFill>
            <a:blip r:embed="rId3"/>
            <a:stretch>
              <a:fillRect/>
            </a:stretch>
          </p:blipFill>
          <p:spPr>
            <a:xfrm>
              <a:off x="4224" y="0"/>
              <a:ext cx="1536" cy="1308"/>
            </a:xfrm>
            <a:prstGeom prst="rect">
              <a:avLst/>
            </a:prstGeom>
            <a:noFill/>
            <a:ln w="9525">
              <a:noFill/>
            </a:ln>
          </p:spPr>
        </p:pic>
        <p:sp>
          <p:nvSpPr>
            <p:cNvPr id="562179" name="Text Box 8"/>
            <p:cNvSpPr txBox="1"/>
            <p:nvPr/>
          </p:nvSpPr>
          <p:spPr>
            <a:xfrm>
              <a:off x="4656" y="816"/>
              <a:ext cx="816" cy="227"/>
            </a:xfrm>
            <a:prstGeom prst="rect">
              <a:avLst/>
            </a:prstGeom>
            <a:noFill/>
            <a:ln w="9525">
              <a:noFill/>
            </a:ln>
          </p:spPr>
          <p:txBody>
            <a:bodyPr anchor="t" anchorCtr="0">
              <a:spAutoFit/>
            </a:bodyPr>
            <a:lstStyle/>
            <a:p>
              <a:pPr eaLnBrk="0" hangingPunct="0">
                <a:spcBef>
                  <a:spcPct val="50000"/>
                </a:spcBef>
              </a:pPr>
              <a:r>
                <a:rPr lang="zh-CN" altLang="en-US" sz="2600" dirty="0">
                  <a:solidFill>
                    <a:srgbClr val="FFFF66"/>
                  </a:solidFill>
                  <a:latin typeface="Times New Roman" panose="02020603050405020304" pitchFamily="18" charset="0"/>
                  <a:ea typeface="华文新魏" panose="02010800040101010101" pitchFamily="2" charset="-122"/>
                </a:rPr>
                <a:t>合瓣花</a:t>
              </a:r>
            </a:p>
          </p:txBody>
        </p:sp>
      </p:grpSp>
      <p:sp>
        <p:nvSpPr>
          <p:cNvPr id="562180" name="Rectangle 4"/>
          <p:cNvSpPr>
            <a:spLocks noGrp="1"/>
          </p:cNvSpPr>
          <p:nvPr>
            <p:ph idx="1"/>
          </p:nvPr>
        </p:nvSpPr>
        <p:spPr>
          <a:xfrm>
            <a:off x="34925" y="1497013"/>
            <a:ext cx="9144000" cy="5313362"/>
          </a:xfrm>
        </p:spPr>
        <p:txBody>
          <a:bodyPr vert="horz" wrap="square" lIns="91440" tIns="45720" rIns="91440" bIns="45720" anchor="t" anchorCtr="0"/>
          <a:lstStyle/>
          <a:p>
            <a:pPr eaLnBrk="1" hangingPunct="1">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花被</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花冠</a:t>
            </a:r>
          </a:p>
          <a:p>
            <a:pPr eaLnBrk="1" hangingPunct="1"/>
            <a:r>
              <a:rPr lang="zh-CN" altLang="en-US" b="1" dirty="0">
                <a:solidFill>
                  <a:srgbClr val="FF3300"/>
                </a:solidFill>
                <a:latin typeface="黑体" panose="02010609060101010101" pitchFamily="49" charset="-122"/>
                <a:ea typeface="黑体" panose="02010609060101010101" pitchFamily="49" charset="-122"/>
              </a:rPr>
              <a:t>花瓣类型：</a:t>
            </a:r>
          </a:p>
          <a:p>
            <a:pPr lvl="1" eaLnBrk="1" hangingPunct="1">
              <a:lnSpc>
                <a:spcPct val="80000"/>
              </a:lnSpc>
            </a:pPr>
            <a:r>
              <a:rPr lang="zh-CN" altLang="en-US" b="1" dirty="0">
                <a:solidFill>
                  <a:srgbClr val="0000FF"/>
                </a:solidFill>
                <a:latin typeface="黑体" panose="02010609060101010101" pitchFamily="49" charset="-122"/>
                <a:ea typeface="黑体" panose="02010609060101010101" pitchFamily="49" charset="-122"/>
              </a:rPr>
              <a:t>据花瓣</a:t>
            </a:r>
            <a:r>
              <a:rPr lang="zh-CN" altLang="en-US" b="1" dirty="0">
                <a:solidFill>
                  <a:schemeClr val="tx1"/>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合瓣花：</a:t>
            </a:r>
            <a:r>
              <a:rPr lang="zh-CN" altLang="en-US" b="1" dirty="0">
                <a:solidFill>
                  <a:schemeClr val="tx1"/>
                </a:solidFill>
                <a:latin typeface="黑体" panose="02010609060101010101" pitchFamily="49" charset="-122"/>
                <a:ea typeface="黑体" panose="02010609060101010101" pitchFamily="49" charset="-122"/>
              </a:rPr>
              <a:t>如牵牛、茄等。</a:t>
            </a:r>
          </a:p>
          <a:p>
            <a:pPr lvl="1" eaLnBrk="1" hangingPunct="1">
              <a:lnSpc>
                <a:spcPct val="80000"/>
              </a:lnSpc>
              <a:buNone/>
            </a:pPr>
            <a:r>
              <a:rPr lang="zh-CN" altLang="en-US" b="1" dirty="0">
                <a:solidFill>
                  <a:schemeClr val="tx1"/>
                </a:solidFill>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rPr>
              <a:t>是否联合</a:t>
            </a:r>
            <a:r>
              <a:rPr lang="zh-CN" altLang="en-US" b="1" dirty="0">
                <a:solidFill>
                  <a:schemeClr val="tx1"/>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离瓣花：</a:t>
            </a:r>
            <a:r>
              <a:rPr lang="zh-CN" altLang="en-US" b="1" dirty="0">
                <a:solidFill>
                  <a:schemeClr val="tx1"/>
                </a:solidFill>
                <a:latin typeface="黑体" panose="02010609060101010101" pitchFamily="49" charset="-122"/>
                <a:ea typeface="黑体" panose="02010609060101010101" pitchFamily="49" charset="-122"/>
              </a:rPr>
              <a:t>如桃、毛茛等</a:t>
            </a:r>
          </a:p>
          <a:p>
            <a:pPr lvl="1" eaLnBrk="1" hangingPunct="1"/>
            <a:r>
              <a:rPr lang="zh-CN" altLang="en-US" b="1" dirty="0">
                <a:solidFill>
                  <a:schemeClr val="tx1"/>
                </a:solidFill>
                <a:latin typeface="黑体" panose="02010609060101010101" pitchFamily="49" charset="-122"/>
                <a:ea typeface="黑体" panose="02010609060101010101" pitchFamily="49" charset="-122"/>
              </a:rPr>
              <a:t>同样，根据花瓣大小是否相同，分为</a:t>
            </a:r>
            <a:r>
              <a:rPr lang="zh-CN" altLang="en-US" b="1" dirty="0">
                <a:solidFill>
                  <a:srgbClr val="FF0000"/>
                </a:solidFill>
                <a:latin typeface="黑体" panose="02010609060101010101" pitchFamily="49" charset="-122"/>
                <a:ea typeface="黑体" panose="02010609060101010101" pitchFamily="49" charset="-122"/>
              </a:rPr>
              <a:t>整齐花</a:t>
            </a:r>
            <a:r>
              <a:rPr lang="zh-CN" altLang="en-US" b="1" dirty="0">
                <a:solidFill>
                  <a:schemeClr val="tx1"/>
                </a:solidFill>
                <a:latin typeface="黑体" panose="02010609060101010101" pitchFamily="49" charset="-122"/>
                <a:ea typeface="黑体" panose="02010609060101010101" pitchFamily="49" charset="-122"/>
              </a:rPr>
              <a:t>和</a:t>
            </a:r>
            <a:r>
              <a:rPr lang="zh-CN" altLang="en-US" b="1" dirty="0">
                <a:solidFill>
                  <a:srgbClr val="FF0000"/>
                </a:solidFill>
                <a:latin typeface="黑体" panose="02010609060101010101" pitchFamily="49" charset="-122"/>
                <a:ea typeface="黑体" panose="02010609060101010101" pitchFamily="49" charset="-122"/>
              </a:rPr>
              <a:t>不整齐花</a:t>
            </a:r>
            <a:r>
              <a:rPr lang="zh-CN" altLang="en-US" b="1" dirty="0">
                <a:solidFill>
                  <a:schemeClr val="tx1"/>
                </a:solidFill>
                <a:latin typeface="黑体" panose="02010609060101010101" pitchFamily="49" charset="-122"/>
                <a:ea typeface="黑体" panose="02010609060101010101" pitchFamily="49" charset="-122"/>
              </a:rPr>
              <a:t>；</a:t>
            </a:r>
            <a:endParaRPr lang="en-US" altLang="zh-CN" b="1" dirty="0">
              <a:solidFill>
                <a:schemeClr val="tx1"/>
              </a:solidFill>
              <a:latin typeface="黑体" panose="02010609060101010101" pitchFamily="49" charset="-122"/>
              <a:ea typeface="黑体" panose="02010609060101010101" pitchFamily="49" charset="-122"/>
            </a:endParaRPr>
          </a:p>
          <a:p>
            <a:pPr lvl="1" eaLnBrk="1" hangingPunct="1"/>
            <a:r>
              <a:rPr lang="zh-CN" altLang="en-US" b="1" dirty="0">
                <a:solidFill>
                  <a:srgbClr val="FF3300"/>
                </a:solidFill>
                <a:latin typeface="黑体" panose="02010609060101010101" pitchFamily="49" charset="-122"/>
                <a:ea typeface="黑体" panose="02010609060101010101" pitchFamily="49" charset="-122"/>
              </a:rPr>
              <a:t>花冠形态类型：</a:t>
            </a:r>
            <a:r>
              <a:rPr lang="zh-CN" altLang="en-US" b="1" dirty="0">
                <a:latin typeface="黑体" panose="02010609060101010101" pitchFamily="49" charset="-122"/>
                <a:ea typeface="黑体" panose="02010609060101010101" pitchFamily="49" charset="-122"/>
              </a:rPr>
              <a:t>由于组成花冠的花瓣形状、大小相同或各异，花瓣各自分离或彼此联合，使花冠形成多种不同类型：十字形花冠、蝶形花冠、漏斗状花冠、钟状花冠、管状花冠、唇形花冠等等。</a:t>
            </a:r>
          </a:p>
          <a:p>
            <a:pPr lvl="1" eaLnBrk="1" hangingPunct="1"/>
            <a:r>
              <a:rPr lang="zh-CN" altLang="en-US" b="1" dirty="0">
                <a:solidFill>
                  <a:srgbClr val="FF0000"/>
                </a:solidFill>
                <a:latin typeface="黑体" panose="02010609060101010101" pitchFamily="49" charset="-122"/>
                <a:ea typeface="黑体" panose="02010609060101010101" pitchFamily="49" charset="-122"/>
              </a:rPr>
              <a:t>花冠的色彩和其上蜜腺对花的传粉起很关键的作用。 </a:t>
            </a:r>
          </a:p>
        </p:txBody>
      </p:sp>
      <p:sp>
        <p:nvSpPr>
          <p:cNvPr id="562181" name="AutoShape 5"/>
          <p:cNvSpPr/>
          <p:nvPr/>
        </p:nvSpPr>
        <p:spPr>
          <a:xfrm>
            <a:off x="2051050" y="2497138"/>
            <a:ext cx="152400" cy="644525"/>
          </a:xfrm>
          <a:prstGeom prst="leftBrace">
            <a:avLst>
              <a:gd name="adj1" fmla="val 34890"/>
              <a:gd name="adj2" fmla="val 50000"/>
            </a:avLst>
          </a:prstGeom>
          <a:noFill/>
          <a:ln w="38100"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grpSp>
        <p:nvGrpSpPr>
          <p:cNvPr id="555020" name="Group 12"/>
          <p:cNvGrpSpPr/>
          <p:nvPr/>
        </p:nvGrpSpPr>
        <p:grpSpPr>
          <a:xfrm>
            <a:off x="5715000" y="0"/>
            <a:ext cx="3429000" cy="2819400"/>
            <a:chOff x="4224" y="0"/>
            <a:chExt cx="1536" cy="1152"/>
          </a:xfrm>
        </p:grpSpPr>
        <p:pic>
          <p:nvPicPr>
            <p:cNvPr id="562183" name="Picture 6" descr="百合科 黄花菜2"/>
            <p:cNvPicPr>
              <a:picLocks noChangeAspect="1"/>
            </p:cNvPicPr>
            <p:nvPr/>
          </p:nvPicPr>
          <p:blipFill>
            <a:blip r:embed="rId4"/>
            <a:stretch>
              <a:fillRect/>
            </a:stretch>
          </p:blipFill>
          <p:spPr>
            <a:xfrm>
              <a:off x="4224" y="0"/>
              <a:ext cx="1536" cy="1152"/>
            </a:xfrm>
            <a:prstGeom prst="rect">
              <a:avLst/>
            </a:prstGeom>
            <a:noFill/>
            <a:ln w="9525">
              <a:noFill/>
            </a:ln>
          </p:spPr>
        </p:pic>
        <p:sp>
          <p:nvSpPr>
            <p:cNvPr id="562184" name="Text Box 7"/>
            <p:cNvSpPr txBox="1"/>
            <p:nvPr/>
          </p:nvSpPr>
          <p:spPr>
            <a:xfrm>
              <a:off x="4512" y="412"/>
              <a:ext cx="816" cy="200"/>
            </a:xfrm>
            <a:prstGeom prst="rect">
              <a:avLst/>
            </a:prstGeom>
            <a:noFill/>
            <a:ln w="9525">
              <a:noFill/>
            </a:ln>
          </p:spPr>
          <p:txBody>
            <a:bodyPr anchor="t" anchorCtr="0">
              <a:spAutoFit/>
            </a:bodyPr>
            <a:lstStyle/>
            <a:p>
              <a:pPr eaLnBrk="0" hangingPunct="0">
                <a:spcBef>
                  <a:spcPct val="50000"/>
                </a:spcBef>
              </a:pPr>
              <a:r>
                <a:rPr lang="zh-CN" altLang="en-US" sz="2600" dirty="0">
                  <a:solidFill>
                    <a:srgbClr val="FFFF00"/>
                  </a:solidFill>
                  <a:latin typeface="Times New Roman" panose="02020603050405020304" pitchFamily="18" charset="0"/>
                  <a:ea typeface="华文新魏" panose="02010800040101010101" pitchFamily="2" charset="-122"/>
                </a:rPr>
                <a:t>离瓣花</a:t>
              </a:r>
            </a:p>
          </p:txBody>
        </p:sp>
      </p:grpSp>
      <p:sp>
        <p:nvSpPr>
          <p:cNvPr id="562185" name="Rectangle 10"/>
          <p:cNvSpPr>
            <a:spLocks noGrp="1"/>
          </p:cNvSpPr>
          <p:nvPr>
            <p:ph type="title"/>
          </p:nvPr>
        </p:nvSpPr>
        <p:spPr>
          <a:xfrm>
            <a:off x="-252412" y="37147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2186" name="Text Box 2"/>
          <p:cNvSpPr txBox="1"/>
          <p:nvPr/>
        </p:nvSpPr>
        <p:spPr>
          <a:xfrm>
            <a:off x="-306387" y="58738"/>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5019"/>
                                        </p:tgtEl>
                                        <p:attrNameLst>
                                          <p:attrName>style.visibility</p:attrName>
                                        </p:attrNameLst>
                                      </p:cBhvr>
                                      <p:to>
                                        <p:strVal val="visible"/>
                                      </p:to>
                                    </p:set>
                                    <p:animEffect transition="in" filter="dissolve">
                                      <p:cBhvr>
                                        <p:cTn id="7" dur="500"/>
                                        <p:tgtEl>
                                          <p:spTgt spid="555019"/>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55020"/>
                                        </p:tgtEl>
                                        <p:attrNameLst>
                                          <p:attrName>style.visibility</p:attrName>
                                        </p:attrNameLst>
                                      </p:cBhvr>
                                      <p:to>
                                        <p:strVal val="visible"/>
                                      </p:to>
                                    </p:set>
                                    <p:anim calcmode="lin" valueType="num">
                                      <p:cBhvr>
                                        <p:cTn id="12" dur="500" fill="hold"/>
                                        <p:tgtEl>
                                          <p:spTgt spid="555020"/>
                                        </p:tgtEl>
                                        <p:attrNameLst>
                                          <p:attrName>ppt_w</p:attrName>
                                        </p:attrNameLst>
                                      </p:cBhvr>
                                      <p:tavLst>
                                        <p:tav tm="0">
                                          <p:val>
                                            <p:fltVal val="0"/>
                                          </p:val>
                                        </p:tav>
                                        <p:tav tm="100000">
                                          <p:val>
                                            <p:strVal val="#ppt_w"/>
                                          </p:val>
                                        </p:tav>
                                      </p:tavLst>
                                    </p:anim>
                                    <p:anim calcmode="lin" valueType="num">
                                      <p:cBhvr>
                                        <p:cTn id="13" dur="500" fill="hold"/>
                                        <p:tgtEl>
                                          <p:spTgt spid="55502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1" name="Rectangle 3"/>
          <p:cNvSpPr>
            <a:spLocks noGrp="1"/>
          </p:cNvSpPr>
          <p:nvPr>
            <p:ph idx="1"/>
          </p:nvPr>
        </p:nvSpPr>
        <p:spPr>
          <a:xfrm>
            <a:off x="0" y="1844675"/>
            <a:ext cx="9144000" cy="5013325"/>
          </a:xfrm>
        </p:spPr>
        <p:txBody>
          <a:bodyPr vert="horz" wrap="square" lIns="91440" tIns="45720" rIns="91440" bIns="45720" anchor="t" anchorCtr="0"/>
          <a:lstStyle/>
          <a:p>
            <a:pPr eaLnBrk="1" hangingPunct="1">
              <a:buNone/>
            </a:pPr>
            <a:r>
              <a:rPr lang="en-US" altLang="zh-CN" dirty="0">
                <a:solidFill>
                  <a:srgbClr val="3333FF"/>
                </a:solidFill>
                <a:latin typeface="华文新魏" panose="02010800040101010101" pitchFamily="2" charset="-122"/>
              </a:rPr>
              <a:t>  </a:t>
            </a:r>
            <a:r>
              <a:rPr lang="en-US" altLang="zh-CN" b="1" dirty="0">
                <a:solidFill>
                  <a:srgbClr val="3333FF"/>
                </a:solidFill>
                <a:latin typeface="黑体" panose="02010609060101010101" pitchFamily="49" charset="-122"/>
                <a:ea typeface="黑体" panose="02010609060101010101" pitchFamily="49" charset="-122"/>
              </a:rPr>
              <a:t>3.</a:t>
            </a:r>
            <a:r>
              <a:rPr lang="zh-CN" altLang="en-US" b="1" dirty="0">
                <a:solidFill>
                  <a:srgbClr val="3333FF"/>
                </a:solidFill>
                <a:latin typeface="黑体" panose="02010609060101010101" pitchFamily="49" charset="-122"/>
                <a:ea typeface="黑体" panose="02010609060101010101" pitchFamily="49" charset="-122"/>
              </a:rPr>
              <a:t>雄蕊群</a:t>
            </a:r>
          </a:p>
          <a:p>
            <a:pPr eaLnBrk="1" hangingPunct="1">
              <a:lnSpc>
                <a:spcPct val="80000"/>
              </a:lnSpc>
            </a:pPr>
            <a:r>
              <a:rPr lang="zh-CN" altLang="en-US" sz="2400" b="1" dirty="0">
                <a:solidFill>
                  <a:srgbClr val="3333FF"/>
                </a:solidFill>
                <a:latin typeface="黑体" panose="02010609060101010101" pitchFamily="49" charset="-122"/>
                <a:ea typeface="黑体" panose="02010609060101010101" pitchFamily="49" charset="-122"/>
              </a:rPr>
              <a:t>定义：</a:t>
            </a:r>
            <a:r>
              <a:rPr lang="zh-CN" altLang="en-US" sz="2400" b="1" u="sng" dirty="0">
                <a:solidFill>
                  <a:srgbClr val="3333FF"/>
                </a:solidFill>
                <a:latin typeface="黑体" panose="02010609060101010101" pitchFamily="49" charset="-122"/>
                <a:ea typeface="黑体" panose="02010609060101010101" pitchFamily="49" charset="-122"/>
              </a:rPr>
              <a:t>一朵花上所有雄蕊的总称</a:t>
            </a:r>
            <a:r>
              <a:rPr lang="zh-CN" altLang="en-US" sz="2400" b="1" dirty="0">
                <a:solidFill>
                  <a:srgbClr val="3333FF"/>
                </a:solidFill>
                <a:latin typeface="黑体" panose="02010609060101010101" pitchFamily="49" charset="-122"/>
                <a:ea typeface="黑体" panose="02010609060101010101" pitchFamily="49" charset="-122"/>
              </a:rPr>
              <a:t>。生于花冠内，螺旋或轮状排列。</a:t>
            </a:r>
          </a:p>
          <a:p>
            <a:pPr lvl="1" eaLnBrk="1" hangingPunct="1"/>
            <a:r>
              <a:rPr lang="zh-CN" altLang="en-US" b="1" dirty="0">
                <a:solidFill>
                  <a:schemeClr val="tx1"/>
                </a:solidFill>
                <a:latin typeface="黑体" panose="02010609060101010101" pitchFamily="49" charset="-122"/>
                <a:ea typeface="黑体" panose="02010609060101010101" pitchFamily="49" charset="-122"/>
              </a:rPr>
              <a:t>雄蕊是是花上的</a:t>
            </a:r>
            <a:r>
              <a:rPr lang="zh-CN" altLang="en-US" b="1" dirty="0">
                <a:solidFill>
                  <a:srgbClr val="FF00FF"/>
                </a:solidFill>
                <a:latin typeface="黑体" panose="02010609060101010101" pitchFamily="49" charset="-122"/>
                <a:ea typeface="黑体" panose="02010609060101010101" pitchFamily="49" charset="-122"/>
              </a:rPr>
              <a:t>变态可育叶</a:t>
            </a:r>
            <a:r>
              <a:rPr lang="zh-CN" altLang="en-US" b="1" dirty="0">
                <a:solidFill>
                  <a:schemeClr val="tx1"/>
                </a:solidFill>
                <a:latin typeface="黑体" panose="02010609060101010101" pitchFamily="49" charset="-122"/>
                <a:ea typeface="黑体" panose="02010609060101010101" pitchFamily="49" charset="-122"/>
              </a:rPr>
              <a:t>。薄片状或特化为花瓣，如重瓣桃花。这些可以作为雄蕊是变态叶的佐证。</a:t>
            </a:r>
          </a:p>
          <a:p>
            <a:pPr eaLnBrk="1" hangingPunct="1">
              <a:lnSpc>
                <a:spcPct val="80000"/>
              </a:lnSpc>
            </a:pPr>
            <a:r>
              <a:rPr lang="zh-CN" altLang="en-US" sz="2400" b="1" dirty="0">
                <a:solidFill>
                  <a:schemeClr val="tx2"/>
                </a:solidFill>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雄蕊的</a:t>
            </a:r>
            <a:r>
              <a:rPr lang="zh-CN" altLang="en-US" sz="2400" b="1" dirty="0">
                <a:solidFill>
                  <a:schemeClr val="tx2"/>
                </a:solidFill>
                <a:latin typeface="黑体" panose="02010609060101010101" pitchFamily="49" charset="-122"/>
                <a:ea typeface="黑体" panose="02010609060101010101" pitchFamily="49" charset="-122"/>
              </a:rPr>
              <a:t>  </a:t>
            </a:r>
            <a:r>
              <a:rPr lang="zh-CN" altLang="en-US" sz="2400" b="1" dirty="0">
                <a:solidFill>
                  <a:srgbClr val="FF3300"/>
                </a:solidFill>
                <a:latin typeface="黑体" panose="02010609060101010101" pitchFamily="49" charset="-122"/>
                <a:ea typeface="黑体" panose="02010609060101010101" pitchFamily="49" charset="-122"/>
              </a:rPr>
              <a:t>花丝</a:t>
            </a:r>
            <a:r>
              <a:rPr lang="zh-CN" altLang="en-US" sz="2400" b="1" dirty="0">
                <a:solidFill>
                  <a:schemeClr val="tx2"/>
                </a:solidFill>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花丝细长，顶端与花药相连。相当于叶柄。</a:t>
            </a:r>
          </a:p>
          <a:p>
            <a:pPr eaLnBrk="1" hangingPunct="1">
              <a:lnSpc>
                <a:spcPct val="80000"/>
              </a:lnSpc>
              <a:buNone/>
            </a:pPr>
            <a:r>
              <a:rPr lang="zh-CN" altLang="en-US" sz="2400" b="1" dirty="0">
                <a:latin typeface="黑体" panose="02010609060101010101" pitchFamily="49" charset="-122"/>
                <a:ea typeface="黑体" panose="02010609060101010101" pitchFamily="49" charset="-122"/>
              </a:rPr>
              <a:t>     组成  </a:t>
            </a:r>
            <a:r>
              <a:rPr lang="zh-CN" altLang="en-US" sz="2400" b="1" dirty="0">
                <a:solidFill>
                  <a:srgbClr val="FF3300"/>
                </a:solidFill>
                <a:latin typeface="黑体" panose="02010609060101010101" pitchFamily="49" charset="-122"/>
                <a:ea typeface="黑体" panose="02010609060101010101" pitchFamily="49" charset="-122"/>
              </a:rPr>
              <a:t>花药</a:t>
            </a:r>
            <a:r>
              <a:rPr lang="zh-CN" altLang="en-US" sz="2400" b="1" dirty="0">
                <a:latin typeface="黑体" panose="02010609060101010101" pitchFamily="49" charset="-122"/>
                <a:ea typeface="黑体" panose="02010609060101010101" pitchFamily="49" charset="-122"/>
              </a:rPr>
              <a:t>：产生花粉粒的地方，为雄蕊的主要部分，由</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个</a:t>
            </a:r>
          </a:p>
          <a:p>
            <a:pPr eaLnBrk="1" hangingPunct="1">
              <a:lnSpc>
                <a:spcPct val="80000"/>
              </a:lnSpc>
              <a:buNone/>
            </a:pPr>
            <a:r>
              <a:rPr lang="zh-CN" altLang="en-US" sz="2400" b="1" dirty="0">
                <a:latin typeface="黑体" panose="02010609060101010101" pitchFamily="49" charset="-122"/>
                <a:ea typeface="黑体" panose="02010609060101010101" pitchFamily="49" charset="-122"/>
              </a:rPr>
              <a:t>                 或</a:t>
            </a: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个花粉囊组成，分为两半，中间为药隔相连</a:t>
            </a:r>
            <a:r>
              <a:rPr lang="zh-CN" altLang="en-US" sz="2400" b="1" dirty="0">
                <a:solidFill>
                  <a:schemeClr val="tx2"/>
                </a:solidFill>
                <a:latin typeface="黑体" panose="02010609060101010101" pitchFamily="49" charset="-122"/>
                <a:ea typeface="黑体" panose="02010609060101010101" pitchFamily="49" charset="-122"/>
              </a:rPr>
              <a:t>。</a:t>
            </a:r>
          </a:p>
        </p:txBody>
      </p:sp>
      <p:sp>
        <p:nvSpPr>
          <p:cNvPr id="563202" name="AutoShape 4"/>
          <p:cNvSpPr/>
          <p:nvPr/>
        </p:nvSpPr>
        <p:spPr>
          <a:xfrm>
            <a:off x="1547813" y="3500438"/>
            <a:ext cx="152400" cy="685800"/>
          </a:xfrm>
          <a:prstGeom prst="leftBrace">
            <a:avLst>
              <a:gd name="adj1" fmla="val 37500"/>
              <a:gd name="adj2" fmla="val 50000"/>
            </a:avLst>
          </a:prstGeom>
          <a:noFill/>
          <a:ln w="38100"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pic>
        <p:nvPicPr>
          <p:cNvPr id="563203" name="Picture 5" descr="花托杯状－李属"/>
          <p:cNvPicPr>
            <a:picLocks noChangeAspect="1"/>
          </p:cNvPicPr>
          <p:nvPr/>
        </p:nvPicPr>
        <p:blipFill>
          <a:blip r:embed="rId2"/>
          <a:stretch>
            <a:fillRect/>
          </a:stretch>
        </p:blipFill>
        <p:spPr>
          <a:xfrm>
            <a:off x="7235825" y="0"/>
            <a:ext cx="1512888" cy="2232025"/>
          </a:xfrm>
          <a:prstGeom prst="rect">
            <a:avLst/>
          </a:prstGeom>
          <a:noFill/>
          <a:ln w="9525">
            <a:noFill/>
          </a:ln>
        </p:spPr>
      </p:pic>
      <p:sp>
        <p:nvSpPr>
          <p:cNvPr id="563204" name="Rectangle 10"/>
          <p:cNvSpPr>
            <a:spLocks noGrp="1"/>
          </p:cNvSpPr>
          <p:nvPr>
            <p:ph type="title"/>
          </p:nvPr>
        </p:nvSpPr>
        <p:spPr>
          <a:xfrm>
            <a:off x="-252412" y="70167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3205" name="Text Box 2"/>
          <p:cNvSpPr txBox="1"/>
          <p:nvPr/>
        </p:nvSpPr>
        <p:spPr>
          <a:xfrm>
            <a:off x="-301625" y="409575"/>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5" name="Rectangle 3"/>
          <p:cNvSpPr>
            <a:spLocks noGrp="1"/>
          </p:cNvSpPr>
          <p:nvPr>
            <p:ph idx="1"/>
          </p:nvPr>
        </p:nvSpPr>
        <p:spPr>
          <a:xfrm>
            <a:off x="0" y="1341438"/>
            <a:ext cx="9144000" cy="5181600"/>
          </a:xfrm>
        </p:spPr>
        <p:txBody>
          <a:bodyPr vert="horz" wrap="square" lIns="91440" tIns="45720" rIns="91440" bIns="45720" anchor="t" anchorCtr="0"/>
          <a:lstStyle/>
          <a:p>
            <a:pPr eaLnBrk="1" hangingPunct="1">
              <a:buNone/>
            </a:pPr>
            <a:r>
              <a:rPr lang="en-US" altLang="zh-CN" dirty="0">
                <a:solidFill>
                  <a:srgbClr val="3333FF"/>
                </a:solidFill>
                <a:latin typeface="华文新魏" panose="02010800040101010101" pitchFamily="2" charset="-122"/>
              </a:rPr>
              <a:t>  3.</a:t>
            </a:r>
            <a:r>
              <a:rPr lang="zh-CN" altLang="en-US" dirty="0">
                <a:solidFill>
                  <a:srgbClr val="3333FF"/>
                </a:solidFill>
                <a:latin typeface="华文新魏" panose="02010800040101010101" pitchFamily="2" charset="-122"/>
              </a:rPr>
              <a:t>雄蕊群</a:t>
            </a:r>
          </a:p>
          <a:p>
            <a:pPr eaLnBrk="1" hangingPunct="1">
              <a:lnSpc>
                <a:spcPct val="80000"/>
              </a:lnSpc>
            </a:pPr>
            <a:r>
              <a:rPr lang="zh-CN" altLang="en-US" sz="2400" u="sng" dirty="0">
                <a:solidFill>
                  <a:srgbClr val="3333FF"/>
                </a:solidFill>
                <a:latin typeface="华文新魏" panose="02010800040101010101" pitchFamily="2" charset="-122"/>
              </a:rPr>
              <a:t>花药类型</a:t>
            </a:r>
            <a:r>
              <a:rPr lang="zh-CN" altLang="en-US" sz="2400" dirty="0">
                <a:solidFill>
                  <a:srgbClr val="3333FF"/>
                </a:solidFill>
                <a:latin typeface="华文新魏" panose="02010800040101010101" pitchFamily="2" charset="-122"/>
              </a:rPr>
              <a:t>：据花药数目、长短及其关系，分为：</a:t>
            </a:r>
          </a:p>
          <a:p>
            <a:pPr lvl="1" eaLnBrk="1" hangingPunct="1">
              <a:lnSpc>
                <a:spcPct val="70000"/>
              </a:lnSpc>
            </a:pPr>
            <a:r>
              <a:rPr lang="zh-CN" altLang="en-US" dirty="0">
                <a:solidFill>
                  <a:srgbClr val="FF00FF"/>
                </a:solidFill>
                <a:latin typeface="华文新魏" panose="02010800040101010101" pitchFamily="2" charset="-122"/>
              </a:rPr>
              <a:t>四强雄蕊：</a:t>
            </a:r>
            <a:r>
              <a:rPr lang="zh-CN" altLang="en-US" dirty="0">
                <a:solidFill>
                  <a:schemeClr val="tx1"/>
                </a:solidFill>
                <a:latin typeface="华文新魏" panose="02010800040101010101" pitchFamily="2" charset="-122"/>
              </a:rPr>
              <a:t>雄蕊</a:t>
            </a:r>
            <a:r>
              <a:rPr lang="en-US" altLang="zh-CN" dirty="0">
                <a:solidFill>
                  <a:schemeClr val="tx1"/>
                </a:solidFill>
                <a:latin typeface="华文新魏" panose="02010800040101010101" pitchFamily="2" charset="-122"/>
              </a:rPr>
              <a:t>6</a:t>
            </a:r>
            <a:r>
              <a:rPr lang="zh-CN" altLang="en-US" dirty="0">
                <a:solidFill>
                  <a:schemeClr val="tx1"/>
                </a:solidFill>
                <a:latin typeface="华文新魏" panose="02010800040101010101" pitchFamily="2" charset="-122"/>
              </a:rPr>
              <a:t>枚，排成二轮，外轮</a:t>
            </a:r>
            <a:r>
              <a:rPr lang="en-US" altLang="zh-CN" dirty="0">
                <a:solidFill>
                  <a:schemeClr val="tx1"/>
                </a:solidFill>
                <a:latin typeface="华文新魏" panose="02010800040101010101" pitchFamily="2" charset="-122"/>
              </a:rPr>
              <a:t>2</a:t>
            </a:r>
            <a:r>
              <a:rPr lang="zh-CN" altLang="en-US" dirty="0">
                <a:solidFill>
                  <a:schemeClr val="tx1"/>
                </a:solidFill>
                <a:latin typeface="华文新魏" panose="02010800040101010101" pitchFamily="2" charset="-122"/>
              </a:rPr>
              <a:t>枚短，内轮</a:t>
            </a:r>
            <a:r>
              <a:rPr lang="en-US" altLang="zh-CN" dirty="0">
                <a:solidFill>
                  <a:schemeClr val="tx1"/>
                </a:solidFill>
                <a:latin typeface="华文新魏" panose="02010800040101010101" pitchFamily="2" charset="-122"/>
              </a:rPr>
              <a:t>4</a:t>
            </a:r>
            <a:r>
              <a:rPr lang="zh-CN" altLang="en-US" dirty="0">
                <a:solidFill>
                  <a:schemeClr val="tx1"/>
                </a:solidFill>
                <a:latin typeface="华文新魏" panose="02010800040101010101" pitchFamily="2" charset="-122"/>
              </a:rPr>
              <a:t>枚长，为</a:t>
            </a:r>
          </a:p>
          <a:p>
            <a:pPr lvl="1" algn="r" eaLnBrk="1" hangingPunct="1">
              <a:lnSpc>
                <a:spcPct val="70000"/>
              </a:lnSpc>
              <a:buNone/>
            </a:pPr>
            <a:r>
              <a:rPr lang="zh-CN" altLang="en-US" dirty="0">
                <a:solidFill>
                  <a:schemeClr val="tx1"/>
                </a:solidFill>
                <a:latin typeface="华文新魏" panose="02010800040101010101" pitchFamily="2" charset="-122"/>
              </a:rPr>
              <a:t>十字花科特有。</a:t>
            </a:r>
          </a:p>
          <a:p>
            <a:pPr lvl="1" eaLnBrk="1" hangingPunct="1">
              <a:lnSpc>
                <a:spcPct val="70000"/>
              </a:lnSpc>
            </a:pPr>
            <a:r>
              <a:rPr lang="zh-CN" altLang="en-US" dirty="0">
                <a:solidFill>
                  <a:srgbClr val="FF00FF"/>
                </a:solidFill>
                <a:latin typeface="华文新魏" panose="02010800040101010101" pitchFamily="2" charset="-122"/>
              </a:rPr>
              <a:t>二强雄蕊：</a:t>
            </a:r>
            <a:r>
              <a:rPr lang="zh-CN" altLang="en-US" dirty="0">
                <a:solidFill>
                  <a:schemeClr val="tx1"/>
                </a:solidFill>
                <a:latin typeface="华文新魏" panose="02010800040101010101" pitchFamily="2" charset="-122"/>
              </a:rPr>
              <a:t>雄蕊</a:t>
            </a:r>
            <a:r>
              <a:rPr lang="en-US" altLang="zh-CN" dirty="0">
                <a:solidFill>
                  <a:schemeClr val="tx1"/>
                </a:solidFill>
                <a:latin typeface="华文新魏" panose="02010800040101010101" pitchFamily="2" charset="-122"/>
              </a:rPr>
              <a:t>4</a:t>
            </a:r>
            <a:r>
              <a:rPr lang="zh-CN" altLang="en-US" dirty="0">
                <a:solidFill>
                  <a:schemeClr val="tx1"/>
                </a:solidFill>
                <a:latin typeface="华文新魏" panose="02010800040101010101" pitchFamily="2" charset="-122"/>
              </a:rPr>
              <a:t>枚，</a:t>
            </a:r>
            <a:r>
              <a:rPr lang="en-US" altLang="zh-CN" dirty="0">
                <a:solidFill>
                  <a:schemeClr val="tx1"/>
                </a:solidFill>
                <a:latin typeface="华文新魏" panose="02010800040101010101" pitchFamily="2" charset="-122"/>
              </a:rPr>
              <a:t>2</a:t>
            </a:r>
            <a:r>
              <a:rPr lang="zh-CN" altLang="en-US" dirty="0">
                <a:solidFill>
                  <a:schemeClr val="tx1"/>
                </a:solidFill>
                <a:latin typeface="华文新魏" panose="02010800040101010101" pitchFamily="2" charset="-122"/>
              </a:rPr>
              <a:t>长</a:t>
            </a:r>
            <a:r>
              <a:rPr lang="en-US" altLang="zh-CN" dirty="0">
                <a:solidFill>
                  <a:schemeClr val="tx1"/>
                </a:solidFill>
                <a:latin typeface="华文新魏" panose="02010800040101010101" pitchFamily="2" charset="-122"/>
              </a:rPr>
              <a:t>2</a:t>
            </a:r>
            <a:r>
              <a:rPr lang="zh-CN" altLang="en-US" dirty="0">
                <a:solidFill>
                  <a:schemeClr val="tx1"/>
                </a:solidFill>
                <a:latin typeface="华文新魏" panose="02010800040101010101" pitchFamily="2" charset="-122"/>
              </a:rPr>
              <a:t>短，常见于唇形科和玄参科。</a:t>
            </a:r>
          </a:p>
          <a:p>
            <a:pPr lvl="1" eaLnBrk="1" hangingPunct="1">
              <a:lnSpc>
                <a:spcPct val="70000"/>
              </a:lnSpc>
            </a:pPr>
            <a:r>
              <a:rPr lang="zh-CN" altLang="en-US" dirty="0">
                <a:solidFill>
                  <a:srgbClr val="FF00FF"/>
                </a:solidFill>
                <a:latin typeface="华文新魏" panose="02010800040101010101" pitchFamily="2" charset="-122"/>
              </a:rPr>
              <a:t>离生雄蕊：</a:t>
            </a:r>
            <a:r>
              <a:rPr lang="zh-CN" altLang="en-US" dirty="0">
                <a:solidFill>
                  <a:schemeClr val="tx1"/>
                </a:solidFill>
                <a:latin typeface="华文新魏" panose="02010800040101010101" pitchFamily="2" charset="-122"/>
              </a:rPr>
              <a:t>雄蕊的花药、花丝完全分离。</a:t>
            </a:r>
          </a:p>
          <a:p>
            <a:pPr lvl="1" eaLnBrk="1" hangingPunct="1">
              <a:lnSpc>
                <a:spcPct val="60000"/>
              </a:lnSpc>
              <a:buNone/>
            </a:pPr>
            <a:r>
              <a:rPr lang="zh-CN" altLang="en-US" dirty="0">
                <a:solidFill>
                  <a:schemeClr val="tx2"/>
                </a:solidFill>
                <a:latin typeface="华文新魏" panose="02010800040101010101" pitchFamily="2" charset="-122"/>
              </a:rPr>
              <a:t>                        </a:t>
            </a:r>
            <a:r>
              <a:rPr lang="zh-CN" altLang="en-US" dirty="0">
                <a:solidFill>
                  <a:schemeClr val="tx1"/>
                </a:solidFill>
                <a:latin typeface="华文新魏" panose="02010800040101010101" pitchFamily="2" charset="-122"/>
              </a:rPr>
              <a:t>花丝联合花药分离   </a:t>
            </a:r>
            <a:r>
              <a:rPr lang="zh-CN" altLang="en-US" u="sng" dirty="0">
                <a:solidFill>
                  <a:schemeClr val="tx1"/>
                </a:solidFill>
                <a:latin typeface="华文新魏" panose="02010800040101010101" pitchFamily="2" charset="-122"/>
              </a:rPr>
              <a:t>单体雄蕊</a:t>
            </a:r>
            <a:r>
              <a:rPr lang="zh-CN" altLang="en-US" dirty="0">
                <a:solidFill>
                  <a:schemeClr val="tx1"/>
                </a:solidFill>
                <a:latin typeface="华文新魏" panose="02010800040101010101" pitchFamily="2" charset="-122"/>
              </a:rPr>
              <a:t>：花药分离，花丝连</a:t>
            </a:r>
          </a:p>
          <a:p>
            <a:pPr lvl="1" algn="r" eaLnBrk="1" hangingPunct="1">
              <a:lnSpc>
                <a:spcPct val="50000"/>
              </a:lnSpc>
              <a:buNone/>
            </a:pPr>
            <a:r>
              <a:rPr lang="zh-CN" altLang="en-US" dirty="0">
                <a:solidFill>
                  <a:schemeClr val="tx1"/>
                </a:solidFill>
                <a:latin typeface="华文新魏" panose="02010800040101010101" pitchFamily="2" charset="-122"/>
              </a:rPr>
              <a:t>为一体。</a:t>
            </a:r>
          </a:p>
          <a:p>
            <a:pPr lvl="1" eaLnBrk="1" hangingPunct="1">
              <a:lnSpc>
                <a:spcPct val="60000"/>
              </a:lnSpc>
            </a:pPr>
            <a:r>
              <a:rPr lang="zh-CN" altLang="en-US" dirty="0">
                <a:solidFill>
                  <a:srgbClr val="FF00FF"/>
                </a:solidFill>
                <a:latin typeface="华文新魏" panose="02010800040101010101" pitchFamily="2" charset="-122"/>
              </a:rPr>
              <a:t>合生雄蕊</a:t>
            </a:r>
            <a:r>
              <a:rPr lang="zh-CN" altLang="en-US" dirty="0">
                <a:solidFill>
                  <a:schemeClr val="tx2"/>
                </a:solidFill>
                <a:latin typeface="华文新魏" panose="02010800040101010101" pitchFamily="2" charset="-122"/>
              </a:rPr>
              <a:t>                                       </a:t>
            </a:r>
            <a:r>
              <a:rPr lang="zh-CN" altLang="en-US" u="sng" dirty="0">
                <a:solidFill>
                  <a:schemeClr val="tx1"/>
                </a:solidFill>
                <a:latin typeface="华文新魏" panose="02010800040101010101" pitchFamily="2" charset="-122"/>
              </a:rPr>
              <a:t>二体雄蕊</a:t>
            </a:r>
            <a:r>
              <a:rPr lang="zh-CN" altLang="en-US" dirty="0">
                <a:solidFill>
                  <a:schemeClr val="tx1"/>
                </a:solidFill>
                <a:latin typeface="华文新魏" panose="02010800040101010101" pitchFamily="2" charset="-122"/>
              </a:rPr>
              <a:t>、</a:t>
            </a:r>
            <a:r>
              <a:rPr lang="zh-CN" altLang="en-US" u="sng" dirty="0">
                <a:solidFill>
                  <a:schemeClr val="tx1"/>
                </a:solidFill>
                <a:latin typeface="华文新魏" panose="02010800040101010101" pitchFamily="2" charset="-122"/>
              </a:rPr>
              <a:t>三体</a:t>
            </a:r>
            <a:r>
              <a:rPr lang="zh-CN" altLang="en-US" dirty="0">
                <a:solidFill>
                  <a:schemeClr val="tx1"/>
                </a:solidFill>
                <a:latin typeface="华文新魏" panose="02010800040101010101" pitchFamily="2" charset="-122"/>
              </a:rPr>
              <a:t>、</a:t>
            </a:r>
            <a:r>
              <a:rPr lang="zh-CN" altLang="en-US" u="sng" dirty="0">
                <a:solidFill>
                  <a:schemeClr val="tx1"/>
                </a:solidFill>
                <a:latin typeface="华文新魏" panose="02010800040101010101" pitchFamily="2" charset="-122"/>
              </a:rPr>
              <a:t>多体</a:t>
            </a:r>
            <a:r>
              <a:rPr lang="zh-CN" altLang="en-US" dirty="0">
                <a:solidFill>
                  <a:schemeClr val="tx1"/>
                </a:solidFill>
                <a:latin typeface="华文新魏" panose="02010800040101010101" pitchFamily="2" charset="-122"/>
              </a:rPr>
              <a:t>等。</a:t>
            </a:r>
          </a:p>
          <a:p>
            <a:pPr lvl="1" eaLnBrk="1" hangingPunct="1">
              <a:lnSpc>
                <a:spcPct val="60000"/>
              </a:lnSpc>
              <a:buNone/>
            </a:pPr>
            <a:r>
              <a:rPr lang="zh-CN" altLang="en-US" dirty="0">
                <a:solidFill>
                  <a:schemeClr val="tx1"/>
                </a:solidFill>
                <a:latin typeface="华文新魏" panose="02010800040101010101" pitchFamily="2" charset="-122"/>
              </a:rPr>
              <a:t>                        花丝分离，花药联合</a:t>
            </a:r>
            <a:r>
              <a:rPr lang="en-US" altLang="zh-CN" dirty="0">
                <a:solidFill>
                  <a:schemeClr val="tx1"/>
                </a:solidFill>
                <a:latin typeface="Times New Roman" panose="02020603050405020304" pitchFamily="18" charset="0"/>
              </a:rPr>
              <a:t>—</a:t>
            </a:r>
            <a:r>
              <a:rPr lang="zh-CN" altLang="en-US" dirty="0">
                <a:solidFill>
                  <a:schemeClr val="tx1"/>
                </a:solidFill>
                <a:latin typeface="华文新魏" panose="02010800040101010101" pitchFamily="2" charset="-122"/>
              </a:rPr>
              <a:t>聚药雄蕊。 </a:t>
            </a:r>
          </a:p>
        </p:txBody>
      </p:sp>
      <p:sp>
        <p:nvSpPr>
          <p:cNvPr id="564226" name="AutoShape 5"/>
          <p:cNvSpPr/>
          <p:nvPr/>
        </p:nvSpPr>
        <p:spPr>
          <a:xfrm>
            <a:off x="2165350" y="3573463"/>
            <a:ext cx="228600" cy="990600"/>
          </a:xfrm>
          <a:prstGeom prst="leftBrace">
            <a:avLst>
              <a:gd name="adj1" fmla="val 35750"/>
              <a:gd name="adj2" fmla="val 50000"/>
            </a:avLst>
          </a:prstGeom>
          <a:noFill/>
          <a:ln w="38100"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64227" name="AutoShape 7"/>
          <p:cNvSpPr/>
          <p:nvPr/>
        </p:nvSpPr>
        <p:spPr>
          <a:xfrm>
            <a:off x="4787900" y="3429000"/>
            <a:ext cx="152400" cy="838200"/>
          </a:xfrm>
          <a:prstGeom prst="leftBrace">
            <a:avLst>
              <a:gd name="adj1" fmla="val 45375"/>
              <a:gd name="adj2" fmla="val 17264"/>
            </a:avLst>
          </a:prstGeom>
          <a:noFill/>
          <a:ln w="38100" cap="flat" cmpd="sng">
            <a:solidFill>
              <a:srgbClr val="FF3300"/>
            </a:solidFill>
            <a:prstDash val="solid"/>
            <a:round/>
            <a:headEnd type="none" w="med" len="med"/>
            <a:tailEnd type="none" w="med" len="med"/>
          </a:ln>
        </p:spPr>
        <p:txBody>
          <a:bodyPr wrap="none" anchor="ctr" anchorCtr="0"/>
          <a:lstStyle/>
          <a:p>
            <a:pPr algn="ctr" eaLnBrk="0" hangingPunct="0"/>
            <a:endParaRPr lang="zh-CN" altLang="zh-CN" dirty="0">
              <a:solidFill>
                <a:srgbClr val="FF3300"/>
              </a:solidFill>
              <a:latin typeface="Tahoma" panose="020B0604030504040204" pitchFamily="34" charset="0"/>
              <a:ea typeface="华文新魏" panose="02010800040101010101" pitchFamily="2" charset="-122"/>
            </a:endParaRPr>
          </a:p>
        </p:txBody>
      </p:sp>
      <p:pic>
        <p:nvPicPr>
          <p:cNvPr id="558088" name="Picture 8"/>
          <p:cNvPicPr>
            <a:picLocks noChangeAspect="1"/>
          </p:cNvPicPr>
          <p:nvPr/>
        </p:nvPicPr>
        <p:blipFill>
          <a:blip r:embed="rId3"/>
          <a:stretch>
            <a:fillRect/>
          </a:stretch>
        </p:blipFill>
        <p:spPr>
          <a:xfrm>
            <a:off x="3429000" y="1570038"/>
            <a:ext cx="3286125" cy="4724400"/>
          </a:xfrm>
          <a:prstGeom prst="rect">
            <a:avLst/>
          </a:prstGeom>
          <a:noFill/>
          <a:ln w="9525">
            <a:noFill/>
          </a:ln>
        </p:spPr>
      </p:pic>
      <p:pic>
        <p:nvPicPr>
          <p:cNvPr id="558089" name="Picture 9"/>
          <p:cNvPicPr>
            <a:picLocks noChangeAspect="1"/>
          </p:cNvPicPr>
          <p:nvPr/>
        </p:nvPicPr>
        <p:blipFill>
          <a:blip r:embed="rId4"/>
          <a:stretch>
            <a:fillRect/>
          </a:stretch>
        </p:blipFill>
        <p:spPr>
          <a:xfrm>
            <a:off x="3436938" y="1189038"/>
            <a:ext cx="3294062" cy="3073400"/>
          </a:xfrm>
          <a:prstGeom prst="rect">
            <a:avLst/>
          </a:prstGeom>
          <a:noFill/>
          <a:ln w="9525">
            <a:noFill/>
          </a:ln>
        </p:spPr>
      </p:pic>
      <p:sp>
        <p:nvSpPr>
          <p:cNvPr id="564230" name="Rectangle 10"/>
          <p:cNvSpPr>
            <a:spLocks noGrp="1"/>
          </p:cNvSpPr>
          <p:nvPr>
            <p:ph type="title"/>
          </p:nvPr>
        </p:nvSpPr>
        <p:spPr>
          <a:xfrm>
            <a:off x="-396875" y="29527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4231" name="Text Box 2"/>
          <p:cNvSpPr txBox="1"/>
          <p:nvPr/>
        </p:nvSpPr>
        <p:spPr>
          <a:xfrm>
            <a:off x="-396875" y="-74612"/>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8088"/>
                                        </p:tgtEl>
                                        <p:attrNameLst>
                                          <p:attrName>style.visibility</p:attrName>
                                        </p:attrNameLst>
                                      </p:cBhvr>
                                      <p:to>
                                        <p:strVal val="visible"/>
                                      </p:to>
                                    </p:set>
                                    <p:animEffect transition="in" filter="dissolve">
                                      <p:cBhvr>
                                        <p:cTn id="7" dur="500"/>
                                        <p:tgtEl>
                                          <p:spTgt spid="558088"/>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8089"/>
                                        </p:tgtEl>
                                        <p:attrNameLst>
                                          <p:attrName>style.visibility</p:attrName>
                                        </p:attrNameLst>
                                      </p:cBhvr>
                                      <p:to>
                                        <p:strVal val="visible"/>
                                      </p:to>
                                    </p:set>
                                    <p:animEffect transition="in" filter="dissolve">
                                      <p:cBhvr>
                                        <p:cTn id="12" dur="500"/>
                                        <p:tgtEl>
                                          <p:spTgt spid="558089"/>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49" name="Rectangle 1027"/>
          <p:cNvSpPr>
            <a:spLocks noGrp="1"/>
          </p:cNvSpPr>
          <p:nvPr>
            <p:ph idx="1"/>
          </p:nvPr>
        </p:nvSpPr>
        <p:spPr>
          <a:xfrm>
            <a:off x="179388" y="1630363"/>
            <a:ext cx="8856662" cy="5140325"/>
          </a:xfrm>
        </p:spPr>
        <p:txBody>
          <a:bodyPr vert="horz" wrap="square" lIns="91440" tIns="45720" rIns="91440" bIns="45720" anchor="t" anchorCtr="0"/>
          <a:lstStyle/>
          <a:p>
            <a:pPr eaLnBrk="1" hangingPunct="1">
              <a:buNone/>
            </a:pPr>
            <a:r>
              <a:rPr lang="en-US" altLang="zh-CN" b="1" dirty="0">
                <a:solidFill>
                  <a:srgbClr val="3333FF"/>
                </a:solidFill>
                <a:latin typeface="黑体" panose="02010609060101010101" pitchFamily="49" charset="-122"/>
                <a:ea typeface="黑体" panose="02010609060101010101" pitchFamily="49" charset="-122"/>
              </a:rPr>
              <a:t>4.</a:t>
            </a:r>
            <a:r>
              <a:rPr lang="zh-CN" altLang="en-US" b="1" dirty="0">
                <a:solidFill>
                  <a:srgbClr val="3333FF"/>
                </a:solidFill>
                <a:latin typeface="黑体" panose="02010609060101010101" pitchFamily="49" charset="-122"/>
                <a:ea typeface="黑体" panose="02010609060101010101" pitchFamily="49" charset="-122"/>
              </a:rPr>
              <a:t>雌蕊群 </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3333FF"/>
                </a:solidFill>
                <a:latin typeface="黑体" panose="02010609060101010101" pitchFamily="49" charset="-122"/>
                <a:ea typeface="黑体" panose="02010609060101010101" pitchFamily="49" charset="-122"/>
              </a:rPr>
              <a:t>概念</a:t>
            </a:r>
          </a:p>
          <a:p>
            <a:pPr eaLnBrk="1" hangingPunct="1"/>
            <a:r>
              <a:rPr lang="zh-CN" altLang="en-US" b="1" dirty="0">
                <a:solidFill>
                  <a:srgbClr val="3333FF"/>
                </a:solidFill>
                <a:latin typeface="黑体" panose="02010609060101010101" pitchFamily="49" charset="-122"/>
                <a:ea typeface="黑体" panose="02010609060101010101" pitchFamily="49" charset="-122"/>
              </a:rPr>
              <a:t>雌蕊群的定义：</a:t>
            </a:r>
            <a:r>
              <a:rPr lang="zh-CN" altLang="en-US" b="1" dirty="0">
                <a:solidFill>
                  <a:schemeClr val="tx1"/>
                </a:solidFill>
                <a:latin typeface="黑体" panose="02010609060101010101" pitchFamily="49" charset="-122"/>
                <a:ea typeface="黑体" panose="02010609060101010101" pitchFamily="49" charset="-122"/>
              </a:rPr>
              <a:t>一朵花中雌蕊的总称。位于花中央                 或花托顶部。雌蕊是变态的可育叶，也称</a:t>
            </a:r>
            <a:r>
              <a:rPr lang="zh-CN" altLang="en-US" b="1" dirty="0">
                <a:solidFill>
                  <a:srgbClr val="FF0000"/>
                </a:solidFill>
                <a:latin typeface="黑体" panose="02010609060101010101" pitchFamily="49" charset="-122"/>
                <a:ea typeface="黑体" panose="02010609060101010101" pitchFamily="49" charset="-122"/>
              </a:rPr>
              <a:t>心皮</a:t>
            </a:r>
            <a:r>
              <a:rPr lang="zh-CN" altLang="en-US" b="1" dirty="0">
                <a:solidFill>
                  <a:schemeClr val="tx1"/>
                </a:solidFill>
                <a:latin typeface="黑体" panose="02010609060101010101" pitchFamily="49" charset="-122"/>
                <a:ea typeface="黑体" panose="02010609060101010101" pitchFamily="49" charset="-122"/>
              </a:rPr>
              <a:t>。</a:t>
            </a:r>
          </a:p>
          <a:p>
            <a:pPr eaLnBrk="1" hangingPunct="1"/>
            <a:r>
              <a:rPr lang="zh-CN" altLang="en-US" b="1" dirty="0">
                <a:solidFill>
                  <a:srgbClr val="3333FF"/>
                </a:solidFill>
                <a:latin typeface="黑体" panose="02010609060101010101" pitchFamily="49" charset="-122"/>
                <a:ea typeface="黑体" panose="02010609060101010101" pitchFamily="49" charset="-122"/>
              </a:rPr>
              <a:t>雌蕊的定义：</a:t>
            </a:r>
            <a:r>
              <a:rPr lang="zh-CN" altLang="en-US" b="1" dirty="0">
                <a:solidFill>
                  <a:srgbClr val="FF0000"/>
                </a:solidFill>
                <a:latin typeface="黑体" panose="02010609060101010101" pitchFamily="49" charset="-122"/>
                <a:ea typeface="黑体" panose="02010609060101010101" pitchFamily="49" charset="-122"/>
              </a:rPr>
              <a:t>雌蕊是变态叶（心皮）卷合而成的</a:t>
            </a:r>
            <a:r>
              <a:rPr lang="zh-CN" altLang="en-US" b="1" dirty="0">
                <a:solidFill>
                  <a:srgbClr val="3333FF"/>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雌蕊都是由心皮构成的，每个雌蕊由</a:t>
            </a:r>
            <a:r>
              <a:rPr lang="en-US" altLang="zh-CN" b="1" dirty="0">
                <a:solidFill>
                  <a:schemeClr val="tx1"/>
                </a:solidFill>
                <a:latin typeface="黑体" panose="02010609060101010101" pitchFamily="49" charset="-122"/>
                <a:ea typeface="黑体" panose="02010609060101010101" pitchFamily="49" charset="-122"/>
              </a:rPr>
              <a:t>1—</a:t>
            </a:r>
            <a:r>
              <a:rPr lang="zh-CN" altLang="en-US" b="1" dirty="0">
                <a:solidFill>
                  <a:schemeClr val="tx1"/>
                </a:solidFill>
                <a:latin typeface="黑体" panose="02010609060101010101" pitchFamily="49" charset="-122"/>
                <a:ea typeface="黑体" panose="02010609060101010101" pitchFamily="49" charset="-122"/>
              </a:rPr>
              <a:t>多个心皮构成。植物在长期演化中，一些变态可育叶经“缝合”或“卷合”构成雌蕊。</a:t>
            </a:r>
          </a:p>
        </p:txBody>
      </p:sp>
      <p:pic>
        <p:nvPicPr>
          <p:cNvPr id="565250" name="Picture 1028"/>
          <p:cNvPicPr>
            <a:picLocks noChangeAspect="1"/>
          </p:cNvPicPr>
          <p:nvPr/>
        </p:nvPicPr>
        <p:blipFill>
          <a:blip r:embed="rId3"/>
          <a:stretch>
            <a:fillRect/>
          </a:stretch>
        </p:blipFill>
        <p:spPr>
          <a:xfrm>
            <a:off x="7453313" y="0"/>
            <a:ext cx="1690687" cy="3048000"/>
          </a:xfrm>
          <a:prstGeom prst="rect">
            <a:avLst/>
          </a:prstGeom>
          <a:noFill/>
          <a:ln w="9525">
            <a:noFill/>
          </a:ln>
        </p:spPr>
      </p:pic>
      <p:sp>
        <p:nvSpPr>
          <p:cNvPr id="565251" name="Line 1029"/>
          <p:cNvSpPr/>
          <p:nvPr/>
        </p:nvSpPr>
        <p:spPr>
          <a:xfrm>
            <a:off x="7162800" y="1447800"/>
            <a:ext cx="457200" cy="228600"/>
          </a:xfrm>
          <a:prstGeom prst="line">
            <a:avLst/>
          </a:prstGeom>
          <a:ln w="57150" cap="flat" cmpd="sng">
            <a:solidFill>
              <a:srgbClr val="FF3300"/>
            </a:solidFill>
            <a:prstDash val="solid"/>
            <a:round/>
            <a:headEnd type="none" w="med" len="med"/>
            <a:tailEnd type="triangle" w="med" len="med"/>
          </a:ln>
        </p:spPr>
        <p:txBody>
          <a:bodyPr/>
          <a:lstStyle/>
          <a:p>
            <a:endParaRPr lang="zh-CN" altLang="en-US"/>
          </a:p>
        </p:txBody>
      </p:sp>
      <p:sp>
        <p:nvSpPr>
          <p:cNvPr id="565252" name="Line 1030"/>
          <p:cNvSpPr/>
          <p:nvPr/>
        </p:nvSpPr>
        <p:spPr>
          <a:xfrm rot="-785181" flipH="1" flipV="1">
            <a:off x="7824788" y="1752600"/>
            <a:ext cx="304800" cy="304800"/>
          </a:xfrm>
          <a:prstGeom prst="line">
            <a:avLst/>
          </a:prstGeom>
          <a:ln w="57150" cap="flat" cmpd="sng">
            <a:solidFill>
              <a:srgbClr val="FF3300"/>
            </a:solidFill>
            <a:prstDash val="solid"/>
            <a:round/>
            <a:headEnd type="none" w="med" len="med"/>
            <a:tailEnd type="triangle" w="med" len="med"/>
          </a:ln>
        </p:spPr>
        <p:txBody>
          <a:bodyPr/>
          <a:lstStyle/>
          <a:p>
            <a:endParaRPr lang="zh-CN" altLang="en-US"/>
          </a:p>
        </p:txBody>
      </p:sp>
      <p:pic>
        <p:nvPicPr>
          <p:cNvPr id="560138" name="Picture 1034" descr="骨突果(梧桐)"/>
          <p:cNvPicPr>
            <a:picLocks noChangeAspect="1"/>
          </p:cNvPicPr>
          <p:nvPr/>
        </p:nvPicPr>
        <p:blipFill>
          <a:blip r:embed="rId4"/>
          <a:stretch>
            <a:fillRect/>
          </a:stretch>
        </p:blipFill>
        <p:spPr>
          <a:xfrm>
            <a:off x="2225675" y="1722438"/>
            <a:ext cx="4648200" cy="4629150"/>
          </a:xfrm>
          <a:prstGeom prst="rect">
            <a:avLst/>
          </a:prstGeom>
          <a:noFill/>
          <a:ln w="38100" cap="flat" cmpd="sng">
            <a:solidFill>
              <a:srgbClr val="FF3300"/>
            </a:solidFill>
            <a:prstDash val="solid"/>
            <a:miter/>
            <a:headEnd type="none" w="med" len="med"/>
            <a:tailEnd type="none" w="med" len="med"/>
          </a:ln>
        </p:spPr>
      </p:pic>
      <p:sp>
        <p:nvSpPr>
          <p:cNvPr id="565254" name="Rectangle 10"/>
          <p:cNvSpPr>
            <a:spLocks noGrp="1"/>
          </p:cNvSpPr>
          <p:nvPr>
            <p:ph type="title"/>
          </p:nvPr>
        </p:nvSpPr>
        <p:spPr>
          <a:xfrm>
            <a:off x="-241300" y="487363"/>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5255" name="Text Box 2"/>
          <p:cNvSpPr txBox="1"/>
          <p:nvPr/>
        </p:nvSpPr>
        <p:spPr>
          <a:xfrm>
            <a:off x="-255587" y="149225"/>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60138"/>
                                        </p:tgtEl>
                                        <p:attrNameLst>
                                          <p:attrName>style.visibility</p:attrName>
                                        </p:attrNameLst>
                                      </p:cBhvr>
                                      <p:to>
                                        <p:strVal val="visible"/>
                                      </p:to>
                                    </p:set>
                                    <p:animEffect transition="in" filter="checkerboard(across)">
                                      <p:cBhvr>
                                        <p:cTn id="7" dur="500"/>
                                        <p:tgtEl>
                                          <p:spTgt spid="560138"/>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3"/>
          <p:cNvSpPr>
            <a:spLocks noGrp="1" noChangeArrowheads="1"/>
          </p:cNvSpPr>
          <p:nvPr>
            <p:ph idx="1"/>
          </p:nvPr>
        </p:nvSpPr>
        <p:spPr>
          <a:xfrm>
            <a:off x="0" y="1295400"/>
            <a:ext cx="9144000" cy="50863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4.</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雌蕊群 </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雌蕊结构</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a:t>
            </a:r>
            <a:r>
              <a:rPr kumimoji="0" lang="zh-CN" altLang="en-US"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由子房、花柱和柱头构成</a:t>
            </a: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cs typeface="+mn-cs"/>
              </a:rPr>
              <a:t>柱头</a:t>
            </a:r>
          </a:p>
          <a:p>
            <a:pPr marL="342900" marR="0" lvl="0" indent="-34290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Blip>
                <a:blip r:embed="rId2"/>
              </a:buBlip>
              <a:defRPr/>
            </a:pPr>
            <a:r>
              <a:rPr kumimoji="0" lang="zh-CN" altLang="en-US" sz="25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cs typeface="+mn-cs"/>
              </a:rPr>
              <a:t>定义：</a:t>
            </a:r>
            <a:r>
              <a:rPr kumimoji="0" lang="zh-CN" altLang="en-US" sz="25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位于雌蕊顶端，是接受花粉的部位，一般膨大或扩展成各种形状。</a:t>
            </a:r>
            <a:endParaRPr kumimoji="0" lang="en-US" altLang="zh-CN" sz="25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rgbClr val="3333FF"/>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FF3300"/>
                </a:solidFill>
                <a:effectLst/>
                <a:uLnTx/>
                <a:uFillTx/>
                <a:latin typeface="黑体" panose="02010609060101010101" pitchFamily="49" charset="-122"/>
                <a:ea typeface="黑体" panose="02010609060101010101" pitchFamily="49" charset="-122"/>
                <a:cs typeface="+mn-cs"/>
              </a:rPr>
              <a:t>湿柱头：</a:t>
            </a:r>
            <a:r>
              <a:rPr kumimoji="0" lang="zh-CN" altLang="en-US" sz="25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传粉时，有的柱头表面湿润，表皮细胞分泌水分、糖类、脂类、酚类、激素、酶等物质，可以粘住更多花粉，并为花粉萌发提供必要的基质，这类柱头称为</a:t>
            </a:r>
            <a:r>
              <a:rPr kumimoji="0" lang="zh-CN" altLang="en-US" sz="2500" b="1" i="0" u="sng"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湿柱头</a:t>
            </a:r>
            <a:r>
              <a:rPr kumimoji="0" lang="zh-CN" altLang="en-US" sz="25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。如烟草、百合、苹果、豆科等植物。</a:t>
            </a:r>
            <a:endParaRPr kumimoji="0" lang="en-US" altLang="zh-CN" sz="25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defRPr/>
            </a:pPr>
            <a:r>
              <a:rPr kumimoji="0" lang="en-US" altLang="zh-CN" sz="25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    </a:t>
            </a:r>
            <a:r>
              <a:rPr kumimoji="0" lang="zh-CN" altLang="en-US" sz="25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干柱头：</a:t>
            </a:r>
            <a:r>
              <a:rPr kumimoji="0" lang="zh-CN" altLang="en-US" sz="25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传粉时不产生分泌物，但柱头表面存在亲水性的蛋白质薄膜，能从薄膜下角质层的中断处吸收水分，所以在生理上这层薄膜与湿柱头的分泌相似。十字花科、石竹科植物和凤梨、蓖麻、月季以及禾本科植物中的一些种类属此类。</a:t>
            </a:r>
          </a:p>
        </p:txBody>
      </p:sp>
      <p:sp>
        <p:nvSpPr>
          <p:cNvPr id="566274" name="Rectangle 10"/>
          <p:cNvSpPr>
            <a:spLocks noGrp="1"/>
          </p:cNvSpPr>
          <p:nvPr>
            <p:ph type="title"/>
          </p:nvPr>
        </p:nvSpPr>
        <p:spPr>
          <a:xfrm>
            <a:off x="-396875" y="261938"/>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6275" name="Text Box 2"/>
          <p:cNvSpPr txBox="1"/>
          <p:nvPr/>
        </p:nvSpPr>
        <p:spPr>
          <a:xfrm>
            <a:off x="-396875" y="-107950"/>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7" name="Rectangle 3"/>
          <p:cNvSpPr>
            <a:spLocks noGrp="1"/>
          </p:cNvSpPr>
          <p:nvPr>
            <p:ph idx="1"/>
          </p:nvPr>
        </p:nvSpPr>
        <p:spPr>
          <a:xfrm>
            <a:off x="0" y="1295400"/>
            <a:ext cx="8964613" cy="4797425"/>
          </a:xfrm>
        </p:spPr>
        <p:txBody>
          <a:bodyPr vert="horz" wrap="square" lIns="91440" tIns="45720" rIns="91440" bIns="45720" anchor="t" anchorCtr="0"/>
          <a:lstStyle/>
          <a:p>
            <a:pPr eaLnBrk="1" hangingPunct="1">
              <a:buNone/>
            </a:pPr>
            <a:r>
              <a:rPr lang="en-US" altLang="zh-CN" b="1" dirty="0">
                <a:solidFill>
                  <a:srgbClr val="3333FF"/>
                </a:solidFill>
                <a:latin typeface="黑体" panose="02010609060101010101" pitchFamily="49" charset="-122"/>
                <a:ea typeface="黑体" panose="02010609060101010101" pitchFamily="49" charset="-122"/>
              </a:rPr>
              <a:t>4.</a:t>
            </a:r>
            <a:r>
              <a:rPr lang="zh-CN" altLang="en-US" b="1" dirty="0">
                <a:solidFill>
                  <a:srgbClr val="3333FF"/>
                </a:solidFill>
                <a:latin typeface="黑体" panose="02010609060101010101" pitchFamily="49" charset="-122"/>
                <a:ea typeface="黑体" panose="02010609060101010101" pitchFamily="49" charset="-122"/>
              </a:rPr>
              <a:t>雌蕊群 </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solidFill>
                  <a:srgbClr val="3333FF"/>
                </a:solidFill>
                <a:latin typeface="黑体" panose="02010609060101010101" pitchFamily="49" charset="-122"/>
                <a:ea typeface="黑体" panose="02010609060101010101" pitchFamily="49" charset="-122"/>
              </a:rPr>
              <a:t>雌蕊结构</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solidFill>
                  <a:srgbClr val="FF3300"/>
                </a:solidFill>
                <a:latin typeface="黑体" panose="02010609060101010101" pitchFamily="49" charset="-122"/>
                <a:ea typeface="黑体" panose="02010609060101010101" pitchFamily="49" charset="-122"/>
              </a:rPr>
              <a:t>花柱</a:t>
            </a:r>
          </a:p>
          <a:p>
            <a:pPr eaLnBrk="1" hangingPunct="1">
              <a:lnSpc>
                <a:spcPct val="90000"/>
              </a:lnSpc>
            </a:pPr>
            <a:r>
              <a:rPr lang="zh-CN" altLang="en-US" b="1" dirty="0">
                <a:solidFill>
                  <a:srgbClr val="FF3300"/>
                </a:solidFill>
                <a:latin typeface="黑体" panose="02010609060101010101" pitchFamily="49" charset="-122"/>
                <a:ea typeface="黑体" panose="02010609060101010101" pitchFamily="49" charset="-122"/>
              </a:rPr>
              <a:t>定义：</a:t>
            </a:r>
            <a:r>
              <a:rPr lang="zh-CN" altLang="en-US" b="1" dirty="0">
                <a:solidFill>
                  <a:schemeClr val="tx1"/>
                </a:solidFill>
                <a:latin typeface="黑体" panose="02010609060101010101" pitchFamily="49" charset="-122"/>
                <a:ea typeface="黑体" panose="02010609060101010101" pitchFamily="49" charset="-122"/>
              </a:rPr>
              <a:t>柱头和子房间的连接部分，为花粉管进入子房的通道。</a:t>
            </a:r>
          </a:p>
          <a:p>
            <a:pPr eaLnBrk="1" hangingPunct="1">
              <a:lnSpc>
                <a:spcPct val="90000"/>
              </a:lnSpc>
            </a:pPr>
            <a:r>
              <a:rPr lang="zh-CN" altLang="en-US" b="1" dirty="0">
                <a:solidFill>
                  <a:srgbClr val="FF3300"/>
                </a:solidFill>
                <a:latin typeface="黑体" panose="02010609060101010101" pitchFamily="49" charset="-122"/>
                <a:ea typeface="黑体" panose="02010609060101010101" pitchFamily="49" charset="-122"/>
              </a:rPr>
              <a:t>结构：</a:t>
            </a:r>
          </a:p>
          <a:p>
            <a:pPr lvl="1" eaLnBrk="1" hangingPunct="1"/>
            <a:r>
              <a:rPr lang="zh-CN" altLang="en-US" b="1" dirty="0">
                <a:solidFill>
                  <a:srgbClr val="3333FF"/>
                </a:solidFill>
                <a:latin typeface="黑体" panose="02010609060101010101" pitchFamily="49" charset="-122"/>
                <a:ea typeface="黑体" panose="02010609060101010101" pitchFamily="49" charset="-122"/>
              </a:rPr>
              <a:t>实心花柱：</a:t>
            </a:r>
            <a:r>
              <a:rPr lang="zh-CN" altLang="en-US" b="1" dirty="0">
                <a:solidFill>
                  <a:schemeClr val="tx1"/>
                </a:solidFill>
                <a:latin typeface="黑体" panose="02010609060101010101" pitchFamily="49" charset="-122"/>
                <a:ea typeface="黑体" panose="02010609060101010101" pitchFamily="49" charset="-122"/>
              </a:rPr>
              <a:t>一般植物花柱细长，少数极短且不明显。多数植物花柱中央为</a:t>
            </a:r>
            <a:r>
              <a:rPr lang="zh-CN" altLang="en-US" b="1" u="sng" dirty="0">
                <a:solidFill>
                  <a:schemeClr val="tx1"/>
                </a:solidFill>
                <a:latin typeface="黑体" panose="02010609060101010101" pitchFamily="49" charset="-122"/>
                <a:ea typeface="黑体" panose="02010609060101010101" pitchFamily="49" charset="-122"/>
              </a:rPr>
              <a:t>引导组织</a:t>
            </a:r>
            <a:r>
              <a:rPr lang="zh-CN" altLang="en-US" b="1" dirty="0">
                <a:solidFill>
                  <a:schemeClr val="tx1"/>
                </a:solidFill>
                <a:latin typeface="黑体" panose="02010609060101010101" pitchFamily="49" charset="-122"/>
                <a:ea typeface="黑体" panose="02010609060101010101" pitchFamily="49" charset="-122"/>
              </a:rPr>
              <a:t>所充塞，引导组织细胞为长形、壁薄、细胞内含丰富的原生质和淀粉，常呈疏松排列。</a:t>
            </a:r>
          </a:p>
          <a:p>
            <a:pPr lvl="1" eaLnBrk="1" hangingPunct="1"/>
            <a:r>
              <a:rPr lang="zh-CN" altLang="en-US" b="1" dirty="0">
                <a:solidFill>
                  <a:srgbClr val="3333FF"/>
                </a:solidFill>
                <a:latin typeface="黑体" panose="02010609060101010101" pitchFamily="49" charset="-122"/>
                <a:ea typeface="黑体" panose="02010609060101010101" pitchFamily="49" charset="-122"/>
              </a:rPr>
              <a:t>空心花柱：</a:t>
            </a:r>
            <a:r>
              <a:rPr lang="zh-CN" altLang="en-US" b="1" dirty="0">
                <a:solidFill>
                  <a:schemeClr val="tx1"/>
                </a:solidFill>
                <a:latin typeface="黑体" panose="02010609060101010101" pitchFamily="49" charset="-122"/>
                <a:ea typeface="黑体" panose="02010609060101010101" pitchFamily="49" charset="-122"/>
              </a:rPr>
              <a:t>有的植物花柱中央是空心的管道，称</a:t>
            </a:r>
            <a:r>
              <a:rPr lang="zh-CN" altLang="en-US" b="1" u="sng" dirty="0">
                <a:solidFill>
                  <a:schemeClr val="tx1"/>
                </a:solidFill>
                <a:latin typeface="黑体" panose="02010609060101010101" pitchFamily="49" charset="-122"/>
                <a:ea typeface="黑体" panose="02010609060101010101" pitchFamily="49" charset="-122"/>
              </a:rPr>
              <a:t>花柱道</a:t>
            </a:r>
            <a:r>
              <a:rPr lang="zh-CN" altLang="en-US" b="1" dirty="0">
                <a:solidFill>
                  <a:schemeClr val="tx1"/>
                </a:solidFill>
                <a:latin typeface="黑体" panose="02010609060101010101" pitchFamily="49" charset="-122"/>
                <a:ea typeface="黑体" panose="02010609060101010101" pitchFamily="49" charset="-122"/>
              </a:rPr>
              <a:t>，管道的周围是花柱的内表皮，或为</a:t>
            </a:r>
            <a:r>
              <a:rPr lang="en-US" altLang="zh-CN" b="1" dirty="0">
                <a:solidFill>
                  <a:schemeClr val="tx1"/>
                </a:solidFill>
                <a:latin typeface="黑体" panose="02010609060101010101" pitchFamily="49" charset="-122"/>
                <a:ea typeface="黑体" panose="02010609060101010101" pitchFamily="49" charset="-122"/>
              </a:rPr>
              <a:t>2</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3</a:t>
            </a:r>
            <a:r>
              <a:rPr lang="zh-CN" altLang="en-US" b="1" dirty="0">
                <a:solidFill>
                  <a:schemeClr val="tx1"/>
                </a:solidFill>
                <a:latin typeface="黑体" panose="02010609060101010101" pitchFamily="49" charset="-122"/>
                <a:ea typeface="黑体" panose="02010609060101010101" pitchFamily="49" charset="-122"/>
              </a:rPr>
              <a:t>层分泌细胞。</a:t>
            </a:r>
          </a:p>
          <a:p>
            <a:pPr lvl="2" eaLnBrk="1" hangingPunct="1"/>
            <a:r>
              <a:rPr lang="zh-CN" altLang="en-US" b="1" dirty="0">
                <a:latin typeface="黑体" panose="02010609060101010101" pitchFamily="49" charset="-122"/>
                <a:ea typeface="黑体" panose="02010609060101010101" pitchFamily="49" charset="-122"/>
              </a:rPr>
              <a:t>花柱内有维管束分布，一端与花托相连，另一端止于柱头。</a:t>
            </a:r>
          </a:p>
          <a:p>
            <a:pPr eaLnBrk="1" hangingPunct="1"/>
            <a:r>
              <a:rPr lang="zh-CN" altLang="en-US" b="1" dirty="0">
                <a:solidFill>
                  <a:srgbClr val="FF3300"/>
                </a:solidFill>
                <a:latin typeface="黑体" panose="02010609060101010101" pitchFamily="49" charset="-122"/>
                <a:ea typeface="黑体" panose="02010609060101010101" pitchFamily="49" charset="-122"/>
              </a:rPr>
              <a:t>功能：</a:t>
            </a:r>
            <a:r>
              <a:rPr lang="zh-CN" altLang="en-US" b="1" dirty="0">
                <a:solidFill>
                  <a:srgbClr val="3333FF"/>
                </a:solidFill>
                <a:latin typeface="黑体" panose="02010609060101010101" pitchFamily="49" charset="-122"/>
                <a:ea typeface="黑体" panose="02010609060101010101" pitchFamily="49" charset="-122"/>
              </a:rPr>
              <a:t>无论是哪种花柱，当花粉管沿着花柱生长并进入子房时，花柱能为花粉管的生长提供营养和某些趋化物质。 </a:t>
            </a:r>
          </a:p>
        </p:txBody>
      </p:sp>
      <p:sp>
        <p:nvSpPr>
          <p:cNvPr id="567298" name="Rectangle 10"/>
          <p:cNvSpPr>
            <a:spLocks noGrp="1"/>
          </p:cNvSpPr>
          <p:nvPr>
            <p:ph type="title"/>
          </p:nvPr>
        </p:nvSpPr>
        <p:spPr>
          <a:xfrm>
            <a:off x="-396875" y="26987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7299" name="Text Box 2"/>
          <p:cNvSpPr txBox="1"/>
          <p:nvPr/>
        </p:nvSpPr>
        <p:spPr>
          <a:xfrm>
            <a:off x="-396875" y="-100012"/>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1" name="Rectangle 3"/>
          <p:cNvSpPr>
            <a:spLocks noGrp="1"/>
          </p:cNvSpPr>
          <p:nvPr>
            <p:ph idx="1"/>
          </p:nvPr>
        </p:nvSpPr>
        <p:spPr/>
        <p:txBody>
          <a:bodyPr vert="horz" wrap="square" lIns="91440" tIns="45720" rIns="91440" bIns="45720" anchor="t" anchorCtr="0"/>
          <a:lstStyle/>
          <a:p>
            <a:pPr eaLnBrk="1" hangingPunct="1">
              <a:buNone/>
            </a:pPr>
            <a:r>
              <a:rPr lang="en-US" altLang="zh-CN" b="1" dirty="0">
                <a:solidFill>
                  <a:srgbClr val="3333FF"/>
                </a:solidFill>
                <a:latin typeface="黑体" panose="02010609060101010101" pitchFamily="49" charset="-122"/>
                <a:ea typeface="黑体" panose="02010609060101010101" pitchFamily="49" charset="-122"/>
              </a:rPr>
              <a:t>4.</a:t>
            </a:r>
            <a:r>
              <a:rPr lang="zh-CN" altLang="en-US" b="1" dirty="0">
                <a:solidFill>
                  <a:srgbClr val="3333FF"/>
                </a:solidFill>
                <a:latin typeface="黑体" panose="02010609060101010101" pitchFamily="49" charset="-122"/>
                <a:ea typeface="黑体" panose="02010609060101010101" pitchFamily="49" charset="-122"/>
              </a:rPr>
              <a:t>雌蕊群 </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3333FF"/>
                </a:solidFill>
                <a:latin typeface="黑体" panose="02010609060101010101" pitchFamily="49" charset="-122"/>
                <a:ea typeface="黑体" panose="02010609060101010101" pitchFamily="49" charset="-122"/>
              </a:rPr>
              <a:t>雌蕊结构</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FF3300"/>
                </a:solidFill>
                <a:latin typeface="黑体" panose="02010609060101010101" pitchFamily="49" charset="-122"/>
                <a:ea typeface="黑体" panose="02010609060101010101" pitchFamily="49" charset="-122"/>
              </a:rPr>
              <a:t>子房</a:t>
            </a:r>
            <a:r>
              <a:rPr lang="en-US" altLang="zh-CN" b="1" dirty="0">
                <a:solidFill>
                  <a:srgbClr val="3333FF"/>
                </a:solidFill>
                <a:latin typeface="黑体" panose="02010609060101010101" pitchFamily="49" charset="-122"/>
                <a:ea typeface="黑体" panose="02010609060101010101" pitchFamily="49" charset="-122"/>
              </a:rPr>
              <a:t>—— </a:t>
            </a:r>
            <a:r>
              <a:rPr lang="zh-CN" altLang="en-US" b="1" dirty="0">
                <a:solidFill>
                  <a:srgbClr val="FF3300"/>
                </a:solidFill>
                <a:latin typeface="黑体" panose="02010609060101010101" pitchFamily="49" charset="-122"/>
                <a:ea typeface="黑体" panose="02010609060101010101" pitchFamily="49" charset="-122"/>
              </a:rPr>
              <a:t>结构</a:t>
            </a:r>
          </a:p>
          <a:p>
            <a:pPr eaLnBrk="1" hangingPunct="1"/>
            <a:r>
              <a:rPr lang="zh-CN" altLang="en-US" b="1" dirty="0">
                <a:solidFill>
                  <a:srgbClr val="FF3300"/>
                </a:solidFill>
                <a:latin typeface="黑体" panose="02010609060101010101" pitchFamily="49" charset="-122"/>
                <a:ea typeface="黑体" panose="02010609060101010101" pitchFamily="49" charset="-122"/>
              </a:rPr>
              <a:t>定义：</a:t>
            </a:r>
            <a:r>
              <a:rPr lang="zh-CN" altLang="en-US" b="1" dirty="0">
                <a:solidFill>
                  <a:schemeClr val="tx1"/>
                </a:solidFill>
                <a:latin typeface="黑体" panose="02010609060101010101" pitchFamily="49" charset="-122"/>
                <a:ea typeface="黑体" panose="02010609060101010101" pitchFamily="49" charset="-122"/>
              </a:rPr>
              <a:t>子房是雌蕊基部的膨大部分，有柄或无柄，着生在花托上。由子房壁、子房室及其内的胚珠构成。</a:t>
            </a:r>
          </a:p>
          <a:p>
            <a:pPr eaLnBrk="1" hangingPunct="1"/>
            <a:r>
              <a:rPr lang="zh-CN" altLang="en-US" b="1" dirty="0">
                <a:solidFill>
                  <a:srgbClr val="FF0000"/>
                </a:solidFill>
                <a:latin typeface="黑体" panose="02010609060101010101" pitchFamily="49" charset="-122"/>
                <a:ea typeface="黑体" panose="02010609060101010101" pitchFamily="49" charset="-122"/>
              </a:rPr>
              <a:t>子房壁</a:t>
            </a:r>
            <a:r>
              <a:rPr lang="zh-CN" altLang="en-US" b="1" dirty="0">
                <a:solidFill>
                  <a:srgbClr val="3333FF"/>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心皮的全部或一部分成为子房壁。壁的内、外表面都有表皮、气孔和毛茸等结构。每个心皮有一条较大的维管束沿心皮的背缝线分布，另有二条侧生维管束分布在心皮两侧的边缘，即腹缝线处，其作用是是分别向心皮输送水分和养料，同时也通过分枝向子房内壁的胚珠运送养料。</a:t>
            </a:r>
          </a:p>
        </p:txBody>
      </p:sp>
      <p:grpSp>
        <p:nvGrpSpPr>
          <p:cNvPr id="563211" name="Group 11"/>
          <p:cNvGrpSpPr/>
          <p:nvPr/>
        </p:nvGrpSpPr>
        <p:grpSpPr>
          <a:xfrm>
            <a:off x="1619250" y="1809750"/>
            <a:ext cx="6172200" cy="4629150"/>
            <a:chOff x="960" y="1160"/>
            <a:chExt cx="3888" cy="2916"/>
          </a:xfrm>
        </p:grpSpPr>
        <p:pic>
          <p:nvPicPr>
            <p:cNvPr id="568323" name="Picture 4" descr="DSCN6698"/>
            <p:cNvPicPr>
              <a:picLocks noChangeAspect="1"/>
            </p:cNvPicPr>
            <p:nvPr/>
          </p:nvPicPr>
          <p:blipFill>
            <a:blip r:embed="rId3"/>
            <a:stretch>
              <a:fillRect/>
            </a:stretch>
          </p:blipFill>
          <p:spPr>
            <a:xfrm>
              <a:off x="960" y="1160"/>
              <a:ext cx="3888" cy="2916"/>
            </a:xfrm>
            <a:prstGeom prst="rect">
              <a:avLst/>
            </a:prstGeom>
            <a:noFill/>
            <a:ln w="9525">
              <a:noFill/>
            </a:ln>
          </p:spPr>
        </p:pic>
        <p:sp>
          <p:nvSpPr>
            <p:cNvPr id="568324" name="Text Box 5"/>
            <p:cNvSpPr txBox="1"/>
            <p:nvPr/>
          </p:nvSpPr>
          <p:spPr>
            <a:xfrm>
              <a:off x="3360" y="2385"/>
              <a:ext cx="720" cy="288"/>
            </a:xfrm>
            <a:prstGeom prst="rect">
              <a:avLst/>
            </a:prstGeom>
            <a:noFill/>
            <a:ln w="9525">
              <a:noFill/>
            </a:ln>
          </p:spPr>
          <p:txBody>
            <a:bodyPr anchor="t" anchorCtr="0">
              <a:spAutoFit/>
            </a:bodyPr>
            <a:lstStyle/>
            <a:p>
              <a:pPr eaLnBrk="0" hangingPunct="0">
                <a:spcBef>
                  <a:spcPct val="50000"/>
                </a:spcBef>
              </a:pPr>
              <a:r>
                <a:rPr lang="zh-CN" altLang="en-US" dirty="0">
                  <a:solidFill>
                    <a:srgbClr val="FFFF00"/>
                  </a:solidFill>
                  <a:latin typeface="Tahoma" panose="020B0604030504040204" pitchFamily="34" charset="0"/>
                  <a:ea typeface="华文新魏" panose="02010800040101010101" pitchFamily="2" charset="-122"/>
                </a:rPr>
                <a:t>子房</a:t>
              </a:r>
            </a:p>
          </p:txBody>
        </p:sp>
        <p:sp>
          <p:nvSpPr>
            <p:cNvPr id="568325" name="Line 6"/>
            <p:cNvSpPr/>
            <p:nvPr/>
          </p:nvSpPr>
          <p:spPr>
            <a:xfrm>
              <a:off x="3002" y="2544"/>
              <a:ext cx="432" cy="0"/>
            </a:xfrm>
            <a:prstGeom prst="line">
              <a:avLst/>
            </a:prstGeom>
            <a:ln w="38100" cap="flat" cmpd="sng">
              <a:solidFill>
                <a:srgbClr val="FFFF00"/>
              </a:solidFill>
              <a:prstDash val="solid"/>
              <a:miter/>
              <a:headEnd type="none" w="med" len="med"/>
              <a:tailEnd type="none" w="med" len="med"/>
            </a:ln>
          </p:spPr>
          <p:txBody>
            <a:bodyPr/>
            <a:lstStyle/>
            <a:p>
              <a:endParaRPr lang="zh-CN" altLang="en-US"/>
            </a:p>
          </p:txBody>
        </p:sp>
        <p:sp>
          <p:nvSpPr>
            <p:cNvPr id="568326" name="Text Box 7"/>
            <p:cNvSpPr txBox="1"/>
            <p:nvPr/>
          </p:nvSpPr>
          <p:spPr>
            <a:xfrm>
              <a:off x="3360" y="2160"/>
              <a:ext cx="720" cy="288"/>
            </a:xfrm>
            <a:prstGeom prst="rect">
              <a:avLst/>
            </a:prstGeom>
            <a:noFill/>
            <a:ln w="9525">
              <a:noFill/>
            </a:ln>
          </p:spPr>
          <p:txBody>
            <a:bodyPr anchor="t" anchorCtr="0">
              <a:spAutoFit/>
            </a:bodyPr>
            <a:lstStyle/>
            <a:p>
              <a:pPr eaLnBrk="0" hangingPunct="0">
                <a:spcBef>
                  <a:spcPct val="50000"/>
                </a:spcBef>
              </a:pPr>
              <a:r>
                <a:rPr lang="zh-CN" altLang="en-US" dirty="0">
                  <a:solidFill>
                    <a:srgbClr val="FFFF00"/>
                  </a:solidFill>
                  <a:latin typeface="Tahoma" panose="020B0604030504040204" pitchFamily="34" charset="0"/>
                  <a:ea typeface="华文新魏" panose="02010800040101010101" pitchFamily="2" charset="-122"/>
                </a:rPr>
                <a:t>花柱</a:t>
              </a:r>
            </a:p>
          </p:txBody>
        </p:sp>
        <p:sp>
          <p:nvSpPr>
            <p:cNvPr id="568327" name="Line 8"/>
            <p:cNvSpPr/>
            <p:nvPr/>
          </p:nvSpPr>
          <p:spPr>
            <a:xfrm>
              <a:off x="2928" y="2352"/>
              <a:ext cx="506" cy="0"/>
            </a:xfrm>
            <a:prstGeom prst="line">
              <a:avLst/>
            </a:prstGeom>
            <a:ln w="38100" cap="flat" cmpd="sng">
              <a:solidFill>
                <a:srgbClr val="FFFF00"/>
              </a:solidFill>
              <a:prstDash val="solid"/>
              <a:miter/>
              <a:headEnd type="none" w="med" len="med"/>
              <a:tailEnd type="none" w="med" len="med"/>
            </a:ln>
          </p:spPr>
          <p:txBody>
            <a:bodyPr/>
            <a:lstStyle/>
            <a:p>
              <a:endParaRPr lang="zh-CN" altLang="en-US"/>
            </a:p>
          </p:txBody>
        </p:sp>
        <p:sp>
          <p:nvSpPr>
            <p:cNvPr id="568328" name="Text Box 9"/>
            <p:cNvSpPr txBox="1"/>
            <p:nvPr/>
          </p:nvSpPr>
          <p:spPr>
            <a:xfrm>
              <a:off x="3360" y="1894"/>
              <a:ext cx="720" cy="288"/>
            </a:xfrm>
            <a:prstGeom prst="rect">
              <a:avLst/>
            </a:prstGeom>
            <a:noFill/>
            <a:ln w="9525">
              <a:noFill/>
            </a:ln>
          </p:spPr>
          <p:txBody>
            <a:bodyPr anchor="t" anchorCtr="0">
              <a:spAutoFit/>
            </a:bodyPr>
            <a:lstStyle/>
            <a:p>
              <a:pPr eaLnBrk="0" hangingPunct="0">
                <a:spcBef>
                  <a:spcPct val="50000"/>
                </a:spcBef>
              </a:pPr>
              <a:r>
                <a:rPr lang="zh-CN" altLang="en-US" dirty="0">
                  <a:solidFill>
                    <a:srgbClr val="FFFF00"/>
                  </a:solidFill>
                  <a:latin typeface="Tahoma" panose="020B0604030504040204" pitchFamily="34" charset="0"/>
                  <a:ea typeface="华文新魏" panose="02010800040101010101" pitchFamily="2" charset="-122"/>
                </a:rPr>
                <a:t>柱头</a:t>
              </a:r>
            </a:p>
          </p:txBody>
        </p:sp>
        <p:sp>
          <p:nvSpPr>
            <p:cNvPr id="568329" name="Line 10"/>
            <p:cNvSpPr/>
            <p:nvPr/>
          </p:nvSpPr>
          <p:spPr>
            <a:xfrm>
              <a:off x="2928" y="2064"/>
              <a:ext cx="506" cy="0"/>
            </a:xfrm>
            <a:prstGeom prst="line">
              <a:avLst/>
            </a:prstGeom>
            <a:ln w="38100" cap="flat" cmpd="sng">
              <a:solidFill>
                <a:srgbClr val="FF3300"/>
              </a:solidFill>
              <a:prstDash val="solid"/>
              <a:miter/>
              <a:headEnd type="none" w="med" len="med"/>
              <a:tailEnd type="none" w="med" len="med"/>
            </a:ln>
          </p:spPr>
          <p:txBody>
            <a:bodyPr/>
            <a:lstStyle/>
            <a:p>
              <a:endParaRPr lang="zh-CN" altLang="en-US"/>
            </a:p>
          </p:txBody>
        </p:sp>
      </p:grpSp>
      <p:pic>
        <p:nvPicPr>
          <p:cNvPr id="563212" name="Picture 12" descr="枸橘花解剖"/>
          <p:cNvPicPr>
            <a:picLocks noChangeAspect="1"/>
          </p:cNvPicPr>
          <p:nvPr/>
        </p:nvPicPr>
        <p:blipFill>
          <a:blip r:embed="rId4"/>
          <a:stretch>
            <a:fillRect/>
          </a:stretch>
        </p:blipFill>
        <p:spPr>
          <a:xfrm>
            <a:off x="1584325" y="1770063"/>
            <a:ext cx="6553200" cy="4640262"/>
          </a:xfrm>
          <a:prstGeom prst="rect">
            <a:avLst/>
          </a:prstGeom>
          <a:noFill/>
          <a:ln w="9525">
            <a:noFill/>
          </a:ln>
        </p:spPr>
      </p:pic>
      <p:sp>
        <p:nvSpPr>
          <p:cNvPr id="568331" name="Rectangle 10"/>
          <p:cNvSpPr>
            <a:spLocks noGrp="1"/>
          </p:cNvSpPr>
          <p:nvPr>
            <p:ph type="title"/>
          </p:nvPr>
        </p:nvSpPr>
        <p:spPr>
          <a:xfrm>
            <a:off x="-396875" y="25082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8332" name="Text Box 2"/>
          <p:cNvSpPr txBox="1"/>
          <p:nvPr/>
        </p:nvSpPr>
        <p:spPr>
          <a:xfrm>
            <a:off x="-396875" y="-119062"/>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3211"/>
                                        </p:tgtEl>
                                        <p:attrNameLst>
                                          <p:attrName>style.visibility</p:attrName>
                                        </p:attrNameLst>
                                      </p:cBhvr>
                                      <p:to>
                                        <p:strVal val="visible"/>
                                      </p:to>
                                    </p:set>
                                    <p:animEffect transition="in" filter="dissolve">
                                      <p:cBhvr>
                                        <p:cTn id="7" dur="500"/>
                                        <p:tgtEl>
                                          <p:spTgt spid="563211"/>
                                        </p:tgtEl>
                                      </p:cBhvr>
                                    </p:animEffect>
                                  </p:childTnLst>
                                  <p:subTnLst>
                                    <p:set>
                                      <p:cBhvr override="childStyle">
                                        <p:cTn dur="1" fill="hold" display="0" masterRel="nextClick" afterEffect="1"/>
                                        <p:tgtEl>
                                          <p:spTgt spid="563211"/>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63212"/>
                                        </p:tgtEl>
                                        <p:attrNameLst>
                                          <p:attrName>style.visibility</p:attrName>
                                        </p:attrNameLst>
                                      </p:cBhvr>
                                      <p:to>
                                        <p:strVal val="visible"/>
                                      </p:to>
                                    </p:set>
                                    <p:anim calcmode="lin" valueType="num">
                                      <p:cBhvr>
                                        <p:cTn id="12" dur="500" fill="hold"/>
                                        <p:tgtEl>
                                          <p:spTgt spid="563212"/>
                                        </p:tgtEl>
                                        <p:attrNameLst>
                                          <p:attrName>ppt_w</p:attrName>
                                        </p:attrNameLst>
                                      </p:cBhvr>
                                      <p:tavLst>
                                        <p:tav tm="0">
                                          <p:val>
                                            <p:fltVal val="0"/>
                                          </p:val>
                                        </p:tav>
                                        <p:tav tm="100000">
                                          <p:val>
                                            <p:strVal val="#ppt_w"/>
                                          </p:val>
                                        </p:tav>
                                      </p:tavLst>
                                    </p:anim>
                                    <p:anim calcmode="lin" valueType="num">
                                      <p:cBhvr>
                                        <p:cTn id="13" dur="500" fill="hold"/>
                                        <p:tgtEl>
                                          <p:spTgt spid="5632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5" name="Rectangle 3"/>
          <p:cNvSpPr>
            <a:spLocks noGrp="1"/>
          </p:cNvSpPr>
          <p:nvPr>
            <p:ph idx="1"/>
          </p:nvPr>
        </p:nvSpPr>
        <p:spPr>
          <a:xfrm>
            <a:off x="0" y="1295400"/>
            <a:ext cx="7086600" cy="5141913"/>
          </a:xfrm>
        </p:spPr>
        <p:txBody>
          <a:bodyPr vert="horz" wrap="square" lIns="91440" tIns="45720" rIns="91440" bIns="45720" anchor="t" anchorCtr="0"/>
          <a:lstStyle/>
          <a:p>
            <a:pPr eaLnBrk="1" hangingPunct="1">
              <a:buNone/>
            </a:pPr>
            <a:r>
              <a:rPr lang="en-US" altLang="zh-CN" dirty="0">
                <a:solidFill>
                  <a:srgbClr val="3333FF"/>
                </a:solidFill>
                <a:latin typeface="华文新魏" panose="02010800040101010101" pitchFamily="2" charset="-122"/>
              </a:rPr>
              <a:t>4.</a:t>
            </a:r>
            <a:r>
              <a:rPr lang="zh-CN" altLang="en-US" dirty="0">
                <a:solidFill>
                  <a:srgbClr val="3333FF"/>
                </a:solidFill>
                <a:latin typeface="华文新魏" panose="02010800040101010101" pitchFamily="2" charset="-122"/>
              </a:rPr>
              <a:t>雌蕊群 </a:t>
            </a:r>
            <a:r>
              <a:rPr lang="en-US" altLang="zh-CN" dirty="0">
                <a:solidFill>
                  <a:srgbClr val="3333FF"/>
                </a:solidFill>
                <a:latin typeface="Times New Roman" panose="02020603050405020304" pitchFamily="18" charset="0"/>
              </a:rPr>
              <a:t>——</a:t>
            </a:r>
            <a:r>
              <a:rPr lang="en-US" altLang="zh-CN" dirty="0">
                <a:solidFill>
                  <a:srgbClr val="3333FF"/>
                </a:solidFill>
                <a:latin typeface="华文新魏" panose="02010800040101010101" pitchFamily="2" charset="-122"/>
              </a:rPr>
              <a:t> </a:t>
            </a:r>
            <a:r>
              <a:rPr lang="zh-CN" altLang="en-US" dirty="0">
                <a:solidFill>
                  <a:srgbClr val="3333FF"/>
                </a:solidFill>
                <a:latin typeface="华文新魏" panose="02010800040101010101" pitchFamily="2" charset="-122"/>
              </a:rPr>
              <a:t>雌蕊类型</a:t>
            </a:r>
          </a:p>
          <a:p>
            <a:pPr eaLnBrk="1" hangingPunct="1">
              <a:lnSpc>
                <a:spcPct val="80000"/>
              </a:lnSpc>
            </a:pPr>
            <a:r>
              <a:rPr lang="zh-CN" altLang="en-US" sz="2400" dirty="0">
                <a:solidFill>
                  <a:srgbClr val="FF3300"/>
                </a:solidFill>
                <a:latin typeface="华文新魏" panose="02010800040101010101" pitchFamily="2" charset="-122"/>
              </a:rPr>
              <a:t>单心皮类：</a:t>
            </a:r>
            <a:r>
              <a:rPr lang="zh-CN" altLang="en-US" sz="2400" dirty="0">
                <a:solidFill>
                  <a:srgbClr val="3333FF"/>
                </a:solidFill>
                <a:latin typeface="华文新魏" panose="02010800040101010101" pitchFamily="2" charset="-122"/>
              </a:rPr>
              <a:t>一朵花中的雌蕊只有一个心皮所构成，</a:t>
            </a:r>
            <a:r>
              <a:rPr lang="zh-CN" altLang="en-US" sz="1900" dirty="0">
                <a:solidFill>
                  <a:schemeClr val="tx2"/>
                </a:solidFill>
                <a:latin typeface="华文新魏" panose="02010800040101010101" pitchFamily="2" charset="-122"/>
              </a:rPr>
              <a:t> </a:t>
            </a:r>
          </a:p>
          <a:p>
            <a:pPr eaLnBrk="1" hangingPunct="1">
              <a:lnSpc>
                <a:spcPct val="80000"/>
              </a:lnSpc>
              <a:buNone/>
            </a:pPr>
            <a:r>
              <a:rPr lang="zh-CN" altLang="en-US" sz="1900" dirty="0">
                <a:solidFill>
                  <a:schemeClr val="tx2"/>
                </a:solidFill>
                <a:latin typeface="华文新魏" panose="02010800040101010101" pitchFamily="2" charset="-122"/>
              </a:rPr>
              <a:t>                                </a:t>
            </a:r>
            <a:r>
              <a:rPr lang="zh-CN" altLang="en-US" sz="2400" dirty="0">
                <a:solidFill>
                  <a:srgbClr val="3333FF"/>
                </a:solidFill>
                <a:latin typeface="华文新魏" panose="02010800040101010101" pitchFamily="2" charset="-122"/>
              </a:rPr>
              <a:t>称单雌蕊。</a:t>
            </a:r>
          </a:p>
          <a:p>
            <a:pPr eaLnBrk="1" hangingPunct="1">
              <a:lnSpc>
                <a:spcPct val="80000"/>
              </a:lnSpc>
              <a:buNone/>
            </a:pPr>
            <a:r>
              <a:rPr lang="zh-CN" altLang="en-US" sz="2400" dirty="0">
                <a:solidFill>
                  <a:srgbClr val="3333FF"/>
                </a:solidFill>
                <a:latin typeface="华文新魏" panose="02010800040101010101" pitchFamily="2" charset="-122"/>
              </a:rPr>
              <a:t>                       </a:t>
            </a:r>
            <a:r>
              <a:rPr lang="zh-CN" altLang="en-US" sz="2400" dirty="0">
                <a:solidFill>
                  <a:srgbClr val="FF00FF"/>
                </a:solidFill>
                <a:latin typeface="华文新魏" panose="02010800040101010101" pitchFamily="2" charset="-122"/>
              </a:rPr>
              <a:t>离生雌蕊：</a:t>
            </a:r>
            <a:r>
              <a:rPr lang="zh-CN" altLang="en-US" sz="2400" dirty="0">
                <a:solidFill>
                  <a:schemeClr val="tx1"/>
                </a:solidFill>
                <a:latin typeface="华文新魏" panose="02010800040101010101" pitchFamily="2" charset="-122"/>
              </a:rPr>
              <a:t>心皮各自分离，形成一朵 </a:t>
            </a:r>
          </a:p>
          <a:p>
            <a:pPr eaLnBrk="1" hangingPunct="1">
              <a:lnSpc>
                <a:spcPct val="80000"/>
              </a:lnSpc>
              <a:buNone/>
            </a:pPr>
            <a:r>
              <a:rPr lang="zh-CN" altLang="en-US" sz="2400" dirty="0">
                <a:solidFill>
                  <a:schemeClr val="tx1"/>
                </a:solidFill>
                <a:latin typeface="华文新魏" panose="02010800040101010101" pitchFamily="2" charset="-122"/>
              </a:rPr>
              <a:t>                                           花内具多个雌蕊。每个心</a:t>
            </a:r>
          </a:p>
          <a:p>
            <a:pPr eaLnBrk="1" hangingPunct="1">
              <a:lnSpc>
                <a:spcPct val="80000"/>
              </a:lnSpc>
              <a:buNone/>
            </a:pPr>
            <a:r>
              <a:rPr lang="zh-CN" altLang="en-US" sz="2400" dirty="0">
                <a:solidFill>
                  <a:schemeClr val="tx1"/>
                </a:solidFill>
                <a:latin typeface="华文新魏" panose="02010800040101010101" pitchFamily="2" charset="-122"/>
              </a:rPr>
              <a:t>                                           皮构成的结构也属单雌蕊。</a:t>
            </a:r>
          </a:p>
          <a:p>
            <a:pPr eaLnBrk="1" hangingPunct="1">
              <a:lnSpc>
                <a:spcPct val="80000"/>
              </a:lnSpc>
            </a:pPr>
            <a:r>
              <a:rPr lang="zh-CN" altLang="en-US" sz="2400" dirty="0">
                <a:solidFill>
                  <a:srgbClr val="FF3300"/>
                </a:solidFill>
                <a:latin typeface="华文新魏" panose="02010800040101010101" pitchFamily="2" charset="-122"/>
              </a:rPr>
              <a:t>多心皮类</a:t>
            </a:r>
          </a:p>
          <a:p>
            <a:pPr algn="just" eaLnBrk="1" hangingPunct="1">
              <a:lnSpc>
                <a:spcPct val="80000"/>
              </a:lnSpc>
              <a:buNone/>
            </a:pPr>
            <a:r>
              <a:rPr lang="zh-CN" altLang="en-US" sz="2400" dirty="0">
                <a:solidFill>
                  <a:schemeClr val="tx1"/>
                </a:solidFill>
                <a:latin typeface="华文新魏" panose="02010800040101010101" pitchFamily="2" charset="-122"/>
              </a:rPr>
              <a:t>                                           </a:t>
            </a:r>
            <a:r>
              <a:rPr lang="zh-CN" altLang="en-US" sz="2400" dirty="0">
                <a:latin typeface="华文新魏" panose="02010800040101010101" pitchFamily="2" charset="-122"/>
              </a:rPr>
              <a:t>子房、花柱，柱头全合生</a:t>
            </a:r>
          </a:p>
          <a:p>
            <a:pPr algn="just" eaLnBrk="1" hangingPunct="1">
              <a:lnSpc>
                <a:spcPct val="80000"/>
              </a:lnSpc>
              <a:buNone/>
            </a:pPr>
            <a:r>
              <a:rPr lang="zh-CN" altLang="en-US" sz="2400" dirty="0">
                <a:solidFill>
                  <a:schemeClr val="tx1"/>
                </a:solidFill>
                <a:latin typeface="华文新魏" panose="02010800040101010101" pitchFamily="2" charset="-122"/>
              </a:rPr>
              <a:t>                       </a:t>
            </a:r>
            <a:r>
              <a:rPr lang="zh-CN" altLang="en-US" sz="2400" dirty="0">
                <a:solidFill>
                  <a:srgbClr val="FF00FF"/>
                </a:solidFill>
                <a:latin typeface="华文新魏" panose="02010800040101010101" pitchFamily="2" charset="-122"/>
              </a:rPr>
              <a:t>合生雌蕊    </a:t>
            </a:r>
            <a:r>
              <a:rPr lang="zh-CN" altLang="en-US" sz="2400" dirty="0">
                <a:latin typeface="华文新魏" panose="02010800040101010101" pitchFamily="2" charset="-122"/>
              </a:rPr>
              <a:t>心皮合生花柱合生柱头分离</a:t>
            </a:r>
          </a:p>
          <a:p>
            <a:pPr algn="just" eaLnBrk="1" hangingPunct="1">
              <a:lnSpc>
                <a:spcPct val="80000"/>
              </a:lnSpc>
              <a:buNone/>
            </a:pPr>
            <a:r>
              <a:rPr lang="zh-CN" altLang="en-US" sz="2400" dirty="0">
                <a:latin typeface="华文新魏" panose="02010800040101010101" pitchFamily="2" charset="-122"/>
              </a:rPr>
              <a:t>                    （复雌蕊）   子房合生，花柱、柱头分离</a:t>
            </a:r>
          </a:p>
        </p:txBody>
      </p:sp>
      <p:sp>
        <p:nvSpPr>
          <p:cNvPr id="569346" name="AutoShape 4"/>
          <p:cNvSpPr/>
          <p:nvPr/>
        </p:nvSpPr>
        <p:spPr>
          <a:xfrm>
            <a:off x="1611313" y="2514600"/>
            <a:ext cx="228600" cy="2133600"/>
          </a:xfrm>
          <a:prstGeom prst="leftBrace">
            <a:avLst>
              <a:gd name="adj1" fmla="val 77000"/>
              <a:gd name="adj2" fmla="val 60491"/>
            </a:avLst>
          </a:prstGeom>
          <a:noFill/>
          <a:ln w="28575"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sp>
        <p:nvSpPr>
          <p:cNvPr id="569347" name="AutoShape 5"/>
          <p:cNvSpPr/>
          <p:nvPr/>
        </p:nvSpPr>
        <p:spPr>
          <a:xfrm>
            <a:off x="3124200" y="3979863"/>
            <a:ext cx="228600" cy="973137"/>
          </a:xfrm>
          <a:prstGeom prst="leftBrace">
            <a:avLst>
              <a:gd name="adj1" fmla="val 35119"/>
              <a:gd name="adj2" fmla="val 52528"/>
            </a:avLst>
          </a:prstGeom>
          <a:noFill/>
          <a:ln w="28575" cap="flat" cmpd="sng">
            <a:solidFill>
              <a:srgbClr val="FF3300"/>
            </a:solidFill>
            <a:prstDash val="solid"/>
            <a:round/>
            <a:headEnd type="none" w="med" len="med"/>
            <a:tailEnd type="none" w="med" len="med"/>
          </a:ln>
        </p:spPr>
        <p:txBody>
          <a:bodyPr wrap="none" anchor="ctr" anchorCtr="0"/>
          <a:lstStyle/>
          <a:p>
            <a:pPr eaLnBrk="0" hangingPunct="0"/>
            <a:endParaRPr lang="zh-CN" altLang="en-US" dirty="0">
              <a:latin typeface="Tahoma" panose="020B0604030504040204" pitchFamily="34" charset="0"/>
              <a:ea typeface="华文新魏" panose="02010800040101010101" pitchFamily="2" charset="-122"/>
            </a:endParaRPr>
          </a:p>
        </p:txBody>
      </p:sp>
      <p:pic>
        <p:nvPicPr>
          <p:cNvPr id="569348" name="Picture 6"/>
          <p:cNvPicPr>
            <a:picLocks noChangeAspect="1"/>
          </p:cNvPicPr>
          <p:nvPr/>
        </p:nvPicPr>
        <p:blipFill>
          <a:blip r:embed="rId3"/>
          <a:stretch>
            <a:fillRect/>
          </a:stretch>
        </p:blipFill>
        <p:spPr>
          <a:xfrm>
            <a:off x="8021638" y="0"/>
            <a:ext cx="1122362" cy="2590800"/>
          </a:xfrm>
          <a:prstGeom prst="rect">
            <a:avLst/>
          </a:prstGeom>
          <a:noFill/>
          <a:ln w="9525">
            <a:noFill/>
          </a:ln>
        </p:spPr>
      </p:pic>
      <p:pic>
        <p:nvPicPr>
          <p:cNvPr id="569349" name="Picture 7"/>
          <p:cNvPicPr>
            <a:picLocks noChangeAspect="1"/>
          </p:cNvPicPr>
          <p:nvPr/>
        </p:nvPicPr>
        <p:blipFill>
          <a:blip r:embed="rId4"/>
          <a:stretch>
            <a:fillRect/>
          </a:stretch>
        </p:blipFill>
        <p:spPr>
          <a:xfrm>
            <a:off x="7239000" y="2590800"/>
            <a:ext cx="1905000" cy="2133600"/>
          </a:xfrm>
          <a:prstGeom prst="rect">
            <a:avLst/>
          </a:prstGeom>
          <a:noFill/>
          <a:ln w="9525">
            <a:noFill/>
          </a:ln>
        </p:spPr>
      </p:pic>
      <p:pic>
        <p:nvPicPr>
          <p:cNvPr id="569350" name="Picture 8"/>
          <p:cNvPicPr>
            <a:picLocks noChangeAspect="1"/>
          </p:cNvPicPr>
          <p:nvPr/>
        </p:nvPicPr>
        <p:blipFill>
          <a:blip r:embed="rId5"/>
          <a:stretch>
            <a:fillRect/>
          </a:stretch>
        </p:blipFill>
        <p:spPr>
          <a:xfrm>
            <a:off x="7239000" y="4724400"/>
            <a:ext cx="1905000" cy="1874838"/>
          </a:xfrm>
          <a:prstGeom prst="rect">
            <a:avLst/>
          </a:prstGeom>
          <a:noFill/>
          <a:ln w="9525">
            <a:noFill/>
          </a:ln>
        </p:spPr>
      </p:pic>
      <p:pic>
        <p:nvPicPr>
          <p:cNvPr id="568331" name="Picture 11" descr="t4-19"/>
          <p:cNvPicPr>
            <a:picLocks noChangeAspect="1"/>
          </p:cNvPicPr>
          <p:nvPr/>
        </p:nvPicPr>
        <p:blipFill>
          <a:blip r:embed="rId6"/>
          <a:stretch>
            <a:fillRect/>
          </a:stretch>
        </p:blipFill>
        <p:spPr>
          <a:xfrm>
            <a:off x="1992313" y="1503363"/>
            <a:ext cx="3975100" cy="4725987"/>
          </a:xfrm>
          <a:prstGeom prst="rect">
            <a:avLst/>
          </a:prstGeom>
          <a:noFill/>
          <a:ln w="28575" cap="flat" cmpd="sng">
            <a:solidFill>
              <a:srgbClr val="3333FF"/>
            </a:solidFill>
            <a:prstDash val="solid"/>
            <a:miter/>
            <a:headEnd type="none" w="med" len="med"/>
            <a:tailEnd type="none" w="med" len="med"/>
          </a:ln>
        </p:spPr>
      </p:pic>
      <p:sp>
        <p:nvSpPr>
          <p:cNvPr id="569352" name="Rectangle 10"/>
          <p:cNvSpPr>
            <a:spLocks noGrp="1"/>
          </p:cNvSpPr>
          <p:nvPr>
            <p:ph type="title"/>
          </p:nvPr>
        </p:nvSpPr>
        <p:spPr>
          <a:xfrm>
            <a:off x="-396875" y="276225"/>
            <a:ext cx="9144000" cy="1143000"/>
          </a:xfrm>
        </p:spPr>
        <p:txBody>
          <a:bodyPr vert="horz" wrap="square" lIns="91440" tIns="45720" rIns="91440" bIns="45720" anchor="b" anchorCtr="0"/>
          <a:lstStyle/>
          <a:p>
            <a:pPr eaLnBrk="1" hangingPunct="1">
              <a:buNone/>
            </a:pPr>
            <a:r>
              <a:rPr lang="zh-CN" altLang="en-US" sz="2800" b="1" dirty="0">
                <a:latin typeface="黑体" panose="02010609060101010101" pitchFamily="49" charset="-122"/>
                <a:ea typeface="黑体" panose="02010609060101010101" pitchFamily="49" charset="-122"/>
              </a:rPr>
              <a:t> （一）花的概念和花的组成</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 </a:t>
            </a:r>
            <a:r>
              <a:rPr lang="zh-CN" altLang="en-US" sz="2800" b="1" dirty="0">
                <a:solidFill>
                  <a:srgbClr val="3333FF"/>
                </a:solidFill>
                <a:latin typeface="黑体" panose="02010609060101010101" pitchFamily="49" charset="-122"/>
                <a:ea typeface="黑体" panose="02010609060101010101" pitchFamily="49" charset="-122"/>
              </a:rPr>
              <a:t> ②花的组成</a:t>
            </a:r>
          </a:p>
        </p:txBody>
      </p:sp>
      <p:sp>
        <p:nvSpPr>
          <p:cNvPr id="569353" name="Text Box 2"/>
          <p:cNvSpPr txBox="1"/>
          <p:nvPr/>
        </p:nvSpPr>
        <p:spPr>
          <a:xfrm>
            <a:off x="-396875" y="-93662"/>
            <a:ext cx="9144000" cy="584200"/>
          </a:xfrm>
          <a:prstGeom prst="rect">
            <a:avLst/>
          </a:prstGeom>
          <a:noFill/>
          <a:ln w="9525">
            <a:noFill/>
          </a:ln>
        </p:spPr>
        <p:txBody>
          <a:bodyPr anchor="t" anchorCtr="0">
            <a:spAutoFit/>
          </a:bodyPr>
          <a:lstStyle/>
          <a:p>
            <a:pPr eaLnBrk="0" hangingPunct="0">
              <a:spcBef>
                <a:spcPct val="50000"/>
              </a:spcBef>
            </a:pPr>
            <a:r>
              <a:rPr lang="zh-CN" altLang="en-US" sz="3200" b="1" dirty="0">
                <a:solidFill>
                  <a:srgbClr val="3333FF"/>
                </a:solidFill>
                <a:latin typeface="黑体" panose="02010609060101010101" pitchFamily="49" charset="-122"/>
                <a:ea typeface="黑体" panose="02010609060101010101" pitchFamily="49" charset="-122"/>
              </a:rPr>
              <a:t>  五、花的解剖结构 </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8331"/>
                                        </p:tgtEl>
                                        <p:attrNameLst>
                                          <p:attrName>style.visibility</p:attrName>
                                        </p:attrNameLst>
                                      </p:cBhvr>
                                      <p:to>
                                        <p:strVal val="visible"/>
                                      </p:to>
                                    </p:set>
                                    <p:animEffect transition="in" filter="dissolve">
                                      <p:cBhvr>
                                        <p:cTn id="7" dur="500"/>
                                        <p:tgtEl>
                                          <p:spTgt spid="568331"/>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69" name="Text Box 7"/>
          <p:cNvSpPr txBox="1"/>
          <p:nvPr/>
        </p:nvSpPr>
        <p:spPr>
          <a:xfrm>
            <a:off x="2286000" y="2565400"/>
            <a:ext cx="6696075" cy="708025"/>
          </a:xfrm>
          <a:prstGeom prst="rect">
            <a:avLst/>
          </a:prstGeom>
          <a:noFill/>
          <a:ln w="9525">
            <a:noFill/>
          </a:ln>
        </p:spPr>
        <p:txBody>
          <a:bodyPr anchor="t" anchorCtr="0">
            <a:spAutoFit/>
          </a:bodyPr>
          <a:lstStyle/>
          <a:p>
            <a:pPr>
              <a:spcBef>
                <a:spcPct val="50000"/>
              </a:spcBef>
            </a:pPr>
            <a:r>
              <a:rPr lang="zh-CN" altLang="en-US" sz="4000" b="1" dirty="0">
                <a:solidFill>
                  <a:srgbClr val="0000FF"/>
                </a:solidFill>
                <a:latin typeface="黑体" panose="02010609060101010101" pitchFamily="49" charset="-122"/>
                <a:ea typeface="黑体" panose="02010609060101010101" pitchFamily="49" charset="-122"/>
              </a:rPr>
              <a:t>六、果实和种子</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14375" y="549275"/>
            <a:ext cx="7602538" cy="3743325"/>
            <a:chOff x="450" y="527"/>
            <a:chExt cx="4789" cy="2358"/>
          </a:xfrm>
        </p:grpSpPr>
        <p:pic>
          <p:nvPicPr>
            <p:cNvPr id="571394" name="Picture 3"/>
            <p:cNvPicPr>
              <a:picLocks noChangeAspect="1"/>
            </p:cNvPicPr>
            <p:nvPr/>
          </p:nvPicPr>
          <p:blipFill>
            <a:blip r:embed="rId2"/>
            <a:stretch>
              <a:fillRect/>
            </a:stretch>
          </p:blipFill>
          <p:spPr>
            <a:xfrm>
              <a:off x="450" y="527"/>
              <a:ext cx="4789" cy="2358"/>
            </a:xfrm>
            <a:prstGeom prst="rect">
              <a:avLst/>
            </a:prstGeom>
            <a:noFill/>
            <a:ln w="9525">
              <a:noFill/>
            </a:ln>
          </p:spPr>
        </p:pic>
        <p:sp>
          <p:nvSpPr>
            <p:cNvPr id="571395" name="Text Box 4"/>
            <p:cNvSpPr txBox="1"/>
            <p:nvPr/>
          </p:nvSpPr>
          <p:spPr>
            <a:xfrm>
              <a:off x="1157" y="2296"/>
              <a:ext cx="408" cy="288"/>
            </a:xfrm>
            <a:prstGeom prst="rect">
              <a:avLst/>
            </a:prstGeom>
            <a:noFill/>
            <a:ln w="9525">
              <a:noFill/>
            </a:ln>
          </p:spPr>
          <p:txBody>
            <a:bodyPr anchor="t" anchorCtr="0">
              <a:spAutoFit/>
            </a:bodyPr>
            <a:lstStyle/>
            <a:p>
              <a:pPr>
                <a:spcBef>
                  <a:spcPct val="50000"/>
                </a:spcBef>
              </a:pPr>
              <a:r>
                <a:rPr lang="en-US" altLang="zh-CN" b="1" dirty="0">
                  <a:latin typeface="Times New Roman" panose="02020603050405020304" pitchFamily="18" charset="0"/>
                  <a:ea typeface="宋体" panose="02010600030101010101" pitchFamily="2" charset="-122"/>
                </a:rPr>
                <a:t>1</a:t>
              </a:r>
            </a:p>
          </p:txBody>
        </p:sp>
        <p:sp>
          <p:nvSpPr>
            <p:cNvPr id="571396" name="Text Box 5"/>
            <p:cNvSpPr txBox="1"/>
            <p:nvPr/>
          </p:nvSpPr>
          <p:spPr>
            <a:xfrm>
              <a:off x="3469" y="2251"/>
              <a:ext cx="409" cy="288"/>
            </a:xfrm>
            <a:prstGeom prst="rect">
              <a:avLst/>
            </a:prstGeom>
            <a:noFill/>
            <a:ln w="9525">
              <a:noFill/>
            </a:ln>
          </p:spPr>
          <p:txBody>
            <a:bodyPr anchor="t" anchorCtr="0">
              <a:spAutoFit/>
            </a:bodyPr>
            <a:lstStyle/>
            <a:p>
              <a:pPr>
                <a:spcBef>
                  <a:spcPct val="50000"/>
                </a:spcBef>
              </a:pPr>
              <a:r>
                <a:rPr lang="en-US" altLang="zh-CN" b="1" dirty="0">
                  <a:latin typeface="Times New Roman" panose="02020603050405020304" pitchFamily="18" charset="0"/>
                  <a:ea typeface="宋体" panose="02010600030101010101" pitchFamily="2" charset="-122"/>
                </a:rPr>
                <a:t>2</a:t>
              </a:r>
            </a:p>
          </p:txBody>
        </p:sp>
      </p:grpSp>
      <p:sp>
        <p:nvSpPr>
          <p:cNvPr id="16390" name="Text Box 6"/>
          <p:cNvSpPr txBox="1"/>
          <p:nvPr/>
        </p:nvSpPr>
        <p:spPr>
          <a:xfrm>
            <a:off x="1187450" y="3141663"/>
            <a:ext cx="2087563" cy="641350"/>
          </a:xfrm>
          <a:prstGeom prst="rect">
            <a:avLst/>
          </a:prstGeom>
          <a:solidFill>
            <a:srgbClr val="FFFF00"/>
          </a:solidFill>
          <a:ln w="9525">
            <a:noFill/>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宋体" panose="02010600030101010101" pitchFamily="2" charset="-122"/>
              </a:rPr>
              <a:t>自花传粉</a:t>
            </a:r>
          </a:p>
        </p:txBody>
      </p:sp>
      <p:sp>
        <p:nvSpPr>
          <p:cNvPr id="16391" name="Text Box 7"/>
          <p:cNvSpPr txBox="1"/>
          <p:nvPr/>
        </p:nvSpPr>
        <p:spPr>
          <a:xfrm>
            <a:off x="4932363" y="3141663"/>
            <a:ext cx="2087562" cy="641350"/>
          </a:xfrm>
          <a:prstGeom prst="rect">
            <a:avLst/>
          </a:prstGeom>
          <a:solidFill>
            <a:srgbClr val="FFFF00"/>
          </a:solidFill>
          <a:ln w="9525">
            <a:noFill/>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宋体" panose="02010600030101010101" pitchFamily="2" charset="-122"/>
              </a:rPr>
              <a:t>异花传粉</a:t>
            </a:r>
          </a:p>
        </p:txBody>
      </p:sp>
      <p:grpSp>
        <p:nvGrpSpPr>
          <p:cNvPr id="571399" name="Group 8"/>
          <p:cNvGrpSpPr/>
          <p:nvPr/>
        </p:nvGrpSpPr>
        <p:grpSpPr>
          <a:xfrm>
            <a:off x="0" y="115888"/>
            <a:ext cx="1600200" cy="838200"/>
            <a:chOff x="288" y="288"/>
            <a:chExt cx="1728" cy="528"/>
          </a:xfrm>
        </p:grpSpPr>
        <p:sp>
          <p:nvSpPr>
            <p:cNvPr id="571400" name="AutoShape 9"/>
            <p:cNvSpPr/>
            <p:nvPr/>
          </p:nvSpPr>
          <p:spPr>
            <a:xfrm>
              <a:off x="288" y="324"/>
              <a:ext cx="1728" cy="492"/>
            </a:xfrm>
            <a:prstGeom prst="roundRect">
              <a:avLst>
                <a:gd name="adj" fmla="val 16667"/>
              </a:avLst>
            </a:prstGeom>
            <a:solidFill>
              <a:srgbClr val="FF0000"/>
            </a:solidFill>
            <a:ln w="9525">
              <a:noFill/>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571401" name="Text Box 10"/>
            <p:cNvSpPr txBox="1"/>
            <p:nvPr/>
          </p:nvSpPr>
          <p:spPr>
            <a:xfrm>
              <a:off x="288" y="288"/>
              <a:ext cx="1680" cy="519"/>
            </a:xfrm>
            <a:prstGeom prst="rect">
              <a:avLst/>
            </a:prstGeom>
            <a:noFill/>
            <a:ln w="9525">
              <a:noFill/>
            </a:ln>
          </p:spPr>
          <p:txBody>
            <a:bodyPr anchor="t" anchorCtr="0">
              <a:spAutoFit/>
            </a:bodyPr>
            <a:lstStyle/>
            <a:p>
              <a:pPr>
                <a:spcBef>
                  <a:spcPct val="50000"/>
                </a:spcBef>
              </a:pPr>
              <a:r>
                <a:rPr lang="zh-CN" altLang="en-US" sz="4800" b="1" dirty="0">
                  <a:solidFill>
                    <a:srgbClr val="FFFF00"/>
                  </a:solidFill>
                  <a:latin typeface="Times New Roman" panose="02020603050405020304" pitchFamily="18" charset="0"/>
                  <a:ea typeface="黑体" panose="02010609060101010101" pitchFamily="49" charset="-122"/>
                </a:rPr>
                <a:t>传粉</a:t>
              </a:r>
            </a:p>
          </p:txBody>
        </p:sp>
      </p:grpSp>
      <p:sp>
        <p:nvSpPr>
          <p:cNvPr id="16395" name="Text Box 11"/>
          <p:cNvSpPr txBox="1"/>
          <p:nvPr/>
        </p:nvSpPr>
        <p:spPr>
          <a:xfrm>
            <a:off x="1833563" y="115888"/>
            <a:ext cx="7131050" cy="1190625"/>
          </a:xfrm>
          <a:prstGeom prst="rect">
            <a:avLst/>
          </a:prstGeom>
          <a:solidFill>
            <a:schemeClr val="bg1"/>
          </a:solidFill>
          <a:ln w="9525">
            <a:noFill/>
          </a:ln>
        </p:spPr>
        <p:txBody>
          <a:bodyPr anchor="t" anchorCtr="0">
            <a:spAutoFit/>
          </a:bodyPr>
          <a:lstStyle/>
          <a:p>
            <a:pPr>
              <a:spcBef>
                <a:spcPct val="50000"/>
              </a:spcBef>
            </a:pPr>
            <a:r>
              <a:rPr lang="zh-CN" altLang="en-US" sz="3600" b="1" dirty="0">
                <a:solidFill>
                  <a:srgbClr val="0000FF"/>
                </a:solidFill>
                <a:latin typeface="Times New Roman" panose="02020603050405020304" pitchFamily="18" charset="0"/>
                <a:ea typeface="黑体" panose="02010609060101010101" pitchFamily="49" charset="-122"/>
              </a:rPr>
              <a:t>花粉从花药里散发出来，通过一定的方式，落到雌蕊的柱头上的过程</a:t>
            </a:r>
          </a:p>
        </p:txBody>
      </p:sp>
      <p:sp>
        <p:nvSpPr>
          <p:cNvPr id="16396" name="Text Box 12"/>
          <p:cNvSpPr txBox="1"/>
          <p:nvPr/>
        </p:nvSpPr>
        <p:spPr>
          <a:xfrm>
            <a:off x="2665413" y="3933825"/>
            <a:ext cx="6875462" cy="579438"/>
          </a:xfrm>
          <a:prstGeom prst="rect">
            <a:avLst/>
          </a:prstGeom>
          <a:no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宋体" panose="02010600030101010101" pitchFamily="2" charset="-122"/>
              </a:rPr>
              <a:t>花粉落到同一朵花的柱头上的过程。</a:t>
            </a:r>
          </a:p>
        </p:txBody>
      </p:sp>
      <p:sp>
        <p:nvSpPr>
          <p:cNvPr id="16397" name="Text Box 13"/>
          <p:cNvSpPr txBox="1"/>
          <p:nvPr/>
        </p:nvSpPr>
        <p:spPr>
          <a:xfrm>
            <a:off x="755650" y="3937000"/>
            <a:ext cx="2017713" cy="579438"/>
          </a:xfrm>
          <a:prstGeom prst="rect">
            <a:avLst/>
          </a:prstGeom>
          <a:solidFill>
            <a:schemeClr val="bg1"/>
          </a:solidFill>
          <a:ln w="9525">
            <a:noFill/>
          </a:ln>
        </p:spPr>
        <p:txBody>
          <a:bodyPr anchor="t" anchorCtr="0">
            <a:spAutoFit/>
          </a:bodyPr>
          <a:lstStyle/>
          <a:p>
            <a:pPr>
              <a:spcBef>
                <a:spcPct val="50000"/>
              </a:spcBef>
            </a:pPr>
            <a:r>
              <a:rPr lang="zh-CN" altLang="en-US" sz="3200" b="1" dirty="0">
                <a:solidFill>
                  <a:srgbClr val="0000FF"/>
                </a:solidFill>
                <a:latin typeface="Times New Roman" panose="02020603050405020304" pitchFamily="18" charset="0"/>
                <a:ea typeface="黑体" panose="02010609060101010101" pitchFamily="49" charset="-122"/>
              </a:rPr>
              <a:t>自花传粉</a:t>
            </a:r>
          </a:p>
        </p:txBody>
      </p:sp>
      <p:sp>
        <p:nvSpPr>
          <p:cNvPr id="16398" name="Text Box 14"/>
          <p:cNvSpPr txBox="1"/>
          <p:nvPr/>
        </p:nvSpPr>
        <p:spPr>
          <a:xfrm>
            <a:off x="755650" y="5014913"/>
            <a:ext cx="2016125" cy="579437"/>
          </a:xfrm>
          <a:prstGeom prst="rect">
            <a:avLst/>
          </a:prstGeom>
          <a:solidFill>
            <a:schemeClr val="bg1"/>
          </a:solidFill>
          <a:ln w="9525">
            <a:noFill/>
          </a:ln>
        </p:spPr>
        <p:txBody>
          <a:bodyPr anchor="t" anchorCtr="0">
            <a:spAutoFit/>
          </a:bodyPr>
          <a:lstStyle/>
          <a:p>
            <a:pPr>
              <a:spcBef>
                <a:spcPct val="50000"/>
              </a:spcBef>
            </a:pPr>
            <a:r>
              <a:rPr lang="zh-CN" altLang="en-US" sz="3200" b="1" dirty="0">
                <a:solidFill>
                  <a:srgbClr val="0000FF"/>
                </a:solidFill>
                <a:latin typeface="Times New Roman" panose="02020603050405020304" pitchFamily="18" charset="0"/>
                <a:ea typeface="黑体" panose="02010609060101010101" pitchFamily="49" charset="-122"/>
              </a:rPr>
              <a:t>异花传粉</a:t>
            </a:r>
          </a:p>
        </p:txBody>
      </p:sp>
      <p:sp>
        <p:nvSpPr>
          <p:cNvPr id="16399" name="Text Box 15"/>
          <p:cNvSpPr txBox="1"/>
          <p:nvPr/>
        </p:nvSpPr>
        <p:spPr>
          <a:xfrm>
            <a:off x="2736850" y="5030788"/>
            <a:ext cx="6443663" cy="1066800"/>
          </a:xfrm>
          <a:prstGeom prst="rect">
            <a:avLst/>
          </a:prstGeom>
          <a:no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宋体" panose="02010600030101010101" pitchFamily="2" charset="-122"/>
              </a:rPr>
              <a:t>一朵花的花粉落到另一朵花的柱头上的过程</a:t>
            </a:r>
          </a:p>
        </p:txBody>
      </p:sp>
      <p:sp>
        <p:nvSpPr>
          <p:cNvPr id="16400" name="Oval 16"/>
          <p:cNvSpPr/>
          <p:nvPr/>
        </p:nvSpPr>
        <p:spPr>
          <a:xfrm>
            <a:off x="1763713" y="115888"/>
            <a:ext cx="1152525" cy="647700"/>
          </a:xfrm>
          <a:prstGeom prst="ellipse">
            <a:avLst/>
          </a:prstGeom>
          <a:noFill/>
          <a:ln w="57150" cap="flat" cmpd="sng">
            <a:solidFill>
              <a:srgbClr val="FF0000"/>
            </a:solidFill>
            <a:prstDash val="sysDot"/>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6401" name="Oval 17"/>
          <p:cNvSpPr/>
          <p:nvPr/>
        </p:nvSpPr>
        <p:spPr>
          <a:xfrm>
            <a:off x="3563938" y="692150"/>
            <a:ext cx="1152525" cy="647700"/>
          </a:xfrm>
          <a:prstGeom prst="ellipse">
            <a:avLst/>
          </a:prstGeom>
          <a:noFill/>
          <a:ln w="57150" cap="flat" cmpd="sng">
            <a:solidFill>
              <a:srgbClr val="FF0000"/>
            </a:solidFill>
            <a:prstDash val="sysDot"/>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6402" name="Oval 18"/>
          <p:cNvSpPr/>
          <p:nvPr/>
        </p:nvSpPr>
        <p:spPr>
          <a:xfrm>
            <a:off x="6011863" y="692150"/>
            <a:ext cx="1439862" cy="720725"/>
          </a:xfrm>
          <a:prstGeom prst="ellipse">
            <a:avLst/>
          </a:prstGeom>
          <a:noFill/>
          <a:ln w="57150" cap="flat" cmpd="sng">
            <a:solidFill>
              <a:srgbClr val="FF0000"/>
            </a:solidFill>
            <a:prstDash val="sysDot"/>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grpSp>
        <p:nvGrpSpPr>
          <p:cNvPr id="4" name="Group 19"/>
          <p:cNvGrpSpPr/>
          <p:nvPr/>
        </p:nvGrpSpPr>
        <p:grpSpPr>
          <a:xfrm>
            <a:off x="0" y="4008438"/>
            <a:ext cx="900113" cy="1584325"/>
            <a:chOff x="0" y="2931"/>
            <a:chExt cx="567" cy="771"/>
          </a:xfrm>
        </p:grpSpPr>
        <p:sp>
          <p:nvSpPr>
            <p:cNvPr id="571411" name="AutoShape 20"/>
            <p:cNvSpPr/>
            <p:nvPr/>
          </p:nvSpPr>
          <p:spPr>
            <a:xfrm>
              <a:off x="341" y="2931"/>
              <a:ext cx="226" cy="771"/>
            </a:xfrm>
            <a:prstGeom prst="leftBrace">
              <a:avLst>
                <a:gd name="adj1" fmla="val 28239"/>
                <a:gd name="adj2" fmla="val 50000"/>
              </a:avLst>
            </a:prstGeom>
            <a:noFill/>
            <a:ln w="38100" cap="flat" cmpd="sng">
              <a:solidFill>
                <a:srgbClr val="FF0000"/>
              </a:solidFill>
              <a:prstDash val="solid"/>
              <a:round/>
              <a:headEnd type="none" w="med" len="med"/>
              <a:tailEnd type="triangl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571412" name="Text Box 21"/>
            <p:cNvSpPr txBox="1"/>
            <p:nvPr/>
          </p:nvSpPr>
          <p:spPr>
            <a:xfrm>
              <a:off x="0" y="2985"/>
              <a:ext cx="340" cy="519"/>
            </a:xfrm>
            <a:prstGeom prst="rect">
              <a:avLst/>
            </a:prstGeom>
            <a:noFill/>
            <a:ln w="38100">
              <a:noFill/>
            </a:ln>
          </p:spPr>
          <p:txBody>
            <a:bodyPr anchor="t" anchorCtr="0">
              <a:spAutoFit/>
            </a:bodyPr>
            <a:lstStyle/>
            <a:p>
              <a:pPr algn="ctr">
                <a:spcBef>
                  <a:spcPct val="50000"/>
                </a:spcBef>
              </a:pPr>
              <a:r>
                <a:rPr lang="zh-CN" altLang="en-US" sz="3200" b="1" dirty="0">
                  <a:solidFill>
                    <a:srgbClr val="FF0000"/>
                  </a:solidFill>
                  <a:latin typeface="Times New Roman" panose="02020603050405020304" pitchFamily="18" charset="0"/>
                  <a:ea typeface="黑体" panose="02010609060101010101" pitchFamily="49" charset="-122"/>
                </a:rPr>
                <a:t>传粉</a:t>
              </a:r>
            </a:p>
          </p:txBody>
        </p:sp>
      </p:grpSp>
      <p:sp>
        <p:nvSpPr>
          <p:cNvPr id="16406" name="Line 22"/>
          <p:cNvSpPr/>
          <p:nvPr/>
        </p:nvSpPr>
        <p:spPr>
          <a:xfrm>
            <a:off x="4356100" y="4508500"/>
            <a:ext cx="1728788" cy="0"/>
          </a:xfrm>
          <a:prstGeom prst="line">
            <a:avLst/>
          </a:prstGeom>
          <a:ln w="57150" cap="flat" cmpd="sng">
            <a:solidFill>
              <a:srgbClr val="0000FF"/>
            </a:solidFill>
            <a:prstDash val="solid"/>
            <a:round/>
            <a:headEnd type="none" w="med" len="med"/>
            <a:tailEnd type="none" w="med" len="med"/>
          </a:ln>
        </p:spPr>
        <p:txBody>
          <a:bodyPr/>
          <a:lstStyle/>
          <a:p>
            <a:endParaRPr lang="zh-CN" altLang="en-US"/>
          </a:p>
        </p:txBody>
      </p:sp>
      <p:sp>
        <p:nvSpPr>
          <p:cNvPr id="16407" name="Line 23"/>
          <p:cNvSpPr/>
          <p:nvPr/>
        </p:nvSpPr>
        <p:spPr>
          <a:xfrm>
            <a:off x="6084888" y="5589588"/>
            <a:ext cx="1728787" cy="0"/>
          </a:xfrm>
          <a:prstGeom prst="line">
            <a:avLst/>
          </a:prstGeom>
          <a:ln w="57150" cap="flat" cmpd="sng">
            <a:solidFill>
              <a:srgbClr val="0000FF"/>
            </a:solidFill>
            <a:prstDash val="solid"/>
            <a:round/>
            <a:headEnd type="none" w="med" len="med"/>
            <a:tailEnd type="none" w="med" len="med"/>
          </a:ln>
        </p:spPr>
        <p:txBody>
          <a:bodyPr/>
          <a:lstStyle/>
          <a:p>
            <a:endParaRPr lang="zh-CN" altLang="en-US"/>
          </a:p>
        </p:txBody>
      </p:sp>
      <p:sp>
        <p:nvSpPr>
          <p:cNvPr id="16408" name="Text Box 24"/>
          <p:cNvSpPr txBox="1"/>
          <p:nvPr/>
        </p:nvSpPr>
        <p:spPr>
          <a:xfrm>
            <a:off x="2989263" y="4584700"/>
            <a:ext cx="3167062" cy="519113"/>
          </a:xfrm>
          <a:prstGeom prst="rect">
            <a:avLst/>
          </a:prstGeom>
          <a:solidFill>
            <a:srgbClr val="FFFF00"/>
          </a:solidFill>
          <a:ln w="9525">
            <a:noFill/>
          </a:ln>
        </p:spPr>
        <p:txBody>
          <a:bodyPr anchor="t" anchorCtr="0">
            <a:spAutoFit/>
          </a:bodyPr>
          <a:lstStyle/>
          <a:p>
            <a:pPr>
              <a:spcBef>
                <a:spcPct val="50000"/>
              </a:spcBef>
            </a:pPr>
            <a:r>
              <a:rPr lang="zh-CN" altLang="en-US" sz="2800" b="1" dirty="0">
                <a:solidFill>
                  <a:srgbClr val="FF0000"/>
                </a:solidFill>
                <a:latin typeface="Times New Roman" panose="02020603050405020304" pitchFamily="18" charset="0"/>
                <a:ea typeface="黑体" panose="02010609060101010101" pitchFamily="49" charset="-122"/>
              </a:rPr>
              <a:t>小麦、水稻、豌豆</a:t>
            </a:r>
          </a:p>
        </p:txBody>
      </p:sp>
      <p:grpSp>
        <p:nvGrpSpPr>
          <p:cNvPr id="5" name="Group 25"/>
          <p:cNvGrpSpPr/>
          <p:nvPr/>
        </p:nvGrpSpPr>
        <p:grpSpPr>
          <a:xfrm>
            <a:off x="971550" y="5516563"/>
            <a:ext cx="1079500" cy="433387"/>
            <a:chOff x="612" y="3475"/>
            <a:chExt cx="680" cy="273"/>
          </a:xfrm>
        </p:grpSpPr>
        <p:sp>
          <p:nvSpPr>
            <p:cNvPr id="571417" name="Line 26"/>
            <p:cNvSpPr/>
            <p:nvPr/>
          </p:nvSpPr>
          <p:spPr>
            <a:xfrm flipH="1">
              <a:off x="612" y="3475"/>
              <a:ext cx="363" cy="273"/>
            </a:xfrm>
            <a:prstGeom prst="line">
              <a:avLst/>
            </a:prstGeom>
            <a:ln w="38100" cap="flat" cmpd="sng">
              <a:solidFill>
                <a:srgbClr val="006600"/>
              </a:solidFill>
              <a:prstDash val="solid"/>
              <a:round/>
              <a:headEnd type="none" w="med" len="med"/>
              <a:tailEnd type="triangle" w="med" len="med"/>
            </a:ln>
          </p:spPr>
          <p:txBody>
            <a:bodyPr/>
            <a:lstStyle/>
            <a:p>
              <a:endParaRPr lang="zh-CN" altLang="en-US"/>
            </a:p>
          </p:txBody>
        </p:sp>
        <p:sp>
          <p:nvSpPr>
            <p:cNvPr id="571418" name="Line 27"/>
            <p:cNvSpPr/>
            <p:nvPr/>
          </p:nvSpPr>
          <p:spPr>
            <a:xfrm>
              <a:off x="975" y="3475"/>
              <a:ext cx="317" cy="273"/>
            </a:xfrm>
            <a:prstGeom prst="line">
              <a:avLst/>
            </a:prstGeom>
            <a:ln w="38100" cap="flat" cmpd="sng">
              <a:solidFill>
                <a:srgbClr val="006600"/>
              </a:solidFill>
              <a:prstDash val="solid"/>
              <a:round/>
              <a:headEnd type="none" w="med" len="med"/>
              <a:tailEnd type="triangle" w="med" len="med"/>
            </a:ln>
          </p:spPr>
          <p:txBody>
            <a:bodyPr/>
            <a:lstStyle/>
            <a:p>
              <a:endParaRPr lang="zh-CN" altLang="en-US"/>
            </a:p>
          </p:txBody>
        </p:sp>
      </p:grpSp>
      <p:sp>
        <p:nvSpPr>
          <p:cNvPr id="16412" name="Text Box 28"/>
          <p:cNvSpPr txBox="1"/>
          <p:nvPr/>
        </p:nvSpPr>
        <p:spPr>
          <a:xfrm>
            <a:off x="0" y="5876925"/>
            <a:ext cx="1476375" cy="579438"/>
          </a:xfrm>
          <a:prstGeom prst="rect">
            <a:avLst/>
          </a:prstGeom>
          <a:no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黑体" panose="02010609060101010101" pitchFamily="49" charset="-122"/>
              </a:rPr>
              <a:t>虫媒花</a:t>
            </a:r>
          </a:p>
        </p:txBody>
      </p:sp>
      <p:sp>
        <p:nvSpPr>
          <p:cNvPr id="16413" name="Text Box 29"/>
          <p:cNvSpPr txBox="1"/>
          <p:nvPr/>
        </p:nvSpPr>
        <p:spPr>
          <a:xfrm>
            <a:off x="1511300" y="5873750"/>
            <a:ext cx="1476375" cy="579438"/>
          </a:xfrm>
          <a:prstGeom prst="rect">
            <a:avLst/>
          </a:prstGeom>
          <a:no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黑体" panose="02010609060101010101" pitchFamily="49" charset="-122"/>
              </a:rPr>
              <a:t>风媒花</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4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4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9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39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39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40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40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39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3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40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strips(downLeft)">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641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6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animBg="1"/>
      <p:bldP spid="16391" grpId="0" animBg="1"/>
      <p:bldP spid="16395" grpId="0" animBg="1"/>
      <p:bldP spid="16396" grpId="0"/>
      <p:bldP spid="16397" grpId="0" animBg="1"/>
      <p:bldP spid="16398" grpId="0" animBg="1"/>
      <p:bldP spid="16399" grpId="0"/>
      <p:bldP spid="16400" grpId="0" animBg="1"/>
      <p:bldP spid="16401" grpId="0" animBg="1"/>
      <p:bldP spid="16402" grpId="0" animBg="1"/>
      <p:bldP spid="16408" grpId="0" animBg="1"/>
      <p:bldP spid="16412" grpId="0"/>
      <p:bldP spid="16413"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2417" name="Picture 2"/>
          <p:cNvPicPr>
            <a:picLocks noChangeAspect="1"/>
          </p:cNvPicPr>
          <p:nvPr/>
        </p:nvPicPr>
        <p:blipFill>
          <a:blip r:embed="rId2"/>
          <a:stretch>
            <a:fillRect/>
          </a:stretch>
        </p:blipFill>
        <p:spPr>
          <a:xfrm>
            <a:off x="3276600" y="44450"/>
            <a:ext cx="5729288" cy="6469063"/>
          </a:xfrm>
          <a:prstGeom prst="rect">
            <a:avLst/>
          </a:prstGeom>
          <a:noFill/>
          <a:ln w="9525">
            <a:noFill/>
          </a:ln>
        </p:spPr>
      </p:pic>
      <p:sp>
        <p:nvSpPr>
          <p:cNvPr id="18435" name="Line 3"/>
          <p:cNvSpPr/>
          <p:nvPr/>
        </p:nvSpPr>
        <p:spPr>
          <a:xfrm flipV="1">
            <a:off x="4500563" y="4005263"/>
            <a:ext cx="1439862" cy="71437"/>
          </a:xfrm>
          <a:prstGeom prst="line">
            <a:avLst/>
          </a:prstGeom>
          <a:ln w="57150" cap="flat" cmpd="sng">
            <a:solidFill>
              <a:srgbClr val="FF0000"/>
            </a:solidFill>
            <a:prstDash val="solid"/>
            <a:round/>
            <a:headEnd type="none" w="med" len="med"/>
            <a:tailEnd type="none" w="med" len="med"/>
          </a:ln>
        </p:spPr>
        <p:txBody>
          <a:bodyPr/>
          <a:lstStyle/>
          <a:p>
            <a:endParaRPr lang="zh-CN" altLang="en-US"/>
          </a:p>
        </p:txBody>
      </p:sp>
      <p:sp>
        <p:nvSpPr>
          <p:cNvPr id="18436" name="Line 4"/>
          <p:cNvSpPr/>
          <p:nvPr/>
        </p:nvSpPr>
        <p:spPr>
          <a:xfrm>
            <a:off x="6084888" y="692150"/>
            <a:ext cx="1223962" cy="0"/>
          </a:xfrm>
          <a:prstGeom prst="line">
            <a:avLst/>
          </a:prstGeom>
          <a:ln w="28575" cap="flat" cmpd="sng">
            <a:solidFill>
              <a:srgbClr val="FF0000"/>
            </a:solidFill>
            <a:prstDash val="solid"/>
            <a:round/>
            <a:headEnd type="none" w="med" len="med"/>
            <a:tailEnd type="none" w="med" len="med"/>
          </a:ln>
        </p:spPr>
        <p:txBody>
          <a:bodyPr/>
          <a:lstStyle/>
          <a:p>
            <a:endParaRPr lang="zh-CN" altLang="en-US"/>
          </a:p>
        </p:txBody>
      </p:sp>
      <p:sp>
        <p:nvSpPr>
          <p:cNvPr id="18437" name="Text Box 5"/>
          <p:cNvSpPr txBox="1"/>
          <p:nvPr/>
        </p:nvSpPr>
        <p:spPr>
          <a:xfrm>
            <a:off x="7308850" y="476250"/>
            <a:ext cx="1582738" cy="641350"/>
          </a:xfrm>
          <a:prstGeom prst="rect">
            <a:avLst/>
          </a:prstGeom>
          <a:solidFill>
            <a:srgbClr val="66FFFF"/>
          </a:solidFill>
          <a:ln w="9525">
            <a:noFill/>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黑体" panose="02010609060101010101" pitchFamily="49" charset="-122"/>
              </a:rPr>
              <a:t>花粉管</a:t>
            </a:r>
          </a:p>
        </p:txBody>
      </p:sp>
      <p:grpSp>
        <p:nvGrpSpPr>
          <p:cNvPr id="2" name="Group 6"/>
          <p:cNvGrpSpPr/>
          <p:nvPr/>
        </p:nvGrpSpPr>
        <p:grpSpPr>
          <a:xfrm>
            <a:off x="3995738" y="1268413"/>
            <a:ext cx="1873250" cy="287337"/>
            <a:chOff x="1156" y="2387"/>
            <a:chExt cx="1180" cy="227"/>
          </a:xfrm>
        </p:grpSpPr>
        <p:sp>
          <p:nvSpPr>
            <p:cNvPr id="572422" name="Line 7"/>
            <p:cNvSpPr/>
            <p:nvPr/>
          </p:nvSpPr>
          <p:spPr>
            <a:xfrm flipH="1">
              <a:off x="1156" y="2387"/>
              <a:ext cx="1180" cy="91"/>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572423" name="Line 8"/>
            <p:cNvSpPr/>
            <p:nvPr/>
          </p:nvSpPr>
          <p:spPr>
            <a:xfrm flipH="1" flipV="1">
              <a:off x="1156" y="2478"/>
              <a:ext cx="1134" cy="136"/>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grpSp>
      <p:sp>
        <p:nvSpPr>
          <p:cNvPr id="18441" name="Text Box 9"/>
          <p:cNvSpPr txBox="1"/>
          <p:nvPr/>
        </p:nvSpPr>
        <p:spPr>
          <a:xfrm>
            <a:off x="2771775" y="981075"/>
            <a:ext cx="1223963" cy="641350"/>
          </a:xfrm>
          <a:prstGeom prst="rect">
            <a:avLst/>
          </a:prstGeom>
          <a:noFill/>
          <a:ln w="9525">
            <a:noFill/>
          </a:ln>
        </p:spPr>
        <p:txBody>
          <a:bodyPr anchor="t" anchorCtr="0">
            <a:spAutoFit/>
          </a:bodyPr>
          <a:lstStyle/>
          <a:p>
            <a:pPr>
              <a:spcBef>
                <a:spcPct val="50000"/>
              </a:spcBef>
            </a:pPr>
            <a:r>
              <a:rPr lang="zh-CN" altLang="en-US" sz="3600" b="1" dirty="0">
                <a:solidFill>
                  <a:schemeClr val="tx2"/>
                </a:solidFill>
                <a:latin typeface="Times New Roman" panose="02020603050405020304" pitchFamily="18" charset="0"/>
                <a:ea typeface="黑体" panose="02010609060101010101" pitchFamily="49" charset="-122"/>
              </a:rPr>
              <a:t>精子</a:t>
            </a:r>
          </a:p>
        </p:txBody>
      </p:sp>
      <p:sp>
        <p:nvSpPr>
          <p:cNvPr id="18442" name="Text Box 10"/>
          <p:cNvSpPr txBox="1"/>
          <p:nvPr/>
        </p:nvSpPr>
        <p:spPr>
          <a:xfrm>
            <a:off x="8496300" y="3141663"/>
            <a:ext cx="755650" cy="946150"/>
          </a:xfrm>
          <a:prstGeom prst="rect">
            <a:avLst/>
          </a:prstGeom>
          <a:solidFill>
            <a:srgbClr val="FFFF00"/>
          </a:solidFill>
          <a:ln w="9525">
            <a:noFill/>
          </a:ln>
        </p:spPr>
        <p:txBody>
          <a:bodyPr anchor="t" anchorCtr="0">
            <a:spAutoFit/>
          </a:bodyPr>
          <a:lstStyle/>
          <a:p>
            <a:pPr>
              <a:spcBef>
                <a:spcPct val="50000"/>
              </a:spcBef>
            </a:pPr>
            <a:r>
              <a:rPr lang="zh-CN" altLang="en-US" sz="2800" b="1" dirty="0">
                <a:solidFill>
                  <a:srgbClr val="FF0000"/>
                </a:solidFill>
                <a:latin typeface="Times New Roman" panose="02020603050405020304" pitchFamily="18" charset="0"/>
                <a:ea typeface="黑体" panose="02010609060101010101" pitchFamily="49" charset="-122"/>
              </a:rPr>
              <a:t>子房</a:t>
            </a:r>
          </a:p>
        </p:txBody>
      </p:sp>
      <p:sp>
        <p:nvSpPr>
          <p:cNvPr id="18443" name="Line 11"/>
          <p:cNvSpPr/>
          <p:nvPr/>
        </p:nvSpPr>
        <p:spPr>
          <a:xfrm>
            <a:off x="6443663" y="3789363"/>
            <a:ext cx="1296987"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18444" name="Text Box 12"/>
          <p:cNvSpPr txBox="1"/>
          <p:nvPr/>
        </p:nvSpPr>
        <p:spPr>
          <a:xfrm>
            <a:off x="7235825" y="3573463"/>
            <a:ext cx="1008063" cy="579437"/>
          </a:xfrm>
          <a:prstGeom prst="rect">
            <a:avLst/>
          </a:prstGeom>
          <a:solidFill>
            <a:srgbClr val="0099FF"/>
          </a:solid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黑体" panose="02010609060101010101" pitchFamily="49" charset="-122"/>
              </a:rPr>
              <a:t>胚珠</a:t>
            </a:r>
          </a:p>
        </p:txBody>
      </p:sp>
      <p:sp>
        <p:nvSpPr>
          <p:cNvPr id="18445" name="Text Box 13"/>
          <p:cNvSpPr txBox="1"/>
          <p:nvPr/>
        </p:nvSpPr>
        <p:spPr>
          <a:xfrm>
            <a:off x="0" y="5300663"/>
            <a:ext cx="9144000" cy="608012"/>
          </a:xfrm>
          <a:prstGeom prst="rect">
            <a:avLst/>
          </a:prstGeom>
          <a:solidFill>
            <a:schemeClr val="bg1"/>
          </a:solidFill>
          <a:ln w="28575" cap="flat" cmpd="sng">
            <a:solidFill>
              <a:schemeClr val="tx1"/>
            </a:solidFill>
            <a:prstDash val="solid"/>
            <a:miter/>
            <a:headEnd type="none" w="med" len="med"/>
            <a:tailEnd type="none" w="med" len="med"/>
          </a:ln>
        </p:spPr>
        <p:txBody>
          <a:bodyPr anchor="t" anchorCtr="0">
            <a:spAutoFit/>
          </a:bodyPr>
          <a:lstStyle/>
          <a:p>
            <a:pPr>
              <a:spcBef>
                <a:spcPct val="50000"/>
              </a:spcBef>
            </a:pPr>
            <a:r>
              <a:rPr lang="zh-CN" altLang="en-US" sz="3200" b="1" dirty="0">
                <a:latin typeface="黑体" panose="02010609060101010101" pitchFamily="49" charset="-122"/>
                <a:ea typeface="黑体" panose="02010609060101010101" pitchFamily="49" charset="-122"/>
              </a:rPr>
              <a:t>精子与卵细胞融合，形成受精卵</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这个过程叫</a:t>
            </a:r>
            <a:r>
              <a:rPr lang="zh-CN" altLang="en-US" b="1" dirty="0">
                <a:latin typeface="黑体" panose="02010609060101010101" pitchFamily="49" charset="-122"/>
                <a:ea typeface="黑体" panose="02010609060101010101" pitchFamily="49" charset="-122"/>
              </a:rPr>
              <a:t>＿＿＿</a:t>
            </a:r>
          </a:p>
        </p:txBody>
      </p:sp>
      <p:sp>
        <p:nvSpPr>
          <p:cNvPr id="18446" name="Text Box 14"/>
          <p:cNvSpPr txBox="1"/>
          <p:nvPr/>
        </p:nvSpPr>
        <p:spPr>
          <a:xfrm>
            <a:off x="7970838" y="5300663"/>
            <a:ext cx="1187450" cy="523875"/>
          </a:xfrm>
          <a:prstGeom prst="rect">
            <a:avLst/>
          </a:prstGeom>
          <a:noFill/>
          <a:ln w="9525">
            <a:noFill/>
          </a:ln>
        </p:spPr>
        <p:txBody>
          <a:bodyPr anchor="t" anchorCtr="0">
            <a:spAutoFit/>
          </a:bodyPr>
          <a:lstStyle/>
          <a:p>
            <a:pPr>
              <a:spcBef>
                <a:spcPct val="50000"/>
              </a:spcBef>
            </a:pPr>
            <a:r>
              <a:rPr lang="zh-CN" altLang="en-US" sz="2800" b="1" dirty="0">
                <a:solidFill>
                  <a:srgbClr val="FF0000"/>
                </a:solidFill>
                <a:latin typeface="黑体" panose="02010609060101010101" pitchFamily="49" charset="-122"/>
                <a:ea typeface="黑体" panose="02010609060101010101" pitchFamily="49" charset="-122"/>
              </a:rPr>
              <a:t>受精</a:t>
            </a:r>
          </a:p>
        </p:txBody>
      </p:sp>
      <p:sp>
        <p:nvSpPr>
          <p:cNvPr id="18447" name="Line 15"/>
          <p:cNvSpPr/>
          <p:nvPr/>
        </p:nvSpPr>
        <p:spPr>
          <a:xfrm flipH="1">
            <a:off x="6732588" y="3284538"/>
            <a:ext cx="935037" cy="635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18448" name="Text Box 16"/>
          <p:cNvSpPr txBox="1"/>
          <p:nvPr/>
        </p:nvSpPr>
        <p:spPr>
          <a:xfrm>
            <a:off x="7164388" y="2997200"/>
            <a:ext cx="1296987" cy="519113"/>
          </a:xfrm>
          <a:prstGeom prst="rect">
            <a:avLst/>
          </a:prstGeom>
          <a:solidFill>
            <a:srgbClr val="FF0066"/>
          </a:solidFill>
          <a:ln w="9525">
            <a:noFill/>
          </a:ln>
        </p:spPr>
        <p:txBody>
          <a:bodyPr anchor="t" anchorCtr="0">
            <a:spAutoFit/>
          </a:bodyPr>
          <a:lstStyle/>
          <a:p>
            <a:pPr>
              <a:spcBef>
                <a:spcPct val="50000"/>
              </a:spcBef>
            </a:pPr>
            <a:r>
              <a:rPr lang="zh-CN" altLang="en-US" sz="2800" b="1" dirty="0">
                <a:solidFill>
                  <a:schemeClr val="bg1"/>
                </a:solidFill>
                <a:latin typeface="Times New Roman" panose="02020603050405020304" pitchFamily="18" charset="0"/>
                <a:ea typeface="黑体" panose="02010609060101010101" pitchFamily="49" charset="-122"/>
              </a:rPr>
              <a:t>子房壁</a:t>
            </a:r>
          </a:p>
        </p:txBody>
      </p:sp>
      <p:grpSp>
        <p:nvGrpSpPr>
          <p:cNvPr id="3" name="Group 17"/>
          <p:cNvGrpSpPr/>
          <p:nvPr/>
        </p:nvGrpSpPr>
        <p:grpSpPr>
          <a:xfrm>
            <a:off x="6588125" y="2708275"/>
            <a:ext cx="2233613" cy="504825"/>
            <a:chOff x="3061" y="1842"/>
            <a:chExt cx="2268" cy="318"/>
          </a:xfrm>
        </p:grpSpPr>
        <p:sp>
          <p:nvSpPr>
            <p:cNvPr id="572433" name="Line 18"/>
            <p:cNvSpPr/>
            <p:nvPr/>
          </p:nvSpPr>
          <p:spPr>
            <a:xfrm flipH="1">
              <a:off x="3061" y="1842"/>
              <a:ext cx="2268" cy="0"/>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572434" name="Line 19"/>
            <p:cNvSpPr/>
            <p:nvPr/>
          </p:nvSpPr>
          <p:spPr>
            <a:xfrm>
              <a:off x="5329" y="1842"/>
              <a:ext cx="0" cy="318"/>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grpSp>
      <p:sp>
        <p:nvSpPr>
          <p:cNvPr id="18452" name="AutoShape 20"/>
          <p:cNvSpPr/>
          <p:nvPr/>
        </p:nvSpPr>
        <p:spPr>
          <a:xfrm>
            <a:off x="8459788" y="3141663"/>
            <a:ext cx="71437" cy="936625"/>
          </a:xfrm>
          <a:prstGeom prst="rightBrace">
            <a:avLst>
              <a:gd name="adj1" fmla="val 108531"/>
              <a:gd name="adj2" fmla="val 50000"/>
            </a:avLst>
          </a:prstGeom>
          <a:noFill/>
          <a:ln w="38100" cap="flat" cmpd="sng">
            <a:solidFill>
              <a:schemeClr val="accent2"/>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8453" name="Text Box 21"/>
          <p:cNvSpPr txBox="1"/>
          <p:nvPr/>
        </p:nvSpPr>
        <p:spPr>
          <a:xfrm>
            <a:off x="0" y="5884863"/>
            <a:ext cx="9144000" cy="1095375"/>
          </a:xfrm>
          <a:prstGeom prst="rect">
            <a:avLst/>
          </a:prstGeom>
          <a:solidFill>
            <a:schemeClr val="bg1"/>
          </a:solidFill>
          <a:ln w="28575" cap="flat" cmpd="sng">
            <a:solidFill>
              <a:schemeClr val="tx1"/>
            </a:solidFill>
            <a:prstDash val="solid"/>
            <a:miter/>
            <a:headEnd type="none" w="med" len="med"/>
            <a:tailEnd type="none" w="med" len="med"/>
          </a:ln>
        </p:spPr>
        <p:txBody>
          <a:bodyPr anchor="t" anchorCtr="0">
            <a:spAutoFit/>
          </a:bodyPr>
          <a:lstStyle/>
          <a:p>
            <a:pPr>
              <a:spcBef>
                <a:spcPct val="50000"/>
              </a:spcBef>
            </a:pPr>
            <a:r>
              <a:rPr lang="zh-CN" altLang="en-US" sz="3200" b="1" dirty="0">
                <a:latin typeface="黑体" panose="02010609060101010101" pitchFamily="49" charset="-122"/>
                <a:ea typeface="黑体" panose="02010609060101010101" pitchFamily="49" charset="-122"/>
              </a:rPr>
              <a:t>两个精子分别与卵细胞和两个极核融合，形成受精卵和受精极核</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这个过程叫</a:t>
            </a:r>
            <a:r>
              <a:rPr lang="zh-CN" altLang="en-US" b="1" dirty="0">
                <a:latin typeface="黑体" panose="02010609060101010101" pitchFamily="49" charset="-122"/>
                <a:ea typeface="黑体" panose="02010609060101010101" pitchFamily="49" charset="-122"/>
              </a:rPr>
              <a:t>＿＿＿</a:t>
            </a:r>
          </a:p>
        </p:txBody>
      </p:sp>
      <p:sp>
        <p:nvSpPr>
          <p:cNvPr id="18454" name="Text Box 22"/>
          <p:cNvSpPr txBox="1"/>
          <p:nvPr/>
        </p:nvSpPr>
        <p:spPr>
          <a:xfrm>
            <a:off x="5160963" y="6378575"/>
            <a:ext cx="1584325" cy="523875"/>
          </a:xfrm>
          <a:prstGeom prst="rect">
            <a:avLst/>
          </a:prstGeom>
          <a:noFill/>
          <a:ln w="9525">
            <a:noFill/>
          </a:ln>
        </p:spPr>
        <p:txBody>
          <a:bodyPr anchor="t" anchorCtr="0">
            <a:spAutoFit/>
          </a:bodyPr>
          <a:lstStyle/>
          <a:p>
            <a:pPr>
              <a:spcBef>
                <a:spcPct val="50000"/>
              </a:spcBef>
            </a:pPr>
            <a:r>
              <a:rPr lang="zh-CN" altLang="en-US" sz="2800" b="1" dirty="0">
                <a:solidFill>
                  <a:srgbClr val="FF0000"/>
                </a:solidFill>
                <a:latin typeface="黑体" panose="02010609060101010101" pitchFamily="49" charset="-122"/>
                <a:ea typeface="黑体" panose="02010609060101010101" pitchFamily="49" charset="-122"/>
              </a:rPr>
              <a:t>双受精</a:t>
            </a:r>
          </a:p>
        </p:txBody>
      </p:sp>
      <p:sp>
        <p:nvSpPr>
          <p:cNvPr id="18455" name="Line 23"/>
          <p:cNvSpPr/>
          <p:nvPr/>
        </p:nvSpPr>
        <p:spPr>
          <a:xfrm>
            <a:off x="4500563" y="3789363"/>
            <a:ext cx="1439862" cy="0"/>
          </a:xfrm>
          <a:prstGeom prst="line">
            <a:avLst/>
          </a:prstGeom>
          <a:ln w="57150" cap="flat" cmpd="sng">
            <a:solidFill>
              <a:srgbClr val="FF0000"/>
            </a:solidFill>
            <a:prstDash val="solid"/>
            <a:round/>
            <a:headEnd type="none" w="med" len="med"/>
            <a:tailEnd type="none" w="med" len="med"/>
          </a:ln>
        </p:spPr>
        <p:txBody>
          <a:bodyPr/>
          <a:lstStyle/>
          <a:p>
            <a:endParaRPr lang="zh-CN" altLang="en-US"/>
          </a:p>
        </p:txBody>
      </p:sp>
      <p:sp>
        <p:nvSpPr>
          <p:cNvPr id="18456" name="Line 24"/>
          <p:cNvSpPr/>
          <p:nvPr/>
        </p:nvSpPr>
        <p:spPr>
          <a:xfrm>
            <a:off x="4500563" y="3068638"/>
            <a:ext cx="1150937" cy="431800"/>
          </a:xfrm>
          <a:prstGeom prst="line">
            <a:avLst/>
          </a:prstGeom>
          <a:ln w="57150" cap="flat" cmpd="sng">
            <a:solidFill>
              <a:srgbClr val="FF0000"/>
            </a:solidFill>
            <a:prstDash val="solid"/>
            <a:round/>
            <a:headEnd type="none" w="med" len="med"/>
            <a:tailEnd type="none" w="med" len="med"/>
          </a:ln>
        </p:spPr>
        <p:txBody>
          <a:bodyPr/>
          <a:lstStyle/>
          <a:p>
            <a:endParaRPr lang="zh-CN" altLang="en-US"/>
          </a:p>
        </p:txBody>
      </p:sp>
      <p:sp>
        <p:nvSpPr>
          <p:cNvPr id="18457" name="Text Box 25"/>
          <p:cNvSpPr txBox="1"/>
          <p:nvPr/>
        </p:nvSpPr>
        <p:spPr>
          <a:xfrm>
            <a:off x="3635375" y="2765425"/>
            <a:ext cx="936625" cy="519113"/>
          </a:xfrm>
          <a:prstGeom prst="rect">
            <a:avLst/>
          </a:prstGeom>
          <a:solidFill>
            <a:srgbClr val="3399FF"/>
          </a:solidFill>
          <a:ln w="9525">
            <a:noFill/>
          </a:ln>
        </p:spPr>
        <p:txBody>
          <a:bodyPr anchor="t" anchorCtr="0">
            <a:spAutoFit/>
          </a:bodyPr>
          <a:lstStyle/>
          <a:p>
            <a:pPr>
              <a:spcBef>
                <a:spcPct val="50000"/>
              </a:spcBef>
            </a:pPr>
            <a:r>
              <a:rPr lang="zh-CN" altLang="en-US" sz="2800" b="1" dirty="0">
                <a:latin typeface="Times New Roman" panose="02020603050405020304" pitchFamily="18" charset="0"/>
                <a:ea typeface="黑体" panose="02010609060101010101" pitchFamily="49" charset="-122"/>
              </a:rPr>
              <a:t>珠被</a:t>
            </a:r>
          </a:p>
        </p:txBody>
      </p:sp>
      <p:sp>
        <p:nvSpPr>
          <p:cNvPr id="18458" name="Line 26"/>
          <p:cNvSpPr/>
          <p:nvPr/>
        </p:nvSpPr>
        <p:spPr>
          <a:xfrm flipH="1">
            <a:off x="2987675" y="4292600"/>
            <a:ext cx="504825" cy="0"/>
          </a:xfrm>
          <a:prstGeom prst="line">
            <a:avLst/>
          </a:prstGeom>
          <a:ln w="57150" cap="flat" cmpd="sng">
            <a:solidFill>
              <a:srgbClr val="FF0000"/>
            </a:solidFill>
            <a:prstDash val="solid"/>
            <a:round/>
            <a:headEnd type="none" w="med" len="med"/>
            <a:tailEnd type="triangle" w="med" len="med"/>
          </a:ln>
        </p:spPr>
        <p:txBody>
          <a:bodyPr/>
          <a:lstStyle/>
          <a:p>
            <a:endParaRPr lang="zh-CN" altLang="en-US"/>
          </a:p>
        </p:txBody>
      </p:sp>
      <p:sp>
        <p:nvSpPr>
          <p:cNvPr id="18459" name="Line 27"/>
          <p:cNvSpPr/>
          <p:nvPr/>
        </p:nvSpPr>
        <p:spPr>
          <a:xfrm flipH="1">
            <a:off x="3132138" y="3716338"/>
            <a:ext cx="576262" cy="0"/>
          </a:xfrm>
          <a:prstGeom prst="line">
            <a:avLst/>
          </a:prstGeom>
          <a:ln w="57150" cap="flat" cmpd="sng">
            <a:solidFill>
              <a:srgbClr val="FF0000"/>
            </a:solidFill>
            <a:prstDash val="solid"/>
            <a:round/>
            <a:headEnd type="none" w="med" len="med"/>
            <a:tailEnd type="triangle" w="med" len="med"/>
          </a:ln>
        </p:spPr>
        <p:txBody>
          <a:bodyPr/>
          <a:lstStyle/>
          <a:p>
            <a:endParaRPr lang="zh-CN" altLang="en-US"/>
          </a:p>
        </p:txBody>
      </p:sp>
      <p:sp>
        <p:nvSpPr>
          <p:cNvPr id="18460" name="Line 28"/>
          <p:cNvSpPr/>
          <p:nvPr/>
        </p:nvSpPr>
        <p:spPr>
          <a:xfrm flipH="1">
            <a:off x="1330325" y="4365625"/>
            <a:ext cx="433388" cy="0"/>
          </a:xfrm>
          <a:prstGeom prst="line">
            <a:avLst/>
          </a:prstGeom>
          <a:ln w="57150" cap="flat" cmpd="sng">
            <a:solidFill>
              <a:srgbClr val="FF0000"/>
            </a:solidFill>
            <a:prstDash val="sysDot"/>
            <a:round/>
            <a:headEnd type="none" w="med" len="med"/>
            <a:tailEnd type="triangle" w="med" len="med"/>
          </a:ln>
        </p:spPr>
        <p:txBody>
          <a:bodyPr/>
          <a:lstStyle/>
          <a:p>
            <a:endParaRPr lang="zh-CN" altLang="en-US"/>
          </a:p>
        </p:txBody>
      </p:sp>
      <p:sp>
        <p:nvSpPr>
          <p:cNvPr id="18461" name="Line 29"/>
          <p:cNvSpPr/>
          <p:nvPr/>
        </p:nvSpPr>
        <p:spPr>
          <a:xfrm flipH="1">
            <a:off x="1331913" y="3716338"/>
            <a:ext cx="360362" cy="0"/>
          </a:xfrm>
          <a:prstGeom prst="line">
            <a:avLst/>
          </a:prstGeom>
          <a:ln w="57150" cap="flat" cmpd="sng">
            <a:solidFill>
              <a:srgbClr val="FF0000"/>
            </a:solidFill>
            <a:prstDash val="sysDot"/>
            <a:round/>
            <a:headEnd type="none" w="med" len="med"/>
            <a:tailEnd type="triangle" w="med" len="med"/>
          </a:ln>
        </p:spPr>
        <p:txBody>
          <a:bodyPr/>
          <a:lstStyle/>
          <a:p>
            <a:endParaRPr lang="zh-CN" altLang="en-US"/>
          </a:p>
        </p:txBody>
      </p:sp>
      <p:sp>
        <p:nvSpPr>
          <p:cNvPr id="18462" name="Line 30"/>
          <p:cNvSpPr/>
          <p:nvPr/>
        </p:nvSpPr>
        <p:spPr>
          <a:xfrm flipH="1">
            <a:off x="1403350" y="2997200"/>
            <a:ext cx="2160588" cy="0"/>
          </a:xfrm>
          <a:prstGeom prst="line">
            <a:avLst/>
          </a:prstGeom>
          <a:ln w="57150" cap="flat" cmpd="sng">
            <a:solidFill>
              <a:srgbClr val="FF0000"/>
            </a:solidFill>
            <a:prstDash val="sysDot"/>
            <a:round/>
            <a:headEnd type="none" w="med" len="med"/>
            <a:tailEnd type="triangle" w="med" len="med"/>
          </a:ln>
        </p:spPr>
        <p:txBody>
          <a:bodyPr/>
          <a:lstStyle/>
          <a:p>
            <a:endParaRPr lang="zh-CN" altLang="en-US"/>
          </a:p>
        </p:txBody>
      </p:sp>
      <p:sp>
        <p:nvSpPr>
          <p:cNvPr id="18463" name="Line 31"/>
          <p:cNvSpPr/>
          <p:nvPr/>
        </p:nvSpPr>
        <p:spPr>
          <a:xfrm flipH="1">
            <a:off x="1403350" y="2565400"/>
            <a:ext cx="1873250" cy="0"/>
          </a:xfrm>
          <a:prstGeom prst="line">
            <a:avLst/>
          </a:prstGeom>
          <a:ln w="57150" cap="flat" cmpd="sng">
            <a:solidFill>
              <a:srgbClr val="FF0000"/>
            </a:solidFill>
            <a:prstDash val="sysDot"/>
            <a:round/>
            <a:headEnd type="none" w="med" len="med"/>
            <a:tailEnd type="triangle" w="med" len="med"/>
          </a:ln>
        </p:spPr>
        <p:txBody>
          <a:bodyPr/>
          <a:lstStyle/>
          <a:p>
            <a:endParaRPr lang="zh-CN" altLang="en-US"/>
          </a:p>
        </p:txBody>
      </p:sp>
      <p:sp>
        <p:nvSpPr>
          <p:cNvPr id="18464" name="Text Box 32"/>
          <p:cNvSpPr txBox="1"/>
          <p:nvPr/>
        </p:nvSpPr>
        <p:spPr>
          <a:xfrm>
            <a:off x="1692275" y="4005263"/>
            <a:ext cx="1439863" cy="579437"/>
          </a:xfrm>
          <a:prstGeom prst="rect">
            <a:avLst/>
          </a:prstGeom>
          <a:no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黑体" panose="02010609060101010101" pitchFamily="49" charset="-122"/>
              </a:rPr>
              <a:t>受精卵</a:t>
            </a:r>
          </a:p>
        </p:txBody>
      </p:sp>
      <p:sp>
        <p:nvSpPr>
          <p:cNvPr id="18465" name="Text Box 33"/>
          <p:cNvSpPr txBox="1"/>
          <p:nvPr/>
        </p:nvSpPr>
        <p:spPr>
          <a:xfrm>
            <a:off x="1619250" y="3429000"/>
            <a:ext cx="1800225" cy="519113"/>
          </a:xfrm>
          <a:prstGeom prst="rect">
            <a:avLst/>
          </a:prstGeom>
          <a:noFill/>
          <a:ln w="9525">
            <a:noFill/>
          </a:ln>
        </p:spPr>
        <p:txBody>
          <a:bodyPr anchor="t" anchorCtr="0">
            <a:spAutoFit/>
          </a:bodyPr>
          <a:lstStyle/>
          <a:p>
            <a:pPr>
              <a:spcBef>
                <a:spcPct val="50000"/>
              </a:spcBef>
            </a:pPr>
            <a:r>
              <a:rPr lang="zh-CN" altLang="en-US" sz="2800" b="1" dirty="0">
                <a:latin typeface="Times New Roman" panose="02020603050405020304" pitchFamily="18" charset="0"/>
                <a:ea typeface="黑体" panose="02010609060101010101" pitchFamily="49" charset="-122"/>
              </a:rPr>
              <a:t>受精极核</a:t>
            </a:r>
          </a:p>
        </p:txBody>
      </p:sp>
      <p:sp>
        <p:nvSpPr>
          <p:cNvPr id="18466" name="Text Box 34"/>
          <p:cNvSpPr txBox="1"/>
          <p:nvPr/>
        </p:nvSpPr>
        <p:spPr>
          <a:xfrm>
            <a:off x="827088" y="4076700"/>
            <a:ext cx="649287" cy="519113"/>
          </a:xfrm>
          <a:prstGeom prst="rect">
            <a:avLst/>
          </a:prstGeom>
          <a:noFill/>
          <a:ln w="9525">
            <a:noFill/>
          </a:ln>
        </p:spPr>
        <p:txBody>
          <a:bodyPr anchor="t" anchorCtr="0">
            <a:spAutoFit/>
          </a:bodyPr>
          <a:lstStyle/>
          <a:p>
            <a:pPr>
              <a:spcBef>
                <a:spcPct val="50000"/>
              </a:spcBef>
            </a:pPr>
            <a:r>
              <a:rPr lang="zh-CN" altLang="en-US" sz="2800" b="1" dirty="0">
                <a:solidFill>
                  <a:srgbClr val="006600"/>
                </a:solidFill>
                <a:latin typeface="Times New Roman" panose="02020603050405020304" pitchFamily="18" charset="0"/>
                <a:ea typeface="黑体" panose="02010609060101010101" pitchFamily="49" charset="-122"/>
              </a:rPr>
              <a:t>胚</a:t>
            </a:r>
          </a:p>
        </p:txBody>
      </p:sp>
      <p:sp>
        <p:nvSpPr>
          <p:cNvPr id="18467" name="Text Box 35"/>
          <p:cNvSpPr txBox="1"/>
          <p:nvPr/>
        </p:nvSpPr>
        <p:spPr>
          <a:xfrm>
            <a:off x="611188" y="3429000"/>
            <a:ext cx="1152525" cy="519113"/>
          </a:xfrm>
          <a:prstGeom prst="rect">
            <a:avLst/>
          </a:prstGeom>
          <a:noFill/>
          <a:ln w="9525">
            <a:noFill/>
          </a:ln>
        </p:spPr>
        <p:txBody>
          <a:bodyPr anchor="t" anchorCtr="0">
            <a:spAutoFit/>
          </a:bodyPr>
          <a:lstStyle/>
          <a:p>
            <a:pPr>
              <a:spcBef>
                <a:spcPct val="50000"/>
              </a:spcBef>
            </a:pPr>
            <a:r>
              <a:rPr lang="zh-CN" altLang="en-US" sz="2800" b="1" dirty="0">
                <a:solidFill>
                  <a:srgbClr val="006600"/>
                </a:solidFill>
                <a:latin typeface="Times New Roman" panose="02020603050405020304" pitchFamily="18" charset="0"/>
                <a:ea typeface="黑体" panose="02010609060101010101" pitchFamily="49" charset="-122"/>
              </a:rPr>
              <a:t>胚乳</a:t>
            </a:r>
          </a:p>
        </p:txBody>
      </p:sp>
      <p:sp>
        <p:nvSpPr>
          <p:cNvPr id="18468" name="Text Box 36"/>
          <p:cNvSpPr txBox="1"/>
          <p:nvPr/>
        </p:nvSpPr>
        <p:spPr>
          <a:xfrm>
            <a:off x="612775" y="2708275"/>
            <a:ext cx="1079500" cy="519113"/>
          </a:xfrm>
          <a:prstGeom prst="rect">
            <a:avLst/>
          </a:prstGeom>
          <a:noFill/>
          <a:ln w="9525">
            <a:noFill/>
          </a:ln>
        </p:spPr>
        <p:txBody>
          <a:bodyPr anchor="t" anchorCtr="0">
            <a:spAutoFit/>
          </a:bodyPr>
          <a:lstStyle/>
          <a:p>
            <a:pPr>
              <a:spcBef>
                <a:spcPct val="50000"/>
              </a:spcBef>
            </a:pPr>
            <a:r>
              <a:rPr lang="zh-CN" altLang="en-US" sz="2800" b="1" dirty="0">
                <a:solidFill>
                  <a:srgbClr val="006600"/>
                </a:solidFill>
                <a:latin typeface="Times New Roman" panose="02020603050405020304" pitchFamily="18" charset="0"/>
                <a:ea typeface="黑体" panose="02010609060101010101" pitchFamily="49" charset="-122"/>
              </a:rPr>
              <a:t>种皮</a:t>
            </a:r>
          </a:p>
        </p:txBody>
      </p:sp>
      <p:sp>
        <p:nvSpPr>
          <p:cNvPr id="18469" name="AutoShape 37"/>
          <p:cNvSpPr/>
          <p:nvPr/>
        </p:nvSpPr>
        <p:spPr>
          <a:xfrm flipH="1">
            <a:off x="611188" y="3068638"/>
            <a:ext cx="144462" cy="1368425"/>
          </a:xfrm>
          <a:prstGeom prst="rightBrace">
            <a:avLst>
              <a:gd name="adj1" fmla="val 78411"/>
              <a:gd name="adj2" fmla="val 50000"/>
            </a:avLst>
          </a:prstGeom>
          <a:noFill/>
          <a:ln w="38100" cap="flat" cmpd="sng">
            <a:solidFill>
              <a:schemeClr val="accent2"/>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8470" name="Text Box 38"/>
          <p:cNvSpPr txBox="1"/>
          <p:nvPr/>
        </p:nvSpPr>
        <p:spPr>
          <a:xfrm>
            <a:off x="0" y="3141663"/>
            <a:ext cx="576263" cy="1066800"/>
          </a:xfrm>
          <a:prstGeom prst="rect">
            <a:avLst/>
          </a:prstGeom>
          <a:solidFill>
            <a:srgbClr val="0099FF"/>
          </a:solidFill>
          <a:ln w="9525">
            <a:noFill/>
          </a:ln>
        </p:spPr>
        <p:txBody>
          <a:bodyPr anchor="t" anchorCtr="0">
            <a:spAutoFit/>
          </a:bodyPr>
          <a:lstStyle/>
          <a:p>
            <a:pPr>
              <a:spcBef>
                <a:spcPct val="50000"/>
              </a:spcBef>
            </a:pPr>
            <a:r>
              <a:rPr lang="zh-CN" altLang="en-US" sz="3200" b="1" dirty="0">
                <a:latin typeface="Times New Roman" panose="02020603050405020304" pitchFamily="18" charset="0"/>
                <a:ea typeface="黑体" panose="02010609060101010101" pitchFamily="49" charset="-122"/>
              </a:rPr>
              <a:t>种子</a:t>
            </a:r>
          </a:p>
        </p:txBody>
      </p:sp>
      <p:sp>
        <p:nvSpPr>
          <p:cNvPr id="18471" name="AutoShape 39"/>
          <p:cNvSpPr/>
          <p:nvPr/>
        </p:nvSpPr>
        <p:spPr>
          <a:xfrm>
            <a:off x="4643438" y="2852738"/>
            <a:ext cx="288925" cy="1439862"/>
          </a:xfrm>
          <a:prstGeom prst="rightBrace">
            <a:avLst>
              <a:gd name="adj1" fmla="val 41252"/>
              <a:gd name="adj2" fmla="val 50000"/>
            </a:avLst>
          </a:prstGeom>
          <a:noFill/>
          <a:ln w="38100" cap="flat" cmpd="sng">
            <a:solidFill>
              <a:schemeClr val="accent2"/>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8472" name="Text Box 40"/>
          <p:cNvSpPr txBox="1"/>
          <p:nvPr/>
        </p:nvSpPr>
        <p:spPr>
          <a:xfrm>
            <a:off x="468313" y="2205038"/>
            <a:ext cx="936625" cy="519112"/>
          </a:xfrm>
          <a:prstGeom prst="rect">
            <a:avLst/>
          </a:prstGeom>
          <a:solidFill>
            <a:srgbClr val="FF0066"/>
          </a:solidFill>
          <a:ln w="9525">
            <a:noFill/>
          </a:ln>
        </p:spPr>
        <p:txBody>
          <a:bodyPr anchor="t" anchorCtr="0">
            <a:spAutoFit/>
          </a:bodyPr>
          <a:lstStyle/>
          <a:p>
            <a:pPr>
              <a:spcBef>
                <a:spcPct val="50000"/>
              </a:spcBef>
            </a:pPr>
            <a:r>
              <a:rPr lang="zh-CN" altLang="en-US" sz="2800" b="1" dirty="0">
                <a:solidFill>
                  <a:schemeClr val="bg1"/>
                </a:solidFill>
                <a:latin typeface="Times New Roman" panose="02020603050405020304" pitchFamily="18" charset="0"/>
                <a:ea typeface="黑体" panose="02010609060101010101" pitchFamily="49" charset="-122"/>
              </a:rPr>
              <a:t>果皮</a:t>
            </a:r>
          </a:p>
        </p:txBody>
      </p:sp>
      <p:grpSp>
        <p:nvGrpSpPr>
          <p:cNvPr id="4" name="Group 41"/>
          <p:cNvGrpSpPr/>
          <p:nvPr/>
        </p:nvGrpSpPr>
        <p:grpSpPr>
          <a:xfrm>
            <a:off x="0" y="1484313"/>
            <a:ext cx="719138" cy="1657350"/>
            <a:chOff x="0" y="935"/>
            <a:chExt cx="453" cy="1044"/>
          </a:xfrm>
        </p:grpSpPr>
        <p:sp>
          <p:nvSpPr>
            <p:cNvPr id="572457" name="Line 42"/>
            <p:cNvSpPr/>
            <p:nvPr/>
          </p:nvSpPr>
          <p:spPr>
            <a:xfrm flipH="1">
              <a:off x="0" y="935"/>
              <a:ext cx="272" cy="1044"/>
            </a:xfrm>
            <a:prstGeom prst="line">
              <a:avLst/>
            </a:prstGeom>
            <a:ln w="57150" cap="flat" cmpd="sng">
              <a:solidFill>
                <a:srgbClr val="FF0066"/>
              </a:solidFill>
              <a:prstDash val="sysDot"/>
              <a:round/>
              <a:headEnd type="none" w="med" len="med"/>
              <a:tailEnd type="none" w="med" len="med"/>
            </a:ln>
          </p:spPr>
          <p:txBody>
            <a:bodyPr/>
            <a:lstStyle/>
            <a:p>
              <a:endParaRPr lang="zh-CN" altLang="en-US"/>
            </a:p>
          </p:txBody>
        </p:sp>
        <p:sp>
          <p:nvSpPr>
            <p:cNvPr id="572458" name="Line 43"/>
            <p:cNvSpPr/>
            <p:nvPr/>
          </p:nvSpPr>
          <p:spPr>
            <a:xfrm>
              <a:off x="272" y="935"/>
              <a:ext cx="181" cy="499"/>
            </a:xfrm>
            <a:prstGeom prst="line">
              <a:avLst/>
            </a:prstGeom>
            <a:ln w="57150" cap="flat" cmpd="sng">
              <a:solidFill>
                <a:srgbClr val="FF0066"/>
              </a:solidFill>
              <a:prstDash val="sysDot"/>
              <a:round/>
              <a:headEnd type="none" w="med" len="med"/>
              <a:tailEnd type="none" w="med" len="med"/>
            </a:ln>
          </p:spPr>
          <p:txBody>
            <a:bodyPr/>
            <a:lstStyle/>
            <a:p>
              <a:endParaRPr lang="zh-CN" altLang="en-US"/>
            </a:p>
          </p:txBody>
        </p:sp>
      </p:grpSp>
      <p:sp>
        <p:nvSpPr>
          <p:cNvPr id="18476" name="Text Box 44"/>
          <p:cNvSpPr txBox="1"/>
          <p:nvPr/>
        </p:nvSpPr>
        <p:spPr>
          <a:xfrm>
            <a:off x="0" y="836613"/>
            <a:ext cx="1152525" cy="641350"/>
          </a:xfrm>
          <a:prstGeom prst="rect">
            <a:avLst/>
          </a:prstGeom>
          <a:solidFill>
            <a:srgbClr val="FFFF00"/>
          </a:solidFill>
          <a:ln w="9525">
            <a:noFill/>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黑体" panose="02010609060101010101" pitchFamily="49" charset="-122"/>
              </a:rPr>
              <a:t>果实</a:t>
            </a:r>
          </a:p>
        </p:txBody>
      </p:sp>
      <p:sp>
        <p:nvSpPr>
          <p:cNvPr id="18477" name="Line 45"/>
          <p:cNvSpPr/>
          <p:nvPr/>
        </p:nvSpPr>
        <p:spPr>
          <a:xfrm flipV="1">
            <a:off x="4211638" y="115888"/>
            <a:ext cx="1727200" cy="360362"/>
          </a:xfrm>
          <a:prstGeom prst="line">
            <a:avLst/>
          </a:prstGeom>
          <a:ln w="57150" cap="flat" cmpd="sng">
            <a:solidFill>
              <a:srgbClr val="FF0000"/>
            </a:solidFill>
            <a:prstDash val="solid"/>
            <a:round/>
            <a:headEnd type="none" w="med" len="med"/>
            <a:tailEnd type="none" w="med" len="med"/>
          </a:ln>
        </p:spPr>
        <p:txBody>
          <a:bodyPr/>
          <a:lstStyle/>
          <a:p>
            <a:endParaRPr lang="zh-CN" altLang="en-US"/>
          </a:p>
        </p:txBody>
      </p:sp>
      <p:sp>
        <p:nvSpPr>
          <p:cNvPr id="18478" name="Text Box 46"/>
          <p:cNvSpPr txBox="1"/>
          <p:nvPr/>
        </p:nvSpPr>
        <p:spPr>
          <a:xfrm>
            <a:off x="2484438" y="188913"/>
            <a:ext cx="1582737" cy="641350"/>
          </a:xfrm>
          <a:prstGeom prst="rect">
            <a:avLst/>
          </a:prstGeom>
          <a:solidFill>
            <a:srgbClr val="66FFFF"/>
          </a:solidFill>
          <a:ln w="9525">
            <a:noFill/>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黑体" panose="02010609060101010101" pitchFamily="49" charset="-122"/>
              </a:rPr>
              <a:t>花粉粒</a:t>
            </a:r>
          </a:p>
        </p:txBody>
      </p:sp>
      <p:sp>
        <p:nvSpPr>
          <p:cNvPr id="18479" name="Text Box 47"/>
          <p:cNvSpPr txBox="1"/>
          <p:nvPr/>
        </p:nvSpPr>
        <p:spPr>
          <a:xfrm>
            <a:off x="3419475" y="4005263"/>
            <a:ext cx="1295400" cy="519112"/>
          </a:xfrm>
          <a:prstGeom prst="rect">
            <a:avLst/>
          </a:prstGeom>
          <a:solidFill>
            <a:srgbClr val="3399FF"/>
          </a:solidFill>
          <a:ln w="9525">
            <a:noFill/>
          </a:ln>
        </p:spPr>
        <p:txBody>
          <a:bodyPr anchor="t" anchorCtr="0">
            <a:spAutoFit/>
          </a:bodyPr>
          <a:lstStyle/>
          <a:p>
            <a:pPr>
              <a:spcBef>
                <a:spcPct val="50000"/>
              </a:spcBef>
            </a:pPr>
            <a:r>
              <a:rPr lang="zh-CN" altLang="en-US" sz="2800" b="1" dirty="0">
                <a:latin typeface="Times New Roman" panose="02020603050405020304" pitchFamily="18" charset="0"/>
                <a:ea typeface="黑体" panose="02010609060101010101" pitchFamily="49" charset="-122"/>
              </a:rPr>
              <a:t>卵细胞</a:t>
            </a:r>
          </a:p>
        </p:txBody>
      </p:sp>
      <p:sp>
        <p:nvSpPr>
          <p:cNvPr id="18480" name="Text Box 48"/>
          <p:cNvSpPr txBox="1"/>
          <p:nvPr/>
        </p:nvSpPr>
        <p:spPr>
          <a:xfrm>
            <a:off x="3635375" y="3414713"/>
            <a:ext cx="936625" cy="519112"/>
          </a:xfrm>
          <a:prstGeom prst="rect">
            <a:avLst/>
          </a:prstGeom>
          <a:solidFill>
            <a:srgbClr val="3399FF"/>
          </a:solidFill>
          <a:ln w="9525">
            <a:noFill/>
          </a:ln>
        </p:spPr>
        <p:txBody>
          <a:bodyPr anchor="t" anchorCtr="0">
            <a:spAutoFit/>
          </a:bodyPr>
          <a:lstStyle/>
          <a:p>
            <a:pPr>
              <a:spcBef>
                <a:spcPct val="50000"/>
              </a:spcBef>
            </a:pPr>
            <a:r>
              <a:rPr lang="zh-CN" altLang="en-US" sz="2800" b="1" dirty="0">
                <a:latin typeface="Times New Roman" panose="02020603050405020304" pitchFamily="18" charset="0"/>
                <a:ea typeface="黑体" panose="02010609060101010101" pitchFamily="49" charset="-122"/>
              </a:rPr>
              <a:t>极核</a:t>
            </a:r>
          </a:p>
        </p:txBody>
      </p:sp>
      <p:sp>
        <p:nvSpPr>
          <p:cNvPr id="18481" name="Line 49"/>
          <p:cNvSpPr/>
          <p:nvPr/>
        </p:nvSpPr>
        <p:spPr>
          <a:xfrm flipH="1" flipV="1">
            <a:off x="4643438" y="2565400"/>
            <a:ext cx="792162" cy="280988"/>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18482" name="Text Box 50"/>
          <p:cNvSpPr txBox="1"/>
          <p:nvPr/>
        </p:nvSpPr>
        <p:spPr>
          <a:xfrm>
            <a:off x="3419475" y="2189163"/>
            <a:ext cx="1296988" cy="519112"/>
          </a:xfrm>
          <a:prstGeom prst="rect">
            <a:avLst/>
          </a:prstGeom>
          <a:solidFill>
            <a:srgbClr val="FF0066"/>
          </a:solidFill>
          <a:ln w="9525">
            <a:noFill/>
          </a:ln>
        </p:spPr>
        <p:txBody>
          <a:bodyPr anchor="t" anchorCtr="0">
            <a:spAutoFit/>
          </a:bodyPr>
          <a:lstStyle/>
          <a:p>
            <a:pPr>
              <a:spcBef>
                <a:spcPct val="50000"/>
              </a:spcBef>
            </a:pPr>
            <a:r>
              <a:rPr lang="zh-CN" altLang="en-US" sz="2800" b="1" dirty="0">
                <a:solidFill>
                  <a:schemeClr val="bg1"/>
                </a:solidFill>
                <a:latin typeface="Times New Roman" panose="02020603050405020304" pitchFamily="18" charset="0"/>
                <a:ea typeface="黑体" panose="02010609060101010101" pitchFamily="49" charset="-122"/>
              </a:rPr>
              <a:t>子房壁</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44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845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18447"/>
                                        </p:tgtEl>
                                        <p:attrNameLst>
                                          <p:attrName>style.visibility</p:attrName>
                                        </p:attrNameLst>
                                      </p:cBhvr>
                                      <p:to>
                                        <p:strVal val="visible"/>
                                      </p:to>
                                    </p:set>
                                    <p:animEffect transition="in" filter="strips(downRight)">
                                      <p:cBhvr>
                                        <p:cTn id="20" dur="500"/>
                                        <p:tgtEl>
                                          <p:spTgt spid="1844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4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18443"/>
                                        </p:tgtEl>
                                        <p:attrNameLst>
                                          <p:attrName>style.visibility</p:attrName>
                                        </p:attrNameLst>
                                      </p:cBhvr>
                                      <p:to>
                                        <p:strVal val="visible"/>
                                      </p:to>
                                    </p:set>
                                    <p:animEffect transition="in" filter="strips(downRight)">
                                      <p:cBhvr>
                                        <p:cTn id="29" dur="500"/>
                                        <p:tgtEl>
                                          <p:spTgt spid="1844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44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18481"/>
                                        </p:tgtEl>
                                        <p:attrNameLst>
                                          <p:attrName>style.visibility</p:attrName>
                                        </p:attrNameLst>
                                      </p:cBhvr>
                                      <p:to>
                                        <p:strVal val="visible"/>
                                      </p:to>
                                    </p:set>
                                    <p:animEffect transition="in" filter="strips(downRight)">
                                      <p:cBhvr>
                                        <p:cTn id="38" dur="500"/>
                                        <p:tgtEl>
                                          <p:spTgt spid="1848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8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18471"/>
                                        </p:tgtEl>
                                        <p:attrNameLst>
                                          <p:attrName>style.visibility</p:attrName>
                                        </p:attrNameLst>
                                      </p:cBhvr>
                                      <p:to>
                                        <p:strVal val="visible"/>
                                      </p:to>
                                    </p:set>
                                    <p:animEffect transition="in" filter="strips(downLeft)">
                                      <p:cBhvr>
                                        <p:cTn id="47" dur="500"/>
                                        <p:tgtEl>
                                          <p:spTgt spid="18471"/>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18435"/>
                                        </p:tgtEl>
                                        <p:attrNameLst>
                                          <p:attrName>style.visibility</p:attrName>
                                        </p:attrNameLst>
                                      </p:cBhvr>
                                      <p:to>
                                        <p:strVal val="visible"/>
                                      </p:to>
                                    </p:set>
                                    <p:animEffect transition="in" filter="strips(downLeft)">
                                      <p:cBhvr>
                                        <p:cTn id="52" dur="500"/>
                                        <p:tgtEl>
                                          <p:spTgt spid="18435"/>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47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8" presetClass="entr" presetSubtype="12" fill="hold" nodeType="clickEffect">
                                  <p:stCondLst>
                                    <p:cond delay="0"/>
                                  </p:stCondLst>
                                  <p:childTnLst>
                                    <p:set>
                                      <p:cBhvr>
                                        <p:cTn id="60" dur="1" fill="hold">
                                          <p:stCondLst>
                                            <p:cond delay="0"/>
                                          </p:stCondLst>
                                        </p:cTn>
                                        <p:tgtEl>
                                          <p:spTgt spid="18455"/>
                                        </p:tgtEl>
                                        <p:attrNameLst>
                                          <p:attrName>style.visibility</p:attrName>
                                        </p:attrNameLst>
                                      </p:cBhvr>
                                      <p:to>
                                        <p:strVal val="visible"/>
                                      </p:to>
                                    </p:set>
                                    <p:animEffect transition="in" filter="strips(downLeft)">
                                      <p:cBhvr>
                                        <p:cTn id="61" dur="500"/>
                                        <p:tgtEl>
                                          <p:spTgt spid="18455"/>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8480"/>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8" presetClass="entr" presetSubtype="12" fill="hold" nodeType="clickEffect">
                                  <p:stCondLst>
                                    <p:cond delay="0"/>
                                  </p:stCondLst>
                                  <p:childTnLst>
                                    <p:set>
                                      <p:cBhvr>
                                        <p:cTn id="69" dur="1" fill="hold">
                                          <p:stCondLst>
                                            <p:cond delay="0"/>
                                          </p:stCondLst>
                                        </p:cTn>
                                        <p:tgtEl>
                                          <p:spTgt spid="18456"/>
                                        </p:tgtEl>
                                        <p:attrNameLst>
                                          <p:attrName>style.visibility</p:attrName>
                                        </p:attrNameLst>
                                      </p:cBhvr>
                                      <p:to>
                                        <p:strVal val="visible"/>
                                      </p:to>
                                    </p:set>
                                    <p:animEffect transition="in" filter="strips(downLeft)">
                                      <p:cBhvr>
                                        <p:cTn id="70" dur="500"/>
                                        <p:tgtEl>
                                          <p:spTgt spid="18456"/>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84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8" presetClass="entr" presetSubtype="12" fill="hold" nodeType="clickEffect">
                                  <p:stCondLst>
                                    <p:cond delay="0"/>
                                  </p:stCondLst>
                                  <p:childTnLst>
                                    <p:set>
                                      <p:cBhvr>
                                        <p:cTn id="78" dur="1" fill="hold">
                                          <p:stCondLst>
                                            <p:cond delay="0"/>
                                          </p:stCondLst>
                                        </p:cTn>
                                        <p:tgtEl>
                                          <p:spTgt spid="18477"/>
                                        </p:tgtEl>
                                        <p:attrNameLst>
                                          <p:attrName>style.visibility</p:attrName>
                                        </p:attrNameLst>
                                      </p:cBhvr>
                                      <p:to>
                                        <p:strVal val="visible"/>
                                      </p:to>
                                    </p:set>
                                    <p:animEffect transition="in" filter="strips(downLeft)">
                                      <p:cBhvr>
                                        <p:cTn id="79" dur="500"/>
                                        <p:tgtEl>
                                          <p:spTgt spid="1847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8478"/>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8" presetClass="entr" presetSubtype="6" fill="hold" nodeType="clickEffect">
                                  <p:stCondLst>
                                    <p:cond delay="0"/>
                                  </p:stCondLst>
                                  <p:childTnLst>
                                    <p:set>
                                      <p:cBhvr>
                                        <p:cTn id="87" dur="1" fill="hold">
                                          <p:stCondLst>
                                            <p:cond delay="0"/>
                                          </p:stCondLst>
                                        </p:cTn>
                                        <p:tgtEl>
                                          <p:spTgt spid="18436"/>
                                        </p:tgtEl>
                                        <p:attrNameLst>
                                          <p:attrName>style.visibility</p:attrName>
                                        </p:attrNameLst>
                                      </p:cBhvr>
                                      <p:to>
                                        <p:strVal val="visible"/>
                                      </p:to>
                                    </p:set>
                                    <p:animEffect transition="in" filter="strips(downRight)">
                                      <p:cBhvr>
                                        <p:cTn id="88" dur="500"/>
                                        <p:tgtEl>
                                          <p:spTgt spid="18436"/>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843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8" presetClass="entr" presetSubtype="12" fill="hold" nodeType="clickEffect">
                                  <p:stCondLst>
                                    <p:cond delay="0"/>
                                  </p:stCondLst>
                                  <p:childTnLst>
                                    <p:set>
                                      <p:cBhvr>
                                        <p:cTn id="96" dur="1" fill="hold">
                                          <p:stCondLst>
                                            <p:cond delay="0"/>
                                          </p:stCondLst>
                                        </p:cTn>
                                        <p:tgtEl>
                                          <p:spTgt spid="2"/>
                                        </p:tgtEl>
                                        <p:attrNameLst>
                                          <p:attrName>style.visibility</p:attrName>
                                        </p:attrNameLst>
                                      </p:cBhvr>
                                      <p:to>
                                        <p:strVal val="visible"/>
                                      </p:to>
                                    </p:set>
                                    <p:animEffect transition="in" filter="strips(downLeft)">
                                      <p:cBhvr>
                                        <p:cTn id="97" dur="500"/>
                                        <p:tgtEl>
                                          <p:spTgt spid="2"/>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1844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8" presetClass="entr" presetSubtype="12" fill="hold" nodeType="clickEffect">
                                  <p:stCondLst>
                                    <p:cond delay="0"/>
                                  </p:stCondLst>
                                  <p:childTnLst>
                                    <p:set>
                                      <p:cBhvr>
                                        <p:cTn id="105" dur="1" fill="hold">
                                          <p:stCondLst>
                                            <p:cond delay="0"/>
                                          </p:stCondLst>
                                        </p:cTn>
                                        <p:tgtEl>
                                          <p:spTgt spid="18458"/>
                                        </p:tgtEl>
                                        <p:attrNameLst>
                                          <p:attrName>style.visibility</p:attrName>
                                        </p:attrNameLst>
                                      </p:cBhvr>
                                      <p:to>
                                        <p:strVal val="visible"/>
                                      </p:to>
                                    </p:set>
                                    <p:animEffect transition="in" filter="strips(downLeft)">
                                      <p:cBhvr>
                                        <p:cTn id="106" dur="500"/>
                                        <p:tgtEl>
                                          <p:spTgt spid="1845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846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8" presetClass="entr" presetSubtype="12" fill="hold" nodeType="clickEffect">
                                  <p:stCondLst>
                                    <p:cond delay="0"/>
                                  </p:stCondLst>
                                  <p:childTnLst>
                                    <p:set>
                                      <p:cBhvr>
                                        <p:cTn id="114" dur="1" fill="hold">
                                          <p:stCondLst>
                                            <p:cond delay="0"/>
                                          </p:stCondLst>
                                        </p:cTn>
                                        <p:tgtEl>
                                          <p:spTgt spid="18459"/>
                                        </p:tgtEl>
                                        <p:attrNameLst>
                                          <p:attrName>style.visibility</p:attrName>
                                        </p:attrNameLst>
                                      </p:cBhvr>
                                      <p:to>
                                        <p:strVal val="visible"/>
                                      </p:to>
                                    </p:set>
                                    <p:animEffect transition="in" filter="strips(downLeft)">
                                      <p:cBhvr>
                                        <p:cTn id="115" dur="500"/>
                                        <p:tgtEl>
                                          <p:spTgt spid="18459"/>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18465"/>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4" presetClass="entr" presetSubtype="16" fill="hold" grpId="0" nodeType="clickEffect">
                                  <p:stCondLst>
                                    <p:cond delay="0"/>
                                  </p:stCondLst>
                                  <p:childTnLst>
                                    <p:set>
                                      <p:cBhvr>
                                        <p:cTn id="123" dur="1" fill="hold">
                                          <p:stCondLst>
                                            <p:cond delay="0"/>
                                          </p:stCondLst>
                                        </p:cTn>
                                        <p:tgtEl>
                                          <p:spTgt spid="18445"/>
                                        </p:tgtEl>
                                        <p:attrNameLst>
                                          <p:attrName>style.visibility</p:attrName>
                                        </p:attrNameLst>
                                      </p:cBhvr>
                                      <p:to>
                                        <p:strVal val="visible"/>
                                      </p:to>
                                    </p:set>
                                    <p:animEffect transition="in" filter="box(in)">
                                      <p:cBhvr>
                                        <p:cTn id="124" dur="500"/>
                                        <p:tgtEl>
                                          <p:spTgt spid="18445"/>
                                        </p:tgtEl>
                                      </p:cBhvr>
                                    </p:animEffect>
                                  </p:childTnLst>
                                </p:cTn>
                              </p:par>
                            </p:childTnLst>
                          </p:cTn>
                        </p:par>
                      </p:childTnLst>
                    </p:cTn>
                  </p:par>
                  <p:par>
                    <p:cTn id="125" fill="hold">
                      <p:stCondLst>
                        <p:cond delay="indefinite"/>
                      </p:stCondLst>
                      <p:childTnLst>
                        <p:par>
                          <p:cTn id="126" fill="hold">
                            <p:stCondLst>
                              <p:cond delay="0"/>
                            </p:stCondLst>
                            <p:childTnLst>
                              <p:par>
                                <p:cTn id="127" presetID="4" presetClass="entr" presetSubtype="16" fill="hold" grpId="0" nodeType="clickEffect">
                                  <p:stCondLst>
                                    <p:cond delay="0"/>
                                  </p:stCondLst>
                                  <p:childTnLst>
                                    <p:set>
                                      <p:cBhvr>
                                        <p:cTn id="128" dur="1" fill="hold">
                                          <p:stCondLst>
                                            <p:cond delay="0"/>
                                          </p:stCondLst>
                                        </p:cTn>
                                        <p:tgtEl>
                                          <p:spTgt spid="18446"/>
                                        </p:tgtEl>
                                        <p:attrNameLst>
                                          <p:attrName>style.visibility</p:attrName>
                                        </p:attrNameLst>
                                      </p:cBhvr>
                                      <p:to>
                                        <p:strVal val="visible"/>
                                      </p:to>
                                    </p:set>
                                    <p:animEffect transition="in" filter="box(in)">
                                      <p:cBhvr>
                                        <p:cTn id="129" dur="500"/>
                                        <p:tgtEl>
                                          <p:spTgt spid="18446"/>
                                        </p:tgtEl>
                                      </p:cBhvr>
                                    </p:animEffect>
                                  </p:childTnLst>
                                </p:cTn>
                              </p:par>
                            </p:childTnLst>
                          </p:cTn>
                        </p:par>
                      </p:childTnLst>
                    </p:cTn>
                  </p:par>
                  <p:par>
                    <p:cTn id="130" fill="hold">
                      <p:stCondLst>
                        <p:cond delay="indefinite"/>
                      </p:stCondLst>
                      <p:childTnLst>
                        <p:par>
                          <p:cTn id="131" fill="hold">
                            <p:stCondLst>
                              <p:cond delay="0"/>
                            </p:stCondLst>
                            <p:childTnLst>
                              <p:par>
                                <p:cTn id="132" presetID="4" presetClass="entr" presetSubtype="16" fill="hold" grpId="0" nodeType="clickEffect">
                                  <p:stCondLst>
                                    <p:cond delay="0"/>
                                  </p:stCondLst>
                                  <p:childTnLst>
                                    <p:set>
                                      <p:cBhvr>
                                        <p:cTn id="133" dur="1" fill="hold">
                                          <p:stCondLst>
                                            <p:cond delay="0"/>
                                          </p:stCondLst>
                                        </p:cTn>
                                        <p:tgtEl>
                                          <p:spTgt spid="18453"/>
                                        </p:tgtEl>
                                        <p:attrNameLst>
                                          <p:attrName>style.visibility</p:attrName>
                                        </p:attrNameLst>
                                      </p:cBhvr>
                                      <p:to>
                                        <p:strVal val="visible"/>
                                      </p:to>
                                    </p:set>
                                    <p:animEffect transition="in" filter="box(in)">
                                      <p:cBhvr>
                                        <p:cTn id="134" dur="500"/>
                                        <p:tgtEl>
                                          <p:spTgt spid="18453"/>
                                        </p:tgtEl>
                                      </p:cBhvr>
                                    </p:animEffect>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grpId="0" nodeType="clickEffect">
                                  <p:stCondLst>
                                    <p:cond delay="0"/>
                                  </p:stCondLst>
                                  <p:childTnLst>
                                    <p:set>
                                      <p:cBhvr>
                                        <p:cTn id="138" dur="1" fill="hold">
                                          <p:stCondLst>
                                            <p:cond delay="0"/>
                                          </p:stCondLst>
                                        </p:cTn>
                                        <p:tgtEl>
                                          <p:spTgt spid="18454"/>
                                        </p:tgtEl>
                                        <p:attrNameLst>
                                          <p:attrName>style.visibility</p:attrName>
                                        </p:attrNameLst>
                                      </p:cBhvr>
                                      <p:to>
                                        <p:strVal val="visible"/>
                                      </p:to>
                                    </p:set>
                                    <p:animEffect transition="in" filter="blinds(horizontal)">
                                      <p:cBhvr>
                                        <p:cTn id="139" dur="500"/>
                                        <p:tgtEl>
                                          <p:spTgt spid="18454"/>
                                        </p:tgtEl>
                                      </p:cBhvr>
                                    </p:animEffect>
                                  </p:childTnLst>
                                </p:cTn>
                              </p:par>
                            </p:childTnLst>
                          </p:cTn>
                        </p:par>
                      </p:childTnLst>
                    </p:cTn>
                  </p:par>
                  <p:par>
                    <p:cTn id="140" fill="hold">
                      <p:stCondLst>
                        <p:cond delay="indefinite"/>
                      </p:stCondLst>
                      <p:childTnLst>
                        <p:par>
                          <p:cTn id="141" fill="hold">
                            <p:stCondLst>
                              <p:cond delay="0"/>
                            </p:stCondLst>
                            <p:childTnLst>
                              <p:par>
                                <p:cTn id="142" presetID="18" presetClass="entr" presetSubtype="12" fill="hold" nodeType="clickEffect">
                                  <p:stCondLst>
                                    <p:cond delay="0"/>
                                  </p:stCondLst>
                                  <p:childTnLst>
                                    <p:set>
                                      <p:cBhvr>
                                        <p:cTn id="143" dur="1" fill="hold">
                                          <p:stCondLst>
                                            <p:cond delay="0"/>
                                          </p:stCondLst>
                                        </p:cTn>
                                        <p:tgtEl>
                                          <p:spTgt spid="18460"/>
                                        </p:tgtEl>
                                        <p:attrNameLst>
                                          <p:attrName>style.visibility</p:attrName>
                                        </p:attrNameLst>
                                      </p:cBhvr>
                                      <p:to>
                                        <p:strVal val="visible"/>
                                      </p:to>
                                    </p:set>
                                    <p:animEffect transition="in" filter="strips(downLeft)">
                                      <p:cBhvr>
                                        <p:cTn id="144" dur="500"/>
                                        <p:tgtEl>
                                          <p:spTgt spid="18460"/>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846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8" presetClass="entr" presetSubtype="12" fill="hold" nodeType="clickEffect">
                                  <p:stCondLst>
                                    <p:cond delay="0"/>
                                  </p:stCondLst>
                                  <p:childTnLst>
                                    <p:set>
                                      <p:cBhvr>
                                        <p:cTn id="152" dur="1" fill="hold">
                                          <p:stCondLst>
                                            <p:cond delay="0"/>
                                          </p:stCondLst>
                                        </p:cTn>
                                        <p:tgtEl>
                                          <p:spTgt spid="18461"/>
                                        </p:tgtEl>
                                        <p:attrNameLst>
                                          <p:attrName>style.visibility</p:attrName>
                                        </p:attrNameLst>
                                      </p:cBhvr>
                                      <p:to>
                                        <p:strVal val="visible"/>
                                      </p:to>
                                    </p:set>
                                    <p:animEffect transition="in" filter="strips(downLeft)">
                                      <p:cBhvr>
                                        <p:cTn id="153" dur="500"/>
                                        <p:tgtEl>
                                          <p:spTgt spid="18461"/>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0"/>
                                          </p:stCondLst>
                                        </p:cTn>
                                        <p:tgtEl>
                                          <p:spTgt spid="18467"/>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8" presetClass="entr" presetSubtype="12" fill="hold" nodeType="clickEffect">
                                  <p:stCondLst>
                                    <p:cond delay="0"/>
                                  </p:stCondLst>
                                  <p:childTnLst>
                                    <p:set>
                                      <p:cBhvr>
                                        <p:cTn id="161" dur="1" fill="hold">
                                          <p:stCondLst>
                                            <p:cond delay="0"/>
                                          </p:stCondLst>
                                        </p:cTn>
                                        <p:tgtEl>
                                          <p:spTgt spid="18462"/>
                                        </p:tgtEl>
                                        <p:attrNameLst>
                                          <p:attrName>style.visibility</p:attrName>
                                        </p:attrNameLst>
                                      </p:cBhvr>
                                      <p:to>
                                        <p:strVal val="visible"/>
                                      </p:to>
                                    </p:set>
                                    <p:animEffect transition="in" filter="strips(downLeft)">
                                      <p:cBhvr>
                                        <p:cTn id="162" dur="500"/>
                                        <p:tgtEl>
                                          <p:spTgt spid="18462"/>
                                        </p:tgtEl>
                                      </p:cBhvr>
                                    </p:animEffec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846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8" presetClass="entr" presetSubtype="12" fill="hold" grpId="0" nodeType="clickEffect">
                                  <p:stCondLst>
                                    <p:cond delay="0"/>
                                  </p:stCondLst>
                                  <p:childTnLst>
                                    <p:set>
                                      <p:cBhvr>
                                        <p:cTn id="170" dur="1" fill="hold">
                                          <p:stCondLst>
                                            <p:cond delay="0"/>
                                          </p:stCondLst>
                                        </p:cTn>
                                        <p:tgtEl>
                                          <p:spTgt spid="18469"/>
                                        </p:tgtEl>
                                        <p:attrNameLst>
                                          <p:attrName>style.visibility</p:attrName>
                                        </p:attrNameLst>
                                      </p:cBhvr>
                                      <p:to>
                                        <p:strVal val="visible"/>
                                      </p:to>
                                    </p:set>
                                    <p:animEffect transition="in" filter="strips(downLeft)">
                                      <p:cBhvr>
                                        <p:cTn id="171" dur="500"/>
                                        <p:tgtEl>
                                          <p:spTgt spid="18469"/>
                                        </p:tgtEl>
                                      </p:cBhvr>
                                    </p:animEffec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18470"/>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8" presetClass="entr" presetSubtype="12" fill="hold" nodeType="clickEffect">
                                  <p:stCondLst>
                                    <p:cond delay="0"/>
                                  </p:stCondLst>
                                  <p:childTnLst>
                                    <p:set>
                                      <p:cBhvr>
                                        <p:cTn id="179" dur="1" fill="hold">
                                          <p:stCondLst>
                                            <p:cond delay="0"/>
                                          </p:stCondLst>
                                        </p:cTn>
                                        <p:tgtEl>
                                          <p:spTgt spid="18463"/>
                                        </p:tgtEl>
                                        <p:attrNameLst>
                                          <p:attrName>style.visibility</p:attrName>
                                        </p:attrNameLst>
                                      </p:cBhvr>
                                      <p:to>
                                        <p:strVal val="visible"/>
                                      </p:to>
                                    </p:set>
                                    <p:animEffect transition="in" filter="strips(downLeft)">
                                      <p:cBhvr>
                                        <p:cTn id="180" dur="500"/>
                                        <p:tgtEl>
                                          <p:spTgt spid="18463"/>
                                        </p:tgtEl>
                                      </p:cBhvr>
                                    </p:animEffec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8472"/>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8" presetClass="entr" presetSubtype="12" fill="hold" nodeType="clickEffect">
                                  <p:stCondLst>
                                    <p:cond delay="0"/>
                                  </p:stCondLst>
                                  <p:childTnLst>
                                    <p:set>
                                      <p:cBhvr>
                                        <p:cTn id="188" dur="1" fill="hold">
                                          <p:stCondLst>
                                            <p:cond delay="0"/>
                                          </p:stCondLst>
                                        </p:cTn>
                                        <p:tgtEl>
                                          <p:spTgt spid="4"/>
                                        </p:tgtEl>
                                        <p:attrNameLst>
                                          <p:attrName>style.visibility</p:attrName>
                                        </p:attrNameLst>
                                      </p:cBhvr>
                                      <p:to>
                                        <p:strVal val="visible"/>
                                      </p:to>
                                    </p:set>
                                    <p:animEffect transition="in" filter="strips(downLeft)">
                                      <p:cBhvr>
                                        <p:cTn id="189" dur="500"/>
                                        <p:tgtEl>
                                          <p:spTgt spid="4"/>
                                        </p:tgtEl>
                                      </p:cBhvr>
                                    </p:animEffec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18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41" grpId="0"/>
      <p:bldP spid="18442" grpId="0" animBg="1"/>
      <p:bldP spid="18444" grpId="0" animBg="1"/>
      <p:bldP spid="18445" grpId="0" animBg="1"/>
      <p:bldP spid="18446" grpId="0"/>
      <p:bldP spid="18448" grpId="0" animBg="1"/>
      <p:bldP spid="18452" grpId="0" animBg="1"/>
      <p:bldP spid="18453" grpId="0" animBg="1"/>
      <p:bldP spid="18454" grpId="0"/>
      <p:bldP spid="18457" grpId="0" animBg="1"/>
      <p:bldP spid="18464" grpId="0"/>
      <p:bldP spid="18465" grpId="0"/>
      <p:bldP spid="18466" grpId="0"/>
      <p:bldP spid="18467" grpId="0"/>
      <p:bldP spid="18468" grpId="0"/>
      <p:bldP spid="18469" grpId="0" animBg="1"/>
      <p:bldP spid="18470" grpId="0" animBg="1"/>
      <p:bldP spid="18471" grpId="0" animBg="1"/>
      <p:bldP spid="18472" grpId="0" animBg="1"/>
      <p:bldP spid="18476" grpId="0" animBg="1"/>
      <p:bldP spid="18478" grpId="0" animBg="1"/>
      <p:bldP spid="18479" grpId="0" animBg="1"/>
      <p:bldP spid="18480" grpId="0" animBg="1"/>
      <p:bldP spid="18482"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1" name="Text Box 2"/>
          <p:cNvSpPr txBox="1"/>
          <p:nvPr/>
        </p:nvSpPr>
        <p:spPr>
          <a:xfrm>
            <a:off x="468313" y="1052513"/>
            <a:ext cx="2447925" cy="457200"/>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19459" name="Text Box 3"/>
          <p:cNvSpPr txBox="1"/>
          <p:nvPr/>
        </p:nvSpPr>
        <p:spPr>
          <a:xfrm>
            <a:off x="5576888" y="1266825"/>
            <a:ext cx="1905000" cy="701675"/>
          </a:xfrm>
          <a:prstGeom prst="rect">
            <a:avLst/>
          </a:prstGeom>
          <a:noFill/>
          <a:ln w="9525">
            <a:noFill/>
          </a:ln>
        </p:spPr>
        <p:txBody>
          <a:bodyPr anchor="t" anchorCtr="0">
            <a:spAutoFit/>
          </a:bodyPr>
          <a:lstStyle/>
          <a:p>
            <a:pPr>
              <a:spcBef>
                <a:spcPct val="50000"/>
              </a:spcBef>
            </a:pPr>
            <a:r>
              <a:rPr lang="zh-CN" altLang="en-US" sz="4000" b="1" dirty="0">
                <a:solidFill>
                  <a:srgbClr val="FF0000"/>
                </a:solidFill>
                <a:latin typeface="Times New Roman" panose="02020603050405020304" pitchFamily="18" charset="0"/>
                <a:ea typeface="华文新魏" panose="02010800040101010101" pitchFamily="2" charset="-122"/>
              </a:rPr>
              <a:t>子房壁</a:t>
            </a:r>
          </a:p>
        </p:txBody>
      </p:sp>
      <p:sp>
        <p:nvSpPr>
          <p:cNvPr id="19460" name="Line 4"/>
          <p:cNvSpPr/>
          <p:nvPr/>
        </p:nvSpPr>
        <p:spPr>
          <a:xfrm flipH="1" flipV="1">
            <a:off x="2489200" y="1649413"/>
            <a:ext cx="3162300" cy="0"/>
          </a:xfrm>
          <a:prstGeom prst="line">
            <a:avLst/>
          </a:prstGeom>
          <a:ln w="28575" cap="flat" cmpd="sng">
            <a:solidFill>
              <a:srgbClr val="000000"/>
            </a:solidFill>
            <a:prstDash val="solid"/>
            <a:round/>
            <a:headEnd type="none" w="med" len="med"/>
            <a:tailEnd type="triangle" w="med" len="med"/>
          </a:ln>
        </p:spPr>
        <p:txBody>
          <a:bodyPr/>
          <a:lstStyle/>
          <a:p>
            <a:endParaRPr lang="zh-CN" altLang="en-US"/>
          </a:p>
        </p:txBody>
      </p:sp>
      <p:sp>
        <p:nvSpPr>
          <p:cNvPr id="19461" name="Text Box 5"/>
          <p:cNvSpPr txBox="1"/>
          <p:nvPr/>
        </p:nvSpPr>
        <p:spPr>
          <a:xfrm>
            <a:off x="1343025" y="1298575"/>
            <a:ext cx="1219200" cy="701675"/>
          </a:xfrm>
          <a:prstGeom prst="rect">
            <a:avLst/>
          </a:prstGeom>
          <a:noFill/>
          <a:ln w="9525">
            <a:noFill/>
          </a:ln>
        </p:spPr>
        <p:txBody>
          <a:bodyPr anchor="t" anchorCtr="0">
            <a:spAutoFit/>
          </a:bodyPr>
          <a:lstStyle/>
          <a:p>
            <a:pPr>
              <a:spcBef>
                <a:spcPct val="50000"/>
              </a:spcBef>
            </a:pPr>
            <a:r>
              <a:rPr lang="zh-CN" altLang="en-US" sz="4000" b="1" dirty="0">
                <a:solidFill>
                  <a:srgbClr val="FF0000"/>
                </a:solidFill>
                <a:latin typeface="黑体" panose="02010609060101010101" pitchFamily="49" charset="-122"/>
                <a:ea typeface="黑体" panose="02010609060101010101" pitchFamily="49" charset="-122"/>
              </a:rPr>
              <a:t>果皮</a:t>
            </a:r>
            <a:endParaRPr lang="zh-CN" altLang="en-US" sz="3200" b="1" dirty="0">
              <a:solidFill>
                <a:srgbClr val="FF0000"/>
              </a:solidFill>
              <a:latin typeface="黑体" panose="02010609060101010101" pitchFamily="49" charset="-122"/>
              <a:ea typeface="黑体" panose="02010609060101010101" pitchFamily="49" charset="-122"/>
            </a:endParaRPr>
          </a:p>
        </p:txBody>
      </p:sp>
      <p:sp>
        <p:nvSpPr>
          <p:cNvPr id="19462" name="Rectangle 6"/>
          <p:cNvSpPr/>
          <p:nvPr/>
        </p:nvSpPr>
        <p:spPr>
          <a:xfrm>
            <a:off x="4284663" y="2492375"/>
            <a:ext cx="1200150" cy="701675"/>
          </a:xfrm>
          <a:prstGeom prst="rect">
            <a:avLst/>
          </a:prstGeom>
          <a:noFill/>
          <a:ln w="9525">
            <a:noFill/>
          </a:ln>
        </p:spPr>
        <p:txBody>
          <a:bodyPr wrap="none" anchor="t" anchorCtr="0">
            <a:spAutoFit/>
          </a:bodyPr>
          <a:lstStyle/>
          <a:p>
            <a:pPr>
              <a:spcBef>
                <a:spcPct val="50000"/>
              </a:spcBef>
            </a:pPr>
            <a:r>
              <a:rPr lang="zh-CN" altLang="en-US" sz="4000" b="1" dirty="0">
                <a:solidFill>
                  <a:srgbClr val="000000"/>
                </a:solidFill>
                <a:latin typeface="Times New Roman" panose="02020603050405020304" pitchFamily="18" charset="0"/>
                <a:ea typeface="华文新魏" panose="02010800040101010101" pitchFamily="2" charset="-122"/>
              </a:rPr>
              <a:t>珠被</a:t>
            </a:r>
          </a:p>
        </p:txBody>
      </p:sp>
      <p:sp>
        <p:nvSpPr>
          <p:cNvPr id="19463" name="Line 7"/>
          <p:cNvSpPr/>
          <p:nvPr/>
        </p:nvSpPr>
        <p:spPr>
          <a:xfrm flipH="1">
            <a:off x="3636963" y="2852738"/>
            <a:ext cx="647700" cy="0"/>
          </a:xfrm>
          <a:prstGeom prst="line">
            <a:avLst/>
          </a:prstGeom>
          <a:ln w="28575" cap="flat" cmpd="sng">
            <a:solidFill>
              <a:srgbClr val="000000"/>
            </a:solidFill>
            <a:prstDash val="solid"/>
            <a:round/>
            <a:headEnd type="none" w="med" len="med"/>
            <a:tailEnd type="triangle" w="med" len="med"/>
          </a:ln>
        </p:spPr>
        <p:txBody>
          <a:bodyPr/>
          <a:lstStyle/>
          <a:p>
            <a:endParaRPr lang="zh-CN" altLang="en-US"/>
          </a:p>
        </p:txBody>
      </p:sp>
      <p:sp>
        <p:nvSpPr>
          <p:cNvPr id="19464" name="Text Box 8"/>
          <p:cNvSpPr txBox="1"/>
          <p:nvPr/>
        </p:nvSpPr>
        <p:spPr>
          <a:xfrm>
            <a:off x="2489200" y="2492375"/>
            <a:ext cx="1219200" cy="701675"/>
          </a:xfrm>
          <a:prstGeom prst="rect">
            <a:avLst/>
          </a:prstGeom>
          <a:noFill/>
          <a:ln w="9525">
            <a:noFill/>
          </a:ln>
        </p:spPr>
        <p:txBody>
          <a:bodyPr anchor="t" anchorCtr="0">
            <a:spAutoFit/>
          </a:bodyPr>
          <a:lstStyle/>
          <a:p>
            <a:pPr>
              <a:spcBef>
                <a:spcPct val="50000"/>
              </a:spcBef>
            </a:pPr>
            <a:r>
              <a:rPr lang="zh-CN" altLang="en-US" sz="4000" b="1" dirty="0">
                <a:solidFill>
                  <a:srgbClr val="009900"/>
                </a:solidFill>
                <a:latin typeface="Times New Roman" panose="02020603050405020304" pitchFamily="18" charset="0"/>
                <a:ea typeface="华文新魏" panose="02010800040101010101" pitchFamily="2" charset="-122"/>
              </a:rPr>
              <a:t>种皮</a:t>
            </a:r>
            <a:endParaRPr lang="zh-CN" altLang="en-US" sz="3200" b="1" dirty="0">
              <a:solidFill>
                <a:srgbClr val="009900"/>
              </a:solidFill>
              <a:latin typeface="Times New Roman" panose="02020603050405020304" pitchFamily="18" charset="0"/>
              <a:ea typeface="宋体" panose="02010600030101010101" pitchFamily="2" charset="-122"/>
            </a:endParaRPr>
          </a:p>
        </p:txBody>
      </p:sp>
      <p:sp>
        <p:nvSpPr>
          <p:cNvPr id="19465" name="Rectangle 9"/>
          <p:cNvSpPr/>
          <p:nvPr/>
        </p:nvSpPr>
        <p:spPr>
          <a:xfrm>
            <a:off x="2484438" y="4005263"/>
            <a:ext cx="1200150" cy="701675"/>
          </a:xfrm>
          <a:prstGeom prst="rect">
            <a:avLst/>
          </a:prstGeom>
          <a:noFill/>
          <a:ln w="9525">
            <a:noFill/>
          </a:ln>
        </p:spPr>
        <p:txBody>
          <a:bodyPr wrap="none" anchor="t" anchorCtr="0">
            <a:spAutoFit/>
          </a:bodyPr>
          <a:lstStyle/>
          <a:p>
            <a:r>
              <a:rPr lang="zh-CN" altLang="en-US" sz="4000" b="1" dirty="0">
                <a:solidFill>
                  <a:srgbClr val="009900"/>
                </a:solidFill>
                <a:latin typeface="Times New Roman" panose="02020603050405020304" pitchFamily="18" charset="0"/>
                <a:ea typeface="华文新魏" panose="02010800040101010101" pitchFamily="2" charset="-122"/>
              </a:rPr>
              <a:t>胚乳</a:t>
            </a:r>
          </a:p>
        </p:txBody>
      </p:sp>
      <p:sp>
        <p:nvSpPr>
          <p:cNvPr id="19466" name="Rectangle 10"/>
          <p:cNvSpPr/>
          <p:nvPr/>
        </p:nvSpPr>
        <p:spPr>
          <a:xfrm>
            <a:off x="2555875" y="3284538"/>
            <a:ext cx="693738" cy="701675"/>
          </a:xfrm>
          <a:prstGeom prst="rect">
            <a:avLst/>
          </a:prstGeom>
          <a:noFill/>
          <a:ln w="9525">
            <a:noFill/>
          </a:ln>
        </p:spPr>
        <p:txBody>
          <a:bodyPr wrap="none" anchor="t" anchorCtr="0">
            <a:spAutoFit/>
          </a:bodyPr>
          <a:lstStyle/>
          <a:p>
            <a:r>
              <a:rPr lang="zh-CN" altLang="en-US" sz="4000" b="1" dirty="0">
                <a:solidFill>
                  <a:srgbClr val="009900"/>
                </a:solidFill>
                <a:latin typeface="Times New Roman" panose="02020603050405020304" pitchFamily="18" charset="0"/>
                <a:ea typeface="华文新魏" panose="02010800040101010101" pitchFamily="2" charset="-122"/>
              </a:rPr>
              <a:t>胚</a:t>
            </a:r>
          </a:p>
        </p:txBody>
      </p:sp>
      <p:sp>
        <p:nvSpPr>
          <p:cNvPr id="19467" name="Rectangle 11"/>
          <p:cNvSpPr/>
          <p:nvPr/>
        </p:nvSpPr>
        <p:spPr>
          <a:xfrm>
            <a:off x="3924300" y="4005263"/>
            <a:ext cx="2216150" cy="701675"/>
          </a:xfrm>
          <a:prstGeom prst="rect">
            <a:avLst/>
          </a:prstGeom>
          <a:noFill/>
          <a:ln w="9525">
            <a:noFill/>
          </a:ln>
        </p:spPr>
        <p:txBody>
          <a:bodyPr wrap="none" anchor="t" anchorCtr="0">
            <a:spAutoFit/>
          </a:bodyPr>
          <a:lstStyle/>
          <a:p>
            <a:r>
              <a:rPr lang="zh-CN" altLang="en-US" sz="4000" b="1" dirty="0">
                <a:solidFill>
                  <a:srgbClr val="000000"/>
                </a:solidFill>
                <a:latin typeface="Times New Roman" panose="02020603050405020304" pitchFamily="18" charset="0"/>
                <a:ea typeface="华文新魏" panose="02010800040101010101" pitchFamily="2" charset="-122"/>
              </a:rPr>
              <a:t>受精极核</a:t>
            </a:r>
          </a:p>
        </p:txBody>
      </p:sp>
      <p:sp>
        <p:nvSpPr>
          <p:cNvPr id="19468" name="Rectangle 12"/>
          <p:cNvSpPr/>
          <p:nvPr/>
        </p:nvSpPr>
        <p:spPr>
          <a:xfrm>
            <a:off x="4213225" y="3213100"/>
            <a:ext cx="1708150" cy="701675"/>
          </a:xfrm>
          <a:prstGeom prst="rect">
            <a:avLst/>
          </a:prstGeom>
          <a:noFill/>
          <a:ln w="9525">
            <a:noFill/>
          </a:ln>
        </p:spPr>
        <p:txBody>
          <a:bodyPr wrap="none" anchor="t" anchorCtr="0">
            <a:spAutoFit/>
          </a:bodyPr>
          <a:lstStyle/>
          <a:p>
            <a:r>
              <a:rPr lang="zh-CN" altLang="en-US" sz="4000" b="1" dirty="0">
                <a:solidFill>
                  <a:srgbClr val="000000"/>
                </a:solidFill>
                <a:latin typeface="Times New Roman" panose="02020603050405020304" pitchFamily="18" charset="0"/>
                <a:ea typeface="华文新魏" panose="02010800040101010101" pitchFamily="2" charset="-122"/>
              </a:rPr>
              <a:t>受精卵</a:t>
            </a:r>
          </a:p>
        </p:txBody>
      </p:sp>
      <p:sp>
        <p:nvSpPr>
          <p:cNvPr id="19469" name="Line 13"/>
          <p:cNvSpPr/>
          <p:nvPr/>
        </p:nvSpPr>
        <p:spPr>
          <a:xfrm flipH="1" flipV="1">
            <a:off x="3276600" y="3644900"/>
            <a:ext cx="935038" cy="0"/>
          </a:xfrm>
          <a:prstGeom prst="line">
            <a:avLst/>
          </a:prstGeom>
          <a:ln w="28575" cap="flat" cmpd="sng">
            <a:solidFill>
              <a:srgbClr val="000000"/>
            </a:solidFill>
            <a:prstDash val="solid"/>
            <a:round/>
            <a:headEnd type="none" w="med" len="med"/>
            <a:tailEnd type="triangle" w="med" len="med"/>
          </a:ln>
        </p:spPr>
        <p:txBody>
          <a:bodyPr/>
          <a:lstStyle/>
          <a:p>
            <a:endParaRPr lang="zh-CN" altLang="en-US"/>
          </a:p>
        </p:txBody>
      </p:sp>
      <p:sp>
        <p:nvSpPr>
          <p:cNvPr id="573453" name="AutoShape 14"/>
          <p:cNvSpPr/>
          <p:nvPr/>
        </p:nvSpPr>
        <p:spPr>
          <a:xfrm flipH="1">
            <a:off x="1116013" y="1273175"/>
            <a:ext cx="287337" cy="3595688"/>
          </a:xfrm>
          <a:prstGeom prst="rightBrace">
            <a:avLst>
              <a:gd name="adj1" fmla="val 103586"/>
              <a:gd name="adj2" fmla="val 51769"/>
            </a:avLst>
          </a:prstGeom>
          <a:noFill/>
          <a:ln w="28575" cap="flat" cmpd="sng">
            <a:solidFill>
              <a:srgbClr val="FF0000"/>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573454" name="Rectangle 15"/>
          <p:cNvSpPr/>
          <p:nvPr/>
        </p:nvSpPr>
        <p:spPr>
          <a:xfrm>
            <a:off x="323850" y="2420938"/>
            <a:ext cx="720725" cy="1311275"/>
          </a:xfrm>
          <a:prstGeom prst="rect">
            <a:avLst/>
          </a:prstGeom>
          <a:solidFill>
            <a:schemeClr val="bg1"/>
          </a:solidFill>
          <a:ln w="9525">
            <a:noFill/>
          </a:ln>
          <a:effectLst>
            <a:outerShdw dist="35921" dir="2699999" algn="ctr" rotWithShape="0">
              <a:schemeClr val="bg2">
                <a:alpha val="50000"/>
              </a:schemeClr>
            </a:outerShdw>
          </a:effectLst>
        </p:spPr>
        <p:txBody>
          <a:bodyPr anchor="t" anchorCtr="0">
            <a:spAutoFit/>
          </a:bodyPr>
          <a:lstStyle/>
          <a:p>
            <a:r>
              <a:rPr lang="zh-CN" altLang="en-US" sz="4000" b="1" dirty="0">
                <a:solidFill>
                  <a:srgbClr val="FF0000"/>
                </a:solidFill>
                <a:latin typeface="黑体" panose="02010609060101010101" pitchFamily="49" charset="-122"/>
                <a:ea typeface="黑体" panose="02010609060101010101" pitchFamily="49" charset="-122"/>
              </a:rPr>
              <a:t>果实</a:t>
            </a:r>
          </a:p>
        </p:txBody>
      </p:sp>
      <p:sp>
        <p:nvSpPr>
          <p:cNvPr id="19472" name="Text Box 16"/>
          <p:cNvSpPr txBox="1"/>
          <p:nvPr/>
        </p:nvSpPr>
        <p:spPr>
          <a:xfrm>
            <a:off x="1258888" y="3429000"/>
            <a:ext cx="1223962" cy="701675"/>
          </a:xfrm>
          <a:prstGeom prst="rect">
            <a:avLst/>
          </a:prstGeom>
          <a:noFill/>
          <a:ln w="9525">
            <a:noFill/>
          </a:ln>
        </p:spPr>
        <p:txBody>
          <a:bodyPr anchor="t" anchorCtr="0">
            <a:spAutoFit/>
          </a:bodyPr>
          <a:lstStyle/>
          <a:p>
            <a:pPr>
              <a:spcBef>
                <a:spcPct val="50000"/>
              </a:spcBef>
            </a:pPr>
            <a:r>
              <a:rPr lang="zh-CN" altLang="en-US" sz="4000" b="1" dirty="0">
                <a:solidFill>
                  <a:srgbClr val="FF0000"/>
                </a:solidFill>
                <a:latin typeface="Times New Roman" panose="02020603050405020304" pitchFamily="18" charset="0"/>
                <a:ea typeface="华文新魏" panose="02010800040101010101" pitchFamily="2" charset="-122"/>
              </a:rPr>
              <a:t>种子</a:t>
            </a:r>
          </a:p>
        </p:txBody>
      </p:sp>
      <p:sp>
        <p:nvSpPr>
          <p:cNvPr id="19473" name="AutoShape 17"/>
          <p:cNvSpPr/>
          <p:nvPr/>
        </p:nvSpPr>
        <p:spPr>
          <a:xfrm>
            <a:off x="2339975" y="2708275"/>
            <a:ext cx="142875" cy="2089150"/>
          </a:xfrm>
          <a:prstGeom prst="leftBrace">
            <a:avLst>
              <a:gd name="adj1" fmla="val 121039"/>
              <a:gd name="adj2" fmla="val 50000"/>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9474" name="Line 18"/>
          <p:cNvSpPr/>
          <p:nvPr/>
        </p:nvSpPr>
        <p:spPr>
          <a:xfrm flipH="1">
            <a:off x="3636963" y="4365625"/>
            <a:ext cx="360362" cy="0"/>
          </a:xfrm>
          <a:prstGeom prst="line">
            <a:avLst/>
          </a:prstGeom>
          <a:ln w="28575" cap="flat" cmpd="sng">
            <a:solidFill>
              <a:schemeClr val="tx1"/>
            </a:solidFill>
            <a:prstDash val="solid"/>
            <a:round/>
            <a:headEnd type="none" w="med" len="med"/>
            <a:tailEnd type="triangle" w="med" len="med"/>
          </a:ln>
        </p:spPr>
        <p:txBody>
          <a:bodyPr/>
          <a:lstStyle/>
          <a:p>
            <a:endParaRPr lang="zh-CN" altLang="en-US"/>
          </a:p>
        </p:txBody>
      </p:sp>
      <p:sp>
        <p:nvSpPr>
          <p:cNvPr id="19475" name="AutoShape 19"/>
          <p:cNvSpPr/>
          <p:nvPr/>
        </p:nvSpPr>
        <p:spPr>
          <a:xfrm>
            <a:off x="6084888" y="2636838"/>
            <a:ext cx="288925" cy="2087562"/>
          </a:xfrm>
          <a:prstGeom prst="rightBrace">
            <a:avLst>
              <a:gd name="adj1" fmla="val 59809"/>
              <a:gd name="adj2" fmla="val 50000"/>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9476" name="Text Box 20"/>
          <p:cNvSpPr txBox="1"/>
          <p:nvPr/>
        </p:nvSpPr>
        <p:spPr>
          <a:xfrm>
            <a:off x="6372225" y="3435350"/>
            <a:ext cx="1152525" cy="641350"/>
          </a:xfrm>
          <a:prstGeom prst="rect">
            <a:avLst/>
          </a:prstGeom>
          <a:noFill/>
          <a:ln w="9525">
            <a:noFill/>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宋体" panose="02010600030101010101" pitchFamily="2" charset="-122"/>
              </a:rPr>
              <a:t>胚珠</a:t>
            </a:r>
          </a:p>
        </p:txBody>
      </p:sp>
      <p:sp>
        <p:nvSpPr>
          <p:cNvPr id="19477" name="AutoShape 21"/>
          <p:cNvSpPr/>
          <p:nvPr/>
        </p:nvSpPr>
        <p:spPr>
          <a:xfrm>
            <a:off x="7235825" y="1412875"/>
            <a:ext cx="360363" cy="3384550"/>
          </a:xfrm>
          <a:prstGeom prst="rightBrace">
            <a:avLst>
              <a:gd name="adj1" fmla="val 77745"/>
              <a:gd name="adj2" fmla="val 50000"/>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sz="1800" dirty="0">
              <a:latin typeface="Arial" panose="020B0604020202020204" pitchFamily="34" charset="0"/>
              <a:ea typeface="宋体" panose="02010600030101010101" pitchFamily="2" charset="-122"/>
            </a:endParaRPr>
          </a:p>
        </p:txBody>
      </p:sp>
      <p:sp>
        <p:nvSpPr>
          <p:cNvPr id="19478" name="Text Box 22"/>
          <p:cNvSpPr txBox="1"/>
          <p:nvPr/>
        </p:nvSpPr>
        <p:spPr>
          <a:xfrm>
            <a:off x="7667625" y="2492375"/>
            <a:ext cx="719138" cy="1311275"/>
          </a:xfrm>
          <a:prstGeom prst="rect">
            <a:avLst/>
          </a:prstGeom>
          <a:solidFill>
            <a:schemeClr val="bg1"/>
          </a:solidFill>
          <a:ln w="9525">
            <a:noFill/>
          </a:ln>
          <a:effectLst>
            <a:outerShdw dist="35921" dir="2699999" algn="ctr" rotWithShape="0">
              <a:schemeClr val="bg2"/>
            </a:outerShdw>
          </a:effectLst>
        </p:spPr>
        <p:txBody>
          <a:bodyPr anchor="t" anchorCtr="0">
            <a:spAutoFit/>
          </a:bodyPr>
          <a:lstStyle/>
          <a:p>
            <a:pPr>
              <a:spcBef>
                <a:spcPct val="50000"/>
              </a:spcBef>
            </a:pPr>
            <a:r>
              <a:rPr lang="zh-CN" altLang="en-US" sz="4000" b="1" dirty="0">
                <a:solidFill>
                  <a:srgbClr val="FF0000"/>
                </a:solidFill>
                <a:latin typeface="黑体" panose="02010609060101010101" pitchFamily="49" charset="-122"/>
                <a:ea typeface="黑体" panose="02010609060101010101" pitchFamily="49" charset="-122"/>
              </a:rPr>
              <a:t>子房</a:t>
            </a:r>
          </a:p>
        </p:txBody>
      </p:sp>
      <p:grpSp>
        <p:nvGrpSpPr>
          <p:cNvPr id="2" name="Group 23"/>
          <p:cNvGrpSpPr/>
          <p:nvPr/>
        </p:nvGrpSpPr>
        <p:grpSpPr>
          <a:xfrm>
            <a:off x="1908175" y="4076700"/>
            <a:ext cx="4968875" cy="1368425"/>
            <a:chOff x="1202" y="2568"/>
            <a:chExt cx="3130" cy="862"/>
          </a:xfrm>
        </p:grpSpPr>
        <p:sp>
          <p:nvSpPr>
            <p:cNvPr id="573463" name="Line 24"/>
            <p:cNvSpPr/>
            <p:nvPr/>
          </p:nvSpPr>
          <p:spPr>
            <a:xfrm>
              <a:off x="4332" y="2568"/>
              <a:ext cx="0" cy="862"/>
            </a:xfrm>
            <a:prstGeom prst="line">
              <a:avLst/>
            </a:prstGeom>
            <a:ln w="38100" cap="flat" cmpd="sng">
              <a:solidFill>
                <a:srgbClr val="FF0066"/>
              </a:solidFill>
              <a:prstDash val="solid"/>
              <a:round/>
              <a:headEnd type="none" w="med" len="med"/>
              <a:tailEnd type="none" w="med" len="med"/>
            </a:ln>
          </p:spPr>
          <p:txBody>
            <a:bodyPr/>
            <a:lstStyle/>
            <a:p>
              <a:endParaRPr lang="zh-CN" altLang="en-US"/>
            </a:p>
          </p:txBody>
        </p:sp>
        <p:sp>
          <p:nvSpPr>
            <p:cNvPr id="573464" name="Line 25"/>
            <p:cNvSpPr/>
            <p:nvPr/>
          </p:nvSpPr>
          <p:spPr>
            <a:xfrm flipH="1">
              <a:off x="1202" y="3430"/>
              <a:ext cx="3130" cy="0"/>
            </a:xfrm>
            <a:prstGeom prst="line">
              <a:avLst/>
            </a:prstGeom>
            <a:ln w="38100" cap="flat" cmpd="sng">
              <a:solidFill>
                <a:srgbClr val="FF0066"/>
              </a:solidFill>
              <a:prstDash val="solid"/>
              <a:round/>
              <a:headEnd type="none" w="med" len="med"/>
              <a:tailEnd type="none" w="med" len="med"/>
            </a:ln>
          </p:spPr>
          <p:txBody>
            <a:bodyPr/>
            <a:lstStyle/>
            <a:p>
              <a:endParaRPr lang="zh-CN" altLang="en-US"/>
            </a:p>
          </p:txBody>
        </p:sp>
        <p:sp>
          <p:nvSpPr>
            <p:cNvPr id="573465" name="Line 26"/>
            <p:cNvSpPr/>
            <p:nvPr/>
          </p:nvSpPr>
          <p:spPr>
            <a:xfrm flipV="1">
              <a:off x="1202" y="2659"/>
              <a:ext cx="0" cy="771"/>
            </a:xfrm>
            <a:prstGeom prst="line">
              <a:avLst/>
            </a:prstGeom>
            <a:ln w="38100" cap="flat" cmpd="sng">
              <a:solidFill>
                <a:srgbClr val="FF0066"/>
              </a:solidFill>
              <a:prstDash val="solid"/>
              <a:round/>
              <a:headEnd type="none" w="med" len="med"/>
              <a:tailEnd type="triangle" w="med" len="med"/>
            </a:ln>
          </p:spPr>
          <p:txBody>
            <a:bodyPr/>
            <a:lstStyle/>
            <a:p>
              <a:endParaRPr lang="zh-CN" altLang="en-US"/>
            </a:p>
          </p:txBody>
        </p:sp>
      </p:grpSp>
      <p:grpSp>
        <p:nvGrpSpPr>
          <p:cNvPr id="3" name="Group 27"/>
          <p:cNvGrpSpPr/>
          <p:nvPr/>
        </p:nvGrpSpPr>
        <p:grpSpPr>
          <a:xfrm>
            <a:off x="684213" y="3860800"/>
            <a:ext cx="7343775" cy="2089150"/>
            <a:chOff x="431" y="2432"/>
            <a:chExt cx="4626" cy="1316"/>
          </a:xfrm>
        </p:grpSpPr>
        <p:sp>
          <p:nvSpPr>
            <p:cNvPr id="573467" name="Line 28"/>
            <p:cNvSpPr/>
            <p:nvPr/>
          </p:nvSpPr>
          <p:spPr>
            <a:xfrm>
              <a:off x="5057" y="2523"/>
              <a:ext cx="0" cy="1225"/>
            </a:xfrm>
            <a:prstGeom prst="line">
              <a:avLst/>
            </a:prstGeom>
            <a:ln w="38100" cap="flat" cmpd="sng">
              <a:solidFill>
                <a:srgbClr val="006600"/>
              </a:solidFill>
              <a:prstDash val="solid"/>
              <a:round/>
              <a:headEnd type="none" w="med" len="med"/>
              <a:tailEnd type="none" w="med" len="med"/>
            </a:ln>
          </p:spPr>
          <p:txBody>
            <a:bodyPr/>
            <a:lstStyle/>
            <a:p>
              <a:endParaRPr lang="zh-CN" altLang="en-US"/>
            </a:p>
          </p:txBody>
        </p:sp>
        <p:sp>
          <p:nvSpPr>
            <p:cNvPr id="573468" name="Line 29"/>
            <p:cNvSpPr/>
            <p:nvPr/>
          </p:nvSpPr>
          <p:spPr>
            <a:xfrm flipH="1">
              <a:off x="431" y="3748"/>
              <a:ext cx="4626" cy="0"/>
            </a:xfrm>
            <a:prstGeom prst="line">
              <a:avLst/>
            </a:prstGeom>
            <a:ln w="38100" cap="flat" cmpd="sng">
              <a:solidFill>
                <a:srgbClr val="006600"/>
              </a:solidFill>
              <a:prstDash val="solid"/>
              <a:round/>
              <a:headEnd type="none" w="med" len="med"/>
              <a:tailEnd type="none" w="med" len="med"/>
            </a:ln>
          </p:spPr>
          <p:txBody>
            <a:bodyPr/>
            <a:lstStyle/>
            <a:p>
              <a:endParaRPr lang="zh-CN" altLang="en-US"/>
            </a:p>
          </p:txBody>
        </p:sp>
        <p:sp>
          <p:nvSpPr>
            <p:cNvPr id="573469" name="Line 30"/>
            <p:cNvSpPr/>
            <p:nvPr/>
          </p:nvSpPr>
          <p:spPr>
            <a:xfrm flipV="1">
              <a:off x="431" y="2432"/>
              <a:ext cx="0" cy="1316"/>
            </a:xfrm>
            <a:prstGeom prst="line">
              <a:avLst/>
            </a:prstGeom>
            <a:ln w="38100" cap="flat" cmpd="sng">
              <a:solidFill>
                <a:srgbClr val="006600"/>
              </a:solidFill>
              <a:prstDash val="solid"/>
              <a:round/>
              <a:headEnd type="none" w="med" len="med"/>
              <a:tailEnd type="triangle" w="med" len="med"/>
            </a:ln>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47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7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4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4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47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4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46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46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94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46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46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47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947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2"/>
                                        </p:tgtEl>
                                        <p:attrNameLst>
                                          <p:attrName>style.visibility</p:attrName>
                                        </p:attrNameLst>
                                      </p:cBhvr>
                                      <p:to>
                                        <p:strVal val="visible"/>
                                      </p:to>
                                    </p:set>
                                    <p:anim calcmode="lin" valueType="num">
                                      <p:cBhvr additive="base">
                                        <p:cTn id="83" dur="500" fill="hold"/>
                                        <p:tgtEl>
                                          <p:spTgt spid="2"/>
                                        </p:tgtEl>
                                        <p:attrNameLst>
                                          <p:attrName>ppt_x</p:attrName>
                                        </p:attrNameLst>
                                      </p:cBhvr>
                                      <p:tavLst>
                                        <p:tav tm="0">
                                          <p:val>
                                            <p:strVal val="#ppt_x"/>
                                          </p:val>
                                        </p:tav>
                                        <p:tav tm="100000">
                                          <p:val>
                                            <p:strVal val="#ppt_x"/>
                                          </p:val>
                                        </p:tav>
                                      </p:tavLst>
                                    </p:anim>
                                    <p:anim calcmode="lin" valueType="num">
                                      <p:cBhvr additive="base">
                                        <p:cTn id="8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3"/>
                                        </p:tgtEl>
                                        <p:attrNameLst>
                                          <p:attrName>style.visibility</p:attrName>
                                        </p:attrNameLst>
                                      </p:cBhvr>
                                      <p:to>
                                        <p:strVal val="visible"/>
                                      </p:to>
                                    </p:set>
                                    <p:anim calcmode="lin" valueType="num">
                                      <p:cBhvr additive="base">
                                        <p:cTn id="89" dur="500" fill="hold"/>
                                        <p:tgtEl>
                                          <p:spTgt spid="3"/>
                                        </p:tgtEl>
                                        <p:attrNameLst>
                                          <p:attrName>ppt_x</p:attrName>
                                        </p:attrNameLst>
                                      </p:cBhvr>
                                      <p:tavLst>
                                        <p:tav tm="0">
                                          <p:val>
                                            <p:strVal val="#ppt_x"/>
                                          </p:val>
                                        </p:tav>
                                        <p:tav tm="100000">
                                          <p:val>
                                            <p:strVal val="#ppt_x"/>
                                          </p:val>
                                        </p:tav>
                                      </p:tavLst>
                                    </p:anim>
                                    <p:anim calcmode="lin" valueType="num">
                                      <p:cBhvr additive="base">
                                        <p:cTn id="9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1" grpId="0"/>
      <p:bldP spid="19462" grpId="0"/>
      <p:bldP spid="19464" grpId="0"/>
      <p:bldP spid="19465" grpId="0"/>
      <p:bldP spid="19466" grpId="0"/>
      <p:bldP spid="19467" grpId="0"/>
      <p:bldP spid="19468" grpId="0"/>
      <p:bldP spid="19472" grpId="0"/>
      <p:bldP spid="19473" grpId="0" animBg="1"/>
      <p:bldP spid="19475" grpId="0" animBg="1"/>
      <p:bldP spid="19476" grpId="0"/>
      <p:bldP spid="19477" grpId="0" animBg="1"/>
      <p:bldP spid="19478"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4465" name="Picture 2"/>
          <p:cNvPicPr>
            <a:picLocks noChangeAspect="1"/>
          </p:cNvPicPr>
          <p:nvPr/>
        </p:nvPicPr>
        <p:blipFill>
          <a:blip r:embed="rId2"/>
          <a:stretch>
            <a:fillRect/>
          </a:stretch>
        </p:blipFill>
        <p:spPr>
          <a:xfrm>
            <a:off x="4284663" y="2997200"/>
            <a:ext cx="4498975" cy="3927475"/>
          </a:xfrm>
          <a:prstGeom prst="rect">
            <a:avLst/>
          </a:prstGeom>
          <a:noFill/>
          <a:ln w="9525">
            <a:noFill/>
          </a:ln>
        </p:spPr>
      </p:pic>
      <p:pic>
        <p:nvPicPr>
          <p:cNvPr id="21507" name="Picture 3"/>
          <p:cNvPicPr>
            <a:picLocks noChangeAspect="1"/>
          </p:cNvPicPr>
          <p:nvPr/>
        </p:nvPicPr>
        <p:blipFill>
          <a:blip r:embed="rId3"/>
          <a:stretch>
            <a:fillRect/>
          </a:stretch>
        </p:blipFill>
        <p:spPr>
          <a:xfrm>
            <a:off x="0" y="0"/>
            <a:ext cx="3452813" cy="4087813"/>
          </a:xfrm>
          <a:prstGeom prst="rect">
            <a:avLst/>
          </a:prstGeom>
          <a:noFill/>
          <a:ln w="9525">
            <a:noFill/>
          </a:ln>
        </p:spPr>
      </p:pic>
      <p:sp>
        <p:nvSpPr>
          <p:cNvPr id="21508" name="Text Box 4"/>
          <p:cNvSpPr txBox="1"/>
          <p:nvPr/>
        </p:nvSpPr>
        <p:spPr>
          <a:xfrm>
            <a:off x="323850" y="188913"/>
            <a:ext cx="1152525" cy="650875"/>
          </a:xfrm>
          <a:prstGeom prst="rect">
            <a:avLst/>
          </a:prstGeom>
          <a:solidFill>
            <a:srgbClr val="FFFF00"/>
          </a:solidFill>
          <a:ln w="9525" cap="flat" cmpd="sng">
            <a:solidFill>
              <a:srgbClr val="0000FF"/>
            </a:solidFill>
            <a:prstDash val="solid"/>
            <a:miter/>
            <a:headEnd type="none" w="med" len="med"/>
            <a:tailEnd type="none" w="med" len="med"/>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黑体" panose="02010609060101010101" pitchFamily="49" charset="-122"/>
              </a:rPr>
              <a:t>果皮</a:t>
            </a:r>
          </a:p>
        </p:txBody>
      </p:sp>
      <p:sp>
        <p:nvSpPr>
          <p:cNvPr id="21509" name="Text Box 5"/>
          <p:cNvSpPr txBox="1"/>
          <p:nvPr/>
        </p:nvSpPr>
        <p:spPr>
          <a:xfrm>
            <a:off x="250825" y="1844675"/>
            <a:ext cx="1152525" cy="650875"/>
          </a:xfrm>
          <a:prstGeom prst="rect">
            <a:avLst/>
          </a:prstGeom>
          <a:solidFill>
            <a:srgbClr val="FFFF00"/>
          </a:solidFill>
          <a:ln w="9525" cap="flat" cmpd="sng">
            <a:solidFill>
              <a:srgbClr val="0000FF"/>
            </a:solidFill>
            <a:prstDash val="solid"/>
            <a:miter/>
            <a:headEnd type="none" w="med" len="med"/>
            <a:tailEnd type="none" w="med" len="med"/>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黑体" panose="02010609060101010101" pitchFamily="49" charset="-122"/>
              </a:rPr>
              <a:t>种子</a:t>
            </a:r>
          </a:p>
        </p:txBody>
      </p:sp>
      <p:sp>
        <p:nvSpPr>
          <p:cNvPr id="21510" name="Line 6"/>
          <p:cNvSpPr/>
          <p:nvPr/>
        </p:nvSpPr>
        <p:spPr>
          <a:xfrm>
            <a:off x="5292725" y="5589588"/>
            <a:ext cx="1150938" cy="0"/>
          </a:xfrm>
          <a:prstGeom prst="line">
            <a:avLst/>
          </a:prstGeom>
          <a:ln w="57150" cap="flat" cmpd="sng">
            <a:solidFill>
              <a:srgbClr val="0000FF"/>
            </a:solidFill>
            <a:prstDash val="solid"/>
            <a:round/>
            <a:headEnd type="none" w="med" len="med"/>
            <a:tailEnd type="none" w="med" len="med"/>
          </a:ln>
        </p:spPr>
        <p:txBody>
          <a:bodyPr/>
          <a:lstStyle/>
          <a:p>
            <a:endParaRPr lang="zh-CN" altLang="en-US"/>
          </a:p>
        </p:txBody>
      </p:sp>
      <p:sp>
        <p:nvSpPr>
          <p:cNvPr id="21511" name="Rectangle 7"/>
          <p:cNvSpPr/>
          <p:nvPr/>
        </p:nvSpPr>
        <p:spPr>
          <a:xfrm>
            <a:off x="4067175" y="5300663"/>
            <a:ext cx="1152525" cy="579437"/>
          </a:xfrm>
          <a:prstGeom prst="rect">
            <a:avLst/>
          </a:prstGeom>
          <a:noFill/>
          <a:ln w="9525">
            <a:noFill/>
          </a:ln>
        </p:spPr>
        <p:txBody>
          <a:bodyPr anchor="t" anchorCtr="0">
            <a:spAutoFit/>
          </a:bodyPr>
          <a:lstStyle/>
          <a:p>
            <a:r>
              <a:rPr lang="zh-CN" altLang="en-US" sz="3200" b="1" dirty="0">
                <a:solidFill>
                  <a:srgbClr val="0000FF"/>
                </a:solidFill>
                <a:latin typeface="Times New Roman" panose="02020603050405020304" pitchFamily="18" charset="0"/>
                <a:ea typeface="黑体" panose="02010609060101010101" pitchFamily="49" charset="-122"/>
              </a:rPr>
              <a:t>子房</a:t>
            </a:r>
          </a:p>
        </p:txBody>
      </p:sp>
      <p:pic>
        <p:nvPicPr>
          <p:cNvPr id="574471" name="Picture 8" descr="桃"/>
          <p:cNvPicPr>
            <a:picLocks noChangeAspect="1"/>
          </p:cNvPicPr>
          <p:nvPr/>
        </p:nvPicPr>
        <p:blipFill>
          <a:blip r:embed="rId4"/>
          <a:srcRect l="34889" t="31609" r="17250" b="19337"/>
          <a:stretch>
            <a:fillRect/>
          </a:stretch>
        </p:blipFill>
        <p:spPr>
          <a:xfrm>
            <a:off x="0" y="3789363"/>
            <a:ext cx="2735263" cy="2303462"/>
          </a:xfrm>
          <a:prstGeom prst="rect">
            <a:avLst/>
          </a:prstGeom>
          <a:noFill/>
          <a:ln w="9525">
            <a:noFill/>
          </a:ln>
        </p:spPr>
      </p:pic>
      <p:sp>
        <p:nvSpPr>
          <p:cNvPr id="21513" name="Line 9"/>
          <p:cNvSpPr/>
          <p:nvPr/>
        </p:nvSpPr>
        <p:spPr>
          <a:xfrm flipH="1">
            <a:off x="1979613" y="5589588"/>
            <a:ext cx="2090737" cy="1587"/>
          </a:xfrm>
          <a:prstGeom prst="line">
            <a:avLst/>
          </a:prstGeom>
          <a:ln w="57150" cap="flat" cmpd="sng">
            <a:solidFill>
              <a:srgbClr val="0000FF"/>
            </a:solidFill>
            <a:prstDash val="solid"/>
            <a:round/>
            <a:headEnd type="none" w="med" len="med"/>
            <a:tailEnd type="triangle" w="med" len="med"/>
          </a:ln>
        </p:spPr>
        <p:txBody>
          <a:bodyPr/>
          <a:lstStyle/>
          <a:p>
            <a:endParaRPr lang="zh-CN" altLang="en-US"/>
          </a:p>
        </p:txBody>
      </p:sp>
      <p:sp>
        <p:nvSpPr>
          <p:cNvPr id="21514" name="Rectangle 10"/>
          <p:cNvSpPr/>
          <p:nvPr/>
        </p:nvSpPr>
        <p:spPr>
          <a:xfrm>
            <a:off x="1187450" y="5734050"/>
            <a:ext cx="1152525" cy="579438"/>
          </a:xfrm>
          <a:prstGeom prst="rect">
            <a:avLst/>
          </a:prstGeom>
          <a:solidFill>
            <a:srgbClr val="0000FF"/>
          </a:solidFill>
          <a:ln w="9525">
            <a:noFill/>
          </a:ln>
        </p:spPr>
        <p:txBody>
          <a:bodyPr anchor="t" anchorCtr="0">
            <a:spAutoFit/>
          </a:bodyPr>
          <a:lstStyle/>
          <a:p>
            <a:r>
              <a:rPr lang="zh-CN" altLang="en-US" sz="3200" b="1" dirty="0">
                <a:solidFill>
                  <a:srgbClr val="FFFF00"/>
                </a:solidFill>
                <a:latin typeface="Times New Roman" panose="02020603050405020304" pitchFamily="18" charset="0"/>
                <a:ea typeface="黑体" panose="02010609060101010101" pitchFamily="49" charset="-122"/>
              </a:rPr>
              <a:t>果实</a:t>
            </a:r>
          </a:p>
        </p:txBody>
      </p:sp>
      <p:pic>
        <p:nvPicPr>
          <p:cNvPr id="21515" name="Picture 11"/>
          <p:cNvPicPr>
            <a:picLocks noChangeAspect="1"/>
          </p:cNvPicPr>
          <p:nvPr/>
        </p:nvPicPr>
        <p:blipFill>
          <a:blip r:embed="rId5"/>
          <a:srcRect l="30183" t="-674" r="30847" b="9409"/>
          <a:stretch>
            <a:fillRect/>
          </a:stretch>
        </p:blipFill>
        <p:spPr>
          <a:xfrm>
            <a:off x="6588125" y="-2043112"/>
            <a:ext cx="2001838" cy="5400675"/>
          </a:xfrm>
          <a:prstGeom prst="rect">
            <a:avLst/>
          </a:prstGeom>
          <a:noFill/>
          <a:ln w="9525">
            <a:noFill/>
          </a:ln>
        </p:spPr>
      </p:pic>
      <p:sp>
        <p:nvSpPr>
          <p:cNvPr id="21516" name="Line 12"/>
          <p:cNvSpPr/>
          <p:nvPr/>
        </p:nvSpPr>
        <p:spPr>
          <a:xfrm>
            <a:off x="5795963" y="836613"/>
            <a:ext cx="1150937" cy="0"/>
          </a:xfrm>
          <a:prstGeom prst="line">
            <a:avLst/>
          </a:prstGeom>
          <a:ln w="57150" cap="flat" cmpd="sng">
            <a:solidFill>
              <a:srgbClr val="0000FF"/>
            </a:solidFill>
            <a:prstDash val="solid"/>
            <a:round/>
            <a:headEnd type="none" w="med" len="med"/>
            <a:tailEnd type="none" w="med" len="med"/>
          </a:ln>
        </p:spPr>
        <p:txBody>
          <a:bodyPr/>
          <a:lstStyle/>
          <a:p>
            <a:endParaRPr lang="zh-CN" altLang="en-US"/>
          </a:p>
        </p:txBody>
      </p:sp>
      <p:sp>
        <p:nvSpPr>
          <p:cNvPr id="21517" name="Rectangle 13"/>
          <p:cNvSpPr/>
          <p:nvPr/>
        </p:nvSpPr>
        <p:spPr>
          <a:xfrm>
            <a:off x="4356100" y="549275"/>
            <a:ext cx="1655763" cy="579438"/>
          </a:xfrm>
          <a:prstGeom prst="rect">
            <a:avLst/>
          </a:prstGeom>
          <a:noFill/>
          <a:ln w="9525">
            <a:noFill/>
          </a:ln>
        </p:spPr>
        <p:txBody>
          <a:bodyPr anchor="t" anchorCtr="0">
            <a:spAutoFit/>
          </a:bodyPr>
          <a:lstStyle/>
          <a:p>
            <a:r>
              <a:rPr lang="zh-CN" altLang="en-US" sz="3200" b="1" dirty="0">
                <a:solidFill>
                  <a:srgbClr val="0000FF"/>
                </a:solidFill>
                <a:latin typeface="Times New Roman" panose="02020603050405020304" pitchFamily="18" charset="0"/>
                <a:ea typeface="黑体" panose="02010609060101010101" pitchFamily="49" charset="-122"/>
              </a:rPr>
              <a:t>子房壁</a:t>
            </a:r>
          </a:p>
        </p:txBody>
      </p:sp>
      <p:grpSp>
        <p:nvGrpSpPr>
          <p:cNvPr id="2" name="Group 14"/>
          <p:cNvGrpSpPr/>
          <p:nvPr/>
        </p:nvGrpSpPr>
        <p:grpSpPr>
          <a:xfrm>
            <a:off x="1979613" y="404813"/>
            <a:ext cx="2449512" cy="1008062"/>
            <a:chOff x="1247" y="255"/>
            <a:chExt cx="1452" cy="590"/>
          </a:xfrm>
        </p:grpSpPr>
        <p:sp>
          <p:nvSpPr>
            <p:cNvPr id="574478" name="Line 15"/>
            <p:cNvSpPr/>
            <p:nvPr/>
          </p:nvSpPr>
          <p:spPr>
            <a:xfrm flipH="1" flipV="1">
              <a:off x="1474" y="255"/>
              <a:ext cx="1225" cy="272"/>
            </a:xfrm>
            <a:prstGeom prst="line">
              <a:avLst/>
            </a:prstGeom>
            <a:ln w="57150" cap="flat" cmpd="sng">
              <a:solidFill>
                <a:srgbClr val="0000FF"/>
              </a:solidFill>
              <a:prstDash val="solid"/>
              <a:round/>
              <a:headEnd type="none" w="med" len="med"/>
              <a:tailEnd type="triangle" w="med" len="med"/>
            </a:ln>
          </p:spPr>
          <p:txBody>
            <a:bodyPr/>
            <a:lstStyle/>
            <a:p>
              <a:endParaRPr lang="zh-CN" altLang="en-US"/>
            </a:p>
          </p:txBody>
        </p:sp>
        <p:sp>
          <p:nvSpPr>
            <p:cNvPr id="574479" name="Line 16"/>
            <p:cNvSpPr/>
            <p:nvPr/>
          </p:nvSpPr>
          <p:spPr>
            <a:xfrm flipH="1">
              <a:off x="1247" y="527"/>
              <a:ext cx="1406" cy="318"/>
            </a:xfrm>
            <a:prstGeom prst="line">
              <a:avLst/>
            </a:prstGeom>
            <a:ln w="57150" cap="flat" cmpd="sng">
              <a:solidFill>
                <a:srgbClr val="0000FF"/>
              </a:solidFill>
              <a:prstDash val="solid"/>
              <a:round/>
              <a:headEnd type="none" w="med" len="med"/>
              <a:tailEnd type="triangle" w="med" len="med"/>
            </a:ln>
          </p:spPr>
          <p:txBody>
            <a:bodyPr/>
            <a:lstStyle/>
            <a:p>
              <a:endParaRPr lang="zh-CN" altLang="en-US"/>
            </a:p>
          </p:txBody>
        </p:sp>
        <p:sp>
          <p:nvSpPr>
            <p:cNvPr id="574480" name="Line 17"/>
            <p:cNvSpPr/>
            <p:nvPr/>
          </p:nvSpPr>
          <p:spPr>
            <a:xfrm flipH="1">
              <a:off x="1429" y="527"/>
              <a:ext cx="1180" cy="0"/>
            </a:xfrm>
            <a:prstGeom prst="line">
              <a:avLst/>
            </a:prstGeom>
            <a:ln w="57150" cap="flat" cmpd="sng">
              <a:solidFill>
                <a:srgbClr val="0000FF"/>
              </a:solidFill>
              <a:prstDash val="solid"/>
              <a:round/>
              <a:headEnd type="none" w="med" len="med"/>
              <a:tailEnd type="triangle" w="med" len="med"/>
            </a:ln>
          </p:spPr>
          <p:txBody>
            <a:bodyPr/>
            <a:lstStyle/>
            <a:p>
              <a:endParaRPr lang="zh-CN" altLang="en-US"/>
            </a:p>
          </p:txBody>
        </p:sp>
      </p:grpSp>
      <p:sp>
        <p:nvSpPr>
          <p:cNvPr id="21522" name="Line 18"/>
          <p:cNvSpPr/>
          <p:nvPr/>
        </p:nvSpPr>
        <p:spPr>
          <a:xfrm flipV="1">
            <a:off x="5867400" y="1628775"/>
            <a:ext cx="1368425" cy="0"/>
          </a:xfrm>
          <a:prstGeom prst="line">
            <a:avLst/>
          </a:prstGeom>
          <a:ln w="57150" cap="flat" cmpd="sng">
            <a:solidFill>
              <a:srgbClr val="FF0000"/>
            </a:solidFill>
            <a:prstDash val="solid"/>
            <a:round/>
            <a:headEnd type="none" w="med" len="med"/>
            <a:tailEnd type="none" w="med" len="med"/>
          </a:ln>
        </p:spPr>
        <p:txBody>
          <a:bodyPr/>
          <a:lstStyle/>
          <a:p>
            <a:endParaRPr lang="zh-CN" altLang="en-US"/>
          </a:p>
        </p:txBody>
      </p:sp>
      <p:sp>
        <p:nvSpPr>
          <p:cNvPr id="21523" name="Rectangle 19"/>
          <p:cNvSpPr/>
          <p:nvPr/>
        </p:nvSpPr>
        <p:spPr>
          <a:xfrm>
            <a:off x="4572000" y="1341438"/>
            <a:ext cx="1223963" cy="579437"/>
          </a:xfrm>
          <a:prstGeom prst="rect">
            <a:avLst/>
          </a:prstGeom>
          <a:noFill/>
          <a:ln w="9525">
            <a:noFill/>
          </a:ln>
        </p:spPr>
        <p:txBody>
          <a:bodyPr anchor="t" anchorCtr="0">
            <a:spAutoFit/>
          </a:bodyPr>
          <a:lstStyle/>
          <a:p>
            <a:r>
              <a:rPr lang="zh-CN" altLang="en-US" sz="3200" b="1" dirty="0">
                <a:solidFill>
                  <a:srgbClr val="0000FF"/>
                </a:solidFill>
                <a:latin typeface="Times New Roman" panose="02020603050405020304" pitchFamily="18" charset="0"/>
                <a:ea typeface="黑体" panose="02010609060101010101" pitchFamily="49" charset="-122"/>
              </a:rPr>
              <a:t>胚珠</a:t>
            </a:r>
          </a:p>
        </p:txBody>
      </p:sp>
      <p:sp>
        <p:nvSpPr>
          <p:cNvPr id="21524" name="Line 20"/>
          <p:cNvSpPr/>
          <p:nvPr/>
        </p:nvSpPr>
        <p:spPr>
          <a:xfrm flipH="1">
            <a:off x="1763713" y="1700213"/>
            <a:ext cx="2808287" cy="215900"/>
          </a:xfrm>
          <a:prstGeom prst="line">
            <a:avLst/>
          </a:prstGeom>
          <a:ln w="57150" cap="flat" cmpd="sng">
            <a:solidFill>
              <a:srgbClr val="0000FF"/>
            </a:solidFill>
            <a:prstDash val="solid"/>
            <a:round/>
            <a:headEnd type="none" w="med" len="med"/>
            <a:tailEnd type="triangle" w="med" len="med"/>
          </a:ln>
        </p:spPr>
        <p:txBody>
          <a:bodyPr/>
          <a:lstStyle/>
          <a:p>
            <a:endParaRPr lang="zh-CN" altLang="en-US"/>
          </a:p>
        </p:txBody>
      </p:sp>
      <p:sp>
        <p:nvSpPr>
          <p:cNvPr id="21525" name="Line 21"/>
          <p:cNvSpPr/>
          <p:nvPr/>
        </p:nvSpPr>
        <p:spPr>
          <a:xfrm flipH="1">
            <a:off x="6227763" y="1628775"/>
            <a:ext cx="1296987" cy="720725"/>
          </a:xfrm>
          <a:prstGeom prst="line">
            <a:avLst/>
          </a:prstGeom>
          <a:ln w="57150" cap="flat" cmpd="sng">
            <a:solidFill>
              <a:srgbClr val="0000FF"/>
            </a:solidFill>
            <a:prstDash val="solid"/>
            <a:round/>
            <a:headEnd type="none" w="med" len="med"/>
            <a:tailEnd type="none" w="med" len="med"/>
          </a:ln>
        </p:spPr>
        <p:txBody>
          <a:bodyPr/>
          <a:lstStyle/>
          <a:p>
            <a:endParaRPr lang="zh-CN" altLang="en-US"/>
          </a:p>
        </p:txBody>
      </p:sp>
      <p:sp>
        <p:nvSpPr>
          <p:cNvPr id="21526" name="Rectangle 22"/>
          <p:cNvSpPr/>
          <p:nvPr/>
        </p:nvSpPr>
        <p:spPr>
          <a:xfrm>
            <a:off x="4787900" y="2133600"/>
            <a:ext cx="1655763" cy="579438"/>
          </a:xfrm>
          <a:prstGeom prst="rect">
            <a:avLst/>
          </a:prstGeom>
          <a:noFill/>
          <a:ln w="9525">
            <a:noFill/>
          </a:ln>
        </p:spPr>
        <p:txBody>
          <a:bodyPr anchor="t" anchorCtr="0">
            <a:spAutoFit/>
          </a:bodyPr>
          <a:lstStyle/>
          <a:p>
            <a:r>
              <a:rPr lang="zh-CN" altLang="en-US" sz="3200" b="1" dirty="0">
                <a:solidFill>
                  <a:srgbClr val="0000FF"/>
                </a:solidFill>
                <a:latin typeface="Times New Roman" panose="02020603050405020304" pitchFamily="18" charset="0"/>
                <a:ea typeface="黑体" panose="02010609060101010101" pitchFamily="49" charset="-122"/>
              </a:rPr>
              <a:t>受精卵</a:t>
            </a:r>
          </a:p>
        </p:txBody>
      </p:sp>
      <p:sp>
        <p:nvSpPr>
          <p:cNvPr id="21527" name="Line 23"/>
          <p:cNvSpPr/>
          <p:nvPr/>
        </p:nvSpPr>
        <p:spPr>
          <a:xfrm flipH="1">
            <a:off x="3995738" y="2492375"/>
            <a:ext cx="792162" cy="0"/>
          </a:xfrm>
          <a:prstGeom prst="line">
            <a:avLst/>
          </a:prstGeom>
          <a:ln w="57150" cap="flat" cmpd="sng">
            <a:solidFill>
              <a:srgbClr val="0000FF"/>
            </a:solidFill>
            <a:prstDash val="solid"/>
            <a:round/>
            <a:headEnd type="none" w="med" len="med"/>
            <a:tailEnd type="triangle" w="med" len="med"/>
          </a:ln>
        </p:spPr>
        <p:txBody>
          <a:bodyPr/>
          <a:lstStyle/>
          <a:p>
            <a:endParaRPr lang="zh-CN" altLang="en-US"/>
          </a:p>
        </p:txBody>
      </p:sp>
      <p:sp>
        <p:nvSpPr>
          <p:cNvPr id="21528" name="Text Box 24"/>
          <p:cNvSpPr txBox="1"/>
          <p:nvPr/>
        </p:nvSpPr>
        <p:spPr>
          <a:xfrm>
            <a:off x="3348038" y="2205038"/>
            <a:ext cx="647700" cy="650875"/>
          </a:xfrm>
          <a:prstGeom prst="rect">
            <a:avLst/>
          </a:prstGeom>
          <a:solidFill>
            <a:srgbClr val="FFFF00"/>
          </a:solidFill>
          <a:ln w="9525" cap="flat" cmpd="sng">
            <a:solidFill>
              <a:srgbClr val="0000FF"/>
            </a:solidFill>
            <a:prstDash val="solid"/>
            <a:miter/>
            <a:headEnd type="none" w="med" len="med"/>
            <a:tailEnd type="none" w="med" len="med"/>
          </a:ln>
        </p:spPr>
        <p:txBody>
          <a:bodyPr anchor="t" anchorCtr="0">
            <a:spAutoFit/>
          </a:bodyPr>
          <a:lstStyle/>
          <a:p>
            <a:pPr>
              <a:spcBef>
                <a:spcPct val="50000"/>
              </a:spcBef>
            </a:pPr>
            <a:r>
              <a:rPr lang="zh-CN" altLang="en-US" sz="3600" b="1" dirty="0">
                <a:solidFill>
                  <a:srgbClr val="FF0000"/>
                </a:solidFill>
                <a:latin typeface="Times New Roman" panose="02020603050405020304" pitchFamily="18" charset="0"/>
                <a:ea typeface="黑体" panose="02010609060101010101" pitchFamily="49" charset="-122"/>
              </a:rPr>
              <a:t>胚</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1510"/>
                                        </p:tgtEl>
                                        <p:attrNameLst>
                                          <p:attrName>style.visibility</p:attrName>
                                        </p:attrNameLst>
                                      </p:cBhvr>
                                      <p:to>
                                        <p:strVal val="visible"/>
                                      </p:to>
                                    </p:set>
                                    <p:animEffect transition="in" filter="strips(downLeft)">
                                      <p:cBhvr>
                                        <p:cTn id="7" dur="500"/>
                                        <p:tgtEl>
                                          <p:spTgt spid="215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1511"/>
                                        </p:tgtEl>
                                        <p:attrNameLst>
                                          <p:attrName>style.visibility</p:attrName>
                                        </p:attrNameLst>
                                      </p:cBhvr>
                                      <p:to>
                                        <p:strVal val="visible"/>
                                      </p:to>
                                    </p:set>
                                    <p:animEffect transition="in" filter="strips(downLeft)">
                                      <p:cBhvr>
                                        <p:cTn id="12" dur="500"/>
                                        <p:tgtEl>
                                          <p:spTgt spid="2151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1513"/>
                                        </p:tgtEl>
                                        <p:attrNameLst>
                                          <p:attrName>style.visibility</p:attrName>
                                        </p:attrNameLst>
                                      </p:cBhvr>
                                      <p:to>
                                        <p:strVal val="visible"/>
                                      </p:to>
                                    </p:set>
                                    <p:animEffect transition="in" filter="strips(downLeft)">
                                      <p:cBhvr>
                                        <p:cTn id="17" dur="500"/>
                                        <p:tgtEl>
                                          <p:spTgt spid="2151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1514"/>
                                        </p:tgtEl>
                                        <p:attrNameLst>
                                          <p:attrName>style.visibility</p:attrName>
                                        </p:attrNameLst>
                                      </p:cBhvr>
                                      <p:to>
                                        <p:strVal val="visible"/>
                                      </p:to>
                                    </p:set>
                                    <p:animEffect transition="in" filter="strips(downLeft)">
                                      <p:cBhvr>
                                        <p:cTn id="22" dur="500"/>
                                        <p:tgtEl>
                                          <p:spTgt spid="2151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1515"/>
                                        </p:tgtEl>
                                        <p:attrNameLst>
                                          <p:attrName>style.visibility</p:attrName>
                                        </p:attrNameLst>
                                      </p:cBhvr>
                                      <p:to>
                                        <p:strVal val="visible"/>
                                      </p:to>
                                    </p:set>
                                    <p:animEffect transition="in" filter="box(in)">
                                      <p:cBhvr>
                                        <p:cTn id="27" dur="500"/>
                                        <p:tgtEl>
                                          <p:spTgt spid="2151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1507"/>
                                        </p:tgtEl>
                                        <p:attrNameLst>
                                          <p:attrName>style.visibility</p:attrName>
                                        </p:attrNameLst>
                                      </p:cBhvr>
                                      <p:to>
                                        <p:strVal val="visible"/>
                                      </p:to>
                                    </p:set>
                                    <p:animEffect transition="in" filter="box(in)">
                                      <p:cBhvr>
                                        <p:cTn id="32" dur="500"/>
                                        <p:tgtEl>
                                          <p:spTgt spid="21507"/>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21516"/>
                                        </p:tgtEl>
                                        <p:attrNameLst>
                                          <p:attrName>style.visibility</p:attrName>
                                        </p:attrNameLst>
                                      </p:cBhvr>
                                      <p:to>
                                        <p:strVal val="visible"/>
                                      </p:to>
                                    </p:set>
                                    <p:animEffect transition="in" filter="strips(downLeft)">
                                      <p:cBhvr>
                                        <p:cTn id="37" dur="500"/>
                                        <p:tgtEl>
                                          <p:spTgt spid="21516"/>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21517"/>
                                        </p:tgtEl>
                                        <p:attrNameLst>
                                          <p:attrName>style.visibility</p:attrName>
                                        </p:attrNameLst>
                                      </p:cBhvr>
                                      <p:to>
                                        <p:strVal val="visible"/>
                                      </p:to>
                                    </p:set>
                                    <p:animEffect transition="in" filter="strips(downLeft)">
                                      <p:cBhvr>
                                        <p:cTn id="42" dur="500"/>
                                        <p:tgtEl>
                                          <p:spTgt spid="21517"/>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strips(downLef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1508"/>
                                        </p:tgtEl>
                                        <p:attrNameLst>
                                          <p:attrName>style.visibility</p:attrName>
                                        </p:attrNameLst>
                                      </p:cBhvr>
                                      <p:to>
                                        <p:strVal val="visible"/>
                                      </p:to>
                                    </p:set>
                                    <p:animEffect transition="in" filter="box(in)">
                                      <p:cBhvr>
                                        <p:cTn id="52" dur="500"/>
                                        <p:tgtEl>
                                          <p:spTgt spid="21508"/>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nodeType="clickEffect">
                                  <p:stCondLst>
                                    <p:cond delay="0"/>
                                  </p:stCondLst>
                                  <p:childTnLst>
                                    <p:set>
                                      <p:cBhvr>
                                        <p:cTn id="56" dur="1" fill="hold">
                                          <p:stCondLst>
                                            <p:cond delay="0"/>
                                          </p:stCondLst>
                                        </p:cTn>
                                        <p:tgtEl>
                                          <p:spTgt spid="21522"/>
                                        </p:tgtEl>
                                        <p:attrNameLst>
                                          <p:attrName>style.visibility</p:attrName>
                                        </p:attrNameLst>
                                      </p:cBhvr>
                                      <p:to>
                                        <p:strVal val="visible"/>
                                      </p:to>
                                    </p:set>
                                    <p:animEffect transition="in" filter="strips(downLeft)">
                                      <p:cBhvr>
                                        <p:cTn id="57" dur="500"/>
                                        <p:tgtEl>
                                          <p:spTgt spid="21522"/>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21523"/>
                                        </p:tgtEl>
                                        <p:attrNameLst>
                                          <p:attrName>style.visibility</p:attrName>
                                        </p:attrNameLst>
                                      </p:cBhvr>
                                      <p:to>
                                        <p:strVal val="visible"/>
                                      </p:to>
                                    </p:set>
                                    <p:animEffect transition="in" filter="strips(downLeft)">
                                      <p:cBhvr>
                                        <p:cTn id="62" dur="500"/>
                                        <p:tgtEl>
                                          <p:spTgt spid="21523"/>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21524"/>
                                        </p:tgtEl>
                                        <p:attrNameLst>
                                          <p:attrName>style.visibility</p:attrName>
                                        </p:attrNameLst>
                                      </p:cBhvr>
                                      <p:to>
                                        <p:strVal val="visible"/>
                                      </p:to>
                                    </p:set>
                                    <p:animEffect transition="in" filter="strips(downLeft)">
                                      <p:cBhvr>
                                        <p:cTn id="67" dur="500"/>
                                        <p:tgtEl>
                                          <p:spTgt spid="21524"/>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21509"/>
                                        </p:tgtEl>
                                        <p:attrNameLst>
                                          <p:attrName>style.visibility</p:attrName>
                                        </p:attrNameLst>
                                      </p:cBhvr>
                                      <p:to>
                                        <p:strVal val="visible"/>
                                      </p:to>
                                    </p:set>
                                    <p:animEffect transition="in" filter="box(in)">
                                      <p:cBhvr>
                                        <p:cTn id="72" dur="500"/>
                                        <p:tgtEl>
                                          <p:spTgt spid="21509"/>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nodeType="clickEffect">
                                  <p:stCondLst>
                                    <p:cond delay="0"/>
                                  </p:stCondLst>
                                  <p:childTnLst>
                                    <p:set>
                                      <p:cBhvr>
                                        <p:cTn id="76" dur="1" fill="hold">
                                          <p:stCondLst>
                                            <p:cond delay="0"/>
                                          </p:stCondLst>
                                        </p:cTn>
                                        <p:tgtEl>
                                          <p:spTgt spid="21525"/>
                                        </p:tgtEl>
                                        <p:attrNameLst>
                                          <p:attrName>style.visibility</p:attrName>
                                        </p:attrNameLst>
                                      </p:cBhvr>
                                      <p:to>
                                        <p:strVal val="visible"/>
                                      </p:to>
                                    </p:set>
                                    <p:animEffect transition="in" filter="strips(downLeft)">
                                      <p:cBhvr>
                                        <p:cTn id="77" dur="500"/>
                                        <p:tgtEl>
                                          <p:spTgt spid="21525"/>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grpId="0" nodeType="clickEffect">
                                  <p:stCondLst>
                                    <p:cond delay="0"/>
                                  </p:stCondLst>
                                  <p:childTnLst>
                                    <p:set>
                                      <p:cBhvr>
                                        <p:cTn id="81" dur="1" fill="hold">
                                          <p:stCondLst>
                                            <p:cond delay="0"/>
                                          </p:stCondLst>
                                        </p:cTn>
                                        <p:tgtEl>
                                          <p:spTgt spid="21526"/>
                                        </p:tgtEl>
                                        <p:attrNameLst>
                                          <p:attrName>style.visibility</p:attrName>
                                        </p:attrNameLst>
                                      </p:cBhvr>
                                      <p:to>
                                        <p:strVal val="visible"/>
                                      </p:to>
                                    </p:set>
                                    <p:animEffect transition="in" filter="strips(downLeft)">
                                      <p:cBhvr>
                                        <p:cTn id="82" dur="500"/>
                                        <p:tgtEl>
                                          <p:spTgt spid="21526"/>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12" fill="hold" nodeType="clickEffect">
                                  <p:stCondLst>
                                    <p:cond delay="0"/>
                                  </p:stCondLst>
                                  <p:childTnLst>
                                    <p:set>
                                      <p:cBhvr>
                                        <p:cTn id="86" dur="1" fill="hold">
                                          <p:stCondLst>
                                            <p:cond delay="0"/>
                                          </p:stCondLst>
                                        </p:cTn>
                                        <p:tgtEl>
                                          <p:spTgt spid="21527"/>
                                        </p:tgtEl>
                                        <p:attrNameLst>
                                          <p:attrName>style.visibility</p:attrName>
                                        </p:attrNameLst>
                                      </p:cBhvr>
                                      <p:to>
                                        <p:strVal val="visible"/>
                                      </p:to>
                                    </p:set>
                                    <p:animEffect transition="in" filter="strips(downLeft)">
                                      <p:cBhvr>
                                        <p:cTn id="87" dur="500"/>
                                        <p:tgtEl>
                                          <p:spTgt spid="21527"/>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21528"/>
                                        </p:tgtEl>
                                        <p:attrNameLst>
                                          <p:attrName>style.visibility</p:attrName>
                                        </p:attrNameLst>
                                      </p:cBhvr>
                                      <p:to>
                                        <p:strVal val="visible"/>
                                      </p:to>
                                    </p:set>
                                    <p:animEffect transition="in" filter="box(in)">
                                      <p:cBhvr>
                                        <p:cTn id="92" dur="500"/>
                                        <p:tgtEl>
                                          <p:spTgt spid="21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P spid="21509" grpId="0" animBg="1"/>
      <p:bldP spid="21511" grpId="0"/>
      <p:bldP spid="21514" grpId="0" animBg="1"/>
      <p:bldP spid="21517" grpId="0"/>
      <p:bldP spid="21523" grpId="0"/>
      <p:bldP spid="21526" grpId="0"/>
      <p:bldP spid="21528"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5489" name="Picture 2" descr="090406huasheng"/>
          <p:cNvPicPr>
            <a:picLocks noChangeAspect="1"/>
          </p:cNvPicPr>
          <p:nvPr/>
        </p:nvPicPr>
        <p:blipFill>
          <a:blip r:embed="rId2"/>
          <a:stretch>
            <a:fillRect/>
          </a:stretch>
        </p:blipFill>
        <p:spPr>
          <a:xfrm>
            <a:off x="1979613" y="2716213"/>
            <a:ext cx="5792787" cy="4141787"/>
          </a:xfrm>
          <a:prstGeom prst="rect">
            <a:avLst/>
          </a:prstGeom>
          <a:noFill/>
          <a:ln w="9525">
            <a:noFill/>
          </a:ln>
        </p:spPr>
      </p:pic>
      <p:sp>
        <p:nvSpPr>
          <p:cNvPr id="575490" name="Line 3"/>
          <p:cNvSpPr/>
          <p:nvPr/>
        </p:nvSpPr>
        <p:spPr>
          <a:xfrm>
            <a:off x="5867400" y="2565400"/>
            <a:ext cx="0" cy="1584325"/>
          </a:xfrm>
          <a:prstGeom prst="line">
            <a:avLst/>
          </a:prstGeom>
          <a:ln w="38100" cap="flat" cmpd="sng">
            <a:solidFill>
              <a:srgbClr val="0000FF"/>
            </a:solidFill>
            <a:prstDash val="solid"/>
            <a:round/>
            <a:headEnd type="none" w="med" len="med"/>
            <a:tailEnd type="triangle" w="med" len="med"/>
          </a:ln>
        </p:spPr>
        <p:txBody>
          <a:bodyPr/>
          <a:lstStyle/>
          <a:p>
            <a:endParaRPr lang="zh-CN" altLang="en-US"/>
          </a:p>
        </p:txBody>
      </p:sp>
      <p:sp>
        <p:nvSpPr>
          <p:cNvPr id="20484" name="Text Box 4"/>
          <p:cNvSpPr txBox="1"/>
          <p:nvPr/>
        </p:nvSpPr>
        <p:spPr>
          <a:xfrm>
            <a:off x="5364163" y="1851025"/>
            <a:ext cx="1101725" cy="641350"/>
          </a:xfrm>
          <a:prstGeom prst="rect">
            <a:avLst/>
          </a:prstGeom>
          <a:noFill/>
          <a:ln w="38100">
            <a:noFill/>
          </a:ln>
        </p:spPr>
        <p:txBody>
          <a:bodyPr wrap="none" anchor="t" anchorCtr="0">
            <a:spAutoFit/>
          </a:bodyPr>
          <a:lstStyle/>
          <a:p>
            <a:pPr algn="ctr"/>
            <a:r>
              <a:rPr lang="zh-CN" altLang="en-US" sz="3600" b="1" dirty="0">
                <a:latin typeface="Times New Roman" panose="02020603050405020304" pitchFamily="18" charset="0"/>
                <a:ea typeface="黑体" panose="02010609060101010101" pitchFamily="49" charset="-122"/>
              </a:rPr>
              <a:t>果实</a:t>
            </a:r>
          </a:p>
        </p:txBody>
      </p:sp>
      <p:sp>
        <p:nvSpPr>
          <p:cNvPr id="20485" name="Line 5"/>
          <p:cNvSpPr/>
          <p:nvPr/>
        </p:nvSpPr>
        <p:spPr>
          <a:xfrm>
            <a:off x="7019925" y="2565400"/>
            <a:ext cx="0" cy="3024188"/>
          </a:xfrm>
          <a:prstGeom prst="line">
            <a:avLst/>
          </a:prstGeom>
          <a:ln w="38100" cap="flat" cmpd="sng">
            <a:solidFill>
              <a:srgbClr val="0000FF"/>
            </a:solidFill>
            <a:prstDash val="solid"/>
            <a:round/>
            <a:headEnd type="none" w="med" len="med"/>
            <a:tailEnd type="triangle" w="med" len="med"/>
          </a:ln>
        </p:spPr>
        <p:txBody>
          <a:bodyPr/>
          <a:lstStyle/>
          <a:p>
            <a:endParaRPr lang="zh-CN" altLang="en-US"/>
          </a:p>
        </p:txBody>
      </p:sp>
      <p:sp>
        <p:nvSpPr>
          <p:cNvPr id="20486" name="Text Box 6"/>
          <p:cNvSpPr txBox="1"/>
          <p:nvPr/>
        </p:nvSpPr>
        <p:spPr>
          <a:xfrm>
            <a:off x="6516688" y="1844675"/>
            <a:ext cx="1101725" cy="641350"/>
          </a:xfrm>
          <a:prstGeom prst="rect">
            <a:avLst/>
          </a:prstGeom>
          <a:noFill/>
          <a:ln w="38100">
            <a:noFill/>
          </a:ln>
        </p:spPr>
        <p:txBody>
          <a:bodyPr wrap="none" anchor="t" anchorCtr="0">
            <a:spAutoFit/>
          </a:bodyPr>
          <a:lstStyle/>
          <a:p>
            <a:pPr algn="ctr"/>
            <a:r>
              <a:rPr lang="zh-CN" altLang="en-US" sz="3600" b="1" dirty="0">
                <a:latin typeface="Times New Roman" panose="02020603050405020304" pitchFamily="18" charset="0"/>
                <a:ea typeface="黑体" panose="02010609060101010101" pitchFamily="49" charset="-122"/>
              </a:rPr>
              <a:t>种子</a:t>
            </a:r>
          </a:p>
        </p:txBody>
      </p:sp>
      <p:sp>
        <p:nvSpPr>
          <p:cNvPr id="20487" name="Text Box 7"/>
          <p:cNvSpPr txBox="1">
            <a:spLocks noChangeArrowheads="1"/>
          </p:cNvSpPr>
          <p:nvPr/>
        </p:nvSpPr>
        <p:spPr bwMode="auto">
          <a:xfrm>
            <a:off x="3851275" y="1844675"/>
            <a:ext cx="1727200" cy="641350"/>
          </a:xfrm>
          <a:prstGeom prst="rect">
            <a:avLst/>
          </a:prstGeom>
          <a:noFill/>
          <a:ln w="9525" algn="ctr">
            <a:noFill/>
            <a:miter lim="800000"/>
          </a:ln>
          <a:effectLst/>
        </p:spPr>
        <p:txBody>
          <a:bodyPr>
            <a:spAutoFit/>
          </a:bodyPr>
          <a:lstStyle/>
          <a:p>
            <a:pPr marR="0" defTabSz="914400">
              <a:spcBef>
                <a:spcPct val="50000"/>
              </a:spcBef>
              <a:buClrTx/>
              <a:buSzTx/>
              <a:buFontTx/>
              <a:defRPr/>
            </a:pPr>
            <a:r>
              <a:rPr kumimoji="0" lang="zh-CN" altLang="en-US" sz="3600" b="1" kern="1200" cap="none" spc="0" normalizeH="0" baseline="0" noProof="0">
                <a:effectLst>
                  <a:outerShdw blurRad="38100" dist="38100" dir="2700000" algn="tl">
                    <a:srgbClr val="C0C0C0"/>
                  </a:outerShdw>
                </a:effectLst>
                <a:latin typeface="黑体" panose="02010609060101010101" pitchFamily="49" charset="-122"/>
                <a:ea typeface="黑体" panose="02010609060101010101" pitchFamily="49" charset="-122"/>
                <a:cs typeface="+mn-cs"/>
              </a:rPr>
              <a:t>麻屋子</a:t>
            </a:r>
            <a:endParaRPr kumimoji="1" lang="zh-CN" altLang="en-US" sz="3600" b="1" kern="1200" cap="none" spc="0" normalizeH="0" baseline="0" noProof="0">
              <a:solidFill>
                <a:srgbClr val="0000FF"/>
              </a:solidFill>
              <a:latin typeface="黑体" panose="02010609060101010101" pitchFamily="49" charset="-122"/>
              <a:ea typeface="黑体" panose="02010609060101010101" pitchFamily="49" charset="-122"/>
              <a:cs typeface="+mn-cs"/>
            </a:endParaRPr>
          </a:p>
        </p:txBody>
      </p:sp>
      <p:sp>
        <p:nvSpPr>
          <p:cNvPr id="20488" name="Line 8"/>
          <p:cNvSpPr/>
          <p:nvPr/>
        </p:nvSpPr>
        <p:spPr>
          <a:xfrm flipH="1">
            <a:off x="4572000" y="2492375"/>
            <a:ext cx="71438" cy="2449513"/>
          </a:xfrm>
          <a:prstGeom prst="line">
            <a:avLst/>
          </a:prstGeom>
          <a:ln w="38100" cap="flat" cmpd="sng">
            <a:solidFill>
              <a:srgbClr val="0000FF"/>
            </a:solidFill>
            <a:prstDash val="solid"/>
            <a:round/>
            <a:headEnd type="none" w="med" len="med"/>
            <a:tailEnd type="triangle" w="med" len="med"/>
          </a:ln>
        </p:spPr>
        <p:txBody>
          <a:bodyPr/>
          <a:lstStyle/>
          <a:p>
            <a:endParaRPr lang="zh-CN" altLang="en-US"/>
          </a:p>
        </p:txBody>
      </p:sp>
      <p:sp>
        <p:nvSpPr>
          <p:cNvPr id="20489" name="Line 9"/>
          <p:cNvSpPr/>
          <p:nvPr/>
        </p:nvSpPr>
        <p:spPr>
          <a:xfrm>
            <a:off x="2133600" y="2438400"/>
            <a:ext cx="936625" cy="2592388"/>
          </a:xfrm>
          <a:prstGeom prst="line">
            <a:avLst/>
          </a:prstGeom>
          <a:ln w="38100" cap="flat" cmpd="sng">
            <a:solidFill>
              <a:srgbClr val="0000FF"/>
            </a:solidFill>
            <a:prstDash val="solid"/>
            <a:round/>
            <a:headEnd type="none" w="med" len="med"/>
            <a:tailEnd type="triangle" w="med" len="med"/>
          </a:ln>
        </p:spPr>
        <p:txBody>
          <a:bodyPr/>
          <a:lstStyle/>
          <a:p>
            <a:endParaRPr lang="zh-CN" altLang="en-US"/>
          </a:p>
        </p:txBody>
      </p:sp>
      <p:sp>
        <p:nvSpPr>
          <p:cNvPr id="20490" name="Text Box 10"/>
          <p:cNvSpPr txBox="1">
            <a:spLocks noChangeArrowheads="1"/>
          </p:cNvSpPr>
          <p:nvPr/>
        </p:nvSpPr>
        <p:spPr bwMode="auto">
          <a:xfrm>
            <a:off x="827088" y="1844675"/>
            <a:ext cx="1728788" cy="641350"/>
          </a:xfrm>
          <a:prstGeom prst="rect">
            <a:avLst/>
          </a:prstGeom>
          <a:noFill/>
          <a:ln w="9525">
            <a:noFill/>
            <a:miter lim="800000"/>
          </a:ln>
          <a:effectLst/>
        </p:spPr>
        <p:txBody>
          <a:bodyPr>
            <a:spAutoFit/>
          </a:bodyPr>
          <a:lstStyle/>
          <a:p>
            <a:pPr marR="0" defTabSz="914400">
              <a:spcBef>
                <a:spcPct val="50000"/>
              </a:spcBef>
              <a:buClrTx/>
              <a:buSzTx/>
              <a:buFontTx/>
              <a:defRPr/>
            </a:pPr>
            <a:r>
              <a:rPr kumimoji="0" lang="zh-CN" altLang="en-US" sz="36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红帐子</a:t>
            </a:r>
            <a:endParaRPr kumimoji="1" lang="zh-CN" altLang="en-US" sz="3600" b="1" kern="1200" cap="none" spc="0" normalizeH="0" baseline="0" noProof="0">
              <a:solidFill>
                <a:schemeClr val="accent2"/>
              </a:solidFill>
              <a:latin typeface="Times New Roman" panose="02020603050405020304" pitchFamily="18" charset="0"/>
              <a:ea typeface="黑体" panose="02010609060101010101" pitchFamily="49" charset="-122"/>
              <a:cs typeface="+mn-cs"/>
            </a:endParaRPr>
          </a:p>
        </p:txBody>
      </p:sp>
      <p:sp>
        <p:nvSpPr>
          <p:cNvPr id="20491" name="Line 11"/>
          <p:cNvSpPr/>
          <p:nvPr/>
        </p:nvSpPr>
        <p:spPr>
          <a:xfrm>
            <a:off x="3132138" y="2492375"/>
            <a:ext cx="1295400" cy="3457575"/>
          </a:xfrm>
          <a:prstGeom prst="line">
            <a:avLst/>
          </a:prstGeom>
          <a:ln w="38100" cap="flat" cmpd="sng">
            <a:solidFill>
              <a:srgbClr val="0000FF"/>
            </a:solidFill>
            <a:prstDash val="solid"/>
            <a:round/>
            <a:headEnd type="none" w="med" len="med"/>
            <a:tailEnd type="triangle" w="med" len="med"/>
          </a:ln>
        </p:spPr>
        <p:txBody>
          <a:bodyPr/>
          <a:lstStyle/>
          <a:p>
            <a:endParaRPr lang="zh-CN" altLang="en-US"/>
          </a:p>
        </p:txBody>
      </p:sp>
      <p:sp>
        <p:nvSpPr>
          <p:cNvPr id="20492" name="Text Box 12"/>
          <p:cNvSpPr txBox="1">
            <a:spLocks noChangeArrowheads="1"/>
          </p:cNvSpPr>
          <p:nvPr/>
        </p:nvSpPr>
        <p:spPr bwMode="auto">
          <a:xfrm>
            <a:off x="2268538" y="1844675"/>
            <a:ext cx="1655763" cy="641350"/>
          </a:xfrm>
          <a:prstGeom prst="rect">
            <a:avLst/>
          </a:prstGeom>
          <a:noFill/>
          <a:ln w="9525" algn="ctr">
            <a:noFill/>
            <a:miter lim="800000"/>
          </a:ln>
          <a:effectLst/>
        </p:spPr>
        <p:txBody>
          <a:bodyPr>
            <a:spAutoFit/>
          </a:bodyPr>
          <a:lstStyle/>
          <a:p>
            <a:pPr marR="0" defTabSz="914400">
              <a:spcBef>
                <a:spcPct val="50000"/>
              </a:spcBef>
              <a:buClrTx/>
              <a:buSzTx/>
              <a:buFontTx/>
              <a:defRPr/>
            </a:pPr>
            <a:r>
              <a:rPr kumimoji="0" lang="zh-CN" altLang="en-US" sz="3600" b="1" kern="1200" cap="none" spc="0" normalizeH="0" baseline="0" noProof="0">
                <a:effectLst>
                  <a:outerShdw blurRad="38100" dist="38100" dir="2700000" algn="tl">
                    <a:srgbClr val="C0C0C0"/>
                  </a:outerShdw>
                </a:effectLst>
                <a:latin typeface="黑体" panose="02010609060101010101" pitchFamily="49" charset="-122"/>
                <a:ea typeface="黑体" panose="02010609060101010101" pitchFamily="49" charset="-122"/>
                <a:cs typeface="+mn-cs"/>
              </a:rPr>
              <a:t>白胖子</a:t>
            </a:r>
            <a:endParaRPr kumimoji="1" lang="zh-CN" altLang="en-US" sz="3600" b="1" kern="1200" cap="none" spc="0" normalizeH="0" baseline="0" noProof="0">
              <a:solidFill>
                <a:srgbClr val="0000FF"/>
              </a:solidFill>
              <a:latin typeface="黑体" panose="02010609060101010101" pitchFamily="49" charset="-122"/>
              <a:ea typeface="黑体" panose="02010609060101010101" pitchFamily="49" charset="-122"/>
              <a:cs typeface="+mn-cs"/>
            </a:endParaRPr>
          </a:p>
        </p:txBody>
      </p:sp>
      <p:sp>
        <p:nvSpPr>
          <p:cNvPr id="20493" name="Text Box 13"/>
          <p:cNvSpPr txBox="1"/>
          <p:nvPr/>
        </p:nvSpPr>
        <p:spPr>
          <a:xfrm>
            <a:off x="5508625" y="295275"/>
            <a:ext cx="1008063" cy="1190625"/>
          </a:xfrm>
          <a:prstGeom prst="rect">
            <a:avLst/>
          </a:prstGeom>
          <a:noFill/>
          <a:ln w="28575">
            <a:noFill/>
          </a:ln>
        </p:spPr>
        <p:txBody>
          <a:bodyPr anchor="t" anchorCtr="0">
            <a:spAutoFit/>
          </a:bodyPr>
          <a:lstStyle/>
          <a:p>
            <a:pPr>
              <a:spcBef>
                <a:spcPct val="50000"/>
              </a:spcBef>
            </a:pPr>
            <a:r>
              <a:rPr lang="zh-CN" altLang="en-US" sz="3600" b="1" dirty="0">
                <a:solidFill>
                  <a:srgbClr val="CC00CC"/>
                </a:solidFill>
                <a:latin typeface="Times New Roman" panose="02020603050405020304" pitchFamily="18" charset="0"/>
                <a:ea typeface="黑体" panose="02010609060101010101" pitchFamily="49" charset="-122"/>
              </a:rPr>
              <a:t>子房</a:t>
            </a:r>
          </a:p>
        </p:txBody>
      </p:sp>
      <p:sp>
        <p:nvSpPr>
          <p:cNvPr id="20494" name="Text Box 14"/>
          <p:cNvSpPr txBox="1"/>
          <p:nvPr/>
        </p:nvSpPr>
        <p:spPr>
          <a:xfrm>
            <a:off x="4356100" y="-26987"/>
            <a:ext cx="792163" cy="1554162"/>
          </a:xfrm>
          <a:prstGeom prst="rect">
            <a:avLst/>
          </a:prstGeom>
          <a:noFill/>
          <a:ln w="28575">
            <a:noFill/>
          </a:ln>
        </p:spPr>
        <p:txBody>
          <a:bodyPr anchor="t" anchorCtr="0">
            <a:spAutoFit/>
          </a:bodyPr>
          <a:lstStyle/>
          <a:p>
            <a:pPr>
              <a:spcBef>
                <a:spcPct val="50000"/>
              </a:spcBef>
            </a:pPr>
            <a:r>
              <a:rPr lang="zh-CN" altLang="en-US" sz="3200" b="1" dirty="0">
                <a:solidFill>
                  <a:srgbClr val="CC00CC"/>
                </a:solidFill>
                <a:latin typeface="Times New Roman" panose="02020603050405020304" pitchFamily="18" charset="0"/>
                <a:ea typeface="黑体" panose="02010609060101010101" pitchFamily="49" charset="-122"/>
              </a:rPr>
              <a:t>子房壁</a:t>
            </a:r>
          </a:p>
        </p:txBody>
      </p:sp>
      <p:sp>
        <p:nvSpPr>
          <p:cNvPr id="20495" name="Line 15"/>
          <p:cNvSpPr/>
          <p:nvPr/>
        </p:nvSpPr>
        <p:spPr>
          <a:xfrm>
            <a:off x="5867400" y="1485900"/>
            <a:ext cx="0" cy="503238"/>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20496" name="Line 16"/>
          <p:cNvSpPr/>
          <p:nvPr/>
        </p:nvSpPr>
        <p:spPr>
          <a:xfrm>
            <a:off x="6948488" y="1557338"/>
            <a:ext cx="0" cy="503237"/>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20497" name="Text Box 17"/>
          <p:cNvSpPr txBox="1"/>
          <p:nvPr/>
        </p:nvSpPr>
        <p:spPr>
          <a:xfrm>
            <a:off x="6588125" y="360363"/>
            <a:ext cx="1008063" cy="1190625"/>
          </a:xfrm>
          <a:prstGeom prst="rect">
            <a:avLst/>
          </a:prstGeom>
          <a:noFill/>
          <a:ln w="28575">
            <a:noFill/>
          </a:ln>
        </p:spPr>
        <p:txBody>
          <a:bodyPr anchor="t" anchorCtr="0">
            <a:spAutoFit/>
          </a:bodyPr>
          <a:lstStyle/>
          <a:p>
            <a:pPr>
              <a:spcBef>
                <a:spcPct val="50000"/>
              </a:spcBef>
            </a:pPr>
            <a:r>
              <a:rPr lang="zh-CN" altLang="en-US" sz="3600" b="1" dirty="0">
                <a:solidFill>
                  <a:srgbClr val="CC00CC"/>
                </a:solidFill>
                <a:latin typeface="Times New Roman" panose="02020603050405020304" pitchFamily="18" charset="0"/>
                <a:ea typeface="黑体" panose="02010609060101010101" pitchFamily="49" charset="-122"/>
              </a:rPr>
              <a:t>胚珠</a:t>
            </a:r>
          </a:p>
        </p:txBody>
      </p:sp>
      <p:sp>
        <p:nvSpPr>
          <p:cNvPr id="20498" name="Line 18"/>
          <p:cNvSpPr/>
          <p:nvPr/>
        </p:nvSpPr>
        <p:spPr>
          <a:xfrm>
            <a:off x="4643438" y="1557338"/>
            <a:ext cx="0" cy="503237"/>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20499" name="Text Box 19"/>
          <p:cNvSpPr txBox="1"/>
          <p:nvPr/>
        </p:nvSpPr>
        <p:spPr>
          <a:xfrm>
            <a:off x="4716463" y="3213100"/>
            <a:ext cx="647700" cy="1066800"/>
          </a:xfrm>
          <a:prstGeom prst="rect">
            <a:avLst/>
          </a:prstGeom>
          <a:solidFill>
            <a:srgbClr val="FFFF66"/>
          </a:solidFill>
          <a:ln w="38100">
            <a:noFill/>
          </a:ln>
        </p:spPr>
        <p:txBody>
          <a:bodyPr anchor="t" anchorCtr="0">
            <a:spAutoFit/>
          </a:bodyPr>
          <a:lstStyle/>
          <a:p>
            <a:pPr algn="ctr">
              <a:spcBef>
                <a:spcPct val="50000"/>
              </a:spcBef>
            </a:pPr>
            <a:r>
              <a:rPr lang="zh-CN" altLang="en-US" sz="3200" b="1" dirty="0">
                <a:latin typeface="Times New Roman" panose="02020603050405020304" pitchFamily="18" charset="0"/>
                <a:ea typeface="黑体" panose="02010609060101010101" pitchFamily="49" charset="-122"/>
              </a:rPr>
              <a:t>果皮</a:t>
            </a:r>
          </a:p>
        </p:txBody>
      </p:sp>
      <p:sp>
        <p:nvSpPr>
          <p:cNvPr id="20500" name="Text Box 20"/>
          <p:cNvSpPr txBox="1"/>
          <p:nvPr/>
        </p:nvSpPr>
        <p:spPr>
          <a:xfrm>
            <a:off x="1619250" y="3644900"/>
            <a:ext cx="647700" cy="1066800"/>
          </a:xfrm>
          <a:prstGeom prst="rect">
            <a:avLst/>
          </a:prstGeom>
          <a:solidFill>
            <a:srgbClr val="FFFF66"/>
          </a:solidFill>
          <a:ln w="38100">
            <a:noFill/>
          </a:ln>
        </p:spPr>
        <p:txBody>
          <a:bodyPr anchor="t" anchorCtr="0">
            <a:spAutoFit/>
          </a:bodyPr>
          <a:lstStyle/>
          <a:p>
            <a:pPr algn="ctr">
              <a:spcBef>
                <a:spcPct val="50000"/>
              </a:spcBef>
            </a:pPr>
            <a:r>
              <a:rPr lang="zh-CN" altLang="en-US" sz="3200" b="1" dirty="0">
                <a:latin typeface="Times New Roman" panose="02020603050405020304" pitchFamily="18" charset="0"/>
                <a:ea typeface="黑体" panose="02010609060101010101" pitchFamily="49" charset="-122"/>
              </a:rPr>
              <a:t>种皮</a:t>
            </a:r>
          </a:p>
        </p:txBody>
      </p:sp>
      <p:sp>
        <p:nvSpPr>
          <p:cNvPr id="20501" name="Text Box 21"/>
          <p:cNvSpPr txBox="1"/>
          <p:nvPr/>
        </p:nvSpPr>
        <p:spPr>
          <a:xfrm>
            <a:off x="4140200" y="6021388"/>
            <a:ext cx="647700" cy="579437"/>
          </a:xfrm>
          <a:prstGeom prst="rect">
            <a:avLst/>
          </a:prstGeom>
          <a:solidFill>
            <a:srgbClr val="FFFF66"/>
          </a:solidFill>
          <a:ln w="38100">
            <a:noFill/>
          </a:ln>
        </p:spPr>
        <p:txBody>
          <a:bodyPr anchor="t" anchorCtr="0">
            <a:spAutoFit/>
          </a:bodyPr>
          <a:lstStyle/>
          <a:p>
            <a:pPr algn="ctr">
              <a:spcBef>
                <a:spcPct val="50000"/>
              </a:spcBef>
            </a:pPr>
            <a:r>
              <a:rPr lang="zh-CN" altLang="en-US" sz="3200" b="1" dirty="0">
                <a:latin typeface="Times New Roman" panose="02020603050405020304" pitchFamily="18" charset="0"/>
                <a:ea typeface="黑体" panose="02010609060101010101" pitchFamily="49" charset="-122"/>
              </a:rPr>
              <a:t>胚</a:t>
            </a:r>
          </a:p>
        </p:txBody>
      </p:sp>
      <p:sp>
        <p:nvSpPr>
          <p:cNvPr id="20502" name="Line 22"/>
          <p:cNvSpPr/>
          <p:nvPr/>
        </p:nvSpPr>
        <p:spPr>
          <a:xfrm>
            <a:off x="1619250" y="1412875"/>
            <a:ext cx="0" cy="503238"/>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20503" name="Text Box 23"/>
          <p:cNvSpPr txBox="1"/>
          <p:nvPr/>
        </p:nvSpPr>
        <p:spPr>
          <a:xfrm>
            <a:off x="1258888" y="188913"/>
            <a:ext cx="1008062" cy="1190625"/>
          </a:xfrm>
          <a:prstGeom prst="rect">
            <a:avLst/>
          </a:prstGeom>
          <a:noFill/>
          <a:ln w="28575">
            <a:noFill/>
          </a:ln>
        </p:spPr>
        <p:txBody>
          <a:bodyPr anchor="t" anchorCtr="0">
            <a:spAutoFit/>
          </a:bodyPr>
          <a:lstStyle/>
          <a:p>
            <a:pPr>
              <a:spcBef>
                <a:spcPct val="50000"/>
              </a:spcBef>
            </a:pPr>
            <a:r>
              <a:rPr lang="zh-CN" altLang="en-US" sz="3600" b="1" dirty="0">
                <a:solidFill>
                  <a:srgbClr val="CC00CC"/>
                </a:solidFill>
                <a:latin typeface="Times New Roman" panose="02020603050405020304" pitchFamily="18" charset="0"/>
                <a:ea typeface="黑体" panose="02010609060101010101" pitchFamily="49" charset="-122"/>
              </a:rPr>
              <a:t>珠被</a:t>
            </a:r>
          </a:p>
        </p:txBody>
      </p:sp>
      <p:sp>
        <p:nvSpPr>
          <p:cNvPr id="20504" name="Line 24"/>
          <p:cNvSpPr/>
          <p:nvPr/>
        </p:nvSpPr>
        <p:spPr>
          <a:xfrm>
            <a:off x="3059113" y="1484313"/>
            <a:ext cx="0" cy="503237"/>
          </a:xfrm>
          <a:prstGeom prst="line">
            <a:avLst/>
          </a:prstGeom>
          <a:ln w="38100" cap="flat" cmpd="sng">
            <a:solidFill>
              <a:srgbClr val="FF0000"/>
            </a:solidFill>
            <a:prstDash val="solid"/>
            <a:round/>
            <a:headEnd type="none" w="med" len="med"/>
            <a:tailEnd type="none" w="med" len="med"/>
          </a:ln>
        </p:spPr>
        <p:txBody>
          <a:bodyPr/>
          <a:lstStyle/>
          <a:p>
            <a:endParaRPr lang="zh-CN" altLang="en-US"/>
          </a:p>
        </p:txBody>
      </p:sp>
      <p:sp>
        <p:nvSpPr>
          <p:cNvPr id="20505" name="Text Box 25"/>
          <p:cNvSpPr txBox="1"/>
          <p:nvPr/>
        </p:nvSpPr>
        <p:spPr>
          <a:xfrm>
            <a:off x="2771775" y="-26987"/>
            <a:ext cx="792163" cy="1554162"/>
          </a:xfrm>
          <a:prstGeom prst="rect">
            <a:avLst/>
          </a:prstGeom>
          <a:noFill/>
          <a:ln w="28575">
            <a:noFill/>
          </a:ln>
        </p:spPr>
        <p:txBody>
          <a:bodyPr anchor="t" anchorCtr="0">
            <a:spAutoFit/>
          </a:bodyPr>
          <a:lstStyle/>
          <a:p>
            <a:pPr>
              <a:spcBef>
                <a:spcPct val="50000"/>
              </a:spcBef>
            </a:pPr>
            <a:r>
              <a:rPr lang="zh-CN" altLang="en-US" sz="3200" b="1" dirty="0">
                <a:solidFill>
                  <a:srgbClr val="CC00CC"/>
                </a:solidFill>
                <a:latin typeface="Times New Roman" panose="02020603050405020304" pitchFamily="18" charset="0"/>
                <a:ea typeface="黑体" panose="02010609060101010101" pitchFamily="49" charset="-122"/>
              </a:rPr>
              <a:t>受精卵</a:t>
            </a:r>
          </a:p>
        </p:txBody>
      </p:sp>
    </p:spTree>
  </p:cSld>
  <p:clrMapOvr>
    <a:masterClrMapping/>
  </p:clrMapOvr>
  <mc:AlternateContent xmlns:mc="http://schemas.openxmlformats.org/markup-compatibility/2006" xmlns:p14="http://schemas.microsoft.com/office/powerpoint/2010/main">
    <mc:Choice Requires="p14">
      <p:transition spd="med">
        <p:wipe dir="r"/>
      </p:transition>
    </mc:Choice>
    <mc:Fallback xmlns="">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9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490">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4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5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49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49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50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49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49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49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49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049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49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50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50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050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5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0486" grpId="0"/>
      <p:bldP spid="20487" grpId="0"/>
      <p:bldP spid="20492" grpId="0"/>
      <p:bldP spid="20493" grpId="0"/>
      <p:bldP spid="20494" grpId="0"/>
      <p:bldP spid="20497" grpId="0"/>
      <p:bldP spid="20499" grpId="0" animBg="1"/>
      <p:bldP spid="20500" grpId="0" animBg="1"/>
      <p:bldP spid="20501" grpId="0" animBg="1"/>
      <p:bldP spid="20503" grpId="0"/>
      <p:bldP spid="20505"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005,&quot;width&quot;:12615}"/>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520,&quot;width&quot;:14295}"/>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0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5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6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7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8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9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2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6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3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7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8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9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30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3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FF00FF"/>
      </a:folHlink>
    </a:clrScheme>
    <a:fontScheme name="Blends">
      <a:majorFont>
        <a:latin typeface="Tahoma"/>
        <a:ea typeface="华文新魏"/>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202</TotalTime>
  <Words>13519</Words>
  <Application>Microsoft Office PowerPoint</Application>
  <PresentationFormat>全屏显示(4:3)</PresentationFormat>
  <Paragraphs>1152</Paragraphs>
  <Slides>181</Slides>
  <Notes>0</Notes>
  <HiddenSlides>0</HiddenSlides>
  <MMClips>0</MMClips>
  <ScaleCrop>false</ScaleCrop>
  <HeadingPairs>
    <vt:vector size="6" baseType="variant">
      <vt:variant>
        <vt:lpstr>已用的字体</vt:lpstr>
      </vt:variant>
      <vt:variant>
        <vt:i4>12</vt:i4>
      </vt:variant>
      <vt:variant>
        <vt:lpstr>主题</vt:lpstr>
      </vt:variant>
      <vt:variant>
        <vt:i4>27</vt:i4>
      </vt:variant>
      <vt:variant>
        <vt:lpstr>幻灯片标题</vt:lpstr>
      </vt:variant>
      <vt:variant>
        <vt:i4>181</vt:i4>
      </vt:variant>
    </vt:vector>
  </HeadingPairs>
  <TitlesOfParts>
    <vt:vector size="220" baseType="lpstr">
      <vt:lpstr>Arial MT</vt:lpstr>
      <vt:lpstr>Malgun Gothic</vt:lpstr>
      <vt:lpstr>Microsoft JhengHei</vt:lpstr>
      <vt:lpstr>黑体</vt:lpstr>
      <vt:lpstr>华文新魏</vt:lpstr>
      <vt:lpstr>楷体</vt:lpstr>
      <vt:lpstr>SimSun</vt:lpstr>
      <vt:lpstr>SimSun</vt:lpstr>
      <vt:lpstr>Arial</vt:lpstr>
      <vt:lpstr>Tahoma</vt:lpstr>
      <vt:lpstr>Times New Roman</vt:lpstr>
      <vt:lpstr>Wingdings</vt:lpstr>
      <vt:lpstr>Blends</vt:lpstr>
      <vt:lpstr>1_Blends</vt:lpstr>
      <vt:lpstr>2_Blends</vt:lpstr>
      <vt:lpstr>3_Blends</vt:lpstr>
      <vt:lpstr>4_Blends</vt:lpstr>
      <vt:lpstr>5_Blends</vt:lpstr>
      <vt:lpstr>6_Blends</vt:lpstr>
      <vt:lpstr>7_Blends</vt:lpstr>
      <vt:lpstr>10_Blends</vt:lpstr>
      <vt:lpstr>11_Blends</vt:lpstr>
      <vt:lpstr>12_Blends</vt:lpstr>
      <vt:lpstr>15_Blends</vt:lpstr>
      <vt:lpstr>16_Blends</vt:lpstr>
      <vt:lpstr>17_Blends</vt:lpstr>
      <vt:lpstr>13_Blends</vt:lpstr>
      <vt:lpstr>14_Blends</vt:lpstr>
      <vt:lpstr>18_Blends</vt:lpstr>
      <vt:lpstr>19_Blends</vt:lpstr>
      <vt:lpstr>21_Blends</vt:lpstr>
      <vt:lpstr>22_Blends</vt:lpstr>
      <vt:lpstr>26_Blends</vt:lpstr>
      <vt:lpstr>23_Blends</vt:lpstr>
      <vt:lpstr>27_Blends</vt:lpstr>
      <vt:lpstr>28_Blends</vt:lpstr>
      <vt:lpstr>29_Blends</vt:lpstr>
      <vt:lpstr>30_Blends</vt:lpstr>
      <vt:lpstr>31_Blends</vt:lpstr>
      <vt:lpstr>PowerPoint 演示文稿</vt:lpstr>
      <vt:lpstr>PowerPoint 演示文稿</vt:lpstr>
      <vt:lpstr>PowerPoint 演示文稿</vt:lpstr>
      <vt:lpstr>PowerPoint 演示文稿</vt:lpstr>
      <vt:lpstr>PowerPoint 演示文稿</vt:lpstr>
      <vt:lpstr>植物命名法</vt:lpstr>
      <vt:lpstr>一、植物细胞的形状和大小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石蜡制片</vt:lpstr>
      <vt:lpstr>PowerPoint 演示文稿</vt:lpstr>
      <vt:lpstr>植物组织的概述:</vt:lpstr>
      <vt:lpstr>一、植物的组织     ㈠ 分生组织</vt:lpstr>
      <vt:lpstr>PowerPoint 演示文稿</vt:lpstr>
      <vt:lpstr>PowerPoint 演示文稿</vt:lpstr>
      <vt:lpstr>一、植物组织的类型     ㈠ 分生组织</vt:lpstr>
      <vt:lpstr>一、植物组织的类型     ㈠ 分生组织</vt:lpstr>
      <vt:lpstr>一、植物组织的类型     ㈠ 分生组织</vt:lpstr>
      <vt:lpstr>一、植物组织的类型     ㈠ 分生组织</vt:lpstr>
      <vt:lpstr>一、植物组织的类型     ㈠ 分生组织</vt:lpstr>
      <vt:lpstr>一、植物组织的类型     ㈠ 分生组织</vt:lpstr>
      <vt:lpstr>一、植物组织的类型     ㈠ 分生组织</vt:lpstr>
      <vt:lpstr>一、植物组织的类型     ㈠ 分生组织</vt:lpstr>
      <vt:lpstr>一、植物组织的类型     ㈠ 分生组织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PowerPoint 演示文稿</vt:lpstr>
      <vt:lpstr>一、植物组织的类型  ㈡ 成熟组织</vt:lpstr>
      <vt:lpstr>一、植物组织的类型  ㈡ 成熟组织</vt:lpstr>
      <vt:lpstr>一、植物组织的类型  ㈡ 成熟组织</vt:lpstr>
      <vt:lpstr>一、植物组织的类型  ㈡ 成熟组织</vt:lpstr>
      <vt:lpstr>PowerPoint 演示文稿</vt:lpstr>
      <vt:lpstr>纤 维</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PowerPoint 演示文稿</vt:lpstr>
      <vt:lpstr>PowerPoint 演示文稿</vt:lpstr>
      <vt:lpstr>一、植物组织的类型  ㈡ 成熟组织</vt:lpstr>
      <vt:lpstr>一、植物组织的类型  ㈡ 成熟组织</vt:lpstr>
      <vt:lpstr>PowerPoint 演示文稿</vt:lpstr>
      <vt:lpstr>运输同化产物的筛分子1：筛管分子</vt:lpstr>
      <vt:lpstr>运输同化产物的筛分子2：筛胞</vt:lpstr>
      <vt:lpstr>一、植物组织的类型  ㈡ 成熟组织</vt:lpstr>
      <vt:lpstr>一、植物组织的类型  ㈡ 成熟组织</vt:lpstr>
      <vt:lpstr>一、植物组织的类型  ㈡ 成熟组织</vt:lpstr>
      <vt:lpstr>一、植物组织的类型  ㈡ 成熟组织</vt:lpstr>
      <vt:lpstr>一、植物组织的类型  ㈡ 成熟组织</vt:lpstr>
      <vt:lpstr>内分泌结构</vt:lpstr>
      <vt:lpstr>器官基本概念:</vt:lpstr>
      <vt:lpstr>二、根的结构</vt:lpstr>
      <vt:lpstr>二、根的结构    2.根尖的结构</vt:lpstr>
      <vt:lpstr>二、根的结构    2.根尖的结构</vt:lpstr>
      <vt:lpstr>PowerPoint 演示文稿</vt:lpstr>
      <vt:lpstr>PowerPoint 演示文稿</vt:lpstr>
      <vt:lpstr>PowerPoint 演示文稿</vt:lpstr>
      <vt:lpstr>PowerPoint 演示文稿</vt:lpstr>
      <vt:lpstr>二、根的结构    3.根的初生结构 </vt:lpstr>
      <vt:lpstr>二、根的结构    3.根的初生结构</vt:lpstr>
      <vt:lpstr>二、根的结构    3.根的初生结构（以双子叶植物根的初生结构为例）</vt:lpstr>
      <vt:lpstr>二、根的结构    3.根的初生结构（以双子叶植物根的初生结构为例）</vt:lpstr>
      <vt:lpstr>二、根的结构    3.根的初生结构（以双子叶植物根的初生结构为例）</vt:lpstr>
      <vt:lpstr>二、根的结构    3.根的初生结构（以双子叶植物根的初生结构为例）</vt:lpstr>
      <vt:lpstr>二、根的结构    3.根的初生结构（以双子叶植物根的初生结构为例）</vt:lpstr>
      <vt:lpstr>PowerPoint 演示文稿</vt:lpstr>
      <vt:lpstr>二、根的结构    3.根的初生结构（以双子叶植物根的初生结构为例）</vt:lpstr>
      <vt:lpstr>二、根的结构    3.根的初生结构（以双子叶植物根的初生结构为例）</vt:lpstr>
      <vt:lpstr>二、根的结构    3.根的初生结构（以双子叶植物根的初生结构为例）</vt:lpstr>
      <vt:lpstr>二、根的结构    3.根的初生结构（以双子叶植物根的初生结构为例）</vt:lpstr>
      <vt:lpstr>二、根的结构    3.根的初生结构（以双子叶植物根的初生结构为例）</vt:lpstr>
      <vt:lpstr>二、根的结构    4.根的次生结构（以双子叶植物根的初生结构为例）</vt:lpstr>
      <vt:lpstr>二、根的结构    4.根的次生结构（以双子叶植物根的初生结构为例）</vt:lpstr>
      <vt:lpstr>二、根的结构    4.根的次生结构（以双子叶植物根的初生结构为例）</vt:lpstr>
      <vt:lpstr>二、根的结构    4.根的次生结构（以双子叶植物根的初生结构为例）</vt:lpstr>
      <vt:lpstr>二、根的结构    4.根的次生结构（以双子叶植物根的初生结构为例）</vt:lpstr>
      <vt:lpstr>二、根的结构    4.根的次生结构（以双子叶植物根的初生结构为例）</vt:lpstr>
      <vt:lpstr>二、根的结构    4.根的次生结构（以双子叶植物根的初生结构为例）</vt:lpstr>
      <vt:lpstr>二、根的结构    4.根的次生结构（以双子叶植物根的初生结构为例）</vt:lpstr>
      <vt:lpstr>PowerPoint 演示文稿</vt:lpstr>
      <vt:lpstr>PowerPoint 演示文稿</vt:lpstr>
      <vt:lpstr>三、茎的结构     1、茎的初生结构</vt:lpstr>
      <vt:lpstr>三、茎的结构     1、茎的初生结构（以双子叶植物茎为例）</vt:lpstr>
      <vt:lpstr>三、茎的结构    1、茎的初生结构（以双子叶植物茎为例）</vt:lpstr>
      <vt:lpstr>PowerPoint 演示文稿</vt:lpstr>
      <vt:lpstr>PowerPoint 演示文稿</vt:lpstr>
      <vt:lpstr>PowerPoint 演示文稿</vt:lpstr>
      <vt:lpstr>三、茎的结构  1、茎的初生结构（以双子叶植物茎为例）</vt:lpstr>
      <vt:lpstr>三、茎的结构    1、茎的初生结构（以双子叶植物茎为例）</vt:lpstr>
      <vt:lpstr>三、茎的结构  1、茎的初生结构（以双子叶植物茎为例）</vt:lpstr>
      <vt:lpstr>三、茎的结构  1、茎的初生结构（以双子叶植物茎为例）</vt:lpstr>
      <vt:lpstr>三、茎的结构    1、茎的初生结构（以双子叶植物茎为例）</vt:lpstr>
      <vt:lpstr>三、茎的结构    2、茎的次生结构</vt:lpstr>
      <vt:lpstr>三、茎的结构    2、茎的次生结构（以双子叶植物茎为例）</vt:lpstr>
      <vt:lpstr>PowerPoint 演示文稿</vt:lpstr>
      <vt:lpstr>三、茎的结构    2、茎的次生结构（以双子叶植物茎为例）</vt:lpstr>
      <vt:lpstr>三、茎的结构    2、茎的次生结构（以双子叶植物茎为例）</vt:lpstr>
      <vt:lpstr>PowerPoint 演示文稿</vt:lpstr>
      <vt:lpstr>PowerPoint 演示文稿</vt:lpstr>
      <vt:lpstr>三、茎的结构    2、茎的次生结构（以双子叶植物茎为例）</vt:lpstr>
      <vt:lpstr>三、茎的结构    2、茎的次生结构（以双子叶植物茎为例）</vt:lpstr>
      <vt:lpstr>三、茎的结构    2、茎的次生结构（以双子叶植物茎为例）</vt:lpstr>
      <vt:lpstr>三、茎的结构    2、茎的次生结构（以双子叶植物茎为例）</vt:lpstr>
      <vt:lpstr>三、茎的结构    2、茎的次生结构（以双子叶植物茎为例）</vt:lpstr>
      <vt:lpstr>三、茎的结构    2、茎的次生结构（以双子叶植物茎为例）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四、叶的结构 ㈠ 双子叶植物叶的结构 </vt:lpstr>
      <vt:lpstr>四、叶的结构 ㈠ 双子叶植物叶的结构 </vt:lpstr>
      <vt:lpstr>PowerPoint 演示文稿</vt:lpstr>
      <vt:lpstr>四、叶的结构 ㈠ 双子叶植物叶的结构 </vt:lpstr>
      <vt:lpstr>PowerPoint 演示文稿</vt:lpstr>
      <vt:lpstr>四、叶的结构 ㈠ 双子叶植物叶的结构 </vt:lpstr>
      <vt:lpstr>四、叶的结构 ㈠ 双子叶植物叶的结构 </vt:lpstr>
      <vt:lpstr>PowerPoint 演示文稿</vt:lpstr>
      <vt:lpstr>PowerPoint 演示文稿</vt:lpstr>
      <vt:lpstr>PowerPoint 演示文稿</vt:lpstr>
      <vt:lpstr> 四、叶的结构   （二）松叶结构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㈠花的概念和花的组成  ①花的概念 </vt:lpstr>
      <vt:lpstr>（一）花的概念和花的组成  ②花的组成</vt:lpstr>
      <vt:lpstr>（一）花的概念和花的组成   ②花的组成</vt:lpstr>
      <vt:lpstr>PowerPoint 演示文稿</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 （一）花的概念和花的组成   ②花的组成</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植物形态学（一）</dc:title>
  <dc:creator>liruijian</dc:creator>
  <cp:lastModifiedBy>邦 肖</cp:lastModifiedBy>
  <cp:revision>444</cp:revision>
  <dcterms:created xsi:type="dcterms:W3CDTF">2001-03-03T12:49:00Z</dcterms:created>
  <dcterms:modified xsi:type="dcterms:W3CDTF">2025-11-07T14:56:22Z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A38FE9289A2841E295ACB8D9E9084A73_13</vt:lpwstr>
  </property>
</Properties>
</file>